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25"/>
  </p:notesMasterIdLst>
  <p:handoutMasterIdLst>
    <p:handoutMasterId r:id="rId26"/>
  </p:handoutMasterIdLst>
  <p:sldIdLst>
    <p:sldId id="2142532340" r:id="rId5"/>
    <p:sldId id="2146847045" r:id="rId6"/>
    <p:sldId id="10657" r:id="rId7"/>
    <p:sldId id="2146847124" r:id="rId8"/>
    <p:sldId id="2146847046" r:id="rId9"/>
    <p:sldId id="2146847089" r:id="rId10"/>
    <p:sldId id="2146847050" r:id="rId11"/>
    <p:sldId id="2146847096" r:id="rId12"/>
    <p:sldId id="2146847054" r:id="rId13"/>
    <p:sldId id="2146847103" r:id="rId14"/>
    <p:sldId id="2146847058" r:id="rId15"/>
    <p:sldId id="2146847111" r:id="rId16"/>
    <p:sldId id="2146847147" r:id="rId17"/>
    <p:sldId id="2146847146" r:id="rId18"/>
    <p:sldId id="2146847119" r:id="rId19"/>
    <p:sldId id="2146847150" r:id="rId20"/>
    <p:sldId id="2146847151" r:id="rId21"/>
    <p:sldId id="2146847085" r:id="rId22"/>
    <p:sldId id="2146847084" r:id="rId23"/>
    <p:sldId id="2146847064" r:id="rId24"/>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ldId id="2146847045"/>
            <p14:sldId id="10657"/>
            <p14:sldId id="2146847124"/>
          </p14:sldIdLst>
        </p14:section>
        <p14:section name="Security &amp; Identity" id="{1AA42572-B3BD-44F7-813B-C2C647DDBB3C}">
          <p14:sldIdLst>
            <p14:sldId id="2146847046"/>
            <p14:sldId id="2146847089"/>
          </p14:sldIdLst>
        </p14:section>
        <p14:section name="Management &amp; Governance" id="{34181601-6D48-4406-A525-C7B5A12C6C5B}">
          <p14:sldIdLst/>
        </p14:section>
        <p14:section name="Compute" id="{05AA80BB-8802-49AB-8336-A884227CE2F7}">
          <p14:sldIdLst>
            <p14:sldId id="2146847050"/>
            <p14:sldId id="2146847096"/>
          </p14:sldIdLst>
        </p14:section>
        <p14:section name="Storage &amp; Data" id="{1F159046-CE0A-45BC-9D5B-6E6C95980F78}">
          <p14:sldIdLst/>
        </p14:section>
        <p14:section name="Databases" id="{AEAFAE72-AD56-48F3-926B-38BAE269038F}">
          <p14:sldIdLst>
            <p14:sldId id="2146847054"/>
            <p14:sldId id="2146847103"/>
          </p14:sldIdLst>
        </p14:section>
        <p14:section name="Integration" id="{ACBD46A3-6F1C-451B-A154-0A056E0DEFF6}">
          <p14:sldIdLst/>
        </p14:section>
        <p14:section name="ML &amp; AI &amp; IOT" id="{F4E1EAF1-55E9-4CA4-8ADC-28B69C1D66D2}">
          <p14:sldIdLst>
            <p14:sldId id="2146847058"/>
            <p14:sldId id="2146847111"/>
            <p14:sldId id="2146847147"/>
            <p14:sldId id="2146847146"/>
            <p14:sldId id="2146847119"/>
            <p14:sldId id="2146847150"/>
            <p14:sldId id="2146847151"/>
          </p14:sldIdLst>
        </p14:section>
        <p14:section name="Miscellaneous" id="{A1456D7A-93BE-4023-90AA-7269D2F177BA}">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D43"/>
    <a:srgbClr val="CADC49"/>
    <a:srgbClr val="E53B2E"/>
    <a:srgbClr val="FFC000"/>
    <a:srgbClr val="D35D47"/>
    <a:srgbClr val="008ACF"/>
    <a:srgbClr val="76CDD8"/>
    <a:srgbClr val="75A0A6"/>
    <a:srgbClr val="569BA5"/>
    <a:srgbClr val="EDC1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4694"/>
  </p:normalViewPr>
  <p:slideViewPr>
    <p:cSldViewPr snapToGrid="0">
      <p:cViewPr varScale="1">
        <p:scale>
          <a:sx n="138" d="100"/>
          <a:sy n="138" d="100"/>
        </p:scale>
        <p:origin x="2688" y="120"/>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12/13/2025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12/13/2025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azure.microsoft.com/ru-ru/updates?id=536712"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hyperlink" Target="https://azure.microsoft.com/ru-ru/updates?id=515484"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techcommunity.microsoft.com/blog/windows-itpro-blog/now-generally-available-modernizing-microsoft-entra-id-auth-flows-with-webview2-/4476166"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techcommunity.microsoft.com/blog/azurehighperformancecomputingblog/private-preview-azure-managed-prometheus-on-vm--vmss/4473472" TargetMode="External"/><Relationship Id="rId1" Type="http://schemas.openxmlformats.org/officeDocument/2006/relationships/slideLayout" Target="../slideLayouts/slideLayout7.xml"/><Relationship Id="rId4" Type="http://schemas.openxmlformats.org/officeDocument/2006/relationships/hyperlink" Target="https://azure.microsoft.com/ru-ru/updates?id=536907"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techcommunity.microsoft.com/blog/azuresqlblog/windows-authentication-for-cloud-native-identities-modernizing-azure-sql-managed/4475784" TargetMode="External"/><Relationship Id="rId2" Type="http://schemas.openxmlformats.org/officeDocument/2006/relationships/hyperlink" Target="https://devblogs.microsoft.com/cosmosdb/cosmos-db-ltr-immutability/"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techcommunity.microsoft.com/blog/appsonazureblog/never-explain-context-twice-introducing-azure-sre-agent-memory/4473059" TargetMode="Externa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hyperlink" Target="https://techcommunity.microsoft.com/blog/azure-ai-foundry-blog/introducing-cohere-rerank-4-0-in-microsoft-foundry/4477076" TargetMode="External"/><Relationship Id="rId2" Type="http://schemas.openxmlformats.org/officeDocument/2006/relationships/hyperlink" Target="https://azure.microsoft.com/en-us/blog/introducing-gpt-5-2-in-microsoft-foundry-the-new-standard-for-enterprise-ai/"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hyperlink" Target="https://azure.microsoft.com/ru-ru/updates?id=541784"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devblogs.microsoft.com/devops/announcing-azure-devops-server-general-availability/"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hyperlink" Target="https://devblogs.microsoft.com/devops/retirement-of-global-personal-access-tokens-in-azure-devops/"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81666" y="1200151"/>
            <a:ext cx="8458200" cy="2228850"/>
          </a:xfrm>
        </p:spPr>
        <p:txBody>
          <a:bodyPr/>
          <a:lstStyle/>
          <a:p>
            <a:r>
              <a:rPr lang="en-US" sz="5400" dirty="0"/>
              <a:t>Azure Times #188</a:t>
            </a:r>
          </a:p>
        </p:txBody>
      </p:sp>
      <p:sp>
        <p:nvSpPr>
          <p:cNvPr id="4" name="Text Placeholder 3"/>
          <p:cNvSpPr>
            <a:spLocks noGrp="1"/>
          </p:cNvSpPr>
          <p:nvPr>
            <p:ph type="body" sz="quarter" idx="11"/>
          </p:nvPr>
        </p:nvSpPr>
        <p:spPr/>
        <p:txBody>
          <a:bodyPr/>
          <a:lstStyle/>
          <a:p>
            <a:r>
              <a:rPr lang="en-US" spc="300" dirty="0"/>
              <a:t>February 8, 2023</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Networking </a:t>
            </a:r>
          </a:p>
        </p:txBody>
      </p:sp>
    </p:spTree>
    <p:extLst>
      <p:ext uri="{BB962C8B-B14F-4D97-AF65-F5344CB8AC3E}">
        <p14:creationId xmlns:p14="http://schemas.microsoft.com/office/powerpoint/2010/main" val="4021054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Generally Available: FIPS compliant mode for Application Gateway V2 SKUs</a:t>
            </a:r>
            <a:endParaRPr lang="en-US" dirty="0"/>
          </a:p>
          <a:p>
            <a:pPr algn="just"/>
            <a:r>
              <a:rPr lang="en-US" dirty="0"/>
              <a:t>Azure Application Gateway V2 now supports FIPS mode, which can be enabled during deployment or at any time afterward. When FIPS mode is turned on, the gateway uses </a:t>
            </a:r>
            <a:r>
              <a:rPr lang="en-US" b="1" dirty="0"/>
              <a:t>only FIPS-compliant predefined and custom TLS policies, enhancing security and helping meet FedRAMP </a:t>
            </a:r>
            <a:r>
              <a:rPr lang="en-US" dirty="0"/>
              <a:t>security requirements.</a:t>
            </a:r>
          </a:p>
          <a:p>
            <a:pPr algn="just"/>
            <a:r>
              <a:rPr lang="en-US" dirty="0"/>
              <a:t>Application Gateway utilizes a rolling upgrade process to implement configurations with the FIPS validated cryptographic module across all instances. The duration for enabling or disabling FIPS mode may range from 15 to 60 minutes, depending on the number of configured or currently running instances.</a:t>
            </a:r>
          </a:p>
        </p:txBody>
      </p:sp>
    </p:spTree>
    <p:extLst>
      <p:ext uri="{BB962C8B-B14F-4D97-AF65-F5344CB8AC3E}">
        <p14:creationId xmlns:p14="http://schemas.microsoft.com/office/powerpoint/2010/main" val="3658580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4FD2C-8155-2D94-F89A-A815AA6E4F5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EE7765-EA35-FC87-C939-6F99349E6885}"/>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95E76E37-235F-F5BE-DE95-A1673340F669}"/>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4E03193E-E6C0-C026-1CD6-643DC1C554C3}"/>
              </a:ext>
            </a:extLst>
          </p:cNvPr>
          <p:cNvSpPr>
            <a:spLocks noGrp="1"/>
          </p:cNvSpPr>
          <p:nvPr>
            <p:ph type="body" sz="quarter" idx="15"/>
          </p:nvPr>
        </p:nvSpPr>
        <p:spPr/>
        <p:txBody>
          <a:bodyPr/>
          <a:lstStyle/>
          <a:p>
            <a:endParaRPr lang="en-US"/>
          </a:p>
        </p:txBody>
      </p:sp>
      <p:sp>
        <p:nvSpPr>
          <p:cNvPr id="2" name="Text Placeholder 13">
            <a:extLst>
              <a:ext uri="{FF2B5EF4-FFF2-40B4-BE49-F238E27FC236}">
                <a16:creationId xmlns:a16="http://schemas.microsoft.com/office/drawing/2014/main" id="{49104E40-B616-5259-A98B-8099EE2331BE}"/>
              </a:ext>
            </a:extLst>
          </p:cNvPr>
          <p:cNvSpPr>
            <a:spLocks noGrp="1"/>
          </p:cNvSpPr>
          <p:nvPr>
            <p:ph type="body" sz="quarter" idx="16"/>
          </p:nvPr>
        </p:nvSpPr>
        <p:spPr>
          <a:xfrm>
            <a:off x="342900" y="855080"/>
            <a:ext cx="3955312" cy="3774069"/>
          </a:xfrm>
        </p:spPr>
        <p:txBody>
          <a:bodyPr/>
          <a:lstStyle/>
          <a:p>
            <a:pPr algn="just"/>
            <a:r>
              <a:rPr lang="en-US" dirty="0">
                <a:hlinkClick r:id="rId2"/>
              </a:rPr>
              <a:t>Update: The retirement date for default outbound access has been extended to March 31, 2026.</a:t>
            </a:r>
            <a:endParaRPr lang="en-US" dirty="0"/>
          </a:p>
          <a:p>
            <a:pPr algn="just"/>
            <a:r>
              <a:rPr lang="en-US" dirty="0"/>
              <a:t>The retirement date for default outbound access has been extended to March 31, 2026. This change aligns with the broader Azure Virtual Network (VNet) update and replaces the previously communicated September 30, 2025 date. </a:t>
            </a:r>
          </a:p>
          <a:p>
            <a:pPr algn="just"/>
            <a:r>
              <a:rPr lang="en-US" dirty="0"/>
              <a:t>Starting March 31, 2026, newly created </a:t>
            </a:r>
            <a:r>
              <a:rPr lang="en-US" dirty="0" err="1"/>
              <a:t>VNets</a:t>
            </a:r>
            <a:r>
              <a:rPr lang="en-US" dirty="0"/>
              <a:t> will default to using private subnets. This means: </a:t>
            </a:r>
          </a:p>
          <a:p>
            <a:pPr marL="171450" indent="-171450" algn="just">
              <a:buFont typeface="Arial" panose="020B0604020202020204" pitchFamily="34" charset="0"/>
              <a:buChar char="•"/>
            </a:pPr>
            <a:r>
              <a:rPr lang="en-US" dirty="0"/>
              <a:t>Explicit outbound connectivity (e.g., via NAT Gateway, UDR, or other methods) must be configured to access public endpoints on the Internet or Microsoft services. </a:t>
            </a:r>
          </a:p>
          <a:p>
            <a:pPr marL="171450" indent="-171450" algn="just">
              <a:buFont typeface="Arial" panose="020B0604020202020204" pitchFamily="34" charset="0"/>
              <a:buChar char="•"/>
            </a:pPr>
            <a:r>
              <a:rPr lang="en-US" dirty="0"/>
              <a:t>Default outbound access will be disabled by default, but not removed. Customers who do not configure an outbound method will lose internet connectivity from their Batch nodes. </a:t>
            </a:r>
          </a:p>
          <a:p>
            <a:pPr marL="171450" indent="-171450" algn="just">
              <a:buFont typeface="Arial" panose="020B0604020202020204" pitchFamily="34" charset="0"/>
              <a:buChar char="•"/>
            </a:pPr>
            <a:r>
              <a:rPr lang="en-US" dirty="0"/>
              <a:t>Review your current Batch pool configurations, especially those using simplified node communication without public IPs.</a:t>
            </a:r>
          </a:p>
          <a:p>
            <a:pPr marL="171450" indent="-171450" algn="just">
              <a:buFont typeface="Arial" panose="020B0604020202020204" pitchFamily="34" charset="0"/>
              <a:buChar char="•"/>
            </a:pPr>
            <a:r>
              <a:rPr lang="en-US" dirty="0"/>
              <a:t>Plan to implement an explicit outbound method before the March 2026 deadline. </a:t>
            </a:r>
          </a:p>
          <a:p>
            <a:pPr algn="just"/>
            <a:endParaRPr lang="en-US" dirty="0"/>
          </a:p>
          <a:p>
            <a:pPr algn="just"/>
            <a:endParaRPr lang="en-US" dirty="0"/>
          </a:p>
        </p:txBody>
      </p:sp>
    </p:spTree>
    <p:extLst>
      <p:ext uri="{BB962C8B-B14F-4D97-AF65-F5344CB8AC3E}">
        <p14:creationId xmlns:p14="http://schemas.microsoft.com/office/powerpoint/2010/main" val="4268154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6271326" cy="1714500"/>
          </a:xfrm>
        </p:spPr>
        <p:txBody>
          <a:bodyPr/>
          <a:lstStyle/>
          <a:p>
            <a:r>
              <a:rPr lang="en-US" sz="4000" dirty="0"/>
              <a:t>Security &amp; Identity</a:t>
            </a:r>
          </a:p>
        </p:txBody>
      </p:sp>
    </p:spTree>
    <p:extLst>
      <p:ext uri="{BB962C8B-B14F-4D97-AF65-F5344CB8AC3E}">
        <p14:creationId xmlns:p14="http://schemas.microsoft.com/office/powerpoint/2010/main" val="3117920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Security &amp; Identity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Now generally available: Modernizing Microsoft Entra ID auth flows with WebView2 in Windows 11</a:t>
            </a:r>
            <a:endParaRPr lang="en-US" dirty="0"/>
          </a:p>
          <a:p>
            <a:pPr algn="just"/>
            <a:r>
              <a:rPr lang="en-US" dirty="0"/>
              <a:t>Microsoft has introduced an option to power Entra ID app sign-in through Web Account Manager (WAM) using </a:t>
            </a:r>
            <a:r>
              <a:rPr lang="en-US" b="1" dirty="0"/>
              <a:t>WebView2</a:t>
            </a:r>
            <a:r>
              <a:rPr lang="en-US" dirty="0"/>
              <a:t>, starting with Windows updates KB5072033 (OS Builds 26200.7462 and 26100.7462) and later. WebView2 is a Chromium-based embedded web control that enables modern, secure authentication experiences directly inside applications without launching a separate browser.</a:t>
            </a:r>
          </a:p>
          <a:p>
            <a:pPr algn="just"/>
            <a:r>
              <a:rPr lang="en-US" dirty="0"/>
              <a:t>This update modernizes the sign-in foundation by aligning identity flows with current web standards and security capabilities. By leveraging WebView2, applications benefit from improved consistency, enhanced security, and future-ready authentication scenarios, delivering a more reliable and seamless sign-in experience across Windows apps and services.</a:t>
            </a:r>
          </a:p>
          <a:p>
            <a:pPr algn="just"/>
            <a:endParaRPr lang="en-US" dirty="0"/>
          </a:p>
        </p:txBody>
      </p:sp>
    </p:spTree>
    <p:extLst>
      <p:ext uri="{BB962C8B-B14F-4D97-AF65-F5344CB8AC3E}">
        <p14:creationId xmlns:p14="http://schemas.microsoft.com/office/powerpoint/2010/main" val="493310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Compute</a:t>
            </a:r>
          </a:p>
        </p:txBody>
      </p:sp>
    </p:spTree>
    <p:extLst>
      <p:ext uri="{BB962C8B-B14F-4D97-AF65-F5344CB8AC3E}">
        <p14:creationId xmlns:p14="http://schemas.microsoft.com/office/powerpoint/2010/main" val="274742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a:xfrm>
            <a:off x="342900" y="855080"/>
            <a:ext cx="3955312" cy="1957393"/>
          </a:xfrm>
        </p:spPr>
        <p:txBody>
          <a:bodyPr/>
          <a:lstStyle/>
          <a:p>
            <a:pPr algn="just"/>
            <a:r>
              <a:rPr lang="en-US" dirty="0">
                <a:hlinkClick r:id="rId2"/>
              </a:rPr>
              <a:t>Private Preview: Azure Managed Prometheus on VM / VMSS</a:t>
            </a:r>
            <a:endParaRPr lang="ru-RU" dirty="0"/>
          </a:p>
          <a:p>
            <a:pPr algn="just"/>
            <a:r>
              <a:rPr lang="en-US" dirty="0"/>
              <a:t>Until now, Managed Prometheus on Azure was primarily targeted at containerized workloads — e.g. Kubernetes (AKS) or Azure Arc–enabled clusters. With this preview, it is possible to extend Prometheus-style monitoring to IaaS workloads running on VMs/VMSS, giving unified, scalable, resilient metric collection and observability across both containers and traditional compute —including full support for GPU and InfiniBand (IB) metric collection for HPC scenarios.</a:t>
            </a:r>
          </a:p>
          <a:p>
            <a:pPr algn="just"/>
            <a:r>
              <a:rPr lang="en-US" dirty="0"/>
              <a:t>Behind the scenes, Azure Monitor provides the storage, ingestion pipeline, and query engine, while surfacing a fully compatible Prometheus experience — including scraping, </a:t>
            </a:r>
            <a:r>
              <a:rPr lang="en-US" dirty="0" err="1"/>
              <a:t>PromQL</a:t>
            </a:r>
            <a:r>
              <a:rPr lang="en-US" dirty="0"/>
              <a:t>, alerting rules, and dashboards.</a:t>
            </a:r>
          </a:p>
        </p:txBody>
      </p:sp>
      <p:pic>
        <p:nvPicPr>
          <p:cNvPr id="3" name="Picture 2" descr="A diagram of a computer server&#10;&#10;AI-generated content may be incorrect.">
            <a:extLst>
              <a:ext uri="{FF2B5EF4-FFF2-40B4-BE49-F238E27FC236}">
                <a16:creationId xmlns:a16="http://schemas.microsoft.com/office/drawing/2014/main" id="{77CA5190-98F2-B87D-2F1E-06454D56ABBD}"/>
              </a:ext>
            </a:extLst>
          </p:cNvPr>
          <p:cNvPicPr>
            <a:picLocks noChangeAspect="1"/>
          </p:cNvPicPr>
          <p:nvPr/>
        </p:nvPicPr>
        <p:blipFill>
          <a:blip r:embed="rId3"/>
          <a:stretch>
            <a:fillRect/>
          </a:stretch>
        </p:blipFill>
        <p:spPr>
          <a:xfrm>
            <a:off x="703427" y="3065318"/>
            <a:ext cx="3054450" cy="1735282"/>
          </a:xfrm>
          <a:prstGeom prst="rect">
            <a:avLst/>
          </a:prstGeom>
        </p:spPr>
      </p:pic>
      <p:sp>
        <p:nvSpPr>
          <p:cNvPr id="4" name="Text Placeholder 13">
            <a:extLst>
              <a:ext uri="{FF2B5EF4-FFF2-40B4-BE49-F238E27FC236}">
                <a16:creationId xmlns:a16="http://schemas.microsoft.com/office/drawing/2014/main" id="{D5C20627-BF61-394B-61E8-E9F6702CBB52}"/>
              </a:ext>
            </a:extLst>
          </p:cNvPr>
          <p:cNvSpPr txBox="1">
            <a:spLocks/>
          </p:cNvSpPr>
          <p:nvPr/>
        </p:nvSpPr>
        <p:spPr>
          <a:xfrm>
            <a:off x="4570857" y="855080"/>
            <a:ext cx="3955312" cy="1264665"/>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0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dirty="0">
                <a:hlinkClick r:id="rId4"/>
              </a:rPr>
              <a:t>Public Preview: Azure Databricks Dashboard subscriptions now support Microsoft Teams</a:t>
            </a:r>
            <a:endParaRPr lang="en-US" dirty="0"/>
          </a:p>
          <a:p>
            <a:pPr algn="just"/>
            <a:r>
              <a:rPr lang="en-US" dirty="0"/>
              <a:t>This enhancement delivers timely, actionable data directly into team workflows, reducing the need to check email or switch tools. It supports faster decision-making and keeps everyone aligned in real time. As part of the broader Microsoft vision to unify data, AI, and collaboration, this feature helps you connect insights to action within the Microsoft 365 ecosystem. </a:t>
            </a:r>
          </a:p>
        </p:txBody>
      </p:sp>
    </p:spTree>
    <p:extLst>
      <p:ext uri="{BB962C8B-B14F-4D97-AF65-F5344CB8AC3E}">
        <p14:creationId xmlns:p14="http://schemas.microsoft.com/office/powerpoint/2010/main" val="67413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Databases</a:t>
            </a:r>
          </a:p>
        </p:txBody>
      </p:sp>
    </p:spTree>
    <p:extLst>
      <p:ext uri="{BB962C8B-B14F-4D97-AF65-F5344CB8AC3E}">
        <p14:creationId xmlns:p14="http://schemas.microsoft.com/office/powerpoint/2010/main" val="124095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a:xfrm>
            <a:off x="4433776" y="737316"/>
            <a:ext cx="4365038" cy="4063284"/>
          </a:xfrm>
        </p:spPr>
        <p:txBody>
          <a:bodyPr/>
          <a:lstStyle/>
          <a:p>
            <a:pPr algn="just"/>
            <a:r>
              <a:rPr lang="en-US" sz="1000" dirty="0">
                <a:hlinkClick r:id="rId2"/>
              </a:rPr>
              <a:t>Announcing Private Preview of Azure Backup for Azure Cosmos DB</a:t>
            </a:r>
            <a:endParaRPr lang="en-US" sz="1000" dirty="0"/>
          </a:p>
          <a:p>
            <a:pPr algn="just"/>
            <a:r>
              <a:rPr lang="en-US" sz="1000" dirty="0"/>
              <a:t>Azure Backup for Azure Cosmos DB introduces a new, secure way to protect and recover Cosmos DB data for compliance, audit, and ransomware-resilience needs. The service combines Azure Backup’s isolated vault architecture with Cosmos DB’s native backup streams to deliver scalable, long-term, policy-driven protection aligned with regulatory requirements.</a:t>
            </a:r>
          </a:p>
          <a:p>
            <a:pPr marL="171450" indent="-171450" algn="just">
              <a:buFont typeface="Arial" panose="020B0604020202020204" pitchFamily="34" charset="0"/>
              <a:buChar char="•"/>
            </a:pPr>
            <a:r>
              <a:rPr lang="en-US" sz="1000" dirty="0"/>
              <a:t>Organizations can define </a:t>
            </a:r>
            <a:r>
              <a:rPr lang="en-US" sz="1000" b="1" dirty="0"/>
              <a:t>backup schedules and retention policies</a:t>
            </a:r>
            <a:r>
              <a:rPr lang="en-US" sz="1000" dirty="0"/>
              <a:t> at the Cosmos DB account or collection level.</a:t>
            </a:r>
          </a:p>
          <a:p>
            <a:pPr marL="171450" indent="-171450" algn="just">
              <a:buFont typeface="Arial" panose="020B0604020202020204" pitchFamily="34" charset="0"/>
              <a:buChar char="•"/>
            </a:pPr>
            <a:r>
              <a:rPr lang="en-US" sz="1000" dirty="0"/>
              <a:t>Backups are streamed into an </a:t>
            </a:r>
            <a:r>
              <a:rPr lang="en-US" sz="1000" b="1" dirty="0"/>
              <a:t>isolated Azure Backup Vault</a:t>
            </a:r>
            <a:r>
              <a:rPr lang="en-US" sz="1000" dirty="0"/>
              <a:t>, providing protection against accidental deletion and malicious activity.</a:t>
            </a:r>
          </a:p>
          <a:p>
            <a:pPr marL="171450" indent="-171450" algn="just">
              <a:buFont typeface="Arial" panose="020B0604020202020204" pitchFamily="34" charset="0"/>
              <a:buChar char="•"/>
            </a:pPr>
            <a:r>
              <a:rPr lang="en-US" sz="1000" dirty="0"/>
              <a:t>Recovery is supported by restoring data into an </a:t>
            </a:r>
            <a:r>
              <a:rPr lang="en-US" sz="1000" b="1" dirty="0"/>
              <a:t>empty Cosmos DB account in the same region</a:t>
            </a:r>
            <a:r>
              <a:rPr lang="en-US" sz="1000" dirty="0"/>
              <a:t>.</a:t>
            </a:r>
          </a:p>
          <a:p>
            <a:pPr marL="171450" indent="-171450" algn="just">
              <a:buFont typeface="Arial" panose="020B0604020202020204" pitchFamily="34" charset="0"/>
              <a:buChar char="•"/>
            </a:pPr>
            <a:r>
              <a:rPr lang="en-US" sz="1000" dirty="0"/>
              <a:t>The solution integrates with </a:t>
            </a:r>
            <a:r>
              <a:rPr lang="en-US" sz="1000" b="1" dirty="0"/>
              <a:t>Azure RBAC</a:t>
            </a:r>
            <a:r>
              <a:rPr lang="en-US" sz="1000" dirty="0"/>
              <a:t>, supports flexible policy assignments, and is fully manageable through </a:t>
            </a:r>
            <a:r>
              <a:rPr lang="en-US" sz="1000" b="1" dirty="0"/>
              <a:t>Azure Backup Center</a:t>
            </a:r>
            <a:r>
              <a:rPr lang="en-US" sz="1000" dirty="0"/>
              <a:t> for monitoring and governance.</a:t>
            </a:r>
          </a:p>
          <a:p>
            <a:pPr algn="just"/>
            <a:r>
              <a:rPr lang="en-US" sz="1000" dirty="0"/>
              <a:t>This preview adds an enterprise-grade, centralized data protection layer to Cosmos DB environments, improving operational resilience and compliance readiness.</a:t>
            </a:r>
          </a:p>
          <a:p>
            <a:pPr algn="just"/>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a:xfrm>
            <a:off x="342900" y="737316"/>
            <a:ext cx="3955312" cy="3774069"/>
          </a:xfrm>
        </p:spPr>
        <p:txBody>
          <a:bodyPr/>
          <a:lstStyle/>
          <a:p>
            <a:pPr algn="just"/>
            <a:r>
              <a:rPr lang="en-US" dirty="0">
                <a:hlinkClick r:id="rId3"/>
              </a:rPr>
              <a:t>Windows Authentication for Cloud-Native Identities: Modernizing Azure SQL Managed Instance (Preview)</a:t>
            </a:r>
            <a:endParaRPr lang="en-US" dirty="0"/>
          </a:p>
          <a:p>
            <a:pPr algn="just"/>
            <a:r>
              <a:rPr lang="en-US" dirty="0"/>
              <a:t>Traditionally, Windows Authentication relied on on-premises Active Directory, making it difficult for businesses adopting a </a:t>
            </a:r>
            <a:r>
              <a:rPr lang="en-US" b="1" dirty="0"/>
              <a:t>cloud-only strategy</a:t>
            </a:r>
            <a:r>
              <a:rPr lang="en-US" dirty="0"/>
              <a:t> to preserve existing authentication models. With this new capability:</a:t>
            </a:r>
          </a:p>
          <a:p>
            <a:pPr marL="171450" indent="-171450" algn="just">
              <a:buFont typeface="Arial" panose="020B0604020202020204" pitchFamily="34" charset="0"/>
              <a:buChar char="•"/>
            </a:pPr>
            <a:r>
              <a:rPr lang="en-US" b="1" dirty="0"/>
              <a:t>Hybrid Identity Support:</a:t>
            </a:r>
            <a:r>
              <a:rPr lang="en-US" dirty="0"/>
              <a:t> Users synchronized between on-premises AD DS and Microsoft Entra ID can continue using a single set of credentials for both environments.</a:t>
            </a:r>
          </a:p>
          <a:p>
            <a:pPr marL="171450" indent="-171450" algn="just">
              <a:buFont typeface="Arial" panose="020B0604020202020204" pitchFamily="34" charset="0"/>
              <a:buChar char="•"/>
            </a:pPr>
            <a:r>
              <a:rPr lang="en-US" b="1" dirty="0"/>
              <a:t>Cloud-Only Identity (Preview):</a:t>
            </a:r>
            <a:r>
              <a:rPr lang="en-US" dirty="0"/>
              <a:t> Identities that exist only in Microsoft Entra ID can now leverage Kerberos-based Windows Authentication for workloads like Azure SQL Managed Instance—without requiring domain controllers.</a:t>
            </a:r>
          </a:p>
          <a:p>
            <a:r>
              <a:rPr lang="en-US" b="1" dirty="0"/>
              <a:t>Key Benefits</a:t>
            </a:r>
            <a:endParaRPr lang="en-US" dirty="0"/>
          </a:p>
          <a:p>
            <a:pPr marL="171450" indent="-171450" algn="just">
              <a:buFont typeface="Arial" panose="020B0604020202020204" pitchFamily="34" charset="0"/>
              <a:buChar char="•"/>
            </a:pPr>
            <a:r>
              <a:rPr lang="en-US" b="1" dirty="0"/>
              <a:t>Seamless Migration:</a:t>
            </a:r>
            <a:r>
              <a:rPr lang="en-US" dirty="0"/>
              <a:t> Move legacy applications to Azure SQL Managed Instance without rewriting authentication logic.</a:t>
            </a:r>
          </a:p>
          <a:p>
            <a:pPr marL="171450" indent="-171450" algn="just">
              <a:buFont typeface="Arial" panose="020B0604020202020204" pitchFamily="34" charset="0"/>
              <a:buChar char="•"/>
            </a:pPr>
            <a:r>
              <a:rPr lang="en-US" b="1" dirty="0"/>
              <a:t>Passwordless Security:</a:t>
            </a:r>
            <a:r>
              <a:rPr lang="en-US" dirty="0"/>
              <a:t> Combine Windows Authentication with modern credentials like </a:t>
            </a:r>
            <a:r>
              <a:rPr lang="en-US" b="1" dirty="0"/>
              <a:t>Windows Hello for Business</a:t>
            </a:r>
            <a:r>
              <a:rPr lang="en-US" dirty="0"/>
              <a:t> or </a:t>
            </a:r>
            <a:r>
              <a:rPr lang="en-US" b="1" dirty="0"/>
              <a:t>FIDO2 keys</a:t>
            </a:r>
            <a:r>
              <a:rPr lang="en-US" dirty="0"/>
              <a:t>, enabling MFA and reducing password-related risks.</a:t>
            </a:r>
          </a:p>
          <a:p>
            <a:pPr marL="171450" indent="-171450" algn="just">
              <a:buFont typeface="Arial" panose="020B0604020202020204" pitchFamily="34" charset="0"/>
              <a:buChar char="•"/>
            </a:pPr>
            <a:r>
              <a:rPr lang="en-US" b="1" dirty="0"/>
              <a:t>Cloud-Native Integration:</a:t>
            </a:r>
            <a:r>
              <a:rPr lang="en-US" dirty="0"/>
              <a:t> Microsoft Entra Kerberos acts as a cloud-based Key Distribution Center (KDC), issuing Kerberos tickets for cloud resources such as Azure SQL Managed Instance and Azure Files</a:t>
            </a:r>
          </a:p>
          <a:p>
            <a:pPr algn="just"/>
            <a:endParaRPr lang="en-US" dirty="0"/>
          </a:p>
          <a:p>
            <a:pPr algn="just"/>
            <a:endParaRPr lang="en-US" dirty="0"/>
          </a:p>
          <a:p>
            <a:pPr algn="just"/>
            <a:endParaRPr lang="en-US" dirty="0"/>
          </a:p>
        </p:txBody>
      </p:sp>
    </p:spTree>
    <p:extLst>
      <p:ext uri="{BB962C8B-B14F-4D97-AF65-F5344CB8AC3E}">
        <p14:creationId xmlns:p14="http://schemas.microsoft.com/office/powerpoint/2010/main" val="1776979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3" end="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4" end="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xEl>
                                              <p:pRg st="5" end="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ML &amp; AI &amp; IOT</a:t>
            </a:r>
          </a:p>
        </p:txBody>
      </p:sp>
    </p:spTree>
    <p:extLst>
      <p:ext uri="{BB962C8B-B14F-4D97-AF65-F5344CB8AC3E}">
        <p14:creationId xmlns:p14="http://schemas.microsoft.com/office/powerpoint/2010/main" val="35148783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a:xfrm>
            <a:off x="342900" y="855081"/>
            <a:ext cx="3955312" cy="1888120"/>
          </a:xfrm>
        </p:spPr>
        <p:txBody>
          <a:bodyPr/>
          <a:lstStyle/>
          <a:p>
            <a:pPr algn="just"/>
            <a:r>
              <a:rPr lang="en-US" dirty="0">
                <a:hlinkClick r:id="rId2"/>
              </a:rPr>
              <a:t>Introducing Azure SRE Agent memory</a:t>
            </a:r>
            <a:endParaRPr lang="en-US" dirty="0"/>
          </a:p>
          <a:p>
            <a:pPr algn="just"/>
            <a:r>
              <a:rPr lang="en-US" dirty="0"/>
              <a:t>Until now, AI assistants started every conversation from scratch, forcing teams to repeatedly explain context that experienced engineers would simply know. The SRE Agent Memory changes this paradigm. It enables agents to:</a:t>
            </a:r>
          </a:p>
          <a:p>
            <a:pPr marL="171450" indent="-171450" algn="just">
              <a:buFont typeface="Arial" panose="020B0604020202020204" pitchFamily="34" charset="0"/>
              <a:buChar char="•"/>
            </a:pPr>
            <a:r>
              <a:rPr lang="en-US" dirty="0"/>
              <a:t>Remember team facts, preferences, and context across all conversations</a:t>
            </a:r>
          </a:p>
          <a:p>
            <a:pPr marL="171450" indent="-171450" algn="just">
              <a:buFont typeface="Arial" panose="020B0604020202020204" pitchFamily="34" charset="0"/>
              <a:buChar char="•"/>
            </a:pPr>
            <a:r>
              <a:rPr lang="en-US" dirty="0"/>
              <a:t>Retrieve relevant runbooks and documentation during troubleshooting</a:t>
            </a:r>
          </a:p>
          <a:p>
            <a:pPr marL="171450" indent="-171450" algn="just">
              <a:buFont typeface="Arial" panose="020B0604020202020204" pitchFamily="34" charset="0"/>
              <a:buChar char="•"/>
            </a:pPr>
            <a:r>
              <a:rPr lang="en-US" dirty="0"/>
              <a:t>Learn from past sessions to improve future responses</a:t>
            </a:r>
          </a:p>
          <a:p>
            <a:pPr marL="171450" indent="-171450" algn="just">
              <a:buFont typeface="Arial" panose="020B0604020202020204" pitchFamily="34" charset="0"/>
              <a:buChar char="•"/>
            </a:pPr>
            <a:r>
              <a:rPr lang="en-US" dirty="0"/>
              <a:t>Share knowledge across your entire team automatically</a:t>
            </a:r>
          </a:p>
          <a:p>
            <a:pPr algn="just"/>
            <a:endParaRPr lang="en-US" dirty="0"/>
          </a:p>
        </p:txBody>
      </p:sp>
      <p:pic>
        <p:nvPicPr>
          <p:cNvPr id="3" name="Picture 2" descr="A screenshot of a computer&#10;&#10;AI-generated content may be incorrect.">
            <a:extLst>
              <a:ext uri="{FF2B5EF4-FFF2-40B4-BE49-F238E27FC236}">
                <a16:creationId xmlns:a16="http://schemas.microsoft.com/office/drawing/2014/main" id="{EF3A960F-8952-7FD9-4A73-187719B192D0}"/>
              </a:ext>
            </a:extLst>
          </p:cNvPr>
          <p:cNvPicPr>
            <a:picLocks noChangeAspect="1"/>
          </p:cNvPicPr>
          <p:nvPr/>
        </p:nvPicPr>
        <p:blipFill>
          <a:blip r:embed="rId3"/>
          <a:stretch>
            <a:fillRect/>
          </a:stretch>
        </p:blipFill>
        <p:spPr>
          <a:xfrm>
            <a:off x="342900" y="2742114"/>
            <a:ext cx="3811424" cy="1935315"/>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01F32EE1-D940-7DA4-0ABB-F5E48BAE8A3E}"/>
              </a:ext>
            </a:extLst>
          </p:cNvPr>
          <p:cNvPicPr>
            <a:picLocks noChangeAspect="1"/>
          </p:cNvPicPr>
          <p:nvPr/>
        </p:nvPicPr>
        <p:blipFill>
          <a:blip r:embed="rId4"/>
          <a:stretch>
            <a:fillRect/>
          </a:stretch>
        </p:blipFill>
        <p:spPr>
          <a:xfrm>
            <a:off x="4390750" y="342900"/>
            <a:ext cx="4683978" cy="2390560"/>
          </a:xfrm>
          <a:prstGeom prst="rect">
            <a:avLst/>
          </a:prstGeom>
        </p:spPr>
      </p:pic>
      <p:pic>
        <p:nvPicPr>
          <p:cNvPr id="7" name="Picture 6">
            <a:extLst>
              <a:ext uri="{FF2B5EF4-FFF2-40B4-BE49-F238E27FC236}">
                <a16:creationId xmlns:a16="http://schemas.microsoft.com/office/drawing/2014/main" id="{F4468A86-3944-AD75-B9B5-93288AA8EBE6}"/>
              </a:ext>
            </a:extLst>
          </p:cNvPr>
          <p:cNvPicPr>
            <a:picLocks noChangeAspect="1"/>
          </p:cNvPicPr>
          <p:nvPr/>
        </p:nvPicPr>
        <p:blipFill>
          <a:blip r:embed="rId5"/>
          <a:stretch>
            <a:fillRect/>
          </a:stretch>
        </p:blipFill>
        <p:spPr>
          <a:xfrm>
            <a:off x="4758427" y="2819399"/>
            <a:ext cx="4108482" cy="2195093"/>
          </a:xfrm>
          <a:prstGeom prst="rect">
            <a:avLst/>
          </a:prstGeom>
        </p:spPr>
      </p:pic>
    </p:spTree>
    <p:extLst>
      <p:ext uri="{BB962C8B-B14F-4D97-AF65-F5344CB8AC3E}">
        <p14:creationId xmlns:p14="http://schemas.microsoft.com/office/powerpoint/2010/main" val="3732754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1E86-1EBC-4F6B-6E64-6EB5FD91F4A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14285B5-6219-941D-B080-ACB23944E4D0}"/>
              </a:ext>
            </a:extLst>
          </p:cNvPr>
          <p:cNvSpPr>
            <a:spLocks noGrp="1"/>
          </p:cNvSpPr>
          <p:nvPr>
            <p:ph type="body" sz="quarter" idx="10"/>
          </p:nvPr>
        </p:nvSpPr>
        <p:spPr/>
        <p:txBody>
          <a:bodyPr/>
          <a:lstStyle/>
          <a:p>
            <a:pPr algn="just"/>
            <a:r>
              <a:rPr lang="en-US" sz="1000" dirty="0">
                <a:hlinkClick r:id="rId2"/>
              </a:rPr>
              <a:t>Introducing GPT-5.2 in Microsoft Foundry</a:t>
            </a:r>
            <a:endParaRPr lang="en-US" sz="1000" dirty="0"/>
          </a:p>
          <a:p>
            <a:pPr algn="just"/>
            <a:r>
              <a:rPr lang="en-US" sz="1000" dirty="0"/>
              <a:t>GPT-5.2 series introduces deeper logical chains, richer context handling, and agentic execution that prompts shippable artifacts. For example, design docs, runnable code, unit tests, and deployment scripts can be generated with fewer iterations. The GPT-5.2 series is built on new architecture, delivering superior performance, efficiency, and reasoning depth compared to prior generations. It’s also trained on the proven GPT-5.1 dataset and further enhanced with improved safety and integrations. GPT-5.2 leaps beyond previous models with substantial performance improvements across core metrics.</a:t>
            </a:r>
          </a:p>
          <a:p>
            <a:pPr algn="just"/>
            <a:endParaRPr lang="en-US" sz="1000" dirty="0"/>
          </a:p>
        </p:txBody>
      </p:sp>
      <p:sp>
        <p:nvSpPr>
          <p:cNvPr id="11" name="Title 10">
            <a:extLst>
              <a:ext uri="{FF2B5EF4-FFF2-40B4-BE49-F238E27FC236}">
                <a16:creationId xmlns:a16="http://schemas.microsoft.com/office/drawing/2014/main" id="{F0107EA6-8DB4-F344-F529-449034C075F0}"/>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DA4EB956-5F49-48E0-B1D6-AE1A636CECB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383DE5A4-66B0-B9DC-0E46-93B58BC9C3FE}"/>
              </a:ext>
            </a:extLst>
          </p:cNvPr>
          <p:cNvSpPr>
            <a:spLocks noGrp="1"/>
          </p:cNvSpPr>
          <p:nvPr>
            <p:ph type="body" sz="quarter" idx="16"/>
          </p:nvPr>
        </p:nvSpPr>
        <p:spPr/>
        <p:txBody>
          <a:bodyPr/>
          <a:lstStyle/>
          <a:p>
            <a:pPr algn="just"/>
            <a:r>
              <a:rPr lang="en-US" dirty="0">
                <a:hlinkClick r:id="rId3"/>
              </a:rPr>
              <a:t>Introducing Cohere </a:t>
            </a:r>
            <a:r>
              <a:rPr lang="en-US" dirty="0" err="1">
                <a:hlinkClick r:id="rId3"/>
              </a:rPr>
              <a:t>Rerank</a:t>
            </a:r>
            <a:r>
              <a:rPr lang="en-US" dirty="0">
                <a:hlinkClick r:id="rId3"/>
              </a:rPr>
              <a:t> 4.0 in Microsoft Foundry</a:t>
            </a:r>
            <a:endParaRPr lang="en-US" dirty="0"/>
          </a:p>
          <a:p>
            <a:pPr algn="just"/>
            <a:r>
              <a:rPr lang="en-US" dirty="0"/>
              <a:t> Cohere </a:t>
            </a:r>
            <a:r>
              <a:rPr lang="en-US" dirty="0" err="1"/>
              <a:t>Rerank</a:t>
            </a:r>
            <a:r>
              <a:rPr lang="en-US" dirty="0"/>
              <a:t> 4.0 Fast and </a:t>
            </a:r>
            <a:r>
              <a:rPr lang="en-US" dirty="0" err="1"/>
              <a:t>Rerank</a:t>
            </a:r>
            <a:r>
              <a:rPr lang="en-US" dirty="0"/>
              <a:t> 4.0 Pro are now available as direct from Azure models in Microsoft Foundry.</a:t>
            </a:r>
          </a:p>
          <a:p>
            <a:pPr algn="just"/>
            <a:r>
              <a:rPr lang="en-US" dirty="0"/>
              <a:t>These new retrieval models deliver state-of-the-art accuracy, multilingual coverage across 100+ languages, and breakthrough performance for enterprise search and retrieval-augmented generation (RAG) systems. </a:t>
            </a:r>
          </a:p>
          <a:p>
            <a:pPr algn="just"/>
            <a:r>
              <a:rPr lang="en-US" dirty="0"/>
              <a:t>With </a:t>
            </a:r>
            <a:r>
              <a:rPr lang="en-US" dirty="0" err="1"/>
              <a:t>Rerank</a:t>
            </a:r>
            <a:r>
              <a:rPr lang="en-US" dirty="0"/>
              <a:t> 4.0, customers can dramatically improve the quality of search, reduce hallucinations in RAG applications, and strengthen the reasoning capabilities of their AI agents, all with just a few lines of code. </a:t>
            </a:r>
          </a:p>
        </p:txBody>
      </p:sp>
    </p:spTree>
    <p:extLst>
      <p:ext uri="{BB962C8B-B14F-4D97-AF65-F5344CB8AC3E}">
        <p14:creationId xmlns:p14="http://schemas.microsoft.com/office/powerpoint/2010/main" val="3849961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2ADB6-113C-7F12-FA61-67D8C365299F}"/>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EE84B67F-7026-D091-4F4B-F5819D59C9E7}"/>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55AD8010-EE62-F57B-5CA1-B8E7B6C0ECD1}"/>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B331A00-CF62-F468-BCCC-F6840B7358F5}"/>
              </a:ext>
            </a:extLst>
          </p:cNvPr>
          <p:cNvSpPr>
            <a:spLocks noGrp="1"/>
          </p:cNvSpPr>
          <p:nvPr>
            <p:ph type="body" sz="quarter" idx="16"/>
          </p:nvPr>
        </p:nvSpPr>
        <p:spPr/>
        <p:txBody>
          <a:bodyPr/>
          <a:lstStyle/>
          <a:p>
            <a:pPr algn="just"/>
            <a:r>
              <a:rPr lang="en-US" dirty="0">
                <a:hlinkClick r:id="rId2"/>
              </a:rPr>
              <a:t>Generally Available: Azure Sphere OS version 25.12 is now available for evaluation</a:t>
            </a:r>
            <a:endParaRPr lang="en-US" dirty="0"/>
          </a:p>
          <a:p>
            <a:pPr algn="just"/>
            <a:r>
              <a:rPr lang="en-US" dirty="0"/>
              <a:t>Azure Sphere OS version 25.12 is now available for evaluation in the Retail Eval feed. Whilst this release encompasses no customer-facing changes, it represents significant under-the-hood build system changes, as such, this release will operate for an extended evaluation period, until February 2026, enabling additional time for customer evaluation testing.</a:t>
            </a:r>
          </a:p>
          <a:p>
            <a:pPr algn="just"/>
            <a:r>
              <a:rPr lang="en-US" dirty="0"/>
              <a:t>Following this period, a second evaluation release, 26.02, will be launched to the Retail Eval feed for the standard 14-day testing period, and subsequently promoted to the Retail feed. This means that 25.12 will not be promoted to the Retail feed, and that the next Retail release will be 26.02.</a:t>
            </a:r>
          </a:p>
          <a:p>
            <a:pPr algn="just"/>
            <a:r>
              <a:rPr lang="en-US" dirty="0"/>
              <a:t>During this time, please verify that your applications and devices operate properly with both the 25.12, and subsequent 26.02 release, before it is deployed broadly to devices in the Retail feed. </a:t>
            </a:r>
          </a:p>
          <a:p>
            <a:pPr algn="just"/>
            <a:r>
              <a:rPr lang="en-US" dirty="0"/>
              <a:t>The 25.12 OS Retail Eval release includes significant underlying build system updates.</a:t>
            </a:r>
          </a:p>
        </p:txBody>
      </p:sp>
    </p:spTree>
    <p:extLst>
      <p:ext uri="{BB962C8B-B14F-4D97-AF65-F5344CB8AC3E}">
        <p14:creationId xmlns:p14="http://schemas.microsoft.com/office/powerpoint/2010/main" val="586386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4748646" cy="1714500"/>
          </a:xfrm>
        </p:spPr>
        <p:txBody>
          <a:bodyPr/>
          <a:lstStyle/>
          <a:p>
            <a:r>
              <a:rPr lang="en-US" sz="4000" dirty="0"/>
              <a:t>DevOps &amp; IaC &amp; Automation</a:t>
            </a:r>
          </a:p>
        </p:txBody>
      </p:sp>
    </p:spTree>
    <p:extLst>
      <p:ext uri="{BB962C8B-B14F-4D97-AF65-F5344CB8AC3E}">
        <p14:creationId xmlns:p14="http://schemas.microsoft.com/office/powerpoint/2010/main" val="6537846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E166B-5F98-EE8E-5B62-AEAB3F55337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ACB0A5D-ABFF-FDBA-2981-B5840044FB65}"/>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16AAAE0B-0E99-B9BA-C719-42AF0D574738}"/>
              </a:ext>
            </a:extLst>
          </p:cNvPr>
          <p:cNvSpPr>
            <a:spLocks noGrp="1"/>
          </p:cNvSpPr>
          <p:nvPr>
            <p:ph type="title"/>
          </p:nvPr>
        </p:nvSpPr>
        <p:spPr/>
        <p:txBody>
          <a:bodyPr/>
          <a:lstStyle/>
          <a:p>
            <a:r>
              <a:rPr lang="en-US" sz="1800" dirty="0"/>
              <a:t>DevOps &amp; IaC &amp; Automation</a:t>
            </a:r>
          </a:p>
        </p:txBody>
      </p:sp>
      <p:sp>
        <p:nvSpPr>
          <p:cNvPr id="13" name="Text Placeholder 12">
            <a:extLst>
              <a:ext uri="{FF2B5EF4-FFF2-40B4-BE49-F238E27FC236}">
                <a16:creationId xmlns:a16="http://schemas.microsoft.com/office/drawing/2014/main" id="{E12F1E69-46C9-B918-9382-5DFF0FC578B8}"/>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CB295C0-8FE1-D74E-47AD-C2C789F6372C}"/>
              </a:ext>
            </a:extLst>
          </p:cNvPr>
          <p:cNvSpPr>
            <a:spLocks noGrp="1"/>
          </p:cNvSpPr>
          <p:nvPr>
            <p:ph type="body" sz="quarter" idx="16"/>
          </p:nvPr>
        </p:nvSpPr>
        <p:spPr/>
        <p:txBody>
          <a:bodyPr/>
          <a:lstStyle/>
          <a:p>
            <a:pPr algn="just"/>
            <a:r>
              <a:rPr lang="en-US" dirty="0">
                <a:hlinkClick r:id="rId2"/>
              </a:rPr>
              <a:t>Azure DevOps Server is GA</a:t>
            </a:r>
            <a:endParaRPr lang="en-US" dirty="0"/>
          </a:p>
          <a:p>
            <a:pPr algn="just"/>
            <a:r>
              <a:rPr lang="en-US" dirty="0"/>
              <a:t>Azure DevOps Server has officially reached </a:t>
            </a:r>
            <a:r>
              <a:rPr lang="en-US" b="1" dirty="0"/>
              <a:t>General Availability (GA)</a:t>
            </a:r>
            <a:r>
              <a:rPr lang="en-US" dirty="0"/>
              <a:t>, graduating from the Release Candidate phase to full production readiness. This release provides a robust, self-hosted DevOps platform for enterprises that require on-premises control with modern CI/CD, agile planning, and collaboration features.</a:t>
            </a:r>
          </a:p>
          <a:p>
            <a:pPr algn="just"/>
            <a:r>
              <a:rPr lang="en-US" dirty="0"/>
              <a:t>Organizations can </a:t>
            </a:r>
            <a:r>
              <a:rPr lang="en-US" b="1" dirty="0"/>
              <a:t>upgrade directly</a:t>
            </a:r>
            <a:r>
              <a:rPr lang="en-US" dirty="0"/>
              <a:t> from Azure DevOps Server RC or any supported version of </a:t>
            </a:r>
            <a:r>
              <a:rPr lang="en-US" b="1" dirty="0"/>
              <a:t>Team Foundation Server (TFS 2015 or later)</a:t>
            </a:r>
            <a:r>
              <a:rPr lang="en-US" dirty="0"/>
              <a:t>.</a:t>
            </a:r>
          </a:p>
          <a:p>
            <a:pPr algn="just"/>
            <a:r>
              <a:rPr lang="en-US" b="1" dirty="0"/>
              <a:t>Important:</a:t>
            </a:r>
            <a:r>
              <a:rPr lang="en-US" dirty="0"/>
              <a:t> Team Foundation Server 2015 reached </a:t>
            </a:r>
            <a:r>
              <a:rPr lang="en-US" b="1" dirty="0"/>
              <a:t>end of Extended Support on October 14, 2025</a:t>
            </a:r>
            <a:r>
              <a:rPr lang="en-US" dirty="0"/>
              <a:t>. Customers should upgrade to Azure DevOps Server to stay secure, supported, and compliant.</a:t>
            </a:r>
          </a:p>
          <a:p>
            <a:pPr algn="just"/>
            <a:endParaRPr lang="en-US" dirty="0"/>
          </a:p>
        </p:txBody>
      </p:sp>
    </p:spTree>
    <p:extLst>
      <p:ext uri="{BB962C8B-B14F-4D97-AF65-F5344CB8AC3E}">
        <p14:creationId xmlns:p14="http://schemas.microsoft.com/office/powerpoint/2010/main" val="1359911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86D8C-1CF7-CFC9-5082-9B054DB0E4B0}"/>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7CBCE21E-6E97-4575-224A-07A9BE04CC17}"/>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913ABE3E-5CF4-60DA-7E03-258003FB6E61}"/>
              </a:ext>
            </a:extLst>
          </p:cNvPr>
          <p:cNvSpPr>
            <a:spLocks noGrp="1"/>
          </p:cNvSpPr>
          <p:nvPr>
            <p:ph type="title"/>
          </p:nvPr>
        </p:nvSpPr>
        <p:spPr/>
        <p:txBody>
          <a:bodyPr/>
          <a:lstStyle/>
          <a:p>
            <a:r>
              <a:rPr lang="en-US" sz="1800" dirty="0"/>
              <a:t>DevOps &amp; IaC &amp; Automation</a:t>
            </a:r>
          </a:p>
        </p:txBody>
      </p:sp>
      <p:sp>
        <p:nvSpPr>
          <p:cNvPr id="13" name="Text Placeholder 12">
            <a:extLst>
              <a:ext uri="{FF2B5EF4-FFF2-40B4-BE49-F238E27FC236}">
                <a16:creationId xmlns:a16="http://schemas.microsoft.com/office/drawing/2014/main" id="{F39435DB-59FA-A2E5-622B-52C33AFF7708}"/>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D47C64A-30C7-BF38-06B4-45C2009206FC}"/>
              </a:ext>
            </a:extLst>
          </p:cNvPr>
          <p:cNvSpPr>
            <a:spLocks noGrp="1"/>
          </p:cNvSpPr>
          <p:nvPr>
            <p:ph type="body" sz="quarter" idx="16"/>
          </p:nvPr>
        </p:nvSpPr>
        <p:spPr/>
        <p:txBody>
          <a:bodyPr/>
          <a:lstStyle/>
          <a:p>
            <a:pPr algn="just"/>
            <a:r>
              <a:rPr lang="en-US" dirty="0">
                <a:hlinkClick r:id="rId2"/>
              </a:rPr>
              <a:t>Retirement of Global Personal Access Tokens in Azure DevOps</a:t>
            </a:r>
            <a:endParaRPr lang="en-US" dirty="0"/>
          </a:p>
          <a:p>
            <a:pPr algn="just"/>
            <a:r>
              <a:rPr lang="en-US" dirty="0"/>
              <a:t>Global PATs allow users to authenticate across all accessible organizations. It is strongly recommended to transition to </a:t>
            </a:r>
            <a:r>
              <a:rPr lang="en-US" b="1" dirty="0"/>
              <a:t>short‑lived, Microsoft Entra–backed authentication</a:t>
            </a:r>
            <a:r>
              <a:rPr lang="en-US" dirty="0"/>
              <a:t>, which offers modern protections such as improved token governance, stronger identity controls, and reduced risk of credential exposure.</a:t>
            </a:r>
          </a:p>
          <a:p>
            <a:pPr marL="171450" indent="-171450" algn="just">
              <a:buFont typeface="Arial" panose="020B0604020202020204" pitchFamily="34" charset="0"/>
              <a:buChar char="•"/>
            </a:pPr>
            <a:r>
              <a:rPr lang="en-US" b="1" dirty="0"/>
              <a:t>March 15, 2026</a:t>
            </a:r>
            <a:r>
              <a:rPr lang="en-US" dirty="0"/>
              <a:t> – Creation of new global PATs and regeneration of existing global PATs will be blocked.</a:t>
            </a:r>
          </a:p>
          <a:p>
            <a:pPr marL="171450" indent="-171450" algn="just">
              <a:buFont typeface="Arial" panose="020B0604020202020204" pitchFamily="34" charset="0"/>
              <a:buChar char="•"/>
            </a:pPr>
            <a:r>
              <a:rPr lang="en-US" b="1" dirty="0"/>
              <a:t>December 1, 2026</a:t>
            </a:r>
            <a:r>
              <a:rPr lang="en-US" dirty="0"/>
              <a:t> – All existing global PATs will be fully decommissioned. Tokens will stop working after this date.</a:t>
            </a:r>
          </a:p>
          <a:p>
            <a:pPr algn="just"/>
            <a:endParaRPr lang="en-US" dirty="0"/>
          </a:p>
          <a:p>
            <a:pPr algn="just"/>
            <a:endParaRPr lang="en-US" dirty="0"/>
          </a:p>
        </p:txBody>
      </p:sp>
    </p:spTree>
    <p:extLst>
      <p:ext uri="{BB962C8B-B14F-4D97-AF65-F5344CB8AC3E}">
        <p14:creationId xmlns:p14="http://schemas.microsoft.com/office/powerpoint/2010/main" val="1082689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Information</a:t>
            </a:r>
          </a:p>
        </p:txBody>
      </p:sp>
    </p:spTree>
    <p:extLst>
      <p:ext uri="{BB962C8B-B14F-4D97-AF65-F5344CB8AC3E}">
        <p14:creationId xmlns:p14="http://schemas.microsoft.com/office/powerpoint/2010/main" val="12760416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customXml/itemProps3.xml><?xml version="1.0" encoding="utf-8"?>
<ds:datastoreItem xmlns:ds="http://schemas.openxmlformats.org/officeDocument/2006/customXml" ds:itemID="{EE04B39D-0CBA-4F8F-8809-785207E87965}">
  <ds:schemaRefs>
    <ds:schemaRef ds:uri="http://schemas.microsoft.com/sharepoint/v3/contenttype/forms"/>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624</TotalTime>
  <Words>1671</Words>
  <Application>Microsoft Office PowerPoint</Application>
  <PresentationFormat>On-screen Show (16:9)</PresentationFormat>
  <Paragraphs>82</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Human Sans</vt:lpstr>
      <vt:lpstr>Human Sans Regular</vt:lpstr>
      <vt:lpstr>Continuum Theme</vt:lpstr>
      <vt:lpstr>Azure Times #188</vt:lpstr>
      <vt:lpstr>PowerPoint Presentation</vt:lpstr>
      <vt:lpstr>Networking Updates</vt:lpstr>
      <vt:lpstr>Networking Updates</vt:lpstr>
      <vt:lpstr>PowerPoint Presentation</vt:lpstr>
      <vt:lpstr>Security &amp; Identity Updates</vt:lpstr>
      <vt:lpstr>PowerPoint Presentation</vt:lpstr>
      <vt:lpstr>Compute Updates</vt:lpstr>
      <vt:lpstr>PowerPoint Presentation</vt:lpstr>
      <vt:lpstr>Databases Updates</vt:lpstr>
      <vt:lpstr>PowerPoint Presentation</vt:lpstr>
      <vt:lpstr>ML &amp; AI &amp; IOT Updates</vt:lpstr>
      <vt:lpstr>ML &amp; AI &amp; IOT Updates</vt:lpstr>
      <vt:lpstr>ML &amp; AI &amp; IOT Updates</vt:lpstr>
      <vt:lpstr>PowerPoint Presentation</vt:lpstr>
      <vt:lpstr>DevOps &amp; IaC &amp; Automation</vt:lpstr>
      <vt:lpstr>DevOps &amp; IaC &amp; Automation</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99</cp:revision>
  <dcterms:created xsi:type="dcterms:W3CDTF">2018-01-26T19:23:30Z</dcterms:created>
  <dcterms:modified xsi:type="dcterms:W3CDTF">2025-12-13T13:57:24Z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