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67"/>
  </p:notesMasterIdLst>
  <p:handoutMasterIdLst>
    <p:handoutMasterId r:id="rId68"/>
  </p:handoutMasterIdLst>
  <p:sldIdLst>
    <p:sldId id="2142532340" r:id="rId5"/>
    <p:sldId id="2146847045" r:id="rId6"/>
    <p:sldId id="10657" r:id="rId7"/>
    <p:sldId id="2146847127" r:id="rId8"/>
    <p:sldId id="2146847165" r:id="rId9"/>
    <p:sldId id="2146847126" r:id="rId10"/>
    <p:sldId id="2146847125" r:id="rId11"/>
    <p:sldId id="2146847124" r:id="rId12"/>
    <p:sldId id="2146847161" r:id="rId13"/>
    <p:sldId id="2146847169" r:id="rId14"/>
    <p:sldId id="2146847046" r:id="rId15"/>
    <p:sldId id="2146847089" r:id="rId16"/>
    <p:sldId id="2146847048" r:id="rId17"/>
    <p:sldId id="2146847049" r:id="rId18"/>
    <p:sldId id="2146847164" r:id="rId19"/>
    <p:sldId id="2146847167" r:id="rId20"/>
    <p:sldId id="2146847175" r:id="rId21"/>
    <p:sldId id="2146847132" r:id="rId22"/>
    <p:sldId id="2146847133" r:id="rId23"/>
    <p:sldId id="2146847131" r:id="rId24"/>
    <p:sldId id="2146847050" r:id="rId25"/>
    <p:sldId id="2146847136" r:id="rId26"/>
    <p:sldId id="2146847157" r:id="rId27"/>
    <p:sldId id="2146847162" r:id="rId28"/>
    <p:sldId id="2146847163" r:id="rId29"/>
    <p:sldId id="2146847170" r:id="rId30"/>
    <p:sldId id="2146847171" r:id="rId31"/>
    <p:sldId id="2146847134" r:id="rId32"/>
    <p:sldId id="2146847173" r:id="rId33"/>
    <p:sldId id="2146847156" r:id="rId34"/>
    <p:sldId id="2146847166" r:id="rId35"/>
    <p:sldId id="2146847159" r:id="rId36"/>
    <p:sldId id="2146847172" r:id="rId37"/>
    <p:sldId id="2146847135" r:id="rId38"/>
    <p:sldId id="2146847052" r:id="rId39"/>
    <p:sldId id="2146847100" r:id="rId40"/>
    <p:sldId id="2146847176" r:id="rId41"/>
    <p:sldId id="2146847137" r:id="rId42"/>
    <p:sldId id="2146847138" r:id="rId43"/>
    <p:sldId id="2146847139" r:id="rId44"/>
    <p:sldId id="2146847158" r:id="rId45"/>
    <p:sldId id="2146847160" r:id="rId46"/>
    <p:sldId id="2146847054" r:id="rId47"/>
    <p:sldId id="2146847103" r:id="rId48"/>
    <p:sldId id="2146847141" r:id="rId49"/>
    <p:sldId id="2146847142" r:id="rId50"/>
    <p:sldId id="2146847140" r:id="rId51"/>
    <p:sldId id="2146847168" r:id="rId52"/>
    <p:sldId id="2146847056" r:id="rId53"/>
    <p:sldId id="2146847107" r:id="rId54"/>
    <p:sldId id="2146847058" r:id="rId55"/>
    <p:sldId id="2146847111" r:id="rId56"/>
    <p:sldId id="2146847146" r:id="rId57"/>
    <p:sldId id="2146847147" r:id="rId58"/>
    <p:sldId id="2146847148" r:id="rId59"/>
    <p:sldId id="2146847119" r:id="rId60"/>
    <p:sldId id="2146847120" r:id="rId61"/>
    <p:sldId id="2146847062" r:id="rId62"/>
    <p:sldId id="2146847115" r:id="rId63"/>
    <p:sldId id="2146847085" r:id="rId64"/>
    <p:sldId id="2146847084" r:id="rId65"/>
    <p:sldId id="2146847064" r:id="rId66"/>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65"/>
            <p14:sldId id="2146847126"/>
            <p14:sldId id="2146847125"/>
            <p14:sldId id="2146847124"/>
            <p14:sldId id="2146847161"/>
            <p14:sldId id="2146847169"/>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64"/>
            <p14:sldId id="2146847167"/>
            <p14:sldId id="2146847175"/>
            <p14:sldId id="2146847132"/>
            <p14:sldId id="2146847133"/>
            <p14:sldId id="2146847131"/>
          </p14:sldIdLst>
        </p14:section>
        <p14:section name="Compute" id="{05AA80BB-8802-49AB-8336-A884227CE2F7}">
          <p14:sldIdLst>
            <p14:sldId id="2146847050"/>
            <p14:sldId id="2146847136"/>
            <p14:sldId id="2146847157"/>
            <p14:sldId id="2146847162"/>
            <p14:sldId id="2146847163"/>
            <p14:sldId id="2146847170"/>
            <p14:sldId id="2146847171"/>
            <p14:sldId id="2146847134"/>
            <p14:sldId id="2146847173"/>
            <p14:sldId id="2146847156"/>
            <p14:sldId id="2146847166"/>
            <p14:sldId id="2146847159"/>
            <p14:sldId id="2146847172"/>
            <p14:sldId id="2146847135"/>
          </p14:sldIdLst>
        </p14:section>
        <p14:section name="Storage &amp; Data" id="{1F159046-CE0A-45BC-9D5B-6E6C95980F78}">
          <p14:sldIdLst>
            <p14:sldId id="2146847052"/>
            <p14:sldId id="2146847100"/>
            <p14:sldId id="2146847176"/>
            <p14:sldId id="2146847137"/>
            <p14:sldId id="2146847138"/>
            <p14:sldId id="2146847139"/>
            <p14:sldId id="2146847158"/>
            <p14:sldId id="2146847160"/>
          </p14:sldIdLst>
        </p14:section>
        <p14:section name="Databases" id="{AEAFAE72-AD56-48F3-926B-38BAE269038F}">
          <p14:sldIdLst>
            <p14:sldId id="2146847054"/>
            <p14:sldId id="2146847103"/>
            <p14:sldId id="2146847141"/>
            <p14:sldId id="2146847142"/>
            <p14:sldId id="2146847140"/>
            <p14:sldId id="2146847168"/>
          </p14:sldIdLst>
        </p14:section>
        <p14:section name="Integration" id="{ACBD46A3-6F1C-451B-A154-0A056E0DEFF6}">
          <p14:sldIdLst>
            <p14:sldId id="2146847056"/>
            <p14:sldId id="2146847107"/>
          </p14:sldIdLst>
        </p14:section>
        <p14:section name="ML &amp; AI &amp; IOT" id="{F4E1EAF1-55E9-4CA4-8ADC-28B69C1D66D2}">
          <p14:sldIdLst>
            <p14:sldId id="2146847058"/>
            <p14:sldId id="2146847111"/>
            <p14:sldId id="2146847146"/>
            <p14:sldId id="2146847147"/>
            <p14:sldId id="2146847148"/>
            <p14:sldId id="2146847119"/>
            <p14:sldId id="2146847120"/>
          </p14:sldIdLst>
        </p14:section>
        <p14:section name="Miscellaneous" id="{A1456D7A-93BE-4023-90AA-7269D2F177BA}">
          <p14:sldIdLst>
            <p14:sldId id="2146847062"/>
            <p14:sldId id="2146847115"/>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94"/>
  </p:normalViewPr>
  <p:slideViewPr>
    <p:cSldViewPr snapToGrid="0">
      <p:cViewPr varScale="1">
        <p:scale>
          <a:sx n="138" d="100"/>
          <a:sy n="138" d="100"/>
        </p:scale>
        <p:origin x="1800"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11/15/2025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echcommunity.microsoft.com/blog/messagingonazureblog/upcoming-changes-to-azure-relay-ip-addresses-and-dns-support/4463597" TargetMode="External"/><Relationship Id="rId2" Type="http://schemas.openxmlformats.org/officeDocument/2006/relationships/hyperlink" Target="https://azure.microsoft.com/ru-ru/updates?id=501169"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12751"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zure.microsoft.com/ru-ru/updates?id=513802" TargetMode="Externa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azure.microsoft.com/ru-ru/updates?id=52672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17027" TargetMode="External"/><Relationship Id="rId2" Type="http://schemas.openxmlformats.org/officeDocument/2006/relationships/hyperlink" Target="https://azure.microsoft.com/ru-ru/updates?id=522813"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25424" TargetMode="External"/><Relationship Id="rId2" Type="http://schemas.openxmlformats.org/officeDocument/2006/relationships/hyperlink" Target="https://azure.microsoft.com/ru-ru/updates?id=525429"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25442" TargetMode="External"/><Relationship Id="rId2" Type="http://schemas.openxmlformats.org/officeDocument/2006/relationships/hyperlink" Target="https://azure.microsoft.com/ru-ru/updates?id=525419"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26160" TargetMode="External"/><Relationship Id="rId2" Type="http://schemas.openxmlformats.org/officeDocument/2006/relationships/hyperlink" Target="https://azure.microsoft.com/ru-ru/updates?id=526155"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526145"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echcommunity.microsoft.com/blog/microsoftdefendercloudblog/announcing-microsoft-cloud-security-benchmark-v2-public-preview/4468523" TargetMode="External"/><Relationship Id="rId2" Type="http://schemas.openxmlformats.org/officeDocument/2006/relationships/hyperlink" Target="https://techcommunity.microsoft.com/blog/azuregovernanceandmanagementblog/public-preview-introducing-customizable-security-baseline-policies-in-machine-co/4469678"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techcommunity.microsoft.com/blog/azurearcblog/public-preview-audit-and-enable-windows-recovery-environment-winre-for-azure-arc/4462939" TargetMode="External"/><Relationship Id="rId2" Type="http://schemas.openxmlformats.org/officeDocument/2006/relationships/hyperlink" Target="https://learn.microsoft.com/en-us/azure/azure-local/deploy/deployment-local-identity-with-key-vault?view=azloc-2510"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zure.microsoft.com/ru-ru/updates?id=526468" TargetMode="Externa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techcommunity.microsoft.com/blog/azuremigrationblog/migrate-or-modernize-your-applications-using-azure-migrate/4468587" TargetMode="Externa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hyperlink" Target="https://techcommunity.microsoft.com/blog/azuremigrationblog/accelerate-cloud-migration-with-wave-planning-in-azure-migrate/4467959" TargetMode="Externa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20805"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techcommunity.microsoft.com/blog/azurearcblog/azure-migrate-expands-capabilities-to-accelerate-migration-to-azure-local/4464789" TargetMode="External"/><Relationship Id="rId2" Type="http://schemas.openxmlformats.org/officeDocument/2006/relationships/hyperlink" Target="https://techcommunity.microsoft.com/blog/azurearcblog/announcing-general-availability-of-software-defined-networking-sdn-on-azure-loca/4467579"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ru-ru/updates?id=523975"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499906"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zure.microsoft.com/ru-ru/updates?id=516990" TargetMode="External"/><Relationship Id="rId2" Type="http://schemas.openxmlformats.org/officeDocument/2006/relationships/hyperlink" Target="https://azure.microsoft.com/ru-ru/updates?id=516897" TargetMode="Externa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hyperlink" Target="https://azure.microsoft.com/ru-ru/updates?id=522866" TargetMode="External"/><Relationship Id="rId2" Type="http://schemas.openxmlformats.org/officeDocument/2006/relationships/hyperlink" Target="https://azure.microsoft.com/ru-ru/updates?id=523172"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azure.microsoft.com/ru-ru/updates?id=523067"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azure.microsoft.com/ru-ru/updates?id=523062" TargetMode="External"/><Relationship Id="rId2" Type="http://schemas.openxmlformats.org/officeDocument/2006/relationships/hyperlink" Target="https://azure.microsoft.com/ru-ru/updates?id=523134"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hyperlink" Target="https://azure.microsoft.com/ru-ru/updates?id=523100" TargetMode="External"/><Relationship Id="rId2" Type="http://schemas.openxmlformats.org/officeDocument/2006/relationships/hyperlink" Target="https://azure.microsoft.com/ru-ru/updates?id=523086"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azure.microsoft.com/ru-ru/updates?id=520822" TargetMode="External"/><Relationship Id="rId2" Type="http://schemas.openxmlformats.org/officeDocument/2006/relationships/hyperlink" Target="https://techcommunity.microsoft.com/blog/azurenetworkingblog/cut-the-noise--cost-with-container-network-metrics-filtering-in-acns-for-aks/4468221"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zure.microsoft.com/ru-ru/updates?id=519310" TargetMode="External"/><Relationship Id="rId2" Type="http://schemas.openxmlformats.org/officeDocument/2006/relationships/hyperlink" Target="https://azure.microsoft.com/ru-ru/updates?id=519526"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techcommunity.microsoft.com/blog/appsonazureblog/azure-container-registry-repository-permissions-with-attribute-based-access-cont/4467182"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techcommunity.microsoft.com/blog/appsonazureblog/node-js-24-is-now-available-on-azure-app-service-for-linux/4468801" TargetMode="External"/><Relationship Id="rId2" Type="http://schemas.openxmlformats.org/officeDocument/2006/relationships/hyperlink" Target="https://techcommunity.microsoft.com/blog/appsonazureblog/python-3-14-is-now-available-on-azure-app-service-for-linux/4465404"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azure.microsoft.com/ru-ru/updates?id=520686" TargetMode="External"/><Relationship Id="rId2" Type="http://schemas.openxmlformats.org/officeDocument/2006/relationships/hyperlink" Target="https://techcommunity.microsoft.com/blog/appsonazureblog/announcing-general-availability-of-larger-container-sizes-on-azure-container-ins/4463863"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azure.microsoft.com/ru-ru/updates?id=503129" TargetMode="External"/><Relationship Id="rId2" Type="http://schemas.openxmlformats.org/officeDocument/2006/relationships/hyperlink" Target="https://azure.microsoft.com/ru-ru/updates?id=523057" TargetMode="Externa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hyperlink" Target="https://techcommunity.microsoft.com/blog/azurenetworkingblog/layer-7-network-policies-for-aks-now-generally-available-for-production-security/4467598"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azure.microsoft.com/ru-ru/updates?id=502957" TargetMode="External"/><Relationship Id="rId2" Type="http://schemas.openxmlformats.org/officeDocument/2006/relationships/hyperlink" Target="https://azure.microsoft.com/ru-ru/updates?id=509686"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learn.microsoft.com/en-us/azure/azure-netapp-files/cache-volumes"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s://azure.microsoft.com/ru-ru/updates?id=516643"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azure.microsoft.com/ru-ru/updates?id=502004" TargetMode="External"/><Relationship Id="rId2" Type="http://schemas.openxmlformats.org/officeDocument/2006/relationships/hyperlink" Target="https://azure.microsoft.com/ru-ru/updates?id=514658" TargetMode="Externa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hyperlink" Target="https://azure.microsoft.com/ru-ru/updates?id=514653"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s://azure.microsoft.com/ru-ru/updates?id=526635" TargetMode="External"/><Relationship Id="rId2" Type="http://schemas.openxmlformats.org/officeDocument/2006/relationships/hyperlink" Target="https://azure.microsoft.com/ru-ru/updates?id=520201" TargetMode="Externa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azure.microsoft.com/ru-ru/updates?id=522072"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22059"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s://azure.microsoft.com/ru-ru/updates?id=522086"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azure.microsoft.com/ru-ru/updates?id=520710" TargetMode="External"/><Relationship Id="rId2" Type="http://schemas.openxmlformats.org/officeDocument/2006/relationships/hyperlink" Target="https://azure.microsoft.com/ru-ru/updates?id=520715"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azure.microsoft.com/ru-ru/updates?id=513254" TargetMode="External"/><Relationship Id="rId2" Type="http://schemas.openxmlformats.org/officeDocument/2006/relationships/hyperlink" Target="https://azure.microsoft.com/ru-ru/updates?id=513240"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https://azure.microsoft.com/ru-ru/updates?id=520705" TargetMode="External"/><Relationship Id="rId2" Type="http://schemas.openxmlformats.org/officeDocument/2006/relationships/hyperlink" Target="https://azure.microsoft.com/ru-ru/updates?id=520696"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azure.microsoft.com/ru-ru/updates?id=520691" TargetMode="External"/><Relationship Id="rId2" Type="http://schemas.openxmlformats.org/officeDocument/2006/relationships/hyperlink" Target="https://azure.microsoft.com/ru-ru/updates?id=523787"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s://azure.microsoft.com/ru-ru/updates?id=508390"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techcommunity.microsoft.com/blog/integrationsonazureblog/introducing-the-rabbitmq-connector-public-preview/4462627" TargetMode="External"/><Relationship Id="rId2" Type="http://schemas.openxmlformats.org/officeDocument/2006/relationships/hyperlink" Target="https://techcommunity.microsoft.com/blog/integrationsonazureblog/introducing-native-service-bus-message-publishing-from-azure-api-management-prev/4462644"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techcommunity.microsoft.com/blog/azuredevcommunityblog/announcing-public-preview-ai-toolkit-for-github-copilot-prompt-first-agent-devel/4465069"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azure.microsoft.com/en-us/blog/sora-2-now-available-in-azure-ai-foundry/" TargetMode="External"/><Relationship Id="rId2" Type="http://schemas.openxmlformats.org/officeDocument/2006/relationships/hyperlink" Target="https://azure.microsoft.com/ru-ru/updates?id=526881"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hyperlink" Target="https://techcommunity.microsoft.com/blog/azure-ai-foundry-blog/announcing-qwen3-vl-family-of-models-on-azure-ai-foundry/4464830"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azure.microsoft.com/ru-ru/updates?id=502909" TargetMode="External"/><Relationship Id="rId2" Type="http://schemas.openxmlformats.org/officeDocument/2006/relationships/hyperlink" Target="https://azure.microsoft.com/ru-ru/updates?id=501663"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azure.microsoft.com/ru-ru/updates?id=520729"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techcommunity.microsoft.com/blog/microsoftlearnblog/new-certification-for-architects-of-agentic-ai-business-solutions/4428968"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#184</a:t>
            </a:r>
          </a:p>
        </p:txBody>
      </p:sp>
      <p:sp>
        <p:nvSpPr>
          <p:cNvPr id="4" name="Text Placeholder 3"/>
          <p:cNvSpPr>
            <a:spLocks noGrp="1"/>
          </p:cNvSpPr>
          <p:nvPr>
            <p:ph type="body" sz="quarter" idx="11"/>
          </p:nvPr>
        </p:nvSpPr>
        <p:spPr/>
        <p:txBody>
          <a:bodyPr/>
          <a:lstStyle/>
          <a:p>
            <a:r>
              <a:rPr lang="en-US" spc="300" dirty="0"/>
              <a:t>November 17, 2025</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2262193"/>
          </a:xfrm>
        </p:spPr>
        <p:txBody>
          <a:bodyPr/>
          <a:lstStyle/>
          <a:p>
            <a:pPr algn="just"/>
            <a:r>
              <a:rPr lang="en-US" sz="1000" dirty="0">
                <a:hlinkClick r:id="rId2"/>
              </a:rPr>
              <a:t>Public Preview: Signed request on Azure Front Door</a:t>
            </a:r>
            <a:endParaRPr lang="en-US" sz="1000" dirty="0"/>
          </a:p>
          <a:p>
            <a:pPr algn="just"/>
            <a:r>
              <a:rPr lang="en-US" sz="1000" dirty="0"/>
              <a:t>MS announced the public preview of </a:t>
            </a:r>
            <a:r>
              <a:rPr lang="en-US" sz="1000" b="1" dirty="0"/>
              <a:t>Azure Front Door signed request</a:t>
            </a:r>
            <a:r>
              <a:rPr lang="en-US" sz="1000" dirty="0"/>
              <a:t>, a powerful new feature designed to enhance access </a:t>
            </a:r>
            <a:r>
              <a:rPr lang="en-US" sz="1000" b="1" dirty="0"/>
              <a:t>control for content delivery. </a:t>
            </a:r>
            <a:r>
              <a:rPr lang="en-US" sz="1000" dirty="0"/>
              <a:t>This capability allows organizations to restrict access to </a:t>
            </a:r>
            <a:r>
              <a:rPr lang="en-US" sz="1000" b="1" dirty="0"/>
              <a:t>their content</a:t>
            </a:r>
            <a:r>
              <a:rPr lang="en-US" sz="1000" dirty="0"/>
              <a:t>—such as media streams, file downloads, APIs, and documents—based on user authentication, geolocation, or time-based constraints. Configuration is streamlined through the Azure portal, where users can set up keys, key groups, and rules to enforce URL signing. </a:t>
            </a:r>
          </a:p>
          <a:p>
            <a:pPr algn="just"/>
            <a:r>
              <a:rPr lang="en-US" sz="1000" dirty="0"/>
              <a:t>By leveraging signed requests</a:t>
            </a:r>
            <a:r>
              <a:rPr lang="en-US" sz="1000" b="1" dirty="0"/>
              <a:t>, Azure Front Door edge servers validate incoming requests before serving content,</a:t>
            </a:r>
            <a:r>
              <a:rPr lang="en-US" sz="1000" dirty="0"/>
              <a:t> ensuring that </a:t>
            </a:r>
            <a:r>
              <a:rPr lang="en-US" sz="1000" b="1" dirty="0"/>
              <a:t>only authorized users can access protected assets.</a:t>
            </a:r>
            <a:r>
              <a:rPr lang="en-US" sz="1000" dirty="0"/>
              <a:t> This is especially valuable for subscription-based services, temporary access scenarios, and geo-restricted content. This feature empowers developers to secure their content delivery workflows with precision and flexibility.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Upcoming Changes to Azure Relay IP Addresses and DNS Support</a:t>
            </a:r>
            <a:endParaRPr lang="en-US" dirty="0"/>
          </a:p>
          <a:p>
            <a:pPr algn="just"/>
            <a:r>
              <a:rPr lang="en-US" dirty="0"/>
              <a:t>Azure Relay is an integral part of modern hybrid cloud architectures, enabling seamless connectivity between on-premises and cloud resources. To ensure continued reliability and security, Microsoft is implementing </a:t>
            </a:r>
            <a:r>
              <a:rPr lang="en-US" b="1" dirty="0"/>
              <a:t>important updates to the IP addresses and DNS naming conventions </a:t>
            </a:r>
            <a:r>
              <a:rPr lang="en-US" dirty="0"/>
              <a:t>used by Azure Relay services.</a:t>
            </a:r>
          </a:p>
          <a:p>
            <a:pPr algn="just"/>
            <a:r>
              <a:rPr lang="en-US" dirty="0"/>
              <a:t>IP and Name Transitions:</a:t>
            </a:r>
          </a:p>
          <a:p>
            <a:pPr marL="171450" indent="-171450" algn="just">
              <a:buFont typeface="Arial" panose="020B0604020202020204" pitchFamily="34" charset="0"/>
              <a:buChar char="•"/>
            </a:pPr>
            <a:r>
              <a:rPr lang="en-US" dirty="0"/>
              <a:t>The IP addresses and corresponding DNS names for Azure Relay endpoints will change during the transition period.</a:t>
            </a:r>
          </a:p>
          <a:p>
            <a:pPr marL="514350" lvl="1" indent="-171450" algn="just">
              <a:buFont typeface="Arial" panose="020B0604020202020204" pitchFamily="34" charset="0"/>
              <a:buChar char="•"/>
            </a:pPr>
            <a:r>
              <a:rPr lang="en-US" sz="1000" dirty="0">
                <a:latin typeface="+mj-lt"/>
              </a:rPr>
              <a:t>For example, </a:t>
            </a:r>
            <a:r>
              <a:rPr lang="en-US" sz="1000" b="1" dirty="0">
                <a:latin typeface="+mj-lt"/>
              </a:rPr>
              <a:t>g0-prod</a:t>
            </a:r>
            <a:r>
              <a:rPr lang="en-US" sz="1000" dirty="0">
                <a:latin typeface="+mj-lt"/>
              </a:rPr>
              <a:t>-bn-vaz0001-sb.servicebus.windows.net can change to </a:t>
            </a:r>
            <a:r>
              <a:rPr lang="en-US" sz="1000" b="1" dirty="0">
                <a:latin typeface="+mj-lt"/>
              </a:rPr>
              <a:t>gv0-prod</a:t>
            </a:r>
            <a:r>
              <a:rPr lang="en-US" sz="1000" dirty="0">
                <a:latin typeface="+mj-lt"/>
              </a:rPr>
              <a:t>-bn-vaz0001-sb.servicebus.windows.net</a:t>
            </a:r>
          </a:p>
          <a:p>
            <a:pPr marL="171450" indent="-171450" algn="just">
              <a:buFont typeface="Arial" panose="020B0604020202020204" pitchFamily="34" charset="0"/>
              <a:buChar char="•"/>
            </a:pPr>
            <a:r>
              <a:rPr lang="en-US" dirty="0"/>
              <a:t>DNS Support Enhancements:</a:t>
            </a:r>
          </a:p>
          <a:p>
            <a:pPr marL="514350" lvl="1" indent="-171450" algn="just">
              <a:buFont typeface="Arial" panose="020B0604020202020204" pitchFamily="34" charset="0"/>
              <a:buChar char="•"/>
            </a:pPr>
            <a:r>
              <a:rPr lang="en-US" sz="1000" dirty="0">
                <a:latin typeface="+mj-lt"/>
              </a:rPr>
              <a:t>Improved DNS support will enhance reliability and future-proof connectivity for both WCF Relay and Hybrid Connections users.</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a:xfrm>
            <a:off x="4433776" y="855080"/>
            <a:ext cx="4365038" cy="1129837"/>
          </a:xfrm>
        </p:spPr>
        <p:txBody>
          <a:bodyPr/>
          <a:lstStyle/>
          <a:p>
            <a:pPr marL="171450" indent="-171450">
              <a:buFont typeface="Arial" panose="020B0604020202020204" pitchFamily="34" charset="0"/>
              <a:buChar char="•"/>
            </a:pPr>
            <a:r>
              <a:rPr lang="en-US" sz="1000" dirty="0"/>
              <a:t>Non-HTML embedded resources: CAPTCHA is designed for HTML resources. Placing CAPTCHA in front of non-HTML resources, such as images, CSS, or JavaScript files, may likely result in issues with content loading and rendering.</a:t>
            </a:r>
          </a:p>
          <a:p>
            <a:pPr marL="171450" indent="-171450">
              <a:buFont typeface="Arial" panose="020B0604020202020204" pitchFamily="34" charset="0"/>
              <a:buChar char="•"/>
            </a:pPr>
            <a:r>
              <a:rPr lang="en-US" sz="1000" dirty="0"/>
              <a:t>Browser compatibility: CAPTCHA isn't supported on Microsoft Internet Explorer. It's compatible with the latest versions of Microsoft Edge, Chrome, Firefox, and Safari.</a:t>
            </a:r>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2" name="Text Placeholder 11">
            <a:extLst>
              <a:ext uri="{FF2B5EF4-FFF2-40B4-BE49-F238E27FC236}">
                <a16:creationId xmlns:a16="http://schemas.microsoft.com/office/drawing/2014/main" id="{F4226539-98A3-C40F-4648-61D3893ECB98}"/>
              </a:ext>
            </a:extLst>
          </p:cNvPr>
          <p:cNvSpPr txBox="1">
            <a:spLocks/>
          </p:cNvSpPr>
          <p:nvPr/>
        </p:nvSpPr>
        <p:spPr>
          <a:xfrm>
            <a:off x="289239" y="855080"/>
            <a:ext cx="3918488"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Generally Available: Azure WAF CAPTCHA Challenge for Azure Front Door</a:t>
            </a:r>
            <a:endParaRPr lang="en-US" sz="1000" dirty="0"/>
          </a:p>
          <a:p>
            <a:pPr algn="just"/>
            <a:r>
              <a:rPr lang="en-US" sz="1000" dirty="0"/>
              <a:t>Modern web applications face evolving threats, including bots, web scrapers, and brute-force attacks, many of which can bypass traditional security </a:t>
            </a:r>
            <a:r>
              <a:rPr lang="en-US" sz="1000" b="1" dirty="0"/>
              <a:t>controls like IP blocking and rate limiting</a:t>
            </a:r>
            <a:r>
              <a:rPr lang="en-US" sz="1000" dirty="0"/>
              <a:t>. CAPTCHA provides an adaptive layer of protection, ensuring legitimate users can access applications while blocking harmful automated traffic. </a:t>
            </a:r>
          </a:p>
          <a:p>
            <a:pPr algn="just"/>
            <a:r>
              <a:rPr lang="en-US" sz="1000" dirty="0"/>
              <a:t>This new security feature enhances </a:t>
            </a:r>
            <a:r>
              <a:rPr lang="en-US" sz="1000" b="1" dirty="0"/>
              <a:t>bot mitigation strategies by introducing an interactive challenge</a:t>
            </a:r>
            <a:r>
              <a:rPr lang="en-US" sz="1000" dirty="0"/>
              <a:t> that verifies human users in real time, helping organizations protect their applications from automated attacks. </a:t>
            </a:r>
          </a:p>
          <a:p>
            <a:pPr algn="just"/>
            <a:r>
              <a:rPr lang="en-US" sz="1000" dirty="0"/>
              <a:t>The lifetime is configurable between 5 and 1,440 minutes, with a default setting of 30 minutes. The CAPTCHA challenge cookie name is </a:t>
            </a:r>
            <a:r>
              <a:rPr lang="en-US" sz="1000" dirty="0" err="1"/>
              <a:t>afd_azwaf_captcha</a:t>
            </a:r>
            <a:r>
              <a:rPr lang="en-US" sz="1000" dirty="0"/>
              <a:t> on Azure Front Door.</a:t>
            </a:r>
          </a:p>
          <a:p>
            <a:pPr marL="171450" indent="-171450" algn="just">
              <a:buFont typeface="Arial" panose="020B0604020202020204" pitchFamily="34" charset="0"/>
              <a:buChar char="•"/>
            </a:pPr>
            <a:r>
              <a:rPr lang="en-US" sz="1000" dirty="0"/>
              <a:t>Mobile Apps: </a:t>
            </a:r>
            <a:r>
              <a:rPr lang="en-US" sz="1000" b="1" dirty="0"/>
              <a:t>Not supported.</a:t>
            </a:r>
          </a:p>
          <a:p>
            <a:pPr marL="171450" indent="-171450" algn="just">
              <a:buFont typeface="Arial" panose="020B0604020202020204" pitchFamily="34" charset="0"/>
              <a:buChar char="•"/>
            </a:pPr>
            <a:r>
              <a:rPr lang="en-US" sz="1000" dirty="0"/>
              <a:t>AJAX and API calls aren't supported: CAPTCHA verification</a:t>
            </a:r>
            <a:r>
              <a:rPr lang="en-US" sz="1000" b="1" dirty="0"/>
              <a:t> doesn't apply to AJAX and API requests.</a:t>
            </a:r>
          </a:p>
          <a:p>
            <a:pPr marL="171450" indent="-171450" algn="just">
              <a:buFont typeface="Arial" panose="020B0604020202020204" pitchFamily="34" charset="0"/>
              <a:buChar char="•"/>
            </a:pPr>
            <a:r>
              <a:rPr lang="en-US" sz="1000" dirty="0"/>
              <a:t>POST body size restriction: The first request that triggers a CAPTCHA challenge is blocked if its </a:t>
            </a:r>
            <a:r>
              <a:rPr lang="en-US" sz="1000" b="1" dirty="0"/>
              <a:t>POST body exceeds 64 KB on Azure Front Door</a:t>
            </a:r>
            <a:r>
              <a:rPr lang="en-US" sz="1000" dirty="0"/>
              <a:t>.</a:t>
            </a:r>
          </a:p>
        </p:txBody>
      </p:sp>
      <p:pic>
        <p:nvPicPr>
          <p:cNvPr id="1026" name="Picture 2" descr="Screenshot of Web Application Firewall CAPTCHA in the browser.">
            <a:extLst>
              <a:ext uri="{FF2B5EF4-FFF2-40B4-BE49-F238E27FC236}">
                <a16:creationId xmlns:a16="http://schemas.microsoft.com/office/drawing/2014/main" id="{EAAA8434-F1D7-071B-B261-11E995007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6927" y="1984917"/>
            <a:ext cx="2607179" cy="263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38051B-E753-DEAE-86B2-E91C3E2DF026}"/>
              </a:ext>
            </a:extLst>
          </p:cNvPr>
          <p:cNvSpPr>
            <a:spLocks noGrp="1"/>
          </p:cNvSpPr>
          <p:nvPr>
            <p:ph type="title"/>
          </p:nvPr>
        </p:nvSpPr>
        <p:spPr/>
        <p:txBody>
          <a:bodyPr/>
          <a:lstStyle/>
          <a:p>
            <a:r>
              <a:rPr lang="en-US" sz="1600" dirty="0"/>
              <a:t>Networking Updates</a:t>
            </a:r>
            <a:endParaRPr lang="en-US" dirty="0"/>
          </a:p>
        </p:txBody>
      </p:sp>
      <p:sp>
        <p:nvSpPr>
          <p:cNvPr id="4" name="Text Placeholder 3">
            <a:extLst>
              <a:ext uri="{FF2B5EF4-FFF2-40B4-BE49-F238E27FC236}">
                <a16:creationId xmlns:a16="http://schemas.microsoft.com/office/drawing/2014/main" id="{E6C9A5F1-189D-30F8-6DF0-FE480A53753D}"/>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6517B2D-5EC5-39FA-57C7-5049C5620D13}"/>
              </a:ext>
            </a:extLst>
          </p:cNvPr>
          <p:cNvSpPr>
            <a:spLocks noGrp="1"/>
          </p:cNvSpPr>
          <p:nvPr>
            <p:ph type="body" sz="quarter" idx="16"/>
          </p:nvPr>
        </p:nvSpPr>
        <p:spPr>
          <a:xfrm>
            <a:off x="342900" y="855080"/>
            <a:ext cx="3955312" cy="2719393"/>
          </a:xfrm>
        </p:spPr>
        <p:txBody>
          <a:bodyPr/>
          <a:lstStyle/>
          <a:p>
            <a:pPr algn="just"/>
            <a:r>
              <a:rPr lang="en-US" dirty="0">
                <a:hlinkClick r:id="rId2"/>
              </a:rPr>
              <a:t>Generally Available: Azure WAF JavaScript challenge on Azure Front Door</a:t>
            </a:r>
            <a:endParaRPr lang="en-US" dirty="0"/>
          </a:p>
          <a:p>
            <a:pPr algn="just"/>
            <a:r>
              <a:rPr lang="en-US" dirty="0"/>
              <a:t>Azure WAF now introduces JS challenge as a new security feature. </a:t>
            </a:r>
            <a:r>
              <a:rPr lang="en-US" b="1" dirty="0"/>
              <a:t>The JS challenge provides an invisible, frictionless layer of protection by distinguishing legitimate users from malicious bots without requiring human interaction. </a:t>
            </a:r>
            <a:r>
              <a:rPr lang="en-US" dirty="0"/>
              <a:t>Unlike CAPTCHA, this challenge runs silently in the background, reducing user disruption while effectively blocking harmful automated traffic. </a:t>
            </a:r>
          </a:p>
          <a:p>
            <a:pPr algn="just"/>
            <a:r>
              <a:rPr lang="en-US" dirty="0"/>
              <a:t>Key benefits include: </a:t>
            </a:r>
          </a:p>
          <a:p>
            <a:pPr marL="171450" indent="-171450" algn="just">
              <a:buFont typeface="Arial" panose="020B0604020202020204" pitchFamily="34" charset="0"/>
              <a:buChar char="•"/>
            </a:pPr>
            <a:r>
              <a:rPr lang="en-US" b="1" dirty="0"/>
              <a:t>Enhanced bot protection: </a:t>
            </a:r>
            <a:r>
              <a:rPr lang="en-US" dirty="0"/>
              <a:t>Malicious bots fail the JS challenge, safeguarding your applications. </a:t>
            </a:r>
          </a:p>
          <a:p>
            <a:pPr marL="171450" indent="-171450" algn="just">
              <a:buFont typeface="Arial" panose="020B0604020202020204" pitchFamily="34" charset="0"/>
              <a:buChar char="•"/>
            </a:pPr>
            <a:r>
              <a:rPr lang="en-US" b="1" dirty="0"/>
              <a:t>Improved user experience: </a:t>
            </a:r>
            <a:r>
              <a:rPr lang="en-US" dirty="0"/>
              <a:t>Legitimate users are not interrupted, ensuring seamless access. </a:t>
            </a:r>
          </a:p>
          <a:p>
            <a:pPr marL="171450" indent="-171450" algn="just">
              <a:buFont typeface="Arial" panose="020B0604020202020204" pitchFamily="34" charset="0"/>
              <a:buChar char="•"/>
            </a:pPr>
            <a:r>
              <a:rPr lang="en-US" b="1" dirty="0"/>
              <a:t>Flexible integration: </a:t>
            </a:r>
            <a:r>
              <a:rPr lang="en-US" dirty="0"/>
              <a:t>Available as a mitigation action in the Bot Managed ruleset and custom rules. </a:t>
            </a:r>
          </a:p>
        </p:txBody>
      </p:sp>
      <p:pic>
        <p:nvPicPr>
          <p:cNvPr id="6146" name="Picture 2" descr="Screenshot showing the JavaScript challenge page.">
            <a:extLst>
              <a:ext uri="{FF2B5EF4-FFF2-40B4-BE49-F238E27FC236}">
                <a16:creationId xmlns:a16="http://schemas.microsoft.com/office/drawing/2014/main" id="{7DB93F72-F776-A79B-9A2D-701785251D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53" y="3574473"/>
            <a:ext cx="3794406" cy="132310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4">
            <a:extLst>
              <a:ext uri="{FF2B5EF4-FFF2-40B4-BE49-F238E27FC236}">
                <a16:creationId xmlns:a16="http://schemas.microsoft.com/office/drawing/2014/main" id="{91A024BE-ACFB-484D-E813-33F431727383}"/>
              </a:ext>
            </a:extLst>
          </p:cNvPr>
          <p:cNvSpPr txBox="1">
            <a:spLocks/>
          </p:cNvSpPr>
          <p:nvPr/>
        </p:nvSpPr>
        <p:spPr>
          <a:xfrm>
            <a:off x="4644737" y="855080"/>
            <a:ext cx="3955312" cy="3197375"/>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4"/>
              </a:rPr>
              <a:t>Generally Available: DNS flow trace logs for Azure Firewall</a:t>
            </a:r>
            <a:endParaRPr lang="en-US" dirty="0"/>
          </a:p>
          <a:p>
            <a:pPr algn="just"/>
            <a:r>
              <a:rPr lang="en-US" dirty="0"/>
              <a:t>Azure Firewall now </a:t>
            </a:r>
            <a:r>
              <a:rPr lang="en-US" b="1" dirty="0"/>
              <a:t>supports DNS flow trace logs </a:t>
            </a:r>
            <a:r>
              <a:rPr lang="en-US" dirty="0"/>
              <a:t>— a new logging capability that gives deep, end-to-end visibility into DNS traffic and name resolution paths. </a:t>
            </a:r>
          </a:p>
          <a:p>
            <a:pPr algn="just"/>
            <a:r>
              <a:rPr lang="en-US" b="1" dirty="0"/>
              <a:t>DNS flow trace logs build on existing DNS Proxy functionality </a:t>
            </a:r>
            <a:r>
              <a:rPr lang="en-US" dirty="0"/>
              <a:t>by logging critical metadata, including </a:t>
            </a:r>
            <a:r>
              <a:rPr lang="en-US" b="1" dirty="0"/>
              <a:t>query types, response codes, queried domains, upstream DNS servers, </a:t>
            </a:r>
            <a:r>
              <a:rPr lang="en-US" dirty="0"/>
              <a:t>and the source and destination IPs of each request. These insights enable faster diagnosis of application connectivity issues, improved auditing, and better security investigations. </a:t>
            </a:r>
          </a:p>
          <a:p>
            <a:pPr algn="just"/>
            <a:r>
              <a:rPr lang="en-US" dirty="0"/>
              <a:t>Key highlights                                                                  </a:t>
            </a:r>
          </a:p>
          <a:p>
            <a:pPr marL="171450" indent="-171450" algn="just">
              <a:buFont typeface="Arial" panose="020B0604020202020204" pitchFamily="34" charset="0"/>
              <a:buChar char="•"/>
            </a:pPr>
            <a:r>
              <a:rPr lang="en-US" b="1" dirty="0"/>
              <a:t>End-to-end DNS visibility </a:t>
            </a:r>
            <a:r>
              <a:rPr lang="en-US" dirty="0"/>
              <a:t>— see each step of DNS resolution across your environment </a:t>
            </a:r>
          </a:p>
          <a:p>
            <a:pPr marL="171450" indent="-171450" algn="just">
              <a:buFont typeface="Arial" panose="020B0604020202020204" pitchFamily="34" charset="0"/>
              <a:buChar char="•"/>
            </a:pPr>
            <a:r>
              <a:rPr lang="en-US" b="1" dirty="0"/>
              <a:t>Faster troubleshooting </a:t>
            </a:r>
            <a:r>
              <a:rPr lang="en-US" dirty="0"/>
              <a:t>— pinpoint DNS failures and validate forwarding and custom DNS configuration </a:t>
            </a:r>
          </a:p>
          <a:p>
            <a:pPr marL="171450" indent="-171450" algn="just">
              <a:buFont typeface="Arial" panose="020B0604020202020204" pitchFamily="34" charset="0"/>
              <a:buChar char="•"/>
            </a:pPr>
            <a:r>
              <a:rPr lang="en-US" b="1" dirty="0"/>
              <a:t>Cache insights  </a:t>
            </a:r>
            <a:r>
              <a:rPr lang="en-US" dirty="0"/>
              <a:t>-- determine whether the Azure Firewall cache was used for DNS resolution </a:t>
            </a:r>
          </a:p>
        </p:txBody>
      </p:sp>
      <p:pic>
        <p:nvPicPr>
          <p:cNvPr id="8" name="Picture 7">
            <a:extLst>
              <a:ext uri="{FF2B5EF4-FFF2-40B4-BE49-F238E27FC236}">
                <a16:creationId xmlns:a16="http://schemas.microsoft.com/office/drawing/2014/main" id="{AC5A473E-4022-C0EA-6632-F5655A69B9B1}"/>
              </a:ext>
            </a:extLst>
          </p:cNvPr>
          <p:cNvPicPr>
            <a:picLocks noChangeAspect="1"/>
          </p:cNvPicPr>
          <p:nvPr/>
        </p:nvPicPr>
        <p:blipFill>
          <a:blip r:embed="rId5"/>
          <a:stretch>
            <a:fillRect/>
          </a:stretch>
        </p:blipFill>
        <p:spPr>
          <a:xfrm>
            <a:off x="5264725" y="4221735"/>
            <a:ext cx="3071913" cy="555396"/>
          </a:xfrm>
          <a:prstGeom prst="rect">
            <a:avLst/>
          </a:prstGeom>
        </p:spPr>
      </p:pic>
    </p:spTree>
    <p:extLst>
      <p:ext uri="{BB962C8B-B14F-4D97-AF65-F5344CB8AC3E}">
        <p14:creationId xmlns:p14="http://schemas.microsoft.com/office/powerpoint/2010/main" val="123334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2"/>
              </a:rPr>
              <a:t>Generally Available: High Scale Private Endpoints</a:t>
            </a:r>
            <a:endParaRPr lang="en-US" dirty="0"/>
          </a:p>
          <a:p>
            <a:pPr algn="just"/>
            <a:r>
              <a:rPr lang="en-US" dirty="0"/>
              <a:t>Today, local VNet limits </a:t>
            </a:r>
            <a:r>
              <a:rPr lang="en-US" b="1" dirty="0"/>
              <a:t>are restricted to 1,000 private endpoints per Virtual Network.</a:t>
            </a:r>
            <a:r>
              <a:rPr lang="en-US" dirty="0"/>
              <a:t> Any attempts to create additional endpoints will result in an </a:t>
            </a:r>
            <a:r>
              <a:rPr lang="en-US" dirty="0" err="1"/>
              <a:t>PrivateEndpointsPerVnetLimitReached</a:t>
            </a:r>
            <a:r>
              <a:rPr lang="en-US" dirty="0"/>
              <a:t> error that can only be resolved by either deleting existing private endpoints or raising a support request to increase </a:t>
            </a:r>
            <a:r>
              <a:rPr lang="en-US" b="1" dirty="0"/>
              <a:t>present limits</a:t>
            </a:r>
            <a:r>
              <a:rPr lang="en-US" dirty="0"/>
              <a:t>. However, by activating </a:t>
            </a:r>
            <a:r>
              <a:rPr lang="en-US" b="1" dirty="0"/>
              <a:t>HSPE</a:t>
            </a:r>
            <a:r>
              <a:rPr lang="en-US" dirty="0"/>
              <a:t> you will automatically be able to deploy </a:t>
            </a:r>
            <a:r>
              <a:rPr lang="en-US" b="1" dirty="0"/>
              <a:t>5,000 PEs in a singular VNet</a:t>
            </a:r>
            <a:r>
              <a:rPr lang="en-US" dirty="0"/>
              <a:t>.  </a:t>
            </a:r>
          </a:p>
          <a:p>
            <a:pPr algn="just"/>
            <a:r>
              <a:rPr lang="en-US" dirty="0"/>
              <a:t>It is also recommended that you only deploy </a:t>
            </a:r>
            <a:r>
              <a:rPr lang="en-US" b="1" dirty="0"/>
              <a:t>up to 4,000 Private Endpoints in total across your peered virtual networks</a:t>
            </a:r>
            <a:r>
              <a:rPr lang="en-US" dirty="0"/>
              <a:t>. Surpassing this recommendation may result in connectivity issues with your private endpoint traffic. If you would like higher limits without the risk of connectivity issues, it is recommended to upgrade to HSPE. This</a:t>
            </a:r>
            <a:r>
              <a:rPr lang="en-US" b="1" dirty="0"/>
              <a:t> will raise private endpoint cross peering limit to 20,000 endpoints.</a:t>
            </a:r>
          </a:p>
          <a:p>
            <a:pPr algn="just"/>
            <a:r>
              <a:rPr lang="en-US" dirty="0"/>
              <a:t>This feature is available in all public regions.</a:t>
            </a:r>
          </a:p>
          <a:p>
            <a:pPr algn="just"/>
            <a:r>
              <a:rPr lang="en-US" dirty="0"/>
              <a:t>NOTE: Upgrading or downgrading this feature triggers a platform update and results in a one-time connection reset. </a:t>
            </a:r>
          </a:p>
        </p:txBody>
      </p:sp>
      <p:sp>
        <p:nvSpPr>
          <p:cNvPr id="3" name="Text Placeholder 2">
            <a:extLst>
              <a:ext uri="{FF2B5EF4-FFF2-40B4-BE49-F238E27FC236}">
                <a16:creationId xmlns:a16="http://schemas.microsoft.com/office/drawing/2014/main" id="{62920A31-9B57-18CA-23DE-8055D5A0E8C5}"/>
              </a:ext>
            </a:extLst>
          </p:cNvPr>
          <p:cNvSpPr>
            <a:spLocks noGrp="1"/>
          </p:cNvSpPr>
          <p:nvPr>
            <p:ph type="body" sz="quarter" idx="10"/>
          </p:nvPr>
        </p:nvSpPr>
        <p:spPr/>
        <p:txBody>
          <a:bodyPr/>
          <a:lstStyle/>
          <a:p>
            <a:pPr algn="just"/>
            <a:r>
              <a:rPr lang="en-US" sz="1000" dirty="0">
                <a:hlinkClick r:id="rId3"/>
              </a:rPr>
              <a:t>Generally Available: Enhanced cloning and Public IP retention scripts for Azure Application Gateway migration</a:t>
            </a:r>
            <a:endParaRPr lang="en-US" sz="1000" dirty="0"/>
          </a:p>
          <a:p>
            <a:pPr algn="just"/>
            <a:r>
              <a:rPr lang="en-US" sz="1000" dirty="0"/>
              <a:t>Azure Application Gateway introduces two new PowerShell scripts to simplify migration from </a:t>
            </a:r>
            <a:r>
              <a:rPr lang="en-US" sz="1000" b="1" dirty="0"/>
              <a:t>V1 (Standard or WAF) to V2 (Standard_V2 or WAF_V2) </a:t>
            </a:r>
            <a:r>
              <a:rPr lang="en-US" sz="1000" dirty="0"/>
              <a:t>services.  </a:t>
            </a:r>
          </a:p>
          <a:p>
            <a:pPr algn="just"/>
            <a:r>
              <a:rPr lang="en-US" sz="1000" dirty="0"/>
              <a:t>As V1 SKUs’ is scheduled to </a:t>
            </a:r>
            <a:r>
              <a:rPr lang="en-US" sz="1000" b="1" dirty="0"/>
              <a:t>retire by April 2026, </a:t>
            </a:r>
            <a:r>
              <a:rPr lang="en-US" sz="1000" dirty="0"/>
              <a:t>MS advise migrating early and take advantage of Application Gateway V2’s superior performance, scalability, monitoring, and unique features. </a:t>
            </a:r>
          </a:p>
          <a:p>
            <a:pPr algn="just"/>
            <a:r>
              <a:rPr lang="en-US" sz="1000" dirty="0"/>
              <a:t>Enhanced cloning script:  </a:t>
            </a:r>
          </a:p>
          <a:p>
            <a:pPr marL="171450" indent="-171450" algn="just">
              <a:buFont typeface="Arial" panose="020B0604020202020204" pitchFamily="34" charset="0"/>
              <a:buChar char="•"/>
            </a:pPr>
            <a:r>
              <a:rPr lang="en-US" sz="1000" dirty="0"/>
              <a:t>Automates configuration replication from an existing V1 gateway to a new V2 gateway.  </a:t>
            </a:r>
          </a:p>
          <a:p>
            <a:pPr marL="171450" indent="-171450" algn="just">
              <a:buFont typeface="Arial" panose="020B0604020202020204" pitchFamily="34" charset="0"/>
              <a:buChar char="•"/>
            </a:pPr>
            <a:r>
              <a:rPr lang="en-US" sz="1000" dirty="0"/>
              <a:t>Eliminates manual entry of front-end TLS and trusted root certificates. </a:t>
            </a:r>
          </a:p>
          <a:p>
            <a:pPr marL="171450" indent="-171450" algn="just">
              <a:buFont typeface="Arial" panose="020B0604020202020204" pitchFamily="34" charset="0"/>
              <a:buChar char="•"/>
            </a:pPr>
            <a:r>
              <a:rPr lang="en-US" sz="1000" dirty="0"/>
              <a:t>Supports creation of private-only V2 gateways. </a:t>
            </a:r>
          </a:p>
          <a:p>
            <a:pPr algn="just"/>
            <a:r>
              <a:rPr lang="en-US" sz="1000" dirty="0"/>
              <a:t>Public IP retention script: </a:t>
            </a:r>
          </a:p>
          <a:p>
            <a:pPr marL="171450" indent="-171450" algn="just">
              <a:buFont typeface="Arial" panose="020B0604020202020204" pitchFamily="34" charset="0"/>
              <a:buChar char="•"/>
            </a:pPr>
            <a:r>
              <a:rPr lang="en-US" sz="1000" dirty="0"/>
              <a:t>Enables retention of </a:t>
            </a:r>
            <a:r>
              <a:rPr lang="en-US" sz="1000" b="1" dirty="0"/>
              <a:t>existing V1 public IP address with V2 gateway</a:t>
            </a:r>
            <a:r>
              <a:rPr lang="en-US" sz="1000" dirty="0"/>
              <a:t>. </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1198-4444-C6B1-140D-8916FEC9B50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79C8179-59B9-DF40-00C8-FD5A4244191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5E4E3F08-4B4F-45E1-D7D6-F7727240D82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90D984B5-E2FA-DC1A-3DBB-005524F182F3}"/>
              </a:ext>
            </a:extLst>
          </p:cNvPr>
          <p:cNvSpPr>
            <a:spLocks noGrp="1"/>
          </p:cNvSpPr>
          <p:nvPr>
            <p:ph type="body" sz="quarter" idx="16"/>
          </p:nvPr>
        </p:nvSpPr>
        <p:spPr/>
        <p:txBody>
          <a:bodyPr/>
          <a:lstStyle/>
          <a:p>
            <a:pPr algn="just"/>
            <a:r>
              <a:rPr lang="en-US" dirty="0">
                <a:hlinkClick r:id="rId2"/>
              </a:rPr>
              <a:t>Generally Available: ExpressRoute resiliency validation</a:t>
            </a:r>
            <a:endParaRPr lang="en-US" dirty="0"/>
          </a:p>
          <a:p>
            <a:pPr algn="just"/>
            <a:r>
              <a:rPr lang="en-US" dirty="0"/>
              <a:t>This feature allows for performing site failovers </a:t>
            </a:r>
            <a:r>
              <a:rPr lang="en-US" b="1" dirty="0"/>
              <a:t>for Virtual Network Gateway</a:t>
            </a:r>
            <a:r>
              <a:rPr lang="en-US" dirty="0"/>
              <a:t>, helping to evaluate network resiliency during site outages and validate setup during migrations by testing the effectiveness of failover mechanisms.</a:t>
            </a:r>
          </a:p>
          <a:p>
            <a:pPr algn="just"/>
            <a:r>
              <a:rPr lang="en-US" b="1" dirty="0"/>
              <a:t>Key Features:</a:t>
            </a:r>
          </a:p>
          <a:p>
            <a:pPr marL="171450" indent="-171450" algn="just">
              <a:buFont typeface="Arial" panose="020B0604020202020204" pitchFamily="34" charset="0"/>
              <a:buChar char="•"/>
            </a:pPr>
            <a:r>
              <a:rPr lang="en-US" dirty="0"/>
              <a:t>Test circuit failover</a:t>
            </a:r>
          </a:p>
          <a:p>
            <a:pPr marL="171450" indent="-171450" algn="just">
              <a:buFont typeface="Arial" panose="020B0604020202020204" pitchFamily="34" charset="0"/>
              <a:buChar char="•"/>
            </a:pPr>
            <a:r>
              <a:rPr lang="en-US" dirty="0"/>
              <a:t>Route redundancy</a:t>
            </a:r>
          </a:p>
          <a:p>
            <a:pPr marL="171450" indent="-171450" algn="just">
              <a:buFont typeface="Arial" panose="020B0604020202020204" pitchFamily="34" charset="0"/>
              <a:buChar char="•"/>
            </a:pPr>
            <a:r>
              <a:rPr lang="en-US" dirty="0"/>
              <a:t>Traffic visualization</a:t>
            </a:r>
          </a:p>
          <a:p>
            <a:pPr marL="171450" indent="-171450" algn="just">
              <a:buFont typeface="Arial" panose="020B0604020202020204" pitchFamily="34" charset="0"/>
              <a:buChar char="•"/>
            </a:pPr>
            <a:r>
              <a:rPr lang="en-US" dirty="0"/>
              <a:t>Test history</a:t>
            </a:r>
          </a:p>
          <a:p>
            <a:pPr algn="just"/>
            <a:r>
              <a:rPr lang="en-US" b="1" dirty="0"/>
              <a:t>Limitations</a:t>
            </a:r>
          </a:p>
          <a:p>
            <a:pPr marL="171450" indent="-171450" algn="just">
              <a:buFont typeface="Arial" panose="020B0604020202020204" pitchFamily="34" charset="0"/>
              <a:buChar char="•"/>
            </a:pPr>
            <a:r>
              <a:rPr lang="en-US" dirty="0"/>
              <a:t>The Resiliency Validation feature is supported only for ExpressRoute gateways connected to ExpressRoute circuits in at least two distinct peering locations.</a:t>
            </a:r>
          </a:p>
          <a:p>
            <a:pPr marL="171450" indent="-171450" algn="just">
              <a:buFont typeface="Arial" panose="020B0604020202020204" pitchFamily="34" charset="0"/>
              <a:buChar char="•"/>
            </a:pPr>
            <a:r>
              <a:rPr lang="en-US" dirty="0"/>
              <a:t>The Route List tab can only be refreshed once per hour.</a:t>
            </a:r>
          </a:p>
          <a:p>
            <a:pPr marL="171450" indent="-171450" algn="just">
              <a:buFont typeface="Arial" panose="020B0604020202020204" pitchFamily="34" charset="0"/>
              <a:buChar char="•"/>
            </a:pPr>
            <a:r>
              <a:rPr lang="en-US" dirty="0"/>
              <a:t>This feature isn't supported for Virtual WAN or ExpressRoute Metro yet.</a:t>
            </a:r>
          </a:p>
          <a:p>
            <a:pPr marL="171450" indent="-171450" algn="just">
              <a:buFont typeface="Arial" panose="020B0604020202020204" pitchFamily="34" charset="0"/>
              <a:buChar char="•"/>
            </a:pPr>
            <a:r>
              <a:rPr lang="en-US" dirty="0"/>
              <a:t>You can't run the Resiliency Validation test if there are any ongoing tests or if any of the circuits are currently undergoing maintenance.</a:t>
            </a:r>
          </a:p>
        </p:txBody>
      </p:sp>
      <p:sp>
        <p:nvSpPr>
          <p:cNvPr id="3" name="Text Placeholder 2">
            <a:extLst>
              <a:ext uri="{FF2B5EF4-FFF2-40B4-BE49-F238E27FC236}">
                <a16:creationId xmlns:a16="http://schemas.microsoft.com/office/drawing/2014/main" id="{D4540E17-B28E-5DAD-24E7-CF25261C89C1}"/>
              </a:ext>
            </a:extLst>
          </p:cNvPr>
          <p:cNvSpPr>
            <a:spLocks noGrp="1"/>
          </p:cNvSpPr>
          <p:nvPr>
            <p:ph type="body" sz="quarter" idx="10"/>
          </p:nvPr>
        </p:nvSpPr>
        <p:spPr>
          <a:xfrm>
            <a:off x="4433776" y="855081"/>
            <a:ext cx="4365038" cy="1292374"/>
          </a:xfrm>
        </p:spPr>
        <p:txBody>
          <a:bodyPr/>
          <a:lstStyle/>
          <a:p>
            <a:pPr algn="just"/>
            <a:r>
              <a:rPr lang="en-US" sz="1000" dirty="0">
                <a:hlinkClick r:id="rId3"/>
              </a:rPr>
              <a:t>Generally Available: ExpressRoute resiliency insights</a:t>
            </a:r>
            <a:endParaRPr lang="en-US" sz="1000" dirty="0"/>
          </a:p>
          <a:p>
            <a:pPr algn="just"/>
            <a:r>
              <a:rPr lang="en-US" sz="1000" dirty="0"/>
              <a:t>At the core of this capability is the </a:t>
            </a:r>
            <a:r>
              <a:rPr lang="en-US" sz="1000" b="1" dirty="0"/>
              <a:t>resiliency index</a:t>
            </a:r>
            <a:r>
              <a:rPr lang="en-US" sz="1000" dirty="0"/>
              <a:t>, </a:t>
            </a:r>
            <a:r>
              <a:rPr lang="en-US" sz="1000" b="1" dirty="0"/>
              <a:t>a percentage score calculated based on factors such as route resilience, zone-redundant gateway usage, advisory </a:t>
            </a:r>
            <a:r>
              <a:rPr lang="en-US" sz="1000" dirty="0"/>
              <a:t>recommendations, and resiliency validation tests. This index evaluates the control plane resiliency of the ExpressRoute connectivity between Virtual Network Gateway and on-premises network(s). By analyzing and improving this index, you can enhance the robustness and reliability of your connectivity to Azure workloads through ER.</a:t>
            </a:r>
          </a:p>
        </p:txBody>
      </p:sp>
      <p:pic>
        <p:nvPicPr>
          <p:cNvPr id="1026" name="Picture 2" descr="Screenshot of the Resiliency Insights feature, accessible under the Monitoring section in the left menu of the ExpressRoute gateway resource.">
            <a:extLst>
              <a:ext uri="{FF2B5EF4-FFF2-40B4-BE49-F238E27FC236}">
                <a16:creationId xmlns:a16="http://schemas.microsoft.com/office/drawing/2014/main" id="{370BFF7D-75C8-243B-720E-8B0989168B7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8301" y="2202874"/>
            <a:ext cx="4065095" cy="2511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167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FD2C-8155-2D94-F89A-A815AA6E4F5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E7765-EA35-FC87-C939-6F99349E6885}"/>
              </a:ext>
            </a:extLst>
          </p:cNvPr>
          <p:cNvSpPr>
            <a:spLocks noGrp="1"/>
          </p:cNvSpPr>
          <p:nvPr>
            <p:ph type="body" sz="quarter" idx="10"/>
          </p:nvPr>
        </p:nvSpPr>
        <p:spPr>
          <a:xfrm>
            <a:off x="4433776" y="855081"/>
            <a:ext cx="4365038" cy="2386884"/>
          </a:xfrm>
        </p:spPr>
        <p:txBody>
          <a:bodyPr/>
          <a:lstStyle/>
          <a:p>
            <a:pPr algn="just"/>
            <a:r>
              <a:rPr lang="en-US" sz="1000" dirty="0">
                <a:hlinkClick r:id="rId2"/>
              </a:rPr>
              <a:t>Generally Available: Application Gateway for Containers with Web Application Firewall (WAF)</a:t>
            </a:r>
            <a:endParaRPr lang="en-US" sz="1000" dirty="0"/>
          </a:p>
          <a:p>
            <a:pPr algn="just"/>
            <a:r>
              <a:rPr lang="en-US" sz="1000" dirty="0"/>
              <a:t> Application Gateway for Containers is the next evolution </a:t>
            </a:r>
            <a:r>
              <a:rPr lang="en-US" sz="1000" b="1" dirty="0"/>
              <a:t>of Application Gateway + Application Gateway Ingress Controller</a:t>
            </a:r>
            <a:r>
              <a:rPr lang="en-US" sz="1000" dirty="0"/>
              <a:t>. With the addition of Azure WAF support, Application Gateway for Containers workloads can now protect workloads from web-based attacks like SQL injections, cross-site scripting, protocol anomalies, and more.  </a:t>
            </a:r>
          </a:p>
          <a:p>
            <a:pPr algn="just"/>
            <a:r>
              <a:rPr lang="en-US" sz="1000" dirty="0"/>
              <a:t>When using WAF to protect </a:t>
            </a:r>
            <a:r>
              <a:rPr lang="en-US" sz="1000" b="1" dirty="0"/>
              <a:t>your Application Gateway for Containers resources you get access to the Azure-managed Default Rulesets (DRS), </a:t>
            </a:r>
            <a:r>
              <a:rPr lang="en-US" sz="1000" dirty="0"/>
              <a:t>providing protection not only from threats identified by the Open Web Application Security Project (OWASP), but also additional protections provided by Microsoft’s Threat Intelligence Center (MSTIC). Application Gateway for Containers WAF users also have access to bot protection via bot manager rulesets and protection against DDoS attacks using rate limiting custom rules. </a:t>
            </a:r>
          </a:p>
        </p:txBody>
      </p:sp>
      <p:sp>
        <p:nvSpPr>
          <p:cNvPr id="11" name="Title 10">
            <a:extLst>
              <a:ext uri="{FF2B5EF4-FFF2-40B4-BE49-F238E27FC236}">
                <a16:creationId xmlns:a16="http://schemas.microsoft.com/office/drawing/2014/main" id="{95E76E37-235F-F5BE-DE95-A1673340F66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4E03193E-E6C0-C026-1CD6-643DC1C554C3}"/>
              </a:ext>
            </a:extLst>
          </p:cNvPr>
          <p:cNvSpPr>
            <a:spLocks noGrp="1"/>
          </p:cNvSpPr>
          <p:nvPr>
            <p:ph type="body" sz="quarter" idx="15"/>
          </p:nvPr>
        </p:nvSpPr>
        <p:spPr/>
        <p:txBody>
          <a:bodyPr/>
          <a:lstStyle/>
          <a:p>
            <a:endParaRPr lang="en-US"/>
          </a:p>
        </p:txBody>
      </p:sp>
      <p:sp>
        <p:nvSpPr>
          <p:cNvPr id="2" name="Text Placeholder 11">
            <a:extLst>
              <a:ext uri="{FF2B5EF4-FFF2-40B4-BE49-F238E27FC236}">
                <a16:creationId xmlns:a16="http://schemas.microsoft.com/office/drawing/2014/main" id="{D68952F5-D06C-E0D7-28AC-797FD89721DA}"/>
              </a:ext>
            </a:extLst>
          </p:cNvPr>
          <p:cNvSpPr>
            <a:spLocks noGrp="1"/>
          </p:cNvSpPr>
          <p:nvPr>
            <p:ph type="body" sz="quarter" idx="16"/>
          </p:nvPr>
        </p:nvSpPr>
        <p:spPr>
          <a:xfrm>
            <a:off x="342900" y="855663"/>
            <a:ext cx="3956050" cy="1963737"/>
          </a:xfrm>
        </p:spPr>
        <p:txBody>
          <a:bodyPr/>
          <a:lstStyle/>
          <a:p>
            <a:pPr algn="just"/>
            <a:r>
              <a:rPr lang="en-US" sz="1000" dirty="0">
                <a:hlinkClick r:id="rId3"/>
              </a:rPr>
              <a:t>Generally Available: Monitor end-to-end ExpressRoute connectivity with Connection Monitor</a:t>
            </a:r>
            <a:endParaRPr lang="en-US" sz="1000" dirty="0"/>
          </a:p>
          <a:p>
            <a:pPr algn="just"/>
            <a:r>
              <a:rPr lang="en-US" sz="1000" dirty="0"/>
              <a:t>Connection Monitor integration streamlines the setup </a:t>
            </a:r>
            <a:r>
              <a:rPr lang="en-US" sz="1000" b="1" dirty="0"/>
              <a:t>of end-to-end monitoring for ExpressRoute workloads.</a:t>
            </a:r>
            <a:r>
              <a:rPr lang="en-US" sz="1000" dirty="0"/>
              <a:t> </a:t>
            </a:r>
          </a:p>
          <a:p>
            <a:pPr algn="just"/>
            <a:r>
              <a:rPr lang="en-US" sz="1000" dirty="0"/>
              <a:t>With this capability, it is possible to enable </a:t>
            </a:r>
            <a:r>
              <a:rPr lang="en-US" sz="1000" b="1" dirty="0"/>
              <a:t>Connection Monitor directly while creating or updating ExpressRoute connections</a:t>
            </a:r>
            <a:r>
              <a:rPr lang="en-US" sz="1000" dirty="0"/>
              <a:t>. This removes the need for separate configuration steps, ensuring that monitoring is active from day one. By simplifying the monitoring experience, gain immediate visibility into connectivity health, latency, and reachability for hybrid network workloads. </a:t>
            </a:r>
          </a:p>
        </p:txBody>
      </p:sp>
      <p:pic>
        <p:nvPicPr>
          <p:cNvPr id="1026" name="Picture 2" descr="Diagram that shows an Azure Web Application Firewall rule blocking a request.">
            <a:extLst>
              <a:ext uri="{FF2B5EF4-FFF2-40B4-BE49-F238E27FC236}">
                <a16:creationId xmlns:a16="http://schemas.microsoft.com/office/drawing/2014/main" id="{F4697029-989E-925A-2EE9-2F85DA9C0DF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4617" y="3289067"/>
            <a:ext cx="3442855" cy="1340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1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6C114E-37EF-C3CB-0818-21E6C026704C}"/>
              </a:ext>
            </a:extLst>
          </p:cNvPr>
          <p:cNvSpPr>
            <a:spLocks noGrp="1"/>
          </p:cNvSpPr>
          <p:nvPr>
            <p:ph type="body" sz="quarter" idx="10"/>
          </p:nvPr>
        </p:nvSpPr>
        <p:spPr/>
        <p:txBody>
          <a:bodyPr/>
          <a:lstStyle/>
          <a:p>
            <a:pPr algn="just"/>
            <a:r>
              <a:rPr lang="en-US" sz="1000" dirty="0">
                <a:hlinkClick r:id="rId2"/>
              </a:rPr>
              <a:t>Generally Available: Azure Virtual Network Manager peering compliance</a:t>
            </a:r>
            <a:endParaRPr lang="en-US" sz="1000" dirty="0"/>
          </a:p>
          <a:p>
            <a:pPr algn="just"/>
            <a:r>
              <a:rPr lang="en-US" sz="1000" b="1" dirty="0"/>
              <a:t>Azure Virtual Network Manager peering compliance is now generally available</a:t>
            </a:r>
            <a:r>
              <a:rPr lang="en-US" sz="1000" dirty="0"/>
              <a:t>, providing a secure and compliant mechanism to protect network connectivity managed by Azure Virtual Network Manager. </a:t>
            </a:r>
          </a:p>
          <a:p>
            <a:pPr algn="just"/>
            <a:r>
              <a:rPr lang="en-US" sz="1000" dirty="0"/>
              <a:t>With peering compliance, any virtual network peering created and managed through </a:t>
            </a:r>
            <a:r>
              <a:rPr lang="en-US" sz="1000" b="1" dirty="0"/>
              <a:t>Azure Virtual Network Manager topology is safeguarded from accidental modification or deletion by virtual network owners outside of Azure Virtual Network Manager. </a:t>
            </a:r>
          </a:p>
          <a:p>
            <a:pPr algn="just"/>
            <a:r>
              <a:rPr lang="en-US" sz="1000" dirty="0"/>
              <a:t>This release allows users to enforce compliance by restricting direct edits to key peering properties and preventing deletion of </a:t>
            </a:r>
            <a:r>
              <a:rPr lang="en-US" sz="1000" dirty="0" err="1"/>
              <a:t>peerings</a:t>
            </a:r>
            <a:r>
              <a:rPr lang="en-US" sz="1000" dirty="0"/>
              <a:t>. Changes can only be made through </a:t>
            </a:r>
            <a:r>
              <a:rPr lang="en-US" sz="1000" b="1" dirty="0"/>
              <a:t>Azure Virtual Network Manager connectivity configurations</a:t>
            </a:r>
            <a:r>
              <a:rPr lang="en-US" sz="1000" dirty="0"/>
              <a:t>, ensuring consistency and governance across your environment.  </a:t>
            </a:r>
          </a:p>
          <a:p>
            <a:pPr algn="just"/>
            <a:r>
              <a:rPr lang="en-US" sz="1000" dirty="0"/>
              <a:t>With this general availability release, customers gain stronger governance controls, reduced configuration drift, and higher confidence that network topologies remain secure and compliant across teams and subscriptions. </a:t>
            </a:r>
          </a:p>
        </p:txBody>
      </p:sp>
      <p:sp>
        <p:nvSpPr>
          <p:cNvPr id="3" name="Title 2">
            <a:extLst>
              <a:ext uri="{FF2B5EF4-FFF2-40B4-BE49-F238E27FC236}">
                <a16:creationId xmlns:a16="http://schemas.microsoft.com/office/drawing/2014/main" id="{AA6CDBA4-1207-9314-3B27-6A935FE6D73F}"/>
              </a:ext>
            </a:extLst>
          </p:cNvPr>
          <p:cNvSpPr>
            <a:spLocks noGrp="1"/>
          </p:cNvSpPr>
          <p:nvPr>
            <p:ph type="title"/>
          </p:nvPr>
        </p:nvSpPr>
        <p:spPr/>
        <p:txBody>
          <a:bodyPr/>
          <a:lstStyle/>
          <a:p>
            <a:r>
              <a:rPr lang="en-US" sz="1600" dirty="0"/>
              <a:t>Networking Updates</a:t>
            </a:r>
            <a:endParaRPr lang="en-US" dirty="0"/>
          </a:p>
        </p:txBody>
      </p:sp>
      <p:sp>
        <p:nvSpPr>
          <p:cNvPr id="4" name="Text Placeholder 3">
            <a:extLst>
              <a:ext uri="{FF2B5EF4-FFF2-40B4-BE49-F238E27FC236}">
                <a16:creationId xmlns:a16="http://schemas.microsoft.com/office/drawing/2014/main" id="{866ECA98-2B40-3757-9253-9DDA13A291B6}"/>
              </a:ext>
            </a:extLst>
          </p:cNvPr>
          <p:cNvSpPr>
            <a:spLocks noGrp="1"/>
          </p:cNvSpPr>
          <p:nvPr>
            <p:ph type="body" sz="quarter" idx="15"/>
          </p:nvPr>
        </p:nvSpPr>
        <p:spPr/>
        <p:txBody>
          <a:bodyPr/>
          <a:lstStyle/>
          <a:p>
            <a:endParaRPr lang="en-US"/>
          </a:p>
        </p:txBody>
      </p:sp>
      <p:sp>
        <p:nvSpPr>
          <p:cNvPr id="7" name="Text Placeholder 6">
            <a:extLst>
              <a:ext uri="{FF2B5EF4-FFF2-40B4-BE49-F238E27FC236}">
                <a16:creationId xmlns:a16="http://schemas.microsoft.com/office/drawing/2014/main" id="{6368A704-EA54-C34F-BD3F-958C4AAC0364}"/>
              </a:ext>
            </a:extLst>
          </p:cNvPr>
          <p:cNvSpPr>
            <a:spLocks noGrp="1"/>
          </p:cNvSpPr>
          <p:nvPr>
            <p:ph type="body" sz="quarter" idx="16"/>
          </p:nvPr>
        </p:nvSpPr>
        <p:spPr>
          <a:xfrm>
            <a:off x="342900" y="855081"/>
            <a:ext cx="3955312" cy="2608556"/>
          </a:xfrm>
        </p:spPr>
        <p:txBody>
          <a:bodyPr/>
          <a:lstStyle/>
          <a:p>
            <a:pPr algn="just"/>
            <a:r>
              <a:rPr lang="en-US" dirty="0">
                <a:hlinkClick r:id="rId3"/>
              </a:rPr>
              <a:t>Generally Available: Azure Virtual Network Manager IP Address Management Pool Association Recommendation</a:t>
            </a:r>
            <a:endParaRPr lang="en-US" dirty="0"/>
          </a:p>
          <a:p>
            <a:pPr algn="just"/>
            <a:r>
              <a:rPr lang="en-US" b="1" dirty="0"/>
              <a:t>Pool Association Recommendation, </a:t>
            </a:r>
            <a:r>
              <a:rPr lang="en-US" dirty="0"/>
              <a:t>customers can now automatically identify all virtual networks within their </a:t>
            </a:r>
            <a:r>
              <a:rPr lang="en-US" b="1" dirty="0"/>
              <a:t>Network Manager scope that are not yet associated with an IPAM pool.</a:t>
            </a:r>
            <a:r>
              <a:rPr lang="en-US" dirty="0"/>
              <a:t> The feature intelligently recommends the most suitable </a:t>
            </a:r>
            <a:r>
              <a:rPr lang="en-US" b="1" dirty="0"/>
              <a:t>pool for each virtual network by applying longest-prefix matching within the pool hierarchy, ensuring optimal fit and capacity alignment. </a:t>
            </a:r>
          </a:p>
          <a:p>
            <a:pPr algn="just"/>
            <a:r>
              <a:rPr lang="en-US" dirty="0"/>
              <a:t>Administrators can bulk select and associate virtual networks in a single action directly from the Azure portal—streamlining operations, reducing manual effort, and ensuring full coverage at scale. </a:t>
            </a:r>
          </a:p>
          <a:p>
            <a:pPr algn="just"/>
            <a:r>
              <a:rPr lang="en-US" dirty="0"/>
              <a:t>This general availability release empowers customers to manage address spaces more efficiently, minimize configuration drift, and maintain consistent governance across large, distributed Azure environments. </a:t>
            </a:r>
          </a:p>
        </p:txBody>
      </p:sp>
    </p:spTree>
    <p:extLst>
      <p:ext uri="{BB962C8B-B14F-4D97-AF65-F5344CB8AC3E}">
        <p14:creationId xmlns:p14="http://schemas.microsoft.com/office/powerpoint/2010/main" val="294473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67CFF8-546B-ABF0-DD0B-32325A51EF46}"/>
              </a:ext>
            </a:extLst>
          </p:cNvPr>
          <p:cNvSpPr>
            <a:spLocks noGrp="1"/>
          </p:cNvSpPr>
          <p:nvPr>
            <p:ph type="title"/>
          </p:nvPr>
        </p:nvSpPr>
        <p:spPr/>
        <p:txBody>
          <a:bodyPr/>
          <a:lstStyle/>
          <a:p>
            <a:r>
              <a:rPr lang="en-US" sz="1600" dirty="0"/>
              <a:t>Networking Updates</a:t>
            </a:r>
            <a:endParaRPr lang="en-US" dirty="0"/>
          </a:p>
        </p:txBody>
      </p:sp>
      <p:sp>
        <p:nvSpPr>
          <p:cNvPr id="4" name="Text Placeholder 3">
            <a:extLst>
              <a:ext uri="{FF2B5EF4-FFF2-40B4-BE49-F238E27FC236}">
                <a16:creationId xmlns:a16="http://schemas.microsoft.com/office/drawing/2014/main" id="{0EEA47A5-3603-0590-C564-4E5E1EE5B02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D455306-C5AF-5E92-E64E-BE20559C6039}"/>
              </a:ext>
            </a:extLst>
          </p:cNvPr>
          <p:cNvSpPr>
            <a:spLocks noGrp="1"/>
          </p:cNvSpPr>
          <p:nvPr>
            <p:ph type="body" sz="quarter" idx="16"/>
          </p:nvPr>
        </p:nvSpPr>
        <p:spPr/>
        <p:txBody>
          <a:bodyPr/>
          <a:lstStyle/>
          <a:p>
            <a:pPr algn="just"/>
            <a:r>
              <a:rPr lang="en-US" dirty="0">
                <a:hlinkClick r:id="rId2"/>
              </a:rPr>
              <a:t>Generally Available: Azure Virtual Network Manager </a:t>
            </a:r>
            <a:r>
              <a:rPr lang="en-US" dirty="0" err="1">
                <a:hlinkClick r:id="rId2"/>
              </a:rPr>
              <a:t>UseExisting</a:t>
            </a:r>
            <a:r>
              <a:rPr lang="en-US" dirty="0">
                <a:hlinkClick r:id="rId2"/>
              </a:rPr>
              <a:t> Mode for UDR management</a:t>
            </a:r>
            <a:endParaRPr lang="en-US" dirty="0"/>
          </a:p>
          <a:p>
            <a:pPr algn="just"/>
            <a:r>
              <a:rPr lang="en-US" dirty="0"/>
              <a:t>With the </a:t>
            </a:r>
            <a:r>
              <a:rPr lang="en-US" dirty="0" err="1"/>
              <a:t>UseExisting</a:t>
            </a:r>
            <a:r>
              <a:rPr lang="en-US" dirty="0"/>
              <a:t> mode, </a:t>
            </a:r>
            <a:r>
              <a:rPr lang="en-US" b="1" dirty="0"/>
              <a:t>Azure Virtual Network Manager detects and appends required routes to an</a:t>
            </a:r>
            <a:r>
              <a:rPr lang="en-US" dirty="0"/>
              <a:t> existing route table associated with a subnet, preserving the original route table’s name, group, and tags. If no route table exists, Azure Virtual Network Manager automatically creates one as before. Customers </a:t>
            </a:r>
            <a:r>
              <a:rPr lang="en-US" b="1" dirty="0"/>
              <a:t>seeking Azure Virtual Network Manager-managed route tables can continue using the existing Managed Only mode (the default). </a:t>
            </a:r>
          </a:p>
          <a:p>
            <a:pPr algn="just"/>
            <a:r>
              <a:rPr lang="en-US" dirty="0"/>
              <a:t>This general availability release empowers customers to: </a:t>
            </a:r>
          </a:p>
          <a:p>
            <a:pPr marL="171450" indent="-171450" algn="just">
              <a:buFont typeface="Arial" panose="020B0604020202020204" pitchFamily="34" charset="0"/>
              <a:buChar char="•"/>
            </a:pPr>
            <a:r>
              <a:rPr lang="en-US" dirty="0"/>
              <a:t>Maintain governance compliance by retaining ownership of route table configurations </a:t>
            </a:r>
          </a:p>
          <a:p>
            <a:pPr marL="171450" indent="-171450" algn="just">
              <a:buFont typeface="Arial" panose="020B0604020202020204" pitchFamily="34" charset="0"/>
              <a:buChar char="•"/>
            </a:pPr>
            <a:r>
              <a:rPr lang="en-US" dirty="0"/>
              <a:t>Simplify operations with seamless integration of AVNM automation into existing environments </a:t>
            </a:r>
          </a:p>
          <a:p>
            <a:pPr marL="171450" indent="-171450" algn="just">
              <a:buFont typeface="Arial" panose="020B0604020202020204" pitchFamily="34" charset="0"/>
              <a:buChar char="•"/>
            </a:pPr>
            <a:r>
              <a:rPr lang="en-US" dirty="0"/>
              <a:t>Enhance flexibility by choosing how AVNM interacts with routing resources  </a:t>
            </a:r>
          </a:p>
          <a:p>
            <a:pPr algn="just"/>
            <a:r>
              <a:rPr lang="en-US" dirty="0"/>
              <a:t>The </a:t>
            </a:r>
            <a:r>
              <a:rPr lang="en-US" dirty="0" err="1"/>
              <a:t>UseExisting</a:t>
            </a:r>
            <a:r>
              <a:rPr lang="en-US" dirty="0"/>
              <a:t> mode makes it easier than ever to adopt Azure Virtual Network Manager UDR management at scale—combining centralized automation with customer-driven governance and control. </a:t>
            </a:r>
          </a:p>
        </p:txBody>
      </p:sp>
    </p:spTree>
    <p:extLst>
      <p:ext uri="{BB962C8B-B14F-4D97-AF65-F5344CB8AC3E}">
        <p14:creationId xmlns:p14="http://schemas.microsoft.com/office/powerpoint/2010/main" val="43808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Introducing Customizable Security Baseline Policies in Machine Configuration</a:t>
            </a:r>
            <a:endParaRPr lang="en-US" sz="1000" dirty="0"/>
          </a:p>
          <a:p>
            <a:pPr algn="just"/>
            <a:r>
              <a:rPr lang="en-US" sz="1000" dirty="0"/>
              <a:t>This feature empowers tailoring industry security benchmarks—such as CIS benchmarks for </a:t>
            </a:r>
            <a:r>
              <a:rPr lang="en-US" sz="1000" b="1" dirty="0"/>
              <a:t>Linux or Azure Security Baselines for Windows and Linux </a:t>
            </a:r>
            <a:r>
              <a:rPr lang="en-US" sz="1000" dirty="0"/>
              <a:t>—to align with your organization’s unique compliance standards across both Azure and Arc-connected machines.</a:t>
            </a:r>
          </a:p>
          <a:p>
            <a:pPr algn="just"/>
            <a:r>
              <a:rPr lang="en-US" sz="1000" dirty="0"/>
              <a:t>IT allows to tailor security standards through the </a:t>
            </a:r>
            <a:r>
              <a:rPr lang="en-US" sz="1000" b="1" dirty="0"/>
              <a:t>Modify Settings wizard under Policy &gt; Machine Configuration.</a:t>
            </a:r>
          </a:p>
          <a:p>
            <a:pPr marL="171450" indent="-171450" algn="just">
              <a:buFont typeface="Arial" panose="020B0604020202020204" pitchFamily="34" charset="0"/>
              <a:buChar char="•"/>
            </a:pPr>
            <a:r>
              <a:rPr lang="en-US" sz="1000" dirty="0"/>
              <a:t>Enable, exclude, or adjust rules from existing benchmarks</a:t>
            </a:r>
          </a:p>
          <a:p>
            <a:pPr marL="171450" indent="-171450" algn="just">
              <a:buFont typeface="Arial" panose="020B0604020202020204" pitchFamily="34" charset="0"/>
              <a:buChar char="•"/>
            </a:pPr>
            <a:r>
              <a:rPr lang="en-US" sz="1000" dirty="0"/>
              <a:t>Apply organization-specific parameters</a:t>
            </a:r>
          </a:p>
          <a:p>
            <a:pPr marL="171450" indent="-171450" algn="just">
              <a:buFont typeface="Arial" panose="020B0604020202020204" pitchFamily="34" charset="0"/>
              <a:buChar char="•"/>
            </a:pPr>
            <a:r>
              <a:rPr lang="en-US" sz="1000" dirty="0"/>
              <a:t>Export your custom configuration as a downloadable JSON file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813464" cy="3774069"/>
          </a:xfrm>
        </p:spPr>
        <p:txBody>
          <a:bodyPr/>
          <a:lstStyle/>
          <a:p>
            <a:r>
              <a:rPr lang="en-US" dirty="0">
                <a:hlinkClick r:id="rId3"/>
              </a:rPr>
              <a:t>Announcing Microsoft cloud security benchmark v2 (public preview)</a:t>
            </a:r>
            <a:endParaRPr lang="en-US" dirty="0"/>
          </a:p>
          <a:p>
            <a:r>
              <a:rPr lang="en-US" dirty="0"/>
              <a:t>A new Benchmark version with the enhancement in following areas:</a:t>
            </a:r>
          </a:p>
          <a:p>
            <a:pPr marL="171450" indent="-171450">
              <a:buFont typeface="Arial" panose="020B0604020202020204" pitchFamily="34" charset="0"/>
              <a:buChar char="•"/>
            </a:pPr>
            <a:r>
              <a:rPr lang="en-US" dirty="0"/>
              <a:t>Adding </a:t>
            </a:r>
            <a:r>
              <a:rPr lang="en-US" b="1" dirty="0"/>
              <a:t>artificial intelligence</a:t>
            </a:r>
            <a:r>
              <a:rPr lang="en-US" dirty="0"/>
              <a:t> security into scope to address the threats and risks in this emerging domain.</a:t>
            </a:r>
          </a:p>
          <a:p>
            <a:pPr marL="171450" indent="-171450">
              <a:buFont typeface="Arial" panose="020B0604020202020204" pitchFamily="34" charset="0"/>
              <a:buChar char="•"/>
            </a:pPr>
            <a:r>
              <a:rPr lang="en-US" dirty="0"/>
              <a:t>Expanding the prior simple basic control guideline to a more comprehensive, risk and threats-based control guide with more granular technical implementation examples and references details.</a:t>
            </a:r>
          </a:p>
          <a:p>
            <a:pPr marL="171450" indent="-171450">
              <a:buFont typeface="Arial" panose="020B0604020202020204" pitchFamily="34" charset="0"/>
              <a:buChar char="•"/>
            </a:pPr>
            <a:r>
              <a:rPr lang="en-US" dirty="0"/>
              <a:t>Expanding </a:t>
            </a:r>
            <a:r>
              <a:rPr lang="en-US" b="1" dirty="0"/>
              <a:t>the Azure Policy-based control measurements </a:t>
            </a:r>
            <a:r>
              <a:rPr lang="en-US" dirty="0"/>
              <a:t>from ~220 to ~420 to cover more new security controls and expanding the measurements on the existing controls.</a:t>
            </a:r>
          </a:p>
          <a:p>
            <a:pPr marL="171450" indent="-171450">
              <a:buFont typeface="Arial" panose="020B0604020202020204" pitchFamily="34" charset="0"/>
              <a:buChar char="•"/>
            </a:pPr>
            <a:r>
              <a:rPr lang="en-US" dirty="0"/>
              <a:t>Expanding the control mappings to more industry regulations standards such as </a:t>
            </a:r>
            <a:r>
              <a:rPr lang="en-US" b="1" dirty="0"/>
              <a:t>NIST CSF, PCI-DSS v4, ISO 27001</a:t>
            </a:r>
            <a:r>
              <a:rPr lang="en-US" dirty="0"/>
              <a:t>, etc.</a:t>
            </a:r>
          </a:p>
          <a:p>
            <a:pPr marL="171450" indent="-171450">
              <a:buFont typeface="Arial" panose="020B0604020202020204" pitchFamily="34" charset="0"/>
              <a:buChar char="•"/>
            </a:pPr>
            <a:r>
              <a:rPr lang="en-US" dirty="0"/>
              <a:t>Alignment with </a:t>
            </a:r>
            <a:r>
              <a:rPr lang="en-US" b="1" dirty="0"/>
              <a:t>SFI objectives to introduce Microsoft </a:t>
            </a:r>
            <a:r>
              <a:rPr lang="en-US" dirty="0"/>
              <a:t>internal security best practices to our customers. </a:t>
            </a:r>
          </a:p>
          <a:p>
            <a:r>
              <a:rPr lang="en-US" dirty="0"/>
              <a:t> </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Azure Local using local identity with Azure Key Vault (Preview)</a:t>
            </a:r>
            <a:endParaRPr lang="en-US" sz="1000" dirty="0"/>
          </a:p>
          <a:p>
            <a:pPr algn="just"/>
            <a:r>
              <a:rPr lang="en-US" sz="1000" dirty="0"/>
              <a:t>In addition to </a:t>
            </a:r>
            <a:r>
              <a:rPr lang="en-US" sz="1000" b="1" dirty="0"/>
              <a:t>Active Directory (AD) based deployment</a:t>
            </a:r>
            <a:r>
              <a:rPr lang="en-US" sz="1000" dirty="0"/>
              <a:t>, Azure Local supports deployment through local identity with </a:t>
            </a:r>
            <a:r>
              <a:rPr lang="en-US" sz="1000" b="1" dirty="0"/>
              <a:t>Azure Key Vault</a:t>
            </a:r>
            <a:r>
              <a:rPr lang="en-US" sz="1000" dirty="0"/>
              <a:t>, previously known as AD-less deployment.</a:t>
            </a:r>
          </a:p>
          <a:p>
            <a:pPr algn="just"/>
            <a:r>
              <a:rPr lang="en-US" sz="1000" dirty="0"/>
              <a:t>With local identity using a Local Administrator Account, the deployment process configures cluster-level integration with certificate-based authentication. This setup ensures secure communication during deployment and ongoing operations.</a:t>
            </a:r>
          </a:p>
          <a:p>
            <a:pPr algn="just"/>
            <a:r>
              <a:rPr lang="en-US" sz="1000" dirty="0"/>
              <a:t>As part of this configuration, </a:t>
            </a:r>
            <a:r>
              <a:rPr lang="en-US" sz="1000" b="1" dirty="0"/>
              <a:t>an Azure Key Vault in the Azure Cloud is provisioned during deployment to serve as a secure backup for Azure Local secrets, </a:t>
            </a:r>
            <a:r>
              <a:rPr lang="en-US" sz="1000" dirty="0"/>
              <a:t>including BitLocker keys and other critical configuration data.</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Audit and Enable Windows Recovery Environment (WinRE) for Azure Arc-enabled Servers</a:t>
            </a:r>
            <a:endParaRPr lang="en-US" dirty="0"/>
          </a:p>
          <a:p>
            <a:pPr algn="just"/>
            <a:r>
              <a:rPr lang="en-US" dirty="0"/>
              <a:t>Azure Policies allow auditing and enable </a:t>
            </a:r>
            <a:r>
              <a:rPr lang="en-US" b="1" dirty="0"/>
              <a:t>Windows Recovery Environment (WinRE) for Azure Arc-enabled servers.</a:t>
            </a:r>
          </a:p>
          <a:p>
            <a:pPr algn="just"/>
            <a:r>
              <a:rPr lang="en-US" b="1" dirty="0"/>
              <a:t>Windows Recovery Environment </a:t>
            </a:r>
            <a:r>
              <a:rPr lang="en-US" dirty="0"/>
              <a:t>is a secure, isolated partition that enables diagnostics and repair when a system encounters critical failures – such as a stop error (commonly known as the blue screen of death). WinRE provides a reliable fallback mechanism for mission-critical workloads, allowing IT administrators to recover systems quickly and securely.</a:t>
            </a:r>
          </a:p>
          <a:p>
            <a:pPr algn="just"/>
            <a:r>
              <a:rPr lang="en-US" dirty="0"/>
              <a:t>These Azure Policies are available at no additional cost for servers covered under:</a:t>
            </a:r>
          </a:p>
          <a:p>
            <a:pPr marL="171450" indent="-171450" algn="just">
              <a:buFont typeface="Arial" panose="020B0604020202020204" pitchFamily="34" charset="0"/>
              <a:buChar char="•"/>
            </a:pPr>
            <a:r>
              <a:rPr lang="en-US" dirty="0"/>
              <a:t>Windows Server 2012 Extended Security Updates (ESUs)</a:t>
            </a:r>
          </a:p>
          <a:p>
            <a:pPr marL="171450" indent="-171450" algn="just">
              <a:buFont typeface="Arial" panose="020B0604020202020204" pitchFamily="34" charset="0"/>
              <a:buChar char="•"/>
            </a:pPr>
            <a:r>
              <a:rPr lang="en-US" dirty="0"/>
              <a:t>Microsoft Defender for Servers Plan 2</a:t>
            </a:r>
          </a:p>
          <a:p>
            <a:pPr marL="171450" indent="-171450" algn="just">
              <a:buFont typeface="Arial" panose="020B0604020202020204" pitchFamily="34" charset="0"/>
              <a:buChar char="•"/>
            </a:pPr>
            <a:r>
              <a:rPr lang="en-US" dirty="0"/>
              <a:t>Windows Server Software Assurance attestation</a:t>
            </a:r>
          </a:p>
          <a:p>
            <a:pPr marL="171450" indent="-171450" algn="just">
              <a:buFont typeface="Arial" panose="020B0604020202020204" pitchFamily="34" charset="0"/>
              <a:buChar char="•"/>
            </a:pPr>
            <a:r>
              <a:rPr lang="en-US" dirty="0"/>
              <a:t>Windows Server Pay-as-you-Go licensing</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638725-3BCB-9435-BC67-EC57EB64614D}"/>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E168FB58-4D75-862B-F856-BEEA6955F72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8B44AC6-65A1-00A8-E660-2DBFD31AC206}"/>
              </a:ext>
            </a:extLst>
          </p:cNvPr>
          <p:cNvSpPr>
            <a:spLocks noGrp="1"/>
          </p:cNvSpPr>
          <p:nvPr>
            <p:ph type="body" sz="quarter" idx="16"/>
          </p:nvPr>
        </p:nvSpPr>
        <p:spPr/>
        <p:txBody>
          <a:bodyPr/>
          <a:lstStyle/>
          <a:p>
            <a:pPr algn="just"/>
            <a:r>
              <a:rPr lang="en-US" dirty="0">
                <a:hlinkClick r:id="rId2"/>
              </a:rPr>
              <a:t>Public Preview: Insights in Azure Migrate</a:t>
            </a:r>
            <a:endParaRPr lang="en-US" dirty="0"/>
          </a:p>
          <a:p>
            <a:pPr algn="just"/>
            <a:r>
              <a:rPr lang="en-US" dirty="0"/>
              <a:t>Azure Migrate now offers integrated Security insights, allowing to assess potential risks within their on-premises environment. The solution delivers actionable recommendations to effectively mitigate these risks as part of the migration planning. </a:t>
            </a:r>
          </a:p>
          <a:p>
            <a:pPr marL="171450" indent="-171450" algn="just">
              <a:buFont typeface="Arial" panose="020B0604020202020204" pitchFamily="34" charset="0"/>
              <a:buChar char="•"/>
            </a:pPr>
            <a:r>
              <a:rPr lang="en-US" dirty="0"/>
              <a:t>Review </a:t>
            </a:r>
            <a:r>
              <a:rPr lang="en-US" b="1" dirty="0"/>
              <a:t>security risks in your datacenter early during migration </a:t>
            </a:r>
            <a:r>
              <a:rPr lang="en-US" dirty="0"/>
              <a:t>planning.</a:t>
            </a:r>
          </a:p>
          <a:p>
            <a:pPr marL="171450" indent="-171450" algn="just">
              <a:buFont typeface="Arial" panose="020B0604020202020204" pitchFamily="34" charset="0"/>
              <a:buChar char="•"/>
            </a:pPr>
            <a:r>
              <a:rPr lang="en-US" b="1" dirty="0"/>
              <a:t>Plan mitigation to fix security issues </a:t>
            </a:r>
            <a:r>
              <a:rPr lang="en-US" dirty="0"/>
              <a:t>and make migration to Azure smooth and secure.</a:t>
            </a:r>
          </a:p>
          <a:p>
            <a:pPr marL="171450" indent="-171450" algn="just">
              <a:buFont typeface="Arial" panose="020B0604020202020204" pitchFamily="34" charset="0"/>
              <a:buChar char="•"/>
            </a:pPr>
            <a:r>
              <a:rPr lang="en-US" dirty="0"/>
              <a:t>Identify and plan </a:t>
            </a:r>
            <a:r>
              <a:rPr lang="en-US" b="1" dirty="0"/>
              <a:t>upgrade of Windows and Linux servers </a:t>
            </a:r>
            <a:r>
              <a:rPr lang="en-US" dirty="0"/>
              <a:t>with end of support operating system, end of support software and pending updates.</a:t>
            </a:r>
          </a:p>
          <a:p>
            <a:pPr marL="171450" indent="-171450" algn="just">
              <a:buFont typeface="Arial" panose="020B0604020202020204" pitchFamily="34" charset="0"/>
              <a:buChar char="•"/>
            </a:pPr>
            <a:r>
              <a:rPr lang="en-US" b="1" dirty="0"/>
              <a:t>Detect vulnerabilities in discovered software </a:t>
            </a:r>
            <a:r>
              <a:rPr lang="en-US" dirty="0"/>
              <a:t>and take action to remediate risks.</a:t>
            </a:r>
          </a:p>
          <a:p>
            <a:pPr marL="171450" indent="-171450" algn="just">
              <a:buFont typeface="Arial" panose="020B0604020202020204" pitchFamily="34" charset="0"/>
              <a:buChar char="•"/>
            </a:pPr>
            <a:r>
              <a:rPr lang="en-US" dirty="0"/>
              <a:t>Identify servers without </a:t>
            </a:r>
            <a:r>
              <a:rPr lang="en-US" b="1" dirty="0"/>
              <a:t>security or patch management software</a:t>
            </a:r>
            <a:r>
              <a:rPr lang="en-US" dirty="0"/>
              <a:t>, and plan to configure Microsoft Defender for Cloud and Azure Update Manager.</a:t>
            </a:r>
          </a:p>
        </p:txBody>
      </p:sp>
      <p:pic>
        <p:nvPicPr>
          <p:cNvPr id="5122" name="Picture 2" descr="Screenshot shows the summarized view of all servers with security risks out of total discovered servers.">
            <a:extLst>
              <a:ext uri="{FF2B5EF4-FFF2-40B4-BE49-F238E27FC236}">
                <a16:creationId xmlns:a16="http://schemas.microsoft.com/office/drawing/2014/main" id="{E04A4733-970A-C1FA-875D-A4A098ECA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033894"/>
            <a:ext cx="2143125" cy="20859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creenshot provides aggregated view of all software with security risks out of total discovered software.">
            <a:extLst>
              <a:ext uri="{FF2B5EF4-FFF2-40B4-BE49-F238E27FC236}">
                <a16:creationId xmlns:a16="http://schemas.microsoft.com/office/drawing/2014/main" id="{647A3CEA-87A6-C3D6-CE40-9FE77E3D20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2090" y="3222159"/>
            <a:ext cx="2565689" cy="1476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05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6A69F7-40DA-113F-EA88-AB5754947C9D}"/>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CC6A5B10-4AF9-2AB5-C94B-AA5881A52EB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D4729A5-E8F8-79D8-390A-2526C334B363}"/>
              </a:ext>
            </a:extLst>
          </p:cNvPr>
          <p:cNvSpPr>
            <a:spLocks noGrp="1"/>
          </p:cNvSpPr>
          <p:nvPr>
            <p:ph type="body" sz="quarter" idx="16"/>
          </p:nvPr>
        </p:nvSpPr>
        <p:spPr>
          <a:xfrm>
            <a:off x="342900" y="855080"/>
            <a:ext cx="3955312" cy="260211"/>
          </a:xfrm>
        </p:spPr>
        <p:txBody>
          <a:bodyPr/>
          <a:lstStyle/>
          <a:p>
            <a:r>
              <a:rPr lang="en-US" dirty="0">
                <a:hlinkClick r:id="rId2"/>
              </a:rPr>
              <a:t>Multi-server dependency mapping and subsequently define them</a:t>
            </a:r>
            <a:endParaRPr lang="en-US" dirty="0"/>
          </a:p>
          <a:p>
            <a:endParaRPr lang="en-US" dirty="0"/>
          </a:p>
        </p:txBody>
      </p:sp>
      <p:pic>
        <p:nvPicPr>
          <p:cNvPr id="7" name="Picture 6">
            <a:extLst>
              <a:ext uri="{FF2B5EF4-FFF2-40B4-BE49-F238E27FC236}">
                <a16:creationId xmlns:a16="http://schemas.microsoft.com/office/drawing/2014/main" id="{30CD25B2-9D10-56CF-6CE0-BF73985468E9}"/>
              </a:ext>
            </a:extLst>
          </p:cNvPr>
          <p:cNvPicPr>
            <a:picLocks noChangeAspect="1"/>
          </p:cNvPicPr>
          <p:nvPr/>
        </p:nvPicPr>
        <p:blipFill>
          <a:blip r:embed="rId3"/>
          <a:stretch>
            <a:fillRect/>
          </a:stretch>
        </p:blipFill>
        <p:spPr>
          <a:xfrm>
            <a:off x="342900" y="1115291"/>
            <a:ext cx="3827502" cy="2236037"/>
          </a:xfrm>
          <a:prstGeom prst="rect">
            <a:avLst/>
          </a:prstGeom>
        </p:spPr>
      </p:pic>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a:xfrm>
            <a:off x="4485409" y="855080"/>
            <a:ext cx="4365038" cy="1091484"/>
          </a:xfrm>
        </p:spPr>
        <p:txBody>
          <a:bodyPr/>
          <a:lstStyle/>
          <a:p>
            <a:pPr algn="just"/>
            <a:r>
              <a:rPr lang="en-US" sz="1000" dirty="0">
                <a:hlinkClick r:id="rId4"/>
              </a:rPr>
              <a:t>Wave Planning in Azure Migrate</a:t>
            </a:r>
            <a:endParaRPr lang="en-US" sz="1000" dirty="0"/>
          </a:p>
          <a:p>
            <a:pPr algn="just"/>
            <a:r>
              <a:rPr lang="en-US" sz="1000" dirty="0"/>
              <a:t>It is a new capability designed to make large-scale migrations more manageable and predictable. With wave planning, it is possible now to organize migration journey into logical, iterative waves, enabling your teams to plan, execute, and track progress with greater speed, confidence, and control.</a:t>
            </a:r>
          </a:p>
          <a:p>
            <a:pPr algn="just"/>
            <a:endParaRPr lang="en-US" sz="1000" dirty="0"/>
          </a:p>
        </p:txBody>
      </p:sp>
      <p:pic>
        <p:nvPicPr>
          <p:cNvPr id="8" name="Picture 7">
            <a:extLst>
              <a:ext uri="{FF2B5EF4-FFF2-40B4-BE49-F238E27FC236}">
                <a16:creationId xmlns:a16="http://schemas.microsoft.com/office/drawing/2014/main" id="{CD983A3C-7B22-3122-B935-2C45FAE07EED}"/>
              </a:ext>
            </a:extLst>
          </p:cNvPr>
          <p:cNvPicPr>
            <a:picLocks noChangeAspect="1"/>
          </p:cNvPicPr>
          <p:nvPr/>
        </p:nvPicPr>
        <p:blipFill>
          <a:blip r:embed="rId5"/>
          <a:stretch>
            <a:fillRect/>
          </a:stretch>
        </p:blipFill>
        <p:spPr>
          <a:xfrm>
            <a:off x="4590446" y="1856509"/>
            <a:ext cx="4122920" cy="2245638"/>
          </a:xfrm>
          <a:prstGeom prst="rect">
            <a:avLst/>
          </a:prstGeom>
        </p:spPr>
      </p:pic>
    </p:spTree>
    <p:extLst>
      <p:ext uri="{BB962C8B-B14F-4D97-AF65-F5344CB8AC3E}">
        <p14:creationId xmlns:p14="http://schemas.microsoft.com/office/powerpoint/2010/main" val="113154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D31FF1-6634-0DCE-ED99-8A8679E44997}"/>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7FFCF9A6-2F8F-27FA-7D08-CE9621107C0F}"/>
              </a:ext>
            </a:extLst>
          </p:cNvPr>
          <p:cNvSpPr>
            <a:spLocks noGrp="1"/>
          </p:cNvSpPr>
          <p:nvPr>
            <p:ph type="body" sz="quarter" idx="15"/>
          </p:nvPr>
        </p:nvSpPr>
        <p:spPr/>
        <p:txBody>
          <a:bodyPr/>
          <a:lstStyle/>
          <a:p>
            <a:endParaRPr lang="en-US"/>
          </a:p>
        </p:txBody>
      </p:sp>
      <p:sp>
        <p:nvSpPr>
          <p:cNvPr id="6" name="Text Placeholder 13">
            <a:extLst>
              <a:ext uri="{FF2B5EF4-FFF2-40B4-BE49-F238E27FC236}">
                <a16:creationId xmlns:a16="http://schemas.microsoft.com/office/drawing/2014/main" id="{36DDC089-50E8-F4C2-A1B8-D5411778A6D7}"/>
              </a:ext>
            </a:extLst>
          </p:cNvPr>
          <p:cNvSpPr>
            <a:spLocks noGrp="1"/>
          </p:cNvSpPr>
          <p:nvPr>
            <p:ph type="body" sz="quarter" idx="16"/>
          </p:nvPr>
        </p:nvSpPr>
        <p:spPr>
          <a:xfrm>
            <a:off x="342900" y="855080"/>
            <a:ext cx="3955312" cy="3774069"/>
          </a:xfrm>
        </p:spPr>
        <p:txBody>
          <a:bodyPr/>
          <a:lstStyle/>
          <a:p>
            <a:pPr algn="just"/>
            <a:r>
              <a:rPr lang="en-US" dirty="0">
                <a:hlinkClick r:id="rId2"/>
              </a:rPr>
              <a:t>Public Preview: Instant Access Snapshots for Azure Premium SSD v2 and Ultra Disks Storage</a:t>
            </a:r>
            <a:endParaRPr lang="en-US" dirty="0"/>
          </a:p>
          <a:p>
            <a:pPr algn="just"/>
            <a:r>
              <a:rPr lang="en-US" dirty="0"/>
              <a:t>By default, snapshots of </a:t>
            </a:r>
            <a:r>
              <a:rPr lang="en-US" b="1" dirty="0"/>
              <a:t>Ultra Disks and Premium SSD v2 </a:t>
            </a:r>
            <a:r>
              <a:rPr lang="en-US" dirty="0"/>
              <a:t>aren't instant access snapshots and can't be used until the snapshot’s background data copy completes.</a:t>
            </a:r>
          </a:p>
          <a:p>
            <a:pPr algn="just"/>
            <a:r>
              <a:rPr lang="en-US" dirty="0"/>
              <a:t>This new capability enables to restore new disks immediately after creating snapshots of Pv2 and Ultra disks. Restore disks deliver high performance instantly, while data hydration continues rapidly in the background. </a:t>
            </a:r>
          </a:p>
          <a:p>
            <a:pPr marL="171450" indent="-171450" algn="just">
              <a:buFont typeface="Arial" panose="020B0604020202020204" pitchFamily="34" charset="0"/>
              <a:buChar char="•"/>
            </a:pPr>
            <a:r>
              <a:rPr lang="en-US" dirty="0"/>
              <a:t>You can't use an instant access snapshot to create an Ultra Disk or a Premium SSD v2 larger than the snapshot's size</a:t>
            </a:r>
          </a:p>
          <a:p>
            <a:pPr marL="171450" indent="-171450" algn="just">
              <a:buFont typeface="Arial" panose="020B0604020202020204" pitchFamily="34" charset="0"/>
              <a:buChar char="•"/>
            </a:pPr>
            <a:r>
              <a:rPr lang="en-US" dirty="0"/>
              <a:t>Instant access snapshots count towards the Ultra Disk and Premium SSD v2 limit of three in-progress snapshots per disk</a:t>
            </a:r>
          </a:p>
          <a:p>
            <a:pPr algn="just"/>
            <a:endParaRPr lang="en-US" dirty="0"/>
          </a:p>
        </p:txBody>
      </p:sp>
    </p:spTree>
    <p:extLst>
      <p:ext uri="{BB962C8B-B14F-4D97-AF65-F5344CB8AC3E}">
        <p14:creationId xmlns:p14="http://schemas.microsoft.com/office/powerpoint/2010/main" val="106926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General Availability of Software Defined Networking (SDN) on Azure Local</a:t>
            </a:r>
            <a:endParaRPr lang="en-US" sz="1000" dirty="0"/>
          </a:p>
          <a:p>
            <a:pPr algn="just"/>
            <a:r>
              <a:rPr lang="en-US" sz="1000" dirty="0"/>
              <a:t>This release introduces cloud-native networking capabilities for access control at the network layer, utilizing Network Security Groups (NSGs) on Azure Local.</a:t>
            </a:r>
          </a:p>
          <a:p>
            <a:pPr algn="just"/>
            <a:r>
              <a:rPr lang="en-US" sz="1000" dirty="0"/>
              <a:t>Key highlights in this release are:</a:t>
            </a:r>
          </a:p>
          <a:p>
            <a:pPr marL="171450" indent="-171450" algn="just">
              <a:buFont typeface="Arial" panose="020B0604020202020204" pitchFamily="34" charset="0"/>
              <a:buChar char="•"/>
            </a:pPr>
            <a:r>
              <a:rPr lang="en-US" sz="1000" b="1" dirty="0"/>
              <a:t>Centralized network management: </a:t>
            </a:r>
            <a:r>
              <a:rPr lang="en-US" sz="1000" dirty="0"/>
              <a:t>Manage Logical networks, network interfaces, and NSGs through the Azure control plane – whether preference is the Azure Portal, Azure Command-Line Interface (CLI), or Azure Resource Manager templates.</a:t>
            </a:r>
          </a:p>
          <a:p>
            <a:pPr marL="171450" indent="-171450" algn="just">
              <a:buFont typeface="Arial" panose="020B0604020202020204" pitchFamily="34" charset="0"/>
              <a:buChar char="•"/>
            </a:pPr>
            <a:r>
              <a:rPr lang="en-US" sz="1000" b="1" dirty="0"/>
              <a:t>Fine-grained traffic control: </a:t>
            </a:r>
            <a:r>
              <a:rPr lang="en-US" sz="1000" dirty="0"/>
              <a:t>Safeguard edge workloads with policy-driven access controls by applying inbound and outbound allow/deny rules on NSGs, just as would in Azure.</a:t>
            </a:r>
          </a:p>
          <a:p>
            <a:pPr marL="171450" indent="-171450" algn="just">
              <a:buFont typeface="Arial" panose="020B0604020202020204" pitchFamily="34" charset="0"/>
              <a:buChar char="•"/>
            </a:pPr>
            <a:r>
              <a:rPr lang="en-US" sz="1000" b="1" dirty="0"/>
              <a:t>Seamless hybrid consistency: </a:t>
            </a:r>
            <a:r>
              <a:rPr lang="en-US" sz="1000" dirty="0"/>
              <a:t>Reduce operational friction and accelerate IT staff’s ramp-up on advanced networking skills by using the same familiar tools and constructs across both Azure public cloud and Azure Local.</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Azure Migrate Expands Capabilities to Accelerate Migration to Azure Local</a:t>
            </a:r>
            <a:endParaRPr lang="en-US" dirty="0"/>
          </a:p>
          <a:p>
            <a:pPr algn="just"/>
            <a:r>
              <a:rPr lang="en-US" dirty="0"/>
              <a:t>With this release, organizations can easily </a:t>
            </a:r>
            <a:r>
              <a:rPr lang="en-US" b="1" dirty="0"/>
              <a:t>move their VMware workloads to cloud-managed infrastructure</a:t>
            </a:r>
            <a:r>
              <a:rPr lang="en-US" dirty="0"/>
              <a:t> while maintaining consistency across environments.</a:t>
            </a:r>
          </a:p>
          <a:p>
            <a:pPr marL="171450" indent="-171450" algn="just">
              <a:buFont typeface="Arial" panose="020B0604020202020204" pitchFamily="34" charset="0"/>
              <a:buChar char="•"/>
            </a:pPr>
            <a:r>
              <a:rPr lang="en-US" dirty="0"/>
              <a:t>Orchestrate migrations from Azure portal</a:t>
            </a:r>
          </a:p>
          <a:p>
            <a:pPr marL="171450" indent="-171450" algn="just">
              <a:buFont typeface="Arial" panose="020B0604020202020204" pitchFamily="34" charset="0"/>
              <a:buChar char="•"/>
            </a:pPr>
            <a:r>
              <a:rPr lang="en-US" dirty="0"/>
              <a:t>Leverage an agentless architecture</a:t>
            </a:r>
          </a:p>
          <a:p>
            <a:pPr marL="171450" indent="-171450" algn="just">
              <a:buFont typeface="Arial" panose="020B0604020202020204" pitchFamily="34" charset="0"/>
              <a:buChar char="•"/>
            </a:pPr>
            <a:r>
              <a:rPr lang="en-US" dirty="0"/>
              <a:t>Replicate with no downtime impact</a:t>
            </a:r>
          </a:p>
          <a:p>
            <a:pPr marL="171450" indent="-171450" algn="just">
              <a:buFont typeface="Arial" panose="020B0604020202020204" pitchFamily="34" charset="0"/>
              <a:buChar char="•"/>
            </a:pPr>
            <a:r>
              <a:rPr lang="en-US" dirty="0"/>
              <a:t>Migrate securely with sovereign control</a:t>
            </a:r>
          </a:p>
          <a:p>
            <a:pPr marL="171450" indent="-171450" algn="just">
              <a:buFont typeface="Arial" panose="020B0604020202020204" pitchFamily="34" charset="0"/>
              <a:buChar char="•"/>
            </a:pPr>
            <a:r>
              <a:rPr lang="en-US" dirty="0"/>
              <a:t>Perform cutovers with minimal downtime</a:t>
            </a:r>
          </a:p>
          <a:p>
            <a:pPr marL="171450" indent="-171450" algn="just">
              <a:buFont typeface="Arial" panose="020B0604020202020204" pitchFamily="34" charset="0"/>
              <a:buChar char="•"/>
            </a:pPr>
            <a:r>
              <a:rPr lang="en-US" dirty="0"/>
              <a:t>Static IP address retention for Windows and Linux VMs.</a:t>
            </a:r>
          </a:p>
          <a:p>
            <a:pPr marL="171450" indent="-171450" algn="just">
              <a:buFont typeface="Arial" panose="020B0604020202020204" pitchFamily="34" charset="0"/>
              <a:buChar char="•"/>
            </a:pPr>
            <a:r>
              <a:rPr lang="en-US" dirty="0"/>
              <a:t>PowerShell migration support for scripting and automation.</a:t>
            </a:r>
          </a:p>
          <a:p>
            <a:pPr marL="171450" indent="-171450" algn="just">
              <a:buFont typeface="Arial" panose="020B0604020202020204" pitchFamily="34" charset="0"/>
              <a:buChar char="•"/>
            </a:pPr>
            <a:r>
              <a:rPr lang="en-US" dirty="0"/>
              <a:t>Advanced compute and disk customization during migration.</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a:xfrm>
            <a:off x="292284" y="855080"/>
            <a:ext cx="3955312" cy="3774069"/>
          </a:xfrm>
        </p:spPr>
        <p:txBody>
          <a:bodyPr/>
          <a:lstStyle/>
          <a:p>
            <a:pPr algn="just"/>
            <a:r>
              <a:rPr lang="en-US" dirty="0">
                <a:hlinkClick r:id="rId2"/>
              </a:rPr>
              <a:t>Generally Available: Vaulted Backup for Azure Data Lake Storage (ADLS)</a:t>
            </a:r>
            <a:endParaRPr lang="en-US" dirty="0"/>
          </a:p>
          <a:p>
            <a:pPr algn="just"/>
            <a:r>
              <a:rPr lang="en-US" dirty="0"/>
              <a:t>Azure Backup vaulted protection </a:t>
            </a:r>
            <a:r>
              <a:rPr lang="en-US" b="1" dirty="0"/>
              <a:t>for ADLS Gen2 delivers secure, off‑site backups to help organizations meet resilience and compliance goals</a:t>
            </a:r>
            <a:r>
              <a:rPr lang="en-US" dirty="0"/>
              <a:t>. Vaulted backups maintain an independent copy of data, isolated from the source account - providing protection against accidental deletion, malicious activity, and ransomware. </a:t>
            </a:r>
          </a:p>
          <a:p>
            <a:pPr algn="just"/>
            <a:r>
              <a:rPr lang="en-US" dirty="0"/>
              <a:t> Capabilities at a Glance: </a:t>
            </a:r>
          </a:p>
          <a:p>
            <a:pPr marL="171450" indent="-171450" algn="just">
              <a:buFont typeface="Arial" panose="020B0604020202020204" pitchFamily="34" charset="0"/>
              <a:buChar char="•"/>
            </a:pPr>
            <a:r>
              <a:rPr lang="en-US" b="1" dirty="0"/>
              <a:t>Off‑site protection: </a:t>
            </a:r>
            <a:r>
              <a:rPr lang="en-US" dirty="0"/>
              <a:t>Recover data safely by restoring to alternate storage accounts to support clean recovery workflows. </a:t>
            </a:r>
          </a:p>
          <a:p>
            <a:pPr marL="171450" indent="-171450" algn="just">
              <a:buFont typeface="Arial" panose="020B0604020202020204" pitchFamily="34" charset="0"/>
              <a:buChar char="•"/>
            </a:pPr>
            <a:r>
              <a:rPr lang="en-US" b="1" dirty="0"/>
              <a:t>Automated &amp; flexible scheduling: </a:t>
            </a:r>
            <a:r>
              <a:rPr lang="en-US" dirty="0"/>
              <a:t>Configure daily or weekly backup policies and trigger on‑demand backups when needed. </a:t>
            </a:r>
          </a:p>
          <a:p>
            <a:pPr marL="171450" indent="-171450" algn="just">
              <a:buFont typeface="Arial" panose="020B0604020202020204" pitchFamily="34" charset="0"/>
              <a:buChar char="•"/>
            </a:pPr>
            <a:r>
              <a:rPr lang="en-US" b="1" dirty="0"/>
              <a:t>Long‑term retention: </a:t>
            </a:r>
            <a:r>
              <a:rPr lang="en-US" dirty="0"/>
              <a:t>Store backups for up to 10 years to meet compliance and archival requirements. </a:t>
            </a:r>
          </a:p>
          <a:p>
            <a:pPr marL="171450" indent="-171450" algn="just">
              <a:buFont typeface="Arial" panose="020B0604020202020204" pitchFamily="34" charset="0"/>
              <a:buChar char="•"/>
            </a:pPr>
            <a:r>
              <a:rPr lang="en-US" b="1" dirty="0"/>
              <a:t>Security‑first design: </a:t>
            </a:r>
            <a:r>
              <a:rPr lang="en-US" dirty="0"/>
              <a:t>Soft‑delete, immutability, encryption, and multi‑user authorization protect backup data in the vault. </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a:xfrm>
            <a:off x="342900" y="855080"/>
            <a:ext cx="3955312" cy="911375"/>
          </a:xfrm>
        </p:spPr>
        <p:txBody>
          <a:bodyPr/>
          <a:lstStyle/>
          <a:p>
            <a:pPr algn="just"/>
            <a:r>
              <a:rPr lang="en-US" dirty="0">
                <a:hlinkClick r:id="rId2"/>
              </a:rPr>
              <a:t>Retirement: Windows Server 2022 on Azure Kubernetes Service enabled by Azure Arc</a:t>
            </a:r>
            <a:endParaRPr lang="en-US" dirty="0"/>
          </a:p>
          <a:p>
            <a:pPr algn="just"/>
            <a:r>
              <a:rPr lang="en-US" dirty="0"/>
              <a:t>Announcing the retirement of Windows Server 2022 on Azure Kubernetes Service enabled by Azure Arc in October 2026. </a:t>
            </a:r>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a:xfrm>
            <a:off x="4433776" y="855081"/>
            <a:ext cx="4365038" cy="1617956"/>
          </a:xfrm>
        </p:spPr>
        <p:txBody>
          <a:bodyPr/>
          <a:lstStyle/>
          <a:p>
            <a:pPr algn="just"/>
            <a:r>
              <a:rPr lang="en-US" sz="1000" dirty="0">
                <a:hlinkClick r:id="rId2"/>
              </a:rPr>
              <a:t>Public Preview: Sharing Capacity Reservation Groups</a:t>
            </a:r>
            <a:endParaRPr lang="en-US" sz="1000" dirty="0"/>
          </a:p>
          <a:p>
            <a:pPr algn="just"/>
            <a:r>
              <a:rPr lang="en-US" sz="1000" dirty="0"/>
              <a:t>The ability to </a:t>
            </a:r>
            <a:r>
              <a:rPr lang="en-US" sz="1000" b="1" dirty="0"/>
              <a:t>share Capacity Reservation Groups (CRGs) with subscriptions </a:t>
            </a:r>
            <a:r>
              <a:rPr lang="en-US" sz="1000" dirty="0"/>
              <a:t>is now in Public Preview.  </a:t>
            </a:r>
          </a:p>
          <a:p>
            <a:pPr algn="just"/>
            <a:r>
              <a:rPr lang="en-US" sz="1000" dirty="0"/>
              <a:t>Previously, </a:t>
            </a:r>
            <a:r>
              <a:rPr lang="en-US" sz="1000" b="1" dirty="0"/>
              <a:t>customers could deploy VMs in a Capacity Reservation Group within the same subscription only.</a:t>
            </a:r>
            <a:r>
              <a:rPr lang="en-US" sz="1000" dirty="0"/>
              <a:t> On-demand Capacity </a:t>
            </a:r>
            <a:r>
              <a:rPr lang="en-US" sz="1000" b="1" dirty="0"/>
              <a:t>Reservation Group (CRG) can now be shared with other subscriptions. </a:t>
            </a:r>
            <a:r>
              <a:rPr lang="en-US" sz="1000" dirty="0"/>
              <a:t>Using this option can make it easier to manage some common configuration needs like resource reuse, centralized capacity management, more cost-effective scale-out and separating security and capacity concerns. </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Public Preview: VM vCore customization features disabling simultaneous multi-threading (SMT/HT) and constrained cores</a:t>
            </a:r>
            <a:endParaRPr lang="en-US" dirty="0"/>
          </a:p>
          <a:p>
            <a:pPr algn="just"/>
            <a:r>
              <a:rPr lang="en-US" dirty="0"/>
              <a:t>Azure announces the public preview of </a:t>
            </a:r>
            <a:r>
              <a:rPr lang="en-US" b="1" dirty="0"/>
              <a:t>VM Customization features</a:t>
            </a:r>
            <a:r>
              <a:rPr lang="en-US" dirty="0"/>
              <a:t>, a new capability that gives customers greater control over virtual CPU configurations to optimize performance and licensing costs. This feature introduces </a:t>
            </a:r>
            <a:r>
              <a:rPr lang="en-US" b="1" dirty="0"/>
              <a:t>two powerful options</a:t>
            </a:r>
            <a:r>
              <a:rPr lang="en-US" dirty="0"/>
              <a:t>: </a:t>
            </a:r>
            <a:r>
              <a:rPr lang="en-US" b="1" dirty="0"/>
              <a:t>Disable Simultaneous Multi-Threading (SMT/HT) and Configurable Constrained Cores. </a:t>
            </a:r>
          </a:p>
          <a:p>
            <a:pPr algn="just"/>
            <a:r>
              <a:rPr lang="en-US" dirty="0"/>
              <a:t>With VM Customization, customers can now: </a:t>
            </a:r>
          </a:p>
          <a:p>
            <a:pPr marL="171450" indent="-171450" algn="just">
              <a:buFont typeface="Arial" panose="020B0604020202020204" pitchFamily="34" charset="0"/>
              <a:buChar char="•"/>
            </a:pPr>
            <a:r>
              <a:rPr lang="en-US" b="1" dirty="0"/>
              <a:t>Disable Simultaneous Multithreading (SMT/HT) to run VMs </a:t>
            </a:r>
            <a:r>
              <a:rPr lang="en-US" dirty="0"/>
              <a:t>with one thread per core for improved performance on latency-sensitive and single-threaded workloads </a:t>
            </a:r>
          </a:p>
          <a:p>
            <a:pPr marL="171450" indent="-171450" algn="just">
              <a:buFont typeface="Arial" panose="020B0604020202020204" pitchFamily="34" charset="0"/>
              <a:buChar char="•"/>
            </a:pPr>
            <a:r>
              <a:rPr lang="en-US" b="1" dirty="0"/>
              <a:t>Select a custom vCPU count from </a:t>
            </a:r>
            <a:r>
              <a:rPr lang="en-US" dirty="0"/>
              <a:t>a guided list of valid options to reduce software licensing costs while retaining full memory, storage, and I/O bandwidth </a:t>
            </a:r>
          </a:p>
        </p:txBody>
      </p:sp>
      <p:pic>
        <p:nvPicPr>
          <p:cNvPr id="3" name="Picture 2">
            <a:extLst>
              <a:ext uri="{FF2B5EF4-FFF2-40B4-BE49-F238E27FC236}">
                <a16:creationId xmlns:a16="http://schemas.microsoft.com/office/drawing/2014/main" id="{3DC87B9C-1A25-7DDE-C764-2F27C0F94CF3}"/>
              </a:ext>
            </a:extLst>
          </p:cNvPr>
          <p:cNvPicPr>
            <a:picLocks noChangeAspect="1"/>
          </p:cNvPicPr>
          <p:nvPr/>
        </p:nvPicPr>
        <p:blipFill>
          <a:blip r:embed="rId4"/>
          <a:stretch>
            <a:fillRect/>
          </a:stretch>
        </p:blipFill>
        <p:spPr>
          <a:xfrm>
            <a:off x="4845790" y="2393373"/>
            <a:ext cx="3647546" cy="2473036"/>
          </a:xfrm>
          <a:prstGeom prst="rect">
            <a:avLst/>
          </a:prstGeom>
        </p:spPr>
      </p:pic>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613BC9-7383-BD46-4648-B7E23E4264C1}"/>
              </a:ext>
            </a:extLst>
          </p:cNvPr>
          <p:cNvSpPr>
            <a:spLocks noGrp="1"/>
          </p:cNvSpPr>
          <p:nvPr>
            <p:ph type="body" sz="quarter" idx="10"/>
          </p:nvPr>
        </p:nvSpPr>
        <p:spPr>
          <a:xfrm>
            <a:off x="4433776" y="855080"/>
            <a:ext cx="4365038" cy="1950465"/>
          </a:xfrm>
        </p:spPr>
        <p:txBody>
          <a:bodyPr/>
          <a:lstStyle/>
          <a:p>
            <a:pPr algn="just"/>
            <a:r>
              <a:rPr lang="en-US" sz="1000" dirty="0">
                <a:hlinkClick r:id="rId2"/>
              </a:rPr>
              <a:t>Public Preview: Azure Linux OS Guard for AKS</a:t>
            </a:r>
            <a:endParaRPr lang="en-US" sz="1000" dirty="0"/>
          </a:p>
          <a:p>
            <a:pPr algn="just"/>
            <a:r>
              <a:rPr lang="en-US" sz="1000" dirty="0"/>
              <a:t>Built on the </a:t>
            </a:r>
            <a:r>
              <a:rPr lang="en-US" sz="1000" b="1" dirty="0"/>
              <a:t>FedRAMP-certified Azure Linux 3.0 base, OS Guard is a next-generation immutable container host that enforces immutability</a:t>
            </a:r>
            <a:r>
              <a:rPr lang="en-US" sz="1000" dirty="0"/>
              <a:t>, code integrity, and mandatory access control.</a:t>
            </a:r>
          </a:p>
          <a:p>
            <a:pPr algn="just"/>
            <a:r>
              <a:rPr lang="en-US" sz="1000" dirty="0"/>
              <a:t>It leverages advanced technologies like dm-verity, </a:t>
            </a:r>
            <a:r>
              <a:rPr lang="en-US" sz="1000" dirty="0" err="1"/>
              <a:t>SELinux</a:t>
            </a:r>
            <a:r>
              <a:rPr lang="en-US" sz="1000" dirty="0"/>
              <a:t>, and Integrity Policy Enforcement (IPE)—recently </a:t>
            </a:r>
            <a:r>
              <a:rPr lang="en-US" sz="1000" dirty="0" err="1"/>
              <a:t>upstreamed</a:t>
            </a:r>
            <a:r>
              <a:rPr lang="en-US" sz="1000" dirty="0"/>
              <a:t> in Linux kernel 6.12—to ensure only trusted binaries from signed sources can run, while locking down user space against tampering. With Trusted Launch enabled by default, OS Guard also secures boot components using measured integrity backed by </a:t>
            </a:r>
            <a:r>
              <a:rPr lang="en-US" sz="1000" dirty="0" err="1"/>
              <a:t>vTPM</a:t>
            </a:r>
            <a:r>
              <a:rPr lang="en-US" sz="1000" dirty="0"/>
              <a:t> keys. </a:t>
            </a:r>
          </a:p>
          <a:p>
            <a:pPr algn="just"/>
            <a:r>
              <a:rPr lang="en-US" sz="1000" dirty="0"/>
              <a:t>Azure Linux is the trusted OS powering Microsoft’s own fleet, and OS Guard builds on that foundation to deliver enhanced protection for cloud-native environments. </a:t>
            </a:r>
          </a:p>
        </p:txBody>
      </p:sp>
      <p:sp>
        <p:nvSpPr>
          <p:cNvPr id="3" name="Title 2">
            <a:extLst>
              <a:ext uri="{FF2B5EF4-FFF2-40B4-BE49-F238E27FC236}">
                <a16:creationId xmlns:a16="http://schemas.microsoft.com/office/drawing/2014/main" id="{E4230E22-98C7-08EC-44B2-F58A14DEFADD}"/>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7E8D3F33-A3A8-57B7-828A-0DFF216EFF7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E75FEA9-CE44-71F8-DFA0-1A0A0C0957F7}"/>
              </a:ext>
            </a:extLst>
          </p:cNvPr>
          <p:cNvSpPr>
            <a:spLocks noGrp="1"/>
          </p:cNvSpPr>
          <p:nvPr>
            <p:ph type="body" sz="quarter" idx="16"/>
          </p:nvPr>
        </p:nvSpPr>
        <p:spPr/>
        <p:txBody>
          <a:bodyPr/>
          <a:lstStyle/>
          <a:p>
            <a:pPr algn="just"/>
            <a:r>
              <a:rPr lang="en-US" dirty="0">
                <a:hlinkClick r:id="rId3"/>
              </a:rPr>
              <a:t>Public Preview: </a:t>
            </a:r>
            <a:r>
              <a:rPr lang="en-US" dirty="0" err="1">
                <a:hlinkClick r:id="rId3"/>
              </a:rPr>
              <a:t>openCypher</a:t>
            </a:r>
            <a:r>
              <a:rPr lang="en-US" dirty="0">
                <a:hlinkClick r:id="rId3"/>
              </a:rPr>
              <a:t> support for KQL graph semantics</a:t>
            </a:r>
            <a:endParaRPr lang="en-US" dirty="0"/>
          </a:p>
          <a:p>
            <a:pPr algn="just"/>
            <a:r>
              <a:rPr lang="en-US" b="1" dirty="0" err="1"/>
              <a:t>openCypher</a:t>
            </a:r>
            <a:r>
              <a:rPr lang="en-US" b="1" dirty="0"/>
              <a:t> now is supported for KQL graph semantics</a:t>
            </a:r>
            <a:r>
              <a:rPr lang="en-US" dirty="0"/>
              <a:t>, bringing the widely adopted open-source graph query language to graph data. </a:t>
            </a:r>
          </a:p>
          <a:p>
            <a:pPr algn="just"/>
            <a:r>
              <a:rPr lang="en-US" dirty="0"/>
              <a:t>This update allows to run </a:t>
            </a:r>
            <a:r>
              <a:rPr lang="en-US" dirty="0" err="1"/>
              <a:t>openCypher</a:t>
            </a:r>
            <a:r>
              <a:rPr lang="en-US" dirty="0"/>
              <a:t> queries on any Fabric </a:t>
            </a:r>
            <a:r>
              <a:rPr lang="en-US" dirty="0" err="1"/>
              <a:t>Eventhouse</a:t>
            </a:r>
            <a:r>
              <a:rPr lang="en-US" dirty="0"/>
              <a:t> or Azure Data Explorer, making it easier to work with graph data using a popular, declarative pattern matching syntax.</a:t>
            </a:r>
          </a:p>
          <a:p>
            <a:pPr algn="just"/>
            <a:r>
              <a:rPr lang="en-US" dirty="0" err="1"/>
              <a:t>openCypher</a:t>
            </a:r>
            <a:r>
              <a:rPr lang="en-US" dirty="0"/>
              <a:t> provides ASCII-art style pattern matching that intuitively represents graph relationships, making complex graph queries more readable and easier to write.</a:t>
            </a:r>
          </a:p>
        </p:txBody>
      </p:sp>
    </p:spTree>
    <p:extLst>
      <p:ext uri="{BB962C8B-B14F-4D97-AF65-F5344CB8AC3E}">
        <p14:creationId xmlns:p14="http://schemas.microsoft.com/office/powerpoint/2010/main" val="66922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92858F-A3B9-91F1-28A0-3644F45267D4}"/>
              </a:ext>
            </a:extLst>
          </p:cNvPr>
          <p:cNvSpPr>
            <a:spLocks noGrp="1"/>
          </p:cNvSpPr>
          <p:nvPr>
            <p:ph type="body" sz="quarter" idx="10"/>
          </p:nvPr>
        </p:nvSpPr>
        <p:spPr/>
        <p:txBody>
          <a:bodyPr/>
          <a:lstStyle/>
          <a:p>
            <a:pPr marL="171450" indent="-171450">
              <a:buFont typeface="Arial" panose="020B0604020202020204" pitchFamily="34" charset="0"/>
              <a:buChar char="•"/>
            </a:pPr>
            <a:r>
              <a:rPr lang="en-US" sz="1000" dirty="0"/>
              <a:t>Artifact Streaming (preview) isn't supported with Flatcar Container Linux.</a:t>
            </a:r>
          </a:p>
          <a:p>
            <a:pPr marL="171450" indent="-171450">
              <a:buFont typeface="Arial" panose="020B0604020202020204" pitchFamily="34" charset="0"/>
              <a:buChar char="•"/>
            </a:pPr>
            <a:r>
              <a:rPr lang="en-US" sz="1000" dirty="0"/>
              <a:t>Generation 1 VMs aren't supported with Flatcar Container Linux, which means you can't use VM sizes that only support Generation 1.</a:t>
            </a:r>
          </a:p>
          <a:p>
            <a:pPr marL="171450" indent="-171450">
              <a:buFont typeface="Arial" panose="020B0604020202020204" pitchFamily="34" charset="0"/>
              <a:buChar char="•"/>
            </a:pPr>
            <a:r>
              <a:rPr lang="en-US" sz="1000" dirty="0"/>
              <a:t>Pod Sandboxing (preview) isn't supported with Flatcar Container Linux.</a:t>
            </a:r>
          </a:p>
          <a:p>
            <a:pPr marL="171450" indent="-171450">
              <a:buFont typeface="Arial" panose="020B0604020202020204" pitchFamily="34" charset="0"/>
              <a:buChar char="•"/>
            </a:pPr>
            <a:r>
              <a:rPr lang="en-US" sz="1000" dirty="0"/>
              <a:t>Node auto-provisioning isn't supported with Flatcar Container Linux.</a:t>
            </a:r>
          </a:p>
          <a:p>
            <a:pPr marL="171450" indent="-171450">
              <a:buFont typeface="Arial" panose="020B0604020202020204" pitchFamily="34" charset="0"/>
              <a:buChar char="•"/>
            </a:pPr>
            <a:r>
              <a:rPr lang="en-US" sz="1000" dirty="0"/>
              <a:t>Azure Monitor VM(SS) extension isn't supported.</a:t>
            </a:r>
          </a:p>
          <a:p>
            <a:pPr marL="171450" indent="-171450">
              <a:buFont typeface="Arial" panose="020B0604020202020204" pitchFamily="34" charset="0"/>
              <a:buChar char="•"/>
            </a:pPr>
            <a:endParaRPr lang="en-US" sz="1000" dirty="0"/>
          </a:p>
        </p:txBody>
      </p:sp>
      <p:sp>
        <p:nvSpPr>
          <p:cNvPr id="3" name="Title 2">
            <a:extLst>
              <a:ext uri="{FF2B5EF4-FFF2-40B4-BE49-F238E27FC236}">
                <a16:creationId xmlns:a16="http://schemas.microsoft.com/office/drawing/2014/main" id="{12D23EFF-FB4B-1E73-0B66-4F92BE8FB1A8}"/>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869BDFB1-0796-6A0E-80A9-46CE8E64CD0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D8B2341-EA2C-F0F9-AC6F-45A0F7B56ACD}"/>
              </a:ext>
            </a:extLst>
          </p:cNvPr>
          <p:cNvSpPr>
            <a:spLocks noGrp="1"/>
          </p:cNvSpPr>
          <p:nvPr>
            <p:ph type="body" sz="quarter" idx="16"/>
          </p:nvPr>
        </p:nvSpPr>
        <p:spPr>
          <a:xfrm>
            <a:off x="342900" y="855080"/>
            <a:ext cx="3955312" cy="3827756"/>
          </a:xfrm>
        </p:spPr>
        <p:txBody>
          <a:bodyPr/>
          <a:lstStyle/>
          <a:p>
            <a:pPr algn="just"/>
            <a:r>
              <a:rPr lang="en-US" dirty="0">
                <a:hlinkClick r:id="rId2"/>
              </a:rPr>
              <a:t>Public Preview: Flatcar Container Linux for AKS</a:t>
            </a:r>
            <a:endParaRPr lang="en-US" dirty="0"/>
          </a:p>
          <a:p>
            <a:pPr algn="just"/>
            <a:r>
              <a:rPr lang="en-US" dirty="0"/>
              <a:t>Azure Kubernetes Service now supports </a:t>
            </a:r>
            <a:r>
              <a:rPr lang="en-US" b="1" dirty="0"/>
              <a:t>Flatcar Container Linux in public preview</a:t>
            </a:r>
            <a:r>
              <a:rPr lang="en-US" dirty="0"/>
              <a:t>. Flatcar uses an immutable OS filesystem, and it eliminates configuration drift and prevents unauthorized changes, ensuring robust protection for your workloads across multiple cloud platforms. Designed for versatility, Flatcar enables cross-cloud deployment, empowering businesses to scale effortlessly and securely.</a:t>
            </a:r>
          </a:p>
          <a:p>
            <a:pPr algn="just"/>
            <a:r>
              <a:rPr lang="en-US" dirty="0"/>
              <a:t>As a Cloud Native Compute Foundation (CNCF) </a:t>
            </a:r>
            <a:r>
              <a:rPr lang="en-US" b="1" dirty="0"/>
              <a:t>project, Flatcar also supports cross-cloud deployment, </a:t>
            </a:r>
            <a:r>
              <a:rPr lang="en-US" dirty="0"/>
              <a:t>making it a strong choice for organizations seeking enhanced security and operational efficiency across diverse environments.</a:t>
            </a:r>
          </a:p>
          <a:p>
            <a:pPr algn="just"/>
            <a:r>
              <a:rPr lang="en-US" dirty="0"/>
              <a:t>Flatcar Container Linux for AKS has the following limitations:</a:t>
            </a:r>
          </a:p>
          <a:p>
            <a:pPr marL="171450" indent="-171450" algn="just">
              <a:buFont typeface="Arial" panose="020B0604020202020204" pitchFamily="34" charset="0"/>
              <a:buChar char="•"/>
            </a:pPr>
            <a:r>
              <a:rPr lang="en-US" dirty="0"/>
              <a:t>FIPS isn't supported with Flatcar Container Linux.</a:t>
            </a:r>
          </a:p>
          <a:p>
            <a:pPr marL="171450" indent="-171450" algn="just">
              <a:buFont typeface="Arial" panose="020B0604020202020204" pitchFamily="34" charset="0"/>
              <a:buChar char="•"/>
            </a:pPr>
            <a:r>
              <a:rPr lang="en-US" dirty="0"/>
              <a:t>Trusted Launch isn't supported with Flatcar Container Linux.</a:t>
            </a:r>
          </a:p>
          <a:p>
            <a:pPr marL="171450" indent="-171450" algn="just">
              <a:buFont typeface="Arial" panose="020B0604020202020204" pitchFamily="34" charset="0"/>
              <a:buChar char="•"/>
            </a:pPr>
            <a:r>
              <a:rPr lang="en-US" dirty="0"/>
              <a:t>Confidential VM sizes aren't supported with Flatcar Container Linux.</a:t>
            </a:r>
          </a:p>
          <a:p>
            <a:pPr marL="171450" indent="-171450" algn="just">
              <a:buFont typeface="Arial" panose="020B0604020202020204" pitchFamily="34" charset="0"/>
              <a:buChar char="•"/>
            </a:pPr>
            <a:r>
              <a:rPr lang="en-US" dirty="0"/>
              <a:t>The </a:t>
            </a:r>
            <a:r>
              <a:rPr lang="en-US" dirty="0" err="1"/>
              <a:t>SecurityPatch</a:t>
            </a:r>
            <a:r>
              <a:rPr lang="en-US" dirty="0"/>
              <a:t> node OS upgrade channel isn't supported with Flatcar Container Linux.</a:t>
            </a:r>
          </a:p>
          <a:p>
            <a:pPr marL="171450" indent="-171450" algn="just">
              <a:buFont typeface="Arial" panose="020B0604020202020204" pitchFamily="34" charset="0"/>
              <a:buChar char="•"/>
            </a:pPr>
            <a:r>
              <a:rPr lang="en-US" dirty="0"/>
              <a:t>During preview, AKS doesn't support in-place updates with Flatcar Container Linux.</a:t>
            </a:r>
          </a:p>
        </p:txBody>
      </p:sp>
    </p:spTree>
    <p:extLst>
      <p:ext uri="{BB962C8B-B14F-4D97-AF65-F5344CB8AC3E}">
        <p14:creationId xmlns:p14="http://schemas.microsoft.com/office/powerpoint/2010/main" val="160705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36F3BB-6CAE-F39F-A778-74D497616B30}"/>
              </a:ext>
            </a:extLst>
          </p:cNvPr>
          <p:cNvSpPr>
            <a:spLocks noGrp="1"/>
          </p:cNvSpPr>
          <p:nvPr>
            <p:ph type="body" sz="quarter" idx="10"/>
          </p:nvPr>
        </p:nvSpPr>
        <p:spPr>
          <a:xfrm>
            <a:off x="4433776" y="855080"/>
            <a:ext cx="4365038" cy="1895047"/>
          </a:xfrm>
        </p:spPr>
        <p:txBody>
          <a:bodyPr/>
          <a:lstStyle/>
          <a:p>
            <a:pPr algn="just"/>
            <a:r>
              <a:rPr lang="en-US" sz="1000" dirty="0">
                <a:hlinkClick r:id="rId2"/>
              </a:rPr>
              <a:t>Public Preview: Scheduler profile configuration for AKS</a:t>
            </a:r>
            <a:endParaRPr lang="en-US" sz="1000" dirty="0"/>
          </a:p>
          <a:p>
            <a:pPr algn="just"/>
            <a:r>
              <a:rPr lang="en-US" sz="1000" dirty="0"/>
              <a:t>This new capability enables users to customize </a:t>
            </a:r>
            <a:r>
              <a:rPr lang="en-US" sz="1000" b="1" dirty="0"/>
              <a:t>scheduling behavior and define workload priorities across specific nodes or the entire cluster</a:t>
            </a:r>
            <a:r>
              <a:rPr lang="en-US" sz="1000" dirty="0"/>
              <a:t>. It’s especially beneficial for advanced scenarios such as data processing, AI/ML, and cost-optimized workload distribution.</a:t>
            </a:r>
          </a:p>
          <a:p>
            <a:pPr algn="just"/>
            <a:r>
              <a:rPr lang="en-US" sz="1000" dirty="0"/>
              <a:t>A scheduler profile is a set of one or more in-tree scheduling plugins and configurations that dictate how to schedule a pod. Previously, AKS managed the scheduler configuration, and it wasn't accessible to users. Starting from Kubernetes version 1.33, it is now possible to configure and set a scheduler profile (preview) for the Kubernetes scheduler on your cluster.</a:t>
            </a:r>
          </a:p>
        </p:txBody>
      </p:sp>
      <p:sp>
        <p:nvSpPr>
          <p:cNvPr id="3" name="Title 2">
            <a:extLst>
              <a:ext uri="{FF2B5EF4-FFF2-40B4-BE49-F238E27FC236}">
                <a16:creationId xmlns:a16="http://schemas.microsoft.com/office/drawing/2014/main" id="{ECC21D87-6422-DE71-3F06-B053EEED5153}"/>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E445404C-D002-532B-F389-C06636D508A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2059608-B257-3108-F757-836356F158D5}"/>
              </a:ext>
            </a:extLst>
          </p:cNvPr>
          <p:cNvSpPr>
            <a:spLocks noGrp="1"/>
          </p:cNvSpPr>
          <p:nvPr>
            <p:ph type="body" sz="quarter" idx="16"/>
          </p:nvPr>
        </p:nvSpPr>
        <p:spPr/>
        <p:txBody>
          <a:bodyPr/>
          <a:lstStyle/>
          <a:p>
            <a:pPr algn="just"/>
            <a:r>
              <a:rPr lang="en-US" dirty="0">
                <a:hlinkClick r:id="rId3"/>
              </a:rPr>
              <a:t>Public Preview: Agentic CLI for AKS</a:t>
            </a:r>
            <a:endParaRPr lang="en-US" dirty="0"/>
          </a:p>
          <a:p>
            <a:pPr algn="just"/>
            <a:r>
              <a:rPr lang="en-US" dirty="0"/>
              <a:t>This new capability brings agentic reasoning directly into the Azure CLI, allowing developers </a:t>
            </a:r>
            <a:r>
              <a:rPr lang="en-US" b="1" dirty="0"/>
              <a:t>and operators to interact with their clusters using natural language. </a:t>
            </a:r>
            <a:r>
              <a:rPr lang="en-US" dirty="0"/>
              <a:t>By describing an issue or query, users can trigger an intelligent agentic loop that gathers signals from multiple sources, analyzes diagnostics, identifies health issues and root causes, and provides actionable recommendations. The CLI agent also integrates with the AKS MCP server and can seamlessly create and manage an Azure OpenAI instance, though it supports any LLM provider. </a:t>
            </a:r>
          </a:p>
          <a:p>
            <a:pPr algn="just"/>
            <a:r>
              <a:rPr lang="en-US" dirty="0"/>
              <a:t>Powered by </a:t>
            </a:r>
            <a:r>
              <a:rPr lang="en-US" b="1" dirty="0" err="1"/>
              <a:t>HolmesGPT</a:t>
            </a:r>
            <a:r>
              <a:rPr lang="en-US" b="1" dirty="0"/>
              <a:t>—an open-source project co-maintained </a:t>
            </a:r>
            <a:r>
              <a:rPr lang="en-US" dirty="0"/>
              <a:t>by the AKS team and under review for CNCF Sandbox—this feature is now available in public preview.</a:t>
            </a:r>
          </a:p>
        </p:txBody>
      </p:sp>
      <p:pic>
        <p:nvPicPr>
          <p:cNvPr id="7" name="Picture 6">
            <a:extLst>
              <a:ext uri="{FF2B5EF4-FFF2-40B4-BE49-F238E27FC236}">
                <a16:creationId xmlns:a16="http://schemas.microsoft.com/office/drawing/2014/main" id="{A5269ADB-3169-2278-7A01-858F392A93D7}"/>
              </a:ext>
            </a:extLst>
          </p:cNvPr>
          <p:cNvPicPr>
            <a:picLocks noChangeAspect="1"/>
          </p:cNvPicPr>
          <p:nvPr/>
        </p:nvPicPr>
        <p:blipFill>
          <a:blip r:embed="rId4"/>
          <a:stretch>
            <a:fillRect/>
          </a:stretch>
        </p:blipFill>
        <p:spPr>
          <a:xfrm>
            <a:off x="342900" y="3105149"/>
            <a:ext cx="3872888" cy="1183271"/>
          </a:xfrm>
          <a:prstGeom prst="rect">
            <a:avLst/>
          </a:prstGeom>
        </p:spPr>
      </p:pic>
    </p:spTree>
    <p:extLst>
      <p:ext uri="{BB962C8B-B14F-4D97-AF65-F5344CB8AC3E}">
        <p14:creationId xmlns:p14="http://schemas.microsoft.com/office/powerpoint/2010/main" val="207024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8334ED-CD81-E137-7F50-1B5709B819F2}"/>
              </a:ext>
            </a:extLst>
          </p:cNvPr>
          <p:cNvSpPr>
            <a:spLocks noGrp="1"/>
          </p:cNvSpPr>
          <p:nvPr>
            <p:ph type="body" sz="quarter" idx="10"/>
          </p:nvPr>
        </p:nvSpPr>
        <p:spPr/>
        <p:txBody>
          <a:bodyPr/>
          <a:lstStyle/>
          <a:p>
            <a:r>
              <a:rPr lang="en-US" sz="1000" dirty="0">
                <a:hlinkClick r:id="rId2"/>
              </a:rPr>
              <a:t>Public Preview: Pod CIDR expansion in Azure CNI Overlay for AKS</a:t>
            </a:r>
            <a:endParaRPr lang="en-US" sz="1000" dirty="0"/>
          </a:p>
          <a:p>
            <a:pPr algn="just"/>
            <a:r>
              <a:rPr lang="en-US" sz="1000" dirty="0"/>
              <a:t>To meet the growing demands of dynamic and large-scale Kubernetes workloads, Azure Kubernetes Service now </a:t>
            </a:r>
            <a:r>
              <a:rPr lang="en-US" sz="1000" b="1" dirty="0"/>
              <a:t>offers Pod CIDR Expansion in public preview for clusters using Azure CNI Overlay. </a:t>
            </a:r>
            <a:r>
              <a:rPr lang="en-US" sz="1000" dirty="0"/>
              <a:t>While Azure CNI Overlay already delivers scalable pod IP address management via a logical overlay network, many enterprise customers require additional flexibility to support evolving business needs. </a:t>
            </a:r>
          </a:p>
          <a:p>
            <a:pPr algn="just"/>
            <a:r>
              <a:rPr lang="en-US" sz="1000" dirty="0"/>
              <a:t>This new </a:t>
            </a:r>
            <a:r>
              <a:rPr lang="en-US" sz="1000" b="1" dirty="0"/>
              <a:t>capability allows users to expand existing pod CIDR ranges, enhancing both scalability and adaptability for workloads that require more IP space.</a:t>
            </a:r>
            <a:r>
              <a:rPr lang="en-US" sz="1000" dirty="0"/>
              <a:t> The preview currently supports CIDR range expansion only, enabling organizations to better manage IP allocation without redeploying clusters. </a:t>
            </a:r>
          </a:p>
        </p:txBody>
      </p:sp>
      <p:sp>
        <p:nvSpPr>
          <p:cNvPr id="3" name="Title 2">
            <a:extLst>
              <a:ext uri="{FF2B5EF4-FFF2-40B4-BE49-F238E27FC236}">
                <a16:creationId xmlns:a16="http://schemas.microsoft.com/office/drawing/2014/main" id="{E32EE0B7-D5BF-0DC4-AFD1-73EBF714ECD0}"/>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4BEEB9E3-A2B3-6A00-CE9B-C7ED941E461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572B2A1-D1F6-355E-EE04-2C86530651DB}"/>
              </a:ext>
            </a:extLst>
          </p:cNvPr>
          <p:cNvSpPr>
            <a:spLocks noGrp="1"/>
          </p:cNvSpPr>
          <p:nvPr>
            <p:ph type="body" sz="quarter" idx="16"/>
          </p:nvPr>
        </p:nvSpPr>
        <p:spPr/>
        <p:txBody>
          <a:bodyPr/>
          <a:lstStyle/>
          <a:p>
            <a:pPr algn="just"/>
            <a:r>
              <a:rPr lang="en-US" dirty="0">
                <a:hlinkClick r:id="rId3"/>
              </a:rPr>
              <a:t>Public Preview: </a:t>
            </a:r>
            <a:r>
              <a:rPr lang="en-US" dirty="0" err="1">
                <a:hlinkClick r:id="rId3"/>
              </a:rPr>
              <a:t>eBPF</a:t>
            </a:r>
            <a:r>
              <a:rPr lang="en-US" dirty="0">
                <a:hlinkClick r:id="rId3"/>
              </a:rPr>
              <a:t> host routing in Advanced Container Networking Services (ACNS) for AKS</a:t>
            </a:r>
            <a:endParaRPr lang="en-US" dirty="0"/>
          </a:p>
          <a:p>
            <a:pPr algn="just"/>
            <a:r>
              <a:rPr lang="en-US" dirty="0"/>
              <a:t>As containerized applications scale across distributed environments, traditional networking approaches can introduce latency and reduce throughput. To address this, Azure CNI powered by Cilium now offers </a:t>
            </a:r>
            <a:r>
              <a:rPr lang="en-US" b="1" dirty="0" err="1"/>
              <a:t>eBPF</a:t>
            </a:r>
            <a:r>
              <a:rPr lang="en-US" b="1" dirty="0"/>
              <a:t> Host Routing in public preview for Azure Kubernetes Service. </a:t>
            </a:r>
          </a:p>
          <a:p>
            <a:pPr algn="just"/>
            <a:r>
              <a:rPr lang="en-US" dirty="0"/>
              <a:t>This feature uses </a:t>
            </a:r>
            <a:r>
              <a:rPr lang="en-US" dirty="0" err="1"/>
              <a:t>eBPF</a:t>
            </a:r>
            <a:r>
              <a:rPr lang="en-US" dirty="0"/>
              <a:t> technology to embed routing logic directly into the Linux kernel, eliminating the need for iptables and reducing reliance on the host network stack. By enabling Cilium to make direct routing decisions, </a:t>
            </a:r>
            <a:r>
              <a:rPr lang="en-US" dirty="0" err="1"/>
              <a:t>eBPF</a:t>
            </a:r>
            <a:r>
              <a:rPr lang="en-US" dirty="0"/>
              <a:t> host routing delivers lower latency, fewer network hops, and higher throughput for Kubernetes clusters. </a:t>
            </a:r>
          </a:p>
        </p:txBody>
      </p:sp>
    </p:spTree>
    <p:extLst>
      <p:ext uri="{BB962C8B-B14F-4D97-AF65-F5344CB8AC3E}">
        <p14:creationId xmlns:p14="http://schemas.microsoft.com/office/powerpoint/2010/main" val="146621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342C63-D336-D310-C1B8-854C289E966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9C0CF629-1FB6-FB7D-A328-75C35BD9BC3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07C2728-7D60-1DB8-5792-A4E15F69D998}"/>
              </a:ext>
            </a:extLst>
          </p:cNvPr>
          <p:cNvSpPr>
            <a:spLocks noGrp="1"/>
          </p:cNvSpPr>
          <p:nvPr>
            <p:ph type="body" sz="quarter" idx="16"/>
          </p:nvPr>
        </p:nvSpPr>
        <p:spPr>
          <a:xfrm>
            <a:off x="342900" y="855080"/>
            <a:ext cx="3955312" cy="2663975"/>
          </a:xfrm>
        </p:spPr>
        <p:txBody>
          <a:bodyPr/>
          <a:lstStyle/>
          <a:p>
            <a:pPr algn="just"/>
            <a:r>
              <a:rPr lang="en-US" dirty="0">
                <a:hlinkClick r:id="rId2"/>
              </a:rPr>
              <a:t>Container Network Metrics Filtering in Azure Container Networking Services (ACNS) for Azure Kubernetes Service (AKS) is now in Public Preview</a:t>
            </a:r>
            <a:endParaRPr lang="en-US" dirty="0"/>
          </a:p>
          <a:p>
            <a:pPr algn="just"/>
            <a:r>
              <a:rPr lang="en-US" dirty="0"/>
              <a:t>Unlike traditional sampling or post-processing, filtering happens at the Cilium agent level—inside the kernel’s data plane.</a:t>
            </a:r>
          </a:p>
          <a:p>
            <a:pPr algn="just"/>
            <a:r>
              <a:rPr lang="en-US" dirty="0"/>
              <a:t>Define filters using the </a:t>
            </a:r>
            <a:r>
              <a:rPr lang="en-US" dirty="0" err="1"/>
              <a:t>ContainerNetworkMetric</a:t>
            </a:r>
            <a:r>
              <a:rPr lang="en-US" dirty="0"/>
              <a:t> Custom Resource to include or exclude metrics such as:</a:t>
            </a:r>
          </a:p>
          <a:p>
            <a:pPr marL="171450" indent="-171450" algn="just">
              <a:buFont typeface="Arial" panose="020B0604020202020204" pitchFamily="34" charset="0"/>
              <a:buChar char="•"/>
            </a:pPr>
            <a:r>
              <a:rPr lang="en-US" dirty="0"/>
              <a:t>DNS lookups</a:t>
            </a:r>
          </a:p>
          <a:p>
            <a:pPr marL="171450" indent="-171450" algn="just">
              <a:buFont typeface="Arial" panose="020B0604020202020204" pitchFamily="34" charset="0"/>
              <a:buChar char="•"/>
            </a:pPr>
            <a:r>
              <a:rPr lang="en-US" dirty="0"/>
              <a:t>TCP connection metrics</a:t>
            </a:r>
          </a:p>
          <a:p>
            <a:pPr marL="171450" indent="-171450" algn="just">
              <a:buFont typeface="Arial" panose="020B0604020202020204" pitchFamily="34" charset="0"/>
              <a:buChar char="•"/>
            </a:pPr>
            <a:r>
              <a:rPr lang="en-US" dirty="0"/>
              <a:t>Flow metrics</a:t>
            </a:r>
          </a:p>
          <a:p>
            <a:pPr marL="171450" indent="-171450" algn="just">
              <a:buFont typeface="Arial" panose="020B0604020202020204" pitchFamily="34" charset="0"/>
              <a:buChar char="•"/>
            </a:pPr>
            <a:r>
              <a:rPr lang="en-US" dirty="0"/>
              <a:t>Drop (error) metrics</a:t>
            </a:r>
          </a:p>
          <a:p>
            <a:pPr algn="just"/>
            <a:r>
              <a:rPr lang="en-US" dirty="0"/>
              <a:t>This reduces data volume before metrics leave the host, ensuring observability tools receive only curated, high-value data.</a:t>
            </a:r>
          </a:p>
        </p:txBody>
      </p:sp>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3774069"/>
          </a:xfrm>
        </p:spPr>
        <p:txBody>
          <a:bodyPr/>
          <a:lstStyle/>
          <a:p>
            <a:pPr algn="just"/>
            <a:r>
              <a:rPr lang="en-US" sz="1000" dirty="0">
                <a:hlinkClick r:id="rId3"/>
              </a:rPr>
              <a:t>Public Preview: Azure Functions zero-downtime deployments with rolling updates in Flex Consumption</a:t>
            </a:r>
            <a:endParaRPr lang="en-US" sz="1000" dirty="0"/>
          </a:p>
          <a:p>
            <a:pPr algn="just"/>
            <a:r>
              <a:rPr lang="en-US" sz="1000" dirty="0"/>
              <a:t>Azure Functions now supports rolling updates in the </a:t>
            </a:r>
            <a:r>
              <a:rPr lang="en-US" sz="1000" b="1" dirty="0"/>
              <a:t>Flex Consumption plan, delivering zero-downtime deployments with a simple configuration change.  </a:t>
            </a:r>
          </a:p>
          <a:p>
            <a:pPr algn="just"/>
            <a:r>
              <a:rPr lang="en-US" sz="1000" dirty="0"/>
              <a:t>Instead of forcefully restarting all instances during code or configuration updates, the platform gracefully replaces live instances by draining batches every few seconds while dynamically scaling out the latest version to meet demand. This approach ensures uninterrupted execution and resilient throughput across HTTP, non-HTTP, and Durable workloads—even during intensive scale-out scenarios. </a:t>
            </a:r>
          </a:p>
          <a:p>
            <a:pPr algn="just"/>
            <a:r>
              <a:rPr lang="en-US" sz="1000" dirty="0"/>
              <a:t>Known limitations: </a:t>
            </a:r>
          </a:p>
          <a:p>
            <a:pPr marL="171450" indent="-171450" algn="just">
              <a:buFont typeface="Arial" panose="020B0604020202020204" pitchFamily="34" charset="0"/>
              <a:buChar char="•"/>
            </a:pPr>
            <a:r>
              <a:rPr lang="en-US" sz="1000" dirty="0"/>
              <a:t>Scale-out issues may occur with low HTTP concurrency; recommended value is 16. </a:t>
            </a:r>
          </a:p>
          <a:p>
            <a:pPr marL="171450" indent="-171450" algn="just">
              <a:buFont typeface="Arial" panose="020B0604020202020204" pitchFamily="34" charset="0"/>
              <a:buChar char="•"/>
            </a:pPr>
            <a:r>
              <a:rPr lang="en-US" sz="1000" dirty="0"/>
              <a:t>Real-time rollout monitoring is not supported; allow up to two minutes for completion. </a:t>
            </a:r>
          </a:p>
          <a:p>
            <a:pPr marL="171450" indent="-171450" algn="just">
              <a:buFont typeface="Arial" panose="020B0604020202020204" pitchFamily="34" charset="0"/>
              <a:buChar char="•"/>
            </a:pPr>
            <a:r>
              <a:rPr lang="en-US" sz="1000" dirty="0"/>
              <a:t>No automatic rollback; intervene by redeploying the last healthy version. </a:t>
            </a:r>
          </a:p>
          <a:p>
            <a:pPr marL="171450" indent="-171450" algn="just">
              <a:buFont typeface="Arial" panose="020B0604020202020204" pitchFamily="34" charset="0"/>
              <a:buChar char="•"/>
            </a:pPr>
            <a:r>
              <a:rPr lang="en-US" sz="1000" dirty="0"/>
              <a:t>Internal details such as batch size and drain intervals are not configurable and are subject to change. </a:t>
            </a:r>
          </a:p>
        </p:txBody>
      </p:sp>
    </p:spTree>
    <p:extLst>
      <p:ext uri="{BB962C8B-B14F-4D97-AF65-F5344CB8AC3E}">
        <p14:creationId xmlns:p14="http://schemas.microsoft.com/office/powerpoint/2010/main" val="381171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RHEL Software Reservations Now Available on Azure with Updated Pricing</a:t>
            </a:r>
            <a:endParaRPr lang="en-US" sz="1000" dirty="0"/>
          </a:p>
          <a:p>
            <a:pPr algn="just"/>
            <a:r>
              <a:rPr lang="en-US" sz="1000" dirty="0"/>
              <a:t>Red Hat Enterprise Linux (RHEL) software reservations </a:t>
            </a:r>
            <a:r>
              <a:rPr lang="en-US" sz="1000" b="1" dirty="0"/>
              <a:t>are now available again for purchase on Azure following important updates to billing </a:t>
            </a:r>
            <a:r>
              <a:rPr lang="en-US" sz="1000" dirty="0"/>
              <a:t>meters and pricing. This update addresses issues with previous billing meters and aligns with Red Hat's new pricing model, ensuring customers can access cost-effective RHEL licensing options with improved accuracy and transparency.</a:t>
            </a:r>
          </a:p>
          <a:p>
            <a:pPr algn="just"/>
            <a:r>
              <a:rPr lang="en-US" sz="1000" dirty="0"/>
              <a:t>The updated billing structure provides clearer pricing visibility and better alignment with Red Hat's current licensing framework, making it easier for organizations to plan and optimize their RHEL deployment costs on Azure. Customers can now confidently purchase RHEL software reservations to reduce their operational expenses while maintaining enterprise-grade Linux capabilities.</a:t>
            </a:r>
          </a:p>
          <a:p>
            <a:pPr algn="just"/>
            <a:r>
              <a:rPr lang="en-US" sz="1000" dirty="0"/>
              <a:t>For detailed information about the billing updates and how to purchase RHEL software reservations, visit the official blog announcement.</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Azure Sphere OS version 25.10 is now available for evaluation</a:t>
            </a:r>
            <a:endParaRPr lang="en-US" dirty="0"/>
          </a:p>
          <a:p>
            <a:pPr algn="just"/>
            <a:r>
              <a:rPr lang="en-US" dirty="0"/>
              <a:t>Azure Sphere </a:t>
            </a:r>
            <a:r>
              <a:rPr lang="en-US" b="1" dirty="0"/>
              <a:t>OS version 25.10 is now available for evaluation in the Retail Eval feed. </a:t>
            </a:r>
            <a:r>
              <a:rPr lang="en-US" dirty="0"/>
              <a:t>The retail evaluation period for this release provides 14 days (about 2 weeks) of testing. During this time, please verify that your applications and devices operate properly with this release before it is deployed broadly to devices in the Retail feed. </a:t>
            </a:r>
          </a:p>
          <a:p>
            <a:pPr algn="just"/>
            <a:r>
              <a:rPr lang="en-US" dirty="0"/>
              <a:t>The 25.10 OS Retail Eval release includes quality and underlying build system updates.</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04CA3D-B880-A651-923B-653C5183D4C5}"/>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6144CB60-7FC8-8CF0-862C-F564477C5936}"/>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7E3B5B2D-BDB6-A210-93E7-558CB157BE4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DC67D7F-416E-C66F-0801-33EE2266CC88}"/>
              </a:ext>
            </a:extLst>
          </p:cNvPr>
          <p:cNvSpPr>
            <a:spLocks noGrp="1"/>
          </p:cNvSpPr>
          <p:nvPr>
            <p:ph type="body" sz="quarter" idx="16"/>
          </p:nvPr>
        </p:nvSpPr>
        <p:spPr>
          <a:xfrm>
            <a:off x="342900" y="855080"/>
            <a:ext cx="3955312" cy="2012811"/>
          </a:xfrm>
        </p:spPr>
        <p:txBody>
          <a:bodyPr/>
          <a:lstStyle/>
          <a:p>
            <a:pPr algn="just"/>
            <a:r>
              <a:rPr lang="en-US" dirty="0">
                <a:hlinkClick r:id="rId2"/>
              </a:rPr>
              <a:t>Azure Container Registry Repository Permissions with Attribute-based Access Control (ABAC)</a:t>
            </a:r>
            <a:endParaRPr lang="en-US" dirty="0"/>
          </a:p>
          <a:p>
            <a:pPr algn="just"/>
            <a:r>
              <a:rPr lang="en-US" dirty="0"/>
              <a:t>Azure Container Registry (ACR) supports repository permissions with </a:t>
            </a:r>
            <a:r>
              <a:rPr lang="en-US" b="1" dirty="0"/>
              <a:t>Microsoft Entra attribute-based access control (ABAC).</a:t>
            </a:r>
          </a:p>
          <a:p>
            <a:pPr algn="just"/>
            <a:r>
              <a:rPr lang="en-US" dirty="0"/>
              <a:t>ABAC augments the familiar Azure RBAC model with namespace and repository-level conditions so platform teams can express least-privilege access at the granularity of specific repositories or entire logical namespaces. This capability is designed for modern multi-tenant platform engineering patterns where a central registry serves many business domains. With ABAC, CI/CD systems and runtime consumers like Azure Kubernetes Service (AKS) clusters have least-privilege access to ACR registries.</a:t>
            </a:r>
          </a:p>
        </p:txBody>
      </p:sp>
      <p:pic>
        <p:nvPicPr>
          <p:cNvPr id="7" name="Picture 6">
            <a:extLst>
              <a:ext uri="{FF2B5EF4-FFF2-40B4-BE49-F238E27FC236}">
                <a16:creationId xmlns:a16="http://schemas.microsoft.com/office/drawing/2014/main" id="{C3B2C8B0-CB16-4880-6C9B-83E7B2A47B88}"/>
              </a:ext>
            </a:extLst>
          </p:cNvPr>
          <p:cNvPicPr>
            <a:picLocks noChangeAspect="1"/>
          </p:cNvPicPr>
          <p:nvPr/>
        </p:nvPicPr>
        <p:blipFill>
          <a:blip r:embed="rId3"/>
          <a:stretch>
            <a:fillRect/>
          </a:stretch>
        </p:blipFill>
        <p:spPr>
          <a:xfrm>
            <a:off x="779921" y="2867891"/>
            <a:ext cx="3425337" cy="2073230"/>
          </a:xfrm>
          <a:prstGeom prst="rect">
            <a:avLst/>
          </a:prstGeom>
        </p:spPr>
      </p:pic>
    </p:spTree>
    <p:extLst>
      <p:ext uri="{BB962C8B-B14F-4D97-AF65-F5344CB8AC3E}">
        <p14:creationId xmlns:p14="http://schemas.microsoft.com/office/powerpoint/2010/main" val="192111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BB7446-7305-3560-2D20-45E229E80F23}"/>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98B65F6F-C29B-1033-C836-AD3A38C0056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34E39B8-77D1-E5F3-FAE8-8B1249E4612B}"/>
              </a:ext>
            </a:extLst>
          </p:cNvPr>
          <p:cNvSpPr>
            <a:spLocks noGrp="1"/>
          </p:cNvSpPr>
          <p:nvPr>
            <p:ph type="body" sz="quarter" idx="16"/>
          </p:nvPr>
        </p:nvSpPr>
        <p:spPr/>
        <p:txBody>
          <a:bodyPr/>
          <a:lstStyle/>
          <a:p>
            <a:pPr algn="just"/>
            <a:r>
              <a:rPr lang="en-US" dirty="0">
                <a:hlinkClick r:id="rId2"/>
              </a:rPr>
              <a:t>Python 3.14 is now available on Azure App Service for Linux</a:t>
            </a:r>
            <a:endParaRPr lang="en-US" dirty="0"/>
          </a:p>
          <a:p>
            <a:pPr algn="just"/>
            <a:r>
              <a:rPr lang="en-US" b="1" dirty="0"/>
              <a:t>Azure App Service for Linux now offers Python 3.14 as a first-class runtime</a:t>
            </a:r>
            <a:r>
              <a:rPr lang="en-US" dirty="0"/>
              <a:t>. It is possible to create a new 3.14 app through the Azure portal, automate it with the Azure CLI, or roll it out using your favorite ARM/Bicep templates — and App Service continues to handle the OS, runtime updates, and patching for you so you can stay focused on code.</a:t>
            </a:r>
          </a:p>
          <a:p>
            <a:pPr algn="just"/>
            <a:r>
              <a:rPr lang="en-US" dirty="0"/>
              <a:t>Python 3.14 (released October 7, 2025) lands with real performance and runtime improvements.</a:t>
            </a:r>
          </a:p>
          <a:p>
            <a:pPr marL="171450" indent="-171450" algn="just">
              <a:buFont typeface="Arial" panose="020B0604020202020204" pitchFamily="34" charset="0"/>
              <a:buChar char="•"/>
            </a:pPr>
            <a:r>
              <a:rPr lang="en-US" dirty="0"/>
              <a:t>Faster under load. Internal interpreter work reduces overhead in common call paths and improves memory behavior, which can translate to lower latency and less CPU churn in web apps and APIs.</a:t>
            </a:r>
          </a:p>
          <a:p>
            <a:pPr marL="171450" indent="-171450" algn="just">
              <a:buFont typeface="Arial" panose="020B0604020202020204" pitchFamily="34" charset="0"/>
              <a:buChar char="•"/>
            </a:pPr>
            <a:r>
              <a:rPr lang="en-US" dirty="0"/>
              <a:t>Smarter concurrency. Python 3.14 continues the rollout of </a:t>
            </a:r>
            <a:r>
              <a:rPr lang="en-US" dirty="0" err="1"/>
              <a:t>subinterpreters</a:t>
            </a:r>
            <a:r>
              <a:rPr lang="en-US" dirty="0"/>
              <a:t> and a free-threaded build (no GIL), making it easier to take advantage of multi-core parallelism for CPU-bound or high-throughput workloads. In 3.14, that free-threaded mode is more mature and shows significantly better multi-threaded performance than earlier releases.</a:t>
            </a:r>
          </a:p>
          <a:p>
            <a:pPr marL="171450" indent="-171450" algn="just">
              <a:buFont typeface="Arial" panose="020B0604020202020204" pitchFamily="34" charset="0"/>
              <a:buChar char="•"/>
            </a:pPr>
            <a:r>
              <a:rPr lang="en-US" dirty="0"/>
              <a:t>Developer quality-of-life. You get a more helpful interactive REPL (better highlighting and error hints), cleaner typing through deferred annotations, and new template string syntax (“t-strings”) for safe, structured interpolation</a:t>
            </a:r>
          </a:p>
        </p:txBody>
      </p:sp>
      <p:sp>
        <p:nvSpPr>
          <p:cNvPr id="2" name="Text Placeholder 1">
            <a:extLst>
              <a:ext uri="{FF2B5EF4-FFF2-40B4-BE49-F238E27FC236}">
                <a16:creationId xmlns:a16="http://schemas.microsoft.com/office/drawing/2014/main" id="{CEB67ECD-2554-9F15-22A2-EA734506FA29}"/>
              </a:ext>
            </a:extLst>
          </p:cNvPr>
          <p:cNvSpPr>
            <a:spLocks noGrp="1"/>
          </p:cNvSpPr>
          <p:nvPr>
            <p:ph type="body" sz="quarter" idx="10"/>
          </p:nvPr>
        </p:nvSpPr>
        <p:spPr>
          <a:xfrm>
            <a:off x="4433776" y="855080"/>
            <a:ext cx="4365038" cy="3774069"/>
          </a:xfrm>
        </p:spPr>
        <p:txBody>
          <a:bodyPr/>
          <a:lstStyle/>
          <a:p>
            <a:pPr algn="just"/>
            <a:r>
              <a:rPr lang="en-US" sz="1000" dirty="0">
                <a:hlinkClick r:id="rId3"/>
              </a:rPr>
              <a:t>Node.js 24 is now available on Azure App Service for Linux</a:t>
            </a:r>
            <a:endParaRPr lang="en-US" sz="1000" dirty="0"/>
          </a:p>
          <a:p>
            <a:pPr algn="just"/>
            <a:r>
              <a:rPr lang="en-US" sz="1000" b="1" dirty="0"/>
              <a:t>Node.js 24 LTS is live on Azure App Service for Linux. </a:t>
            </a:r>
            <a:r>
              <a:rPr lang="en-US" sz="1000" dirty="0"/>
              <a:t>It is possible to create a new Node 24 app through the Azure portal, automate it with the Azure CLI, or roll it out using your favorite ARM/Bicep templates - faster runtime, tighter tooling, same App Service simplicity.</a:t>
            </a:r>
          </a:p>
        </p:txBody>
      </p:sp>
    </p:spTree>
    <p:extLst>
      <p:ext uri="{BB962C8B-B14F-4D97-AF65-F5344CB8AC3E}">
        <p14:creationId xmlns:p14="http://schemas.microsoft.com/office/powerpoint/2010/main" val="219462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ADA8CA-6170-9E2A-352A-02C7D8E4715B}"/>
              </a:ext>
            </a:extLst>
          </p:cNvPr>
          <p:cNvSpPr>
            <a:spLocks noGrp="1"/>
          </p:cNvSpPr>
          <p:nvPr>
            <p:ph type="body" sz="quarter" idx="10"/>
          </p:nvPr>
        </p:nvSpPr>
        <p:spPr/>
        <p:txBody>
          <a:bodyPr/>
          <a:lstStyle/>
          <a:p>
            <a:pPr algn="just"/>
            <a:r>
              <a:rPr lang="en-US" sz="1000" dirty="0">
                <a:hlinkClick r:id="rId2"/>
              </a:rPr>
              <a:t>Announcing General Availability of Larger Container Sizes on Azure Container Instances</a:t>
            </a:r>
            <a:endParaRPr lang="en-US" sz="1000" dirty="0"/>
          </a:p>
          <a:p>
            <a:pPr algn="just"/>
            <a:r>
              <a:rPr lang="en-US" sz="1000" dirty="0"/>
              <a:t>MS announced the general availability of larger </a:t>
            </a:r>
            <a:r>
              <a:rPr lang="en-US" sz="1000" b="1" dirty="0"/>
              <a:t>container sizes on Azure Container Instances (ACI). </a:t>
            </a:r>
            <a:r>
              <a:rPr lang="en-US" sz="1000" dirty="0"/>
              <a:t>Now it is possible to deploy workloads with higher vCPU and memory for standard containers, confidential containers, containers with virtual networks, and containers utilizing virtual nodes to connect to Azure Kubernetes Service (AKS).</a:t>
            </a:r>
          </a:p>
          <a:p>
            <a:pPr algn="just"/>
            <a:r>
              <a:rPr lang="en-US" sz="1000" dirty="0"/>
              <a:t>After improving this feature based on customer feedback, </a:t>
            </a:r>
            <a:r>
              <a:rPr lang="en-US" sz="1000" b="1" dirty="0"/>
              <a:t>ACI now supports vCPU counts greater than 4 and memory capacities of 16 GB</a:t>
            </a:r>
            <a:r>
              <a:rPr lang="en-US" sz="1000" dirty="0"/>
              <a:t>, with a maximum of 31 vCPU and 240 GB for standard containers and a maximum of 31 vCPU and 180 GB for confidential containers. </a:t>
            </a:r>
          </a:p>
        </p:txBody>
      </p:sp>
      <p:sp>
        <p:nvSpPr>
          <p:cNvPr id="3" name="Title 2">
            <a:extLst>
              <a:ext uri="{FF2B5EF4-FFF2-40B4-BE49-F238E27FC236}">
                <a16:creationId xmlns:a16="http://schemas.microsoft.com/office/drawing/2014/main" id="{374DE2DB-838F-B1D7-D728-B53F1FE2F970}"/>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419813DF-69EE-0CA5-A3C3-595CFEEE3379}"/>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txBox="1">
            <a:spLocks/>
          </p:cNvSpPr>
          <p:nvPr/>
        </p:nvSpPr>
        <p:spPr>
          <a:xfrm>
            <a:off x="342900" y="855079"/>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Open Source: Announcing the </a:t>
            </a:r>
            <a:r>
              <a:rPr lang="en-US" dirty="0" err="1">
                <a:hlinkClick r:id="rId3"/>
              </a:rPr>
              <a:t>DocumentDB</a:t>
            </a:r>
            <a:r>
              <a:rPr lang="en-US" dirty="0">
                <a:hlinkClick r:id="rId3"/>
              </a:rPr>
              <a:t> Kubernetes Operator</a:t>
            </a:r>
            <a:endParaRPr lang="en-US" dirty="0"/>
          </a:p>
          <a:p>
            <a:pPr algn="just"/>
            <a:r>
              <a:rPr lang="en-US" dirty="0"/>
              <a:t>Now it is possible to use </a:t>
            </a:r>
            <a:r>
              <a:rPr lang="en-US" b="1" dirty="0"/>
              <a:t>the open-source </a:t>
            </a:r>
            <a:r>
              <a:rPr lang="en-US" b="1" dirty="0" err="1"/>
              <a:t>DocumentDB</a:t>
            </a:r>
            <a:r>
              <a:rPr lang="en-US" b="1" dirty="0"/>
              <a:t> Kubernetes Operator to run </a:t>
            </a:r>
            <a:r>
              <a:rPr lang="en-US" b="1" dirty="0" err="1"/>
              <a:t>DocumentDB</a:t>
            </a:r>
            <a:r>
              <a:rPr lang="en-US" b="1" dirty="0"/>
              <a:t> on Kubernetes</a:t>
            </a:r>
            <a:r>
              <a:rPr lang="en-US" dirty="0"/>
              <a:t>.</a:t>
            </a:r>
          </a:p>
          <a:p>
            <a:pPr algn="just"/>
            <a:r>
              <a:rPr lang="en-US" dirty="0" err="1"/>
              <a:t>DocumentDB</a:t>
            </a:r>
            <a:r>
              <a:rPr lang="en-US" dirty="0"/>
              <a:t> is a Mongo-DB–compatible, open-source document database built on PostgreSQL. The operator extends Kubernetes with custom resource definitions (CRDs) and makes it easier for you to deploy and manage </a:t>
            </a:r>
            <a:r>
              <a:rPr lang="en-US" dirty="0" err="1"/>
              <a:t>DocumentDB</a:t>
            </a:r>
            <a:r>
              <a:rPr lang="en-US" dirty="0"/>
              <a:t> clusters using familiar tools such as </a:t>
            </a:r>
            <a:r>
              <a:rPr lang="en-US" dirty="0" err="1"/>
              <a:t>kubectl</a:t>
            </a:r>
            <a:r>
              <a:rPr lang="en-US" dirty="0"/>
              <a:t> and Helm. </a:t>
            </a:r>
          </a:p>
        </p:txBody>
      </p:sp>
    </p:spTree>
    <p:extLst>
      <p:ext uri="{BB962C8B-B14F-4D97-AF65-F5344CB8AC3E}">
        <p14:creationId xmlns:p14="http://schemas.microsoft.com/office/powerpoint/2010/main" val="319181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D0D8B4-18D9-C37D-E75C-586399DD759E}"/>
              </a:ext>
            </a:extLst>
          </p:cNvPr>
          <p:cNvSpPr>
            <a:spLocks noGrp="1"/>
          </p:cNvSpPr>
          <p:nvPr>
            <p:ph type="body" sz="quarter" idx="10"/>
          </p:nvPr>
        </p:nvSpPr>
        <p:spPr>
          <a:xfrm>
            <a:off x="4433776" y="855080"/>
            <a:ext cx="4365038" cy="2206775"/>
          </a:xfrm>
        </p:spPr>
        <p:txBody>
          <a:bodyPr/>
          <a:lstStyle/>
          <a:p>
            <a:pPr algn="just"/>
            <a:r>
              <a:rPr lang="en-US" sz="1000" dirty="0">
                <a:hlinkClick r:id="rId2"/>
              </a:rPr>
              <a:t>Generally Available: </a:t>
            </a:r>
            <a:r>
              <a:rPr lang="en-US" sz="1000" dirty="0" err="1">
                <a:hlinkClick r:id="rId2"/>
              </a:rPr>
              <a:t>LocalDNS</a:t>
            </a:r>
            <a:r>
              <a:rPr lang="en-US" sz="1000" dirty="0">
                <a:hlinkClick r:id="rId2"/>
              </a:rPr>
              <a:t> for AKS</a:t>
            </a:r>
            <a:endParaRPr lang="en-US" sz="1000" dirty="0"/>
          </a:p>
          <a:p>
            <a:pPr algn="just"/>
            <a:r>
              <a:rPr lang="en-US" sz="1000" dirty="0"/>
              <a:t>Large-scale Kubernetes clusters often face DNS resolution delays and reliability issues, especially during upstream outages or high query volumes. To address this, Azure </a:t>
            </a:r>
            <a:r>
              <a:rPr lang="en-US" sz="1000" b="1" dirty="0"/>
              <a:t>Kubernetes Service (AKS) now offers </a:t>
            </a:r>
            <a:r>
              <a:rPr lang="en-US" sz="1000" b="1" dirty="0" err="1"/>
              <a:t>LocalDNS</a:t>
            </a:r>
            <a:r>
              <a:rPr lang="en-US" sz="1000" b="1" dirty="0"/>
              <a:t>, a feature that is generally available. </a:t>
            </a:r>
          </a:p>
          <a:p>
            <a:pPr algn="just"/>
            <a:r>
              <a:rPr lang="en-US" sz="1000" dirty="0" err="1"/>
              <a:t>LocalDNS</a:t>
            </a:r>
            <a:r>
              <a:rPr lang="en-US" sz="1000" dirty="0"/>
              <a:t> deploys </a:t>
            </a:r>
            <a:r>
              <a:rPr lang="en-US" sz="1000" b="1" dirty="0"/>
              <a:t>a DNS proxy on each node</a:t>
            </a:r>
            <a:r>
              <a:rPr lang="en-US" sz="1000" dirty="0"/>
              <a:t>, enabling faster and more reliable DNS resolution by handling queries locally. </a:t>
            </a:r>
            <a:r>
              <a:rPr lang="en-US" sz="1000" b="1" dirty="0"/>
              <a:t>This eliminates bottlenecks, reduces latency, and ensures continued resolution even during upstream DNS outages through configurable serve-stale settings. </a:t>
            </a:r>
          </a:p>
          <a:p>
            <a:pPr algn="just"/>
            <a:r>
              <a:rPr lang="en-US" sz="1000" dirty="0"/>
              <a:t>With no application-level changes required, </a:t>
            </a:r>
            <a:r>
              <a:rPr lang="en-US" sz="1000" b="1" dirty="0" err="1"/>
              <a:t>LocalDNS</a:t>
            </a:r>
            <a:r>
              <a:rPr lang="en-US" sz="1000" b="1" dirty="0"/>
              <a:t> delivers immediate performance improvements and supports advanced DNS customization </a:t>
            </a:r>
            <a:r>
              <a:rPr lang="en-US" sz="1000" dirty="0"/>
              <a:t>for both internal and external domains. </a:t>
            </a:r>
          </a:p>
        </p:txBody>
      </p:sp>
      <p:sp>
        <p:nvSpPr>
          <p:cNvPr id="3" name="Title 2">
            <a:extLst>
              <a:ext uri="{FF2B5EF4-FFF2-40B4-BE49-F238E27FC236}">
                <a16:creationId xmlns:a16="http://schemas.microsoft.com/office/drawing/2014/main" id="{D1D9915F-7E91-8D59-E07D-AA77270D69E6}"/>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E55ED745-D6E7-BABB-2FD8-5FC0FA708D7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3F5612B-C2CB-783B-3602-A4F5FD77C7CC}"/>
              </a:ext>
            </a:extLst>
          </p:cNvPr>
          <p:cNvSpPr>
            <a:spLocks noGrp="1"/>
          </p:cNvSpPr>
          <p:nvPr>
            <p:ph type="body" sz="quarter" idx="16"/>
          </p:nvPr>
        </p:nvSpPr>
        <p:spPr/>
        <p:txBody>
          <a:bodyPr/>
          <a:lstStyle/>
          <a:p>
            <a:pPr algn="just"/>
            <a:r>
              <a:rPr lang="en-US" dirty="0">
                <a:hlinkClick r:id="rId3"/>
              </a:rPr>
              <a:t>Generally Available: Azure HBv5-series VMs</a:t>
            </a:r>
            <a:endParaRPr lang="en-US" dirty="0"/>
          </a:p>
          <a:p>
            <a:pPr algn="just"/>
            <a:r>
              <a:rPr lang="en-US" dirty="0"/>
              <a:t>Azure </a:t>
            </a:r>
            <a:r>
              <a:rPr lang="en-US" b="1" dirty="0"/>
              <a:t>HBv5-series VM is now generally available in the Azure South Central US region. </a:t>
            </a:r>
            <a:r>
              <a:rPr lang="en-US" dirty="0"/>
              <a:t>HBv5 VMs are optimized for memory bandwidth-intensive HPC applications, such as computational fluid dynamics, automotive and aerospace simulations, weather modeling, energy research, molecular dynamics, computer-aided engineering, and more. </a:t>
            </a:r>
            <a:r>
              <a:rPr lang="en-US" b="1" dirty="0"/>
              <a:t>HBv5 VMs feature 6.7 TB/s of memory bandwidth across 450 GB (438 GiB) of memory (HBM) capacity. </a:t>
            </a:r>
          </a:p>
          <a:p>
            <a:pPr algn="just"/>
            <a:r>
              <a:rPr lang="en-US" dirty="0"/>
              <a:t>Also included are 368 4th Generation EPYC™ processor cores with a 3.5 GHz base frequency, 4 GHz boost frequency, and no simultaneous multithreading. HBv5-series VMs also provide 800 Gb/s of InfiniBand from NVIDIA Networking to enable supercomputer-scale MPI workloads, and 15 TiB of local </a:t>
            </a:r>
            <a:r>
              <a:rPr lang="en-US" dirty="0" err="1"/>
              <a:t>NVMe</a:t>
            </a:r>
            <a:r>
              <a:rPr lang="en-US" dirty="0"/>
              <a:t> SSD storage with up to 50 GB/s (reads) and 30 GB/s (writes) of block device performance.</a:t>
            </a:r>
          </a:p>
        </p:txBody>
      </p:sp>
      <p:pic>
        <p:nvPicPr>
          <p:cNvPr id="3074" name="Picture 2" descr="Diagram that shows LocalDNS architecture.">
            <a:extLst>
              <a:ext uri="{FF2B5EF4-FFF2-40B4-BE49-F238E27FC236}">
                <a16:creationId xmlns:a16="http://schemas.microsoft.com/office/drawing/2014/main" id="{76673E39-8B51-5551-B840-DE580F652B9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8552" y="3061855"/>
            <a:ext cx="2896202" cy="2012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61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B75885-184B-97E0-4CC0-E2E141E54F80}"/>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2C653E2B-F31C-20AC-7F04-9BEF8136DBAC}"/>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7C6E699-3B1E-732A-E858-2C3AAD9052F3}"/>
              </a:ext>
            </a:extLst>
          </p:cNvPr>
          <p:cNvSpPr>
            <a:spLocks noGrp="1"/>
          </p:cNvSpPr>
          <p:nvPr>
            <p:ph type="body" sz="quarter" idx="16"/>
          </p:nvPr>
        </p:nvSpPr>
        <p:spPr>
          <a:xfrm>
            <a:off x="342900" y="855080"/>
            <a:ext cx="3955312" cy="1586279"/>
          </a:xfrm>
        </p:spPr>
        <p:txBody>
          <a:bodyPr/>
          <a:lstStyle/>
          <a:p>
            <a:r>
              <a:rPr lang="en-US" dirty="0">
                <a:hlinkClick r:id="rId2"/>
              </a:rPr>
              <a:t>Layer 7 Network Policies for AKS: Now Generally Available for Production Security and Observability!</a:t>
            </a:r>
            <a:endParaRPr lang="en-US" dirty="0"/>
          </a:p>
          <a:p>
            <a:pPr algn="just"/>
            <a:r>
              <a:rPr lang="en-US" dirty="0"/>
              <a:t>Microsoft has announced that </a:t>
            </a:r>
            <a:r>
              <a:rPr lang="en-US" b="1" dirty="0"/>
              <a:t>Layer 7 Network Policies, powered by Cilium and ACNS (Advanced Container Networking Services), are now generally available (GA) for production use in AKS. </a:t>
            </a:r>
          </a:p>
          <a:p>
            <a:pPr algn="just"/>
            <a:r>
              <a:rPr lang="en-US" dirty="0"/>
              <a:t>This means it is possible to now enforce application-layer (HTTP/HTTPS) controls such as “only allow GET requests to /</a:t>
            </a:r>
            <a:r>
              <a:rPr lang="en-US" dirty="0" err="1"/>
              <a:t>api</a:t>
            </a:r>
            <a:r>
              <a:rPr lang="en-US" dirty="0"/>
              <a:t>/inventory/…” rather than just port/port-range rules.</a:t>
            </a:r>
          </a:p>
        </p:txBody>
      </p:sp>
    </p:spTree>
    <p:extLst>
      <p:ext uri="{BB962C8B-B14F-4D97-AF65-F5344CB8AC3E}">
        <p14:creationId xmlns:p14="http://schemas.microsoft.com/office/powerpoint/2010/main" val="104530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r>
              <a:rPr lang="en-US" sz="1000" dirty="0">
                <a:hlinkClick r:id="rId2"/>
              </a:rPr>
              <a:t>Retirement: Support for Python 3.10 ends on October 1st, 2026</a:t>
            </a:r>
            <a:endParaRPr lang="en-US" sz="1000" dirty="0"/>
          </a:p>
          <a:p>
            <a:r>
              <a:rPr lang="en-US" sz="1000" dirty="0"/>
              <a:t>On October 1, </a:t>
            </a:r>
            <a:r>
              <a:rPr lang="en-US" sz="1000" b="1" dirty="0"/>
              <a:t>2026 extended support for Python 3.10 will end. </a:t>
            </a:r>
          </a:p>
          <a:p>
            <a:r>
              <a:rPr lang="en-US" sz="1000" dirty="0"/>
              <a:t>To avoid potential security vulnerabilities and minimize risk for App Service apps, migrate app to Python 3.11 before October 1, 2026. </a:t>
            </a:r>
          </a:p>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Retirement: Support for Node.js 20 ends on April 30, 2026 – upgrade your apps to Node.js 22</a:t>
            </a:r>
            <a:endParaRPr lang="en-US" dirty="0"/>
          </a:p>
          <a:p>
            <a:pPr algn="just"/>
            <a:r>
              <a:rPr lang="en-US" dirty="0"/>
              <a:t>In alignment with the end of community support, </a:t>
            </a:r>
            <a:r>
              <a:rPr lang="en-US" b="1" dirty="0"/>
              <a:t>on April 30, 2026, support for Node.js 20 in Azure Functions will end</a:t>
            </a:r>
            <a:r>
              <a:rPr lang="en-US" dirty="0"/>
              <a:t>. Your apps that are hosted on Functions will continue to run, but security updates and performance optimizations will no longer be available and we'll no longer provide customer support for Node.js 20.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883665"/>
          </a:xfrm>
        </p:spPr>
        <p:txBody>
          <a:bodyPr/>
          <a:lstStyle/>
          <a:p>
            <a:r>
              <a:rPr lang="en-US" sz="1000" b="1" dirty="0"/>
              <a:t>Cache volumes support both reads and writes. </a:t>
            </a:r>
            <a:r>
              <a:rPr lang="en-US" sz="1000" dirty="0"/>
              <a:t>New data saved to the cache volume is asynchronously written back to the origin, ensuring the origin remains the authoritative copy. This write-back caching provides near-local write latency, even when the primary storage is in a remote location</a:t>
            </a:r>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770356"/>
          </a:xfrm>
        </p:spPr>
        <p:txBody>
          <a:bodyPr/>
          <a:lstStyle/>
          <a:p>
            <a:pPr algn="just"/>
            <a:r>
              <a:rPr lang="en-US" dirty="0">
                <a:hlinkClick r:id="rId2"/>
              </a:rPr>
              <a:t>Public Preview: </a:t>
            </a:r>
            <a:r>
              <a:rPr lang="fr-FR" dirty="0">
                <a:hlinkClick r:id="rId2"/>
              </a:rPr>
              <a:t>Azure NetApp Files cache volumes</a:t>
            </a:r>
            <a:endParaRPr lang="fr-FR" dirty="0"/>
          </a:p>
          <a:p>
            <a:pPr algn="just"/>
            <a:r>
              <a:rPr lang="en-US" dirty="0"/>
              <a:t>Azure NetApp Files cache volumes enable to create a cloud-based cache of external NetApp ONTAP and Cloud Volumes ONTAP storage volumes in Azure. Caching active ("hot") data closer to users and cloud applications improves data access speeds and throughput over WAN connections. This results in cost-effective, low-latency remote access to important files. In practical terms, allow to burst on-premises datasets to Azure with near-local performance—ideal for running computational workloads in Azure on on-premises data or enabling globally distributed teams to collaborate without lengthy file transfer delays.</a:t>
            </a:r>
          </a:p>
          <a:p>
            <a:pPr algn="just"/>
            <a:endParaRPr lang="en-US" dirty="0"/>
          </a:p>
        </p:txBody>
      </p:sp>
      <p:pic>
        <p:nvPicPr>
          <p:cNvPr id="2050" name="Picture 2" descr="Screenshot that shows the architecture of cache volumes.">
            <a:extLst>
              <a:ext uri="{FF2B5EF4-FFF2-40B4-BE49-F238E27FC236}">
                <a16:creationId xmlns:a16="http://schemas.microsoft.com/office/drawing/2014/main" id="{633D1825-F7F1-369B-EDC4-5DD5AE3FBE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253" y="2694752"/>
            <a:ext cx="3596201" cy="1758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3629E7-FB40-0717-855D-7C0E24D81C15}"/>
              </a:ext>
            </a:extLst>
          </p:cNvPr>
          <p:cNvSpPr>
            <a:spLocks noGrp="1"/>
          </p:cNvSpPr>
          <p:nvPr>
            <p:ph type="title"/>
          </p:nvPr>
        </p:nvSpPr>
        <p:spPr/>
        <p:txBody>
          <a:bodyPr/>
          <a:lstStyle/>
          <a:p>
            <a:r>
              <a:rPr lang="en-US" sz="1600" dirty="0"/>
              <a:t>Storage &amp; Data Updates</a:t>
            </a:r>
            <a:endParaRPr lang="en-US" dirty="0"/>
          </a:p>
        </p:txBody>
      </p:sp>
      <p:sp>
        <p:nvSpPr>
          <p:cNvPr id="4" name="Text Placeholder 3">
            <a:extLst>
              <a:ext uri="{FF2B5EF4-FFF2-40B4-BE49-F238E27FC236}">
                <a16:creationId xmlns:a16="http://schemas.microsoft.com/office/drawing/2014/main" id="{4737BD2A-E090-B0FD-6816-2D18C83430DC}"/>
              </a:ext>
            </a:extLst>
          </p:cNvPr>
          <p:cNvSpPr>
            <a:spLocks noGrp="1"/>
          </p:cNvSpPr>
          <p:nvPr>
            <p:ph type="body" sz="quarter" idx="15"/>
          </p:nvPr>
        </p:nvSpPr>
        <p:spPr/>
        <p:txBody>
          <a:bodyPr/>
          <a:lstStyle/>
          <a:p>
            <a:endParaRPr lang="en-US"/>
          </a:p>
        </p:txBody>
      </p:sp>
      <p:sp>
        <p:nvSpPr>
          <p:cNvPr id="7" name="Text Placeholder 1">
            <a:extLst>
              <a:ext uri="{FF2B5EF4-FFF2-40B4-BE49-F238E27FC236}">
                <a16:creationId xmlns:a16="http://schemas.microsoft.com/office/drawing/2014/main" id="{918679A7-D837-665C-27A0-DA6341A41FE4}"/>
              </a:ext>
            </a:extLst>
          </p:cNvPr>
          <p:cNvSpPr>
            <a:spLocks noGrp="1"/>
          </p:cNvSpPr>
          <p:nvPr>
            <p:ph type="body" sz="quarter" idx="10"/>
          </p:nvPr>
        </p:nvSpPr>
        <p:spPr>
          <a:xfrm>
            <a:off x="342900" y="934305"/>
            <a:ext cx="4365038" cy="3774069"/>
          </a:xfrm>
        </p:spPr>
        <p:txBody>
          <a:bodyPr/>
          <a:lstStyle/>
          <a:p>
            <a:pPr algn="just"/>
            <a:r>
              <a:rPr lang="en-US" sz="1000" dirty="0">
                <a:hlinkClick r:id="rId2"/>
              </a:rPr>
              <a:t>Public Preview: Azure NetApp Files Object REST API</a:t>
            </a:r>
            <a:endParaRPr lang="en-US" sz="1000" dirty="0"/>
          </a:p>
          <a:p>
            <a:pPr algn="just"/>
            <a:r>
              <a:rPr lang="en-US" sz="1000" b="1" dirty="0"/>
              <a:t>The Object REST API, an S3-compatible REST API, on Azure NetApp Files bridges </a:t>
            </a:r>
            <a:r>
              <a:rPr lang="en-US" sz="1000" dirty="0"/>
              <a:t>the gap between traditional file-based storage and modern cloud services, enabling customers to use their existing data in new ways. </a:t>
            </a:r>
          </a:p>
          <a:p>
            <a:pPr algn="just"/>
            <a:r>
              <a:rPr lang="en-US" sz="1000" b="1" dirty="0"/>
              <a:t>Azure NetApp Files supports the Object REST API, an S3-compatible REST API. </a:t>
            </a:r>
            <a:r>
              <a:rPr lang="en-US" sz="1000" dirty="0"/>
              <a:t>The object REST API extends file-based storage, enabling native S3 read and write access. </a:t>
            </a:r>
          </a:p>
          <a:p>
            <a:pPr algn="just"/>
            <a:r>
              <a:rPr lang="en-US" sz="1000" dirty="0"/>
              <a:t>Object REST API allows to present the same data set as a file hierarchy or as objects in a bucket. To do so, object REST API creates buckets that allow S3 clients to read, write, and enumerate files in network attached storage (NAS) storage using S3 object requests. This mapping conforms to the NAS security configuration, observing file and directory access permissions.</a:t>
            </a:r>
          </a:p>
          <a:p>
            <a:pPr algn="just"/>
            <a:r>
              <a:rPr lang="en-US" sz="1000" dirty="0"/>
              <a:t>This mapping is accomplished by presenting a specified NAS directory hierarchy as an S3 bucket. Each file in the directory hierarchy is represented as an S3 object whose name is relative from the mapped directory downwards. Directory boundaries are represented by the slash character (/).</a:t>
            </a:r>
          </a:p>
        </p:txBody>
      </p:sp>
    </p:spTree>
    <p:extLst>
      <p:ext uri="{BB962C8B-B14F-4D97-AF65-F5344CB8AC3E}">
        <p14:creationId xmlns:p14="http://schemas.microsoft.com/office/powerpoint/2010/main" val="170207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a:xfrm>
            <a:off x="4433776" y="855081"/>
            <a:ext cx="4365038" cy="2073974"/>
          </a:xfrm>
        </p:spPr>
        <p:txBody>
          <a:bodyPr/>
          <a:lstStyle/>
          <a:p>
            <a:pPr algn="just"/>
            <a:r>
              <a:rPr lang="en-US" sz="1000" dirty="0">
                <a:hlinkClick r:id="rId2"/>
              </a:rPr>
              <a:t>Generally Available: Azure Storage Mover support for NFS source to Azure File Share (NFS 4.1) target</a:t>
            </a:r>
            <a:endParaRPr lang="en-US" sz="1000" dirty="0"/>
          </a:p>
          <a:p>
            <a:pPr algn="just"/>
            <a:r>
              <a:rPr lang="en-US" sz="1000" dirty="0"/>
              <a:t>Azure Storage Mover can now migrate NFS File shares to Azure File Shares (NFS 4.1). </a:t>
            </a:r>
          </a:p>
          <a:p>
            <a:pPr algn="just"/>
            <a:r>
              <a:rPr lang="en-US" sz="1000" dirty="0"/>
              <a:t>Storage Mover is a fully managed migration service that enables to migrate on-premises files and folders to Azure Storage while minimizing downtime for workload. </a:t>
            </a:r>
            <a:r>
              <a:rPr lang="en-US" sz="1000" b="1" dirty="0"/>
              <a:t>Together with just-in-time permission setting and Azure Key Vault, your migration is secure from source to target.   </a:t>
            </a:r>
          </a:p>
          <a:p>
            <a:pPr algn="just"/>
            <a:r>
              <a:rPr lang="en-US" sz="1000" dirty="0"/>
              <a:t>Besides the existing general available capability to migrate from an on-premises NFS share to an Azure Blob container and SMB source to Azure File shares/Azure Blob containers, Azure Storage Mover now supports NFS source to Azure File shares (NFS 4.1) as target. </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a:xfrm>
            <a:off x="342900" y="855080"/>
            <a:ext cx="3955312" cy="2334169"/>
          </a:xfrm>
        </p:spPr>
        <p:txBody>
          <a:bodyPr/>
          <a:lstStyle/>
          <a:p>
            <a:pPr algn="just"/>
            <a:r>
              <a:rPr lang="en-US" dirty="0">
                <a:hlinkClick r:id="rId3"/>
              </a:rPr>
              <a:t>Generally Available: Near-zero downtime scaling for HA-enabled Azure Database for PostgreSQL servers</a:t>
            </a:r>
            <a:endParaRPr lang="en-US" dirty="0"/>
          </a:p>
          <a:p>
            <a:pPr algn="just"/>
            <a:r>
              <a:rPr lang="en-US" dirty="0"/>
              <a:t>It is now possible to scale Azure Database for PostgreSQL servers that have high availability (HA) enabled with minimal impact to users. The process usually takes less </a:t>
            </a:r>
            <a:r>
              <a:rPr lang="en-US" b="1" dirty="0"/>
              <a:t>than 30 seconds, </a:t>
            </a:r>
            <a:r>
              <a:rPr lang="en-US" dirty="0"/>
              <a:t>while traditional scaling </a:t>
            </a:r>
            <a:r>
              <a:rPr lang="en-US" b="1" dirty="0"/>
              <a:t>can take 2 to 10 minutes. </a:t>
            </a:r>
            <a:r>
              <a:rPr lang="en-US" dirty="0"/>
              <a:t>This new capability ensures near-zero downtime during scaling operations, allowing to maintain business continuity while adapting to changing workloads. </a:t>
            </a:r>
          </a:p>
          <a:p>
            <a:pPr marL="171450" indent="-171450" algn="just">
              <a:buFont typeface="Arial" panose="020B0604020202020204" pitchFamily="34" charset="0"/>
              <a:buChar char="•"/>
            </a:pPr>
            <a:r>
              <a:rPr lang="en-US" dirty="0"/>
              <a:t>Near-zero downtime scaling doesn't work for a replica server</a:t>
            </a:r>
          </a:p>
          <a:p>
            <a:pPr marL="171450" indent="-171450" algn="just">
              <a:buFont typeface="Arial" panose="020B0604020202020204" pitchFamily="34" charset="0"/>
              <a:buChar char="•"/>
            </a:pPr>
            <a:r>
              <a:rPr lang="en-US" dirty="0"/>
              <a:t>Consider capacity and available IP addresses</a:t>
            </a:r>
          </a:p>
          <a:p>
            <a:pPr marL="171450" indent="-171450" algn="just">
              <a:buFont typeface="Arial" panose="020B0604020202020204" pitchFamily="34" charset="0"/>
              <a:buChar char="•"/>
            </a:pPr>
            <a:r>
              <a:rPr lang="en-US" dirty="0"/>
              <a:t>Near-zero downtime scaling doesn't work with unlogged tables.</a:t>
            </a:r>
          </a:p>
        </p:txBody>
      </p:sp>
      <p:pic>
        <p:nvPicPr>
          <p:cNvPr id="2050" name="Picture 2" descr="An image showing the hierarchical relationship of Storage Mover Azure resources further described in the article.">
            <a:extLst>
              <a:ext uri="{FF2B5EF4-FFF2-40B4-BE49-F238E27FC236}">
                <a16:creationId xmlns:a16="http://schemas.microsoft.com/office/drawing/2014/main" id="{F47BE311-3FC6-08D5-CDAF-189AF73D2FA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0088" y="2947823"/>
            <a:ext cx="3408788" cy="1852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r>
              <a:rPr lang="en-US" sz="1000" dirty="0"/>
              <a:t>Limitations:</a:t>
            </a:r>
          </a:p>
          <a:p>
            <a:pPr marL="171450" indent="-171450">
              <a:buFont typeface="Arial" panose="020B0604020202020204" pitchFamily="34" charset="0"/>
              <a:buChar char="•"/>
            </a:pPr>
            <a:r>
              <a:rPr lang="en-US" sz="1000" dirty="0"/>
              <a:t>Each migration job supports the transfer of 500 million objects.</a:t>
            </a:r>
          </a:p>
          <a:p>
            <a:pPr marL="171450" indent="-171450">
              <a:buFont typeface="Arial" panose="020B0604020202020204" pitchFamily="34" charset="0"/>
              <a:buChar char="•"/>
            </a:pPr>
            <a:r>
              <a:rPr lang="en-US" sz="1000" dirty="0"/>
              <a:t>A maximum of 10 concurrent jobs is supported per subscription. If you need to run more than 10, you can do so by creating a support request.</a:t>
            </a:r>
          </a:p>
          <a:p>
            <a:pPr marL="171450" indent="-171450">
              <a:buFont typeface="Arial" panose="020B0604020202020204" pitchFamily="34" charset="0"/>
              <a:buChar char="•"/>
            </a:pPr>
            <a:r>
              <a:rPr lang="en-US" sz="1000" dirty="0"/>
              <a:t>Azure Storage Mover doesn't support automatic rehydration of archived objects. Data stored in AWS Glacier or Deep Archive must be restored before migration. Migration jobs should only be initiated after the data is fully restored.</a:t>
            </a:r>
          </a:p>
          <a:p>
            <a:pPr marL="171450" indent="-171450">
              <a:buFont typeface="Arial" panose="020B0604020202020204" pitchFamily="34" charset="0"/>
              <a:buChar char="•"/>
            </a:pPr>
            <a:r>
              <a:rPr lang="en-US" sz="1000" dirty="0"/>
              <a:t>Private Networking is currently not supported. However, Azure Storage Mover's Cloud-to-Cloud feature securely transfers data by limiting S3 access to trusted Azure IP ranges. This approach ensures secure, controlled connectivity over the public internet.</a:t>
            </a:r>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2"/>
              </a:rPr>
              <a:t>Generally Available: Cloud-to-Cloud migration made simple with Azure Storage Mover</a:t>
            </a:r>
            <a:endParaRPr lang="en-US" dirty="0"/>
          </a:p>
          <a:p>
            <a:pPr algn="just"/>
            <a:r>
              <a:rPr lang="en-US" dirty="0"/>
              <a:t>Azure Storage Mover’s </a:t>
            </a:r>
            <a:r>
              <a:rPr lang="en-US" b="1" dirty="0"/>
              <a:t>new AWS S3 to Azure Blob migration feature is now generally available, empowering organizations to move data directly from AWS to Azure securely, reliably, and at scale. </a:t>
            </a:r>
            <a:r>
              <a:rPr lang="en-US" dirty="0"/>
              <a:t>With this release, customers can eliminate manual pipelines and third-party tools, automate migrations in the Azure portal, and gain real-time visibility into every job.</a:t>
            </a:r>
          </a:p>
          <a:p>
            <a:pPr marL="171450" indent="-171450" algn="just">
              <a:buFont typeface="Arial" panose="020B0604020202020204" pitchFamily="34" charset="0"/>
              <a:buChar char="•"/>
            </a:pPr>
            <a:r>
              <a:rPr lang="en-US" dirty="0"/>
              <a:t>Fully Managed and Scalable</a:t>
            </a:r>
          </a:p>
          <a:p>
            <a:pPr marL="171450" indent="-171450" algn="just">
              <a:buFont typeface="Arial" panose="020B0604020202020204" pitchFamily="34" charset="0"/>
              <a:buChar char="•"/>
            </a:pPr>
            <a:r>
              <a:rPr lang="en-US" dirty="0"/>
              <a:t>No On-Premises Agent Required</a:t>
            </a:r>
          </a:p>
          <a:p>
            <a:pPr marL="171450" indent="-171450" algn="just">
              <a:buFont typeface="Arial" panose="020B0604020202020204" pitchFamily="34" charset="0"/>
              <a:buChar char="•"/>
            </a:pPr>
            <a:r>
              <a:rPr lang="en-US" dirty="0"/>
              <a:t>High-Speed, Parallel Transfers</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AE795B7-0C4D-6CAC-2F9E-29152EF52D4D}"/>
              </a:ext>
            </a:extLst>
          </p:cNvPr>
          <p:cNvSpPr>
            <a:spLocks noGrp="1"/>
          </p:cNvSpPr>
          <p:nvPr>
            <p:ph type="body" sz="quarter" idx="10"/>
          </p:nvPr>
        </p:nvSpPr>
        <p:spPr/>
        <p:txBody>
          <a:bodyPr/>
          <a:lstStyle/>
          <a:p>
            <a:pPr algn="just"/>
            <a:r>
              <a:rPr lang="en-US" sz="1000" dirty="0">
                <a:hlinkClick r:id="rId2"/>
              </a:rPr>
              <a:t>Generally Available: Object Replication Metrics</a:t>
            </a:r>
            <a:endParaRPr lang="en-US" sz="1000" dirty="0"/>
          </a:p>
          <a:p>
            <a:pPr algn="just"/>
            <a:r>
              <a:rPr lang="en-US" sz="1000" dirty="0"/>
              <a:t>Blob storage </a:t>
            </a:r>
            <a:r>
              <a:rPr lang="en-US" sz="1000" b="1" dirty="0"/>
              <a:t>Object Replication metrics for pending operations and pending bytes are now generally available in all regions.</a:t>
            </a:r>
            <a:r>
              <a:rPr lang="en-US" sz="1000" dirty="0"/>
              <a:t> These replication metrics will empower optimization of the performance, troubleshoot replication delays, and maintain high availability across your Object Replication policies. </a:t>
            </a:r>
          </a:p>
          <a:p>
            <a:pPr algn="just"/>
            <a:r>
              <a:rPr lang="en-US" sz="1000" dirty="0"/>
              <a:t>The two metrics that will provide deeper visibility and insights into object replication progress are: </a:t>
            </a:r>
          </a:p>
          <a:p>
            <a:pPr marL="171450" indent="-171450" algn="just">
              <a:buFont typeface="Arial" panose="020B0604020202020204" pitchFamily="34" charset="0"/>
              <a:buChar char="•"/>
            </a:pPr>
            <a:r>
              <a:rPr lang="en-US" sz="1000" b="1" dirty="0"/>
              <a:t>Pending Operations: </a:t>
            </a:r>
            <a:r>
              <a:rPr lang="en-US" sz="1000" dirty="0"/>
              <a:t>Tracks the total number of operations pending replication from the source to the destination storage account of your OR policy </a:t>
            </a:r>
          </a:p>
          <a:p>
            <a:pPr marL="171450" indent="-171450" algn="just">
              <a:buFont typeface="Arial" panose="020B0604020202020204" pitchFamily="34" charset="0"/>
              <a:buChar char="•"/>
            </a:pPr>
            <a:r>
              <a:rPr lang="en-US" sz="1000" b="1" dirty="0"/>
              <a:t>Pending Bytes: </a:t>
            </a:r>
            <a:r>
              <a:rPr lang="en-US" sz="1000" dirty="0"/>
              <a:t>Tracks the total volume of data pending replication from the source to the destination storage account of your OR policy </a:t>
            </a:r>
          </a:p>
          <a:p>
            <a:pPr algn="just"/>
            <a:r>
              <a:rPr lang="en-US" sz="1000" dirty="0"/>
              <a:t>Both metrics are emitted in time buckets </a:t>
            </a:r>
            <a:r>
              <a:rPr lang="en-US" sz="1000" b="1" dirty="0"/>
              <a:t>(e.g. &lt;5min, 5-10 min, 10-15 min, etc.) </a:t>
            </a:r>
            <a:r>
              <a:rPr lang="en-US" sz="1000" dirty="0"/>
              <a:t>which show how long operations have been pending replication to the destination account.  This assists with quickly identifying delays in the replication pipeline and makes it easier to monitor replication performance. </a:t>
            </a:r>
          </a:p>
        </p:txBody>
      </p:sp>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a:xfrm>
            <a:off x="342900" y="855081"/>
            <a:ext cx="3955312" cy="1313156"/>
          </a:xfrm>
        </p:spPr>
        <p:txBody>
          <a:bodyPr/>
          <a:lstStyle/>
          <a:p>
            <a:pPr algn="just"/>
            <a:r>
              <a:rPr lang="en-US" dirty="0">
                <a:hlinkClick r:id="rId3"/>
              </a:rPr>
              <a:t>Generally Available: Ultra Disk’s new flexible provisioning model</a:t>
            </a:r>
            <a:endParaRPr lang="en-US" dirty="0"/>
          </a:p>
          <a:p>
            <a:pPr algn="just"/>
            <a:r>
              <a:rPr lang="en-US" dirty="0"/>
              <a:t>This enhancement gives the freedom to configure </a:t>
            </a:r>
            <a:r>
              <a:rPr lang="en-US" b="1" dirty="0"/>
              <a:t>capacity, IOPS, and throughput (MBPS) more independently</a:t>
            </a:r>
            <a:r>
              <a:rPr lang="en-US" dirty="0"/>
              <a:t>—so it is possible to tailor performance to workload needs and optimize total cost of ownership. These improvements are available for </a:t>
            </a:r>
            <a:r>
              <a:rPr lang="en-US" b="1" dirty="0"/>
              <a:t>both new and existing Ultra Disks.  </a:t>
            </a:r>
          </a:p>
          <a:p>
            <a:pPr algn="just"/>
            <a:r>
              <a:rPr lang="en-US" dirty="0"/>
              <a:t>Below is a comparison of the new enhancements versus the previous state </a:t>
            </a:r>
          </a:p>
        </p:txBody>
      </p:sp>
      <p:pic>
        <p:nvPicPr>
          <p:cNvPr id="3" name="Picture 2">
            <a:extLst>
              <a:ext uri="{FF2B5EF4-FFF2-40B4-BE49-F238E27FC236}">
                <a16:creationId xmlns:a16="http://schemas.microsoft.com/office/drawing/2014/main" id="{6CDCD284-3888-F663-9B5B-D29ED02F514D}"/>
              </a:ext>
            </a:extLst>
          </p:cNvPr>
          <p:cNvPicPr>
            <a:picLocks noChangeAspect="1"/>
          </p:cNvPicPr>
          <p:nvPr/>
        </p:nvPicPr>
        <p:blipFill>
          <a:blip r:embed="rId4"/>
          <a:stretch>
            <a:fillRect/>
          </a:stretch>
        </p:blipFill>
        <p:spPr>
          <a:xfrm>
            <a:off x="517698" y="2168237"/>
            <a:ext cx="3605715" cy="1895739"/>
          </a:xfrm>
          <a:prstGeom prst="rect">
            <a:avLst/>
          </a:prstGeom>
        </p:spPr>
      </p:pic>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34C980-A3D4-9C04-A78A-2204AE48007D}"/>
              </a:ext>
            </a:extLst>
          </p:cNvPr>
          <p:cNvSpPr>
            <a:spLocks noGrp="1"/>
          </p:cNvSpPr>
          <p:nvPr>
            <p:ph type="body" sz="quarter" idx="10"/>
          </p:nvPr>
        </p:nvSpPr>
        <p:spPr>
          <a:xfrm>
            <a:off x="342900" y="945136"/>
            <a:ext cx="4152900" cy="1714938"/>
          </a:xfrm>
        </p:spPr>
        <p:txBody>
          <a:bodyPr/>
          <a:lstStyle/>
          <a:p>
            <a:pPr algn="just"/>
            <a:r>
              <a:rPr lang="en-US" sz="1000" dirty="0">
                <a:hlinkClick r:id="rId2"/>
              </a:rPr>
              <a:t>Generally Available: Object Replication Priority Replication for Azure Blob</a:t>
            </a:r>
            <a:endParaRPr lang="en-US" sz="1000" dirty="0"/>
          </a:p>
          <a:p>
            <a:pPr algn="just"/>
            <a:r>
              <a:rPr lang="en-US" sz="1000" b="1" dirty="0"/>
              <a:t>Object replication (OR</a:t>
            </a:r>
            <a:r>
              <a:rPr lang="en-US" sz="1000" dirty="0"/>
              <a:t>) currently copies all operations from a source storage account to one or more destination accounts asynchronously, with no guaranteed completion time. However, with the introduction of object replication priority replication, users can now choose to prioritize the replication of the operations in their replication policy.</a:t>
            </a:r>
          </a:p>
          <a:p>
            <a:pPr algn="just"/>
            <a:r>
              <a:rPr lang="en-US" sz="1000" dirty="0"/>
              <a:t>When a replication's source and destination account are within the same continent, OR priority </a:t>
            </a:r>
            <a:r>
              <a:rPr lang="en-US" sz="1000" b="1" dirty="0"/>
              <a:t>replication also replicates 99.0% of objects within 15 minutes for supported workloads.</a:t>
            </a:r>
          </a:p>
        </p:txBody>
      </p:sp>
      <p:sp>
        <p:nvSpPr>
          <p:cNvPr id="3" name="Title 2">
            <a:extLst>
              <a:ext uri="{FF2B5EF4-FFF2-40B4-BE49-F238E27FC236}">
                <a16:creationId xmlns:a16="http://schemas.microsoft.com/office/drawing/2014/main" id="{366FBE86-E926-F845-1CD2-BFE612F272E5}"/>
              </a:ext>
            </a:extLst>
          </p:cNvPr>
          <p:cNvSpPr>
            <a:spLocks noGrp="1"/>
          </p:cNvSpPr>
          <p:nvPr>
            <p:ph type="title"/>
          </p:nvPr>
        </p:nvSpPr>
        <p:spPr/>
        <p:txBody>
          <a:bodyPr/>
          <a:lstStyle/>
          <a:p>
            <a:r>
              <a:rPr lang="en-US" sz="1600" dirty="0"/>
              <a:t>Storage &amp; Data Updates</a:t>
            </a:r>
            <a:endParaRPr lang="en-US" dirty="0"/>
          </a:p>
        </p:txBody>
      </p:sp>
      <p:sp>
        <p:nvSpPr>
          <p:cNvPr id="4" name="Text Placeholder 3">
            <a:extLst>
              <a:ext uri="{FF2B5EF4-FFF2-40B4-BE49-F238E27FC236}">
                <a16:creationId xmlns:a16="http://schemas.microsoft.com/office/drawing/2014/main" id="{4440606C-AB4C-3077-9493-8CA1FC298AFB}"/>
              </a:ext>
            </a:extLst>
          </p:cNvPr>
          <p:cNvSpPr>
            <a:spLocks noGrp="1"/>
          </p:cNvSpPr>
          <p:nvPr>
            <p:ph type="body" sz="quarter" idx="15"/>
          </p:nvPr>
        </p:nvSpPr>
        <p:spPr/>
        <p:txBody>
          <a:bodyPr/>
          <a:lstStyle/>
          <a:p>
            <a:endParaRPr lang="en-US"/>
          </a:p>
        </p:txBody>
      </p:sp>
      <p:pic>
        <p:nvPicPr>
          <p:cNvPr id="2050" name="Picture 2" descr="Screenshot showing the location of the Enable Priority Replication and Enable Replication Monitoring checkboxes in the replication rules pane.">
            <a:extLst>
              <a:ext uri="{FF2B5EF4-FFF2-40B4-BE49-F238E27FC236}">
                <a16:creationId xmlns:a16="http://schemas.microsoft.com/office/drawing/2014/main" id="{792EB0BF-204D-DBF6-5CB4-5833D87531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570" y="2663536"/>
            <a:ext cx="2463560" cy="2137064"/>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6">
            <a:extLst>
              <a:ext uri="{FF2B5EF4-FFF2-40B4-BE49-F238E27FC236}">
                <a16:creationId xmlns:a16="http://schemas.microsoft.com/office/drawing/2014/main" id="{39B073AD-5E81-D859-3771-2F69F7AFA560}"/>
              </a:ext>
            </a:extLst>
          </p:cNvPr>
          <p:cNvSpPr>
            <a:spLocks noGrp="1"/>
          </p:cNvSpPr>
          <p:nvPr>
            <p:ph type="body" sz="quarter" idx="16"/>
          </p:nvPr>
        </p:nvSpPr>
        <p:spPr>
          <a:xfrm>
            <a:off x="4843502" y="855080"/>
            <a:ext cx="3955312" cy="3774069"/>
          </a:xfrm>
        </p:spPr>
        <p:txBody>
          <a:bodyPr/>
          <a:lstStyle/>
          <a:p>
            <a:pPr algn="just"/>
            <a:r>
              <a:rPr lang="en-US" dirty="0">
                <a:hlinkClick r:id="rId4"/>
              </a:rPr>
              <a:t>Generally Available: Geo Priority Replication for Azure Blob</a:t>
            </a:r>
            <a:endParaRPr lang="en-US" dirty="0"/>
          </a:p>
          <a:p>
            <a:pPr algn="just"/>
            <a:r>
              <a:rPr lang="en-US" dirty="0"/>
              <a:t>Azure Blob Storage </a:t>
            </a:r>
            <a:r>
              <a:rPr lang="en-US" b="1" dirty="0"/>
              <a:t>Geo Priority Replication is designed to meet the stringent compliance and business continuity requirements of Azure Blob users. </a:t>
            </a:r>
            <a:r>
              <a:rPr lang="en-US" dirty="0"/>
              <a:t>The feature prioritizes the replication of blob data for storage accounts with </a:t>
            </a:r>
            <a:r>
              <a:rPr lang="en-US" b="1" dirty="0"/>
              <a:t>geo-redundant storage (GRS) and geo-zone redundant storage (GZRS) </a:t>
            </a:r>
            <a:r>
              <a:rPr lang="en-US" dirty="0"/>
              <a:t>enabled. This prioritization accelerates data replication between the primary and secondary regions of these geo-redundant accounts.</a:t>
            </a:r>
          </a:p>
          <a:p>
            <a:pPr algn="just"/>
            <a:r>
              <a:rPr lang="en-US" dirty="0"/>
              <a:t>For supported workloads, a Service Level Agreement (SLA) also backs geo priority replication, and applies to any account that has Geo priority replication enabled. It guarantees that </a:t>
            </a:r>
            <a:r>
              <a:rPr lang="en-US" b="1" dirty="0"/>
              <a:t>the Last Sync Time (LST) for your account's Block Blob data remains lagged 15 minutes or less for 99.0% </a:t>
            </a:r>
            <a:r>
              <a:rPr lang="en-US" dirty="0"/>
              <a:t>of the billing month. In addition to prioritized replication traffic, the feature includes enhanced monitoring and detailed telemetry.</a:t>
            </a:r>
          </a:p>
        </p:txBody>
      </p:sp>
    </p:spTree>
    <p:extLst>
      <p:ext uri="{BB962C8B-B14F-4D97-AF65-F5344CB8AC3E}">
        <p14:creationId xmlns:p14="http://schemas.microsoft.com/office/powerpoint/2010/main" val="422703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FA472F-C5D9-2BCE-A708-D8E7B32C1B13}"/>
              </a:ext>
            </a:extLst>
          </p:cNvPr>
          <p:cNvSpPr>
            <a:spLocks noGrp="1"/>
          </p:cNvSpPr>
          <p:nvPr>
            <p:ph type="title"/>
          </p:nvPr>
        </p:nvSpPr>
        <p:spPr/>
        <p:txBody>
          <a:bodyPr/>
          <a:lstStyle/>
          <a:p>
            <a:r>
              <a:rPr lang="en-US" sz="1600" dirty="0"/>
              <a:t>Storage &amp; Data Updates</a:t>
            </a:r>
            <a:endParaRPr lang="en-US" dirty="0"/>
          </a:p>
        </p:txBody>
      </p:sp>
      <p:sp>
        <p:nvSpPr>
          <p:cNvPr id="4" name="Text Placeholder 3">
            <a:extLst>
              <a:ext uri="{FF2B5EF4-FFF2-40B4-BE49-F238E27FC236}">
                <a16:creationId xmlns:a16="http://schemas.microsoft.com/office/drawing/2014/main" id="{F4DCEAD3-BAB6-D2BA-8519-6DC211FC8D29}"/>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9D3087C9-B0F3-3E4D-4B59-7A2D23155E7C}"/>
              </a:ext>
            </a:extLst>
          </p:cNvPr>
          <p:cNvSpPr>
            <a:spLocks noGrp="1"/>
          </p:cNvSpPr>
          <p:nvPr>
            <p:ph type="body" sz="quarter" idx="16"/>
          </p:nvPr>
        </p:nvSpPr>
        <p:spPr>
          <a:xfrm>
            <a:off x="342900" y="855080"/>
            <a:ext cx="3955312" cy="3774069"/>
          </a:xfrm>
        </p:spPr>
        <p:txBody>
          <a:bodyPr/>
          <a:lstStyle/>
          <a:p>
            <a:pPr algn="just"/>
            <a:r>
              <a:rPr lang="en-US" dirty="0">
                <a:hlinkClick r:id="rId2"/>
              </a:rPr>
              <a:t>Generally Available: Planned Failover for Azure Storage</a:t>
            </a:r>
            <a:endParaRPr lang="en-US" dirty="0"/>
          </a:p>
          <a:p>
            <a:pPr algn="just"/>
            <a:r>
              <a:rPr lang="en-US" b="1" dirty="0"/>
              <a:t>Planned Failover is a customer-managed failover that provides the ability to failover a geo-redundant storage </a:t>
            </a:r>
            <a:r>
              <a:rPr lang="en-US" dirty="0"/>
              <a:t>account while keeping geo-redundancy and data durability.</a:t>
            </a:r>
          </a:p>
          <a:p>
            <a:pPr algn="just"/>
            <a:r>
              <a:rPr lang="en-US" dirty="0"/>
              <a:t>It is possible to seamlessly swap the primary and secondary storage endpoints of a </a:t>
            </a:r>
            <a:r>
              <a:rPr lang="en-US" b="1" dirty="0"/>
              <a:t>geo-redundant account. </a:t>
            </a:r>
            <a:r>
              <a:rPr lang="en-US" dirty="0"/>
              <a:t>After the Planned Failover is completed, all new write operations will be directed to the original secondary region, which will serve as the new primary region. </a:t>
            </a:r>
          </a:p>
          <a:p>
            <a:pPr algn="just"/>
            <a:r>
              <a:rPr lang="en-US" dirty="0"/>
              <a:t>Planned Failover can be utilized in a variety of scenarios including disaster recovery drills, partial outages where storage remains healthy or proactive disaster preparation. It is now generally available for GPv2 storage accounts and is compatible with Blob, ADLS Gen2, Table, File, and Queue data. </a:t>
            </a:r>
          </a:p>
        </p:txBody>
      </p:sp>
      <p:sp>
        <p:nvSpPr>
          <p:cNvPr id="5" name="Text Placeholder 4">
            <a:extLst>
              <a:ext uri="{FF2B5EF4-FFF2-40B4-BE49-F238E27FC236}">
                <a16:creationId xmlns:a16="http://schemas.microsoft.com/office/drawing/2014/main" id="{C4035078-24D1-C609-E9A7-B13AC5C3EC1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04981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Public Preview: Azure SQL updates for early November 2025</a:t>
            </a:r>
            <a:endParaRPr lang="en-US" sz="1000" dirty="0"/>
          </a:p>
          <a:p>
            <a:r>
              <a:rPr lang="en-US" sz="1000" dirty="0"/>
              <a:t>In early November 2025, the following updates and enhancements were made to Azure SQL:  </a:t>
            </a:r>
          </a:p>
          <a:p>
            <a:pPr marL="171450" indent="-171450">
              <a:buFont typeface="Arial" panose="020B0604020202020204" pitchFamily="34" charset="0"/>
              <a:buChar char="•"/>
            </a:pPr>
            <a:r>
              <a:rPr lang="en-US" sz="1000" b="1" dirty="0"/>
              <a:t>Azure SQL Hyperscale now supports multiple geo-secondary </a:t>
            </a:r>
            <a:r>
              <a:rPr lang="en-US" sz="1000" dirty="0"/>
              <a:t>replicas, making it easier to design and deploy disaster recovery topology spanning multiple regions. Azure SQL Database enables you to restart your database in the Azure portal.</a:t>
            </a:r>
          </a:p>
          <a:p>
            <a:pPr marL="171450" indent="-171450">
              <a:buFont typeface="Arial" panose="020B0604020202020204" pitchFamily="34" charset="0"/>
              <a:buChar char="•"/>
            </a:pPr>
            <a:r>
              <a:rPr lang="en-US" sz="1000" dirty="0"/>
              <a:t>The portal uses the same API that is available for PowerShell, REST, and Azure CLI.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Database for PostgreSQL read replicas with Premium SSD v2</a:t>
            </a:r>
            <a:endParaRPr lang="en-US" dirty="0"/>
          </a:p>
          <a:p>
            <a:pPr algn="just"/>
            <a:r>
              <a:rPr lang="en-US" dirty="0"/>
              <a:t>It is now possible to </a:t>
            </a:r>
            <a:r>
              <a:rPr lang="en-US" b="1" dirty="0"/>
              <a:t>configure read replicas (in-region and geo-replicas) with Premium SSD v2 storage tier in Azure Database for PostgreSQL </a:t>
            </a:r>
            <a:r>
              <a:rPr lang="en-US" dirty="0"/>
              <a:t>flexible server. </a:t>
            </a:r>
          </a:p>
          <a:p>
            <a:pPr algn="just"/>
            <a:r>
              <a:rPr lang="en-US" dirty="0"/>
              <a:t>Read replicas enable scaling out read-heavy workloads and improve performance by offloading read operations to replica servers, while write operations continue on the primary. In addition, geo-replicas can serve as read-write failover servers in the event of a disaster, enhancing your business continuity strategy. </a:t>
            </a:r>
          </a:p>
          <a:p>
            <a:pPr algn="just"/>
            <a:r>
              <a:rPr lang="en-US" b="1" dirty="0"/>
              <a:t>Replication is performed asynchronously using the native physical replication technology in PostgreSQL, </a:t>
            </a:r>
            <a:r>
              <a:rPr lang="en-US" dirty="0"/>
              <a:t>enabling you to replicate from a primary server to up to five replicas. </a:t>
            </a:r>
          </a:p>
          <a:p>
            <a:pPr algn="just"/>
            <a:r>
              <a:rPr lang="en-US" dirty="0"/>
              <a:t>With Premium SSD v2, each managed disk delivers up to 80,000 IOPS. When combined with five read replicas, you can achieve up to 480,000 IOPS, helping you meet the demands of your most performance-intensive workloads. </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Generally Available: Azure SQL updates for mid-October 2025</a:t>
            </a:r>
            <a:endParaRPr lang="en-US" sz="1000" dirty="0"/>
          </a:p>
          <a:p>
            <a:pPr algn="just"/>
            <a:r>
              <a:rPr lang="en-US" sz="1000" dirty="0"/>
              <a:t>In mid-October 2025, the following updates and enhancements were made to Azure SQL:   </a:t>
            </a:r>
          </a:p>
          <a:p>
            <a:pPr marL="171450" indent="-171450" algn="just">
              <a:buFont typeface="Arial" panose="020B0604020202020204" pitchFamily="34" charset="0"/>
              <a:buChar char="•"/>
            </a:pPr>
            <a:r>
              <a:rPr lang="en-US" sz="1000" dirty="0"/>
              <a:t>Improve </a:t>
            </a:r>
            <a:r>
              <a:rPr lang="en-US" sz="1000" b="1" dirty="0"/>
              <a:t>the redirect connection type to require only port 1433 </a:t>
            </a:r>
            <a:r>
              <a:rPr lang="en-US" sz="1000" dirty="0"/>
              <a:t>and promote to default. </a:t>
            </a:r>
          </a:p>
          <a:p>
            <a:pPr marL="514350" lvl="1" indent="-171450" algn="just">
              <a:buFont typeface="Arial" panose="020B0604020202020204" pitchFamily="34" charset="0"/>
              <a:buChar char="•"/>
            </a:pPr>
            <a:r>
              <a:rPr lang="en-US" sz="1000" dirty="0">
                <a:latin typeface="+mj-lt"/>
              </a:rPr>
              <a:t>Redirect now handles older clients as if the "proxy" connection type were set. This happens on a per-connection basis, though, so while modern SQL drivers will be redirected, any older driver will be transparently proxied. Overall, this hardens your entire fleet of clients against transient gateway disconnections and ekes out maximum performance.</a:t>
            </a:r>
          </a:p>
          <a:p>
            <a:pPr marL="514350" lvl="1" indent="-171450" algn="just">
              <a:buFont typeface="Arial" panose="020B0604020202020204" pitchFamily="34" charset="0"/>
              <a:buChar char="•"/>
            </a:pPr>
            <a:r>
              <a:rPr lang="en-US" sz="1000" dirty="0">
                <a:latin typeface="+mj-lt"/>
              </a:rPr>
              <a:t>Redirect </a:t>
            </a:r>
            <a:r>
              <a:rPr lang="en-US" sz="1000" b="1" dirty="0">
                <a:latin typeface="+mj-lt"/>
              </a:rPr>
              <a:t>now only requires inbound port 1433 to </a:t>
            </a:r>
            <a:r>
              <a:rPr lang="en-US" sz="1000" dirty="0">
                <a:latin typeface="+mj-lt"/>
              </a:rPr>
              <a:t>be open. We've changed the mechanism by which the correct replica is selected so that all replicas now listen on SQL Server's standard TDS port. Simply put, no matter which connection type is set, all managed instances now only expect inbound traffic on port 1433 – and your SQL clients' outbound traffic to managed instances will always only target that port.</a:t>
            </a:r>
          </a:p>
          <a:p>
            <a:pPr marL="171450" indent="-171450" algn="just">
              <a:buFont typeface="Arial" panose="020B0604020202020204" pitchFamily="34" charset="0"/>
              <a:buChar char="•"/>
            </a:pPr>
            <a:r>
              <a:rPr lang="en-US" sz="1000" dirty="0"/>
              <a:t>Convert Azure SQL Database to Hyperscale while preserving existing geo-replication or failover group settings.</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Generally Available: </a:t>
            </a:r>
            <a:r>
              <a:rPr lang="en-US" dirty="0" err="1">
                <a:hlinkClick r:id="rId3"/>
              </a:rPr>
              <a:t>PgBouncer</a:t>
            </a:r>
            <a:r>
              <a:rPr lang="en-US" dirty="0">
                <a:hlinkClick r:id="rId3"/>
              </a:rPr>
              <a:t> 1.23.1 support in Azure Database for PostgreSQL – Flexible Server</a:t>
            </a:r>
            <a:endParaRPr lang="en-US" dirty="0"/>
          </a:p>
          <a:p>
            <a:pPr algn="just"/>
            <a:r>
              <a:rPr lang="en-US" b="1" dirty="0" err="1"/>
              <a:t>PgBouncer</a:t>
            </a:r>
            <a:r>
              <a:rPr lang="en-US" b="1" dirty="0"/>
              <a:t> 1.23.1 is now generally available in Azure Database for PostgreSQL – Flexible Server. </a:t>
            </a:r>
          </a:p>
          <a:p>
            <a:pPr algn="just"/>
            <a:r>
              <a:rPr lang="en-US" dirty="0"/>
              <a:t>With this update, you benefit from the latest community improvements, including enhanced protocol handling and important stability fixes, giving you a more reliable and resilient connection pooling experience. Because </a:t>
            </a:r>
            <a:r>
              <a:rPr lang="en-US" dirty="0" err="1"/>
              <a:t>PgBouncer</a:t>
            </a:r>
            <a:r>
              <a:rPr lang="en-US" dirty="0"/>
              <a:t> is integrated into Flexible Server, you don’t need to install or maintain it separately—simply enable it on port 6432 and start reducing connection overhead in your applications. This release keeps your PostgreSQL servers aligned with the community while providing the reliability of a managed Azure service. </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a:xfrm>
            <a:off x="4433776" y="855081"/>
            <a:ext cx="4365038" cy="2386884"/>
          </a:xfrm>
        </p:spPr>
        <p:txBody>
          <a:bodyPr/>
          <a:lstStyle/>
          <a:p>
            <a:pPr algn="just"/>
            <a:r>
              <a:rPr lang="en-US" sz="1000" dirty="0">
                <a:hlinkClick r:id="rId2"/>
              </a:rPr>
              <a:t>Generally Available: Query Advisor in Azure Cosmos DB</a:t>
            </a:r>
            <a:endParaRPr lang="en-US" sz="1000" dirty="0"/>
          </a:p>
          <a:p>
            <a:pPr algn="just"/>
            <a:r>
              <a:rPr lang="en-US" sz="1000" b="1" dirty="0"/>
              <a:t>Query Advisor helps write faster, more efficient queries by analyzing query structure and providing clear, actionable recommendations. </a:t>
            </a:r>
            <a:r>
              <a:rPr lang="en-US" sz="1000" dirty="0"/>
              <a:t>It identifies ways that can potentially reduce Request Unit (RU) cost and improve performance. </a:t>
            </a:r>
          </a:p>
          <a:p>
            <a:pPr algn="just"/>
            <a:r>
              <a:rPr lang="en-US" sz="1000" dirty="0"/>
              <a:t>As applications grow, even small changes in query design can have a big impact on scalability and cost. Query Advisor reviews queries, detects patterns that may cause excessive scans or processing, and suggests improvements, such as optimized filters, more efficient array operations, or simplified subqueries. Each recommendation includes a brief explanation and an example rewrite so you can learn and decide what to apply. </a:t>
            </a:r>
          </a:p>
          <a:p>
            <a:pPr algn="just"/>
            <a:r>
              <a:rPr lang="en-US" sz="1000" dirty="0"/>
              <a:t>This feature helps developers and database engineers understand how to fine-tune queries for their workloads, achieve better performance, and control RU consumption. </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EB77B49F-902D-C11D-4D10-09A21AB4CDF4}"/>
              </a:ext>
            </a:extLst>
          </p:cNvPr>
          <p:cNvSpPr>
            <a:spLocks noGrp="1"/>
          </p:cNvSpPr>
          <p:nvPr>
            <p:ph type="body" sz="quarter" idx="16"/>
          </p:nvPr>
        </p:nvSpPr>
        <p:spPr>
          <a:xfrm>
            <a:off x="342900" y="855081"/>
            <a:ext cx="3955312" cy="932156"/>
          </a:xfrm>
        </p:spPr>
        <p:txBody>
          <a:bodyPr/>
          <a:lstStyle/>
          <a:p>
            <a:pPr algn="just"/>
            <a:r>
              <a:rPr lang="en-US" dirty="0">
                <a:hlinkClick r:id="rId3"/>
              </a:rPr>
              <a:t>Generally Available: Azure Database for MySQL – Flexible Server now supports high availability with dedicated Azure Standard Load Balancer</a:t>
            </a:r>
            <a:endParaRPr lang="en-US" dirty="0"/>
          </a:p>
          <a:p>
            <a:pPr algn="just"/>
            <a:r>
              <a:rPr lang="en-US" dirty="0"/>
              <a:t>With this feature, a high availability configuration </a:t>
            </a:r>
            <a:r>
              <a:rPr lang="en-US" b="1" dirty="0"/>
              <a:t>gets the benefit of a dedicated Standard Load Balancer</a:t>
            </a:r>
            <a:r>
              <a:rPr lang="en-US" dirty="0"/>
              <a:t>, including low latency, high throughput network traffic distribution of front-end requests to backend servers.</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pPr algn="just"/>
            <a:r>
              <a:rPr lang="en-US" sz="1000" dirty="0">
                <a:hlinkClick r:id="rId2"/>
              </a:rPr>
              <a:t>General Availability: Server Parameters support for </a:t>
            </a:r>
            <a:r>
              <a:rPr lang="en-US" sz="1000" dirty="0" err="1">
                <a:hlinkClick r:id="rId2"/>
              </a:rPr>
              <a:t>lower_case_table_names</a:t>
            </a:r>
            <a:r>
              <a:rPr lang="en-US" sz="1000" dirty="0">
                <a:hlinkClick r:id="rId2"/>
              </a:rPr>
              <a:t> in Azure Database for MySQL- Flexible Server</a:t>
            </a:r>
            <a:endParaRPr lang="en-US" sz="1000" dirty="0"/>
          </a:p>
          <a:p>
            <a:pPr algn="just"/>
            <a:r>
              <a:rPr lang="en-US" sz="1000" dirty="0"/>
              <a:t>MS announced the General Availability of a highly requested feature: Self-serve configuration of the </a:t>
            </a:r>
            <a:r>
              <a:rPr lang="en-US" sz="1000" dirty="0" err="1"/>
              <a:t>lower_case_table_names</a:t>
            </a:r>
            <a:r>
              <a:rPr lang="en-US" sz="1000" dirty="0"/>
              <a:t> server parameter during server creation.</a:t>
            </a:r>
          </a:p>
          <a:p>
            <a:pPr algn="just"/>
            <a:r>
              <a:rPr lang="en-US" sz="1000" dirty="0"/>
              <a:t>For MySQL version 8.0+ it is possible to configure </a:t>
            </a:r>
            <a:r>
              <a:rPr lang="en-US" sz="1000" dirty="0" err="1"/>
              <a:t>lower_case_table_names</a:t>
            </a:r>
            <a:r>
              <a:rPr lang="en-US" sz="1000" dirty="0"/>
              <a:t> only when you're initializing the server. For restore operations or replica server creation, the parameter will automatically be copied from the source server and cannot be changed.  </a:t>
            </a:r>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3"/>
              </a:rPr>
              <a:t>Generally Available: ORDER BY ST_DISTANCE in Azure Cosmos DB for NoSQL Geospatial Queries</a:t>
            </a:r>
            <a:endParaRPr lang="en-US" dirty="0"/>
          </a:p>
          <a:p>
            <a:pPr algn="just"/>
            <a:r>
              <a:rPr lang="en-US" dirty="0"/>
              <a:t>Azure Cosmos DB for NoSQL now supports </a:t>
            </a:r>
            <a:r>
              <a:rPr lang="en-US" b="1" dirty="0"/>
              <a:t>ORDER BY ST_DISTANCE for geospatial queries, now generally available. </a:t>
            </a:r>
          </a:p>
          <a:p>
            <a:pPr algn="just"/>
            <a:r>
              <a:rPr lang="en-US" dirty="0"/>
              <a:t>With this feature, it is possible to sort query results by their distance from a given point or </a:t>
            </a:r>
            <a:r>
              <a:rPr lang="en-US" dirty="0" err="1"/>
              <a:t>GeoJSON</a:t>
            </a:r>
            <a:r>
              <a:rPr lang="en-US" dirty="0"/>
              <a:t> object directly within Azure Cosmos DB. </a:t>
            </a:r>
          </a:p>
          <a:p>
            <a:pPr algn="just"/>
            <a:r>
              <a:rPr lang="en-US" dirty="0"/>
              <a:t>You no longer need to calculate distances in application code or perform client-side sorting. This function makes it easier to deliver real-time, location-aware experiences for logistics, retail, mapping, and smart-city scenarios with less code and better performance, such as “find the nearest store,” “list drivers by proximity,” or “rank properties by distance.” </a:t>
            </a:r>
          </a:p>
          <a:p>
            <a:pPr algn="just"/>
            <a:endParaRPr lang="en-US" dirty="0"/>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3DADF3-FBFF-2586-7EB3-F367F19FF20D}"/>
              </a:ext>
            </a:extLst>
          </p:cNvPr>
          <p:cNvSpPr>
            <a:spLocks noGrp="1"/>
          </p:cNvSpPr>
          <p:nvPr>
            <p:ph type="body" sz="quarter" idx="10"/>
          </p:nvPr>
        </p:nvSpPr>
        <p:spPr/>
        <p:txBody>
          <a:bodyPr/>
          <a:lstStyle/>
          <a:p>
            <a:endParaRPr lang="en-US" dirty="0"/>
          </a:p>
        </p:txBody>
      </p:sp>
      <p:sp>
        <p:nvSpPr>
          <p:cNvPr id="3" name="Title 2">
            <a:extLst>
              <a:ext uri="{FF2B5EF4-FFF2-40B4-BE49-F238E27FC236}">
                <a16:creationId xmlns:a16="http://schemas.microsoft.com/office/drawing/2014/main" id="{F6230822-55E4-AF56-AA81-98C36B6DC779}"/>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82BA9F11-D189-6AA9-6789-A8201846F82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F9CFA17-5A12-1214-EC2D-B00C97888459}"/>
              </a:ext>
            </a:extLst>
          </p:cNvPr>
          <p:cNvSpPr>
            <a:spLocks noGrp="1"/>
          </p:cNvSpPr>
          <p:nvPr>
            <p:ph type="body" sz="quarter" idx="16"/>
          </p:nvPr>
        </p:nvSpPr>
        <p:spPr/>
        <p:txBody>
          <a:bodyPr/>
          <a:lstStyle/>
          <a:p>
            <a:pPr algn="just"/>
            <a:r>
              <a:rPr lang="en-US" dirty="0">
                <a:hlinkClick r:id="rId2"/>
              </a:rPr>
              <a:t>Generally Available: Azure Database for MySQL Triggers for Azure Functions</a:t>
            </a:r>
            <a:endParaRPr lang="en-US" dirty="0"/>
          </a:p>
          <a:p>
            <a:pPr algn="just"/>
            <a:r>
              <a:rPr lang="en-US" b="1" dirty="0"/>
              <a:t>Azure Database for MySQL triggers for Azure Functions are now generally available, </a:t>
            </a:r>
            <a:r>
              <a:rPr lang="en-US" dirty="0"/>
              <a:t>enabling to set up change tracking and develop event-driven applications at scale on any MySQL table. It is possible to trigger a function when a row in a MySQL table is created, updated, or deleted. </a:t>
            </a:r>
          </a:p>
        </p:txBody>
      </p:sp>
    </p:spTree>
    <p:extLst>
      <p:ext uri="{BB962C8B-B14F-4D97-AF65-F5344CB8AC3E}">
        <p14:creationId xmlns:p14="http://schemas.microsoft.com/office/powerpoint/2010/main" val="171166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Introducing native Service Bus message publishing from Azure API Management (Preview)</a:t>
            </a:r>
            <a:endParaRPr lang="en-US" sz="1000" dirty="0"/>
          </a:p>
          <a:p>
            <a:pPr algn="just"/>
            <a:r>
              <a:rPr lang="en-US" sz="1000" b="1" dirty="0"/>
              <a:t>MS announced a preview capability in Azure API Management (APIM) </a:t>
            </a:r>
            <a:r>
              <a:rPr lang="en-US" sz="1000" dirty="0"/>
              <a:t>— you can now send messages directly to Azure Service Bus from your APIs using a built-in policy.</a:t>
            </a:r>
          </a:p>
          <a:p>
            <a:pPr algn="just"/>
            <a:r>
              <a:rPr lang="en-US" sz="1000" dirty="0"/>
              <a:t>This enhancement, currently in public preview, simplifies how you connect your API layer with event-driven and asynchronous systems, helping you build more scalable, resilient, and loosely coupled architectures across your enterprise. </a:t>
            </a:r>
          </a:p>
          <a:p>
            <a:pPr algn="just"/>
            <a:r>
              <a:rPr lang="en-US" sz="1000" dirty="0"/>
              <a:t>Modern applications increasingly rely on asynchronous communication and event-driven designs. With this new integration: </a:t>
            </a:r>
          </a:p>
          <a:p>
            <a:pPr marL="171450" indent="-171450" algn="just">
              <a:buFont typeface="Arial" panose="020B0604020202020204" pitchFamily="34" charset="0"/>
              <a:buChar char="•"/>
            </a:pPr>
            <a:r>
              <a:rPr lang="en-US" sz="1000" dirty="0"/>
              <a:t>Any API hosted in API Management can publish to Service Bus — no SDKs, custom code, or middleware required. </a:t>
            </a:r>
          </a:p>
          <a:p>
            <a:pPr marL="171450" indent="-171450" algn="just">
              <a:buFont typeface="Arial" panose="020B0604020202020204" pitchFamily="34" charset="0"/>
              <a:buChar char="•"/>
            </a:pPr>
            <a:r>
              <a:rPr lang="en-US" sz="1000" dirty="0"/>
              <a:t>Partners, clients, and IoT devices can send data through standard HTTP calls, even if they don’t support AMQP natively. </a:t>
            </a:r>
          </a:p>
          <a:p>
            <a:pPr marL="171450" indent="-171450" algn="just">
              <a:buFont typeface="Arial" panose="020B0604020202020204" pitchFamily="34" charset="0"/>
              <a:buChar char="•"/>
            </a:pPr>
            <a:r>
              <a:rPr lang="en-US" sz="1000" dirty="0"/>
              <a:t>You stay in full control with authentication, throttling, and logging managed centrally in API Management. </a:t>
            </a:r>
          </a:p>
          <a:p>
            <a:pPr marL="171450" indent="-171450" algn="just">
              <a:buFont typeface="Arial" panose="020B0604020202020204" pitchFamily="34" charset="0"/>
              <a:buChar char="•"/>
            </a:pPr>
            <a:r>
              <a:rPr lang="en-US" sz="1000" dirty="0"/>
              <a:t>Your systems scale more smoothly by decoupling front-end requests from backend processing.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Introducing the RabbitMQ Connector (Public Preview)</a:t>
            </a:r>
            <a:endParaRPr lang="ru-RU" dirty="0"/>
          </a:p>
          <a:p>
            <a:pPr algn="just"/>
            <a:r>
              <a:rPr lang="en-US" b="1" dirty="0"/>
              <a:t>MS announced the introduction of the RabbitMQ Connector in Logic Apps </a:t>
            </a:r>
            <a:r>
              <a:rPr lang="en-US" dirty="0"/>
              <a:t>(Standard) which allows to both send and receive messages between Logic Apps and RabbitMQ.</a:t>
            </a:r>
          </a:p>
          <a:p>
            <a:pPr algn="just"/>
            <a:r>
              <a:rPr lang="en-US" dirty="0"/>
              <a:t>RabbitMQ is a robust, open-source message broker widely used for building reliable, scalable, and flexible messaging solutions. It is trusted across industries such as financial services, e-commerce, IoT, telecommunications, and cloud-native microservices.</a:t>
            </a:r>
          </a:p>
          <a:p>
            <a:pPr algn="just"/>
            <a:r>
              <a:rPr lang="en-US" dirty="0"/>
              <a:t>Our RabbitMQ connector allows messaging scenarios on-premises using Logic Apps hybrid.</a:t>
            </a:r>
          </a:p>
          <a:p>
            <a:pPr algn="just"/>
            <a:r>
              <a:rPr lang="en-US" dirty="0"/>
              <a:t>Benefits of Using RabbitMQ</a:t>
            </a:r>
          </a:p>
          <a:p>
            <a:pPr marL="171450" indent="-171450" algn="just">
              <a:buFont typeface="Arial" panose="020B0604020202020204" pitchFamily="34" charset="0"/>
              <a:buChar char="•"/>
            </a:pPr>
            <a:r>
              <a:rPr lang="en-US" dirty="0"/>
              <a:t>Reliability:</a:t>
            </a:r>
          </a:p>
          <a:p>
            <a:pPr marL="171450" indent="-171450" algn="just">
              <a:buFont typeface="Arial" panose="020B0604020202020204" pitchFamily="34" charset="0"/>
              <a:buChar char="•"/>
            </a:pPr>
            <a:r>
              <a:rPr lang="en-US" dirty="0"/>
              <a:t>Flexible Routing</a:t>
            </a:r>
          </a:p>
          <a:p>
            <a:pPr marL="171450" indent="-171450" algn="just">
              <a:buFont typeface="Arial" panose="020B0604020202020204" pitchFamily="34" charset="0"/>
              <a:buChar char="•"/>
            </a:pPr>
            <a:r>
              <a:rPr lang="en-US" dirty="0"/>
              <a:t>Clustering &amp; High Availability</a:t>
            </a:r>
          </a:p>
          <a:p>
            <a:pPr marL="171450" indent="-171450" algn="just">
              <a:buFont typeface="Arial" panose="020B0604020202020204" pitchFamily="34" charset="0"/>
              <a:buChar char="•"/>
            </a:pPr>
            <a:r>
              <a:rPr lang="en-US" dirty="0"/>
              <a:t>Management &amp; Monitoring</a:t>
            </a:r>
          </a:p>
          <a:p>
            <a:pPr marL="171450" indent="-171450" algn="just">
              <a:buFont typeface="Arial" panose="020B0604020202020204" pitchFamily="34" charset="0"/>
              <a:buChar char="•"/>
            </a:pPr>
            <a:r>
              <a:rPr lang="en-US" dirty="0"/>
              <a:t>Extensibility</a:t>
            </a:r>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Public Preview: AI Toolkit for GitHub Copilot Prompt-First Agent Development</a:t>
            </a:r>
            <a:endParaRPr lang="en-US" dirty="0"/>
          </a:p>
          <a:p>
            <a:pPr algn="just"/>
            <a:r>
              <a:rPr lang="en-US" dirty="0"/>
              <a:t>MS announced the Public Preview of the GitHub Copilot prompt-first agent development in the AI Toolkit for Visual Studio Code. With this release, building powerful AI agents is now simpler and faster - no need to wrestle with complex frameworks or orchestrators. Just start with natural language prompts and let GitHub Copilot guide you from concept to working agent code. </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Generally Available: Azure MCP Server</a:t>
            </a:r>
            <a:endParaRPr lang="en-US" sz="1000" dirty="0"/>
          </a:p>
          <a:p>
            <a:pPr algn="just"/>
            <a:r>
              <a:rPr lang="en-US" sz="1000" dirty="0"/>
              <a:t>Azure MCP server is an open-source implementation of the MCP specification, designed to bridge AI agents and cloud resources with a “write once” approach.</a:t>
            </a:r>
          </a:p>
          <a:p>
            <a:pPr algn="just"/>
            <a:r>
              <a:rPr lang="en-US" sz="1000" dirty="0"/>
              <a:t>The Azure MCP Server enables AI agents and other types of clients to interact with Azure resources through natural language commands. It implements the Model Context Protocol (MCP) to provide these key features:</a:t>
            </a:r>
          </a:p>
          <a:p>
            <a:pPr marL="171450" indent="-171450" algn="just">
              <a:buFont typeface="Arial" panose="020B0604020202020204" pitchFamily="34" charset="0"/>
              <a:buChar char="•"/>
            </a:pPr>
            <a:r>
              <a:rPr lang="en-US" sz="1000" dirty="0"/>
              <a:t>MCP support: Because the Azure MCP Server implements the Model Context Protocol, it works with MCP clients such as GitHub Copilot agent mode, the OpenAI Agents SDK, and Semantic Kernel.</a:t>
            </a:r>
          </a:p>
          <a:p>
            <a:pPr marL="171450" indent="-171450" algn="just">
              <a:buFont typeface="Arial" panose="020B0604020202020204" pitchFamily="34" charset="0"/>
              <a:buChar char="•"/>
            </a:pPr>
            <a:r>
              <a:rPr lang="en-US" sz="1000" dirty="0"/>
              <a:t>Entra ID support: The Azure MCP Server uses Entra ID through the Azure Identity library to follow Azure authentication best practices.</a:t>
            </a:r>
          </a:p>
          <a:p>
            <a:pPr marL="171450" indent="-171450" algn="just">
              <a:buFont typeface="Arial" panose="020B0604020202020204" pitchFamily="34" charset="0"/>
              <a:buChar char="•"/>
            </a:pPr>
            <a:r>
              <a:rPr lang="en-US" sz="1000" dirty="0"/>
              <a:t>Service and tool support: The Azure MCP Server supports Azure services and tools such as the Azure CLI and Azure Developer CLI (</a:t>
            </a:r>
            <a:r>
              <a:rPr lang="en-US" sz="1000" dirty="0" err="1"/>
              <a:t>azd</a:t>
            </a:r>
            <a:r>
              <a:rPr lang="en-US" sz="1000" dirty="0"/>
              <a:t>).</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Sora 2 now available in Azure AI Foundry</a:t>
            </a:r>
            <a:endParaRPr lang="en-US" dirty="0"/>
          </a:p>
          <a:p>
            <a:pPr algn="just"/>
            <a:r>
              <a:rPr lang="en-US" dirty="0"/>
              <a:t>Sora 2 in Azure AI Foundry isn’t just another video generation tool; it’s a creative powerhouse, seamlessly integrated into a platform built for innovation, trust, and scale. Unlike standalone solutions, Azure AI Foundry offers a unified platform where developers can access Sora 2 alongside other leading generative models in a secure, scalable, and structured environment</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Announcing Qwen3-VL family of models on Azure AI Foundry</a:t>
            </a:r>
            <a:endParaRPr lang="en-US" dirty="0"/>
          </a:p>
          <a:p>
            <a:pPr algn="just"/>
            <a:r>
              <a:rPr lang="en-US" dirty="0"/>
              <a:t>Qwen3-VL is the most powerful vision-language model in the Qwen series to date, marking a leap from perception to true multimodal understanding and reasoning. </a:t>
            </a:r>
          </a:p>
          <a:p>
            <a:pPr algn="just"/>
            <a:r>
              <a:rPr lang="en-US" dirty="0"/>
              <a:t>Qwen3-VL integrates advanced visual agent abilities to operate interfaces, generate code from images, and reason over long contexts of up to 1 million tokens. It shows major gains in spatial understanding, STEM reasoning, and multilingual OCR (32 languages), alongside broader visual recognition across everyday and professional domains. Altogether, Qwen3-VL represents a new generation of models that not only see and describe the world — but truly understand it.</a:t>
            </a:r>
          </a:p>
          <a:p>
            <a:pPr algn="just"/>
            <a:r>
              <a:rPr lang="en-US" dirty="0"/>
              <a:t>Overall, the largest mixture-of-experts Qwen3-VL-235B-A22B-Instruct achieves top performance on most metrics among non-reasoning models, significantly outperforming closed-source models such as Gemini 2.5 Pro and GPT-5, while also setting new state-of-the-art results among open-source multimodal models, demonstrating its strong generalization ability and comprehensive performance on complex visual tasks.</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r>
              <a:rPr lang="en-US" sz="1000" dirty="0">
                <a:hlinkClick r:id="rId2"/>
              </a:rPr>
              <a:t>Retirement: Remove dependency on these preview features before March 31, 2026</a:t>
            </a:r>
            <a:endParaRPr lang="en-US" sz="1000" dirty="0"/>
          </a:p>
          <a:p>
            <a:r>
              <a:rPr lang="en-US" sz="1000" dirty="0"/>
              <a:t>On March 31, 2026, the following preview features will be retired:  </a:t>
            </a:r>
          </a:p>
          <a:p>
            <a:pPr marL="171450" indent="-171450">
              <a:buFont typeface="Arial" panose="020B0604020202020204" pitchFamily="34" charset="0"/>
              <a:buChar char="•"/>
            </a:pPr>
            <a:r>
              <a:rPr lang="en-US" sz="1000" dirty="0"/>
              <a:t>Group multiple steps as a whole to better organize complex pipelines  </a:t>
            </a:r>
          </a:p>
          <a:p>
            <a:pPr marL="171450" indent="-171450">
              <a:buFont typeface="Arial" panose="020B0604020202020204" pitchFamily="34" charset="0"/>
              <a:buChar char="•"/>
            </a:pPr>
            <a:r>
              <a:rPr lang="en-US" sz="1000" dirty="0"/>
              <a:t>Compare pipeline jobs to debug failures or unexpected issues  </a:t>
            </a:r>
          </a:p>
          <a:p>
            <a:pPr marL="171450" indent="-171450">
              <a:buFont typeface="Arial" panose="020B0604020202020204" pitchFamily="34" charset="0"/>
              <a:buChar char="•"/>
            </a:pPr>
            <a:r>
              <a:rPr lang="en-US" sz="1000" dirty="0"/>
              <a:t>Import data into a data labelling project  </a:t>
            </a:r>
          </a:p>
          <a:p>
            <a:pPr marL="171450" indent="-171450">
              <a:buFont typeface="Arial" panose="020B0604020202020204" pitchFamily="34" charset="0"/>
              <a:buChar char="•"/>
            </a:pPr>
            <a:r>
              <a:rPr lang="en-US" sz="1000" dirty="0"/>
              <a:t>Use v2 data asset (</a:t>
            </a:r>
            <a:r>
              <a:rPr lang="en-US" sz="1000" dirty="0" err="1"/>
              <a:t>uri_folder</a:t>
            </a:r>
            <a:r>
              <a:rPr lang="en-US" sz="1000" dirty="0"/>
              <a:t> and </a:t>
            </a:r>
            <a:r>
              <a:rPr lang="en-US" sz="1000" dirty="0" err="1"/>
              <a:t>mltable</a:t>
            </a:r>
            <a:r>
              <a:rPr lang="en-US" sz="1000" dirty="0"/>
              <a:t>) in a data labelling project  </a:t>
            </a:r>
          </a:p>
          <a:p>
            <a:pPr marL="171450" indent="-171450">
              <a:buFont typeface="Arial" panose="020B0604020202020204" pitchFamily="34" charset="0"/>
              <a:buChar char="•"/>
            </a:pPr>
            <a:r>
              <a:rPr lang="en-US" sz="1000" dirty="0"/>
              <a:t>Monitor data drift between training and inference  </a:t>
            </a:r>
          </a:p>
          <a:p>
            <a:pPr marL="171450" indent="-171450">
              <a:buFont typeface="Arial" panose="020B0604020202020204" pitchFamily="34" charset="0"/>
              <a:buChar char="•"/>
            </a:pPr>
            <a:r>
              <a:rPr lang="en-US" sz="1000" dirty="0"/>
              <a:t>Add linked services  </a:t>
            </a:r>
          </a:p>
          <a:p>
            <a:pPr marL="171450" indent="-171450">
              <a:buFont typeface="Arial" panose="020B0604020202020204" pitchFamily="34" charset="0"/>
              <a:buChar char="•"/>
            </a:pPr>
            <a:r>
              <a:rPr lang="en-US" sz="1000" dirty="0"/>
              <a:t>Monitor compute resource  </a:t>
            </a:r>
          </a:p>
          <a:p>
            <a:r>
              <a:rPr lang="en-US" sz="1000" dirty="0"/>
              <a:t>After March 31, 2026, these preview features will no longer be available.  </a:t>
            </a:r>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3"/>
              </a:rPr>
              <a:t>Retirement: Azure Computer Vision – Image Analysis will be retired on September 25, 2028</a:t>
            </a:r>
            <a:endParaRPr lang="en-US" dirty="0"/>
          </a:p>
          <a:p>
            <a:pPr algn="just"/>
            <a:r>
              <a:rPr lang="en-US" dirty="0"/>
              <a:t>Microsoft is announcing the planned retirement of the Azure Computer Vision – Image Analysis service.   </a:t>
            </a:r>
          </a:p>
          <a:p>
            <a:pPr algn="just"/>
            <a:r>
              <a:rPr lang="en-US" dirty="0"/>
              <a:t>Microsoft will provide full support for all existing Azure Computer Vision – Image Analysis customers </a:t>
            </a:r>
            <a:r>
              <a:rPr lang="en-US" b="1" dirty="0"/>
              <a:t>until 9/25/2028. </a:t>
            </a:r>
            <a:r>
              <a:rPr lang="en-US" dirty="0"/>
              <a:t>During this support window, customers are encouraged to begin planning and executing their transition to one of the following Azure products. </a:t>
            </a:r>
          </a:p>
          <a:p>
            <a:pPr marL="171450" indent="-171450" algn="just">
              <a:buFont typeface="Arial" panose="020B0604020202020204" pitchFamily="34" charset="0"/>
              <a:buChar char="•"/>
            </a:pPr>
            <a:r>
              <a:rPr lang="en-US" dirty="0"/>
              <a:t>For OCR and Read capabilities, utilize Document Intelligence </a:t>
            </a:r>
          </a:p>
          <a:p>
            <a:pPr marL="171450" indent="-171450" algn="just">
              <a:buFont typeface="Arial" panose="020B0604020202020204" pitchFamily="34" charset="0"/>
              <a:buChar char="•"/>
            </a:pPr>
            <a:r>
              <a:rPr lang="en-US" dirty="0"/>
              <a:t>For Face scenarios, use the Face API </a:t>
            </a:r>
          </a:p>
          <a:p>
            <a:pPr marL="171450" indent="-171450" algn="just">
              <a:buFont typeface="Arial" panose="020B0604020202020204" pitchFamily="34" charset="0"/>
              <a:buChar char="•"/>
            </a:pPr>
            <a:r>
              <a:rPr lang="en-US" dirty="0"/>
              <a:t>For other Computer Vision scenarios, utilize the GPT model series found in the Azure AI Foundry </a:t>
            </a:r>
          </a:p>
          <a:p>
            <a:pPr marL="171450" indent="-171450" algn="just">
              <a:buFont typeface="Arial" panose="020B0604020202020204" pitchFamily="34" charset="0"/>
              <a:buChar char="•"/>
            </a:pPr>
            <a:r>
              <a:rPr lang="en-US" dirty="0"/>
              <a:t>Azure AI is offering a new product currently in preview, Azure AI Content Understanding, that is powered by LLMs and also supports many image analysis use cases </a:t>
            </a:r>
          </a:p>
          <a:p>
            <a:pPr marL="171450" indent="-171450" algn="just">
              <a:buFont typeface="Arial" panose="020B0604020202020204" pitchFamily="34" charset="0"/>
              <a:buChar char="•"/>
            </a:pPr>
            <a:r>
              <a:rPr lang="en-US" dirty="0"/>
              <a:t>See the Azure Computer Vision – Image Analysis documentation for more information on your specific use case </a:t>
            </a:r>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GitHub Copilot in SQL Server Management Studio (SSMS)</a:t>
            </a:r>
            <a:endParaRPr lang="en-US" dirty="0"/>
          </a:p>
          <a:p>
            <a:pPr algn="just"/>
            <a:r>
              <a:rPr lang="en-US" dirty="0"/>
              <a:t>GitHub Copilot in SSMS helps write Transact-SQL (T-SQL) faster and with greater accuracy. </a:t>
            </a:r>
          </a:p>
          <a:p>
            <a:pPr algn="just"/>
            <a:r>
              <a:rPr lang="en-US" dirty="0"/>
              <a:t>Using the database and connection context, it can also answer general SQL questions and assist with administrator tasks, directly in SSMS environment. GitHub Copilot in SSMS can answer questions for databases in SQL Server, Azure SQL Database, Azure SQL Managed Instance, and SQL databases in Microsoft Fabric. </a:t>
            </a:r>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342901"/>
          </a:xfrm>
        </p:spPr>
        <p:txBody>
          <a:bodyPr/>
          <a:lstStyle/>
          <a:p>
            <a:r>
              <a:rPr lang="en-US" dirty="0">
                <a:hlinkClick r:id="rId2"/>
              </a:rPr>
              <a:t>New Certification for architects of agentic AI business solutions</a:t>
            </a:r>
            <a:endParaRPr lang="en-US" dirty="0"/>
          </a:p>
          <a:p>
            <a:endParaRPr lang="en-US" dirty="0"/>
          </a:p>
        </p:txBody>
      </p:sp>
      <p:pic>
        <p:nvPicPr>
          <p:cNvPr id="3074" name="Picture 2">
            <a:extLst>
              <a:ext uri="{FF2B5EF4-FFF2-40B4-BE49-F238E27FC236}">
                <a16:creationId xmlns:a16="http://schemas.microsoft.com/office/drawing/2014/main" id="{AD241C02-69C2-A773-9502-328EBEF1C0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614" y="1197981"/>
            <a:ext cx="3404839" cy="1915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6276</TotalTime>
  <Words>9457</Words>
  <Application>Microsoft Office PowerPoint</Application>
  <PresentationFormat>On-screen Show (16:9)</PresentationFormat>
  <Paragraphs>443</Paragraphs>
  <Slides>62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Human Sans</vt:lpstr>
      <vt:lpstr>Human Sans Regular</vt:lpstr>
      <vt:lpstr>Continuum Theme</vt:lpstr>
      <vt:lpstr>Azure Times #184</vt:lpstr>
      <vt:lpstr>PowerPoint Presentation</vt:lpstr>
      <vt:lpstr>Networking Updates</vt:lpstr>
      <vt:lpstr>Networking Updates</vt:lpstr>
      <vt:lpstr>Networking Updates</vt:lpstr>
      <vt:lpstr>Networking Updates</vt:lpstr>
      <vt:lpstr>Networking Updates</vt:lpstr>
      <vt:lpstr>Networking Updates</vt:lpstr>
      <vt:lpstr>Networking Updates</vt:lpstr>
      <vt:lpstr>Networking Updates</vt:lpstr>
      <vt:lpstr>PowerPoint Presentation</vt:lpstr>
      <vt:lpstr>Security &amp; Identity Updates</vt:lpstr>
      <vt:lpstr>PowerPoint Presentation</vt:lpstr>
      <vt:lpstr>Management &amp; Governance Updates</vt:lpstr>
      <vt:lpstr>Management &amp; Governance Updates</vt:lpstr>
      <vt:lpstr>Management &amp; Governance Updates</vt:lpstr>
      <vt:lpstr>Management &amp; Governance Updates</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PowerPoint Presentation</vt:lpstr>
      <vt:lpstr>Storage &amp; Data Updates</vt:lpstr>
      <vt:lpstr>Storage &amp; Data Updates</vt:lpstr>
      <vt:lpstr>Storage &amp; Data Updates</vt:lpstr>
      <vt:lpstr>Storage &amp; Data Updates</vt:lpstr>
      <vt:lpstr>Storage &amp; Data Updates</vt:lpstr>
      <vt:lpstr>Storage &amp; Data Updates</vt:lpstr>
      <vt:lpstr>Storage &amp; Data Updates</vt:lpstr>
      <vt:lpstr>PowerPoint Presentation</vt:lpstr>
      <vt:lpstr>Databases Updates</vt:lpstr>
      <vt:lpstr>Databases Updates</vt:lpstr>
      <vt:lpstr>Databases Updates</vt:lpstr>
      <vt:lpstr>Databases Updates</vt:lpstr>
      <vt:lpstr>Databases Updates</vt:lpstr>
      <vt:lpstr>PowerPoint Presentation</vt:lpstr>
      <vt:lpstr>Integration Updates</vt:lpstr>
      <vt:lpstr>PowerPoint Presentation</vt:lpstr>
      <vt:lpstr>ML &amp; AI &amp; IOT Updates</vt:lpstr>
      <vt:lpstr>ML &amp; AI &amp; IOT Updates</vt:lpstr>
      <vt:lpstr>ML &amp; AI &amp; IOT Updates</vt:lpstr>
      <vt:lpstr>ML &amp; AI &amp; IOT Updates</vt:lpstr>
      <vt:lpstr>PowerPoint Presentation</vt:lpstr>
      <vt:lpstr>DevOps &amp; IaC &amp; Automation</vt:lpstr>
      <vt:lpstr>PowerPoint Presentation</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522</cp:revision>
  <dcterms:created xsi:type="dcterms:W3CDTF">2018-01-26T19:23:30Z</dcterms:created>
  <dcterms:modified xsi:type="dcterms:W3CDTF">2025-11-16T18:11:47Z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