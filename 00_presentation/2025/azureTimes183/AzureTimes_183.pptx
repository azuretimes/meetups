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6"/>
  </p:notesMasterIdLst>
  <p:handoutMasterIdLst>
    <p:handoutMasterId r:id="rId37"/>
  </p:handoutMasterIdLst>
  <p:sldIdLst>
    <p:sldId id="2142532340" r:id="rId5"/>
    <p:sldId id="2146847045" r:id="rId6"/>
    <p:sldId id="10657" r:id="rId7"/>
    <p:sldId id="2146847127" r:id="rId8"/>
    <p:sldId id="2146847126" r:id="rId9"/>
    <p:sldId id="2146847046" r:id="rId10"/>
    <p:sldId id="2146847089" r:id="rId11"/>
    <p:sldId id="2146847048" r:id="rId12"/>
    <p:sldId id="2146847049" r:id="rId13"/>
    <p:sldId id="2146847132" r:id="rId14"/>
    <p:sldId id="2146847133" r:id="rId15"/>
    <p:sldId id="2146847050" r:id="rId16"/>
    <p:sldId id="2146847096" r:id="rId17"/>
    <p:sldId id="2146847134" r:id="rId18"/>
    <p:sldId id="2146847135" r:id="rId19"/>
    <p:sldId id="2146847136" r:id="rId20"/>
    <p:sldId id="2146847052" r:id="rId21"/>
    <p:sldId id="2146847137" r:id="rId22"/>
    <p:sldId id="2146847138" r:id="rId23"/>
    <p:sldId id="2146847054" r:id="rId24"/>
    <p:sldId id="2146847103" r:id="rId25"/>
    <p:sldId id="2146847141" r:id="rId26"/>
    <p:sldId id="2146847056" r:id="rId27"/>
    <p:sldId id="2146847107" r:id="rId28"/>
    <p:sldId id="2146847143" r:id="rId29"/>
    <p:sldId id="2146847058" r:id="rId30"/>
    <p:sldId id="2146847146" r:id="rId31"/>
    <p:sldId id="2146847148" r:id="rId32"/>
    <p:sldId id="2146847085" r:id="rId33"/>
    <p:sldId id="2146847084" r:id="rId34"/>
    <p:sldId id="2146847064" r:id="rId35"/>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 id="2146847126"/>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2"/>
            <p14:sldId id="2146847133"/>
          </p14:sldIdLst>
        </p14:section>
        <p14:section name="Compute" id="{05AA80BB-8802-49AB-8336-A884227CE2F7}">
          <p14:sldIdLst>
            <p14:sldId id="2146847050"/>
            <p14:sldId id="2146847096"/>
            <p14:sldId id="2146847134"/>
            <p14:sldId id="2146847135"/>
            <p14:sldId id="2146847136"/>
          </p14:sldIdLst>
        </p14:section>
        <p14:section name="Storage &amp; Data" id="{1F159046-CE0A-45BC-9D5B-6E6C95980F78}">
          <p14:sldIdLst>
            <p14:sldId id="2146847052"/>
            <p14:sldId id="2146847137"/>
            <p14:sldId id="2146847138"/>
          </p14:sldIdLst>
        </p14:section>
        <p14:section name="Databases" id="{AEAFAE72-AD56-48F3-926B-38BAE269038F}">
          <p14:sldIdLst>
            <p14:sldId id="2146847054"/>
            <p14:sldId id="2146847103"/>
            <p14:sldId id="2146847141"/>
          </p14:sldIdLst>
        </p14:section>
        <p14:section name="Integration" id="{ACBD46A3-6F1C-451B-A154-0A056E0DEFF6}">
          <p14:sldIdLst>
            <p14:sldId id="2146847056"/>
            <p14:sldId id="2146847107"/>
            <p14:sldId id="2146847143"/>
          </p14:sldIdLst>
        </p14:section>
        <p14:section name="ML &amp; AI &amp; IOT" id="{F4E1EAF1-55E9-4CA4-8ADC-28B69C1D66D2}">
          <p14:sldIdLst>
            <p14:sldId id="2146847058"/>
            <p14:sldId id="2146847146"/>
            <p14:sldId id="2146847148"/>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p:scale>
          <a:sx n="150" d="100"/>
          <a:sy n="150" d="100"/>
        </p:scale>
        <p:origin x="2328" y="-36"/>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10/17/2025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azure/private-link/configure-private-link-service-direct-connect?tabs=powershell%2Cpowershell-pe%2Cverify-powershell%2Ccleanup-powershell"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zure.microsoft.com/ru-ru/updates?id=515452"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16002"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03325"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zure.microsoft.com/ru-ru/updates?id=513752" TargetMode="External"/><Relationship Id="rId2" Type="http://schemas.openxmlformats.org/officeDocument/2006/relationships/hyperlink" Target="https://techcommunity.microsoft.com/blog/azurecompute/public-preview-for-sharing-capacity-reservation-groups---now-available/4461834"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13376" TargetMode="External"/><Relationship Id="rId2" Type="http://schemas.openxmlformats.org/officeDocument/2006/relationships/hyperlink" Target="https://azure.microsoft.com/ru-ru/updates?id=513518"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00775" TargetMode="External"/><Relationship Id="rId2" Type="http://schemas.openxmlformats.org/officeDocument/2006/relationships/hyperlink" Target="https://techcommunity.microsoft.com/blog/adforpostgresql/general-availability-of-online-migration-to-azure-database-for-postgresql-flexib/4459884" TargetMode="Externa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community.microsoft.com/blog/azurevirtualdesktopblog/now-in-public-preview-ephemeral-os-disk-support-on-azure-virtual-desktop/4460172"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12374" TargetMode="External"/><Relationship Id="rId2" Type="http://schemas.openxmlformats.org/officeDocument/2006/relationships/hyperlink" Target="https://azure.microsoft.com/ru-ru/updates?id=512396"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ru-ru/updates?id=512379" TargetMode="External"/><Relationship Id="rId2" Type="http://schemas.openxmlformats.org/officeDocument/2006/relationships/hyperlink" Target="https://azure.microsoft.com/ru-ru/updates?id=511898"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02044" TargetMode="External"/><Relationship Id="rId2" Type="http://schemas.openxmlformats.org/officeDocument/2006/relationships/hyperlink" Target="https://azure.microsoft.com/ru-ru/updates?id=500682"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azure.microsoft.com/ru-ru/updates?id=515479" TargetMode="Externa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hyperlink" Target="https://azure.microsoft.com/ru-ru/updates?id=51174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08403" TargetMode="External"/><Relationship Id="rId2" Type="http://schemas.openxmlformats.org/officeDocument/2006/relationships/hyperlink" Target="https://azure.microsoft.com/ru-ru/updates?id=513074"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techcommunity.microsoft.com/blog/azuresqlblog/multiple-geo-replicas-for-azure-sql-hyperscale-is-now-in-public-preview/4460772"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azure.microsoft.com/ru-ru/updates?id=513074"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azure.microsoft.com/ru-ru/updates?id=513855"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techcommunity.microsoft.com/blog/partnernews/sora-2-now-available-in-azure-ai-foundry/4461788"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azure.microsoft.com/ru-ru/updates?id=502914"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#183</a:t>
            </a:r>
          </a:p>
        </p:txBody>
      </p:sp>
      <p:sp>
        <p:nvSpPr>
          <p:cNvPr id="4" name="Text Placeholder 3"/>
          <p:cNvSpPr>
            <a:spLocks noGrp="1"/>
          </p:cNvSpPr>
          <p:nvPr>
            <p:ph type="body" sz="quarter" idx="11"/>
          </p:nvPr>
        </p:nvSpPr>
        <p:spPr/>
        <p:txBody>
          <a:bodyPr/>
          <a:lstStyle/>
          <a:p>
            <a:r>
              <a:rPr lang="en-US" spc="300"/>
              <a:t>October 20, 2025</a:t>
            </a:r>
            <a:endParaRPr lang="en-US" spc="300" dirty="0"/>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t>Limitations</a:t>
            </a:r>
          </a:p>
          <a:p>
            <a:r>
              <a:rPr lang="en-US" sz="1000" dirty="0"/>
              <a:t>Note these limitations when using the Private Link service Direct Connect:</a:t>
            </a:r>
          </a:p>
          <a:p>
            <a:pPr marL="171450" indent="-171450" algn="just">
              <a:buFont typeface="Arial" panose="020B0604020202020204" pitchFamily="34" charset="0"/>
              <a:buChar char="•"/>
            </a:pPr>
            <a:r>
              <a:rPr lang="en-US" sz="1000" dirty="0"/>
              <a:t>Minimum 2 IP configurations required: At least 2 IP configurations, or multiples of 2 (limit of 8 max) are required to deploy a PLS Direct Connect.</a:t>
            </a:r>
          </a:p>
          <a:p>
            <a:pPr marL="171450" indent="-171450" algn="just">
              <a:buFont typeface="Arial" panose="020B0604020202020204" pitchFamily="34" charset="0"/>
              <a:buChar char="•"/>
            </a:pPr>
            <a:r>
              <a:rPr lang="en-US" sz="1000" dirty="0"/>
              <a:t>Maximum of 10 PLS per subscription: There is a hardware limitation of 10 PLS per region per subscription.</a:t>
            </a:r>
          </a:p>
          <a:p>
            <a:pPr marL="171450" indent="-171450" algn="just">
              <a:buFont typeface="Arial" panose="020B0604020202020204" pitchFamily="34" charset="0"/>
              <a:buChar char="•"/>
            </a:pPr>
            <a:r>
              <a:rPr lang="en-US" sz="1000" dirty="0"/>
              <a:t>Bandwidth limitation: Each PLS Direct Connect can support a bandwidth of up to 10 Gbps.</a:t>
            </a:r>
          </a:p>
          <a:p>
            <a:pPr marL="171450" indent="-171450" algn="just">
              <a:buFont typeface="Arial" panose="020B0604020202020204" pitchFamily="34" charset="0"/>
              <a:buChar char="•"/>
            </a:pPr>
            <a:r>
              <a:rPr lang="en-US" sz="1000" dirty="0"/>
              <a:t>Static IP requirement: The destination IP must be private, static, and directly reachable, dynamically changing IPs are not supported.</a:t>
            </a:r>
          </a:p>
          <a:p>
            <a:pPr marL="171450" indent="-171450" algn="just">
              <a:buFont typeface="Arial" panose="020B0604020202020204" pitchFamily="34" charset="0"/>
              <a:buChar char="•"/>
            </a:pPr>
            <a:r>
              <a:rPr lang="en-US" sz="1000" dirty="0"/>
              <a:t>Cross-region limitation: The source private endpoint, private link service, and client VM must be in the same region. This restriction is to be removed when the feature is generally available.</a:t>
            </a:r>
          </a:p>
          <a:p>
            <a:pPr marL="171450" indent="-171450" algn="just">
              <a:buFont typeface="Arial" panose="020B0604020202020204" pitchFamily="34" charset="0"/>
              <a:buChar char="•"/>
            </a:pPr>
            <a:r>
              <a:rPr lang="en-US" sz="1000" dirty="0"/>
              <a:t>Regional availability: This feature is available in limited regions (North Central US, East US 2, Central US, South Central US, West US, West US 2, West US 3, Asia Southeast, Australia East, Spain Central).</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Private Link Service Direct Connect</a:t>
            </a:r>
            <a:endParaRPr lang="en-US" dirty="0"/>
          </a:p>
          <a:p>
            <a:pPr algn="just"/>
            <a:r>
              <a:rPr lang="en-US" dirty="0"/>
              <a:t>Azure Private Link service allows service providers to make their applications available to their customers privately and securely by placing them behind a standard load balancer. Private Link service Direct Connect expands on this capability and allows customers to directly connect a private link service to any privately routable destination IP address. This configuration is particularly useful for scenarios that provide private connectivity to applications that require direct IP-based routing, such as database connections or custom applications.</a:t>
            </a:r>
          </a:p>
          <a:p>
            <a:pPr algn="just"/>
            <a:r>
              <a:rPr lang="en-US" dirty="0"/>
              <a:t>Private Link service (PLS) Direct Connect allows you to:</a:t>
            </a:r>
          </a:p>
          <a:p>
            <a:pPr marL="171450" indent="-171450" algn="just">
              <a:buFont typeface="Arial" panose="020B0604020202020204" pitchFamily="34" charset="0"/>
              <a:buChar char="•"/>
            </a:pPr>
            <a:r>
              <a:rPr lang="en-US" dirty="0"/>
              <a:t>Route traffic directly to a specific, privately routable destination IP address within virtual network.</a:t>
            </a:r>
          </a:p>
          <a:p>
            <a:pPr marL="171450" indent="-171450" algn="just">
              <a:buFont typeface="Arial" panose="020B0604020202020204" pitchFamily="34" charset="0"/>
              <a:buChar char="•"/>
            </a:pPr>
            <a:r>
              <a:rPr lang="en-US" dirty="0"/>
              <a:t>Bypass load balancer requirements for scenarios that need direct IP connectivity.</a:t>
            </a:r>
          </a:p>
          <a:p>
            <a:pPr marL="171450" indent="-171450" algn="just">
              <a:buFont typeface="Arial" panose="020B0604020202020204" pitchFamily="34" charset="0"/>
              <a:buChar char="•"/>
            </a:pPr>
            <a:r>
              <a:rPr lang="en-US" dirty="0"/>
              <a:t>Support custom routing scenarios where you need precise control over traffic destination.</a:t>
            </a:r>
          </a:p>
          <a:p>
            <a:pPr marL="171450" indent="-171450" algn="just">
              <a:buFont typeface="Arial" panose="020B0604020202020204" pitchFamily="34" charset="0"/>
              <a:buChar char="•"/>
            </a:pPr>
            <a:r>
              <a:rPr lang="en-US" dirty="0"/>
              <a:t>Configure expanded scenarios such as secure access to on-premises resources, third-party SaaS, and virtual appliances.</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p:txBody>
          <a:bodyPr/>
          <a:lstStyle/>
          <a:p>
            <a:pPr algn="just"/>
            <a:r>
              <a:rPr lang="en-US" dirty="0">
                <a:hlinkClick r:id="rId2"/>
              </a:rPr>
              <a:t>Generally Available: </a:t>
            </a:r>
            <a:r>
              <a:rPr lang="en-US" dirty="0" err="1">
                <a:hlinkClick r:id="rId2"/>
              </a:rPr>
              <a:t>Prescaling</a:t>
            </a:r>
            <a:r>
              <a:rPr lang="en-US" dirty="0">
                <a:hlinkClick r:id="rId2"/>
              </a:rPr>
              <a:t> in Azure Firewall</a:t>
            </a:r>
            <a:endParaRPr lang="en-US" dirty="0"/>
          </a:p>
          <a:p>
            <a:pPr algn="just"/>
            <a:r>
              <a:rPr lang="en-US" dirty="0"/>
              <a:t>Azure Firewall now supports </a:t>
            </a:r>
            <a:r>
              <a:rPr lang="en-US" b="1" dirty="0" err="1"/>
              <a:t>prescaling</a:t>
            </a:r>
            <a:r>
              <a:rPr lang="en-US" dirty="0"/>
              <a:t>, a feature that enables admins to provision and reserve capacity units in advance to handle expected traffic loads – such as seasonal peaks or planned business events. This helps to ensure consistent throughput, faster scaling response, and greater control over capacity.  </a:t>
            </a:r>
          </a:p>
          <a:p>
            <a:pPr algn="just"/>
            <a:r>
              <a:rPr lang="en-US" dirty="0"/>
              <a:t>Key highlights: </a:t>
            </a:r>
          </a:p>
          <a:p>
            <a:pPr marL="171450" indent="-171450" algn="just">
              <a:buFont typeface="Arial" panose="020B0604020202020204" pitchFamily="34" charset="0"/>
              <a:buChar char="•"/>
            </a:pPr>
            <a:r>
              <a:rPr lang="en-US" b="1" dirty="0"/>
              <a:t>Proactive planning</a:t>
            </a:r>
            <a:r>
              <a:rPr lang="en-US" dirty="0"/>
              <a:t>: Pre-allocate capacity to meet demand spikes and critical workloads </a:t>
            </a:r>
          </a:p>
          <a:p>
            <a:pPr marL="171450" indent="-171450" algn="just">
              <a:buFont typeface="Arial" panose="020B0604020202020204" pitchFamily="34" charset="0"/>
              <a:buChar char="•"/>
            </a:pPr>
            <a:r>
              <a:rPr lang="en-US" b="1" dirty="0"/>
              <a:t>New observability metric</a:t>
            </a:r>
            <a:r>
              <a:rPr lang="en-US" dirty="0"/>
              <a:t>: View current and historical capacity usage in the Observed Capacity Metric to provide strategic insight into planning </a:t>
            </a:r>
          </a:p>
          <a:p>
            <a:pPr marL="171450" indent="-171450" algn="just">
              <a:buFont typeface="Arial" panose="020B0604020202020204" pitchFamily="34" charset="0"/>
              <a:buChar char="•"/>
            </a:pPr>
            <a:r>
              <a:rPr lang="en-US" b="1" dirty="0"/>
              <a:t>Flexible billing</a:t>
            </a:r>
            <a:r>
              <a:rPr lang="en-US" dirty="0"/>
              <a:t>: Pay only for the provisioned capacity units, with the flexibility to adjust as your needs evolve. </a:t>
            </a:r>
          </a:p>
          <a:p>
            <a:pPr algn="just"/>
            <a:r>
              <a:rPr lang="en-US" dirty="0" err="1"/>
              <a:t>Prescaling</a:t>
            </a:r>
            <a:r>
              <a:rPr lang="en-US" dirty="0"/>
              <a:t> is available for Azure Firewall Standard and Premium SKUs in all public regions. </a:t>
            </a:r>
          </a:p>
        </p:txBody>
      </p:sp>
      <p:pic>
        <p:nvPicPr>
          <p:cNvPr id="1026" name="Picture 2" descr="Screenshot showing Azure Firewall prescaling minimum and maximum capacity settings in the Azure portal.">
            <a:extLst>
              <a:ext uri="{FF2B5EF4-FFF2-40B4-BE49-F238E27FC236}">
                <a16:creationId xmlns:a16="http://schemas.microsoft.com/office/drawing/2014/main" id="{12C6923E-FDE2-3F8F-232F-04E85FE2D9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1039090"/>
            <a:ext cx="4409304" cy="2415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Generally Available: Observed capacity metric in Azure Firewall</a:t>
            </a:r>
            <a:endParaRPr lang="en-US" dirty="0"/>
          </a:p>
          <a:p>
            <a:pPr algn="just"/>
            <a:r>
              <a:rPr lang="en-US" dirty="0"/>
              <a:t>Azure Firewall now includes the </a:t>
            </a:r>
            <a:r>
              <a:rPr lang="en-US" b="1" dirty="0"/>
              <a:t>observed capacity metric </a:t>
            </a:r>
            <a:r>
              <a:rPr lang="en-US" dirty="0"/>
              <a:t>— a new observability signal designed to help administrators understand how their firewalls are scaling in practice. Observed capacity tracks the number of capacity units actively utilized over time, offering valuable insight into real-world scaling patterns and performance behavior. </a:t>
            </a:r>
          </a:p>
          <a:p>
            <a:pPr algn="just"/>
            <a:r>
              <a:rPr lang="en-US" dirty="0"/>
              <a:t>Key highlights: </a:t>
            </a:r>
          </a:p>
          <a:p>
            <a:pPr marL="171450" indent="-171450" algn="just">
              <a:buFont typeface="Arial" panose="020B0604020202020204" pitchFamily="34" charset="0"/>
              <a:buChar char="•"/>
            </a:pPr>
            <a:r>
              <a:rPr lang="en-US" dirty="0"/>
              <a:t>Validate setup: You can validate </a:t>
            </a:r>
            <a:r>
              <a:rPr lang="en-US" b="1" dirty="0" err="1"/>
              <a:t>prescaling</a:t>
            </a:r>
            <a:r>
              <a:rPr lang="en-US" dirty="0"/>
              <a:t> or autoscaling setup is performing as expected. </a:t>
            </a:r>
          </a:p>
          <a:p>
            <a:pPr marL="171450" indent="-171450" algn="just">
              <a:buFont typeface="Arial" panose="020B0604020202020204" pitchFamily="34" charset="0"/>
              <a:buChar char="•"/>
            </a:pPr>
            <a:r>
              <a:rPr lang="en-US" dirty="0"/>
              <a:t>Proactive alerting: Set alerts when usage near defined thresholds and diagnose whether scaling keeps paced with demand </a:t>
            </a:r>
          </a:p>
          <a:p>
            <a:pPr marL="171450" indent="-171450" algn="just">
              <a:buFont typeface="Arial" panose="020B0604020202020204" pitchFamily="34" charset="0"/>
              <a:buChar char="•"/>
            </a:pPr>
            <a:r>
              <a:rPr lang="en-US" dirty="0"/>
              <a:t>Forecasting: Plan future capacity needs using historical and current traffic trends</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Integrated HSM</a:t>
            </a:r>
            <a:endParaRPr lang="en-US" dirty="0"/>
          </a:p>
          <a:p>
            <a:pPr algn="just"/>
            <a:r>
              <a:rPr lang="en-US" dirty="0"/>
              <a:t>Azure Integrated HSM, is a Hardware Security Module (HSM) cache and crypto accelerator designed to enhance the security and performance of </a:t>
            </a:r>
            <a:r>
              <a:rPr lang="en-US" b="1" dirty="0"/>
              <a:t>cryptographic operations in virtual machines</a:t>
            </a:r>
            <a:r>
              <a:rPr lang="en-US" dirty="0"/>
              <a:t>. For customers who heavily rely on cryptography and have performance-intensive workloads, Azure Integrated </a:t>
            </a:r>
            <a:r>
              <a:rPr lang="en-US" b="1" dirty="0"/>
              <a:t>HSM provides a secure way to store cryptographic keys for quick and secure retrieval. </a:t>
            </a:r>
            <a:r>
              <a:rPr lang="en-US" dirty="0"/>
              <a:t>This feature is available as part of our AMD D and E series v7 preview. </a:t>
            </a:r>
          </a:p>
          <a:p>
            <a:pPr algn="just"/>
            <a:r>
              <a:rPr lang="en-US" dirty="0"/>
              <a:t>Azure Integrated HSM is designed to meet the Federal Information Processing </a:t>
            </a:r>
            <a:r>
              <a:rPr lang="en-US" b="1" dirty="0"/>
              <a:t>Standards (FIPS) 140-3 Level 3 Security </a:t>
            </a:r>
            <a:r>
              <a:rPr lang="en-US" dirty="0"/>
              <a:t>Requirements for Cryptographic Modules. Azure Integrated HSM protects keys and security assets while these assets are in-use. Azure Integrated HSM has specialized hardware cryptographic accelerators to perform encryption, decryption, signing, and verification operations while they remain within the bounds of the integrated HSM. </a:t>
            </a:r>
          </a:p>
          <a:p>
            <a:pPr algn="just"/>
            <a:r>
              <a:rPr lang="en-US" dirty="0"/>
              <a:t>Azure Integrated HSM is now available to use in preview on the AMD v7 preview platform with support for our general purpose Dasv7-series, </a:t>
            </a:r>
            <a:r>
              <a:rPr lang="en-US" b="1" dirty="0"/>
              <a:t>Dadsv7-series, Easv7-series and Eadsv7-series for 8 </a:t>
            </a:r>
            <a:r>
              <a:rPr lang="en-US" b="1" dirty="0" err="1"/>
              <a:t>vCores</a:t>
            </a:r>
            <a:r>
              <a:rPr lang="en-US" b="1" dirty="0"/>
              <a:t> VMs </a:t>
            </a:r>
            <a:r>
              <a:rPr lang="en-US" dirty="0"/>
              <a:t>and above.</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0"/>
            <a:ext cx="4365038" cy="1327011"/>
          </a:xfrm>
        </p:spPr>
        <p:txBody>
          <a:bodyPr/>
          <a:lstStyle/>
          <a:p>
            <a:pPr algn="just"/>
            <a:r>
              <a:rPr lang="en-US" sz="1000" dirty="0">
                <a:hlinkClick r:id="rId2"/>
              </a:rPr>
              <a:t>Public Preview for Sharing Capacity Reservation Groups - now available</a:t>
            </a:r>
            <a:endParaRPr lang="en-US" sz="1000" dirty="0"/>
          </a:p>
          <a:p>
            <a:pPr algn="just"/>
            <a:r>
              <a:rPr lang="en-US" sz="1000" dirty="0"/>
              <a:t>Previously, customers could deploy VMs in a Capacity Reservation Group within the same subscription only. On-demand Capacity Reservation Group (CRG) can now be shared with other subscriptions. Using this option can make it easier to manage some common configuration needs like resource reuse, centralized capacity management, more cost-effective scale-out and separating security and capacity concerns. </a:t>
            </a:r>
          </a:p>
          <a:p>
            <a:pPr marL="171450" indent="-171450" algn="just">
              <a:buFont typeface="Arial" panose="020B0604020202020204" pitchFamily="34" charset="0"/>
              <a:buChar char="•"/>
            </a:pPr>
            <a:r>
              <a:rPr lang="en-US" sz="1000" dirty="0"/>
              <a:t>Provider subscription – the subscription that creates and hosts the Capacity Reservation Group and member Capacity Reservations.</a:t>
            </a:r>
          </a:p>
          <a:p>
            <a:pPr marL="171450" indent="-171450" algn="just">
              <a:buFont typeface="Arial" panose="020B0604020202020204" pitchFamily="34" charset="0"/>
              <a:buChar char="•"/>
            </a:pPr>
            <a:r>
              <a:rPr lang="en-US" sz="1000" dirty="0"/>
              <a:t>Consumer subscription - another subscription that is granted access to the reserved capacity, obtaining the ability to deploy virtual machines (VMs) with the Capacity Reservation Service Level Agreement (SLA).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Private Preview: New planned datacenter region in Malaysia (Southeast Asia 3)</a:t>
            </a:r>
            <a:endParaRPr lang="en-US" dirty="0"/>
          </a:p>
          <a:p>
            <a:pPr algn="just"/>
            <a:r>
              <a:rPr lang="en-US" dirty="0"/>
              <a:t>Microsoft is expanding its digital infrastructure footprint further with a new datacenter region, </a:t>
            </a:r>
            <a:r>
              <a:rPr lang="en-US" b="1" dirty="0"/>
              <a:t>Southeast Asia 3, planned in Malaysia</a:t>
            </a:r>
            <a:r>
              <a:rPr lang="en-US" dirty="0"/>
              <a:t>. This datacenter region will feature Microsoft's most comprehensive and strategic cloud services, designed to support advanced workloads and evolving customer needs from across the area.</a:t>
            </a:r>
          </a:p>
        </p:txBody>
      </p:sp>
      <p:pic>
        <p:nvPicPr>
          <p:cNvPr id="3" name="Picture 2">
            <a:extLst>
              <a:ext uri="{FF2B5EF4-FFF2-40B4-BE49-F238E27FC236}">
                <a16:creationId xmlns:a16="http://schemas.microsoft.com/office/drawing/2014/main" id="{F33BDFBC-A0FC-3799-B8B2-AD0484065920}"/>
              </a:ext>
            </a:extLst>
          </p:cNvPr>
          <p:cNvPicPr>
            <a:picLocks noChangeAspect="1"/>
          </p:cNvPicPr>
          <p:nvPr/>
        </p:nvPicPr>
        <p:blipFill>
          <a:blip r:embed="rId4"/>
          <a:stretch>
            <a:fillRect/>
          </a:stretch>
        </p:blipFill>
        <p:spPr>
          <a:xfrm>
            <a:off x="5188527" y="3233639"/>
            <a:ext cx="3429983" cy="1566961"/>
          </a:xfrm>
          <a:prstGeom prst="rect">
            <a:avLst/>
          </a:prstGeom>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Generally Available: Azure Site Recovery support for Ultra Disks</a:t>
            </a:r>
            <a:endParaRPr lang="en-US" sz="1000" dirty="0"/>
          </a:p>
          <a:p>
            <a:pPr algn="just"/>
            <a:r>
              <a:rPr lang="en-US" sz="1000" dirty="0"/>
              <a:t>This release enables organizations to replicate, failover, and failback virtual machines with </a:t>
            </a:r>
            <a:r>
              <a:rPr lang="en-US" sz="1000" b="1" dirty="0"/>
              <a:t>Ultra Disks across Azure regions </a:t>
            </a:r>
            <a:r>
              <a:rPr lang="en-US" sz="1000" dirty="0"/>
              <a:t>with minimal impact on production performance. ASR offers automated recovery orchestration, cost-efficient replication, and non-disruptive testing, helping businesses ensure operational resilience, meet compliance needs, and minimize downtime. With this milestone, customers can now confidently extend enterprise-grade protection and continuity to their Ultra Disk–backed workloads using Azure Site Recovery.</a:t>
            </a:r>
          </a:p>
          <a:p>
            <a:pPr algn="just"/>
            <a:r>
              <a:rPr lang="en-US" sz="1000" dirty="0"/>
              <a:t>Ultra Disks are the most performant block storage option for Azure virtual machines offering consistent low sub-millisecond latency, extremely high performance. This makes Ultra disk ideal for a broad spectrum of the most demanding enterprise production workloads, such as SAP HANA, top-tier databases, and transaction-heavy systems that require the highest levels of performance.</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Generally Available: Locations API Update for UK Azure Regions</a:t>
            </a:r>
            <a:endParaRPr lang="en-US" dirty="0"/>
          </a:p>
          <a:p>
            <a:pPr algn="just"/>
            <a:r>
              <a:rPr lang="en-US" dirty="0"/>
              <a:t>To align with evolving compliance and regulatory requirements, Azure is updating the </a:t>
            </a:r>
            <a:r>
              <a:rPr lang="en-US" dirty="0" err="1"/>
              <a:t>geographyGroup</a:t>
            </a:r>
            <a:r>
              <a:rPr lang="en-US" dirty="0"/>
              <a:t> and </a:t>
            </a:r>
            <a:r>
              <a:rPr lang="en-US" dirty="0" err="1"/>
              <a:t>regionalDisplayName</a:t>
            </a:r>
            <a:r>
              <a:rPr lang="en-US" dirty="0"/>
              <a:t> metadata for UK-based regions in the Locations API. </a:t>
            </a:r>
          </a:p>
          <a:p>
            <a:pPr algn="just"/>
            <a:r>
              <a:rPr lang="en-US" dirty="0"/>
              <a:t>These changes will take effect this month, October 2025, and will apply to the existing UK South and UK West regions. It will introduce a new </a:t>
            </a:r>
            <a:r>
              <a:rPr lang="en-US" dirty="0" err="1"/>
              <a:t>geographyGroup</a:t>
            </a:r>
            <a:r>
              <a:rPr lang="en-US" dirty="0"/>
              <a:t> value: "UK", and the </a:t>
            </a:r>
            <a:r>
              <a:rPr lang="en-US" dirty="0" err="1"/>
              <a:t>regionalDisplayName</a:t>
            </a:r>
            <a:r>
              <a:rPr lang="en-US" dirty="0"/>
              <a:t> prefix will also be updated from "Europe" to "UK". </a:t>
            </a:r>
          </a:p>
          <a:p>
            <a:r>
              <a:rPr lang="en-US" dirty="0"/>
              <a:t>{ </a:t>
            </a:r>
            <a:br>
              <a:rPr lang="en-US" dirty="0"/>
            </a:br>
            <a:r>
              <a:rPr lang="en-US" dirty="0"/>
              <a:t>"name": "</a:t>
            </a:r>
            <a:r>
              <a:rPr lang="en-US" dirty="0" err="1"/>
              <a:t>uksouth</a:t>
            </a:r>
            <a:r>
              <a:rPr lang="en-US" dirty="0"/>
              <a:t>", </a:t>
            </a:r>
            <a:br>
              <a:rPr lang="en-US" dirty="0"/>
            </a:br>
            <a:r>
              <a:rPr lang="en-US" dirty="0"/>
              <a:t>"</a:t>
            </a:r>
            <a:r>
              <a:rPr lang="en-US" dirty="0" err="1"/>
              <a:t>displayName</a:t>
            </a:r>
            <a:r>
              <a:rPr lang="en-US" dirty="0"/>
              <a:t>": "UK South", </a:t>
            </a:r>
            <a:br>
              <a:rPr lang="en-US" dirty="0"/>
            </a:br>
            <a:r>
              <a:rPr lang="en-US" dirty="0"/>
              <a:t>"</a:t>
            </a:r>
            <a:r>
              <a:rPr lang="en-US" dirty="0" err="1"/>
              <a:t>regionalDisplayName</a:t>
            </a:r>
            <a:r>
              <a:rPr lang="en-US" dirty="0"/>
              <a:t>": </a:t>
            </a:r>
            <a:r>
              <a:rPr lang="en-US" b="1" dirty="0"/>
              <a:t>"(UK) </a:t>
            </a:r>
            <a:r>
              <a:rPr lang="en-US" dirty="0"/>
              <a:t>UK South", </a:t>
            </a:r>
            <a:br>
              <a:rPr lang="en-US" dirty="0"/>
            </a:br>
            <a:r>
              <a:rPr lang="en-US" dirty="0"/>
              <a:t>"metadata": { </a:t>
            </a:r>
            <a:br>
              <a:rPr lang="en-US" dirty="0"/>
            </a:br>
            <a:r>
              <a:rPr lang="en-US" dirty="0"/>
              <a:t>"geography": "United Kingdom", </a:t>
            </a:r>
          </a:p>
          <a:p>
            <a:r>
              <a:rPr lang="en-US" b="1" dirty="0"/>
              <a:t>"</a:t>
            </a:r>
            <a:r>
              <a:rPr lang="en-US" b="1" dirty="0" err="1"/>
              <a:t>geographyGroup</a:t>
            </a:r>
            <a:r>
              <a:rPr lang="en-US" b="1" dirty="0"/>
              <a:t>": "UK" </a:t>
            </a:r>
          </a:p>
          <a:p>
            <a:r>
              <a:rPr lang="en-US" dirty="0"/>
              <a:t>} </a:t>
            </a:r>
          </a:p>
          <a:p>
            <a:r>
              <a:rPr lang="en-US" dirty="0"/>
              <a:t>} </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a:xfrm>
            <a:off x="4433776" y="855080"/>
            <a:ext cx="4365038" cy="1306229"/>
          </a:xfrm>
        </p:spPr>
        <p:txBody>
          <a:bodyPr/>
          <a:lstStyle/>
          <a:p>
            <a:pPr algn="just"/>
            <a:r>
              <a:rPr lang="en-US" sz="1000" dirty="0">
                <a:hlinkClick r:id="rId2"/>
              </a:rPr>
              <a:t>General Availability of Online Migration to Azure Database for PostgreSQL Flexible server</a:t>
            </a:r>
            <a:endParaRPr lang="en-US" sz="1000" dirty="0"/>
          </a:p>
          <a:p>
            <a:pPr algn="just"/>
            <a:r>
              <a:rPr lang="en-US" sz="1000" dirty="0"/>
              <a:t>Online migration minimizes downtime by keeping source database operational during the migration process, with continuous data synchronization until cut over. </a:t>
            </a:r>
          </a:p>
          <a:p>
            <a:pPr algn="just"/>
            <a:r>
              <a:rPr lang="en-US" sz="1000" dirty="0"/>
              <a:t> A cutover is performed when the Azure Database for PostgreSQL - Flexible Server is in complete sync with the Postgres source, resulting in minimal downtime. </a:t>
            </a:r>
          </a:p>
          <a:p>
            <a:pPr algn="just"/>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3"/>
              </a:rPr>
              <a:t>Generally Available: PowerShell, Az cmdlets, and Python SDK for Azure Database Migration Service</a:t>
            </a:r>
            <a:endParaRPr lang="en-US" dirty="0"/>
          </a:p>
          <a:p>
            <a:pPr algn="just"/>
            <a:r>
              <a:rPr lang="en-US" dirty="0"/>
              <a:t>Announcing the general availability (GA) of </a:t>
            </a:r>
            <a:r>
              <a:rPr lang="en-US" b="1" dirty="0"/>
              <a:t>automation support for Azure Database Migration Service (DMS) through PowerShell, custom cmdlets, and the Python SDK. </a:t>
            </a:r>
          </a:p>
          <a:p>
            <a:pPr algn="just"/>
            <a:r>
              <a:rPr lang="en-US" dirty="0"/>
              <a:t>Using Azure </a:t>
            </a:r>
            <a:r>
              <a:rPr lang="en-US" b="1" dirty="0"/>
              <a:t>PowerShell </a:t>
            </a:r>
            <a:r>
              <a:rPr lang="en-US" b="1" dirty="0" err="1"/>
              <a:t>Az.DataMigration</a:t>
            </a:r>
            <a:r>
              <a:rPr lang="en-US" b="1" dirty="0"/>
              <a:t> </a:t>
            </a:r>
            <a:r>
              <a:rPr lang="en-US" dirty="0"/>
              <a:t>or Azure </a:t>
            </a:r>
            <a:r>
              <a:rPr lang="en-US" b="1" dirty="0"/>
              <a:t>CLI </a:t>
            </a:r>
            <a:r>
              <a:rPr lang="en-US" b="1" dirty="0" err="1"/>
              <a:t>az</a:t>
            </a:r>
            <a:r>
              <a:rPr lang="en-US" b="1" dirty="0"/>
              <a:t> </a:t>
            </a:r>
            <a:r>
              <a:rPr lang="en-US" b="1" dirty="0" err="1"/>
              <a:t>datamigration</a:t>
            </a:r>
            <a:r>
              <a:rPr lang="en-US" dirty="0"/>
              <a:t>, it is now possible to migrate databases by automating the creation of Azure DMS, configuring database migrations for online migration, and performing a cutover. For more commands and functionality, see Azure Samples. </a:t>
            </a:r>
          </a:p>
          <a:p>
            <a:pPr algn="just"/>
            <a:r>
              <a:rPr lang="en-US" dirty="0"/>
              <a:t>This milestone unlocks powerful, stable, and scalable automation options for database migration workflows—making it easier than ever to integrate DMS into your DevOps pipelines and enterprise migration strategies. </a:t>
            </a:r>
          </a:p>
        </p:txBody>
      </p:sp>
      <p:pic>
        <p:nvPicPr>
          <p:cNvPr id="3" name="Picture 2">
            <a:extLst>
              <a:ext uri="{FF2B5EF4-FFF2-40B4-BE49-F238E27FC236}">
                <a16:creationId xmlns:a16="http://schemas.microsoft.com/office/drawing/2014/main" id="{C9E24CD0-6242-286D-A0B4-9BA9CFD6AC3F}"/>
              </a:ext>
            </a:extLst>
          </p:cNvPr>
          <p:cNvPicPr>
            <a:picLocks noChangeAspect="1"/>
          </p:cNvPicPr>
          <p:nvPr/>
        </p:nvPicPr>
        <p:blipFill>
          <a:blip r:embed="rId4"/>
          <a:stretch>
            <a:fillRect/>
          </a:stretch>
        </p:blipFill>
        <p:spPr>
          <a:xfrm>
            <a:off x="4777167" y="2330589"/>
            <a:ext cx="3840817" cy="2161308"/>
          </a:xfrm>
          <a:prstGeom prst="rect">
            <a:avLst/>
          </a:prstGeom>
        </p:spPr>
      </p:pic>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Now in public preview: Ephemeral OS disk support on Azure Virtual Desktop</a:t>
            </a:r>
            <a:endParaRPr lang="en-US" dirty="0"/>
          </a:p>
          <a:p>
            <a:pPr algn="just"/>
            <a:r>
              <a:rPr lang="en-US" dirty="0"/>
              <a:t>Azure Virtual Desktop announced the public preview of Ephemeral OS disk support. Designed for stateless workloads, Ephemeral OS disk stores the operating system on the virtual machine’s local storage, rather than remote storage. This enables a faster session host creation experience and improved performance, while maintaining a consistent and responsive user experience. Ephemeral OS disk offers: </a:t>
            </a:r>
          </a:p>
          <a:p>
            <a:pPr marL="171450" indent="-171450" algn="just">
              <a:buFont typeface="Arial" panose="020B0604020202020204" pitchFamily="34" charset="0"/>
              <a:buChar char="•"/>
            </a:pPr>
            <a:r>
              <a:rPr lang="en-US" dirty="0"/>
              <a:t>Faster provisioning and reimaging: Session hosts can be created or reset.</a:t>
            </a:r>
          </a:p>
          <a:p>
            <a:pPr marL="171450" indent="-171450" algn="just">
              <a:buFont typeface="Arial" panose="020B0604020202020204" pitchFamily="34" charset="0"/>
              <a:buChar char="•"/>
            </a:pPr>
            <a:r>
              <a:rPr lang="en-US" dirty="0"/>
              <a:t>Improved Performance: By keeping read/write operations local, users experience faster access times and reduced latency.</a:t>
            </a:r>
          </a:p>
          <a:p>
            <a:pPr marL="171450" indent="-171450" algn="just">
              <a:buFont typeface="Arial" panose="020B0604020202020204" pitchFamily="34" charset="0"/>
              <a:buChar char="•"/>
            </a:pPr>
            <a:r>
              <a:rPr lang="en-US" dirty="0"/>
              <a:t>Optimized for stateless workloads: Ideal for environments that do not need to retain session host state information between uses.</a:t>
            </a:r>
          </a:p>
        </p:txBody>
      </p:sp>
      <p:pic>
        <p:nvPicPr>
          <p:cNvPr id="3" name="Picture 2">
            <a:extLst>
              <a:ext uri="{FF2B5EF4-FFF2-40B4-BE49-F238E27FC236}">
                <a16:creationId xmlns:a16="http://schemas.microsoft.com/office/drawing/2014/main" id="{9ED8F338-3D1C-F0CA-6CE1-F540DF865E9F}"/>
              </a:ext>
            </a:extLst>
          </p:cNvPr>
          <p:cNvPicPr>
            <a:picLocks noChangeAspect="1"/>
          </p:cNvPicPr>
          <p:nvPr/>
        </p:nvPicPr>
        <p:blipFill>
          <a:blip r:embed="rId3"/>
          <a:stretch>
            <a:fillRect/>
          </a:stretch>
        </p:blipFill>
        <p:spPr>
          <a:xfrm>
            <a:off x="805689" y="3206889"/>
            <a:ext cx="3029733" cy="1762991"/>
          </a:xfrm>
          <a:prstGeom prst="rect">
            <a:avLst/>
          </a:prstGeom>
        </p:spPr>
      </p:pic>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a:xfrm>
            <a:off x="4433776" y="855081"/>
            <a:ext cx="4365038" cy="1396284"/>
          </a:xfrm>
        </p:spPr>
        <p:txBody>
          <a:bodyPr/>
          <a:lstStyle/>
          <a:p>
            <a:pPr algn="just"/>
            <a:r>
              <a:rPr lang="en-US" sz="1000" dirty="0">
                <a:hlinkClick r:id="rId2"/>
              </a:rPr>
              <a:t>Generally Available: New OS SKU </a:t>
            </a:r>
            <a:r>
              <a:rPr lang="en-US" sz="1000" dirty="0" err="1">
                <a:hlinkClick r:id="rId2"/>
              </a:rPr>
              <a:t>enum</a:t>
            </a:r>
            <a:r>
              <a:rPr lang="en-US" sz="1000" dirty="0">
                <a:hlinkClick r:id="rId2"/>
              </a:rPr>
              <a:t> to migrate to Azure Linux 3.0</a:t>
            </a:r>
            <a:endParaRPr lang="en-US" sz="1000" dirty="0"/>
          </a:p>
          <a:p>
            <a:pPr algn="just"/>
            <a:r>
              <a:rPr lang="en-US" sz="1000" dirty="0"/>
              <a:t>It is now possible to migrate to Azure Linux 3.0 with a new OS SKU </a:t>
            </a:r>
            <a:r>
              <a:rPr lang="en-US" sz="1000" dirty="0" err="1"/>
              <a:t>enum</a:t>
            </a:r>
            <a:r>
              <a:rPr lang="en-US" sz="1000" dirty="0"/>
              <a:t>, ‘AzureLinux3’, in Kubernetes version 1.28-1.36.  </a:t>
            </a:r>
          </a:p>
          <a:p>
            <a:pPr algn="just"/>
            <a:r>
              <a:rPr lang="en-US" sz="1000" dirty="0"/>
              <a:t>This new option provides increased control over </a:t>
            </a:r>
            <a:r>
              <a:rPr lang="en-US" sz="1000" b="1" dirty="0"/>
              <a:t>OS upgrades by decoupling them from Kubernetes upgrade</a:t>
            </a:r>
            <a:r>
              <a:rPr lang="en-US" sz="1000" dirty="0"/>
              <a:t>s. Customers using LTS version 1.28-1.31 can now migrate from Azure Linux 2.0 to Azure Linux 3.0 without a Kubernetes upgrade. </a:t>
            </a:r>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a:xfrm>
            <a:off x="342900" y="855080"/>
            <a:ext cx="3955312" cy="1971247"/>
          </a:xfrm>
        </p:spPr>
        <p:txBody>
          <a:bodyPr/>
          <a:lstStyle/>
          <a:p>
            <a:pPr algn="just"/>
            <a:r>
              <a:rPr lang="en-US" dirty="0">
                <a:hlinkClick r:id="rId3"/>
              </a:rPr>
              <a:t>Generally Available: Azure Functions support for Python 3.13</a:t>
            </a:r>
            <a:endParaRPr lang="en-US" dirty="0"/>
          </a:p>
          <a:p>
            <a:pPr algn="just"/>
            <a:r>
              <a:rPr lang="en-US" dirty="0"/>
              <a:t>It is now possible to develop functions using </a:t>
            </a:r>
            <a:r>
              <a:rPr lang="en-US" b="1" dirty="0"/>
              <a:t>Python 3.13 </a:t>
            </a:r>
            <a:r>
              <a:rPr lang="en-US" dirty="0"/>
              <a:t>locally and deploy them to Azure Functions.   </a:t>
            </a:r>
          </a:p>
          <a:p>
            <a:pPr algn="just"/>
            <a:r>
              <a:rPr lang="en-US" dirty="0"/>
              <a:t>Starting with </a:t>
            </a:r>
            <a:r>
              <a:rPr lang="en-US" b="1" dirty="0"/>
              <a:t>Python 3.13</a:t>
            </a:r>
            <a:r>
              <a:rPr lang="en-US" dirty="0"/>
              <a:t>, Functions introduces runtime version control, a new opt-in feature that lets target specific versions of the Functions Python runtime used by app. Python 3.13 also introduces several enhancements to Functions that improve performance and reliability. In Python 3.13+, Azure Functions no longer supports custom worker extensions and shared memory for large payloads, requiring migration to supported alternatives and </a:t>
            </a:r>
            <a:r>
              <a:rPr lang="en-US" dirty="0" err="1"/>
              <a:t>gRPC</a:t>
            </a:r>
            <a:r>
              <a:rPr lang="en-US" dirty="0"/>
              <a:t>-based messaging.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Spot Placement Score</a:t>
            </a:r>
            <a:endParaRPr lang="en-US" sz="1000" dirty="0"/>
          </a:p>
          <a:p>
            <a:pPr algn="just"/>
            <a:r>
              <a:rPr lang="en-US" sz="1000" dirty="0"/>
              <a:t>MS announced Azure Spot Placement Score, a feature that allows assessing the likelihood of deployment success for Spot virtual machines. Spot availability can vary across different combinations of Azure locations, availability zones, or VM sizes. Spot Placement Score provides the ability to evaluate the chance of deployment success on a near real-time basis, by assigning a rating of High, Medium, or Low for a given number of Spot VMs before deployment. This feature provides increased clarity and control, enabling to make more informed decisions about which Spot VMs to deploy and where. </a:t>
            </a:r>
          </a:p>
          <a:p>
            <a:pPr algn="just"/>
            <a:r>
              <a:rPr lang="en-US" sz="1000" dirty="0"/>
              <a:t>Using Spot Placement Score allows:  </a:t>
            </a:r>
          </a:p>
          <a:p>
            <a:pPr marL="171450" indent="-171450" algn="just">
              <a:buFont typeface="Arial" panose="020B0604020202020204" pitchFamily="34" charset="0"/>
              <a:buChar char="•"/>
            </a:pPr>
            <a:r>
              <a:rPr lang="en-US" sz="1000" dirty="0"/>
              <a:t>A clear evaluation of how likely Spot deployment is to succeed based on specified parameters.   </a:t>
            </a:r>
          </a:p>
          <a:p>
            <a:pPr marL="171450" indent="-171450" algn="just">
              <a:buFont typeface="Arial" panose="020B0604020202020204" pitchFamily="34" charset="0"/>
              <a:buChar char="•"/>
            </a:pPr>
            <a:r>
              <a:rPr lang="en-US" sz="1000" dirty="0"/>
              <a:t>Identify the most suitable combination of regions and VM sizes to maximize Spot VM availability based on placement scores.   </a:t>
            </a:r>
          </a:p>
          <a:p>
            <a:pPr marL="171450" indent="-171450" algn="just">
              <a:buFont typeface="Arial" panose="020B0604020202020204" pitchFamily="34" charset="0"/>
              <a:buChar char="•"/>
            </a:pPr>
            <a:r>
              <a:rPr lang="en-US" sz="1000" dirty="0"/>
              <a:t>Improve the overall success rate of deploying Spot VMs by leveraging data-driven placement scores, reducing the risk of capacity issues or failures during deployment.  </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Availability Zones and network restricted Key Vault and App Configuration references for Flex Consumption</a:t>
            </a:r>
            <a:endParaRPr lang="en-US" dirty="0"/>
          </a:p>
          <a:p>
            <a:pPr algn="just"/>
            <a:r>
              <a:rPr lang="en-US" dirty="0"/>
              <a:t>It is now possible to enable availability zones for Azure Functions Flex Consumption apps during both creation and post-deployment. When enabled, instances are automatically distributed across zones, enhancing reliability and fault tolerance. </a:t>
            </a:r>
          </a:p>
          <a:p>
            <a:pPr marL="171450" indent="-171450" algn="just">
              <a:buFont typeface="Arial" panose="020B0604020202020204" pitchFamily="34" charset="0"/>
              <a:buChar char="•"/>
            </a:pPr>
            <a:r>
              <a:rPr lang="en-US" dirty="0"/>
              <a:t>New Region Support: Availability zones are now also supported in East US and Southeast Asia. </a:t>
            </a:r>
          </a:p>
          <a:p>
            <a:pPr marL="171450" indent="-171450" algn="just">
              <a:buFont typeface="Arial" panose="020B0604020202020204" pitchFamily="34" charset="0"/>
              <a:buChar char="•"/>
            </a:pPr>
            <a:r>
              <a:rPr lang="en-US" dirty="0"/>
              <a:t>Flex Consumption apps now support Key Vault and App Configuration references as app settings, even when those resources are network restricted.  To use this feature, ensure that the app has outbound networking configured and confirm it can reach the referenced services.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4433776" y="855080"/>
            <a:ext cx="4365038" cy="1798065"/>
          </a:xfrm>
        </p:spPr>
        <p:txBody>
          <a:bodyPr/>
          <a:lstStyle/>
          <a:p>
            <a:pPr algn="just"/>
            <a:r>
              <a:rPr lang="en-US" sz="1000" dirty="0">
                <a:hlinkClick r:id="rId2"/>
              </a:rPr>
              <a:t>Retirement: The F, Fs, Fsv2, Lsv2, G, </a:t>
            </a:r>
            <a:r>
              <a:rPr lang="en-US" sz="1000" dirty="0" err="1">
                <a:hlinkClick r:id="rId2"/>
              </a:rPr>
              <a:t>Gs</a:t>
            </a:r>
            <a:r>
              <a:rPr lang="en-US" sz="1000" dirty="0">
                <a:hlinkClick r:id="rId2"/>
              </a:rPr>
              <a:t>, Av2, Amv2, and B series VMs are retiring in 2028</a:t>
            </a:r>
            <a:endParaRPr lang="en-US" sz="1000" dirty="0"/>
          </a:p>
          <a:p>
            <a:pPr algn="just"/>
            <a:r>
              <a:rPr lang="en-US" sz="1000" dirty="0"/>
              <a:t>The F, Fs, Fsv2, Lsv2, G, </a:t>
            </a:r>
            <a:r>
              <a:rPr lang="en-US" sz="1000" dirty="0" err="1"/>
              <a:t>Gs</a:t>
            </a:r>
            <a:r>
              <a:rPr lang="en-US" sz="1000" dirty="0"/>
              <a:t>, Av2, Amv2, and B series of Azure Virtual Machines will retire </a:t>
            </a:r>
            <a:r>
              <a:rPr lang="en-US" sz="1000" b="1" dirty="0"/>
              <a:t>on November 15th, 2028</a:t>
            </a:r>
            <a:r>
              <a:rPr lang="en-US" sz="1000" dirty="0"/>
              <a:t>. These VMs will no longer be able to be used or purchased after this date.   </a:t>
            </a:r>
          </a:p>
          <a:p>
            <a:pPr algn="just"/>
            <a:r>
              <a:rPr lang="en-US" sz="1000" dirty="0"/>
              <a:t>Three-year reserved instances for these VMs can no longer be purchased or renewed starting on </a:t>
            </a:r>
            <a:r>
              <a:rPr lang="en-US" sz="1000" dirty="0" err="1"/>
              <a:t>Novermber</a:t>
            </a:r>
            <a:r>
              <a:rPr lang="en-US" sz="1000" dirty="0"/>
              <a:t> 15th, 2025. One-year reserved VM instances for these VMs will not be available for purchased or renewal after November 15th, 2027.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Confidential Containers preview on AKS is Closing Down</a:t>
            </a:r>
            <a:endParaRPr lang="en-US" dirty="0"/>
          </a:p>
          <a:p>
            <a:pPr algn="just"/>
            <a:r>
              <a:rPr lang="en-US" dirty="0"/>
              <a:t>The public preview of </a:t>
            </a:r>
            <a:r>
              <a:rPr lang="en-US" b="1" dirty="0"/>
              <a:t>Confidential Containers on AKS will be shutting down</a:t>
            </a:r>
            <a:r>
              <a:rPr lang="en-US" dirty="0"/>
              <a:t>.</a:t>
            </a:r>
          </a:p>
          <a:p>
            <a:pPr algn="just"/>
            <a:r>
              <a:rPr lang="en-US" dirty="0"/>
              <a:t>This feature has been available in preview since 202. What this means:  </a:t>
            </a:r>
          </a:p>
          <a:p>
            <a:pPr marL="171450" indent="-171450" algn="just">
              <a:buFont typeface="Arial" panose="020B0604020202020204" pitchFamily="34" charset="0"/>
              <a:buChar char="•"/>
            </a:pPr>
            <a:r>
              <a:rPr lang="en-US" dirty="0"/>
              <a:t>Existing node pools using KataCcIsolation will continue to operate until </a:t>
            </a:r>
            <a:r>
              <a:rPr lang="en-US" b="1" dirty="0"/>
              <a:t>March 2, 2026. </a:t>
            </a:r>
          </a:p>
          <a:p>
            <a:pPr marL="171450" indent="-171450" algn="just">
              <a:buFont typeface="Arial" panose="020B0604020202020204" pitchFamily="34" charset="0"/>
              <a:buChar char="•"/>
            </a:pPr>
            <a:r>
              <a:rPr lang="en-US" dirty="0"/>
              <a:t>After </a:t>
            </a:r>
            <a:r>
              <a:rPr lang="en-US" b="1" dirty="0"/>
              <a:t>March 2, 2026, </a:t>
            </a:r>
            <a:r>
              <a:rPr lang="en-US" dirty="0"/>
              <a:t>Confidential Container functionality will no longer be supported, and new node pools using this runtime cannot be created. </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a:xfrm>
            <a:off x="342900" y="855080"/>
            <a:ext cx="3955312" cy="1825775"/>
          </a:xfrm>
        </p:spPr>
        <p:txBody>
          <a:bodyPr/>
          <a:lstStyle/>
          <a:p>
            <a:pPr algn="just"/>
            <a:r>
              <a:rPr lang="en-US" dirty="0">
                <a:hlinkClick r:id="rId2"/>
              </a:rPr>
              <a:t>Generally Available: Azure Storage Discovery</a:t>
            </a:r>
            <a:endParaRPr lang="en-US" dirty="0"/>
          </a:p>
          <a:p>
            <a:pPr algn="just"/>
            <a:r>
              <a:rPr lang="en-US" dirty="0"/>
              <a:t>Azure Storage Discovery is a fully managed service that provides enterprise-wide visibility into your Azure Blob Storage and Azure Data Lake Storage estate. In a single pane of glass you can understand and analyze how your data estate evolved over time, optimize costs, enhance security, and drive operational efficiency.</a:t>
            </a:r>
          </a:p>
          <a:p>
            <a:pPr algn="just"/>
            <a:r>
              <a:rPr lang="en-US" dirty="0"/>
              <a:t>Azure Storage Discovery integrates with Copilot in Azure, enabling you to unlock insights and accelerate decision-making without utilizing any query language.</a:t>
            </a:r>
          </a:p>
        </p:txBody>
      </p:sp>
      <p:pic>
        <p:nvPicPr>
          <p:cNvPr id="2052" name="Picture 4" descr="Azure portal sowing a Discovery report and copilot chat window.">
            <a:extLst>
              <a:ext uri="{FF2B5EF4-FFF2-40B4-BE49-F238E27FC236}">
                <a16:creationId xmlns:a16="http://schemas.microsoft.com/office/drawing/2014/main" id="{5DA77654-DA24-6D89-D7FC-11DFF37BE5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393" y="2620241"/>
            <a:ext cx="3657598" cy="20573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8D7E2C0-6EE4-85CD-6B77-D1E204E0F951}"/>
              </a:ext>
            </a:extLst>
          </p:cNvPr>
          <p:cNvPicPr>
            <a:picLocks noChangeAspect="1"/>
          </p:cNvPicPr>
          <p:nvPr/>
        </p:nvPicPr>
        <p:blipFill>
          <a:blip r:embed="rId4"/>
          <a:stretch>
            <a:fillRect/>
          </a:stretch>
        </p:blipFill>
        <p:spPr>
          <a:xfrm>
            <a:off x="4355276" y="1034967"/>
            <a:ext cx="4238181" cy="1585274"/>
          </a:xfrm>
          <a:prstGeom prst="rect">
            <a:avLst/>
          </a:prstGeom>
        </p:spPr>
      </p:pic>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2"/>
              </a:rPr>
              <a:t>Generally Available: SAP Business Data Cloud Connect to Azure Databricks</a:t>
            </a:r>
            <a:endParaRPr lang="en-US" dirty="0"/>
          </a:p>
          <a:p>
            <a:pPr algn="just"/>
            <a:r>
              <a:rPr lang="en-US" dirty="0"/>
              <a:t>SAP Business Data Cloud (BDC) Connect to Azure Databricks is now generally available, enabling secure, </a:t>
            </a:r>
            <a:r>
              <a:rPr lang="en-US" b="1" dirty="0"/>
              <a:t>bi-directional, zero-copy data sharing between SAP BDC and Azure Databricks using Delta Sharing</a:t>
            </a:r>
            <a:r>
              <a:rPr lang="en-US" dirty="0"/>
              <a:t>, so teams can unify SAP and external data for analytics, BI, and AI without replication or governance gaps. This integration streamlines pipelines, reduces maintenance, and ensures SAP business context remains intact, powering advanced data products and AI on a trusted, governed foundation. Get started today in Azure Databricks to unlock live, contextual SAP data for your analytics and machine learning needs.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a:xfrm>
            <a:off x="4433776" y="855081"/>
            <a:ext cx="4365038" cy="1451702"/>
          </a:xfrm>
        </p:spPr>
        <p:txBody>
          <a:bodyPr/>
          <a:lstStyle/>
          <a:p>
            <a:pPr algn="just"/>
            <a:r>
              <a:rPr lang="en-US" sz="1000" dirty="0">
                <a:hlinkClick r:id="rId2"/>
              </a:rPr>
              <a:t>Generally Available: Microsoft Entra ID token refresh code samples in Python and .NET</a:t>
            </a:r>
            <a:endParaRPr lang="en-US" sz="1000" dirty="0"/>
          </a:p>
          <a:p>
            <a:pPr algn="just"/>
            <a:r>
              <a:rPr lang="en-US" sz="1000" dirty="0"/>
              <a:t>It is now possible to access code samples for Entra ID token refresh using Python and .NET in Azure Database for PostgreSQL. These samples are designed to help securely manage authentication tokens when connecting to PostgreSQL database with Entra ID, ensuring seamless access without manual token handling.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PostgreSQL 18 on Azure Database for PostgreSQL – Flexible Server</a:t>
            </a:r>
            <a:endParaRPr lang="en-US" dirty="0"/>
          </a:p>
          <a:p>
            <a:pPr algn="just"/>
            <a:r>
              <a:rPr lang="en-US" dirty="0"/>
              <a:t>It is now possible to use PostgreSQL 18 in public preview on </a:t>
            </a:r>
            <a:r>
              <a:rPr lang="en-US" b="1" dirty="0"/>
              <a:t>Azure Database for PostgreSQL – Flexible Server.</a:t>
            </a:r>
          </a:p>
          <a:p>
            <a:pPr algn="just"/>
            <a:r>
              <a:rPr lang="en-US" dirty="0"/>
              <a:t>PostgreSQL 18 introduces </a:t>
            </a:r>
            <a:r>
              <a:rPr lang="en-US" b="1" dirty="0"/>
              <a:t>new performance, scalability, and developer productivity improvements</a:t>
            </a:r>
            <a:r>
              <a:rPr lang="en-US" dirty="0"/>
              <a:t>. With this preview, you get early access to the latest community release on a fully managed Azure service. By running PostgreSQL 18 on flexible server, you can test application compatibility, explore new SQL and performance features, and prepare for upgrades well before general availability. </a:t>
            </a:r>
          </a:p>
          <a:p>
            <a:pPr marL="171450" indent="-171450" algn="just">
              <a:buFont typeface="Arial" panose="020B0604020202020204" pitchFamily="34" charset="0"/>
              <a:buChar char="•"/>
            </a:pPr>
            <a:r>
              <a:rPr lang="en-US" dirty="0"/>
              <a:t>Microsoft Entra ID authentication not yet available in preview (support coming soon).</a:t>
            </a:r>
          </a:p>
          <a:p>
            <a:pPr marL="171450" indent="-171450" algn="just">
              <a:buFont typeface="Arial" panose="020B0604020202020204" pitchFamily="34" charset="0"/>
              <a:buChar char="•"/>
            </a:pPr>
            <a:r>
              <a:rPr lang="en-US" dirty="0"/>
              <a:t>Limited extension availability (see supported list).</a:t>
            </a:r>
          </a:p>
          <a:p>
            <a:pPr marL="171450" indent="-171450" algn="just">
              <a:buFont typeface="Arial" panose="020B0604020202020204" pitchFamily="34" charset="0"/>
              <a:buChar char="•"/>
            </a:pPr>
            <a:r>
              <a:rPr lang="en-US" dirty="0"/>
              <a:t>Query store and index tuning not available.</a:t>
            </a:r>
          </a:p>
          <a:p>
            <a:pPr marL="171450" indent="-171450" algn="just">
              <a:buFont typeface="Arial" panose="020B0604020202020204" pitchFamily="34" charset="0"/>
              <a:buChar char="•"/>
            </a:pPr>
            <a:r>
              <a:rPr lang="en-US" dirty="0"/>
              <a:t>Available only in East Asia region during preview.</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r>
              <a:rPr lang="en-US" sz="1000" dirty="0"/>
              <a:t>Limitations &amp; Notes</a:t>
            </a:r>
          </a:p>
          <a:p>
            <a:pPr marL="171450" indent="-171450">
              <a:buFont typeface="Arial" panose="020B0604020202020204" pitchFamily="34" charset="0"/>
              <a:buChar char="•"/>
            </a:pPr>
            <a:r>
              <a:rPr lang="en-US" sz="1000" dirty="0"/>
              <a:t>You can create up to four geo-replicas per database.</a:t>
            </a:r>
          </a:p>
          <a:p>
            <a:pPr marL="171450" indent="-171450">
              <a:buFont typeface="Arial" panose="020B0604020202020204" pitchFamily="34" charset="0"/>
              <a:buChar char="•"/>
            </a:pPr>
            <a:r>
              <a:rPr lang="en-US" sz="1000" dirty="0"/>
              <a:t>Geo-replicas must be created on different logical servers.</a:t>
            </a:r>
          </a:p>
          <a:p>
            <a:pPr marL="171450" indent="-171450">
              <a:buFont typeface="Arial" panose="020B0604020202020204" pitchFamily="34" charset="0"/>
              <a:buChar char="•"/>
            </a:pPr>
            <a:r>
              <a:rPr lang="en-US" sz="1000" dirty="0"/>
              <a:t>Chaining (creating a geo-replica of a geo-replica) is not supported.</a:t>
            </a:r>
          </a:p>
          <a:p>
            <a:pPr marL="171450" indent="-171450">
              <a:buFont typeface="Arial" panose="020B0604020202020204" pitchFamily="34" charset="0"/>
              <a:buChar char="•"/>
            </a:pPr>
            <a:r>
              <a:rPr lang="en-US" sz="1000" dirty="0"/>
              <a:t>If you would like zone redundancy enabled for the geo-replica, you must configure that setting during the create geo-replica process since the setting is not automatically inherited from the primary database.</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a:xfrm>
            <a:off x="342900" y="855081"/>
            <a:ext cx="3955312" cy="1716670"/>
          </a:xfrm>
        </p:spPr>
        <p:txBody>
          <a:bodyPr/>
          <a:lstStyle/>
          <a:p>
            <a:pPr algn="just"/>
            <a:r>
              <a:rPr lang="en-US" dirty="0">
                <a:hlinkClick r:id="rId2"/>
              </a:rPr>
              <a:t>Multiple geo-replicas for Azure SQL Hyperscale is now in public preview</a:t>
            </a:r>
            <a:endParaRPr lang="en-US" dirty="0"/>
          </a:p>
          <a:p>
            <a:pPr algn="just"/>
            <a:r>
              <a:rPr lang="en-US" dirty="0"/>
              <a:t>Active geo-replication for Azure SQL is a business continuity solution that lets perform quick disaster recovery of individual databases if there is a regional disaster or a large-scale outage.  Up to four geo-secondaries could be created for an Azure SQL database, except for Hyperscale, until now. </a:t>
            </a:r>
          </a:p>
          <a:p>
            <a:pPr algn="just"/>
            <a:r>
              <a:rPr lang="en-US" dirty="0"/>
              <a:t>MS announced that Azure SQL Database Hyperscale support for up to four geo-replicas is available now in public preview. This enhancement gives you greater flexibility for disaster recovery, regional scale-out, and migration scenarios.</a:t>
            </a:r>
          </a:p>
        </p:txBody>
      </p:sp>
      <p:pic>
        <p:nvPicPr>
          <p:cNvPr id="3" name="Picture 2">
            <a:extLst>
              <a:ext uri="{FF2B5EF4-FFF2-40B4-BE49-F238E27FC236}">
                <a16:creationId xmlns:a16="http://schemas.microsoft.com/office/drawing/2014/main" id="{16FABC37-7B59-7D58-90D5-847EC5EDBA2B}"/>
              </a:ext>
            </a:extLst>
          </p:cNvPr>
          <p:cNvPicPr>
            <a:picLocks noChangeAspect="1"/>
          </p:cNvPicPr>
          <p:nvPr/>
        </p:nvPicPr>
        <p:blipFill>
          <a:blip r:embed="rId3"/>
          <a:stretch>
            <a:fillRect/>
          </a:stretch>
        </p:blipFill>
        <p:spPr>
          <a:xfrm>
            <a:off x="493454" y="2632364"/>
            <a:ext cx="3654203" cy="1918855"/>
          </a:xfrm>
          <a:prstGeom prst="rect">
            <a:avLst/>
          </a:prstGeom>
        </p:spPr>
      </p:pic>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Environmental sustainability features in Azure API Management</a:t>
            </a:r>
            <a:endParaRPr lang="en-US" dirty="0"/>
          </a:p>
          <a:p>
            <a:pPr algn="just"/>
            <a:r>
              <a:rPr lang="en-US" dirty="0"/>
              <a:t>These capabilities help organizations </a:t>
            </a:r>
            <a:r>
              <a:rPr lang="en-US" b="1" dirty="0"/>
              <a:t>minimize the carbon footprint of their API infrastructure</a:t>
            </a:r>
            <a:r>
              <a:rPr lang="en-US" dirty="0"/>
              <a:t> by making API traffic and policy behavior carbon-aware.</a:t>
            </a:r>
          </a:p>
          <a:p>
            <a:pPr algn="just"/>
            <a:r>
              <a:rPr lang="en-US" dirty="0"/>
              <a:t>With these new features, it is possible:</a:t>
            </a:r>
          </a:p>
          <a:p>
            <a:pPr marL="171450" indent="-171450" algn="just">
              <a:buFont typeface="Arial" panose="020B0604020202020204" pitchFamily="34" charset="0"/>
              <a:buChar char="•"/>
            </a:pPr>
            <a:r>
              <a:rPr lang="en-US" dirty="0"/>
              <a:t>Shift and load-balance API traffic to backend </a:t>
            </a:r>
            <a:r>
              <a:rPr lang="en-US" b="1" dirty="0"/>
              <a:t>regions with lower carbon intensity.</a:t>
            </a:r>
          </a:p>
          <a:p>
            <a:pPr marL="171450" indent="-171450" algn="just">
              <a:buFont typeface="Arial" panose="020B0604020202020204" pitchFamily="34" charset="0"/>
              <a:buChar char="•"/>
            </a:pPr>
            <a:r>
              <a:rPr lang="en-US" dirty="0"/>
              <a:t>Shape API traffic dynamically based on real-time carbon emissions in API Management region.</a:t>
            </a:r>
          </a:p>
          <a:p>
            <a:pPr marL="171450" indent="-171450" algn="just">
              <a:buFont typeface="Arial" panose="020B0604020202020204" pitchFamily="34" charset="0"/>
              <a:buChar char="•"/>
            </a:pPr>
            <a:r>
              <a:rPr lang="en-US" dirty="0"/>
              <a:t>Build carbon-intelligent policies using the new </a:t>
            </a:r>
            <a:r>
              <a:rPr lang="en-US" dirty="0" err="1"/>
              <a:t>context.Deployment.SustainabilityInfo.CurrentCarbonIntensity</a:t>
            </a:r>
            <a:r>
              <a:rPr lang="en-US" dirty="0"/>
              <a:t> property to adapt caching, telemetry, or rate-limiting based on emission levels.</a:t>
            </a:r>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78F22-A9E3-2B6E-58E1-F0D0E1E104E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0409C6D-0E1D-A764-A4B4-2D3FADB4EE00}"/>
              </a:ext>
            </a:extLst>
          </p:cNvPr>
          <p:cNvSpPr>
            <a:spLocks noGrp="1"/>
          </p:cNvSpPr>
          <p:nvPr>
            <p:ph type="body" sz="quarter" idx="10"/>
          </p:nvPr>
        </p:nvSpPr>
        <p:spPr>
          <a:xfrm>
            <a:off x="4433776" y="855080"/>
            <a:ext cx="4365038" cy="1493265"/>
          </a:xfrm>
        </p:spPr>
        <p:txBody>
          <a:bodyPr/>
          <a:lstStyle/>
          <a:p>
            <a:pPr marL="171450" indent="-171450">
              <a:buFont typeface="Arial" panose="020B0604020202020204" pitchFamily="34" charset="0"/>
              <a:buChar char="•"/>
            </a:pPr>
            <a:r>
              <a:rPr lang="en-US" sz="1000" b="1" dirty="0"/>
              <a:t>MQTT Assigned Client Identifiers: </a:t>
            </a:r>
            <a:r>
              <a:rPr lang="en-US" sz="1000" dirty="0"/>
              <a:t>Assign deterministic, pre-approved client identifiers to MQTT clients to offer session continuity, better device tracking, simplified diagnostics, and improved auditability—critical for managing long-lived connections and operational visibility in regulated industries. </a:t>
            </a:r>
          </a:p>
          <a:p>
            <a:pPr marL="171450" indent="-171450">
              <a:buFont typeface="Arial" panose="020B0604020202020204" pitchFamily="34" charset="0"/>
              <a:buChar char="•"/>
            </a:pPr>
            <a:r>
              <a:rPr lang="en-US" sz="1000" b="1" dirty="0"/>
              <a:t>First Class integration with Fabric :  </a:t>
            </a:r>
            <a:r>
              <a:rPr lang="en-US" sz="1000" dirty="0"/>
              <a:t>Route MQTT messages and Cloud Events from Event Grid Namespace to Fabric Event Streams for real-time analytics, storage, visualization of IoT data without using Event Hubs. </a:t>
            </a:r>
          </a:p>
        </p:txBody>
      </p:sp>
      <p:sp>
        <p:nvSpPr>
          <p:cNvPr id="11" name="Title 10">
            <a:extLst>
              <a:ext uri="{FF2B5EF4-FFF2-40B4-BE49-F238E27FC236}">
                <a16:creationId xmlns:a16="http://schemas.microsoft.com/office/drawing/2014/main" id="{1A1E796A-EE79-410E-046D-1D63E445E96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ED4F9DC-B482-0291-E516-FC62C0D1927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C3960749-A6C0-6C05-2CF4-B9E16BFA36F2}"/>
              </a:ext>
            </a:extLst>
          </p:cNvPr>
          <p:cNvSpPr>
            <a:spLocks noGrp="1"/>
          </p:cNvSpPr>
          <p:nvPr>
            <p:ph type="body" sz="quarter" idx="16"/>
          </p:nvPr>
        </p:nvSpPr>
        <p:spPr/>
        <p:txBody>
          <a:bodyPr/>
          <a:lstStyle/>
          <a:p>
            <a:pPr algn="just"/>
            <a:r>
              <a:rPr lang="en-US" dirty="0">
                <a:hlinkClick r:id="rId2"/>
              </a:rPr>
              <a:t>Generally Available: Azure Event Grid new capabilities</a:t>
            </a:r>
            <a:endParaRPr lang="en-US" dirty="0"/>
          </a:p>
          <a:p>
            <a:pPr algn="just"/>
            <a:r>
              <a:rPr lang="en-US" dirty="0"/>
              <a:t>Multiple new Azure Event Grid features have reached General Availability, supporting real-time telemetry, automation, and hybrid workloads.</a:t>
            </a:r>
          </a:p>
          <a:p>
            <a:pPr algn="just"/>
            <a:r>
              <a:rPr lang="en-US" dirty="0"/>
              <a:t>Features now in General Availability:</a:t>
            </a:r>
          </a:p>
          <a:p>
            <a:pPr marL="171450" indent="-171450" algn="just">
              <a:buFont typeface="Arial" panose="020B0604020202020204" pitchFamily="34" charset="0"/>
              <a:buChar char="•"/>
            </a:pPr>
            <a:r>
              <a:rPr lang="en-US" b="1" dirty="0"/>
              <a:t>MQTT OAuth 2.0 Authentication: </a:t>
            </a:r>
            <a:r>
              <a:rPr lang="en-US" dirty="0"/>
              <a:t>Authenticate MQTT clients using JSON Web Tokens (JWTs) issued by any OpenID Connect (OIDC)-compliant identity provider, enabling seamless integration with Microsoft Entra ID (formerly Azure AD), custom identity platforms, or third-party IAM solutions.  </a:t>
            </a:r>
          </a:p>
          <a:p>
            <a:pPr marL="171450" indent="-171450" algn="just">
              <a:buFont typeface="Arial" panose="020B0604020202020204" pitchFamily="34" charset="0"/>
              <a:buChar char="•"/>
            </a:pPr>
            <a:r>
              <a:rPr lang="en-US" b="1" dirty="0"/>
              <a:t>MQTT Custom Webhook Authentication: </a:t>
            </a:r>
            <a:r>
              <a:rPr lang="en-US" dirty="0"/>
              <a:t>Use external webhooks or Azure Functions to dynamically validate client connections. Authorize with shared access signatures (SAS), API keys, custom credentials, or X.509 certificate fingerprints to support scenarios requiring granular control across large, dynamic fleets of devices or multitenant environments. </a:t>
            </a:r>
          </a:p>
        </p:txBody>
      </p:sp>
    </p:spTree>
    <p:extLst>
      <p:ext uri="{BB962C8B-B14F-4D97-AF65-F5344CB8AC3E}">
        <p14:creationId xmlns:p14="http://schemas.microsoft.com/office/powerpoint/2010/main" val="582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Sora 2 now available in Azure AI Foundry</a:t>
            </a:r>
            <a:endParaRPr lang="en-US" dirty="0"/>
          </a:p>
          <a:p>
            <a:pPr algn="just"/>
            <a:r>
              <a:rPr lang="en-US" dirty="0"/>
              <a:t>Sora 2 in Azure AI Foundry stands out by combining OpenAI’s most advanced video generation capabilities with the trusted infrastructure and security controls of Microsoft Azure. </a:t>
            </a:r>
          </a:p>
          <a:p>
            <a:pPr algn="just"/>
            <a:r>
              <a:rPr lang="en-US" dirty="0"/>
              <a:t>And through Azure AI Foundry and responsible AI principles, MS empower customers with embedded security, safety, and privacy controls. Azure AI Foundry offers a curated catalog of generative media models, including OpenAI’s Sora, GPT-image-1 and GPT-image-1-mini, Black Forest Lab’s Flux 1.1 and </a:t>
            </a:r>
            <a:r>
              <a:rPr lang="en-US" dirty="0" err="1"/>
              <a:t>Kontext</a:t>
            </a:r>
            <a:r>
              <a:rPr lang="en-US" dirty="0"/>
              <a:t> Pro, and more to empower developers in your and customer organizations to serve creatives with new and unique capabilities, all without sacrificing the safety, reliability, and integration businesses expect.</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2"/>
              </a:rPr>
              <a:t>Retirement: Azure Custom Vision will be retired on September 25, 2028</a:t>
            </a:r>
            <a:endParaRPr lang="en-US" dirty="0"/>
          </a:p>
          <a:p>
            <a:pPr algn="just"/>
            <a:r>
              <a:rPr lang="en-US" dirty="0"/>
              <a:t>Microsoft is announcing the planned retirement of the Azure Custom Vision service.  </a:t>
            </a:r>
          </a:p>
          <a:p>
            <a:pPr algn="just"/>
            <a:r>
              <a:rPr lang="en-US" dirty="0"/>
              <a:t>Microsoft </a:t>
            </a:r>
            <a:r>
              <a:rPr lang="en-US" b="1" dirty="0"/>
              <a:t>will provide full support for all existing Azure Custom Vision customers until 9/25/2028. </a:t>
            </a:r>
            <a:r>
              <a:rPr lang="en-US" dirty="0"/>
              <a:t>During this support window, customers are encouraged to begin planning and executing their transition to alternative solutions. Depending on your use case, we recommend the following paths for transition: </a:t>
            </a:r>
          </a:p>
          <a:p>
            <a:pPr marL="171450" indent="-171450" algn="just">
              <a:buFont typeface="Arial" panose="020B0604020202020204" pitchFamily="34" charset="0"/>
              <a:buChar char="•"/>
            </a:pPr>
            <a:r>
              <a:rPr lang="en-US" dirty="0"/>
              <a:t>For creating custom models for both image classification and object detection, Azure Machine Learning </a:t>
            </a:r>
            <a:r>
              <a:rPr lang="en-US" dirty="0" err="1"/>
              <a:t>AutoML</a:t>
            </a:r>
            <a:r>
              <a:rPr lang="en-US" dirty="0"/>
              <a:t> offers the ability to train both custom model types using classic machine learning techniques </a:t>
            </a:r>
          </a:p>
          <a:p>
            <a:pPr algn="just"/>
            <a:r>
              <a:rPr lang="en-US" dirty="0"/>
              <a:t>Microsoft is also investing in Generative AI-based solutions that increase accuracy in custom scenarios using prompt engineering and other techniques. </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537</TotalTime>
  <Words>3426</Words>
  <Application>Microsoft Office PowerPoint</Application>
  <PresentationFormat>On-screen Show (16:9)</PresentationFormat>
  <Paragraphs>161</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Human Sans</vt:lpstr>
      <vt:lpstr>Human Sans Regular</vt:lpstr>
      <vt:lpstr>Continuum Theme</vt:lpstr>
      <vt:lpstr>Azure Times #183</vt:lpstr>
      <vt:lpstr>PowerPoint Presentation</vt:lpstr>
      <vt:lpstr>Networking Updates</vt:lpstr>
      <vt:lpstr>Networking Updates</vt:lpstr>
      <vt:lpstr>Networking Updates</vt:lpstr>
      <vt:lpstr>PowerPoint Presentation</vt:lpstr>
      <vt:lpstr>Security &amp; Identity Updates</vt:lpstr>
      <vt:lpstr>PowerPoint Presentation</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Compute Updates</vt:lpstr>
      <vt:lpstr>PowerPoint Presentation</vt:lpstr>
      <vt:lpstr>Storage &amp; Data Updates</vt:lpstr>
      <vt:lpstr>Storage &amp; Data Updates</vt:lpstr>
      <vt:lpstr>PowerPoint Presentation</vt:lpstr>
      <vt:lpstr>Databases Updates</vt:lpstr>
      <vt:lpstr>Databases Updates</vt:lpstr>
      <vt:lpstr>PowerPoint Presentation</vt:lpstr>
      <vt:lpstr>Integration Updates</vt:lpstr>
      <vt:lpstr>Integration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199</cp:revision>
  <dcterms:created xsi:type="dcterms:W3CDTF">2018-01-26T19:23:30Z</dcterms:created>
  <dcterms:modified xsi:type="dcterms:W3CDTF">2025-10-17T19:45:25Z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