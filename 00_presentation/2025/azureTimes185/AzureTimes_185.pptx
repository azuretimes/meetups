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133"/>
  </p:notesMasterIdLst>
  <p:handoutMasterIdLst>
    <p:handoutMasterId r:id="rId134"/>
  </p:handoutMasterIdLst>
  <p:sldIdLst>
    <p:sldId id="2142532340" r:id="rId5"/>
    <p:sldId id="2146847045" r:id="rId6"/>
    <p:sldId id="10657" r:id="rId7"/>
    <p:sldId id="2146847164" r:id="rId8"/>
    <p:sldId id="2146847126" r:id="rId9"/>
    <p:sldId id="2146847160" r:id="rId10"/>
    <p:sldId id="2146847157" r:id="rId11"/>
    <p:sldId id="2146847156" r:id="rId12"/>
    <p:sldId id="2146847127" r:id="rId13"/>
    <p:sldId id="2146847125" r:id="rId14"/>
    <p:sldId id="2146847124" r:id="rId15"/>
    <p:sldId id="2146847046" r:id="rId16"/>
    <p:sldId id="2146847089" r:id="rId17"/>
    <p:sldId id="2146847048" r:id="rId18"/>
    <p:sldId id="2146847049" r:id="rId19"/>
    <p:sldId id="2146847236" r:id="rId20"/>
    <p:sldId id="2146847168" r:id="rId21"/>
    <p:sldId id="2146847228" r:id="rId22"/>
    <p:sldId id="2146847172" r:id="rId23"/>
    <p:sldId id="2146847223" r:id="rId24"/>
    <p:sldId id="2146847214" r:id="rId25"/>
    <p:sldId id="2146847132" r:id="rId26"/>
    <p:sldId id="2146847235" r:id="rId27"/>
    <p:sldId id="2146847220" r:id="rId28"/>
    <p:sldId id="2146847229" r:id="rId29"/>
    <p:sldId id="2146847225" r:id="rId30"/>
    <p:sldId id="2146847227" r:id="rId31"/>
    <p:sldId id="2146847131" r:id="rId32"/>
    <p:sldId id="2146847215" r:id="rId33"/>
    <p:sldId id="2146847190" r:id="rId34"/>
    <p:sldId id="2146847050" r:id="rId35"/>
    <p:sldId id="2146847096" r:id="rId36"/>
    <p:sldId id="2146847203" r:id="rId37"/>
    <p:sldId id="2146847202" r:id="rId38"/>
    <p:sldId id="2146847244" r:id="rId39"/>
    <p:sldId id="2146847158" r:id="rId40"/>
    <p:sldId id="2146847144" r:id="rId41"/>
    <p:sldId id="2146847239" r:id="rId42"/>
    <p:sldId id="2146847234" r:id="rId43"/>
    <p:sldId id="2146847162" r:id="rId44"/>
    <p:sldId id="2146847194" r:id="rId45"/>
    <p:sldId id="2146847237" r:id="rId46"/>
    <p:sldId id="2146847245" r:id="rId47"/>
    <p:sldId id="2146847184" r:id="rId48"/>
    <p:sldId id="2146847211" r:id="rId49"/>
    <p:sldId id="2146847197" r:id="rId50"/>
    <p:sldId id="2146847183" r:id="rId51"/>
    <p:sldId id="2146847196" r:id="rId52"/>
    <p:sldId id="2146847201" r:id="rId53"/>
    <p:sldId id="2146847193" r:id="rId54"/>
    <p:sldId id="2146847135" r:id="rId55"/>
    <p:sldId id="2146847246" r:id="rId56"/>
    <p:sldId id="2146847195" r:id="rId57"/>
    <p:sldId id="2146847161" r:id="rId58"/>
    <p:sldId id="2146847213" r:id="rId59"/>
    <p:sldId id="2146847216" r:id="rId60"/>
    <p:sldId id="2146847224" r:id="rId61"/>
    <p:sldId id="2146847134" r:id="rId62"/>
    <p:sldId id="2146847159" r:id="rId63"/>
    <p:sldId id="2146847052" r:id="rId64"/>
    <p:sldId id="2146847100" r:id="rId65"/>
    <p:sldId id="2146847165" r:id="rId66"/>
    <p:sldId id="2146847137" r:id="rId67"/>
    <p:sldId id="2146847247" r:id="rId68"/>
    <p:sldId id="2146847218" r:id="rId69"/>
    <p:sldId id="2146847217" r:id="rId70"/>
    <p:sldId id="2146847166" r:id="rId71"/>
    <p:sldId id="2146847167" r:id="rId72"/>
    <p:sldId id="2146847139" r:id="rId73"/>
    <p:sldId id="2146847054" r:id="rId74"/>
    <p:sldId id="2146847252" r:id="rId75"/>
    <p:sldId id="2146847103" r:id="rId76"/>
    <p:sldId id="2146847198" r:id="rId77"/>
    <p:sldId id="2146847199" r:id="rId78"/>
    <p:sldId id="2146847140" r:id="rId79"/>
    <p:sldId id="2146847200" r:id="rId80"/>
    <p:sldId id="2146847251" r:id="rId81"/>
    <p:sldId id="2146847186" r:id="rId82"/>
    <p:sldId id="2146847208" r:id="rId83"/>
    <p:sldId id="2146847188" r:id="rId84"/>
    <p:sldId id="2146847187" r:id="rId85"/>
    <p:sldId id="2146847205" r:id="rId86"/>
    <p:sldId id="2146847249" r:id="rId87"/>
    <p:sldId id="2146847207" r:id="rId88"/>
    <p:sldId id="2146847141" r:id="rId89"/>
    <p:sldId id="2146847191" r:id="rId90"/>
    <p:sldId id="2146847192" r:id="rId91"/>
    <p:sldId id="2146847206" r:id="rId92"/>
    <p:sldId id="2146847254" r:id="rId93"/>
    <p:sldId id="2146847056" r:id="rId94"/>
    <p:sldId id="2146847107" r:id="rId95"/>
    <p:sldId id="2146847248" r:id="rId96"/>
    <p:sldId id="2146847221" r:id="rId97"/>
    <p:sldId id="2146847058" r:id="rId98"/>
    <p:sldId id="2146847111" r:id="rId99"/>
    <p:sldId id="2146847169" r:id="rId100"/>
    <p:sldId id="2146847170" r:id="rId101"/>
    <p:sldId id="2146847179" r:id="rId102"/>
    <p:sldId id="2146847174" r:id="rId103"/>
    <p:sldId id="2146847175" r:id="rId104"/>
    <p:sldId id="2146847185" r:id="rId105"/>
    <p:sldId id="2146847255" r:id="rId106"/>
    <p:sldId id="2146847178" r:id="rId107"/>
    <p:sldId id="2146847256" r:id="rId108"/>
    <p:sldId id="2146847176" r:id="rId109"/>
    <p:sldId id="2146847171" r:id="rId110"/>
    <p:sldId id="2146847180" r:id="rId111"/>
    <p:sldId id="2146847257" r:id="rId112"/>
    <p:sldId id="2146847181" r:id="rId113"/>
    <p:sldId id="2146847147" r:id="rId114"/>
    <p:sldId id="2146847177" r:id="rId115"/>
    <p:sldId id="2146847212" r:id="rId116"/>
    <p:sldId id="2146847258" r:id="rId117"/>
    <p:sldId id="2146847119" r:id="rId118"/>
    <p:sldId id="2146847120" r:id="rId119"/>
    <p:sldId id="2146847150" r:id="rId120"/>
    <p:sldId id="2146847151" r:id="rId121"/>
    <p:sldId id="2146847152" r:id="rId122"/>
    <p:sldId id="2146847062" r:id="rId123"/>
    <p:sldId id="2146847153" r:id="rId124"/>
    <p:sldId id="2146847154" r:id="rId125"/>
    <p:sldId id="2146847155" r:id="rId126"/>
    <p:sldId id="2146847231" r:id="rId127"/>
    <p:sldId id="2146847233" r:id="rId128"/>
    <p:sldId id="2146847163" r:id="rId129"/>
    <p:sldId id="2146847085" r:id="rId130"/>
    <p:sldId id="2146847084" r:id="rId131"/>
    <p:sldId id="2146847064" r:id="rId132"/>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ldId id="2146847045"/>
            <p14:sldId id="10657"/>
            <p14:sldId id="2146847164"/>
            <p14:sldId id="2146847126"/>
            <p14:sldId id="2146847160"/>
            <p14:sldId id="2146847157"/>
            <p14:sldId id="2146847156"/>
            <p14:sldId id="2146847127"/>
            <p14:sldId id="2146847125"/>
            <p14:sldId id="2146847124"/>
          </p14:sldIdLst>
        </p14:section>
        <p14:section name="Security &amp; Identity" id="{1AA42572-B3BD-44F7-813B-C2C647DDBB3C}">
          <p14:sldIdLst>
            <p14:sldId id="2146847046"/>
            <p14:sldId id="2146847089"/>
          </p14:sldIdLst>
        </p14:section>
        <p14:section name="Management &amp; Governance" id="{34181601-6D48-4406-A525-C7B5A12C6C5B}">
          <p14:sldIdLst>
            <p14:sldId id="2146847048"/>
            <p14:sldId id="2146847049"/>
            <p14:sldId id="2146847236"/>
            <p14:sldId id="2146847168"/>
            <p14:sldId id="2146847228"/>
            <p14:sldId id="2146847172"/>
            <p14:sldId id="2146847223"/>
            <p14:sldId id="2146847214"/>
            <p14:sldId id="2146847132"/>
            <p14:sldId id="2146847235"/>
            <p14:sldId id="2146847220"/>
            <p14:sldId id="2146847229"/>
            <p14:sldId id="2146847225"/>
            <p14:sldId id="2146847227"/>
            <p14:sldId id="2146847131"/>
            <p14:sldId id="2146847215"/>
            <p14:sldId id="2146847190"/>
          </p14:sldIdLst>
        </p14:section>
        <p14:section name="Compute" id="{05AA80BB-8802-49AB-8336-A884227CE2F7}">
          <p14:sldIdLst>
            <p14:sldId id="2146847050"/>
            <p14:sldId id="2146847096"/>
            <p14:sldId id="2146847203"/>
            <p14:sldId id="2146847202"/>
            <p14:sldId id="2146847244"/>
            <p14:sldId id="2146847158"/>
            <p14:sldId id="2146847144"/>
            <p14:sldId id="2146847239"/>
            <p14:sldId id="2146847234"/>
            <p14:sldId id="2146847162"/>
            <p14:sldId id="2146847194"/>
            <p14:sldId id="2146847237"/>
            <p14:sldId id="2146847245"/>
            <p14:sldId id="2146847184"/>
            <p14:sldId id="2146847211"/>
            <p14:sldId id="2146847197"/>
            <p14:sldId id="2146847183"/>
            <p14:sldId id="2146847196"/>
            <p14:sldId id="2146847201"/>
            <p14:sldId id="2146847193"/>
            <p14:sldId id="2146847135"/>
            <p14:sldId id="2146847246"/>
            <p14:sldId id="2146847195"/>
            <p14:sldId id="2146847161"/>
            <p14:sldId id="2146847213"/>
            <p14:sldId id="2146847216"/>
            <p14:sldId id="2146847224"/>
            <p14:sldId id="2146847134"/>
            <p14:sldId id="2146847159"/>
          </p14:sldIdLst>
        </p14:section>
        <p14:section name="Storage &amp; Data" id="{1F159046-CE0A-45BC-9D5B-6E6C95980F78}">
          <p14:sldIdLst>
            <p14:sldId id="2146847052"/>
            <p14:sldId id="2146847100"/>
            <p14:sldId id="2146847165"/>
            <p14:sldId id="2146847137"/>
            <p14:sldId id="2146847247"/>
            <p14:sldId id="2146847218"/>
            <p14:sldId id="2146847217"/>
            <p14:sldId id="2146847166"/>
            <p14:sldId id="2146847167"/>
            <p14:sldId id="2146847139"/>
          </p14:sldIdLst>
        </p14:section>
        <p14:section name="Databases" id="{AEAFAE72-AD56-48F3-926B-38BAE269038F}">
          <p14:sldIdLst>
            <p14:sldId id="2146847054"/>
            <p14:sldId id="2146847252"/>
            <p14:sldId id="2146847103"/>
            <p14:sldId id="2146847198"/>
            <p14:sldId id="2146847199"/>
            <p14:sldId id="2146847140"/>
            <p14:sldId id="2146847200"/>
            <p14:sldId id="2146847251"/>
            <p14:sldId id="2146847186"/>
            <p14:sldId id="2146847208"/>
            <p14:sldId id="2146847188"/>
            <p14:sldId id="2146847187"/>
            <p14:sldId id="2146847205"/>
            <p14:sldId id="2146847249"/>
            <p14:sldId id="2146847207"/>
            <p14:sldId id="2146847141"/>
            <p14:sldId id="2146847191"/>
            <p14:sldId id="2146847192"/>
            <p14:sldId id="2146847206"/>
            <p14:sldId id="2146847254"/>
          </p14:sldIdLst>
        </p14:section>
        <p14:section name="Integration" id="{ACBD46A3-6F1C-451B-A154-0A056E0DEFF6}">
          <p14:sldIdLst>
            <p14:sldId id="2146847056"/>
            <p14:sldId id="2146847107"/>
            <p14:sldId id="2146847248"/>
            <p14:sldId id="2146847221"/>
          </p14:sldIdLst>
        </p14:section>
        <p14:section name="ML &amp; AI &amp; IOT" id="{F4E1EAF1-55E9-4CA4-8ADC-28B69C1D66D2}">
          <p14:sldIdLst>
            <p14:sldId id="2146847058"/>
            <p14:sldId id="2146847111"/>
            <p14:sldId id="2146847169"/>
            <p14:sldId id="2146847170"/>
            <p14:sldId id="2146847179"/>
            <p14:sldId id="2146847174"/>
            <p14:sldId id="2146847175"/>
            <p14:sldId id="2146847185"/>
            <p14:sldId id="2146847255"/>
            <p14:sldId id="2146847178"/>
            <p14:sldId id="2146847256"/>
            <p14:sldId id="2146847176"/>
            <p14:sldId id="2146847171"/>
            <p14:sldId id="2146847180"/>
            <p14:sldId id="2146847257"/>
            <p14:sldId id="2146847181"/>
            <p14:sldId id="2146847147"/>
            <p14:sldId id="2146847177"/>
            <p14:sldId id="2146847212"/>
            <p14:sldId id="2146847258"/>
            <p14:sldId id="2146847119"/>
            <p14:sldId id="2146847120"/>
            <p14:sldId id="2146847150"/>
            <p14:sldId id="2146847151"/>
            <p14:sldId id="2146847152"/>
          </p14:sldIdLst>
        </p14:section>
        <p14:section name="Miscellaneous" id="{A1456D7A-93BE-4023-90AA-7269D2F177BA}">
          <p14:sldIdLst>
            <p14:sldId id="2146847062"/>
            <p14:sldId id="2146847153"/>
            <p14:sldId id="2146847154"/>
            <p14:sldId id="2146847155"/>
            <p14:sldId id="2146847231"/>
            <p14:sldId id="2146847233"/>
            <p14:sldId id="2146847163"/>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D43"/>
    <a:srgbClr val="CADC49"/>
    <a:srgbClr val="E53B2E"/>
    <a:srgbClr val="FFC000"/>
    <a:srgbClr val="D35D47"/>
    <a:srgbClr val="008ACF"/>
    <a:srgbClr val="76CDD8"/>
    <a:srgbClr val="75A0A6"/>
    <a:srgbClr val="569BA5"/>
    <a:srgbClr val="EDC1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75" autoAdjust="0"/>
    <p:restoredTop sz="94694"/>
  </p:normalViewPr>
  <p:slideViewPr>
    <p:cSldViewPr snapToGrid="0">
      <p:cViewPr varScale="1">
        <p:scale>
          <a:sx n="123" d="100"/>
          <a:sy n="123" d="100"/>
        </p:scale>
        <p:origin x="114" y="300"/>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theme" Target="theme/theme1.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slide" Target="slides/slide124.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handoutMaster" Target="handoutMasters/handoutMaster1.xml"/><Relationship Id="rId139" Type="http://schemas.openxmlformats.org/officeDocument/2006/relationships/tableStyles" Target="tableStyles.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commentAuthors" Target="commentAuthors.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11/21/2025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11/21/2025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azure.microsoft.com/ru-ru/updates?id=489855" TargetMode="External"/><Relationship Id="rId2" Type="http://schemas.openxmlformats.org/officeDocument/2006/relationships/hyperlink" Target="https://azure.microsoft.com/ru-ru/updates?id=525874"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azure.microsoft.com/ru-ru/updates?id=532202"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azure.microsoft.com/ru-ru/updates?id=488990" TargetMode="External"/><Relationship Id="rId2" Type="http://schemas.openxmlformats.org/officeDocument/2006/relationships/hyperlink" Target="https://azure.microsoft.com/ru-ru/updates?id=525893"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hyperlink" Target="https://azure.microsoft.com/ru-ru/updates?id=530609"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azure.microsoft.com/ru-ru/updates?id=527815" TargetMode="External"/><Relationship Id="rId2" Type="http://schemas.openxmlformats.org/officeDocument/2006/relationships/hyperlink" Target="https://azure.microsoft.com/ru-ru/updates?id=527810"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azure.microsoft.com/ru-ru/updates?id=525405"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azure.microsoft.com/ru-ru/updates?id=526174" TargetMode="External"/><Relationship Id="rId2" Type="http://schemas.openxmlformats.org/officeDocument/2006/relationships/hyperlink" Target="https://azure.microsoft.com/ru-ru/updates?id=527805"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azure.microsoft.com/ru-ru/updates?id=526169" TargetMode="External"/><Relationship Id="rId2" Type="http://schemas.openxmlformats.org/officeDocument/2006/relationships/hyperlink" Target="https://azure.microsoft.com/ru-ru/updates?id=526729"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azure.microsoft.com/ru-ru/updates?id=530183"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azure.microsoft.com/ru-ru/updates?id=520454" TargetMode="External"/><Relationship Id="rId2" Type="http://schemas.openxmlformats.org/officeDocument/2006/relationships/hyperlink" Target="http://azure.microsoft.com/ru-ru/updates?id=526876"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azure.microsoft.com/ru-ru/updates?id=530087" TargetMode="External"/><Relationship Id="rId2" Type="http://schemas.openxmlformats.org/officeDocument/2006/relationships/hyperlink" Target="https://azure.microsoft.com/ru-ru/updates?id=530078"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azure.microsoft.com/ru-ru/updates?id=530092" TargetMode="External"/><Relationship Id="rId2" Type="http://schemas.openxmlformats.org/officeDocument/2006/relationships/hyperlink" Target="https://azure.microsoft.com/ru-ru/updates?id=530073"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azure.microsoft.com/ru-ru/updates?id=515505" TargetMode="External"/><Relationship Id="rId2" Type="http://schemas.openxmlformats.org/officeDocument/2006/relationships/hyperlink" Target="https://azure.microsoft.com/ru-ru/updates?id=529528" TargetMode="Externa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techcommunity.microsoft.com/blog/azureobservabilityblog/troubleshoot-with-otlp-signals-in-azure-monitor-limited-public-preview/4469668"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azure.microsoft.com/ru-ru/updates?id=518469" TargetMode="External"/><Relationship Id="rId2" Type="http://schemas.openxmlformats.org/officeDocument/2006/relationships/hyperlink" Target="Public%20Preview:%20OpenTelemetry%20visualizations%20and%20enhanced%20monitoring%20experience%20in%20Azure%20Monitor%20for%20Azure%20VMs%20and%20Arc%20Servers"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techcommunity.microsoft.com/blog/azureobservabilityblog/introducing-monitoring-coverage-assess-and-improve-your-monitoring-posture-at-sc/4470752"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techcommunity.microsoft.com/blog/azureobservabilityblog/generally-available---azure-monitor-private-link-scope-ampls-scale-limits-increa/4471482"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hyperlink" Target="https://azure.microsoft.com/ru-ru/updates?id=503704" TargetMode="External"/><Relationship Id="rId2" Type="http://schemas.openxmlformats.org/officeDocument/2006/relationships/hyperlink" Target="https://azure.microsoft.com/ru-ru/updates?id=530174"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azure.microsoft.com/ru-ru/updates?id=521941" TargetMode="External"/><Relationship Id="rId2" Type="http://schemas.openxmlformats.org/officeDocument/2006/relationships/hyperlink" Target="https://techcommunity.microsoft.com/blog/azureobservabilityblog/public-preview-azure-monitor-integration-with-fabric-real-time-intelligence-even/4470119"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techcommunity.microsoft.com/blog/azureobservabilityblog/announcing-general-availability-azure-monitor-dashboards-with-grafana/4468972"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hyperlink" Target="https://azure.microsoft.com/ru-ru/updates?id=529519" TargetMode="External"/><Relationship Id="rId2" Type="http://schemas.openxmlformats.org/officeDocument/2006/relationships/hyperlink" Target="https://techcommunity.microsoft.com/blog/azureobservabilityblog/general-availability-granular-rbac-in-azure-monitor-logs/4471299" TargetMode="Externa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https://techcommunity.microsoft.com/blog/azurearcblog/workload-identity-support-for-azure-arc-enabled-kubernetes-clusters-now-generall/4467851" TargetMode="External"/><Relationship Id="rId2" Type="http://schemas.openxmlformats.org/officeDocument/2006/relationships/hyperlink" Target="https://techcommunity.microsoft.com/blog/azurearcblog/public-preview-refresh-announcement---site-manager/4468929" TargetMode="Externa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hyperlink" Target="https://techcommunity.microsoft.com/blog/azurearcblog/announcing-general-availability-of-the-azure-key-vault-secret-store-extension/4468584" TargetMode="External"/><Relationship Id="rId2" Type="http://schemas.openxmlformats.org/officeDocument/2006/relationships/hyperlink" Target="https://techcommunity.microsoft.com/blog/azurearcblog/public-preview-multicloud-connector-support-for-google-cloud/4470700" TargetMode="Externa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azure.microsoft.com/ru-ru/updates?id=522572" TargetMode="Externa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techcommunity.microsoft.com/blog/azurearcblog/announcing-the-preview-of-azure-local-rack-aware-cluster/4469435" TargetMode="Externa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hyperlink" Target="https://azure.microsoft.com/ru-ru/updates?id=523716" TargetMode="External"/><Relationship Id="rId2" Type="http://schemas.openxmlformats.org/officeDocument/2006/relationships/hyperlink" Target="https://azure.microsoft.com/ru-ru/updates?id=523721" TargetMode="Externa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azure.microsoft.com/ru-ru/updates?id=526077" TargetMode="External"/><Relationship Id="rId2" Type="http://schemas.openxmlformats.org/officeDocument/2006/relationships/hyperlink" Target="https://azure.microsoft.com/ru-ru/updates?id=526072" TargetMode="Externa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hyperlink" Target="https://azure.microsoft.com/ru-ru/updates?id=525500" TargetMode="External"/><Relationship Id="rId2" Type="http://schemas.openxmlformats.org/officeDocument/2006/relationships/hyperlink" Target="https://azure.microsoft.com/ru-ru/updates?id=525505" TargetMode="Externa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hyperlink" Target="https://azure.microsoft.com/ru-ru/updates?id=525523" TargetMode="External"/><Relationship Id="rId2" Type="http://schemas.openxmlformats.org/officeDocument/2006/relationships/hyperlink" Target="https://azure.microsoft.com/ru-ru/updates?id=525479" TargetMode="Externa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hyperlink" Target="https://azure.microsoft.com/ru-ru/updates?id=525518" TargetMode="Externa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hyperlink" Target="https://azure.microsoft.com/ru-ru/updates?id=527673" TargetMode="External"/><Relationship Id="rId2" Type="http://schemas.openxmlformats.org/officeDocument/2006/relationships/hyperlink" Target="https://azure.microsoft.com/ru-ru/updates?id=531778" TargetMode="Externa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hyperlink" Target="https://azure.microsoft.com/ru-ru/updates?id=527658" TargetMode="External"/><Relationship Id="rId2" Type="http://schemas.openxmlformats.org/officeDocument/2006/relationships/hyperlink" Target="https://azure.microsoft.com/ru-ru/updates?id=527649" TargetMode="External"/><Relationship Id="rId1" Type="http://schemas.openxmlformats.org/officeDocument/2006/relationships/slideLayout" Target="../slideLayouts/slideLayout7.xml"/><Relationship Id="rId4" Type="http://schemas.openxmlformats.org/officeDocument/2006/relationships/hyperlink" Target="https://azure.microsoft.com/ru-ru/updates?id=527644"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azure.microsoft.com/ru-ru/updates?id=527683" TargetMode="External"/><Relationship Id="rId2" Type="http://schemas.openxmlformats.org/officeDocument/2006/relationships/hyperlink" Target="https://azure.microsoft.com/ru-ru/updates?id=531783" TargetMode="Externa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techcommunity.microsoft.com/blog/appsonazureblog/azure-red-hat-openshift-confidential-containers-general-availability-announced/4469089" TargetMode="External"/><Relationship Id="rId1" Type="http://schemas.openxmlformats.org/officeDocument/2006/relationships/slideLayout" Target="../slideLayouts/slideLayout7.xml"/><Relationship Id="rId4" Type="http://schemas.openxmlformats.org/officeDocument/2006/relationships/hyperlink" Target="https://azure.microsoft.com/ru-ru/updates?id=527236" TargetMode="External"/></Relationships>
</file>

<file path=ppt/slides/_rels/slide40.xml.rels><?xml version="1.0" encoding="UTF-8" standalone="yes"?>
<Relationships xmlns="http://schemas.openxmlformats.org/package/2006/relationships"><Relationship Id="rId3" Type="http://schemas.openxmlformats.org/officeDocument/2006/relationships/hyperlink" Target="https://azure.microsoft.com/ru-ru/updates?id=525455" TargetMode="External"/><Relationship Id="rId2" Type="http://schemas.openxmlformats.org/officeDocument/2006/relationships/hyperlink" Target="https://azure.microsoft.com/ru-ru/updates?id=525470" TargetMode="Externa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hyperlink" Target="https://azure.microsoft.com/ru-ru/updates?id=512949" TargetMode="External"/><Relationship Id="rId2" Type="http://schemas.openxmlformats.org/officeDocument/2006/relationships/hyperlink" Target="https://azure.microsoft.com/ru-ru/updates?id=512900" TargetMode="Externa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hyperlink" Target="https://azure.microsoft.com/ru-ru/updates?id=512813" TargetMode="External"/><Relationship Id="rId2" Type="http://schemas.openxmlformats.org/officeDocument/2006/relationships/hyperlink" Target="https://azure.microsoft.com/ru-ru/updates?id=512850" TargetMode="Externa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hyperlink" Target="https://azure.microsoft.com/ru-ru/updates?id=525465" TargetMode="External"/><Relationship Id="rId2" Type="http://schemas.openxmlformats.org/officeDocument/2006/relationships/hyperlink" Target="https://azure.microsoft.com/ru-ru/updates?id=525460" TargetMode="Externa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hyperlink" Target="https://azure.microsoft.com/ru-ru/updates?id=526242" TargetMode="External"/><Relationship Id="rId2" Type="http://schemas.openxmlformats.org/officeDocument/2006/relationships/hyperlink" Target="https://azure.microsoft.com/ru-ru/updates?id=526203" TargetMode="Externa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45.xml.rels><?xml version="1.0" encoding="UTF-8" standalone="yes"?>
<Relationships xmlns="http://schemas.openxmlformats.org/package/2006/relationships"><Relationship Id="rId3" Type="http://schemas.openxmlformats.org/officeDocument/2006/relationships/hyperlink" Target="https://azure.microsoft.com/ru-ru/updates?id=523076" TargetMode="External"/><Relationship Id="rId2" Type="http://schemas.openxmlformats.org/officeDocument/2006/relationships/hyperlink" Target="https://techcommunity.microsoft.com/blog/azureinfrastructureblog/announcing-kubernetes-center-preview-on-azure-portal/4471110" TargetMode="Externa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hyperlink" Target="https://azure.microsoft.com/ru-ru/updates?id=526213" TargetMode="External"/><Relationship Id="rId2" Type="http://schemas.openxmlformats.org/officeDocument/2006/relationships/hyperlink" Target="https://azure.microsoft.com/ru-ru/updates?id=526227" TargetMode="Externa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hyperlink" Target="https://azure.microsoft.com/ru-ru/updates?id=526237" TargetMode="External"/><Relationship Id="rId2" Type="http://schemas.openxmlformats.org/officeDocument/2006/relationships/hyperlink" Target="https://azure.microsoft.com/ru-ru/updates?id=523120" TargetMode="Externa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hyperlink" Target="https://azure.microsoft.com/ru-ru/updates?id=526208" TargetMode="External"/><Relationship Id="rId2" Type="http://schemas.openxmlformats.org/officeDocument/2006/relationships/hyperlink" Target="https://azure.microsoft.com/ru-ru/updates?id=523115" TargetMode="Externa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hyperlink" Target="https://azure.microsoft.com/ru-ru/updates?id=523081" TargetMode="External"/><Relationship Id="rId2" Type="http://schemas.openxmlformats.org/officeDocument/2006/relationships/hyperlink" Target="https://azure.microsoft.com/ru-ru/updates?id=523152" TargetMode="Externa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hyperlink" Target="https://techcommunity.microsoft.com/blog/appsonazureblog/windows-server-2019-retirement-on-aks-enabled-by-azure-arc/4470184" TargetMode="External"/><Relationship Id="rId2" Type="http://schemas.openxmlformats.org/officeDocument/2006/relationships/hyperlink" Target="https://azure.microsoft.com/ru-ru/updates?id=526232" TargetMode="Externa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hyperlink" Target="https://techcommunity.microsoft.com/blog/appsonazureblog/introducing-preview-of-async-scaling-for-app-service-plans/4469680" TargetMode="External"/><Relationship Id="rId2" Type="http://schemas.openxmlformats.org/officeDocument/2006/relationships/hyperlink" Target="https://azure.microsoft.com/ru-ru/updates?id=492303" TargetMode="Externa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hyperlink" Target="https://azure.microsoft.com/ru-ru/updates?id=523623" TargetMode="Externa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hyperlink" Target="https://azure.microsoft.com/ru-ru/updates?id=530661" TargetMode="External"/><Relationship Id="rId2" Type="http://schemas.openxmlformats.org/officeDocument/2006/relationships/hyperlink" Target="https://azure.microsoft.com/ru-ru/updates?id=530287" TargetMode="Externa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hyperlink" Target="https://azure.microsoft.com/ru-ru/updates?id=522390" TargetMode="External"/><Relationship Id="rId2" Type="http://schemas.openxmlformats.org/officeDocument/2006/relationships/hyperlink" Target="https://azure.microsoft.com/ru-ru/updates?id=529797" TargetMode="Externa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hyperlink" Target="https://learn.microsoft.com/en-us/azure/virtual-machines/metadata-security-protocol/overview" TargetMode="External"/><Relationship Id="rId2" Type="http://schemas.openxmlformats.org/officeDocument/2006/relationships/hyperlink" Target="https://techcommunity.microsoft.com/blog/azurecompute/introducing-metadata-security-protocol-msp-elevating-platform-security-for-azure/4471204" TargetMode="External"/><Relationship Id="rId1" Type="http://schemas.openxmlformats.org/officeDocument/2006/relationships/slideLayout" Target="../slideLayouts/slideLayout7.xml"/><Relationship Id="rId4" Type="http://schemas.openxmlformats.org/officeDocument/2006/relationships/hyperlink" Target="https://azure.microsoft.com/ru-ru/updates?id=530797" TargetMode="External"/></Relationships>
</file>

<file path=ppt/slides/_rels/slide56.xml.rels><?xml version="1.0" encoding="UTF-8" standalone="yes"?>
<Relationships xmlns="http://schemas.openxmlformats.org/package/2006/relationships"><Relationship Id="rId3" Type="http://schemas.openxmlformats.org/officeDocument/2006/relationships/hyperlink" Target="https://techcommunity.microsoft.com/blog/azureinfrastructureblog/announcing-cobalt-200-azure%E2%80%99s-next-cloud-native-cpu/4469807" TargetMode="External"/><Relationship Id="rId2" Type="http://schemas.openxmlformats.org/officeDocument/2006/relationships/hyperlink" Target="https://techcommunity.microsoft.com/blog/azurehighperformancecomputingblog/azure-nd-gb300-v6-now-generally-available---hyper-optimized-for-generative-and-a/4469475" TargetMode="Externa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hyperlink" Target="https://techcommunity.microsoft.com/blog/azurecompute/announcing-preview-of-new-azure-dlsv7-dsv7-and-esv7-vms-based-on-intel%C2%AE-xeon%C2%AE-6-/4467928" TargetMode="External"/><Relationship Id="rId2" Type="http://schemas.openxmlformats.org/officeDocument/2006/relationships/hyperlink" Target="https://techcommunity.microsoft.com/blog/azurevirtualdesktopblog/announcing-new-hybrid-deployment-options-for-azure-virtual-desktop/4468781" TargetMode="Externa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hyperlink" Target="https://azure.microsoft.com/ru-ru/updates?id=530208" TargetMode="External"/><Relationship Id="rId2" Type="http://schemas.openxmlformats.org/officeDocument/2006/relationships/hyperlink" Target="https://azure.microsoft.com/ru-ru/updates?id=529416" TargetMode="Externa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hyperlink" Target="https://azure.microsoft.com/ru-ru/updates?id=501658" TargetMode="External"/><Relationship Id="rId2" Type="http://schemas.openxmlformats.org/officeDocument/2006/relationships/hyperlink" Target="https://azure.microsoft.com/ru-ru/updates?id=523614" TargetMode="External"/><Relationship Id="rId1" Type="http://schemas.openxmlformats.org/officeDocument/2006/relationships/slideLayout" Target="../slideLayouts/slideLayout7.xml"/><Relationship Id="rId4" Type="http://schemas.openxmlformats.org/officeDocument/2006/relationships/hyperlink" Target="https://azure.microsoft.com/en-us/updates?id=azure-batch-low-priority-vms-will-be-retired-on-30-september-2025"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hyperlink" Target="https://azure.microsoft.com/ru-ru/updates?id=525150" TargetMode="External"/><Relationship Id="rId2" Type="http://schemas.openxmlformats.org/officeDocument/2006/relationships/hyperlink" Target="https://azure.microsoft.com/ru-ru/updates?id=516656" TargetMode="Externa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learn.microsoft.com/en-us/azure/azure-netapp-files/cache-volumes" TargetMode="Externa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hyperlink" Target="https://azure.microsoft.com/ru-ru/updates?id=525620" TargetMode="External"/><Relationship Id="rId2" Type="http://schemas.openxmlformats.org/officeDocument/2006/relationships/hyperlink" Target="https://azure.microsoft.com/ru-ru/updates?id=528899" TargetMode="Externa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hyperlink" Target="https://azure.microsoft.com/ru-ru/updates?id=522077" TargetMode="Externa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azure.microsoft.com/ru-ru/updates?id=527713" TargetMode="Externa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techcommunity.microsoft.com/blog/azurestorageblog/reduce-latency-and-enhance-resilience-with-azure-files-zonal-placement/4470811" TargetMode="Externa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hyperlink" Target="https://azure.microsoft.com/ru-ru/updates?id=529359" TargetMode="External"/><Relationship Id="rId2" Type="http://schemas.openxmlformats.org/officeDocument/2006/relationships/hyperlink" Target="https://azure.microsoft.com/ru-ru/updates?id=529342" TargetMode="Externa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hyperlink" Target="https://azure.microsoft.com/ru-ru/updates?id=529368" TargetMode="External"/><Relationship Id="rId2" Type="http://schemas.openxmlformats.org/officeDocument/2006/relationships/hyperlink" Target="https://azure.microsoft.com/ru-ru/updates?id=529381" TargetMode="Externa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hyperlink" Target="https://azure.microsoft.com/ru-ru/updates?id=527181" TargetMode="External"/><Relationship Id="rId2" Type="http://schemas.openxmlformats.org/officeDocument/2006/relationships/hyperlink" Target="https://techcommunity.microsoft.com/blog/azurestorageblog/unlocking-storage-optimizations-smart-tiering-for-blobs-and-adls-in-azure-storag/4469811" TargetMode="Externa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hyperlink" Target="https://azure.microsoft.com/ru-ru/updates?id=525549" TargetMode="External"/><Relationship Id="rId2" Type="http://schemas.openxmlformats.org/officeDocument/2006/relationships/hyperlink" Target="https://devblogs.microsoft.com/cosmosdb/azure-documentdb-is-now-generally-available/" TargetMode="Externa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hyperlink" Target="https://azure.microsoft.com/ru-ru/updates?id=523763" TargetMode="Externa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hyperlink" Target="https://azure.microsoft.com/ru-ru/updates?id=467471" TargetMode="External"/><Relationship Id="rId2" Type="http://schemas.openxmlformats.org/officeDocument/2006/relationships/hyperlink" Target="https://azure.microsoft.com/ru-ru/updates?id=523745" TargetMode="Externa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hyperlink" Target="https://azure.microsoft.com/ru-ru/updates?id=523740" TargetMode="External"/><Relationship Id="rId2" Type="http://schemas.openxmlformats.org/officeDocument/2006/relationships/hyperlink" Target="https://azure.microsoft.com/ru-ru/updates?id=523824" TargetMode="Externa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hyperlink" Target="https://azure.microsoft.com/ru-ru/updates?id=523773" TargetMode="External"/><Relationship Id="rId2" Type="http://schemas.openxmlformats.org/officeDocument/2006/relationships/hyperlink" Target="https://azure.microsoft.com/ru-ru/updates?id=523768" TargetMode="Externa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hyperlink" Target="https://azure.microsoft.com/ru-ru/updates?id=523754" TargetMode="External"/><Relationship Id="rId2" Type="http://schemas.openxmlformats.org/officeDocument/2006/relationships/hyperlink" Target="https://azure.microsoft.com/ru-ru/updates?id=523803" TargetMode="Externa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hyperlink" Target="https://azure.microsoft.com/ru-ru/updates?id=523726" TargetMode="External"/><Relationship Id="rId2" Type="http://schemas.openxmlformats.org/officeDocument/2006/relationships/hyperlink" Target="https://azure.microsoft.com/ru-ru/updates?id=523809" TargetMode="Externa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hyperlink" Target="https://azure.microsoft.com/ru-ru/updates?id=523796" TargetMode="Externa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hyperlink" Target="https://azure.microsoft.com/ru-ru/updates?id=523578" TargetMode="External"/><Relationship Id="rId2" Type="http://schemas.openxmlformats.org/officeDocument/2006/relationships/hyperlink" Target="https://azure.microsoft.com/ru-ru/updates?id=523564" TargetMode="Externa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hyperlink" Target="https://azure.microsoft.com/ru-ru/updates?id=523167" TargetMode="External"/><Relationship Id="rId2" Type="http://schemas.openxmlformats.org/officeDocument/2006/relationships/hyperlink" Target="https://azure.microsoft.com/ru-ru/updates?id=523583" TargetMode="Externa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hyperlink" Target="https://azure.microsoft.com/ru-ru/updates?id=523177" TargetMode="External"/><Relationship Id="rId2" Type="http://schemas.openxmlformats.org/officeDocument/2006/relationships/hyperlink" Target="https://azure.microsoft.com/ru-ru/updates?id=523569" TargetMode="Externa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hyperlink" Target="https://azure.microsoft.com/ru-ru/updates?id=523196" TargetMode="External"/><Relationship Id="rId2" Type="http://schemas.openxmlformats.org/officeDocument/2006/relationships/hyperlink" Target="https://azure.microsoft.com/ru-ru/updates?id=523588" TargetMode="Externa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hyperlink" Target="https://azure.microsoft.com/ru-ru/updates?id=523559" TargetMode="Externa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hyperlink" Target="https://azure.microsoft.com/ru-ru/updates?id=525388" TargetMode="External"/><Relationship Id="rId2" Type="http://schemas.openxmlformats.org/officeDocument/2006/relationships/hyperlink" Target="https://azure.microsoft.com/ru-ru/updates?id=523533" TargetMode="Externa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hyperlink" Target="https://azure.microsoft.com/ru-ru/updates?id=523110" TargetMode="External"/><Relationship Id="rId2" Type="http://schemas.openxmlformats.org/officeDocument/2006/relationships/hyperlink" Target="https://azure.microsoft.com/ru-ru/updates?id=522514" TargetMode="Externa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hyperlink" Target="https://azure.microsoft.com/ru-ru/updates?id=523095" TargetMode="External"/><Relationship Id="rId2" Type="http://schemas.openxmlformats.org/officeDocument/2006/relationships/hyperlink" Target="https://azure.microsoft.com/ru-ru/updates?id=522581" TargetMode="Externa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hyperlink" Target="https://azure.microsoft.com/ru-ru/updates?id=522523" TargetMode="External"/><Relationship Id="rId2" Type="http://schemas.openxmlformats.org/officeDocument/2006/relationships/hyperlink" Target="https://azure.microsoft.com/ru-ru/updates?id=522559" TargetMode="Externa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hyperlink" Target="https://azure.microsoft.com/ru-ru/updates?id=523125" TargetMode="Externa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hyperlink" Target="https://techcommunity.microsoft.com/blog/oracleonazureblog/oracledatabaseazure-expands-footprint-to-31-regions-and-strengthens-security-wit/4471109" TargetMode="External"/><Relationship Id="rId2" Type="http://schemas.openxmlformats.org/officeDocument/2006/relationships/hyperlink" Target="https://azure.microsoft.com/ru-ru/updates?id=529806" TargetMode="Externa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hyperlink" Target="https://techcommunity.microsoft.com/blog/integrationsonazureblog/ai-gateway-in-azure-api-management-is-now-available-in-microsoft-foundry-preview/4470676" TargetMode="External"/><Relationship Id="rId2" Type="http://schemas.openxmlformats.org/officeDocument/2006/relationships/hyperlink" Target="https://azure.microsoft.com/ru-ru/updates?id=527635" TargetMode="Externa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hyperlink" Target="https://azure.microsoft.com/ru-ru/updates?id=527626" TargetMode="External"/><Relationship Id="rId2" Type="http://schemas.openxmlformats.org/officeDocument/2006/relationships/hyperlink" Target="https://azure.microsoft.com/ru-ru/updates?id=527612" TargetMode="Externa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93.xml.rels><?xml version="1.0" encoding="UTF-8" standalone="yes"?>
<Relationships xmlns="http://schemas.openxmlformats.org/package/2006/relationships"><Relationship Id="rId3" Type="http://schemas.openxmlformats.org/officeDocument/2006/relationships/hyperlink" Target="https://azure.microsoft.com/ru-ru/updates?id=527621" TargetMode="External"/><Relationship Id="rId2" Type="http://schemas.openxmlformats.org/officeDocument/2006/relationships/hyperlink" Target="https://techcommunity.microsoft.com/blog/azuresqlblog/stream-data-in-near-real-time-from-sql-to-azure-event-hubs---public-preview/4470724" TargetMode="Externa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hyperlink" Target="https://azure.microsoft.com/ru-ru/updates?id=532303" TargetMode="External"/><Relationship Id="rId2" Type="http://schemas.openxmlformats.org/officeDocument/2006/relationships/hyperlink" Target="https://azure.microsoft.com/ru-ru/updates?id=527678" TargetMode="Externa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hyperlink" Target="https://azure.microsoft.com/ru-ru/updates?id=526742" TargetMode="External"/><Relationship Id="rId2" Type="http://schemas.openxmlformats.org/officeDocument/2006/relationships/hyperlink" Target="https://azure.microsoft.com/ru-ru/updates?id=525923" TargetMode="Externa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hyperlink" Target="https://azure.microsoft.com/ru-ru/updates?id=526665" TargetMode="External"/><Relationship Id="rId2" Type="http://schemas.openxmlformats.org/officeDocument/2006/relationships/hyperlink" Target="https://azure.microsoft.com/ru-ru/updates?id=525971" TargetMode="Externa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hyperlink" Target="https://azure.microsoft.com/ru-ru/updates?id=525962" TargetMode="External"/><Relationship Id="rId2" Type="http://schemas.openxmlformats.org/officeDocument/2006/relationships/hyperlink" Target="https://azure.microsoft.com/ru-ru/updates?id=525933" TargetMode="Externa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hyperlink" Target="https://azure.microsoft.com/ru-ru/updates?id=526198" TargetMode="External"/><Relationship Id="rId2" Type="http://schemas.openxmlformats.org/officeDocument/2006/relationships/hyperlink" Target="https://azure.microsoft.com/ru-ru/updates?id=522554" TargetMode="Externa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hyperlink" Target="https://azure.microsoft.com/ru-ru/updates?id=525957" TargetMode="External"/><Relationship Id="rId2" Type="http://schemas.openxmlformats.org/officeDocument/2006/relationships/hyperlink" Target="https://azure.microsoft.com/ru-ru/updates?id=525999" TargetMode="Externa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hyperlink" Target="https://azure.microsoft.com/ru-ru/updates?id=523814" TargetMode="External"/><Relationship Id="rId2" Type="http://schemas.openxmlformats.org/officeDocument/2006/relationships/hyperlink" Target="https://azure.microsoft.com/ru-ru/updates?id=525952" TargetMode="Externa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hyperlink" Target="https://azure.microsoft.com/ru-ru/updates?id=526004" TargetMode="External"/><Relationship Id="rId2" Type="http://schemas.openxmlformats.org/officeDocument/2006/relationships/hyperlink" Target="https://azure.microsoft.com/ru-ru/updates?id=525976" TargetMode="Externa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hyperlink" Target="https://azure.microsoft.com/ru-ru/updates?id=526114" TargetMode="External"/><Relationship Id="rId2" Type="http://schemas.openxmlformats.org/officeDocument/2006/relationships/hyperlink" Target="https://azure.microsoft.com/ru-ru/updates?id=525994" TargetMode="Externa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hyperlink" Target="https://azure.microsoft.com/ru-ru/updates?id=526150" TargetMode="External"/><Relationship Id="rId2" Type="http://schemas.openxmlformats.org/officeDocument/2006/relationships/hyperlink" Target="https://techcommunity.microsoft.com/blog/azure-ai-foundry-blog/foundry-iq-unlocking-ubiquitous-knowledge-for-agents/4470812" TargetMode="Externa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hyperlink" Target="https://azure.microsoft.com/ru-ru/updates?id=526132" TargetMode="External"/><Relationship Id="rId2" Type="http://schemas.openxmlformats.org/officeDocument/2006/relationships/hyperlink" Target="https://azure.microsoft.com/ru-ru/updates?id=526330" TargetMode="Externa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hyperlink" Target="https://azure.microsoft.com/ru-ru/updates?id=525985" TargetMode="External"/><Relationship Id="rId2" Type="http://schemas.openxmlformats.org/officeDocument/2006/relationships/hyperlink" Target="https://azure.microsoft.com/ru-ru/updates?id=525942" TargetMode="Externa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hyperlink" Target="https://azure.microsoft.com/ru-ru/updates?id=532188" TargetMode="External"/><Relationship Id="rId2" Type="http://schemas.openxmlformats.org/officeDocument/2006/relationships/hyperlink" Target="https://azure.microsoft.com/ru-ru/updates?id=526123" TargetMode="Externa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hyperlink" Target="https://azure.microsoft.com/ru-ru/updates?id=526150" TargetMode="Externa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hyperlink" Target="https://techcommunity.microsoft.com/blog/azureobservabilityblog/advancing-full-stack-observability-with-azure-monitor-at-ignite-2025/4469041" TargetMode="External"/><Relationship Id="rId2" Type="http://schemas.openxmlformats.org/officeDocument/2006/relationships/hyperlink" Target="https://azure.microsoft.com/ru-ru/updates?id=528538" TargetMode="Externa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hyperlink" Target="https://azure.microsoft.com/ru-ru/updates?id=527668" TargetMode="Externa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3" Type="http://schemas.openxmlformats.org/officeDocument/2006/relationships/hyperlink" Target="https://azure.microsoft.com/ru-ru/updates?id=520762" TargetMode="External"/><Relationship Id="rId2" Type="http://schemas.openxmlformats.org/officeDocument/2006/relationships/hyperlink" Target="https://azure.microsoft.com/ru-ru/updates?id=529944" TargetMode="Externa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hyperlink" Target="https://azure.microsoft.com/ru-ru/updates?id=526179" TargetMode="External"/><Relationship Id="rId2" Type="http://schemas.openxmlformats.org/officeDocument/2006/relationships/hyperlink" Target="https://techcommunity.microsoft.com/blog/azure-ai-foundry-blog/introducing-microsoft-agent-factory/4470732" TargetMode="Externa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hyperlink" Target="https://azure.microsoft.com/ru-ru/updates?id=526751" TargetMode="Externa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hyperlink" Target="https://azure.microsoft.com/ru-ru/updates?id=530257" TargetMode="External"/><Relationship Id="rId2" Type="http://schemas.openxmlformats.org/officeDocument/2006/relationships/hyperlink" Target="https://azure.microsoft.com/ru-ru/updates?id=523593" TargetMode="Externa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hyperlink" Target="https://azure.microsoft.com/ru-ru/updates?id=526900" TargetMode="External"/><Relationship Id="rId2" Type="http://schemas.openxmlformats.org/officeDocument/2006/relationships/hyperlink" Target="https://azure.microsoft.com/ru-ru/updates?id=526618" TargetMode="Externa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hyperlink" Target="https://azure.microsoft.com/ru-ru/updates?id=523782" TargetMode="Externa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hyperlink" Target="https://azure.microsoft.com/ru-ru/updates?id=530593" TargetMode="External"/><Relationship Id="rId2" Type="http://schemas.openxmlformats.org/officeDocument/2006/relationships/hyperlink" Target="https://azure.microsoft.com/ru-ru/updates?id=522586" TargetMode="Externa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3" Type="http://schemas.openxmlformats.org/officeDocument/2006/relationships/hyperlink" Target="https://azure.microsoft.com/ru-ru/updates?id=523105" TargetMode="External"/><Relationship Id="rId2" Type="http://schemas.openxmlformats.org/officeDocument/2006/relationships/hyperlink" Target="https://azure.microsoft.com/ru-ru/updates?id=523187" TargetMode="Externa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3" Type="http://schemas.openxmlformats.org/officeDocument/2006/relationships/hyperlink" Target="https://azure.microsoft.com/ru-ru/updates?id=526909" TargetMode="External"/><Relationship Id="rId2" Type="http://schemas.openxmlformats.org/officeDocument/2006/relationships/hyperlink" Target="https://techcommunity.microsoft.com/blog/azurearcblog/microsoft-365-local-is-generally-available/4470170" TargetMode="Externa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23.xml.rels><?xml version="1.0" encoding="UTF-8" standalone="yes"?>
<Relationships xmlns="http://schemas.openxmlformats.org/package/2006/relationships"><Relationship Id="rId3" Type="http://schemas.openxmlformats.org/officeDocument/2006/relationships/hyperlink" Target="https://techcommunity.microsoft.com/blog/windowsservernewsandbestpractices/microsoft-foundry-on-windows-server/4471093" TargetMode="External"/><Relationship Id="rId2" Type="http://schemas.openxmlformats.org/officeDocument/2006/relationships/hyperlink" Target="https://techcommunity.microsoft.com/blog/networkingblog/announcing-general-availability-for-accelnet-on-windows-server-2025/4466770" TargetMode="Externa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24.xml.rels><?xml version="1.0" encoding="UTF-8" standalone="yes"?>
<Relationships xmlns="http://schemas.openxmlformats.org/package/2006/relationships"><Relationship Id="rId3" Type="http://schemas.openxmlformats.org/officeDocument/2006/relationships/hyperlink" Target="https://techcommunity.microsoft.com/blog/networkingblog/announcing-network-hud-operational-network-monitoring-for-windows-server-2025/4468723" TargetMode="External"/><Relationship Id="rId2" Type="http://schemas.openxmlformats.org/officeDocument/2006/relationships/hyperlink" Target="https://techcommunity.microsoft.com/blog/windows-admin-center-blog/windows-admin-center-version-2511-is-now-in-public-preview/4471469" TargetMode="Externa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azure.microsoft.com/ru-ru/updates?id=530614" TargetMode="Externa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#185</a:t>
            </a:r>
          </a:p>
        </p:txBody>
      </p:sp>
      <p:sp>
        <p:nvSpPr>
          <p:cNvPr id="4" name="Text Placeholder 3"/>
          <p:cNvSpPr>
            <a:spLocks noGrp="1"/>
          </p:cNvSpPr>
          <p:nvPr>
            <p:ph type="body" sz="quarter" idx="11"/>
          </p:nvPr>
        </p:nvSpPr>
        <p:spPr/>
        <p:txBody>
          <a:bodyPr/>
          <a:lstStyle/>
          <a:p>
            <a:r>
              <a:rPr lang="en-US" spc="300" dirty="0"/>
              <a:t>November 24, 2025</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Networking </a:t>
            </a:r>
          </a:p>
        </p:txBody>
      </p:sp>
    </p:spTree>
    <p:extLst>
      <p:ext uri="{BB962C8B-B14F-4D97-AF65-F5344CB8AC3E}">
        <p14:creationId xmlns:p14="http://schemas.microsoft.com/office/powerpoint/2010/main" val="402105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Application Gateway for Containers Istio Service Mesh integration</a:t>
            </a:r>
            <a:endParaRPr lang="en-US" sz="1000" dirty="0"/>
          </a:p>
          <a:p>
            <a:pPr algn="just"/>
            <a:r>
              <a:rPr lang="en-US" sz="1000" dirty="0"/>
              <a:t>A new optional </a:t>
            </a:r>
            <a:r>
              <a:rPr lang="en-US" sz="1000" b="1" dirty="0"/>
              <a:t>service mesh extension</a:t>
            </a:r>
            <a:r>
              <a:rPr lang="en-US" sz="1000" dirty="0"/>
              <a:t> enables seamless integration between Application Gateway for Containers and Istio, simplifying secure north–south traffic flows into your mesh.</a:t>
            </a:r>
          </a:p>
          <a:p>
            <a:pPr algn="just"/>
            <a:r>
              <a:rPr lang="en-US" sz="1000" b="1" dirty="0"/>
              <a:t>Key benefits:</a:t>
            </a:r>
            <a:endParaRPr lang="en-US" sz="1000" dirty="0"/>
          </a:p>
          <a:p>
            <a:pPr marL="171450" indent="-171450" algn="just">
              <a:buFont typeface="Arial" panose="020B0604020202020204" pitchFamily="34" charset="0"/>
              <a:buChar char="•"/>
            </a:pPr>
            <a:r>
              <a:rPr lang="en-US" sz="1000" b="1" dirty="0"/>
              <a:t>Unified ingress:</a:t>
            </a:r>
            <a:r>
              <a:rPr lang="en-US" sz="1000" dirty="0"/>
              <a:t> Use a single gateway to load balance traffic to services both inside and outside the mesh.</a:t>
            </a:r>
          </a:p>
          <a:p>
            <a:pPr marL="171450" indent="-171450" algn="just">
              <a:buFont typeface="Arial" panose="020B0604020202020204" pitchFamily="34" charset="0"/>
              <a:buChar char="•"/>
            </a:pPr>
            <a:r>
              <a:rPr lang="en-US" sz="1000" b="1" dirty="0"/>
              <a:t>Lower operational overhead:</a:t>
            </a:r>
            <a:r>
              <a:rPr lang="en-US" sz="1000" dirty="0"/>
              <a:t> Reduce config complexity with automated </a:t>
            </a:r>
            <a:r>
              <a:rPr lang="en-US" sz="1000" dirty="0" err="1"/>
              <a:t>mTLS</a:t>
            </a:r>
            <a:r>
              <a:rPr lang="en-US" sz="1000" dirty="0"/>
              <a:t> authentication settings.</a:t>
            </a:r>
          </a:p>
          <a:p>
            <a:pPr marL="171450" indent="-171450" algn="just">
              <a:buFont typeface="Arial" panose="020B0604020202020204" pitchFamily="34" charset="0"/>
              <a:buChar char="•"/>
            </a:pPr>
            <a:r>
              <a:rPr lang="en-US" sz="1000" b="1" dirty="0"/>
              <a:t>Managed certificate trust:</a:t>
            </a:r>
            <a:r>
              <a:rPr lang="en-US" sz="1000" dirty="0"/>
              <a:t> Automatic certificate trust management and rotation ensures secure, consistent authentication with the service mesh.</a:t>
            </a:r>
          </a:p>
          <a:p>
            <a:pPr algn="just"/>
            <a:r>
              <a:rPr lang="en-US" sz="1000" dirty="0"/>
              <a:t>This integration streamlines operations and delivers a more secure, cohesive ingress experience for Istio-based environments.</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Networking Updates (Application Gateway) 1/4</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JWT Validation in Azure Application Gateway</a:t>
            </a:r>
            <a:endParaRPr lang="en-US" dirty="0"/>
          </a:p>
          <a:p>
            <a:pPr algn="just"/>
            <a:r>
              <a:rPr lang="en-US" dirty="0"/>
              <a:t>Azure Application Gateway now supports </a:t>
            </a:r>
            <a:r>
              <a:rPr lang="en-US" b="1" dirty="0"/>
              <a:t>built-in JSON Web Token (JWT) validation</a:t>
            </a:r>
            <a:r>
              <a:rPr lang="en-US" dirty="0"/>
              <a:t> in public preview, allowing authentication enforcement at the gateway before traffic reaches your backend services.</a:t>
            </a:r>
          </a:p>
          <a:p>
            <a:pPr algn="just"/>
            <a:r>
              <a:rPr lang="en-US" b="1" dirty="0"/>
              <a:t>Key benefits:</a:t>
            </a:r>
            <a:endParaRPr lang="en-US" dirty="0"/>
          </a:p>
          <a:p>
            <a:pPr marL="171450" indent="-171450" algn="just">
              <a:buFont typeface="Arial" panose="020B0604020202020204" pitchFamily="34" charset="0"/>
              <a:buChar char="•"/>
            </a:pPr>
            <a:r>
              <a:rPr lang="en-US" b="1" dirty="0"/>
              <a:t>Protect at the edge:</a:t>
            </a:r>
            <a:r>
              <a:rPr lang="en-US" dirty="0"/>
              <a:t> Automatically block requests with missing or invalid tokens (401/403) before they hit your applications.</a:t>
            </a:r>
          </a:p>
          <a:p>
            <a:pPr marL="171450" indent="-171450" algn="just">
              <a:buFont typeface="Arial" panose="020B0604020202020204" pitchFamily="34" charset="0"/>
              <a:buChar char="•"/>
            </a:pPr>
            <a:r>
              <a:rPr lang="en-US" b="1" dirty="0"/>
              <a:t>Improve performance:</a:t>
            </a:r>
            <a:r>
              <a:rPr lang="en-US" dirty="0"/>
              <a:t> Offload JWT validation from apps and microservices to the gateway for better scalability and faster response times.</a:t>
            </a:r>
          </a:p>
          <a:p>
            <a:pPr marL="171450" indent="-171450" algn="just">
              <a:buFont typeface="Arial" panose="020B0604020202020204" pitchFamily="34" charset="0"/>
              <a:buChar char="•"/>
            </a:pPr>
            <a:r>
              <a:rPr lang="en-US" b="1" dirty="0"/>
              <a:t>Simplify operations:</a:t>
            </a:r>
            <a:r>
              <a:rPr lang="en-US" dirty="0"/>
              <a:t> Manage consistent authentication policies centrally across all applications and routes.</a:t>
            </a:r>
          </a:p>
          <a:p>
            <a:pPr algn="just"/>
            <a:r>
              <a:rPr lang="en-US" dirty="0"/>
              <a:t>This new capability strengthens security, reduces app overhead, and streamlines identity governance across your environment.</a:t>
            </a:r>
          </a:p>
        </p:txBody>
      </p:sp>
    </p:spTree>
    <p:extLst>
      <p:ext uri="{BB962C8B-B14F-4D97-AF65-F5344CB8AC3E}">
        <p14:creationId xmlns:p14="http://schemas.microsoft.com/office/powerpoint/2010/main" val="365858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403579-1394-4ACF-D157-1DC1FC3491FA}"/>
              </a:ext>
            </a:extLst>
          </p:cNvPr>
          <p:cNvSpPr>
            <a:spLocks noGrp="1"/>
          </p:cNvSpPr>
          <p:nvPr>
            <p:ph type="body" sz="quarter" idx="10"/>
          </p:nvPr>
        </p:nvSpPr>
        <p:spPr>
          <a:xfrm>
            <a:off x="4433776" y="855080"/>
            <a:ext cx="4365038" cy="2199847"/>
          </a:xfrm>
        </p:spPr>
        <p:txBody>
          <a:bodyPr/>
          <a:lstStyle/>
          <a:p>
            <a:pPr algn="just"/>
            <a:r>
              <a:rPr lang="en-US" sz="1000" dirty="0"/>
              <a:t>Limitations</a:t>
            </a:r>
          </a:p>
          <a:p>
            <a:pPr marL="171450" indent="-171450" algn="just">
              <a:buFont typeface="Arial" panose="020B0604020202020204" pitchFamily="34" charset="0"/>
              <a:buChar char="•"/>
            </a:pPr>
            <a:r>
              <a:rPr lang="en-US" sz="1000" b="1" dirty="0"/>
              <a:t>Mixed traffic support: </a:t>
            </a:r>
            <a:r>
              <a:rPr lang="en-US" sz="1000" dirty="0"/>
              <a:t>WAF v2 gateways can host both TLS/TCP and HTTP listeners, but each listener only supports its respective protocol.</a:t>
            </a:r>
          </a:p>
          <a:p>
            <a:pPr marL="171450" indent="-171450" algn="just">
              <a:buFont typeface="Arial" panose="020B0604020202020204" pitchFamily="34" charset="0"/>
              <a:buChar char="•"/>
            </a:pPr>
            <a:r>
              <a:rPr lang="en-US" sz="1000" b="1" dirty="0"/>
              <a:t>Fixed draining timeout: </a:t>
            </a:r>
            <a:r>
              <a:rPr lang="en-US" sz="1000" dirty="0"/>
              <a:t>Backend server draining is fixed at 30 seconds; custom draining values aren’t supported.</a:t>
            </a:r>
          </a:p>
          <a:p>
            <a:pPr marL="171450" indent="-171450" algn="just">
              <a:buFont typeface="Arial" panose="020B0604020202020204" pitchFamily="34" charset="0"/>
              <a:buChar char="•"/>
            </a:pPr>
            <a:r>
              <a:rPr lang="en-US" sz="1000" b="1" dirty="0"/>
              <a:t>Connection interruptions on updates: </a:t>
            </a:r>
            <a:r>
              <a:rPr lang="en-US" sz="1000" dirty="0"/>
              <a:t>Any configuration update (PUT) will terminate active connections after the default draining period.</a:t>
            </a:r>
          </a:p>
          <a:p>
            <a:pPr marL="171450" indent="-171450" algn="just">
              <a:buFont typeface="Arial" panose="020B0604020202020204" pitchFamily="34" charset="0"/>
              <a:buChar char="•"/>
            </a:pPr>
            <a:r>
              <a:rPr lang="en-US" sz="1000" b="1" dirty="0"/>
              <a:t>Client IP preservation: </a:t>
            </a:r>
            <a:r>
              <a:rPr lang="en-US" sz="1000" dirty="0"/>
              <a:t>Not supported for TLS/TCP proxying at this time.</a:t>
            </a:r>
          </a:p>
          <a:p>
            <a:pPr marL="171450" indent="-171450" algn="just">
              <a:buFont typeface="Arial" panose="020B0604020202020204" pitchFamily="34" charset="0"/>
              <a:buChar char="•"/>
            </a:pPr>
            <a:r>
              <a:rPr lang="en-US" sz="1000" b="1" dirty="0"/>
              <a:t>Ingress controller: </a:t>
            </a:r>
            <a:r>
              <a:rPr lang="en-US" sz="1000" dirty="0"/>
              <a:t>AGIC is not supported; only L7 HTTP(S) proxy features work with AGIC.</a:t>
            </a:r>
          </a:p>
        </p:txBody>
      </p:sp>
      <p:sp>
        <p:nvSpPr>
          <p:cNvPr id="3" name="Title 2">
            <a:extLst>
              <a:ext uri="{FF2B5EF4-FFF2-40B4-BE49-F238E27FC236}">
                <a16:creationId xmlns:a16="http://schemas.microsoft.com/office/drawing/2014/main" id="{75D6146C-61EF-8DE3-E37B-D7015A1C9E9B}"/>
              </a:ext>
            </a:extLst>
          </p:cNvPr>
          <p:cNvSpPr>
            <a:spLocks noGrp="1"/>
          </p:cNvSpPr>
          <p:nvPr>
            <p:ph type="title"/>
          </p:nvPr>
        </p:nvSpPr>
        <p:spPr/>
        <p:txBody>
          <a:bodyPr/>
          <a:lstStyle/>
          <a:p>
            <a:r>
              <a:rPr lang="en-US" sz="1800" dirty="0"/>
              <a:t>Networking Updates (Application Gateway) 2/4</a:t>
            </a:r>
            <a:endParaRPr lang="en-US" dirty="0"/>
          </a:p>
        </p:txBody>
      </p:sp>
      <p:sp>
        <p:nvSpPr>
          <p:cNvPr id="4" name="Text Placeholder 3">
            <a:extLst>
              <a:ext uri="{FF2B5EF4-FFF2-40B4-BE49-F238E27FC236}">
                <a16:creationId xmlns:a16="http://schemas.microsoft.com/office/drawing/2014/main" id="{9F8CF2E2-49EB-90D3-FF24-9EFC99D2EDC9}"/>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900CC18D-6CD5-235D-32A6-266DD8E6411A}"/>
              </a:ext>
            </a:extLst>
          </p:cNvPr>
          <p:cNvSpPr>
            <a:spLocks noGrp="1"/>
          </p:cNvSpPr>
          <p:nvPr>
            <p:ph type="body" sz="quarter" idx="16"/>
          </p:nvPr>
        </p:nvSpPr>
        <p:spPr>
          <a:xfrm>
            <a:off x="342900" y="855080"/>
            <a:ext cx="3955312" cy="3425975"/>
          </a:xfrm>
        </p:spPr>
        <p:txBody>
          <a:bodyPr/>
          <a:lstStyle/>
          <a:p>
            <a:pPr algn="just"/>
            <a:r>
              <a:rPr lang="en-US" dirty="0">
                <a:hlinkClick r:id="rId2"/>
              </a:rPr>
              <a:t>Generally Available: TLS and TCP termination on Azure Application Gateway</a:t>
            </a:r>
            <a:endParaRPr lang="en-US" dirty="0"/>
          </a:p>
          <a:p>
            <a:pPr algn="just"/>
            <a:r>
              <a:rPr lang="en-US" dirty="0"/>
              <a:t>This enhancement adds the ability to load balance and securely process </a:t>
            </a:r>
            <a:r>
              <a:rPr lang="en-US" b="1" dirty="0"/>
              <a:t>non-HTTP(S) traffic</a:t>
            </a:r>
            <a:r>
              <a:rPr lang="en-US" dirty="0"/>
              <a:t>, enabling support for applications that use </a:t>
            </a:r>
            <a:r>
              <a:rPr lang="en-US" b="1" dirty="0"/>
              <a:t>TCP or TLS protocols</a:t>
            </a:r>
            <a:r>
              <a:rPr lang="en-US" dirty="0"/>
              <a:t>. The gateway now terminates incoming connections at the proxy and opens a new connection to backend servers, providing improved security and control.</a:t>
            </a:r>
          </a:p>
          <a:p>
            <a:pPr algn="just"/>
            <a:r>
              <a:rPr lang="en-US" b="1" dirty="0"/>
              <a:t>Key capabilities:</a:t>
            </a:r>
            <a:endParaRPr lang="en-US" dirty="0"/>
          </a:p>
          <a:p>
            <a:pPr marL="171450" indent="-171450" algn="just">
              <a:buFont typeface="Arial" panose="020B0604020202020204" pitchFamily="34" charset="0"/>
              <a:buChar char="•"/>
            </a:pPr>
            <a:r>
              <a:rPr lang="en-US" b="1" dirty="0"/>
              <a:t>TLS/TCP proxying:</a:t>
            </a:r>
            <a:r>
              <a:rPr lang="en-US" dirty="0"/>
              <a:t> Support for secure, low-latency load balancing of TCP and TLS workloads.</a:t>
            </a:r>
          </a:p>
          <a:p>
            <a:pPr marL="171450" indent="-171450" algn="just">
              <a:buFont typeface="Arial" panose="020B0604020202020204" pitchFamily="34" charset="0"/>
              <a:buChar char="•"/>
            </a:pPr>
            <a:r>
              <a:rPr lang="en-US" b="1" dirty="0"/>
              <a:t>Unified certificate management:</a:t>
            </a:r>
            <a:r>
              <a:rPr lang="en-US" dirty="0"/>
              <a:t> Manage certificates for both HTTPS and TLS on the same resource, simplifying operations and providing a single client endpoint.</a:t>
            </a:r>
          </a:p>
          <a:p>
            <a:pPr marL="171450" indent="-171450" algn="just">
              <a:buFont typeface="Arial" panose="020B0604020202020204" pitchFamily="34" charset="0"/>
              <a:buChar char="•"/>
            </a:pPr>
            <a:r>
              <a:rPr lang="en-US" b="1" dirty="0"/>
              <a:t>Client IP preservation:</a:t>
            </a:r>
            <a:r>
              <a:rPr lang="en-US" dirty="0"/>
              <a:t> PROXY protocol support ensures backend services receive the original client IP.</a:t>
            </a:r>
          </a:p>
          <a:p>
            <a:pPr marL="171450" indent="-171450" algn="just">
              <a:buFont typeface="Arial" panose="020B0604020202020204" pitchFamily="34" charset="0"/>
              <a:buChar char="•"/>
            </a:pPr>
            <a:r>
              <a:rPr lang="en-US" b="1" dirty="0"/>
              <a:t>Expanded listener support:</a:t>
            </a:r>
            <a:r>
              <a:rPr lang="en-US" dirty="0"/>
              <a:t> Port </a:t>
            </a:r>
            <a:r>
              <a:rPr lang="en-US" b="1" dirty="0"/>
              <a:t>22</a:t>
            </a:r>
            <a:r>
              <a:rPr lang="en-US" dirty="0"/>
              <a:t> is now supported.</a:t>
            </a:r>
          </a:p>
          <a:p>
            <a:pPr marL="171450" indent="-171450" algn="just">
              <a:buFont typeface="Arial" panose="020B0604020202020204" pitchFamily="34" charset="0"/>
              <a:buChar char="•"/>
            </a:pPr>
            <a:r>
              <a:rPr lang="en-US" b="1" dirty="0"/>
              <a:t>Available on:</a:t>
            </a:r>
            <a:r>
              <a:rPr lang="en-US" dirty="0"/>
              <a:t> Application Gateway </a:t>
            </a:r>
            <a:r>
              <a:rPr lang="en-US" b="1" dirty="0"/>
              <a:t>Standard v2</a:t>
            </a:r>
            <a:r>
              <a:rPr lang="en-US" dirty="0"/>
              <a:t> and </a:t>
            </a:r>
            <a:r>
              <a:rPr lang="en-US" b="1" dirty="0"/>
              <a:t>WAF v2</a:t>
            </a:r>
            <a:r>
              <a:rPr lang="en-US" dirty="0"/>
              <a:t> SKUs.</a:t>
            </a:r>
          </a:p>
        </p:txBody>
      </p:sp>
      <p:pic>
        <p:nvPicPr>
          <p:cNvPr id="3074" name="Picture 2" descr="Overview diagram of how TCP/TLS proxy works.">
            <a:extLst>
              <a:ext uri="{FF2B5EF4-FFF2-40B4-BE49-F238E27FC236}">
                <a16:creationId xmlns:a16="http://schemas.microsoft.com/office/drawing/2014/main" id="{8017B000-48C5-4FDA-8FC6-C04A38BE083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21605" y="2957946"/>
            <a:ext cx="3189379" cy="1620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4828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DD891-4CE7-3684-E998-D623020E5F58}"/>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4226539-98A3-C40F-4648-61D3893ECB98}"/>
              </a:ext>
            </a:extLst>
          </p:cNvPr>
          <p:cNvSpPr>
            <a:spLocks noGrp="1"/>
          </p:cNvSpPr>
          <p:nvPr>
            <p:ph type="body" sz="quarter" idx="10"/>
          </p:nvPr>
        </p:nvSpPr>
        <p:spPr>
          <a:xfrm>
            <a:off x="4433776" y="855081"/>
            <a:ext cx="4365038" cy="2532356"/>
          </a:xfrm>
        </p:spPr>
        <p:txBody>
          <a:bodyPr/>
          <a:lstStyle/>
          <a:p>
            <a:pPr algn="just"/>
            <a:r>
              <a:rPr lang="en-US" sz="1000" dirty="0">
                <a:hlinkClick r:id="rId2"/>
              </a:rPr>
              <a:t>Generally Available: Application Gateway for Containers – Slow start</a:t>
            </a:r>
            <a:endParaRPr lang="en-US" sz="1000" dirty="0"/>
          </a:p>
          <a:p>
            <a:pPr algn="just"/>
            <a:r>
              <a:rPr lang="en-US" sz="1000" dirty="0"/>
              <a:t>Application Gateway for Containers now supports </a:t>
            </a:r>
            <a:r>
              <a:rPr lang="en-US" sz="1000" b="1" dirty="0"/>
              <a:t>Slow Start</a:t>
            </a:r>
            <a:r>
              <a:rPr lang="en-US" sz="1000" dirty="0"/>
              <a:t> as a load-balancing algorithm, improving stability and performance when new backend pods come online. Slow Start gradually ramps up traffic to newly added pods over a configurable warm-up period.</a:t>
            </a:r>
          </a:p>
          <a:p>
            <a:pPr algn="just"/>
            <a:r>
              <a:rPr lang="en-US" sz="1000" b="1" dirty="0"/>
              <a:t>Key benefits:</a:t>
            </a:r>
            <a:endParaRPr lang="en-US" sz="1000" dirty="0"/>
          </a:p>
          <a:p>
            <a:pPr marL="171450" indent="-171450" algn="just">
              <a:buFont typeface="Arial" panose="020B0604020202020204" pitchFamily="34" charset="0"/>
              <a:buChar char="•"/>
            </a:pPr>
            <a:r>
              <a:rPr lang="en-US" sz="1000" b="1" dirty="0"/>
              <a:t>Smooth scale-up:</a:t>
            </a:r>
            <a:r>
              <a:rPr lang="en-US" sz="1000" dirty="0"/>
              <a:t> Prevents sudden traffic spikes that can overwhelm cold pods.</a:t>
            </a:r>
          </a:p>
          <a:p>
            <a:pPr marL="171450" indent="-171450" algn="just">
              <a:buFont typeface="Arial" panose="020B0604020202020204" pitchFamily="34" charset="0"/>
              <a:buChar char="•"/>
            </a:pPr>
            <a:r>
              <a:rPr lang="en-US" sz="1000" b="1" dirty="0"/>
              <a:t>Higher reliability:</a:t>
            </a:r>
            <a:r>
              <a:rPr lang="en-US" sz="1000" dirty="0"/>
              <a:t> Ensures new pods warm up properly before receiving full load.</a:t>
            </a:r>
          </a:p>
          <a:p>
            <a:pPr marL="171450" indent="-171450" algn="just">
              <a:buFont typeface="Arial" panose="020B0604020202020204" pitchFamily="34" charset="0"/>
              <a:buChar char="•"/>
            </a:pPr>
            <a:r>
              <a:rPr lang="en-US" sz="1000" b="1" dirty="0"/>
              <a:t>Predictable performance:</a:t>
            </a:r>
            <a:r>
              <a:rPr lang="en-US" sz="1000" dirty="0"/>
              <a:t> Maintains consistent response times during scale-outs and rolling updates.</a:t>
            </a:r>
          </a:p>
          <a:p>
            <a:pPr algn="just"/>
            <a:r>
              <a:rPr lang="en-US" sz="1000" dirty="0"/>
              <a:t>This feature helps deliver safer, more stable scaling behavior for containerized applications.</a:t>
            </a:r>
          </a:p>
        </p:txBody>
      </p:sp>
      <p:sp>
        <p:nvSpPr>
          <p:cNvPr id="11" name="Title 10">
            <a:extLst>
              <a:ext uri="{FF2B5EF4-FFF2-40B4-BE49-F238E27FC236}">
                <a16:creationId xmlns:a16="http://schemas.microsoft.com/office/drawing/2014/main" id="{498EDA87-FEEC-7025-3A81-E2B223F8F83C}"/>
              </a:ext>
            </a:extLst>
          </p:cNvPr>
          <p:cNvSpPr>
            <a:spLocks noGrp="1"/>
          </p:cNvSpPr>
          <p:nvPr>
            <p:ph type="title"/>
          </p:nvPr>
        </p:nvSpPr>
        <p:spPr/>
        <p:txBody>
          <a:bodyPr/>
          <a:lstStyle/>
          <a:p>
            <a:r>
              <a:rPr lang="en-US" sz="1800" dirty="0"/>
              <a:t>Networking Updates (Application Gateway) 3/4</a:t>
            </a:r>
            <a:endParaRPr lang="en-US" dirty="0"/>
          </a:p>
        </p:txBody>
      </p:sp>
      <p:sp>
        <p:nvSpPr>
          <p:cNvPr id="13" name="Text Placeholder 12">
            <a:extLst>
              <a:ext uri="{FF2B5EF4-FFF2-40B4-BE49-F238E27FC236}">
                <a16:creationId xmlns:a16="http://schemas.microsoft.com/office/drawing/2014/main" id="{FD842EA0-D1D6-E5CA-35A9-265810B8410B}"/>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72E1AC-FDA0-FB61-4BF0-E75C2B8A1664}"/>
              </a:ext>
            </a:extLst>
          </p:cNvPr>
          <p:cNvSpPr>
            <a:spLocks noGrp="1"/>
          </p:cNvSpPr>
          <p:nvPr>
            <p:ph type="body" sz="quarter" idx="16"/>
          </p:nvPr>
        </p:nvSpPr>
        <p:spPr/>
        <p:txBody>
          <a:bodyPr/>
          <a:lstStyle/>
          <a:p>
            <a:pPr algn="just"/>
            <a:r>
              <a:rPr lang="en-US" dirty="0">
                <a:hlinkClick r:id="rId3"/>
              </a:rPr>
              <a:t>Generally Available: Azure Application Gateway </a:t>
            </a:r>
            <a:r>
              <a:rPr lang="en-US" dirty="0" err="1">
                <a:hlinkClick r:id="rId3"/>
              </a:rPr>
              <a:t>mTLS</a:t>
            </a:r>
            <a:r>
              <a:rPr lang="en-US" dirty="0">
                <a:hlinkClick r:id="rId3"/>
              </a:rPr>
              <a:t> passthrough support</a:t>
            </a:r>
            <a:endParaRPr lang="en-US" dirty="0"/>
          </a:p>
          <a:p>
            <a:pPr algn="just"/>
            <a:r>
              <a:rPr lang="en-US" dirty="0"/>
              <a:t>Azure Application Gateway now supports a new </a:t>
            </a:r>
            <a:r>
              <a:rPr lang="en-US" b="1" dirty="0" err="1"/>
              <a:t>mTLS</a:t>
            </a:r>
            <a:r>
              <a:rPr lang="en-US" b="1" dirty="0"/>
              <a:t> Passthrough mode</a:t>
            </a:r>
            <a:r>
              <a:rPr lang="en-US" dirty="0"/>
              <a:t>, enabling backend applications to validate client certificates and authorization headers while still benefiting from full WAF inspection.</a:t>
            </a:r>
          </a:p>
          <a:p>
            <a:pPr algn="just"/>
            <a:r>
              <a:rPr lang="en-US" dirty="0"/>
              <a:t>Previously, Application Gateway listeners enforced </a:t>
            </a:r>
            <a:r>
              <a:rPr lang="en-US" b="1" dirty="0"/>
              <a:t>Strict </a:t>
            </a:r>
            <a:r>
              <a:rPr lang="en-US" b="1" dirty="0" err="1"/>
              <a:t>mTLS</a:t>
            </a:r>
            <a:r>
              <a:rPr lang="en-US" dirty="0"/>
              <a:t>, blocking any request that did not include a valid client certificate—preventing token-only traffic from reaching backend services.</a:t>
            </a:r>
          </a:p>
          <a:p>
            <a:pPr algn="just"/>
            <a:r>
              <a:rPr lang="en-US" dirty="0"/>
              <a:t>With the new Passthrough mode, you can now:</a:t>
            </a:r>
          </a:p>
          <a:p>
            <a:pPr marL="171450" indent="-171450" algn="just">
              <a:buFont typeface="Arial" panose="020B0604020202020204" pitchFamily="34" charset="0"/>
              <a:buChar char="•"/>
            </a:pPr>
            <a:r>
              <a:rPr lang="en-US" b="1" dirty="0"/>
              <a:t>Allow requests without client certificates</a:t>
            </a:r>
            <a:r>
              <a:rPr lang="en-US" dirty="0"/>
              <a:t> to pass through WAF for inspection.</a:t>
            </a:r>
          </a:p>
          <a:p>
            <a:pPr marL="171450" indent="-171450" algn="just">
              <a:buFont typeface="Arial" panose="020B0604020202020204" pitchFamily="34" charset="0"/>
              <a:buChar char="•"/>
            </a:pPr>
            <a:r>
              <a:rPr lang="en-US" b="1" dirty="0"/>
              <a:t>Support mixed authentication scenarios</a:t>
            </a:r>
            <a:r>
              <a:rPr lang="en-US" dirty="0"/>
              <a:t>, including both </a:t>
            </a:r>
            <a:r>
              <a:rPr lang="en-US" dirty="0" err="1"/>
              <a:t>mTLS</a:t>
            </a:r>
            <a:r>
              <a:rPr lang="en-US" dirty="0"/>
              <a:t> and token-based access.</a:t>
            </a:r>
          </a:p>
          <a:p>
            <a:pPr marL="171450" indent="-171450" algn="just">
              <a:buFont typeface="Arial" panose="020B0604020202020204" pitchFamily="34" charset="0"/>
              <a:buChar char="•"/>
            </a:pPr>
            <a:r>
              <a:rPr lang="en-US" b="1" dirty="0"/>
              <a:t>Let backend applications perform certificate and authorization logic</a:t>
            </a:r>
            <a:r>
              <a:rPr lang="en-US" dirty="0"/>
              <a:t>, maintaining full control.</a:t>
            </a:r>
          </a:p>
          <a:p>
            <a:pPr algn="just"/>
            <a:r>
              <a:rPr lang="en-US" dirty="0"/>
              <a:t>This enhancement improves flexibility for modern applications that combine certificate-based and token-based authentication while keeping traffic protected by WAF.</a:t>
            </a:r>
          </a:p>
        </p:txBody>
      </p:sp>
    </p:spTree>
    <p:extLst>
      <p:ext uri="{BB962C8B-B14F-4D97-AF65-F5344CB8AC3E}">
        <p14:creationId xmlns:p14="http://schemas.microsoft.com/office/powerpoint/2010/main" val="91133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665C73-8390-D38C-DF6A-91D47553364F}"/>
              </a:ext>
            </a:extLst>
          </p:cNvPr>
          <p:cNvSpPr>
            <a:spLocks noGrp="1"/>
          </p:cNvSpPr>
          <p:nvPr>
            <p:ph type="title"/>
          </p:nvPr>
        </p:nvSpPr>
        <p:spPr/>
        <p:txBody>
          <a:bodyPr/>
          <a:lstStyle/>
          <a:p>
            <a:r>
              <a:rPr lang="en-US" sz="1600" dirty="0"/>
              <a:t>Networking Updates (Application Gateway) 4/4</a:t>
            </a:r>
            <a:endParaRPr lang="en-US" dirty="0"/>
          </a:p>
        </p:txBody>
      </p:sp>
      <p:sp>
        <p:nvSpPr>
          <p:cNvPr id="4" name="Text Placeholder 3">
            <a:extLst>
              <a:ext uri="{FF2B5EF4-FFF2-40B4-BE49-F238E27FC236}">
                <a16:creationId xmlns:a16="http://schemas.microsoft.com/office/drawing/2014/main" id="{A285E582-3725-E3B8-2684-7262028B90FF}"/>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DFA9E38D-D58B-F9F5-0EE4-95150B4186C5}"/>
              </a:ext>
            </a:extLst>
          </p:cNvPr>
          <p:cNvSpPr>
            <a:spLocks noGrp="1"/>
          </p:cNvSpPr>
          <p:nvPr>
            <p:ph type="body" sz="quarter" idx="16"/>
          </p:nvPr>
        </p:nvSpPr>
        <p:spPr/>
        <p:txBody>
          <a:bodyPr/>
          <a:lstStyle/>
          <a:p>
            <a:pPr algn="just"/>
            <a:r>
              <a:rPr lang="en-US" dirty="0">
                <a:hlinkClick r:id="rId2"/>
              </a:rPr>
              <a:t>Public Preview: Microsoft HTTP DDoS Ruleset 1.0 on Application Gateway WAF v2</a:t>
            </a:r>
            <a:endParaRPr lang="en-US" dirty="0"/>
          </a:p>
          <a:p>
            <a:pPr algn="just"/>
            <a:r>
              <a:rPr lang="en-US" dirty="0"/>
              <a:t>Azure WAF’s new </a:t>
            </a:r>
            <a:r>
              <a:rPr lang="en-US" b="1" dirty="0"/>
              <a:t>HTTP DDoS Ruleset</a:t>
            </a:r>
            <a:r>
              <a:rPr lang="en-US" dirty="0"/>
              <a:t> delivers adaptive, automated Layer 7 protection with almost no configuration required.</a:t>
            </a:r>
          </a:p>
          <a:p>
            <a:pPr algn="just"/>
            <a:r>
              <a:rPr lang="en-US" dirty="0"/>
              <a:t>Once enabled, the ruleset continuously learns normal traffic patterns for each Application Gateway and automatically blocks malicious surges without manual tuning.</a:t>
            </a:r>
          </a:p>
          <a:p>
            <a:pPr algn="just"/>
            <a:r>
              <a:rPr lang="en-US" b="1" dirty="0"/>
              <a:t>Key capabilities:</a:t>
            </a:r>
            <a:endParaRPr lang="en-US" dirty="0"/>
          </a:p>
          <a:p>
            <a:pPr marL="171450" indent="-171450" algn="just">
              <a:buFont typeface="Arial" panose="020B0604020202020204" pitchFamily="34" charset="0"/>
              <a:buChar char="•"/>
            </a:pPr>
            <a:r>
              <a:rPr lang="en-US" b="1" dirty="0"/>
              <a:t>Automated traffic baselining</a:t>
            </a:r>
            <a:r>
              <a:rPr lang="en-US" dirty="0"/>
              <a:t> at both gateway and per-IP levels.</a:t>
            </a:r>
          </a:p>
          <a:p>
            <a:pPr marL="171450" indent="-171450" algn="just">
              <a:buFont typeface="Arial" panose="020B0604020202020204" pitchFamily="34" charset="0"/>
              <a:buChar char="•"/>
            </a:pPr>
            <a:r>
              <a:rPr lang="en-US" b="1" dirty="0"/>
              <a:t>Dynamic thresholds &amp; sensitivity</a:t>
            </a:r>
            <a:r>
              <a:rPr lang="en-US" dirty="0"/>
              <a:t>, balancing strong protection with user experience.</a:t>
            </a:r>
          </a:p>
          <a:p>
            <a:pPr marL="171450" indent="-171450" algn="just">
              <a:buFont typeface="Arial" panose="020B0604020202020204" pitchFamily="34" charset="0"/>
              <a:buChar char="•"/>
            </a:pPr>
            <a:r>
              <a:rPr lang="en-US" b="1" dirty="0"/>
              <a:t>Two intelligent detection rules:</a:t>
            </a:r>
            <a:endParaRPr lang="en-US" dirty="0"/>
          </a:p>
          <a:p>
            <a:pPr marL="514350" lvl="1" indent="-171450" algn="just">
              <a:buFont typeface="Arial" panose="020B0604020202020204" pitchFamily="34" charset="0"/>
              <a:buChar char="•"/>
            </a:pPr>
            <a:r>
              <a:rPr lang="en-US" sz="1000" dirty="0"/>
              <a:t>High-rate client anomaly detection</a:t>
            </a:r>
          </a:p>
          <a:p>
            <a:pPr marL="514350" lvl="1" indent="-171450" algn="just">
              <a:buFont typeface="Arial" panose="020B0604020202020204" pitchFamily="34" charset="0"/>
              <a:buChar char="•"/>
            </a:pPr>
            <a:r>
              <a:rPr lang="en-US" sz="1000" dirty="0"/>
              <a:t>Bot detection powered by Microsoft Threat Intelligence</a:t>
            </a:r>
          </a:p>
          <a:p>
            <a:pPr algn="just"/>
            <a:r>
              <a:rPr lang="en-US" dirty="0"/>
              <a:t>This new ruleset provides smarter, real-time HTTP DDoS protection with minimal operational overhead.</a:t>
            </a:r>
          </a:p>
        </p:txBody>
      </p:sp>
    </p:spTree>
    <p:extLst>
      <p:ext uri="{BB962C8B-B14F-4D97-AF65-F5344CB8AC3E}">
        <p14:creationId xmlns:p14="http://schemas.microsoft.com/office/powerpoint/2010/main" val="1667422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29BCAE8-720C-67EE-971A-42EC022B8702}"/>
              </a:ext>
            </a:extLst>
          </p:cNvPr>
          <p:cNvSpPr>
            <a:spLocks noGrp="1"/>
          </p:cNvSpPr>
          <p:nvPr>
            <p:ph type="body" sz="quarter" idx="10"/>
          </p:nvPr>
        </p:nvSpPr>
        <p:spPr/>
        <p:txBody>
          <a:bodyPr/>
          <a:lstStyle/>
          <a:p>
            <a:pPr algn="just"/>
            <a:r>
              <a:rPr lang="en-US" sz="1000" dirty="0">
                <a:hlinkClick r:id="rId2"/>
              </a:rPr>
              <a:t>Public Preview: Azure Network Watcher Topology – AKS Visualization</a:t>
            </a:r>
            <a:endParaRPr lang="en-US" sz="1000" dirty="0"/>
          </a:p>
          <a:p>
            <a:pPr algn="just"/>
            <a:r>
              <a:rPr lang="en-US" sz="1000" dirty="0"/>
              <a:t>Azure Network Watcher Topology now provides </a:t>
            </a:r>
            <a:r>
              <a:rPr lang="en-US" sz="1000" b="1" dirty="0"/>
              <a:t>end-to-end visualization of AKS clusters</a:t>
            </a:r>
            <a:r>
              <a:rPr lang="en-US" sz="1000" dirty="0"/>
              <a:t>, giving teams a unified map that spans both Azure networking and Kubernetes workloads.</a:t>
            </a:r>
          </a:p>
          <a:p>
            <a:pPr algn="just"/>
            <a:r>
              <a:rPr lang="en-US" sz="1000" b="1" dirty="0"/>
              <a:t>Key benefits:</a:t>
            </a:r>
            <a:endParaRPr lang="en-US" sz="1000" dirty="0"/>
          </a:p>
          <a:p>
            <a:pPr marL="171450" indent="-171450" algn="just">
              <a:buFont typeface="Arial" panose="020B0604020202020204" pitchFamily="34" charset="0"/>
              <a:buChar char="•"/>
            </a:pPr>
            <a:r>
              <a:rPr lang="en-US" sz="1000" b="1" dirty="0"/>
              <a:t>Unified visibility:</a:t>
            </a:r>
            <a:r>
              <a:rPr lang="en-US" sz="1000" dirty="0"/>
              <a:t> See AKS pods, services, load balancers, </a:t>
            </a:r>
            <a:r>
              <a:rPr lang="en-US" sz="1000" dirty="0" err="1"/>
              <a:t>VNets</a:t>
            </a:r>
            <a:r>
              <a:rPr lang="en-US" sz="1000" dirty="0"/>
              <a:t>, and subnets in a single topology view.</a:t>
            </a:r>
          </a:p>
          <a:p>
            <a:pPr marL="171450" indent="-171450" algn="just">
              <a:buFont typeface="Arial" panose="020B0604020202020204" pitchFamily="34" charset="0"/>
              <a:buChar char="•"/>
            </a:pPr>
            <a:r>
              <a:rPr lang="en-US" sz="1000" b="1" dirty="0"/>
              <a:t>Faster troubleshooting:</a:t>
            </a:r>
            <a:r>
              <a:rPr lang="en-US" sz="1000" dirty="0"/>
              <a:t> Trace traffic paths, identify connectivity issues, and understand dependencies without switching tools.</a:t>
            </a:r>
          </a:p>
          <a:p>
            <a:pPr marL="171450" indent="-171450" algn="just">
              <a:buFont typeface="Arial" panose="020B0604020202020204" pitchFamily="34" charset="0"/>
              <a:buChar char="•"/>
            </a:pPr>
            <a:r>
              <a:rPr lang="en-US" sz="1000" b="1" dirty="0"/>
              <a:t>Operational efficiency:</a:t>
            </a:r>
            <a:r>
              <a:rPr lang="en-US" sz="1000" dirty="0"/>
              <a:t> Simplifies performance analysis and accelerates collaborative diagnostics across infra and platform teams.</a:t>
            </a:r>
          </a:p>
          <a:p>
            <a:pPr algn="just"/>
            <a:r>
              <a:rPr lang="en-US" sz="1000" dirty="0"/>
              <a:t>This release bridges the gap between Azure infrastructure and AKS workloads, offering a clear, Azure-native view from the network edge down to containers.</a:t>
            </a:r>
          </a:p>
        </p:txBody>
      </p:sp>
      <p:sp>
        <p:nvSpPr>
          <p:cNvPr id="3" name="Title 2">
            <a:extLst>
              <a:ext uri="{FF2B5EF4-FFF2-40B4-BE49-F238E27FC236}">
                <a16:creationId xmlns:a16="http://schemas.microsoft.com/office/drawing/2014/main" id="{1AEDE1AB-96CD-E58D-4A90-DF7269311143}"/>
              </a:ext>
            </a:extLst>
          </p:cNvPr>
          <p:cNvSpPr>
            <a:spLocks noGrp="1"/>
          </p:cNvSpPr>
          <p:nvPr>
            <p:ph type="title"/>
          </p:nvPr>
        </p:nvSpPr>
        <p:spPr/>
        <p:txBody>
          <a:bodyPr/>
          <a:lstStyle/>
          <a:p>
            <a:r>
              <a:rPr lang="en-US" sz="1600" dirty="0"/>
              <a:t>Networking Updates (Network Watcher) 1/1</a:t>
            </a:r>
            <a:endParaRPr lang="en-US" dirty="0"/>
          </a:p>
        </p:txBody>
      </p:sp>
      <p:sp>
        <p:nvSpPr>
          <p:cNvPr id="4" name="Text Placeholder 3">
            <a:extLst>
              <a:ext uri="{FF2B5EF4-FFF2-40B4-BE49-F238E27FC236}">
                <a16:creationId xmlns:a16="http://schemas.microsoft.com/office/drawing/2014/main" id="{742A4FA8-B42C-E7BF-B635-9921160F3E55}"/>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C6B559DC-F93E-76B0-A14D-B480AC405209}"/>
              </a:ext>
            </a:extLst>
          </p:cNvPr>
          <p:cNvSpPr>
            <a:spLocks noGrp="1"/>
          </p:cNvSpPr>
          <p:nvPr>
            <p:ph type="body" sz="quarter" idx="16"/>
          </p:nvPr>
        </p:nvSpPr>
        <p:spPr/>
        <p:txBody>
          <a:bodyPr/>
          <a:lstStyle/>
          <a:p>
            <a:pPr algn="just"/>
            <a:r>
              <a:rPr lang="en-US" dirty="0">
                <a:hlinkClick r:id="rId3"/>
              </a:rPr>
              <a:t>Public Preview: Azure Network Watcher Topology – Agentless Connection Troubleshoot</a:t>
            </a:r>
            <a:endParaRPr lang="en-US" dirty="0"/>
          </a:p>
          <a:p>
            <a:r>
              <a:rPr lang="en-US" dirty="0"/>
              <a:t>Connection troubleshoot now supports an </a:t>
            </a:r>
            <a:r>
              <a:rPr lang="en-US" b="1" dirty="0"/>
              <a:t>agentless</a:t>
            </a:r>
            <a:r>
              <a:rPr lang="en-US" dirty="0"/>
              <a:t> experience—no Network Watcher agent VM extension is required to run connectivity tests.</a:t>
            </a:r>
          </a:p>
          <a:p>
            <a:r>
              <a:rPr lang="en-US" b="1" dirty="0"/>
              <a:t>What’s new:</a:t>
            </a:r>
            <a:endParaRPr lang="en-US" dirty="0"/>
          </a:p>
          <a:p>
            <a:pPr marL="171450" indent="-171450">
              <a:buFont typeface="Arial" panose="020B0604020202020204" pitchFamily="34" charset="0"/>
              <a:buChar char="•"/>
            </a:pPr>
            <a:r>
              <a:rPr lang="en-US" b="1" dirty="0"/>
              <a:t>No agent needed:</a:t>
            </a:r>
            <a:r>
              <a:rPr lang="en-US" dirty="0"/>
              <a:t> Run connectivity tests between Azure resources without installing the Network Watcher VM extension on source VMs.</a:t>
            </a:r>
          </a:p>
          <a:p>
            <a:pPr marL="171450" indent="-171450">
              <a:buFont typeface="Arial" panose="020B0604020202020204" pitchFamily="34" charset="0"/>
              <a:buChar char="•"/>
            </a:pPr>
            <a:r>
              <a:rPr lang="en-US" b="1" dirty="0"/>
              <a:t>Faster, simpler troubleshooting:</a:t>
            </a:r>
            <a:r>
              <a:rPr lang="en-US" dirty="0"/>
              <a:t> Diagnostics are performed through Azure platform APIs, reducing setup and operational overhead.</a:t>
            </a:r>
          </a:p>
          <a:p>
            <a:r>
              <a:rPr lang="en-US" dirty="0"/>
              <a:t>This preview streamlines network troubleshooting directly from the Azure portal with a fully agentless workflow.</a:t>
            </a:r>
          </a:p>
        </p:txBody>
      </p:sp>
    </p:spTree>
    <p:extLst>
      <p:ext uri="{BB962C8B-B14F-4D97-AF65-F5344CB8AC3E}">
        <p14:creationId xmlns:p14="http://schemas.microsoft.com/office/powerpoint/2010/main" val="712706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1660387-6BEA-3C09-476A-09E1A5F29AEB}"/>
              </a:ext>
            </a:extLst>
          </p:cNvPr>
          <p:cNvSpPr>
            <a:spLocks noGrp="1"/>
          </p:cNvSpPr>
          <p:nvPr>
            <p:ph type="body" sz="quarter" idx="10"/>
          </p:nvPr>
        </p:nvSpPr>
        <p:spPr>
          <a:xfrm>
            <a:off x="4433776" y="855081"/>
            <a:ext cx="4365038" cy="2001533"/>
          </a:xfrm>
        </p:spPr>
        <p:txBody>
          <a:bodyPr/>
          <a:lstStyle/>
          <a:p>
            <a:pPr marL="171450" indent="-171450">
              <a:buFont typeface="Arial" panose="020B0604020202020204" pitchFamily="34" charset="0"/>
              <a:buChar char="•"/>
            </a:pPr>
            <a:r>
              <a:rPr lang="en-US" sz="1000" dirty="0"/>
              <a:t>Requires StandardV2 Public IPs: Only StandardV2 public IP addresses or prefixes are supported.</a:t>
            </a:r>
          </a:p>
          <a:p>
            <a:pPr marL="171450" indent="-171450">
              <a:buFont typeface="Arial" panose="020B0604020202020204" pitchFamily="34" charset="0"/>
              <a:buChar char="•"/>
            </a:pPr>
            <a:r>
              <a:rPr lang="en-US" sz="1000" dirty="0"/>
              <a:t>Standard SKU public IPs are not compatible.</a:t>
            </a:r>
          </a:p>
          <a:p>
            <a:pPr marL="171450" indent="-171450">
              <a:buFont typeface="Arial" panose="020B0604020202020204" pitchFamily="34" charset="0"/>
              <a:buChar char="•"/>
            </a:pPr>
            <a:r>
              <a:rPr lang="en-US" sz="1000" dirty="0"/>
              <a:t>No in-place upgrade: Existing Standard NAT Gateways cannot be upgraded to StandardV2.You must deploy a new StandardV2 NAT Gateway and swap it into your subnet</a:t>
            </a:r>
          </a:p>
          <a:p>
            <a:pPr marL="171450" indent="-171450">
              <a:buFont typeface="Arial" panose="020B0604020202020204" pitchFamily="34" charset="0"/>
              <a:buChar char="•"/>
            </a:pPr>
            <a:r>
              <a:rPr lang="en-US" sz="1000" dirty="0"/>
              <a:t>Terraform not supported yet: Terraform currently does not support StandardV2 NAT Gateway or StandardV2 Public IP resources.</a:t>
            </a:r>
          </a:p>
          <a:p>
            <a:pPr marL="171450" indent="-171450">
              <a:buFont typeface="Arial" panose="020B0604020202020204" pitchFamily="34" charset="0"/>
              <a:buChar char="•"/>
            </a:pPr>
            <a:r>
              <a:rPr lang="en-US" sz="1000" dirty="0"/>
              <a:t>No delegated subnet support: StandardV2 NAT Gateway cannot be attached to delegated subnets.</a:t>
            </a:r>
          </a:p>
        </p:txBody>
      </p:sp>
      <p:sp>
        <p:nvSpPr>
          <p:cNvPr id="3" name="Title 2">
            <a:extLst>
              <a:ext uri="{FF2B5EF4-FFF2-40B4-BE49-F238E27FC236}">
                <a16:creationId xmlns:a16="http://schemas.microsoft.com/office/drawing/2014/main" id="{B29C1DDF-71D0-7B93-17A3-F4CD9AB52D07}"/>
              </a:ext>
            </a:extLst>
          </p:cNvPr>
          <p:cNvSpPr>
            <a:spLocks noGrp="1"/>
          </p:cNvSpPr>
          <p:nvPr>
            <p:ph type="title"/>
          </p:nvPr>
        </p:nvSpPr>
        <p:spPr/>
        <p:txBody>
          <a:bodyPr/>
          <a:lstStyle/>
          <a:p>
            <a:r>
              <a:rPr lang="en-US" sz="1600" dirty="0"/>
              <a:t>Networking Updates (Standard NAT) 1/1</a:t>
            </a:r>
            <a:endParaRPr lang="en-US" dirty="0"/>
          </a:p>
        </p:txBody>
      </p:sp>
      <p:sp>
        <p:nvSpPr>
          <p:cNvPr id="4" name="Text Placeholder 3">
            <a:extLst>
              <a:ext uri="{FF2B5EF4-FFF2-40B4-BE49-F238E27FC236}">
                <a16:creationId xmlns:a16="http://schemas.microsoft.com/office/drawing/2014/main" id="{283E244F-347B-A717-F600-26AF538D7629}"/>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CF386657-A83C-266C-E2D0-FAA1776EA31E}"/>
              </a:ext>
            </a:extLst>
          </p:cNvPr>
          <p:cNvSpPr>
            <a:spLocks noGrp="1"/>
          </p:cNvSpPr>
          <p:nvPr>
            <p:ph type="body" sz="quarter" idx="16"/>
          </p:nvPr>
        </p:nvSpPr>
        <p:spPr/>
        <p:txBody>
          <a:bodyPr/>
          <a:lstStyle/>
          <a:p>
            <a:pPr algn="just"/>
            <a:r>
              <a:rPr lang="en-US" dirty="0">
                <a:hlinkClick r:id="rId2"/>
              </a:rPr>
              <a:t>Public Preview: Standard V2 NAT Gateway and StandardV2 Public Ips</a:t>
            </a:r>
            <a:endParaRPr lang="en-US" dirty="0"/>
          </a:p>
          <a:p>
            <a:pPr algn="just"/>
            <a:r>
              <a:rPr lang="en-US" dirty="0"/>
              <a:t>StandardV2 NAT Gateway delivers all the capabilities of the Standard NAT Gateway with major improvements in resiliency, performance, and management:</a:t>
            </a:r>
          </a:p>
          <a:p>
            <a:pPr marL="171450" indent="-171450" algn="just">
              <a:buFont typeface="Arial" panose="020B0604020202020204" pitchFamily="34" charset="0"/>
              <a:buChar char="•"/>
            </a:pPr>
            <a:r>
              <a:rPr lang="en-US" b="1" dirty="0"/>
              <a:t>Zone-redundant:</a:t>
            </a:r>
            <a:r>
              <a:rPr lang="en-US" dirty="0"/>
              <a:t> Operates across all availability zones in a region, maintaining outbound connectivity even during a zone failure.</a:t>
            </a:r>
          </a:p>
          <a:p>
            <a:pPr marL="171450" indent="-171450" algn="just">
              <a:buFont typeface="Arial" panose="020B0604020202020204" pitchFamily="34" charset="0"/>
              <a:buChar char="•"/>
            </a:pPr>
            <a:r>
              <a:rPr lang="en-US" b="1" dirty="0"/>
              <a:t>Dual-stack support:</a:t>
            </a:r>
            <a:r>
              <a:rPr lang="en-US" dirty="0"/>
              <a:t> Enables outbound connectivity using both </a:t>
            </a:r>
            <a:r>
              <a:rPr lang="en-US" b="1" dirty="0"/>
              <a:t>IPv4 and IPv6</a:t>
            </a:r>
            <a:r>
              <a:rPr lang="en-US" dirty="0"/>
              <a:t> public IPs and prefixes.</a:t>
            </a:r>
          </a:p>
          <a:p>
            <a:pPr marL="171450" indent="-171450" algn="just">
              <a:buFont typeface="Arial" panose="020B0604020202020204" pitchFamily="34" charset="0"/>
              <a:buChar char="•"/>
            </a:pPr>
            <a:r>
              <a:rPr lang="en-US" b="1" dirty="0"/>
              <a:t>Higher throughput:</a:t>
            </a:r>
            <a:r>
              <a:rPr lang="en-US" dirty="0"/>
              <a:t> Provides up to </a:t>
            </a:r>
            <a:r>
              <a:rPr lang="en-US" b="1" dirty="0"/>
              <a:t>100 Gbps</a:t>
            </a:r>
            <a:r>
              <a:rPr lang="en-US" dirty="0"/>
              <a:t>, doubling the 50 Gbps limit of the Standard NAT Gateway.</a:t>
            </a:r>
          </a:p>
          <a:p>
            <a:pPr marL="171450" indent="-171450" algn="just">
              <a:buFont typeface="Arial" panose="020B0604020202020204" pitchFamily="34" charset="0"/>
              <a:buChar char="•"/>
            </a:pPr>
            <a:r>
              <a:rPr lang="en-US" b="1" dirty="0"/>
              <a:t>VNet-level association:</a:t>
            </a:r>
            <a:r>
              <a:rPr lang="en-US" dirty="0"/>
              <a:t> Can be attached at the </a:t>
            </a:r>
            <a:r>
              <a:rPr lang="en-US" b="1" dirty="0"/>
              <a:t>virtual network level</a:t>
            </a:r>
            <a:r>
              <a:rPr lang="en-US" dirty="0"/>
              <a:t>, automatically applying outbound NAT to all subnets.</a:t>
            </a:r>
          </a:p>
          <a:p>
            <a:pPr marL="171450" indent="-171450" algn="just">
              <a:buFont typeface="Arial" panose="020B0604020202020204" pitchFamily="34" charset="0"/>
              <a:buChar char="•"/>
            </a:pPr>
            <a:r>
              <a:rPr lang="en-US" b="1" dirty="0"/>
              <a:t>Flow logs:</a:t>
            </a:r>
            <a:r>
              <a:rPr lang="en-US" dirty="0"/>
              <a:t> Supports detailed outbound traffic logging for monitoring and analysis.</a:t>
            </a:r>
          </a:p>
          <a:p>
            <a:pPr algn="just"/>
            <a:r>
              <a:rPr lang="en-US" dirty="0"/>
              <a:t>This upgrade brings stronger resiliency, simpler configuration, and higher performance for large-scale outbound workloads.</a:t>
            </a:r>
          </a:p>
        </p:txBody>
      </p:sp>
      <p:pic>
        <p:nvPicPr>
          <p:cNvPr id="1026" name="Picture 2" descr="Diagram shows a StandardV2 NAT Gateway spanning multiple availability zones in a region.">
            <a:extLst>
              <a:ext uri="{FF2B5EF4-FFF2-40B4-BE49-F238E27FC236}">
                <a16:creationId xmlns:a16="http://schemas.microsoft.com/office/drawing/2014/main" id="{4A1D37A7-E9A0-6960-CE4D-467983181F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7090" y="2741031"/>
            <a:ext cx="2471829" cy="18785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0389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EEE44-A3A9-5916-28C3-73C176E34A58}"/>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8381F3B-4FD0-B81E-E9ED-5F1037B0948F}"/>
              </a:ext>
            </a:extLst>
          </p:cNvPr>
          <p:cNvSpPr>
            <a:spLocks noGrp="1"/>
          </p:cNvSpPr>
          <p:nvPr>
            <p:ph type="body" sz="quarter" idx="10"/>
          </p:nvPr>
        </p:nvSpPr>
        <p:spPr>
          <a:xfrm>
            <a:off x="4433776" y="855081"/>
            <a:ext cx="4365038" cy="2781738"/>
          </a:xfrm>
        </p:spPr>
        <p:txBody>
          <a:bodyPr/>
          <a:lstStyle/>
          <a:p>
            <a:pPr algn="just"/>
            <a:r>
              <a:rPr lang="en-US" sz="1000" dirty="0">
                <a:hlinkClick r:id="rId2"/>
              </a:rPr>
              <a:t>Public Preview: Azure VNet Flow Log – Filtering</a:t>
            </a:r>
            <a:endParaRPr lang="en-US" sz="1000" dirty="0"/>
          </a:p>
          <a:p>
            <a:pPr algn="just"/>
            <a:r>
              <a:rPr lang="en-US" sz="1000" b="1" dirty="0"/>
              <a:t>Azure VNet Flow Logs now support advanced filtering</a:t>
            </a:r>
            <a:r>
              <a:rPr lang="en-US" sz="1000" dirty="0"/>
              <a:t>, giving organizations fine-grained control over which network flows are captured. You can filter logs using nine criteria—including IPs, ports, protocols, encryption state, flow direction, allowed/denied actions, and flow states—combined using </a:t>
            </a:r>
            <a:r>
              <a:rPr lang="en-US" sz="1000" b="1" dirty="0"/>
              <a:t>AND/OR logic</a:t>
            </a:r>
            <a:r>
              <a:rPr lang="en-US" sz="1000" dirty="0"/>
              <a:t> for highly targeted visibility.</a:t>
            </a:r>
          </a:p>
          <a:p>
            <a:pPr algn="just"/>
            <a:r>
              <a:rPr lang="en-US" sz="1000" dirty="0"/>
              <a:t>These enhancements allow teams to log only the traffic that truly matters (e.g., intra-VNet, inter-VNet, CIDR-specific, or port-specific flows), reducing noise and operational overhead. By capturing fewer, more relevant logs, organizations can streamline troubleshooting, lower storage and processing costs, and maintain strong security and compliance visibility.</a:t>
            </a:r>
          </a:p>
        </p:txBody>
      </p:sp>
      <p:sp>
        <p:nvSpPr>
          <p:cNvPr id="11" name="Title 10">
            <a:extLst>
              <a:ext uri="{FF2B5EF4-FFF2-40B4-BE49-F238E27FC236}">
                <a16:creationId xmlns:a16="http://schemas.microsoft.com/office/drawing/2014/main" id="{C735E067-643C-4669-293E-B1878549EE12}"/>
              </a:ext>
            </a:extLst>
          </p:cNvPr>
          <p:cNvSpPr>
            <a:spLocks noGrp="1"/>
          </p:cNvSpPr>
          <p:nvPr>
            <p:ph type="title"/>
          </p:nvPr>
        </p:nvSpPr>
        <p:spPr/>
        <p:txBody>
          <a:bodyPr/>
          <a:lstStyle/>
          <a:p>
            <a:r>
              <a:rPr lang="en-US" sz="1800" dirty="0"/>
              <a:t>Networking Updates 1/3</a:t>
            </a:r>
            <a:endParaRPr lang="en-US" dirty="0"/>
          </a:p>
        </p:txBody>
      </p:sp>
      <p:sp>
        <p:nvSpPr>
          <p:cNvPr id="13" name="Text Placeholder 12">
            <a:extLst>
              <a:ext uri="{FF2B5EF4-FFF2-40B4-BE49-F238E27FC236}">
                <a16:creationId xmlns:a16="http://schemas.microsoft.com/office/drawing/2014/main" id="{FDBC16BD-C9C7-ACBB-576D-EBDB3A535BE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6D884AE-3074-77B9-2821-DC774A2B2C02}"/>
              </a:ext>
            </a:extLst>
          </p:cNvPr>
          <p:cNvSpPr>
            <a:spLocks noGrp="1"/>
          </p:cNvSpPr>
          <p:nvPr>
            <p:ph type="body" sz="quarter" idx="16"/>
          </p:nvPr>
        </p:nvSpPr>
        <p:spPr/>
        <p:txBody>
          <a:bodyPr/>
          <a:lstStyle/>
          <a:p>
            <a:pPr algn="just"/>
            <a:r>
              <a:rPr lang="en-US" dirty="0">
                <a:hlinkClick r:id="rId3"/>
              </a:rPr>
              <a:t>Public Preview: Cross region pool association support for Azure Virtual Network Manager IP address management</a:t>
            </a:r>
            <a:endParaRPr lang="en-US" dirty="0"/>
          </a:p>
          <a:p>
            <a:pPr algn="just"/>
            <a:r>
              <a:rPr lang="en-US" b="1" dirty="0"/>
              <a:t>Azure IPAM now supports multi-region address pools</a:t>
            </a:r>
            <a:r>
              <a:rPr lang="en-US" dirty="0"/>
              <a:t>, allowing a single IPAM pool to allocate CIDRs across virtual networks in multiple Azure regions. This enhancement streamlines global address planning and ensures consistent governance at scale.</a:t>
            </a:r>
          </a:p>
          <a:p>
            <a:pPr algn="just"/>
            <a:r>
              <a:rPr lang="en-US" b="1" dirty="0"/>
              <a:t>Key benefits:</a:t>
            </a:r>
            <a:endParaRPr lang="en-US" dirty="0"/>
          </a:p>
          <a:p>
            <a:pPr marL="171450" indent="-171450" algn="just">
              <a:buFont typeface="Arial" panose="020B0604020202020204" pitchFamily="34" charset="0"/>
              <a:buChar char="•"/>
            </a:pPr>
            <a:r>
              <a:rPr lang="en-US" b="1" dirty="0"/>
              <a:t>Simplified management:</a:t>
            </a:r>
            <a:r>
              <a:rPr lang="en-US" dirty="0"/>
              <a:t> Use one centralized pool instead of maintaining region-specific pools.</a:t>
            </a:r>
          </a:p>
          <a:p>
            <a:pPr marL="171450" indent="-171450" algn="just">
              <a:buFont typeface="Arial" panose="020B0604020202020204" pitchFamily="34" charset="0"/>
              <a:buChar char="•"/>
            </a:pPr>
            <a:r>
              <a:rPr lang="en-US" b="1" dirty="0"/>
              <a:t>Consistent governance:</a:t>
            </a:r>
            <a:r>
              <a:rPr lang="en-US" dirty="0"/>
              <a:t> Apply uniform CIDR policies globally with optional region restrictions.</a:t>
            </a:r>
          </a:p>
          <a:p>
            <a:pPr marL="171450" indent="-171450" algn="just">
              <a:buFont typeface="Arial" panose="020B0604020202020204" pitchFamily="34" charset="0"/>
              <a:buChar char="•"/>
            </a:pPr>
            <a:r>
              <a:rPr lang="en-US" b="1" dirty="0"/>
              <a:t>Backward compatible:</a:t>
            </a:r>
            <a:r>
              <a:rPr lang="en-US" dirty="0"/>
              <a:t> Existing single-region pools continue to function without changes.</a:t>
            </a:r>
          </a:p>
          <a:p>
            <a:pPr algn="just"/>
            <a:r>
              <a:rPr lang="en-US" dirty="0"/>
              <a:t>This update reduces operational overhead and improves control for organizations managing large, multi-region Azure environments.</a:t>
            </a:r>
          </a:p>
        </p:txBody>
      </p:sp>
    </p:spTree>
    <p:extLst>
      <p:ext uri="{BB962C8B-B14F-4D97-AF65-F5344CB8AC3E}">
        <p14:creationId xmlns:p14="http://schemas.microsoft.com/office/powerpoint/2010/main" val="2890623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91198-4444-C6B1-140D-8916FEC9B50E}"/>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68952F5-D06C-E0D7-28AC-797FD89721DA}"/>
              </a:ext>
            </a:extLst>
          </p:cNvPr>
          <p:cNvSpPr>
            <a:spLocks noGrp="1"/>
          </p:cNvSpPr>
          <p:nvPr>
            <p:ph type="body" sz="quarter" idx="10"/>
          </p:nvPr>
        </p:nvSpPr>
        <p:spPr/>
        <p:txBody>
          <a:bodyPr/>
          <a:lstStyle/>
          <a:p>
            <a:pPr algn="just"/>
            <a:r>
              <a:rPr lang="en-US" sz="1000" dirty="0">
                <a:hlinkClick r:id="rId2"/>
              </a:rPr>
              <a:t>Generally Available: ExpressRoute Scalable Gateway</a:t>
            </a:r>
            <a:endParaRPr lang="en-US" sz="1000" dirty="0"/>
          </a:p>
          <a:p>
            <a:pPr algn="just"/>
            <a:r>
              <a:rPr lang="en-US" sz="1000" dirty="0"/>
              <a:t>ExpressRoute Scalable Gateway (</a:t>
            </a:r>
            <a:r>
              <a:rPr lang="en-US" sz="1000" dirty="0" err="1"/>
              <a:t>ErGwScale</a:t>
            </a:r>
            <a:r>
              <a:rPr lang="en-US" sz="1000" dirty="0"/>
              <a:t>) is next-generation that can dynamically scale gateway infrastructure to meet real-time traffic demands. </a:t>
            </a:r>
          </a:p>
          <a:p>
            <a:pPr marL="171450" indent="-171450" algn="just">
              <a:buFont typeface="Arial" panose="020B0604020202020204" pitchFamily="34" charset="0"/>
              <a:buChar char="•"/>
            </a:pPr>
            <a:r>
              <a:rPr lang="en-US" sz="1000" b="1" dirty="0"/>
              <a:t>Dynamic scaling: </a:t>
            </a:r>
            <a:r>
              <a:rPr lang="en-US" sz="1000" dirty="0"/>
              <a:t>Deploy </a:t>
            </a:r>
            <a:r>
              <a:rPr lang="en-US" sz="1000" dirty="0" err="1"/>
              <a:t>ErGwScale</a:t>
            </a:r>
            <a:r>
              <a:rPr lang="en-US" sz="1000" dirty="0"/>
              <a:t> to achieve up to </a:t>
            </a:r>
            <a:r>
              <a:rPr lang="en-US" sz="1000" b="1" dirty="0"/>
              <a:t>40 Gbps </a:t>
            </a:r>
            <a:r>
              <a:rPr lang="en-US" sz="1000" dirty="0"/>
              <a:t>of connectivity for virtual machines and private endpoints within your virtual network. </a:t>
            </a:r>
          </a:p>
          <a:p>
            <a:pPr marL="171450" indent="-171450" algn="just">
              <a:buFont typeface="Arial" panose="020B0604020202020204" pitchFamily="34" charset="0"/>
              <a:buChar char="•"/>
            </a:pPr>
            <a:r>
              <a:rPr lang="en-US" sz="1000" b="1" dirty="0"/>
              <a:t>Auto scaling: </a:t>
            </a:r>
            <a:r>
              <a:rPr lang="en-US" sz="1000" dirty="0"/>
              <a:t>Configure minimum and maximum scale units, and Azure automatically adjusts capacity based on bandwidth and flow demand—delivering efficiency and eliminating manual tuning. </a:t>
            </a:r>
          </a:p>
          <a:p>
            <a:pPr marL="171450" indent="-171450" algn="just">
              <a:buFont typeface="Arial" panose="020B0604020202020204" pitchFamily="34" charset="0"/>
              <a:buChar char="•"/>
            </a:pPr>
            <a:r>
              <a:rPr lang="en-US" sz="1000" b="1" dirty="0"/>
              <a:t>Fixed scale option: </a:t>
            </a:r>
            <a:r>
              <a:rPr lang="en-US" sz="1000" dirty="0"/>
              <a:t>For predictable workloads, set a steady scale to maintain consistent bandwidth for stable traffic patterns. </a:t>
            </a:r>
          </a:p>
          <a:p>
            <a:pPr marL="171450" indent="-171450" algn="just">
              <a:buFont typeface="Arial" panose="020B0604020202020204" pitchFamily="34" charset="0"/>
              <a:buChar char="•"/>
            </a:pPr>
            <a:r>
              <a:rPr lang="en-US" sz="1000" b="1" dirty="0"/>
              <a:t>FastPath + gateway coexistence: </a:t>
            </a:r>
            <a:r>
              <a:rPr lang="en-US" sz="1000" dirty="0" err="1"/>
              <a:t>ErGwScale</a:t>
            </a:r>
            <a:r>
              <a:rPr lang="en-US" sz="1000" dirty="0"/>
              <a:t> complements FastPath for scenarios where FastPath isn’t supported—such as high-bandwidth or complex routing cases—ensuring seamless performance. </a:t>
            </a:r>
          </a:p>
        </p:txBody>
      </p:sp>
      <p:sp>
        <p:nvSpPr>
          <p:cNvPr id="11" name="Title 10">
            <a:extLst>
              <a:ext uri="{FF2B5EF4-FFF2-40B4-BE49-F238E27FC236}">
                <a16:creationId xmlns:a16="http://schemas.microsoft.com/office/drawing/2014/main" id="{A79C8179-59B9-DF40-00C8-FD5A42441919}"/>
              </a:ext>
            </a:extLst>
          </p:cNvPr>
          <p:cNvSpPr>
            <a:spLocks noGrp="1"/>
          </p:cNvSpPr>
          <p:nvPr>
            <p:ph type="title"/>
          </p:nvPr>
        </p:nvSpPr>
        <p:spPr/>
        <p:txBody>
          <a:bodyPr/>
          <a:lstStyle/>
          <a:p>
            <a:r>
              <a:rPr lang="en-US" sz="1800" dirty="0"/>
              <a:t>Networking Updates 2/3</a:t>
            </a:r>
            <a:endParaRPr lang="en-US" dirty="0"/>
          </a:p>
        </p:txBody>
      </p:sp>
      <p:sp>
        <p:nvSpPr>
          <p:cNvPr id="13" name="Text Placeholder 12">
            <a:extLst>
              <a:ext uri="{FF2B5EF4-FFF2-40B4-BE49-F238E27FC236}">
                <a16:creationId xmlns:a16="http://schemas.microsoft.com/office/drawing/2014/main" id="{5E4E3F08-4B4F-45E1-D7D6-F7727240D82B}"/>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90D984B5-E2FA-DC1A-3DBB-005524F182F3}"/>
              </a:ext>
            </a:extLst>
          </p:cNvPr>
          <p:cNvSpPr>
            <a:spLocks noGrp="1"/>
          </p:cNvSpPr>
          <p:nvPr>
            <p:ph type="body" sz="quarter" idx="16"/>
          </p:nvPr>
        </p:nvSpPr>
        <p:spPr/>
        <p:txBody>
          <a:bodyPr/>
          <a:lstStyle/>
          <a:p>
            <a:pPr algn="just"/>
            <a:r>
              <a:rPr lang="en-US" dirty="0">
                <a:hlinkClick r:id="rId3"/>
              </a:rPr>
              <a:t>Generally Available: Azure Virtual Network Manager address overlap prevention in mesh</a:t>
            </a:r>
            <a:endParaRPr lang="en-US" dirty="0"/>
          </a:p>
          <a:p>
            <a:pPr algn="just"/>
            <a:r>
              <a:rPr lang="en-US" dirty="0"/>
              <a:t>Unintended address overlap in a mesh network can cause dropped traffic and routing failures. Azure Virtual Network Manager now includes </a:t>
            </a:r>
            <a:r>
              <a:rPr lang="en-US" b="1" dirty="0"/>
              <a:t>built-in address space validation</a:t>
            </a:r>
            <a:r>
              <a:rPr lang="en-US" dirty="0"/>
              <a:t> to proactively detect and prevent these conflicts.</a:t>
            </a:r>
          </a:p>
          <a:p>
            <a:pPr algn="just"/>
            <a:r>
              <a:rPr lang="en-US" dirty="0"/>
              <a:t>With this enhancement:</a:t>
            </a:r>
          </a:p>
          <a:p>
            <a:pPr marL="171450" indent="-171450" algn="just">
              <a:buFont typeface="Arial" panose="020B0604020202020204" pitchFamily="34" charset="0"/>
              <a:buChar char="•"/>
            </a:pPr>
            <a:r>
              <a:rPr lang="en-US" b="1" dirty="0"/>
              <a:t>When adding a virtual network</a:t>
            </a:r>
            <a:r>
              <a:rPr lang="en-US" dirty="0"/>
              <a:t> to a mesh, Azure Virtual Network Manager automatically checks that its address space does not overlap with existing members.</a:t>
            </a:r>
          </a:p>
          <a:p>
            <a:pPr marL="171450" indent="-171450" algn="just">
              <a:buFont typeface="Arial" panose="020B0604020202020204" pitchFamily="34" charset="0"/>
              <a:buChar char="•"/>
            </a:pPr>
            <a:r>
              <a:rPr lang="en-US" b="1" dirty="0"/>
              <a:t>When updating a </a:t>
            </a:r>
            <a:r>
              <a:rPr lang="en-US" b="1" dirty="0" err="1"/>
              <a:t>VNet’s</a:t>
            </a:r>
            <a:r>
              <a:rPr lang="en-US" b="1" dirty="0"/>
              <a:t> address space or adding a peering</a:t>
            </a:r>
            <a:r>
              <a:rPr lang="en-US" dirty="0"/>
              <a:t>, the service ensures the change will not introduce conflicts.</a:t>
            </a:r>
          </a:p>
          <a:p>
            <a:pPr marL="171450" indent="-171450" algn="just">
              <a:buFont typeface="Arial" panose="020B0604020202020204" pitchFamily="34" charset="0"/>
              <a:buChar char="•"/>
            </a:pPr>
            <a:r>
              <a:rPr lang="en-US" b="1" dirty="0"/>
              <a:t>Any address space modification</a:t>
            </a:r>
            <a:r>
              <a:rPr lang="en-US" dirty="0"/>
              <a:t> automatically triggers revalidation, maintaining real-time consistency and routing integrity across large-scale environments.</a:t>
            </a:r>
          </a:p>
          <a:p>
            <a:pPr algn="just"/>
            <a:r>
              <a:rPr lang="en-US" dirty="0"/>
              <a:t>This reduces misconfiguration risk and ensures stable, predictable connectivity across your mesh network.</a:t>
            </a:r>
          </a:p>
        </p:txBody>
      </p:sp>
    </p:spTree>
    <p:extLst>
      <p:ext uri="{BB962C8B-B14F-4D97-AF65-F5344CB8AC3E}">
        <p14:creationId xmlns:p14="http://schemas.microsoft.com/office/powerpoint/2010/main" val="1221167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4FD2C-8155-2D94-F89A-A815AA6E4F5B}"/>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95E76E37-235F-F5BE-DE95-A1673340F669}"/>
              </a:ext>
            </a:extLst>
          </p:cNvPr>
          <p:cNvSpPr>
            <a:spLocks noGrp="1"/>
          </p:cNvSpPr>
          <p:nvPr>
            <p:ph type="title"/>
          </p:nvPr>
        </p:nvSpPr>
        <p:spPr/>
        <p:txBody>
          <a:bodyPr/>
          <a:lstStyle/>
          <a:p>
            <a:r>
              <a:rPr lang="en-US" sz="1800" dirty="0"/>
              <a:t>Networking Updates 3/3</a:t>
            </a:r>
            <a:endParaRPr lang="en-US" dirty="0"/>
          </a:p>
        </p:txBody>
      </p:sp>
      <p:sp>
        <p:nvSpPr>
          <p:cNvPr id="13" name="Text Placeholder 12">
            <a:extLst>
              <a:ext uri="{FF2B5EF4-FFF2-40B4-BE49-F238E27FC236}">
                <a16:creationId xmlns:a16="http://schemas.microsoft.com/office/drawing/2014/main" id="{4E03193E-E6C0-C026-1CD6-643DC1C554C3}"/>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DA610DB-1B75-BFFB-B511-F8C61DA8A81D}"/>
              </a:ext>
            </a:extLst>
          </p:cNvPr>
          <p:cNvSpPr>
            <a:spLocks noGrp="1"/>
          </p:cNvSpPr>
          <p:nvPr>
            <p:ph type="body" sz="quarter" idx="16"/>
          </p:nvPr>
        </p:nvSpPr>
        <p:spPr/>
        <p:txBody>
          <a:bodyPr/>
          <a:lstStyle/>
          <a:p>
            <a:pPr algn="just"/>
            <a:r>
              <a:rPr lang="en-US" dirty="0">
                <a:hlinkClick r:id="rId2"/>
              </a:rPr>
              <a:t>Generally Available: DNS security policy Threat Intelligence feed</a:t>
            </a:r>
            <a:endParaRPr lang="en-US" dirty="0"/>
          </a:p>
          <a:p>
            <a:pPr algn="just"/>
            <a:r>
              <a:rPr lang="en-US" dirty="0"/>
              <a:t>The </a:t>
            </a:r>
            <a:r>
              <a:rPr lang="en-US" b="1" dirty="0"/>
              <a:t>Azure DNS security policy Threat Intelligence feed</a:t>
            </a:r>
            <a:r>
              <a:rPr lang="en-US" dirty="0"/>
              <a:t> is now generally available, delivering automated protection against known malicious domains using Microsoft-managed threat intelligence.</a:t>
            </a:r>
          </a:p>
          <a:p>
            <a:pPr algn="just"/>
            <a:r>
              <a:rPr lang="en-US" dirty="0"/>
              <a:t>Key benefits:</a:t>
            </a:r>
          </a:p>
          <a:p>
            <a:pPr marL="171450" indent="-171450" algn="just">
              <a:buFont typeface="Arial" panose="020B0604020202020204" pitchFamily="34" charset="0"/>
              <a:buChar char="•"/>
            </a:pPr>
            <a:r>
              <a:rPr lang="en-US" b="1" dirty="0"/>
              <a:t>Smart protection:</a:t>
            </a:r>
            <a:r>
              <a:rPr lang="en-US" dirty="0"/>
              <a:t> Nearly all attacks begin with DNS. The managed malicious domain list helps detect and block threats early.</a:t>
            </a:r>
          </a:p>
          <a:p>
            <a:pPr marL="171450" indent="-171450" algn="just">
              <a:buFont typeface="Arial" panose="020B0604020202020204" pitchFamily="34" charset="0"/>
              <a:buChar char="•"/>
            </a:pPr>
            <a:r>
              <a:rPr lang="en-US" b="1" dirty="0"/>
              <a:t>Continuous updates:</a:t>
            </a:r>
            <a:r>
              <a:rPr lang="en-US" dirty="0"/>
              <a:t> Microsoft automatically refreshes the feed with newly identified malicious domains—no manual upkeep required.</a:t>
            </a:r>
          </a:p>
          <a:p>
            <a:pPr marL="171450" indent="-171450" algn="just">
              <a:buFont typeface="Arial" panose="020B0604020202020204" pitchFamily="34" charset="0"/>
              <a:buChar char="•"/>
            </a:pPr>
            <a:r>
              <a:rPr lang="en-US" b="1" dirty="0"/>
              <a:t>Monitor or block:</a:t>
            </a:r>
            <a:r>
              <a:rPr lang="en-US" dirty="0"/>
              <a:t> Choose </a:t>
            </a:r>
            <a:r>
              <a:rPr lang="en-US" b="1" dirty="0"/>
              <a:t>Alert-only</a:t>
            </a:r>
            <a:r>
              <a:rPr lang="en-US" dirty="0"/>
              <a:t> mode for visibility or </a:t>
            </a:r>
            <a:r>
              <a:rPr lang="en-US" b="1" dirty="0"/>
              <a:t>Blocking</a:t>
            </a:r>
            <a:r>
              <a:rPr lang="en-US" dirty="0"/>
              <a:t> mode to prevent resolution of risky domains. With DNS logging enabled, you gain full visibility into DNS activity within the virtual network.</a:t>
            </a:r>
          </a:p>
          <a:p>
            <a:pPr algn="just"/>
            <a:r>
              <a:rPr lang="en-US" dirty="0"/>
              <a:t>This release strengthens DNS-layer security and adds a powerful defense against evolving threats.</a:t>
            </a:r>
          </a:p>
          <a:p>
            <a:pPr algn="just"/>
            <a:endParaRPr lang="en-US" dirty="0"/>
          </a:p>
        </p:txBody>
      </p:sp>
      <p:pic>
        <p:nvPicPr>
          <p:cNvPr id="3" name="Picture 2">
            <a:extLst>
              <a:ext uri="{FF2B5EF4-FFF2-40B4-BE49-F238E27FC236}">
                <a16:creationId xmlns:a16="http://schemas.microsoft.com/office/drawing/2014/main" id="{C0764AA0-B9B9-B1FD-9F3E-915BF61E9B70}"/>
              </a:ext>
            </a:extLst>
          </p:cNvPr>
          <p:cNvPicPr>
            <a:picLocks noChangeAspect="1"/>
          </p:cNvPicPr>
          <p:nvPr/>
        </p:nvPicPr>
        <p:blipFill>
          <a:blip r:embed="rId3"/>
          <a:stretch>
            <a:fillRect/>
          </a:stretch>
        </p:blipFill>
        <p:spPr>
          <a:xfrm>
            <a:off x="4570857" y="1073728"/>
            <a:ext cx="4450191" cy="2586750"/>
          </a:xfrm>
          <a:prstGeom prst="rect">
            <a:avLst/>
          </a:prstGeom>
        </p:spPr>
      </p:pic>
    </p:spTree>
    <p:extLst>
      <p:ext uri="{BB962C8B-B14F-4D97-AF65-F5344CB8AC3E}">
        <p14:creationId xmlns:p14="http://schemas.microsoft.com/office/powerpoint/2010/main" val="4268154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t>Security &amp; Identity</a:t>
            </a:r>
          </a:p>
        </p:txBody>
      </p:sp>
    </p:spTree>
    <p:extLst>
      <p:ext uri="{BB962C8B-B14F-4D97-AF65-F5344CB8AC3E}">
        <p14:creationId xmlns:p14="http://schemas.microsoft.com/office/powerpoint/2010/main" val="3117920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Security &amp; Identity Updates 1/1</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Microsoft Defender for Cloud + GitHub Advanced Security</a:t>
            </a:r>
            <a:endParaRPr lang="en-US" dirty="0"/>
          </a:p>
          <a:p>
            <a:pPr algn="just"/>
            <a:r>
              <a:rPr lang="en-US" dirty="0"/>
              <a:t>With </a:t>
            </a:r>
            <a:r>
              <a:rPr lang="en-US" b="1" dirty="0"/>
              <a:t>Microsoft Defender for Cloud</a:t>
            </a:r>
            <a:r>
              <a:rPr lang="en-US" dirty="0"/>
              <a:t> and </a:t>
            </a:r>
            <a:r>
              <a:rPr lang="en-US" b="1" dirty="0"/>
              <a:t>GitHub Advanced Security</a:t>
            </a:r>
            <a:r>
              <a:rPr lang="en-US" dirty="0"/>
              <a:t>, organizations can protect cloud-native applications across the entire lifecycle—from code to cloud. This natively integrated solution brings developers and security teams together in a unified workflow, all within the tools they already use.</a:t>
            </a:r>
          </a:p>
          <a:p>
            <a:pPr algn="just"/>
            <a:r>
              <a:rPr lang="en-US" dirty="0"/>
              <a:t>The integration enables early vulnerability detection and connects real-time threat insights from production environments directly to the most relevant code-level risks, helping teams prioritize remediation efforts. With </a:t>
            </a:r>
            <a:r>
              <a:rPr lang="en-US" b="1" dirty="0"/>
              <a:t>Copilot </a:t>
            </a:r>
            <a:r>
              <a:rPr lang="en-US" b="1" dirty="0" err="1"/>
              <a:t>Autofix</a:t>
            </a:r>
            <a:r>
              <a:rPr lang="en-US" dirty="0"/>
              <a:t> and the </a:t>
            </a:r>
            <a:r>
              <a:rPr lang="en-US" b="1" dirty="0"/>
              <a:t>Coding agent</a:t>
            </a:r>
            <a:r>
              <a:rPr lang="en-US" dirty="0"/>
              <a:t>, developers can apply AI-generated fixes in minutes, significantly reducing remediation time and strengthening application security.</a:t>
            </a:r>
          </a:p>
          <a:p>
            <a:pPr algn="just"/>
            <a:endParaRPr lang="en-US" dirty="0"/>
          </a:p>
        </p:txBody>
      </p:sp>
      <p:sp>
        <p:nvSpPr>
          <p:cNvPr id="3" name="TextBox 2">
            <a:extLst>
              <a:ext uri="{FF2B5EF4-FFF2-40B4-BE49-F238E27FC236}">
                <a16:creationId xmlns:a16="http://schemas.microsoft.com/office/drawing/2014/main" id="{C5535CB8-3824-5C02-2005-F9FDFE8AB655}"/>
              </a:ext>
            </a:extLst>
          </p:cNvPr>
          <p:cNvSpPr txBox="1"/>
          <p:nvPr/>
        </p:nvSpPr>
        <p:spPr>
          <a:xfrm>
            <a:off x="4426528" y="855080"/>
            <a:ext cx="4572000" cy="1867178"/>
          </a:xfrm>
          <a:prstGeom prst="rect">
            <a:avLst/>
          </a:prstGeom>
          <a:noFill/>
        </p:spPr>
        <p:txBody>
          <a:bodyPr wrap="square">
            <a:spAutoFit/>
          </a:bodyPr>
          <a:lstStyle/>
          <a:p>
            <a:pPr algn="just"/>
            <a:r>
              <a:rPr lang="en-US" sz="1000" dirty="0">
                <a:latin typeface="+mj-lt"/>
                <a:hlinkClick r:id="rId3"/>
              </a:rPr>
              <a:t>Public Preview: Threat Detection in Azure Backup powered by MDC</a:t>
            </a:r>
            <a:endParaRPr lang="en-US" sz="1000" dirty="0">
              <a:latin typeface="+mj-lt"/>
            </a:endParaRPr>
          </a:p>
          <a:p>
            <a:pPr algn="just">
              <a:lnSpc>
                <a:spcPct val="110000"/>
              </a:lnSpc>
              <a:spcBef>
                <a:spcPts val="450"/>
              </a:spcBef>
              <a:tabLst>
                <a:tab pos="2438400" algn="l"/>
              </a:tabLst>
            </a:pPr>
            <a:r>
              <a:rPr lang="en-US" sz="1000" dirty="0">
                <a:latin typeface="+mj-lt"/>
                <a:ea typeface="Calibri" panose="020F0502020204030204" pitchFamily="34" charset="0"/>
                <a:cs typeface="Calibri" panose="020F0502020204030204" pitchFamily="34" charset="0"/>
              </a:rPr>
              <a:t>Azure Backup has introduced threat detection capabilities for Azure VM backups, powered by Microsoft Defender for Cloud (MDC). This new capability enables customers to assess the health of their Azure VM backup restore points (RPs) by identifying malicious or ransomware-infected backups.</a:t>
            </a:r>
          </a:p>
          <a:p>
            <a:pPr algn="just">
              <a:lnSpc>
                <a:spcPct val="110000"/>
              </a:lnSpc>
              <a:spcBef>
                <a:spcPts val="450"/>
              </a:spcBef>
              <a:tabLst>
                <a:tab pos="2438400" algn="l"/>
              </a:tabLst>
            </a:pPr>
            <a:r>
              <a:rPr lang="en-US" sz="1000" dirty="0">
                <a:latin typeface="+mj-lt"/>
                <a:ea typeface="Calibri" panose="020F0502020204030204" pitchFamily="34" charset="0"/>
                <a:cs typeface="Calibri" panose="020F0502020204030204" pitchFamily="34" charset="0"/>
              </a:rPr>
              <a:t>By leveraging signals from Microsoft Defender for Servers, Azure Backup detects indicators of compromise such as disruption patterns, heuristic behavior anomalies, and malware or ransomware signatures.</a:t>
            </a:r>
          </a:p>
          <a:p>
            <a:pPr algn="just"/>
            <a:endParaRPr lang="en-US" sz="1000" dirty="0">
              <a:latin typeface="+mj-lt"/>
            </a:endParaRPr>
          </a:p>
          <a:p>
            <a:pPr algn="just"/>
            <a:endParaRPr lang="en-US" sz="1000" dirty="0">
              <a:latin typeface="+mj-lt"/>
            </a:endParaRPr>
          </a:p>
        </p:txBody>
      </p:sp>
    </p:spTree>
    <p:extLst>
      <p:ext uri="{BB962C8B-B14F-4D97-AF65-F5344CB8AC3E}">
        <p14:creationId xmlns:p14="http://schemas.microsoft.com/office/powerpoint/2010/main" val="49331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t>Management &amp; Governance</a:t>
            </a:r>
          </a:p>
        </p:txBody>
      </p:sp>
    </p:spTree>
    <p:extLst>
      <p:ext uri="{BB962C8B-B14F-4D97-AF65-F5344CB8AC3E}">
        <p14:creationId xmlns:p14="http://schemas.microsoft.com/office/powerpoint/2010/main" val="34791831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a:xfrm>
            <a:off x="4489194" y="685800"/>
            <a:ext cx="4365038" cy="2961847"/>
          </a:xfrm>
        </p:spPr>
        <p:txBody>
          <a:bodyPr/>
          <a:lstStyle/>
          <a:p>
            <a:pPr algn="just"/>
            <a:r>
              <a:rPr lang="en-US" sz="1000" dirty="0">
                <a:hlinkClick r:id="rId2"/>
              </a:rPr>
              <a:t>Public Preview: Support 5x churn in Azure Site Recovery</a:t>
            </a:r>
            <a:endParaRPr lang="en-US" sz="1000" dirty="0"/>
          </a:p>
          <a:p>
            <a:pPr algn="just"/>
            <a:r>
              <a:rPr lang="en-US" sz="1000" dirty="0"/>
              <a:t>Azure Site Recovery now supports </a:t>
            </a:r>
            <a:r>
              <a:rPr lang="en-US" sz="1000" b="1" dirty="0"/>
              <a:t>up to 5× higher churn rates—up to 500 MB/s per VM</a:t>
            </a:r>
            <a:r>
              <a:rPr lang="en-US" sz="1000" dirty="0"/>
              <a:t>—significantly boosting replication performance for high-IOPS workloads. This enhancement enables reliable disaster recovery for demanding applications such as large databases, analytics platforms, and big-data systems.</a:t>
            </a:r>
          </a:p>
          <a:p>
            <a:pPr algn="just"/>
            <a:r>
              <a:rPr lang="en-US" sz="1000" b="1" dirty="0"/>
              <a:t>Key details:</a:t>
            </a:r>
            <a:endParaRPr lang="en-US" sz="1000" dirty="0"/>
          </a:p>
          <a:p>
            <a:pPr marL="171450" indent="-171450" algn="just">
              <a:buFont typeface="Arial" panose="020B0604020202020204" pitchFamily="34" charset="0"/>
              <a:buChar char="•"/>
            </a:pPr>
            <a:r>
              <a:rPr lang="en-US" sz="1000" b="1" dirty="0"/>
              <a:t>Scope:</a:t>
            </a:r>
            <a:r>
              <a:rPr lang="en-US" sz="1000" dirty="0"/>
              <a:t> Azure-to-Azure disaster recovery only</a:t>
            </a:r>
          </a:p>
          <a:p>
            <a:pPr marL="171450" indent="-171450" algn="just">
              <a:buFont typeface="Arial" panose="020B0604020202020204" pitchFamily="34" charset="0"/>
              <a:buChar char="•"/>
            </a:pPr>
            <a:r>
              <a:rPr lang="en-US" sz="1000" b="1" dirty="0"/>
              <a:t>Availability:</a:t>
            </a:r>
            <a:r>
              <a:rPr lang="en-US" sz="1000" dirty="0"/>
              <a:t> Rolling out in select Azure regions</a:t>
            </a:r>
          </a:p>
          <a:p>
            <a:pPr marL="171450" indent="-171450" algn="just">
              <a:buFont typeface="Arial" panose="020B0604020202020204" pitchFamily="34" charset="0"/>
              <a:buChar char="•"/>
            </a:pPr>
            <a:r>
              <a:rPr lang="en-US" sz="1000" b="1" dirty="0"/>
              <a:t>VM Requirements:</a:t>
            </a:r>
            <a:endParaRPr lang="en-US" sz="1000" dirty="0"/>
          </a:p>
          <a:p>
            <a:pPr marL="514350" lvl="1" indent="-171450" algn="just">
              <a:buFont typeface="Arial" panose="020B0604020202020204" pitchFamily="34" charset="0"/>
              <a:buChar char="•"/>
            </a:pPr>
            <a:r>
              <a:rPr lang="en-US" sz="1000" b="1" dirty="0"/>
              <a:t>≥ 256 GB RAM:</a:t>
            </a:r>
            <a:r>
              <a:rPr lang="en-US" sz="1000" dirty="0"/>
              <a:t> Supports up to </a:t>
            </a:r>
            <a:r>
              <a:rPr lang="en-US" sz="1000" b="1" dirty="0"/>
              <a:t>500 MB/s</a:t>
            </a:r>
            <a:r>
              <a:rPr lang="en-US" sz="1000" dirty="0"/>
              <a:t> churn</a:t>
            </a:r>
          </a:p>
          <a:p>
            <a:pPr marL="514350" lvl="1" indent="-171450" algn="just">
              <a:buFont typeface="Arial" panose="020B0604020202020204" pitchFamily="34" charset="0"/>
              <a:buChar char="•"/>
            </a:pPr>
            <a:r>
              <a:rPr lang="en-US" sz="1000" b="1" dirty="0"/>
              <a:t>&lt; 256 GB RAM:</a:t>
            </a:r>
            <a:r>
              <a:rPr lang="en-US" sz="1000" dirty="0"/>
              <a:t> Churn capped at </a:t>
            </a:r>
            <a:r>
              <a:rPr lang="en-US" sz="1000" b="1" dirty="0"/>
              <a:t>100 MB/s</a:t>
            </a:r>
            <a:endParaRPr lang="en-US" sz="1000" dirty="0"/>
          </a:p>
          <a:p>
            <a:pPr marL="514350" lvl="1" indent="-171450" algn="just">
              <a:buFont typeface="Arial" panose="020B0604020202020204" pitchFamily="34" charset="0"/>
              <a:buChar char="•"/>
            </a:pPr>
            <a:r>
              <a:rPr lang="en-US" sz="1000" dirty="0"/>
              <a:t>ASR reserves up to </a:t>
            </a:r>
            <a:r>
              <a:rPr lang="en-US" sz="1000" b="1" dirty="0"/>
              <a:t>6.25%</a:t>
            </a:r>
            <a:r>
              <a:rPr lang="en-US" sz="1000" dirty="0"/>
              <a:t> of RAM (max 16 GB)</a:t>
            </a:r>
          </a:p>
          <a:p>
            <a:pPr marL="171450" indent="-171450" algn="just">
              <a:buFont typeface="Arial" panose="020B0604020202020204" pitchFamily="34" charset="0"/>
              <a:buChar char="•"/>
            </a:pPr>
            <a:r>
              <a:rPr lang="en-US" sz="1000" b="1" dirty="0"/>
              <a:t>Supported OS:</a:t>
            </a:r>
            <a:endParaRPr lang="en-US" sz="1000" dirty="0"/>
          </a:p>
          <a:p>
            <a:pPr marL="514350" lvl="1" indent="-171450" algn="just">
              <a:buFont typeface="Arial" panose="020B0604020202020204" pitchFamily="34" charset="0"/>
              <a:buChar char="•"/>
            </a:pPr>
            <a:r>
              <a:rPr lang="en-US" sz="1000" b="1" dirty="0"/>
              <a:t>Windows</a:t>
            </a:r>
            <a:endParaRPr lang="en-US" sz="1000" dirty="0"/>
          </a:p>
          <a:p>
            <a:pPr marL="514350" lvl="1" indent="-171450" algn="just">
              <a:buFont typeface="Arial" panose="020B0604020202020204" pitchFamily="34" charset="0"/>
              <a:buChar char="•"/>
            </a:pPr>
            <a:r>
              <a:rPr lang="en-US" sz="1000" b="1" dirty="0"/>
              <a:t>Linux:</a:t>
            </a:r>
            <a:r>
              <a:rPr lang="en-US" sz="1000" dirty="0"/>
              <a:t> RHEL 9, SLES 15, Ubuntu 24.04</a:t>
            </a:r>
          </a:p>
          <a:p>
            <a:pPr marL="171450" indent="-171450" algn="just">
              <a:buFont typeface="Arial" panose="020B0604020202020204" pitchFamily="34" charset="0"/>
              <a:buChar char="•"/>
            </a:pPr>
            <a:r>
              <a:rPr lang="en-US" sz="1000" b="1" dirty="0"/>
              <a:t>Disk conditions:</a:t>
            </a:r>
            <a:r>
              <a:rPr lang="en-US" sz="1000" dirty="0"/>
              <a:t> Churn limits depend on disk type and size</a:t>
            </a:r>
          </a:p>
          <a:p>
            <a:pPr marL="171450" indent="-171450" algn="just">
              <a:buFont typeface="Arial" panose="020B0604020202020204" pitchFamily="34" charset="0"/>
              <a:buChar char="•"/>
            </a:pPr>
            <a:r>
              <a:rPr lang="en-US" sz="1000" b="1" dirty="0"/>
              <a:t>Infrastructure requirements:</a:t>
            </a:r>
            <a:r>
              <a:rPr lang="en-US" sz="1000" dirty="0"/>
              <a:t> Ensure adequate </a:t>
            </a:r>
            <a:r>
              <a:rPr lang="en-US" sz="1000" b="1" dirty="0"/>
              <a:t>network throughput</a:t>
            </a:r>
            <a:r>
              <a:rPr lang="en-US" sz="1000" dirty="0"/>
              <a:t> and </a:t>
            </a:r>
            <a:r>
              <a:rPr lang="en-US" sz="1000" b="1" dirty="0"/>
              <a:t>CPU</a:t>
            </a:r>
            <a:r>
              <a:rPr lang="en-US" sz="1000" dirty="0"/>
              <a:t> capacity for ASR to replicate change data effectively</a:t>
            </a:r>
          </a:p>
          <a:p>
            <a:pPr algn="just"/>
            <a:r>
              <a:rPr lang="en-US" sz="1000" dirty="0"/>
              <a:t>This improvement allows customers to protect larger and more intensive workloads while maintaining strong recovery performance.</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Management &amp; Governance Updates (Azure Site Recovery) 1/2</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2" name="Text Placeholder 13">
            <a:extLst>
              <a:ext uri="{FF2B5EF4-FFF2-40B4-BE49-F238E27FC236}">
                <a16:creationId xmlns:a16="http://schemas.microsoft.com/office/drawing/2014/main" id="{4B5FF973-31C8-BEFD-DC1E-6209231AED94}"/>
              </a:ext>
            </a:extLst>
          </p:cNvPr>
          <p:cNvSpPr>
            <a:spLocks noGrp="1"/>
          </p:cNvSpPr>
          <p:nvPr>
            <p:ph type="body" sz="quarter" idx="16"/>
          </p:nvPr>
        </p:nvSpPr>
        <p:spPr>
          <a:xfrm>
            <a:off x="342900" y="685800"/>
            <a:ext cx="3955312" cy="3774069"/>
          </a:xfrm>
        </p:spPr>
        <p:txBody>
          <a:bodyPr/>
          <a:lstStyle/>
          <a:p>
            <a:pPr algn="just"/>
            <a:r>
              <a:rPr lang="en-US" dirty="0">
                <a:hlinkClick r:id="rId3"/>
              </a:rPr>
              <a:t>Public Preview: Support for Linux major OS upgrades with Azure Site Recovery</a:t>
            </a:r>
            <a:endParaRPr lang="en-US" dirty="0"/>
          </a:p>
          <a:p>
            <a:pPr algn="just"/>
            <a:r>
              <a:rPr lang="en-US" dirty="0"/>
              <a:t>Azure Site Recovery (ASR) now supports </a:t>
            </a:r>
            <a:r>
              <a:rPr lang="en-US" b="1" dirty="0"/>
              <a:t>major Linux OS upgrades without disabling replication</a:t>
            </a:r>
            <a:r>
              <a:rPr lang="en-US" dirty="0"/>
              <a:t>, interrupting protection, or losing recovery points—available for </a:t>
            </a:r>
            <a:r>
              <a:rPr lang="en-US" b="1" dirty="0"/>
              <a:t>Azure-to-Azure (A2A)</a:t>
            </a:r>
            <a:r>
              <a:rPr lang="en-US" dirty="0"/>
              <a:t> disaster recovery.</a:t>
            </a:r>
          </a:p>
          <a:p>
            <a:pPr algn="just"/>
            <a:r>
              <a:rPr lang="en-US" dirty="0"/>
              <a:t>ASR automatically detects the OS version change during an in-place upgrade and prompts you to update the Mobility Agent if required, ensuring </a:t>
            </a:r>
            <a:r>
              <a:rPr lang="en-US" b="1" dirty="0"/>
              <a:t>continuous replication and full DR protection</a:t>
            </a:r>
            <a:r>
              <a:rPr lang="en-US" dirty="0"/>
              <a:t> throughout the process.</a:t>
            </a:r>
          </a:p>
          <a:p>
            <a:pPr algn="just"/>
            <a:r>
              <a:rPr lang="en-US" dirty="0"/>
              <a:t>Supported upgrade paths:</a:t>
            </a:r>
          </a:p>
          <a:p>
            <a:pPr marL="171450" indent="-171450" algn="just">
              <a:buFont typeface="Arial" panose="020B0604020202020204" pitchFamily="34" charset="0"/>
              <a:buChar char="•"/>
            </a:pPr>
            <a:r>
              <a:rPr lang="en-US" b="1" dirty="0"/>
              <a:t>RHEL:</a:t>
            </a:r>
            <a:r>
              <a:rPr lang="en-US" dirty="0"/>
              <a:t> 7 → 8, 8 → 9</a:t>
            </a:r>
          </a:p>
          <a:p>
            <a:pPr marL="171450" indent="-171450" algn="just">
              <a:buFont typeface="Arial" panose="020B0604020202020204" pitchFamily="34" charset="0"/>
              <a:buChar char="•"/>
            </a:pPr>
            <a:r>
              <a:rPr lang="en-US" b="1" dirty="0"/>
              <a:t>SLES:</a:t>
            </a:r>
            <a:r>
              <a:rPr lang="en-US" dirty="0"/>
              <a:t> 12 → 15</a:t>
            </a:r>
          </a:p>
          <a:p>
            <a:pPr algn="just"/>
            <a:r>
              <a:rPr lang="en-US" dirty="0"/>
              <a:t>This enhancement simplifies lifecycle management while maintaining uninterrupted disaster recovery readiness.</a:t>
            </a:r>
          </a:p>
        </p:txBody>
      </p:sp>
    </p:spTree>
    <p:extLst>
      <p:ext uri="{BB962C8B-B14F-4D97-AF65-F5344CB8AC3E}">
        <p14:creationId xmlns:p14="http://schemas.microsoft.com/office/powerpoint/2010/main" val="52086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xEl>
                                              <p:pRg st="7" end="7"/>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
                                            <p:txEl>
                                              <p:pRg st="8" end="8"/>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
                                            <p:txEl>
                                              <p:pRg st="9" end="9"/>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
                                            <p:txEl>
                                              <p:pRg st="10" end="10"/>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
                                            <p:txEl>
                                              <p:pRg st="11" end="11"/>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2">
                                            <p:txEl>
                                              <p:pRg st="12" end="12"/>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2">
                                            <p:txEl>
                                              <p:pRg st="13" end="13"/>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2">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96C12D8-B7BD-BBCB-0B01-C687D2A78CBB}"/>
              </a:ext>
            </a:extLst>
          </p:cNvPr>
          <p:cNvSpPr>
            <a:spLocks noGrp="1"/>
          </p:cNvSpPr>
          <p:nvPr>
            <p:ph type="title"/>
          </p:nvPr>
        </p:nvSpPr>
        <p:spPr/>
        <p:txBody>
          <a:bodyPr/>
          <a:lstStyle/>
          <a:p>
            <a:r>
              <a:rPr lang="en-US" sz="1600" dirty="0"/>
              <a:t>Management &amp; Governance Updates (Azure Site Recovery) 2/2</a:t>
            </a:r>
            <a:endParaRPr lang="en-US" dirty="0"/>
          </a:p>
        </p:txBody>
      </p:sp>
      <p:sp>
        <p:nvSpPr>
          <p:cNvPr id="4" name="Text Placeholder 3">
            <a:extLst>
              <a:ext uri="{FF2B5EF4-FFF2-40B4-BE49-F238E27FC236}">
                <a16:creationId xmlns:a16="http://schemas.microsoft.com/office/drawing/2014/main" id="{924EB0D9-FC19-3F1F-55E9-B228DBE83245}"/>
              </a:ext>
            </a:extLst>
          </p:cNvPr>
          <p:cNvSpPr>
            <a:spLocks noGrp="1"/>
          </p:cNvSpPr>
          <p:nvPr>
            <p:ph type="body" sz="quarter" idx="15"/>
          </p:nvPr>
        </p:nvSpPr>
        <p:spPr/>
        <p:txBody>
          <a:bodyPr/>
          <a:lstStyle/>
          <a:p>
            <a:endParaRPr lang="en-US"/>
          </a:p>
        </p:txBody>
      </p:sp>
      <p:sp>
        <p:nvSpPr>
          <p:cNvPr id="12" name="Text Placeholder 11">
            <a:extLst>
              <a:ext uri="{FF2B5EF4-FFF2-40B4-BE49-F238E27FC236}">
                <a16:creationId xmlns:a16="http://schemas.microsoft.com/office/drawing/2014/main" id="{F6EFEF9D-C531-5164-3001-CAB3E530800A}"/>
              </a:ext>
            </a:extLst>
          </p:cNvPr>
          <p:cNvSpPr txBox="1">
            <a:spLocks/>
          </p:cNvSpPr>
          <p:nvPr/>
        </p:nvSpPr>
        <p:spPr>
          <a:xfrm>
            <a:off x="342900" y="855080"/>
            <a:ext cx="3910445"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2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sz="1000" dirty="0">
                <a:hlinkClick r:id="rId2"/>
              </a:rPr>
              <a:t>Generally Available: Capacity guidance for Azure Site Recovery</a:t>
            </a:r>
            <a:endParaRPr lang="en-US" sz="1000" dirty="0"/>
          </a:p>
          <a:p>
            <a:pPr algn="just"/>
            <a:r>
              <a:rPr lang="en-US" sz="1000" b="1" dirty="0"/>
              <a:t>Azure Site Recovery (ASR) now provides alternative VM size recommendations during failover</a:t>
            </a:r>
            <a:r>
              <a:rPr lang="en-US" sz="1000" dirty="0"/>
              <a:t>, helping improve allocation success when the originally selected target VM size faces capacity constraints. This enhancement increases failover reliability by guiding customers toward compatible VM sizes that are more likely to be available in the target region.</a:t>
            </a:r>
          </a:p>
          <a:p>
            <a:pPr algn="just"/>
            <a:r>
              <a:rPr lang="en-US" sz="1000" b="1" dirty="0"/>
              <a:t>When recommendations are </a:t>
            </a:r>
            <a:r>
              <a:rPr lang="en-US" sz="1000" b="1" i="1" dirty="0"/>
              <a:t>not</a:t>
            </a:r>
            <a:r>
              <a:rPr lang="en-US" sz="1000" b="1" dirty="0"/>
              <a:t> provided:</a:t>
            </a:r>
            <a:endParaRPr lang="en-US" sz="1000" dirty="0"/>
          </a:p>
          <a:p>
            <a:pPr marL="171450" indent="-171450" algn="just">
              <a:buFont typeface="Arial" panose="020B0604020202020204" pitchFamily="34" charset="0"/>
              <a:buChar char="•"/>
            </a:pPr>
            <a:r>
              <a:rPr lang="en-US" sz="1000" dirty="0"/>
              <a:t>If the target setup includes:</a:t>
            </a:r>
          </a:p>
          <a:p>
            <a:pPr marL="514350" lvl="1" indent="-171450" algn="just">
              <a:buFont typeface="Arial" panose="020B0604020202020204" pitchFamily="34" charset="0"/>
              <a:buChar char="•"/>
            </a:pPr>
            <a:r>
              <a:rPr lang="en-US" sz="1000" b="1" dirty="0"/>
              <a:t>Availability Sets</a:t>
            </a:r>
            <a:endParaRPr lang="en-US" sz="1000" dirty="0"/>
          </a:p>
          <a:p>
            <a:pPr marL="514350" lvl="1" indent="-171450" algn="just">
              <a:buFont typeface="Arial" panose="020B0604020202020204" pitchFamily="34" charset="0"/>
              <a:buChar char="•"/>
            </a:pPr>
            <a:r>
              <a:rPr lang="en-US" sz="1000" b="1" dirty="0"/>
              <a:t>Virtual Machine Scale Sets (VMSS)</a:t>
            </a:r>
            <a:endParaRPr lang="en-US" sz="1000" dirty="0"/>
          </a:p>
          <a:p>
            <a:pPr marL="514350" lvl="1" indent="-171450" algn="just">
              <a:buFont typeface="Arial" panose="020B0604020202020204" pitchFamily="34" charset="0"/>
              <a:buChar char="•"/>
            </a:pPr>
            <a:r>
              <a:rPr lang="en-US" sz="1000" b="1" dirty="0"/>
              <a:t>Proximity Placement Groups (PPG)</a:t>
            </a:r>
            <a:endParaRPr lang="en-US" sz="1000" dirty="0"/>
          </a:p>
          <a:p>
            <a:pPr marL="171450" indent="-171450" algn="just">
              <a:buFont typeface="Arial" panose="020B0604020202020204" pitchFamily="34" charset="0"/>
              <a:buChar char="•"/>
            </a:pPr>
            <a:r>
              <a:rPr lang="en-US" sz="1000" dirty="0"/>
              <a:t>If </a:t>
            </a:r>
            <a:r>
              <a:rPr lang="en-US" sz="1000" b="1" dirty="0"/>
              <a:t>on-demand capacity reservation</a:t>
            </a:r>
            <a:r>
              <a:rPr lang="en-US" sz="1000" dirty="0"/>
              <a:t> is configured for the target VM</a:t>
            </a:r>
          </a:p>
          <a:p>
            <a:pPr marL="171450" indent="-171450" algn="just">
              <a:buFont typeface="Arial" panose="020B0604020202020204" pitchFamily="34" charset="0"/>
              <a:buChar char="•"/>
            </a:pPr>
            <a:r>
              <a:rPr lang="en-US" sz="1000" dirty="0"/>
              <a:t>When failover is triggered using </a:t>
            </a:r>
            <a:r>
              <a:rPr lang="en-US" sz="1000" b="1" dirty="0"/>
              <a:t>Recovery Plans</a:t>
            </a:r>
            <a:endParaRPr lang="en-US" sz="1000" dirty="0"/>
          </a:p>
          <a:p>
            <a:pPr marL="171450" indent="-171450" algn="just">
              <a:buFont typeface="Arial" panose="020B0604020202020204" pitchFamily="34" charset="0"/>
              <a:buChar char="•"/>
            </a:pPr>
            <a:r>
              <a:rPr lang="en-US" sz="1000" dirty="0"/>
              <a:t>For </a:t>
            </a:r>
            <a:r>
              <a:rPr lang="en-US" sz="1000" b="1" dirty="0"/>
              <a:t>VMware-to-Azure</a:t>
            </a:r>
            <a:r>
              <a:rPr lang="en-US" sz="1000" dirty="0"/>
              <a:t> and </a:t>
            </a:r>
            <a:r>
              <a:rPr lang="en-US" sz="1000" b="1" dirty="0"/>
              <a:t>Hyper-V-to-Azure</a:t>
            </a:r>
            <a:r>
              <a:rPr lang="en-US" sz="1000" dirty="0"/>
              <a:t> ASR scenarios</a:t>
            </a:r>
          </a:p>
          <a:p>
            <a:pPr algn="just"/>
            <a:r>
              <a:rPr lang="en-US" sz="1000" dirty="0"/>
              <a:t>This update improves resilience for Azure-to-Azure failover scenarios by increasing the chances that a suitable VM size can be allocated during disaster recovery.</a:t>
            </a:r>
          </a:p>
          <a:p>
            <a:pPr algn="just"/>
            <a:endParaRPr lang="en-US" sz="1000" dirty="0"/>
          </a:p>
          <a:p>
            <a:pPr algn="just"/>
            <a:endParaRPr lang="en-US" sz="1000" dirty="0"/>
          </a:p>
        </p:txBody>
      </p:sp>
      <p:sp>
        <p:nvSpPr>
          <p:cNvPr id="14" name="Text Placeholder 13">
            <a:extLst>
              <a:ext uri="{FF2B5EF4-FFF2-40B4-BE49-F238E27FC236}">
                <a16:creationId xmlns:a16="http://schemas.microsoft.com/office/drawing/2014/main" id="{B4278EE4-80FF-FF66-93C7-3BE34B7B9EDB}"/>
              </a:ext>
            </a:extLst>
          </p:cNvPr>
          <p:cNvSpPr txBox="1">
            <a:spLocks/>
          </p:cNvSpPr>
          <p:nvPr/>
        </p:nvSpPr>
        <p:spPr>
          <a:xfrm>
            <a:off x="4570857" y="855080"/>
            <a:ext cx="3955312" cy="1022211"/>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dirty="0">
                <a:hlinkClick r:id="rId3"/>
              </a:rPr>
              <a:t>Generally Available: Seamless failback for </a:t>
            </a:r>
            <a:r>
              <a:rPr lang="en-US" dirty="0" err="1">
                <a:hlinkClick r:id="rId3"/>
              </a:rPr>
              <a:t>HyperV</a:t>
            </a:r>
            <a:r>
              <a:rPr lang="en-US" dirty="0">
                <a:hlinkClick r:id="rId3"/>
              </a:rPr>
              <a:t>-to-Azure: Managed Disk support in Azure Site Recovery</a:t>
            </a:r>
            <a:endParaRPr lang="en-US" dirty="0"/>
          </a:p>
          <a:p>
            <a:pPr algn="just"/>
            <a:r>
              <a:rPr lang="en-US" b="1" dirty="0"/>
              <a:t>Azure Site Recovery (ASR) now supports failback from Azure VMs to on-premises Hyper-V even when the original replication was to a storage account and the failed-over Azure VM uses managed disks.</a:t>
            </a:r>
            <a:endParaRPr lang="en-US" dirty="0"/>
          </a:p>
          <a:p>
            <a:pPr algn="just"/>
            <a:r>
              <a:rPr lang="en-US" dirty="0"/>
              <a:t>This enhancement removes a long-standing limitation and enables:</a:t>
            </a:r>
          </a:p>
          <a:p>
            <a:pPr marL="171450" indent="-171450" algn="just">
              <a:buFont typeface="Arial" panose="020B0604020202020204" pitchFamily="34" charset="0"/>
              <a:buChar char="•"/>
            </a:pPr>
            <a:r>
              <a:rPr lang="en-US" dirty="0"/>
              <a:t>Seamless failback from managed-disk Azure VMs</a:t>
            </a:r>
          </a:p>
          <a:p>
            <a:pPr marL="171450" indent="-171450" algn="just">
              <a:buFont typeface="Arial" panose="020B0604020202020204" pitchFamily="34" charset="0"/>
              <a:buChar char="•"/>
            </a:pPr>
            <a:r>
              <a:rPr lang="en-US" dirty="0"/>
              <a:t>Full recovery flexibility for environments that previously replicated to Azure Storage</a:t>
            </a:r>
          </a:p>
          <a:p>
            <a:pPr marL="171450" indent="-171450" algn="just">
              <a:buFont typeface="Arial" panose="020B0604020202020204" pitchFamily="34" charset="0"/>
              <a:buChar char="•"/>
            </a:pPr>
            <a:r>
              <a:rPr lang="en-US" dirty="0"/>
              <a:t>Simplified disaster recovery workflows without requiring re-protection or disk format conversion</a:t>
            </a:r>
          </a:p>
          <a:p>
            <a:pPr algn="just"/>
            <a:r>
              <a:rPr lang="en-US" dirty="0"/>
              <a:t>Organizations can now perform end-to-end DR and failback for Hyper-V environments with greater consistency and fewer manual steps.</a:t>
            </a:r>
          </a:p>
        </p:txBody>
      </p:sp>
    </p:spTree>
    <p:extLst>
      <p:ext uri="{BB962C8B-B14F-4D97-AF65-F5344CB8AC3E}">
        <p14:creationId xmlns:p14="http://schemas.microsoft.com/office/powerpoint/2010/main" val="4199481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C319D0E-0FF6-DB1C-F9CF-63ECE069484F}"/>
              </a:ext>
            </a:extLst>
          </p:cNvPr>
          <p:cNvSpPr>
            <a:spLocks noGrp="1"/>
          </p:cNvSpPr>
          <p:nvPr>
            <p:ph type="body" sz="quarter" idx="10"/>
          </p:nvPr>
        </p:nvSpPr>
        <p:spPr>
          <a:xfrm>
            <a:off x="4433776" y="855080"/>
            <a:ext cx="4365038" cy="2199847"/>
          </a:xfrm>
        </p:spPr>
        <p:txBody>
          <a:bodyPr/>
          <a:lstStyle/>
          <a:p>
            <a:pPr algn="just"/>
            <a:r>
              <a:rPr lang="en-US" sz="1000" dirty="0">
                <a:hlinkClick r:id="rId2"/>
              </a:rPr>
              <a:t>Public Preview: Introducing SDK Stats to the Azure Monitor </a:t>
            </a:r>
            <a:r>
              <a:rPr lang="en-US" sz="1000" dirty="0" err="1">
                <a:hlinkClick r:id="rId2"/>
              </a:rPr>
              <a:t>OpenTelemetry</a:t>
            </a:r>
            <a:r>
              <a:rPr lang="en-US" sz="1000" dirty="0">
                <a:hlinkClick r:id="rId2"/>
              </a:rPr>
              <a:t> Distro</a:t>
            </a:r>
            <a:endParaRPr lang="ru-RU" sz="1000" dirty="0"/>
          </a:p>
          <a:p>
            <a:pPr algn="just"/>
            <a:r>
              <a:rPr lang="en-US" sz="1000" dirty="0"/>
              <a:t>Azure Monitor Application Insights now includes a new </a:t>
            </a:r>
            <a:r>
              <a:rPr lang="en-US" sz="1000" b="1" dirty="0"/>
              <a:t>data collection pipeline</a:t>
            </a:r>
            <a:r>
              <a:rPr lang="en-US" sz="1000" dirty="0"/>
              <a:t> designed to make troubleshooting ingestion issues far easier. A common support issue has been customers not seeing expected telemetry—this update directly addresses that.</a:t>
            </a:r>
          </a:p>
          <a:p>
            <a:pPr algn="just"/>
            <a:r>
              <a:rPr lang="en-US" sz="1000" dirty="0"/>
              <a:t>With the new </a:t>
            </a:r>
            <a:r>
              <a:rPr lang="en-US" sz="1000" b="1" dirty="0"/>
              <a:t>built-in SDK Stats workbook</a:t>
            </a:r>
            <a:r>
              <a:rPr lang="en-US" sz="1000" dirty="0"/>
              <a:t>, you can quickly detect and diagnose ingestion problems. The enhanced SDK emits per-process metrics for successful sends, drops, and retries, including detailed reason codes.</a:t>
            </a:r>
          </a:p>
          <a:p>
            <a:pPr algn="just"/>
            <a:r>
              <a:rPr lang="en-US" sz="1000" dirty="0"/>
              <a:t>To take advantage of these new diagnostics and improve observability, simply upgrade to the latest </a:t>
            </a:r>
            <a:r>
              <a:rPr lang="en-US" sz="1000" b="1" dirty="0"/>
              <a:t>Azure Monitor </a:t>
            </a:r>
            <a:r>
              <a:rPr lang="en-US" sz="1000" b="1" dirty="0" err="1"/>
              <a:t>OpenTelemetry</a:t>
            </a:r>
            <a:r>
              <a:rPr lang="en-US" sz="1000" b="1" dirty="0"/>
              <a:t> Distro</a:t>
            </a:r>
            <a:r>
              <a:rPr lang="en-US" sz="1000" dirty="0"/>
              <a:t>.</a:t>
            </a:r>
          </a:p>
        </p:txBody>
      </p:sp>
      <p:sp>
        <p:nvSpPr>
          <p:cNvPr id="3" name="Title 2">
            <a:extLst>
              <a:ext uri="{FF2B5EF4-FFF2-40B4-BE49-F238E27FC236}">
                <a16:creationId xmlns:a16="http://schemas.microsoft.com/office/drawing/2014/main" id="{9A10086B-8E5A-4725-6510-564D7B58F6AD}"/>
              </a:ext>
            </a:extLst>
          </p:cNvPr>
          <p:cNvSpPr>
            <a:spLocks noGrp="1"/>
          </p:cNvSpPr>
          <p:nvPr>
            <p:ph type="title"/>
          </p:nvPr>
        </p:nvSpPr>
        <p:spPr/>
        <p:txBody>
          <a:bodyPr/>
          <a:lstStyle/>
          <a:p>
            <a:r>
              <a:rPr lang="en-US" sz="1800" dirty="0"/>
              <a:t>Management &amp; Governance Updates (Azure Monitor) 1/9</a:t>
            </a:r>
            <a:endParaRPr lang="en-US" dirty="0"/>
          </a:p>
        </p:txBody>
      </p:sp>
      <p:sp>
        <p:nvSpPr>
          <p:cNvPr id="4" name="Text Placeholder 3">
            <a:extLst>
              <a:ext uri="{FF2B5EF4-FFF2-40B4-BE49-F238E27FC236}">
                <a16:creationId xmlns:a16="http://schemas.microsoft.com/office/drawing/2014/main" id="{9B9B9722-959D-69BB-1BBD-C3550BEC315E}"/>
              </a:ext>
            </a:extLst>
          </p:cNvPr>
          <p:cNvSpPr>
            <a:spLocks noGrp="1"/>
          </p:cNvSpPr>
          <p:nvPr>
            <p:ph type="body" sz="quarter" idx="15"/>
          </p:nvPr>
        </p:nvSpPr>
        <p:spPr/>
        <p:txBody>
          <a:bodyPr/>
          <a:lstStyle/>
          <a:p>
            <a:endParaRPr lang="en-US"/>
          </a:p>
        </p:txBody>
      </p:sp>
      <p:sp>
        <p:nvSpPr>
          <p:cNvPr id="6" name="Text Placeholder 1">
            <a:extLst>
              <a:ext uri="{FF2B5EF4-FFF2-40B4-BE49-F238E27FC236}">
                <a16:creationId xmlns:a16="http://schemas.microsoft.com/office/drawing/2014/main" id="{3AFCA3FD-6C10-7A08-8FC7-CD61ED563292}"/>
              </a:ext>
            </a:extLst>
          </p:cNvPr>
          <p:cNvSpPr txBox="1">
            <a:spLocks/>
          </p:cNvSpPr>
          <p:nvPr/>
        </p:nvSpPr>
        <p:spPr>
          <a:xfrm>
            <a:off x="342900" y="855080"/>
            <a:ext cx="3849538" cy="1154875"/>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2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sz="1000" dirty="0">
                <a:hlinkClick r:id="rId3"/>
              </a:rPr>
              <a:t>Public Preview: Recommended alerts for Azure Monitor Workspace</a:t>
            </a:r>
            <a:endParaRPr lang="en-US" sz="1000" dirty="0"/>
          </a:p>
          <a:p>
            <a:pPr algn="just"/>
            <a:r>
              <a:rPr lang="en-US" sz="1000" b="1" dirty="0"/>
              <a:t>Azure Monitor now supports one-click enablement of recommended alerts for Azure Monitor Managed Service for Prometheus.</a:t>
            </a:r>
            <a:br>
              <a:rPr lang="en-US" sz="1000" dirty="0"/>
            </a:br>
            <a:r>
              <a:rPr lang="en-US" sz="1000" dirty="0"/>
              <a:t>With this update, customers can easily turn on preconfigured alerts in the Azure portal to monitor Azure Monitor Workspace ingestion limits and proactively prevent metrics throttling. This simplifies setup, ensures early detection of ingestion pressure, and improves overall observability reliability.</a:t>
            </a:r>
          </a:p>
        </p:txBody>
      </p:sp>
      <p:pic>
        <p:nvPicPr>
          <p:cNvPr id="4098" name="Picture 2" descr="Screenshot of Azure Monitor Workspace recommended alert rules pane.">
            <a:extLst>
              <a:ext uri="{FF2B5EF4-FFF2-40B4-BE49-F238E27FC236}">
                <a16:creationId xmlns:a16="http://schemas.microsoft.com/office/drawing/2014/main" id="{5048124A-E3C0-AB92-4F13-AE955BA86F4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2900" y="2357533"/>
            <a:ext cx="3657801" cy="1552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2519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9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charRg st="80" end="33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charRg st="330" end="54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charRg st="546" end="68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265B96B-82BB-2979-D01E-53F5CE0A9E1A}"/>
              </a:ext>
            </a:extLst>
          </p:cNvPr>
          <p:cNvSpPr>
            <a:spLocks noGrp="1"/>
          </p:cNvSpPr>
          <p:nvPr>
            <p:ph type="title"/>
          </p:nvPr>
        </p:nvSpPr>
        <p:spPr/>
        <p:txBody>
          <a:bodyPr/>
          <a:lstStyle/>
          <a:p>
            <a:r>
              <a:rPr lang="en-US" sz="1600" dirty="0"/>
              <a:t>Management &amp; Governance Updates (Azure Monitor) 2/9</a:t>
            </a:r>
            <a:endParaRPr lang="en-US" dirty="0"/>
          </a:p>
        </p:txBody>
      </p:sp>
      <p:sp>
        <p:nvSpPr>
          <p:cNvPr id="4" name="Text Placeholder 3">
            <a:extLst>
              <a:ext uri="{FF2B5EF4-FFF2-40B4-BE49-F238E27FC236}">
                <a16:creationId xmlns:a16="http://schemas.microsoft.com/office/drawing/2014/main" id="{72CE27E9-74F5-018C-5729-AC01FD1898AB}"/>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38B49B84-3E12-534C-FBF2-897B46B3446F}"/>
              </a:ext>
            </a:extLst>
          </p:cNvPr>
          <p:cNvSpPr>
            <a:spLocks noGrp="1"/>
          </p:cNvSpPr>
          <p:nvPr>
            <p:ph type="body" sz="quarter" idx="16"/>
          </p:nvPr>
        </p:nvSpPr>
        <p:spPr/>
        <p:txBody>
          <a:bodyPr/>
          <a:lstStyle/>
          <a:p>
            <a:pPr algn="just"/>
            <a:r>
              <a:rPr lang="en-US" dirty="0">
                <a:hlinkClick r:id="rId2"/>
              </a:rPr>
              <a:t>Troubleshoot with OTLP signals in Azure Monitor (Limited Public Preview)</a:t>
            </a:r>
            <a:endParaRPr lang="en-US" dirty="0"/>
          </a:p>
          <a:p>
            <a:pPr algn="just"/>
            <a:r>
              <a:rPr lang="en-US" dirty="0"/>
              <a:t>Microsoft has expanded Azure Monitor’s support for </a:t>
            </a:r>
            <a:r>
              <a:rPr lang="en-US" b="1" dirty="0" err="1"/>
              <a:t>OpenTelemetry</a:t>
            </a:r>
            <a:r>
              <a:rPr lang="en-US" b="1" dirty="0"/>
              <a:t> (</a:t>
            </a:r>
            <a:r>
              <a:rPr lang="en-US" b="1" dirty="0" err="1"/>
              <a:t>OTel</a:t>
            </a:r>
            <a:r>
              <a:rPr lang="en-US" b="1" dirty="0"/>
              <a:t>)</a:t>
            </a:r>
            <a:r>
              <a:rPr lang="en-US" dirty="0"/>
              <a:t> with a new limited preview that enables </a:t>
            </a:r>
            <a:r>
              <a:rPr lang="en-US" b="1" dirty="0"/>
              <a:t>direct OTLP ingestion</a:t>
            </a:r>
            <a:r>
              <a:rPr lang="en-US" dirty="0"/>
              <a:t> of logs, metrics, and traces from any environment. </a:t>
            </a:r>
          </a:p>
          <a:p>
            <a:pPr algn="just"/>
            <a:r>
              <a:rPr lang="en-US" dirty="0"/>
              <a:t>With this preview, applications running </a:t>
            </a:r>
            <a:r>
              <a:rPr lang="en-US" b="1" dirty="0"/>
              <a:t>anywhere</a:t>
            </a:r>
            <a:r>
              <a:rPr lang="en-US" dirty="0"/>
              <a:t>—Azure, hybrid, </a:t>
            </a:r>
            <a:r>
              <a:rPr lang="en-US" dirty="0" err="1"/>
              <a:t>multicloud</a:t>
            </a:r>
            <a:r>
              <a:rPr lang="en-US" dirty="0"/>
              <a:t>, or on-premises—can send OTLP signals directly to Azure Monitor. Azure also simplifies collection orchestration:</a:t>
            </a:r>
          </a:p>
          <a:p>
            <a:pPr marL="171450" indent="-171450" algn="just">
              <a:buFont typeface="Arial" panose="020B0604020202020204" pitchFamily="34" charset="0"/>
              <a:buChar char="•"/>
            </a:pPr>
            <a:r>
              <a:rPr lang="en-US" b="1" dirty="0"/>
              <a:t>Azure VMs/VMSS and Azure Arc:</a:t>
            </a:r>
            <a:r>
              <a:rPr lang="en-US" dirty="0"/>
              <a:t> Use the existing </a:t>
            </a:r>
            <a:r>
              <a:rPr lang="en-US" b="1" dirty="0"/>
              <a:t>Azure Monitor Agent (AMA)</a:t>
            </a:r>
            <a:r>
              <a:rPr lang="en-US" dirty="0"/>
              <a:t> to collect infrastructure logs and </a:t>
            </a:r>
            <a:r>
              <a:rPr lang="en-US" dirty="0" err="1"/>
              <a:t>OTel</a:t>
            </a:r>
            <a:r>
              <a:rPr lang="en-US" dirty="0"/>
              <a:t> application telemetry.</a:t>
            </a:r>
          </a:p>
          <a:p>
            <a:pPr marL="171450" indent="-171450" algn="just">
              <a:buFont typeface="Arial" panose="020B0604020202020204" pitchFamily="34" charset="0"/>
              <a:buChar char="•"/>
            </a:pPr>
            <a:r>
              <a:rPr lang="en-US" b="1" dirty="0"/>
              <a:t>AKS:</a:t>
            </a:r>
            <a:r>
              <a:rPr lang="en-US" dirty="0"/>
              <a:t> Azure Monitor add-ons for Container Insights and managed Prometheus automatically configure </a:t>
            </a:r>
            <a:r>
              <a:rPr lang="en-US" dirty="0" err="1"/>
              <a:t>OTel</a:t>
            </a:r>
            <a:r>
              <a:rPr lang="en-US" dirty="0"/>
              <a:t> signal collection or auto-instrument applications using the Azure Monitor </a:t>
            </a:r>
            <a:r>
              <a:rPr lang="en-US" dirty="0" err="1"/>
              <a:t>OpenTelemetry</a:t>
            </a:r>
            <a:r>
              <a:rPr lang="en-US" dirty="0"/>
              <a:t> Distro.</a:t>
            </a:r>
          </a:p>
          <a:p>
            <a:pPr marL="171450" indent="-171450" algn="just">
              <a:buFont typeface="Arial" panose="020B0604020202020204" pitchFamily="34" charset="0"/>
              <a:buChar char="•"/>
            </a:pPr>
            <a:r>
              <a:rPr lang="en-US" b="1" dirty="0"/>
              <a:t>Any environment:</a:t>
            </a:r>
            <a:r>
              <a:rPr lang="en-US" dirty="0"/>
              <a:t> Use the </a:t>
            </a:r>
            <a:r>
              <a:rPr lang="en-US" dirty="0" err="1"/>
              <a:t>OpenTelemetry</a:t>
            </a:r>
            <a:r>
              <a:rPr lang="en-US" dirty="0"/>
              <a:t> Collector to forward OTLP logs, metrics, and traces to Azure Monitor ingestion endpoints.</a:t>
            </a:r>
          </a:p>
          <a:p>
            <a:pPr algn="just"/>
            <a:r>
              <a:rPr lang="en-US" dirty="0"/>
              <a:t>Customers can visualize data using </a:t>
            </a:r>
            <a:r>
              <a:rPr lang="en-US" b="1" dirty="0"/>
              <a:t>Grafana community dashboards</a:t>
            </a:r>
            <a:r>
              <a:rPr lang="en-US" dirty="0"/>
              <a:t>, troubleshoot with </a:t>
            </a:r>
            <a:r>
              <a:rPr lang="en-US" b="1" dirty="0"/>
              <a:t>Application Insights</a:t>
            </a:r>
            <a:r>
              <a:rPr lang="en-US" dirty="0"/>
              <a:t>, or build </a:t>
            </a:r>
            <a:r>
              <a:rPr lang="en-US" b="1" dirty="0"/>
              <a:t>custom analytics</a:t>
            </a:r>
            <a:r>
              <a:rPr lang="en-US" dirty="0"/>
              <a:t> using standard </a:t>
            </a:r>
            <a:r>
              <a:rPr lang="en-US" dirty="0" err="1"/>
              <a:t>OTel</a:t>
            </a:r>
            <a:r>
              <a:rPr lang="en-US" dirty="0"/>
              <a:t> semantics.</a:t>
            </a:r>
          </a:p>
          <a:p>
            <a:pPr algn="just"/>
            <a:endParaRPr lang="en-US" dirty="0"/>
          </a:p>
        </p:txBody>
      </p:sp>
      <p:pic>
        <p:nvPicPr>
          <p:cNvPr id="7" name="Picture 6">
            <a:extLst>
              <a:ext uri="{FF2B5EF4-FFF2-40B4-BE49-F238E27FC236}">
                <a16:creationId xmlns:a16="http://schemas.microsoft.com/office/drawing/2014/main" id="{A8A060E2-0D94-5EF4-B06C-4424E870320B}"/>
              </a:ext>
            </a:extLst>
          </p:cNvPr>
          <p:cNvPicPr>
            <a:picLocks noChangeAspect="1"/>
          </p:cNvPicPr>
          <p:nvPr/>
        </p:nvPicPr>
        <p:blipFill>
          <a:blip r:embed="rId3"/>
          <a:stretch>
            <a:fillRect/>
          </a:stretch>
        </p:blipFill>
        <p:spPr>
          <a:xfrm>
            <a:off x="4376579" y="1163781"/>
            <a:ext cx="4422235" cy="2504209"/>
          </a:xfrm>
          <a:prstGeom prst="rect">
            <a:avLst/>
          </a:prstGeom>
        </p:spPr>
      </p:pic>
    </p:spTree>
    <p:extLst>
      <p:ext uri="{BB962C8B-B14F-4D97-AF65-F5344CB8AC3E}">
        <p14:creationId xmlns:p14="http://schemas.microsoft.com/office/powerpoint/2010/main" val="1324705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75FD68D-D943-425A-971F-DB9CCA749A06}"/>
              </a:ext>
            </a:extLst>
          </p:cNvPr>
          <p:cNvSpPr>
            <a:spLocks noGrp="1"/>
          </p:cNvSpPr>
          <p:nvPr>
            <p:ph type="body" sz="quarter" idx="10"/>
          </p:nvPr>
        </p:nvSpPr>
        <p:spPr/>
        <p:txBody>
          <a:bodyPr/>
          <a:lstStyle/>
          <a:p>
            <a:pPr algn="just"/>
            <a:r>
              <a:rPr lang="en-US" sz="1000" dirty="0">
                <a:hlinkClick r:id="rId2"/>
              </a:rPr>
              <a:t>Public Preview: </a:t>
            </a:r>
            <a:r>
              <a:rPr lang="en-US" sz="1000" dirty="0" err="1">
                <a:hlinkClick r:id="rId2"/>
              </a:rPr>
              <a:t>OpenTelemetry</a:t>
            </a:r>
            <a:r>
              <a:rPr lang="en-US" sz="1000" dirty="0">
                <a:hlinkClick r:id="rId2"/>
              </a:rPr>
              <a:t> visualizations and enhanced monitoring experience in Azure Monitor for Azure VMs and Arc Servers</a:t>
            </a:r>
            <a:endParaRPr lang="en-US" sz="1000" dirty="0"/>
          </a:p>
          <a:p>
            <a:pPr algn="just"/>
            <a:r>
              <a:rPr lang="en-US" sz="1000" dirty="0" err="1"/>
              <a:t>OpenTelemetry</a:t>
            </a:r>
            <a:r>
              <a:rPr lang="en-US" sz="1000" dirty="0"/>
              <a:t>-based visualizations in Azure Monitor are now in </a:t>
            </a:r>
            <a:r>
              <a:rPr lang="en-US" sz="1000" b="1" dirty="0"/>
              <a:t>public preview</a:t>
            </a:r>
            <a:r>
              <a:rPr lang="en-US" sz="1000" dirty="0"/>
              <a:t>, delivering a unified and enhanced monitoring experience for Azure Virtual Machines and Arc-enabled servers. This update consolidates key monitoring capabilities into a single view and introduces a streamlined onboarding experience, making it easier to observe, troubleshoot, and optimize your infrastructure.</a:t>
            </a:r>
          </a:p>
          <a:p>
            <a:pPr algn="just"/>
            <a:r>
              <a:rPr lang="en-US" sz="1000" dirty="0"/>
              <a:t>Previously, VM insights relied on Log Analytics–based metrics. With this preview, organizations can instead use </a:t>
            </a:r>
            <a:r>
              <a:rPr lang="en-US" sz="1000" b="1" dirty="0" err="1"/>
              <a:t>OpenTelemetry</a:t>
            </a:r>
            <a:r>
              <a:rPr lang="en-US" sz="1000" b="1" dirty="0"/>
              <a:t> (</a:t>
            </a:r>
            <a:r>
              <a:rPr lang="en-US" sz="1000" b="1" dirty="0" err="1"/>
              <a:t>OTel</a:t>
            </a:r>
            <a:r>
              <a:rPr lang="en-US" sz="1000" b="1" dirty="0"/>
              <a:t>) system metrics</a:t>
            </a:r>
            <a:r>
              <a:rPr lang="en-US" sz="1000" dirty="0"/>
              <a:t> to power these visualizations—offering a more efficient and scalable alternative.</a:t>
            </a:r>
          </a:p>
          <a:p>
            <a:pPr algn="just"/>
            <a:r>
              <a:rPr lang="en-US" sz="1000" b="1" dirty="0"/>
              <a:t>Key benefits:</a:t>
            </a:r>
            <a:endParaRPr lang="en-US" sz="1000" dirty="0"/>
          </a:p>
          <a:p>
            <a:pPr marL="171450" indent="-171450" algn="just">
              <a:buFont typeface="Arial" panose="020B0604020202020204" pitchFamily="34" charset="0"/>
              <a:buChar char="•"/>
            </a:pPr>
            <a:r>
              <a:rPr lang="en-US" sz="1000" b="1" dirty="0"/>
              <a:t>Lower costs</a:t>
            </a:r>
            <a:r>
              <a:rPr lang="en-US" sz="1000" dirty="0"/>
              <a:t> by replacing Log Analytics–based metrics with </a:t>
            </a:r>
            <a:r>
              <a:rPr lang="en-US" sz="1000" dirty="0" err="1"/>
              <a:t>OpenTelemetry</a:t>
            </a:r>
            <a:r>
              <a:rPr lang="en-US" sz="1000" dirty="0"/>
              <a:t> metrics.</a:t>
            </a:r>
          </a:p>
          <a:p>
            <a:pPr marL="171450" indent="-171450" algn="just">
              <a:buFont typeface="Arial" panose="020B0604020202020204" pitchFamily="34" charset="0"/>
              <a:buChar char="•"/>
            </a:pPr>
            <a:r>
              <a:rPr lang="en-US" sz="1000" b="1" dirty="0"/>
              <a:t>Better performance</a:t>
            </a:r>
            <a:r>
              <a:rPr lang="en-US" sz="1000" dirty="0"/>
              <a:t> through significantly faster metric query response times.</a:t>
            </a:r>
          </a:p>
          <a:p>
            <a:pPr algn="just"/>
            <a:r>
              <a:rPr lang="en-US" sz="1000" dirty="0"/>
              <a:t>This preview brings modern, standards-based observability to Azure Monitor while improving both performance and cost efficiency.</a:t>
            </a:r>
          </a:p>
        </p:txBody>
      </p:sp>
      <p:sp>
        <p:nvSpPr>
          <p:cNvPr id="3" name="Title 2">
            <a:extLst>
              <a:ext uri="{FF2B5EF4-FFF2-40B4-BE49-F238E27FC236}">
                <a16:creationId xmlns:a16="http://schemas.microsoft.com/office/drawing/2014/main" id="{A12CB75E-2731-82D4-12C4-D34B25CE2494}"/>
              </a:ext>
            </a:extLst>
          </p:cNvPr>
          <p:cNvSpPr>
            <a:spLocks noGrp="1"/>
          </p:cNvSpPr>
          <p:nvPr>
            <p:ph type="title"/>
          </p:nvPr>
        </p:nvSpPr>
        <p:spPr/>
        <p:txBody>
          <a:bodyPr/>
          <a:lstStyle/>
          <a:p>
            <a:r>
              <a:rPr lang="en-US" sz="1600" dirty="0"/>
              <a:t>Management &amp; Governance Updates (Azure Monitor) 3/9</a:t>
            </a:r>
            <a:endParaRPr lang="en-US" dirty="0"/>
          </a:p>
        </p:txBody>
      </p:sp>
      <p:sp>
        <p:nvSpPr>
          <p:cNvPr id="4" name="Text Placeholder 3">
            <a:extLst>
              <a:ext uri="{FF2B5EF4-FFF2-40B4-BE49-F238E27FC236}">
                <a16:creationId xmlns:a16="http://schemas.microsoft.com/office/drawing/2014/main" id="{0B60A534-2F14-7332-2C34-27305D303BA1}"/>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E67DB9EF-547A-5178-6579-E9E9AB2C7DCF}"/>
              </a:ext>
            </a:extLst>
          </p:cNvPr>
          <p:cNvSpPr>
            <a:spLocks noGrp="1"/>
          </p:cNvSpPr>
          <p:nvPr>
            <p:ph type="body" sz="quarter" idx="16"/>
          </p:nvPr>
        </p:nvSpPr>
        <p:spPr>
          <a:xfrm>
            <a:off x="342900" y="855080"/>
            <a:ext cx="3955312" cy="3945520"/>
          </a:xfrm>
        </p:spPr>
        <p:txBody>
          <a:bodyPr/>
          <a:lstStyle/>
          <a:p>
            <a:pPr algn="just"/>
            <a:r>
              <a:rPr lang="en-US" dirty="0">
                <a:hlinkClick r:id="rId3"/>
              </a:rPr>
              <a:t>Public Preview: Query-based metric alerts in Azure Monitor</a:t>
            </a:r>
            <a:endParaRPr lang="en-US" dirty="0"/>
          </a:p>
          <a:p>
            <a:pPr algn="just"/>
            <a:r>
              <a:rPr lang="en-US" dirty="0"/>
              <a:t>Azure Monitor metric alerts now support </a:t>
            </a:r>
            <a:r>
              <a:rPr lang="en-US" b="1" dirty="0"/>
              <a:t>all Azure metrics</a:t>
            </a:r>
            <a:r>
              <a:rPr lang="en-US" dirty="0"/>
              <a:t>—platform, Prometheus, and custom—providing full monitoring coverage. Alerts can now use </a:t>
            </a:r>
            <a:r>
              <a:rPr lang="en-US" b="1" dirty="0" err="1"/>
              <a:t>PromQL</a:t>
            </a:r>
            <a:r>
              <a:rPr lang="en-US" dirty="0"/>
              <a:t> for advanced conditions across Prometheus metrics, </a:t>
            </a:r>
            <a:r>
              <a:rPr lang="en-US" dirty="0" err="1"/>
              <a:t>OTel</a:t>
            </a:r>
            <a:r>
              <a:rPr lang="en-US" dirty="0"/>
              <a:t>-based VM performance counters, and other </a:t>
            </a:r>
            <a:r>
              <a:rPr lang="en-US" dirty="0" err="1"/>
              <a:t>OTel</a:t>
            </a:r>
            <a:r>
              <a:rPr lang="en-US" dirty="0"/>
              <a:t> custom metrics ingested into Azure Monitor Workspace.</a:t>
            </a:r>
          </a:p>
          <a:p>
            <a:pPr algn="just"/>
            <a:r>
              <a:rPr lang="en-US" b="1" dirty="0"/>
              <a:t>Key capabilities include:</a:t>
            </a:r>
            <a:endParaRPr lang="en-US" dirty="0"/>
          </a:p>
          <a:p>
            <a:pPr marL="171450" indent="-171450" algn="just">
              <a:buFont typeface="Arial" panose="020B0604020202020204" pitchFamily="34" charset="0"/>
              <a:buChar char="•"/>
            </a:pPr>
            <a:r>
              <a:rPr lang="en-US" b="1" dirty="0" err="1"/>
              <a:t>PromQL</a:t>
            </a:r>
            <a:r>
              <a:rPr lang="en-US" b="1" dirty="0"/>
              <a:t>-based alert logic:</a:t>
            </a:r>
            <a:r>
              <a:rPr lang="en-US" dirty="0"/>
              <a:t> Build sophisticated conditions using the industry-standard </a:t>
            </a:r>
            <a:r>
              <a:rPr lang="en-US" dirty="0" err="1"/>
              <a:t>PromQL</a:t>
            </a:r>
            <a:r>
              <a:rPr lang="en-US" dirty="0"/>
              <a:t> language.</a:t>
            </a:r>
          </a:p>
          <a:p>
            <a:pPr marL="171450" indent="-171450" algn="just">
              <a:buFont typeface="Arial" panose="020B0604020202020204" pitchFamily="34" charset="0"/>
              <a:buChar char="•"/>
            </a:pPr>
            <a:r>
              <a:rPr lang="en-US" b="1" dirty="0"/>
              <a:t>Flexible scoping:</a:t>
            </a:r>
            <a:r>
              <a:rPr lang="en-US" dirty="0"/>
              <a:t> Use resource-centric alerts for fine-grained RBAC or workspace-centric alerts for broad, cross-resource visibility.</a:t>
            </a:r>
          </a:p>
          <a:p>
            <a:pPr marL="171450" indent="-171450" algn="just">
              <a:buFont typeface="Arial" panose="020B0604020202020204" pitchFamily="34" charset="0"/>
              <a:buChar char="•"/>
            </a:pPr>
            <a:r>
              <a:rPr lang="en-US" b="1" dirty="0"/>
              <a:t>Managed identity support:</a:t>
            </a:r>
            <a:r>
              <a:rPr lang="en-US" dirty="0"/>
              <a:t> Securely run queries with Azure Managed Identity.</a:t>
            </a:r>
          </a:p>
          <a:p>
            <a:pPr marL="171450" indent="-171450" algn="just">
              <a:buFont typeface="Arial" panose="020B0604020202020204" pitchFamily="34" charset="0"/>
              <a:buChar char="•"/>
            </a:pPr>
            <a:r>
              <a:rPr lang="en-US" b="1" dirty="0"/>
              <a:t>Customizable notifications:</a:t>
            </a:r>
            <a:r>
              <a:rPr lang="en-US" dirty="0"/>
              <a:t> Add dynamic custom properties and custom email subjects for richer, more actionable alerting.</a:t>
            </a:r>
          </a:p>
          <a:p>
            <a:pPr algn="just"/>
            <a:r>
              <a:rPr lang="en-US" dirty="0"/>
              <a:t>With query-based metric alerts, organizations can detect complex patterns, reduce noise, reuse community Prometheus alert rules, and maintain a unified monitoring experience across Azure.</a:t>
            </a:r>
          </a:p>
        </p:txBody>
      </p:sp>
    </p:spTree>
    <p:extLst>
      <p:ext uri="{BB962C8B-B14F-4D97-AF65-F5344CB8AC3E}">
        <p14:creationId xmlns:p14="http://schemas.microsoft.com/office/powerpoint/2010/main" val="2965636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4" end="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E69CBE-A03D-8049-8575-0CE97BCA903C}"/>
              </a:ext>
            </a:extLst>
          </p:cNvPr>
          <p:cNvSpPr>
            <a:spLocks noGrp="1"/>
          </p:cNvSpPr>
          <p:nvPr>
            <p:ph type="title"/>
          </p:nvPr>
        </p:nvSpPr>
        <p:spPr/>
        <p:txBody>
          <a:bodyPr/>
          <a:lstStyle/>
          <a:p>
            <a:r>
              <a:rPr lang="en-US" sz="1600" dirty="0"/>
              <a:t>Management &amp; Governance Updates (Azure Monitor) 4/9</a:t>
            </a:r>
            <a:endParaRPr lang="en-US" dirty="0"/>
          </a:p>
        </p:txBody>
      </p:sp>
      <p:sp>
        <p:nvSpPr>
          <p:cNvPr id="4" name="Text Placeholder 3">
            <a:extLst>
              <a:ext uri="{FF2B5EF4-FFF2-40B4-BE49-F238E27FC236}">
                <a16:creationId xmlns:a16="http://schemas.microsoft.com/office/drawing/2014/main" id="{8BC5FA24-AC8B-8C5F-D54C-5579FCD32F1E}"/>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ED91B59A-37F6-35DE-FB37-31DF73E82554}"/>
              </a:ext>
            </a:extLst>
          </p:cNvPr>
          <p:cNvSpPr>
            <a:spLocks noGrp="1"/>
          </p:cNvSpPr>
          <p:nvPr>
            <p:ph type="body" sz="quarter" idx="16"/>
          </p:nvPr>
        </p:nvSpPr>
        <p:spPr/>
        <p:txBody>
          <a:bodyPr/>
          <a:lstStyle/>
          <a:p>
            <a:pPr algn="just"/>
            <a:r>
              <a:rPr lang="en-US" dirty="0">
                <a:hlinkClick r:id="rId2"/>
              </a:rPr>
              <a:t>Introducing Monitoring Coverage: Assess and Improve Your Monitoring Posture at Scale</a:t>
            </a:r>
            <a:endParaRPr lang="en-US" dirty="0"/>
          </a:p>
          <a:p>
            <a:pPr algn="just"/>
            <a:r>
              <a:rPr lang="en-US" b="1" dirty="0"/>
              <a:t>Monitoring Coverage (preview)</a:t>
            </a:r>
            <a:r>
              <a:rPr lang="en-US" dirty="0"/>
              <a:t> in Azure Monitor introduces a centralized experience to assess and improve monitoring across your Azure environment.</a:t>
            </a:r>
          </a:p>
          <a:p>
            <a:pPr algn="just"/>
            <a:r>
              <a:rPr lang="en-US" b="1" dirty="0"/>
              <a:t>Key capabilities:</a:t>
            </a:r>
            <a:endParaRPr lang="en-US" dirty="0"/>
          </a:p>
          <a:p>
            <a:pPr marL="171450" indent="-171450" algn="just">
              <a:buFont typeface="Arial" panose="020B0604020202020204" pitchFamily="34" charset="0"/>
              <a:buChar char="•"/>
            </a:pPr>
            <a:r>
              <a:rPr lang="en-US" b="1" dirty="0"/>
              <a:t>Comprehensive visibility:</a:t>
            </a:r>
            <a:r>
              <a:rPr lang="en-US" dirty="0"/>
              <a:t> View monitoring coverage for common Azure resource types in one place.</a:t>
            </a:r>
          </a:p>
          <a:p>
            <a:pPr marL="171450" indent="-171450" algn="just">
              <a:buFont typeface="Arial" panose="020B0604020202020204" pitchFamily="34" charset="0"/>
              <a:buChar char="•"/>
            </a:pPr>
            <a:r>
              <a:rPr lang="en-US" b="1" dirty="0"/>
              <a:t>Actionable recommendations:</a:t>
            </a:r>
            <a:r>
              <a:rPr lang="en-US" dirty="0"/>
              <a:t> Apply Azure Advisor monitoring recommendations at scale.</a:t>
            </a:r>
          </a:p>
          <a:p>
            <a:pPr marL="171450" indent="-171450" algn="just">
              <a:buFont typeface="Arial" panose="020B0604020202020204" pitchFamily="34" charset="0"/>
              <a:buChar char="•"/>
            </a:pPr>
            <a:r>
              <a:rPr lang="en-US" b="1" dirty="0"/>
              <a:t>Centralized configuration:</a:t>
            </a:r>
            <a:r>
              <a:rPr lang="en-US" dirty="0"/>
              <a:t> Enable recommended monitoring settings for multiple resources from a single interface.</a:t>
            </a:r>
          </a:p>
          <a:p>
            <a:pPr marL="171450" indent="-171450" algn="just">
              <a:buFont typeface="Arial" panose="020B0604020202020204" pitchFamily="34" charset="0"/>
              <a:buChar char="•"/>
            </a:pPr>
            <a:r>
              <a:rPr lang="en-US" b="1" dirty="0"/>
              <a:t>Resource-level insights:</a:t>
            </a:r>
            <a:r>
              <a:rPr lang="en-US" dirty="0"/>
              <a:t> Drill into individual resources to review active monitoring and relevant recommendations.</a:t>
            </a:r>
          </a:p>
          <a:p>
            <a:pPr algn="just"/>
            <a:r>
              <a:rPr lang="en-US" dirty="0"/>
              <a:t>During preview, Monitoring Coverage supports </a:t>
            </a:r>
            <a:r>
              <a:rPr lang="en-US" b="1" dirty="0"/>
              <a:t>Virtual Machines (VMs)</a:t>
            </a:r>
            <a:r>
              <a:rPr lang="en-US" dirty="0"/>
              <a:t> and </a:t>
            </a:r>
            <a:r>
              <a:rPr lang="en-US" b="1" dirty="0"/>
              <a:t>Azure Kubernetes Service (AKS)</a:t>
            </a:r>
            <a:r>
              <a:rPr lang="en-US" dirty="0"/>
              <a:t>, with more service support coming soon.</a:t>
            </a:r>
          </a:p>
          <a:p>
            <a:pPr algn="just"/>
            <a:endParaRPr lang="en-US" dirty="0"/>
          </a:p>
          <a:p>
            <a:pPr algn="just"/>
            <a:endParaRPr lang="en-US" dirty="0"/>
          </a:p>
        </p:txBody>
      </p:sp>
      <p:pic>
        <p:nvPicPr>
          <p:cNvPr id="7" name="Picture 6">
            <a:extLst>
              <a:ext uri="{FF2B5EF4-FFF2-40B4-BE49-F238E27FC236}">
                <a16:creationId xmlns:a16="http://schemas.microsoft.com/office/drawing/2014/main" id="{52D79922-305E-6815-1D9B-5F42AC734B47}"/>
              </a:ext>
            </a:extLst>
          </p:cNvPr>
          <p:cNvPicPr>
            <a:picLocks noChangeAspect="1"/>
          </p:cNvPicPr>
          <p:nvPr/>
        </p:nvPicPr>
        <p:blipFill>
          <a:blip r:embed="rId3"/>
          <a:stretch>
            <a:fillRect/>
          </a:stretch>
        </p:blipFill>
        <p:spPr>
          <a:xfrm>
            <a:off x="4624973" y="904009"/>
            <a:ext cx="4029618" cy="2919846"/>
          </a:xfrm>
          <a:prstGeom prst="rect">
            <a:avLst/>
          </a:prstGeom>
        </p:spPr>
      </p:pic>
    </p:spTree>
    <p:extLst>
      <p:ext uri="{BB962C8B-B14F-4D97-AF65-F5344CB8AC3E}">
        <p14:creationId xmlns:p14="http://schemas.microsoft.com/office/powerpoint/2010/main" val="4161357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E4C114B-77F3-E088-F8E5-2EFF7FF82C12}"/>
              </a:ext>
            </a:extLst>
          </p:cNvPr>
          <p:cNvSpPr>
            <a:spLocks noGrp="1"/>
          </p:cNvSpPr>
          <p:nvPr>
            <p:ph type="title"/>
          </p:nvPr>
        </p:nvSpPr>
        <p:spPr/>
        <p:txBody>
          <a:bodyPr/>
          <a:lstStyle/>
          <a:p>
            <a:r>
              <a:rPr lang="en-US" sz="1600" dirty="0"/>
              <a:t>Management &amp; Governance Updates (Azure Monitor) 5/9</a:t>
            </a:r>
            <a:endParaRPr lang="en-US" dirty="0"/>
          </a:p>
        </p:txBody>
      </p:sp>
      <p:sp>
        <p:nvSpPr>
          <p:cNvPr id="4" name="Text Placeholder 3">
            <a:extLst>
              <a:ext uri="{FF2B5EF4-FFF2-40B4-BE49-F238E27FC236}">
                <a16:creationId xmlns:a16="http://schemas.microsoft.com/office/drawing/2014/main" id="{3C0F3BB3-D336-E1C2-3DA1-914342DCC454}"/>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DDE26B58-72D9-6C45-E5D4-A89746CF8A81}"/>
              </a:ext>
            </a:extLst>
          </p:cNvPr>
          <p:cNvSpPr>
            <a:spLocks noGrp="1"/>
          </p:cNvSpPr>
          <p:nvPr>
            <p:ph type="body" sz="quarter" idx="16"/>
          </p:nvPr>
        </p:nvSpPr>
        <p:spPr/>
        <p:txBody>
          <a:bodyPr/>
          <a:lstStyle/>
          <a:p>
            <a:r>
              <a:rPr lang="en-US" dirty="0">
                <a:hlinkClick r:id="rId2"/>
              </a:rPr>
              <a:t>Generally Available - Azure Monitor Private Link Scope (AMPLS) Scale Limits Increased by 10x!</a:t>
            </a:r>
            <a:endParaRPr lang="en-US" dirty="0"/>
          </a:p>
          <a:p>
            <a:pPr marL="171450" indent="-171450">
              <a:buFont typeface="Arial" panose="020B0604020202020204" pitchFamily="34" charset="0"/>
              <a:buChar char="•"/>
            </a:pPr>
            <a:r>
              <a:rPr lang="en-US" dirty="0"/>
              <a:t>10x Scale Increase</a:t>
            </a:r>
          </a:p>
          <a:p>
            <a:pPr marL="514350" lvl="1" indent="-171450">
              <a:buFont typeface="Arial" panose="020B0604020202020204" pitchFamily="34" charset="0"/>
              <a:buChar char="•"/>
            </a:pPr>
            <a:r>
              <a:rPr lang="en-US" sz="1000" dirty="0">
                <a:latin typeface="+mj-lt"/>
              </a:rPr>
              <a:t>Connect up to 3,000 Log Analytics workspaces per AMPLS (previously 300)</a:t>
            </a:r>
          </a:p>
          <a:p>
            <a:pPr marL="514350" lvl="1" indent="-171450">
              <a:buFont typeface="Arial" panose="020B0604020202020204" pitchFamily="34" charset="0"/>
              <a:buChar char="•"/>
            </a:pPr>
            <a:r>
              <a:rPr lang="en-US" sz="1000" dirty="0">
                <a:latin typeface="+mj-lt"/>
              </a:rPr>
              <a:t>Connect up to 10,000 Application Insights components per AMPLS (previously 1,000)</a:t>
            </a:r>
          </a:p>
          <a:p>
            <a:pPr marL="171450" indent="-171450">
              <a:buFont typeface="Arial" panose="020B0604020202020204" pitchFamily="34" charset="0"/>
              <a:buChar char="•"/>
            </a:pPr>
            <a:r>
              <a:rPr lang="en-US" dirty="0"/>
              <a:t>20x Resource Connectivity</a:t>
            </a:r>
          </a:p>
          <a:p>
            <a:pPr marL="514350" lvl="1" indent="-171450">
              <a:buFont typeface="Arial" panose="020B0604020202020204" pitchFamily="34" charset="0"/>
              <a:buChar char="•"/>
            </a:pPr>
            <a:r>
              <a:rPr lang="en-US" sz="1000" dirty="0">
                <a:latin typeface="+mj-lt"/>
              </a:rPr>
              <a:t>Each Azure Monitor resource can now connect to 100 AMPLS resources (previously 5)</a:t>
            </a:r>
          </a:p>
          <a:p>
            <a:pPr marL="171450" indent="-171450">
              <a:buFont typeface="Arial" panose="020B0604020202020204" pitchFamily="34" charset="0"/>
              <a:buChar char="•"/>
            </a:pPr>
            <a:r>
              <a:rPr lang="en-US" dirty="0"/>
              <a:t>Enhanced UX/UI</a:t>
            </a:r>
          </a:p>
          <a:p>
            <a:pPr marL="514350" lvl="1" indent="-171450">
              <a:buFont typeface="Arial" panose="020B0604020202020204" pitchFamily="34" charset="0"/>
              <a:buChar char="•"/>
            </a:pPr>
            <a:r>
              <a:rPr lang="en-US" sz="1000" dirty="0">
                <a:latin typeface="+mj-lt"/>
              </a:rPr>
              <a:t>Redesigned AMPLS interface supports loading 13,000+ resources with pagination for smooth navigation</a:t>
            </a:r>
          </a:p>
          <a:p>
            <a:pPr marL="171450" indent="-171450">
              <a:buFont typeface="Arial" panose="020B0604020202020204" pitchFamily="34" charset="0"/>
              <a:buChar char="•"/>
            </a:pPr>
            <a:r>
              <a:rPr lang="en-US" dirty="0"/>
              <a:t>Private Endpoint Support</a:t>
            </a:r>
          </a:p>
          <a:p>
            <a:pPr marL="514350" lvl="1" indent="-171450">
              <a:buFont typeface="Arial" panose="020B0604020202020204" pitchFamily="34" charset="0"/>
              <a:buChar char="•"/>
            </a:pPr>
            <a:r>
              <a:rPr lang="en-US" sz="1000" dirty="0">
                <a:latin typeface="+mj-lt"/>
              </a:rPr>
              <a:t>Each AMPLS object can connect to 10 private endpoints, ensuring secure telemetry flows</a:t>
            </a:r>
          </a:p>
        </p:txBody>
      </p:sp>
      <p:pic>
        <p:nvPicPr>
          <p:cNvPr id="7" name="Picture 6">
            <a:extLst>
              <a:ext uri="{FF2B5EF4-FFF2-40B4-BE49-F238E27FC236}">
                <a16:creationId xmlns:a16="http://schemas.microsoft.com/office/drawing/2014/main" id="{F90C881C-19E7-D39F-A0F7-BC19FC82D474}"/>
              </a:ext>
            </a:extLst>
          </p:cNvPr>
          <p:cNvPicPr>
            <a:picLocks noChangeAspect="1"/>
          </p:cNvPicPr>
          <p:nvPr/>
        </p:nvPicPr>
        <p:blipFill>
          <a:blip r:embed="rId3"/>
          <a:stretch>
            <a:fillRect/>
          </a:stretch>
        </p:blipFill>
        <p:spPr>
          <a:xfrm>
            <a:off x="4454236" y="1377263"/>
            <a:ext cx="4572000" cy="2388973"/>
          </a:xfrm>
          <a:prstGeom prst="rect">
            <a:avLst/>
          </a:prstGeom>
        </p:spPr>
      </p:pic>
    </p:spTree>
    <p:extLst>
      <p:ext uri="{BB962C8B-B14F-4D97-AF65-F5344CB8AC3E}">
        <p14:creationId xmlns:p14="http://schemas.microsoft.com/office/powerpoint/2010/main" val="76689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B2A5C-E35F-E18E-05A4-B6AF8CF698D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21B0A37-B626-6209-EE63-BDBE1E100FF0}"/>
              </a:ext>
            </a:extLst>
          </p:cNvPr>
          <p:cNvSpPr>
            <a:spLocks noGrp="1"/>
          </p:cNvSpPr>
          <p:nvPr>
            <p:ph type="body" sz="quarter" idx="10"/>
          </p:nvPr>
        </p:nvSpPr>
        <p:spPr>
          <a:xfrm>
            <a:off x="4433776" y="855080"/>
            <a:ext cx="4365038" cy="1444775"/>
          </a:xfrm>
        </p:spPr>
        <p:txBody>
          <a:bodyPr/>
          <a:lstStyle/>
          <a:p>
            <a:pPr algn="just"/>
            <a:r>
              <a:rPr lang="en-US" sz="1000" dirty="0">
                <a:hlinkClick r:id="rId2"/>
              </a:rPr>
              <a:t>Public Preview: Azure Monitor for Azure Arc-enabled Kubernetes with OpenShift and Azure Red Hat OpenShift</a:t>
            </a:r>
            <a:endParaRPr lang="en-US" sz="1000" dirty="0"/>
          </a:p>
          <a:p>
            <a:pPr algn="just"/>
            <a:r>
              <a:rPr lang="en-US" sz="1000" dirty="0"/>
              <a:t>Azure Monitor now delivers full monitoring support for </a:t>
            </a:r>
            <a:r>
              <a:rPr lang="en-US" sz="1000" b="1" dirty="0"/>
              <a:t>Azure Arc-enabled Kubernetes with OpenShift</a:t>
            </a:r>
            <a:r>
              <a:rPr lang="en-US" sz="1000" dirty="0"/>
              <a:t> and </a:t>
            </a:r>
            <a:r>
              <a:rPr lang="en-US" sz="1000" b="1" dirty="0"/>
              <a:t>Azure Red Hat OpenShift</a:t>
            </a:r>
            <a:r>
              <a:rPr lang="en-US" sz="1000" dirty="0"/>
              <a:t>, using </a:t>
            </a:r>
            <a:r>
              <a:rPr lang="en-US" sz="1000" b="1" dirty="0"/>
              <a:t>Container Insights</a:t>
            </a:r>
            <a:r>
              <a:rPr lang="en-US" sz="1000" dirty="0"/>
              <a:t> and </a:t>
            </a:r>
            <a:r>
              <a:rPr lang="en-US" sz="1000" b="1" dirty="0"/>
              <a:t>Managed Prometheus</a:t>
            </a:r>
            <a:r>
              <a:rPr lang="en-US" sz="1000" dirty="0"/>
              <a:t>.</a:t>
            </a:r>
            <a:br>
              <a:rPr lang="en-US" sz="1000" dirty="0"/>
            </a:br>
            <a:r>
              <a:rPr lang="en-US" sz="1000" dirty="0"/>
              <a:t>This expansion provides end-to-end visibility into cluster health, performance, and workloads—bringing the same rich Kubernetes observability experience to OpenShift environments on Azure and on-premises.</a:t>
            </a:r>
          </a:p>
        </p:txBody>
      </p:sp>
      <p:sp>
        <p:nvSpPr>
          <p:cNvPr id="11" name="Title 10">
            <a:extLst>
              <a:ext uri="{FF2B5EF4-FFF2-40B4-BE49-F238E27FC236}">
                <a16:creationId xmlns:a16="http://schemas.microsoft.com/office/drawing/2014/main" id="{89DE73F3-4A2F-648B-BD17-44C88CDB5688}"/>
              </a:ext>
            </a:extLst>
          </p:cNvPr>
          <p:cNvSpPr>
            <a:spLocks noGrp="1"/>
          </p:cNvSpPr>
          <p:nvPr>
            <p:ph type="title"/>
          </p:nvPr>
        </p:nvSpPr>
        <p:spPr/>
        <p:txBody>
          <a:bodyPr/>
          <a:lstStyle/>
          <a:p>
            <a:r>
              <a:rPr lang="en-US" sz="1800" dirty="0"/>
              <a:t>Management &amp; Governance Updates (Azure Monitor) 6/9</a:t>
            </a:r>
            <a:endParaRPr lang="en-US" dirty="0"/>
          </a:p>
        </p:txBody>
      </p:sp>
      <p:sp>
        <p:nvSpPr>
          <p:cNvPr id="13" name="Text Placeholder 12">
            <a:extLst>
              <a:ext uri="{FF2B5EF4-FFF2-40B4-BE49-F238E27FC236}">
                <a16:creationId xmlns:a16="http://schemas.microsoft.com/office/drawing/2014/main" id="{1A20683A-1573-CC2D-401E-61BAED70A144}"/>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0F53AEA4-900E-6460-3EC8-2088E4E24AF9}"/>
              </a:ext>
            </a:extLst>
          </p:cNvPr>
          <p:cNvSpPr>
            <a:spLocks noGrp="1"/>
          </p:cNvSpPr>
          <p:nvPr>
            <p:ph type="body" sz="quarter" idx="16"/>
          </p:nvPr>
        </p:nvSpPr>
        <p:spPr>
          <a:xfrm>
            <a:off x="342900" y="855080"/>
            <a:ext cx="3955312" cy="3774069"/>
          </a:xfrm>
        </p:spPr>
        <p:txBody>
          <a:bodyPr/>
          <a:lstStyle/>
          <a:p>
            <a:pPr algn="just"/>
            <a:r>
              <a:rPr lang="en-US" dirty="0">
                <a:hlinkClick r:id="rId3"/>
              </a:rPr>
              <a:t>Public Preview: Dynamic threshold for Log search alerts</a:t>
            </a:r>
            <a:endParaRPr lang="en-US" dirty="0"/>
          </a:p>
          <a:p>
            <a:pPr algn="just"/>
            <a:r>
              <a:rPr lang="en-US" dirty="0"/>
              <a:t>Azure Monitor now brings </a:t>
            </a:r>
            <a:r>
              <a:rPr lang="en-US" b="1" dirty="0"/>
              <a:t>dynamic thresholds</a:t>
            </a:r>
            <a:r>
              <a:rPr lang="en-US" dirty="0"/>
              <a:t> to </a:t>
            </a:r>
            <a:r>
              <a:rPr lang="en-US" b="1" dirty="0"/>
              <a:t>Log Search Alerts</a:t>
            </a:r>
            <a:r>
              <a:rPr lang="en-US" dirty="0"/>
              <a:t>, eliminating the need for manual threshold tuning. Dynamic thresholds automatically determine the right alert conditions based on real data patterns.</a:t>
            </a:r>
          </a:p>
          <a:p>
            <a:pPr algn="just"/>
            <a:r>
              <a:rPr lang="en-US" b="1" dirty="0"/>
              <a:t>Key benefits:</a:t>
            </a:r>
            <a:endParaRPr lang="en-US" dirty="0"/>
          </a:p>
          <a:p>
            <a:pPr marL="171450" indent="-171450" algn="just">
              <a:buFont typeface="Arial" panose="020B0604020202020204" pitchFamily="34" charset="0"/>
              <a:buChar char="•"/>
            </a:pPr>
            <a:r>
              <a:rPr lang="en-US" b="1" dirty="0"/>
              <a:t>ML-powered detection:</a:t>
            </a:r>
            <a:r>
              <a:rPr lang="en-US" dirty="0"/>
              <a:t> Uses machine learning to learn historical behavior of log query results.</a:t>
            </a:r>
          </a:p>
          <a:p>
            <a:pPr marL="171450" indent="-171450" algn="just">
              <a:buFont typeface="Arial" panose="020B0604020202020204" pitchFamily="34" charset="0"/>
              <a:buChar char="•"/>
            </a:pPr>
            <a:r>
              <a:rPr lang="en-US" b="1" dirty="0"/>
              <a:t>Seasonality awareness:</a:t>
            </a:r>
            <a:r>
              <a:rPr lang="en-US" dirty="0"/>
              <a:t> Identifies hourly, daily, and weekly patterns.</a:t>
            </a:r>
          </a:p>
          <a:p>
            <a:pPr marL="171450" indent="-171450" algn="just">
              <a:buFont typeface="Arial" panose="020B0604020202020204" pitchFamily="34" charset="0"/>
              <a:buChar char="•"/>
            </a:pPr>
            <a:r>
              <a:rPr lang="en-US" b="1" dirty="0"/>
              <a:t>Automatic thresholding:</a:t>
            </a:r>
            <a:r>
              <a:rPr lang="en-US" dirty="0"/>
              <a:t> Calculates optimal alert thresholds without manual configuration.</a:t>
            </a:r>
          </a:p>
          <a:p>
            <a:pPr marL="171450" indent="-171450" algn="just">
              <a:buFont typeface="Arial" panose="020B0604020202020204" pitchFamily="34" charset="0"/>
              <a:buChar char="•"/>
            </a:pPr>
            <a:r>
              <a:rPr lang="en-US" b="1" dirty="0"/>
              <a:t>Adaptive updates:</a:t>
            </a:r>
            <a:r>
              <a:rPr lang="en-US" dirty="0"/>
              <a:t> Continuously adjusts as data trends change over time.</a:t>
            </a:r>
          </a:p>
          <a:p>
            <a:pPr marL="171450" indent="-171450" algn="just">
              <a:buFont typeface="Arial" panose="020B0604020202020204" pitchFamily="34" charset="0"/>
              <a:buChar char="•"/>
            </a:pPr>
            <a:r>
              <a:rPr lang="en-US" b="1" dirty="0"/>
              <a:t>At-scale monitoring:</a:t>
            </a:r>
            <a:r>
              <a:rPr lang="en-US" dirty="0"/>
              <a:t> Computes thresholds independently for each dimension in multi-dimensional alerts.</a:t>
            </a:r>
          </a:p>
          <a:p>
            <a:pPr algn="just"/>
            <a:r>
              <a:rPr lang="en-US" dirty="0"/>
              <a:t>This enhancement delivers smarter, more accurate, and scalable log-based alerting across complex environments.</a:t>
            </a:r>
          </a:p>
        </p:txBody>
      </p:sp>
    </p:spTree>
    <p:extLst>
      <p:ext uri="{BB962C8B-B14F-4D97-AF65-F5344CB8AC3E}">
        <p14:creationId xmlns:p14="http://schemas.microsoft.com/office/powerpoint/2010/main" val="2370736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13DB0B2-DB07-A4CE-1F4B-D5539409037C}"/>
              </a:ext>
            </a:extLst>
          </p:cNvPr>
          <p:cNvSpPr>
            <a:spLocks noGrp="1"/>
          </p:cNvSpPr>
          <p:nvPr>
            <p:ph type="title"/>
          </p:nvPr>
        </p:nvSpPr>
        <p:spPr/>
        <p:txBody>
          <a:bodyPr/>
          <a:lstStyle/>
          <a:p>
            <a:r>
              <a:rPr lang="en-US" sz="1600" dirty="0"/>
              <a:t>Management &amp; Governance Updates (Azure Monitor) 7/9</a:t>
            </a:r>
            <a:endParaRPr lang="en-US" dirty="0"/>
          </a:p>
        </p:txBody>
      </p:sp>
      <p:sp>
        <p:nvSpPr>
          <p:cNvPr id="4" name="Text Placeholder 3">
            <a:extLst>
              <a:ext uri="{FF2B5EF4-FFF2-40B4-BE49-F238E27FC236}">
                <a16:creationId xmlns:a16="http://schemas.microsoft.com/office/drawing/2014/main" id="{822CB8AF-B896-607B-5943-4042AF25FFE4}"/>
              </a:ext>
            </a:extLst>
          </p:cNvPr>
          <p:cNvSpPr>
            <a:spLocks noGrp="1"/>
          </p:cNvSpPr>
          <p:nvPr>
            <p:ph type="body" sz="quarter" idx="15"/>
          </p:nvPr>
        </p:nvSpPr>
        <p:spPr/>
        <p:txBody>
          <a:bodyPr/>
          <a:lstStyle/>
          <a:p>
            <a:endParaRPr lang="en-US"/>
          </a:p>
        </p:txBody>
      </p:sp>
      <p:sp>
        <p:nvSpPr>
          <p:cNvPr id="6" name="Text Placeholder 1">
            <a:extLst>
              <a:ext uri="{FF2B5EF4-FFF2-40B4-BE49-F238E27FC236}">
                <a16:creationId xmlns:a16="http://schemas.microsoft.com/office/drawing/2014/main" id="{A6E52370-3692-C651-E133-942C1D0B5731}"/>
              </a:ext>
            </a:extLst>
          </p:cNvPr>
          <p:cNvSpPr txBox="1">
            <a:spLocks/>
          </p:cNvSpPr>
          <p:nvPr/>
        </p:nvSpPr>
        <p:spPr>
          <a:xfrm>
            <a:off x="342900" y="855080"/>
            <a:ext cx="3896591"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2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sz="1000" dirty="0">
                <a:hlinkClick r:id="rId2"/>
              </a:rPr>
              <a:t>Public Preview: Azure Monitor Integration with Fabric Real Time Intelligence </a:t>
            </a:r>
            <a:r>
              <a:rPr lang="en-US" sz="1000" dirty="0" err="1">
                <a:hlinkClick r:id="rId2"/>
              </a:rPr>
              <a:t>Eventhouse</a:t>
            </a:r>
            <a:endParaRPr lang="en-US" sz="1000" dirty="0"/>
          </a:p>
          <a:p>
            <a:pPr algn="just"/>
            <a:r>
              <a:rPr lang="en-US" sz="1000" dirty="0"/>
              <a:t>Microsoft has announced a new public preview that integrates </a:t>
            </a:r>
            <a:r>
              <a:rPr lang="en-US" sz="1000" b="1" dirty="0"/>
              <a:t>Azure Monitor</a:t>
            </a:r>
            <a:r>
              <a:rPr lang="en-US" sz="1000" dirty="0"/>
              <a:t> with </a:t>
            </a:r>
            <a:r>
              <a:rPr lang="en-US" sz="1000" b="1" dirty="0"/>
              <a:t>Fabric Real-Time Intelligence </a:t>
            </a:r>
            <a:r>
              <a:rPr lang="en-US" sz="1000" b="1" dirty="0" err="1"/>
              <a:t>Eventhouse</a:t>
            </a:r>
            <a:r>
              <a:rPr lang="en-US" sz="1000" dirty="0"/>
              <a:t>, enabling customers to use observability telemetry for advanced business analytics and operational insights. As demand grows to reuse telemetry data beyond traditional monitoring—such as capacity planning, cost optimization, and service efficiency analysis—this integration makes it easier to correlate Azure Monitor signals with business datasets.</a:t>
            </a:r>
          </a:p>
          <a:p>
            <a:pPr algn="just"/>
            <a:r>
              <a:rPr lang="en-US" sz="1000" dirty="0"/>
              <a:t>With this capability, organizations can:</a:t>
            </a:r>
          </a:p>
          <a:p>
            <a:pPr marL="171450" indent="-171450" algn="just">
              <a:buFont typeface="Arial" panose="020B0604020202020204" pitchFamily="34" charset="0"/>
              <a:buChar char="•"/>
            </a:pPr>
            <a:r>
              <a:rPr lang="en-US" sz="1000" dirty="0"/>
              <a:t>Send Windows and Linux VM telemetry from Azure Monitor to Fabric </a:t>
            </a:r>
            <a:r>
              <a:rPr lang="en-US" sz="1000" dirty="0" err="1"/>
              <a:t>Eventhouse</a:t>
            </a:r>
            <a:r>
              <a:rPr lang="en-US" sz="1000" dirty="0"/>
              <a:t> using </a:t>
            </a:r>
            <a:r>
              <a:rPr lang="en-US" sz="1000" b="1" dirty="0"/>
              <a:t>Data Collection Rules (DCRs)</a:t>
            </a:r>
            <a:endParaRPr lang="en-US" sz="1000" dirty="0"/>
          </a:p>
          <a:p>
            <a:pPr marL="171450" indent="-171450" algn="just">
              <a:buFont typeface="Arial" panose="020B0604020202020204" pitchFamily="34" charset="0"/>
              <a:buChar char="•"/>
            </a:pPr>
            <a:r>
              <a:rPr lang="en-US" sz="1000" dirty="0"/>
              <a:t>Perform real-time analytics, visualization, and trend detection across operational and business data</a:t>
            </a:r>
          </a:p>
          <a:p>
            <a:pPr marL="171450" indent="-171450" algn="just">
              <a:buFont typeface="Arial" panose="020B0604020202020204" pitchFamily="34" charset="0"/>
              <a:buChar char="•"/>
            </a:pPr>
            <a:r>
              <a:rPr lang="en-US" sz="1000" dirty="0"/>
              <a:t>Build richer insights such as mapping utilization telemetry to inventory data or correlating support ticket times with service performance</a:t>
            </a:r>
          </a:p>
          <a:p>
            <a:pPr algn="just"/>
            <a:r>
              <a:rPr lang="en-US" sz="1000" dirty="0"/>
              <a:t>This integration helps teams enhance data-driven decision-making, improve operational efficiency, and uncover business insights using unified telemetry and analytics pipelines.</a:t>
            </a:r>
          </a:p>
          <a:p>
            <a:pPr algn="just"/>
            <a:endParaRPr lang="en-US" sz="1000" dirty="0"/>
          </a:p>
        </p:txBody>
      </p:sp>
      <p:sp>
        <p:nvSpPr>
          <p:cNvPr id="7" name="Text Placeholder 1">
            <a:extLst>
              <a:ext uri="{FF2B5EF4-FFF2-40B4-BE49-F238E27FC236}">
                <a16:creationId xmlns:a16="http://schemas.microsoft.com/office/drawing/2014/main" id="{9475667B-104E-2996-9319-FB2448FD3CB6}"/>
              </a:ext>
            </a:extLst>
          </p:cNvPr>
          <p:cNvSpPr>
            <a:spLocks noGrp="1"/>
          </p:cNvSpPr>
          <p:nvPr>
            <p:ph type="body" sz="quarter" idx="10"/>
          </p:nvPr>
        </p:nvSpPr>
        <p:spPr>
          <a:xfrm>
            <a:off x="4433776" y="878887"/>
            <a:ext cx="4365038" cy="3774069"/>
          </a:xfrm>
        </p:spPr>
        <p:txBody>
          <a:bodyPr/>
          <a:lstStyle/>
          <a:p>
            <a:pPr algn="just"/>
            <a:r>
              <a:rPr lang="en-US" sz="1000" dirty="0">
                <a:hlinkClick r:id="rId3"/>
              </a:rPr>
              <a:t>Generally Available: Azure Monitor unified onboarding experience for AKS and VMs</a:t>
            </a:r>
            <a:endParaRPr lang="en-US" sz="1000" dirty="0"/>
          </a:p>
          <a:p>
            <a:pPr algn="just"/>
            <a:r>
              <a:rPr lang="en-US" sz="1000" dirty="0"/>
              <a:t>Azure Monitor now offers a </a:t>
            </a:r>
            <a:r>
              <a:rPr lang="en-US" sz="1000" b="1" dirty="0"/>
              <a:t>unified, one-click onboarding experience</a:t>
            </a:r>
            <a:r>
              <a:rPr lang="en-US" sz="1000" dirty="0"/>
              <a:t> for both </a:t>
            </a:r>
            <a:r>
              <a:rPr lang="en-US" sz="1000" b="1" dirty="0"/>
              <a:t>AKS clusters</a:t>
            </a:r>
            <a:r>
              <a:rPr lang="en-US" sz="1000" dirty="0"/>
              <a:t> and </a:t>
            </a:r>
            <a:r>
              <a:rPr lang="en-US" sz="1000" b="1" dirty="0"/>
              <a:t>virtual machines (VMs)</a:t>
            </a:r>
            <a:r>
              <a:rPr lang="en-US" sz="1000" dirty="0"/>
              <a:t>, automatically deploying the latest monitoring components with optimized defaults.</a:t>
            </a:r>
          </a:p>
          <a:p>
            <a:pPr algn="just"/>
            <a:r>
              <a:rPr lang="en-US" sz="1000" b="1" dirty="0"/>
              <a:t>For AKS:</a:t>
            </a:r>
            <a:endParaRPr lang="en-US" sz="1000" dirty="0"/>
          </a:p>
          <a:p>
            <a:pPr marL="171450" indent="-171450" algn="just">
              <a:buFont typeface="Arial" panose="020B0604020202020204" pitchFamily="34" charset="0"/>
              <a:buChar char="•"/>
            </a:pPr>
            <a:r>
              <a:rPr lang="en-US" sz="1000" dirty="0"/>
              <a:t>Integrated onboarding for </a:t>
            </a:r>
            <a:r>
              <a:rPr lang="en-US" sz="1000" b="1" dirty="0"/>
              <a:t>managed Prometheus metrics</a:t>
            </a:r>
            <a:r>
              <a:rPr lang="en-US" sz="1000" dirty="0"/>
              <a:t>, </a:t>
            </a:r>
            <a:r>
              <a:rPr lang="en-US" sz="1000" b="1" dirty="0"/>
              <a:t>container logs</a:t>
            </a:r>
            <a:r>
              <a:rPr lang="en-US" sz="1000" dirty="0"/>
              <a:t>, and </a:t>
            </a:r>
            <a:r>
              <a:rPr lang="en-US" sz="1000" b="1" dirty="0"/>
              <a:t>Kubernetes events</a:t>
            </a:r>
            <a:endParaRPr lang="en-US" sz="1000" dirty="0"/>
          </a:p>
          <a:p>
            <a:pPr marL="171450" indent="-171450" algn="just">
              <a:buFont typeface="Arial" panose="020B0604020202020204" pitchFamily="34" charset="0"/>
              <a:buChar char="•"/>
            </a:pPr>
            <a:r>
              <a:rPr lang="en-US" sz="1000" dirty="0"/>
              <a:t>Newly GA </a:t>
            </a:r>
            <a:r>
              <a:rPr lang="en-US" sz="1000" b="1" dirty="0"/>
              <a:t>Grafana dashboards</a:t>
            </a:r>
            <a:endParaRPr lang="en-US" sz="1000" dirty="0"/>
          </a:p>
          <a:p>
            <a:pPr marL="171450" indent="-171450" algn="just">
              <a:buFont typeface="Arial" panose="020B0604020202020204" pitchFamily="34" charset="0"/>
              <a:buChar char="•"/>
            </a:pPr>
            <a:r>
              <a:rPr lang="en-US" sz="1000" dirty="0"/>
              <a:t>A new </a:t>
            </a:r>
            <a:r>
              <a:rPr lang="en-US" sz="1000" b="1" dirty="0"/>
              <a:t>application monitoring add-on</a:t>
            </a:r>
            <a:endParaRPr lang="en-US" sz="1000" dirty="0"/>
          </a:p>
          <a:p>
            <a:pPr marL="171450" indent="-171450" algn="just">
              <a:buFont typeface="Arial" panose="020B0604020202020204" pitchFamily="34" charset="0"/>
              <a:buChar char="•"/>
            </a:pPr>
            <a:r>
              <a:rPr lang="en-US" sz="1000" dirty="0"/>
              <a:t>Preconfigured </a:t>
            </a:r>
            <a:r>
              <a:rPr lang="en-US" sz="1000" b="1" dirty="0"/>
              <a:t>AKS-recommended alerts</a:t>
            </a:r>
            <a:r>
              <a:rPr lang="en-US" sz="1000" dirty="0"/>
              <a:t> for faster issue detection and troubleshooting</a:t>
            </a:r>
          </a:p>
          <a:p>
            <a:pPr algn="just"/>
            <a:r>
              <a:rPr lang="en-US" sz="1000" b="1" dirty="0"/>
              <a:t>For VMs:</a:t>
            </a:r>
            <a:endParaRPr lang="en-US" sz="1000" dirty="0"/>
          </a:p>
          <a:p>
            <a:pPr marL="171450" indent="-171450" algn="just">
              <a:buFont typeface="Arial" panose="020B0604020202020204" pitchFamily="34" charset="0"/>
              <a:buChar char="•"/>
            </a:pPr>
            <a:r>
              <a:rPr lang="en-US" sz="1000" dirty="0"/>
              <a:t>New </a:t>
            </a:r>
            <a:r>
              <a:rPr lang="en-US" sz="1000" b="1" dirty="0" err="1"/>
              <a:t>OpenTelemetry</a:t>
            </a:r>
            <a:r>
              <a:rPr lang="en-US" sz="1000" b="1" dirty="0"/>
              <a:t>-based system metrics</a:t>
            </a:r>
            <a:r>
              <a:rPr lang="en-US" sz="1000" dirty="0"/>
              <a:t> (public preview and free)</a:t>
            </a:r>
          </a:p>
          <a:p>
            <a:pPr marL="171450" indent="-171450" algn="just">
              <a:buFont typeface="Arial" panose="020B0604020202020204" pitchFamily="34" charset="0"/>
              <a:buChar char="•"/>
            </a:pPr>
            <a:r>
              <a:rPr lang="en-US" sz="1000" dirty="0"/>
              <a:t>Support for </a:t>
            </a:r>
            <a:r>
              <a:rPr lang="en-US" sz="1000" b="1" dirty="0"/>
              <a:t>Log Analytics performance counters</a:t>
            </a:r>
            <a:endParaRPr lang="en-US" sz="1000" dirty="0"/>
          </a:p>
          <a:p>
            <a:pPr marL="171450" indent="-171450" algn="just">
              <a:buFont typeface="Arial" panose="020B0604020202020204" pitchFamily="34" charset="0"/>
              <a:buChar char="•"/>
            </a:pPr>
            <a:r>
              <a:rPr lang="en-US" sz="1000" dirty="0"/>
              <a:t>Recommended </a:t>
            </a:r>
            <a:r>
              <a:rPr lang="en-US" sz="1000" b="1" dirty="0"/>
              <a:t>VM alerts</a:t>
            </a:r>
            <a:r>
              <a:rPr lang="en-US" sz="1000" dirty="0"/>
              <a:t> for comprehensive health monitoring</a:t>
            </a:r>
          </a:p>
          <a:p>
            <a:pPr algn="just"/>
            <a:r>
              <a:rPr lang="en-US" sz="1000" dirty="0"/>
              <a:t>This unified experience delivers a consistent, streamlined approach to monitoring, enabling organizations to set up Azure Monitor across compute environments in minutes.</a:t>
            </a:r>
          </a:p>
        </p:txBody>
      </p:sp>
    </p:spTree>
    <p:extLst>
      <p:ext uri="{BB962C8B-B14F-4D97-AF65-F5344CB8AC3E}">
        <p14:creationId xmlns:p14="http://schemas.microsoft.com/office/powerpoint/2010/main" val="1995531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charRg st="81" end="28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charRg st="281" end="29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charRg st="290" end="38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xEl>
                                              <p:charRg st="382" end="4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xEl>
                                              <p:charRg st="410" end="44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
                                            <p:txEl>
                                              <p:charRg st="446" end="53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
                                            <p:txEl>
                                              <p:charRg st="530" end="539"/>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
                                            <p:txEl>
                                              <p:charRg st="539" end="604"/>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
                                            <p:txEl>
                                              <p:charRg st="604" end="651"/>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
                                            <p:txEl>
                                              <p:charRg st="651" end="709"/>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
                                            <p:txEl>
                                              <p:charRg st="709" end="87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2CF9666-EE7B-7D9B-9EC1-4ECF596DD5AF}"/>
              </a:ext>
            </a:extLst>
          </p:cNvPr>
          <p:cNvSpPr>
            <a:spLocks noGrp="1"/>
          </p:cNvSpPr>
          <p:nvPr>
            <p:ph type="title"/>
          </p:nvPr>
        </p:nvSpPr>
        <p:spPr/>
        <p:txBody>
          <a:bodyPr/>
          <a:lstStyle/>
          <a:p>
            <a:r>
              <a:rPr lang="en-US" sz="1600" dirty="0"/>
              <a:t>Management &amp; Governance Updates (Azure Monitor) 8/9</a:t>
            </a:r>
            <a:endParaRPr lang="en-US" dirty="0"/>
          </a:p>
        </p:txBody>
      </p:sp>
      <p:sp>
        <p:nvSpPr>
          <p:cNvPr id="4" name="Text Placeholder 3">
            <a:extLst>
              <a:ext uri="{FF2B5EF4-FFF2-40B4-BE49-F238E27FC236}">
                <a16:creationId xmlns:a16="http://schemas.microsoft.com/office/drawing/2014/main" id="{C5221A51-14C4-3BE3-542B-D23C550E50A6}"/>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AFC222D9-0D7B-F29A-63DF-3962A70DED31}"/>
              </a:ext>
            </a:extLst>
          </p:cNvPr>
          <p:cNvSpPr>
            <a:spLocks noGrp="1"/>
          </p:cNvSpPr>
          <p:nvPr>
            <p:ph type="body" sz="quarter" idx="16"/>
          </p:nvPr>
        </p:nvSpPr>
        <p:spPr/>
        <p:txBody>
          <a:bodyPr/>
          <a:lstStyle/>
          <a:p>
            <a:pPr algn="just"/>
            <a:r>
              <a:rPr lang="en-US" dirty="0">
                <a:hlinkClick r:id="rId2"/>
              </a:rPr>
              <a:t>Announcing General Availability: Azure Monitor dashboards with Grafana</a:t>
            </a:r>
            <a:endParaRPr lang="en-US" dirty="0"/>
          </a:p>
          <a:p>
            <a:pPr algn="just"/>
            <a:r>
              <a:rPr lang="en-US" dirty="0"/>
              <a:t>Microsoft has announced the </a:t>
            </a:r>
            <a:r>
              <a:rPr lang="en-US" b="1" dirty="0"/>
              <a:t>general availability of Azure Monitor dashboards with Grafana</a:t>
            </a:r>
            <a:r>
              <a:rPr lang="en-US" dirty="0"/>
              <a:t>, delivering a seamless, cloud-native monitoring experience fully integrated into the Azure portal. This capability enables users to create and edit </a:t>
            </a:r>
            <a:r>
              <a:rPr lang="en-US" b="1" dirty="0"/>
              <a:t>Grafana dashboards at no additional cost</a:t>
            </a:r>
            <a:r>
              <a:rPr lang="en-US" dirty="0"/>
              <a:t>, without the overhead of self-hosting or operating a managed Grafana service.</a:t>
            </a:r>
          </a:p>
          <a:p>
            <a:pPr algn="just"/>
            <a:r>
              <a:rPr lang="en-US" dirty="0"/>
              <a:t>Azure Monitor dashboards with Grafana support rich visualizations, client-side data transformations, and direct integration with Azure Monitor metrics, logs, traces, Azure Resource Graph, Prometheus, and Azure Data Explorer. Dozens of pre-built dashboards—for AKS, Application Insights, Cosmos DB, Azure PostgreSQL, </a:t>
            </a:r>
            <a:r>
              <a:rPr lang="en-US" dirty="0" err="1"/>
              <a:t>OpenTelemetry</a:t>
            </a:r>
            <a:r>
              <a:rPr lang="en-US" dirty="0"/>
              <a:t>, and more—are included by default, with the option to import thousands of community dashboards from open-source Grafana.</a:t>
            </a:r>
          </a:p>
          <a:p>
            <a:pPr algn="just"/>
            <a:endParaRPr lang="en-US" dirty="0"/>
          </a:p>
        </p:txBody>
      </p:sp>
      <p:pic>
        <p:nvPicPr>
          <p:cNvPr id="7" name="Picture 6">
            <a:extLst>
              <a:ext uri="{FF2B5EF4-FFF2-40B4-BE49-F238E27FC236}">
                <a16:creationId xmlns:a16="http://schemas.microsoft.com/office/drawing/2014/main" id="{71D3CE0B-EDF1-A86B-B8A2-7247793E0D16}"/>
              </a:ext>
            </a:extLst>
          </p:cNvPr>
          <p:cNvPicPr>
            <a:picLocks noChangeAspect="1"/>
          </p:cNvPicPr>
          <p:nvPr/>
        </p:nvPicPr>
        <p:blipFill>
          <a:blip r:embed="rId3"/>
          <a:stretch>
            <a:fillRect/>
          </a:stretch>
        </p:blipFill>
        <p:spPr>
          <a:xfrm>
            <a:off x="4364182" y="855080"/>
            <a:ext cx="4571999" cy="2246434"/>
          </a:xfrm>
          <a:prstGeom prst="rect">
            <a:avLst/>
          </a:prstGeom>
        </p:spPr>
      </p:pic>
    </p:spTree>
    <p:extLst>
      <p:ext uri="{BB962C8B-B14F-4D97-AF65-F5344CB8AC3E}">
        <p14:creationId xmlns:p14="http://schemas.microsoft.com/office/powerpoint/2010/main" val="4168296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C5D318-4DF3-3A37-C088-F1808E2BAA8F}"/>
              </a:ext>
            </a:extLst>
          </p:cNvPr>
          <p:cNvSpPr>
            <a:spLocks noGrp="1"/>
          </p:cNvSpPr>
          <p:nvPr>
            <p:ph type="title"/>
          </p:nvPr>
        </p:nvSpPr>
        <p:spPr/>
        <p:txBody>
          <a:bodyPr/>
          <a:lstStyle/>
          <a:p>
            <a:r>
              <a:rPr lang="en-US" sz="1600" dirty="0"/>
              <a:t>Management &amp; Governance Updates (Azure Monitor) 9/9</a:t>
            </a:r>
            <a:endParaRPr lang="en-US" dirty="0"/>
          </a:p>
        </p:txBody>
      </p:sp>
      <p:sp>
        <p:nvSpPr>
          <p:cNvPr id="4" name="Text Placeholder 3">
            <a:extLst>
              <a:ext uri="{FF2B5EF4-FFF2-40B4-BE49-F238E27FC236}">
                <a16:creationId xmlns:a16="http://schemas.microsoft.com/office/drawing/2014/main" id="{C8382A5A-5C8A-91F1-DEF9-187FD9A5ED07}"/>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70697E4E-F425-3E09-4ED0-BABBEE1D04E6}"/>
              </a:ext>
            </a:extLst>
          </p:cNvPr>
          <p:cNvSpPr>
            <a:spLocks noGrp="1"/>
          </p:cNvSpPr>
          <p:nvPr>
            <p:ph type="body" sz="quarter" idx="16"/>
          </p:nvPr>
        </p:nvSpPr>
        <p:spPr/>
        <p:txBody>
          <a:bodyPr/>
          <a:lstStyle/>
          <a:p>
            <a:pPr algn="just"/>
            <a:r>
              <a:rPr lang="en-US" dirty="0">
                <a:hlinkClick r:id="rId2"/>
              </a:rPr>
              <a:t>General Availability: Granular RBAC in Azure Monitor Logs</a:t>
            </a:r>
            <a:endParaRPr lang="en-US" dirty="0"/>
          </a:p>
          <a:p>
            <a:pPr algn="just"/>
            <a:r>
              <a:rPr lang="en-US" dirty="0"/>
              <a:t>Microsoft has announced the </a:t>
            </a:r>
            <a:r>
              <a:rPr lang="en-US" b="1" dirty="0"/>
              <a:t>general availability of Granular Role-Based Access Control (RBAC)</a:t>
            </a:r>
            <a:r>
              <a:rPr lang="en-US" dirty="0"/>
              <a:t> in </a:t>
            </a:r>
            <a:r>
              <a:rPr lang="en-US" b="1" dirty="0"/>
              <a:t>Azure Monitor Logs</a:t>
            </a:r>
            <a:r>
              <a:rPr lang="en-US" dirty="0"/>
              <a:t>, enabling fine-grained, row-level access control for log data. First introduced in preview in May 2025, the feature is now fully supported for production use.</a:t>
            </a:r>
          </a:p>
          <a:p>
            <a:pPr algn="just"/>
            <a:r>
              <a:rPr lang="en-US" dirty="0"/>
              <a:t>Granular RBAC extends existing workspace and table-level controls, allowing organizations to:</a:t>
            </a:r>
          </a:p>
          <a:p>
            <a:pPr marL="171450" indent="-171450" algn="just">
              <a:buFont typeface="Arial" panose="020B0604020202020204" pitchFamily="34" charset="0"/>
              <a:buChar char="•"/>
            </a:pPr>
            <a:r>
              <a:rPr lang="en-US" dirty="0"/>
              <a:t>Enforce </a:t>
            </a:r>
            <a:r>
              <a:rPr lang="en-US" b="1" dirty="0"/>
              <a:t>least-privilege access</a:t>
            </a:r>
            <a:r>
              <a:rPr lang="en-US" dirty="0"/>
              <a:t> at workspace, table, or </a:t>
            </a:r>
            <a:r>
              <a:rPr lang="en-US" b="1" dirty="0"/>
              <a:t>row level</a:t>
            </a:r>
            <a:endParaRPr lang="en-US" dirty="0"/>
          </a:p>
          <a:p>
            <a:pPr marL="171450" indent="-171450" algn="just">
              <a:buFont typeface="Arial" panose="020B0604020202020204" pitchFamily="34" charset="0"/>
              <a:buChar char="•"/>
            </a:pPr>
            <a:r>
              <a:rPr lang="en-US" dirty="0"/>
              <a:t>Keep all data in a </a:t>
            </a:r>
            <a:r>
              <a:rPr lang="en-US" b="1" dirty="0"/>
              <a:t>single Log Analytics workspace</a:t>
            </a:r>
            <a:r>
              <a:rPr lang="en-US" dirty="0"/>
              <a:t> while restricting what each user can view</a:t>
            </a:r>
          </a:p>
          <a:p>
            <a:pPr marL="171450" indent="-171450" algn="just">
              <a:buFont typeface="Arial" panose="020B0604020202020204" pitchFamily="34" charset="0"/>
              <a:buChar char="•"/>
            </a:pPr>
            <a:r>
              <a:rPr lang="en-US" dirty="0"/>
              <a:t>Use </a:t>
            </a:r>
            <a:r>
              <a:rPr lang="en-US" b="1" dirty="0"/>
              <a:t>Azure Attribute-Based Access Control (ABAC)</a:t>
            </a:r>
            <a:r>
              <a:rPr lang="en-US" dirty="0"/>
              <a:t> to separate data-plane and control-plane permissions</a:t>
            </a:r>
          </a:p>
          <a:p>
            <a:pPr marL="171450" indent="-171450" algn="just">
              <a:buFont typeface="Arial" panose="020B0604020202020204" pitchFamily="34" charset="0"/>
              <a:buChar char="•"/>
            </a:pPr>
            <a:r>
              <a:rPr lang="en-US" dirty="0"/>
              <a:t>Filter data access based on attributes such as role, region, department, or data sensitivity</a:t>
            </a:r>
          </a:p>
          <a:p>
            <a:pPr algn="just"/>
            <a:endParaRPr lang="en-US" dirty="0"/>
          </a:p>
        </p:txBody>
      </p:sp>
      <p:sp>
        <p:nvSpPr>
          <p:cNvPr id="6" name="Text Placeholder 4">
            <a:extLst>
              <a:ext uri="{FF2B5EF4-FFF2-40B4-BE49-F238E27FC236}">
                <a16:creationId xmlns:a16="http://schemas.microsoft.com/office/drawing/2014/main" id="{F111DF9F-EFDA-82F7-78CC-F25998C983B3}"/>
              </a:ext>
            </a:extLst>
          </p:cNvPr>
          <p:cNvSpPr txBox="1">
            <a:spLocks/>
          </p:cNvSpPr>
          <p:nvPr/>
        </p:nvSpPr>
        <p:spPr>
          <a:xfrm>
            <a:off x="4679372" y="855080"/>
            <a:ext cx="3955312"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dirty="0">
                <a:hlinkClick r:id="rId3"/>
              </a:rPr>
              <a:t>Generally Available: Advanced sampling and richer data collection in Azure Monitor </a:t>
            </a:r>
            <a:r>
              <a:rPr lang="en-US" dirty="0" err="1">
                <a:hlinkClick r:id="rId3"/>
              </a:rPr>
              <a:t>OpenTelemetry</a:t>
            </a:r>
            <a:r>
              <a:rPr lang="en-US" dirty="0">
                <a:hlinkClick r:id="rId3"/>
              </a:rPr>
              <a:t> Distro</a:t>
            </a:r>
            <a:endParaRPr lang="en-US" dirty="0"/>
          </a:p>
          <a:p>
            <a:pPr algn="just"/>
            <a:r>
              <a:rPr lang="en-US" dirty="0"/>
              <a:t>Azure continues to advance its support for open standards with new capabilities added to the </a:t>
            </a:r>
            <a:r>
              <a:rPr lang="en-US" b="1" dirty="0"/>
              <a:t>Azure Monitor </a:t>
            </a:r>
            <a:r>
              <a:rPr lang="en-US" b="1" dirty="0" err="1"/>
              <a:t>OpenTelemetry</a:t>
            </a:r>
            <a:r>
              <a:rPr lang="en-US" b="1" dirty="0"/>
              <a:t> Distro</a:t>
            </a:r>
            <a:r>
              <a:rPr lang="en-US" dirty="0"/>
              <a:t>, which powers Azure Monitor Application Insights.</a:t>
            </a:r>
          </a:p>
          <a:p>
            <a:pPr algn="just"/>
            <a:r>
              <a:rPr lang="en-US" b="1" dirty="0"/>
              <a:t>New capabilities include:</a:t>
            </a:r>
            <a:endParaRPr lang="en-US" dirty="0"/>
          </a:p>
          <a:p>
            <a:pPr marL="171450" indent="-171450" algn="just">
              <a:buFont typeface="Arial" panose="020B0604020202020204" pitchFamily="34" charset="0"/>
              <a:buChar char="•"/>
            </a:pPr>
            <a:r>
              <a:rPr lang="en-US" b="1" dirty="0"/>
              <a:t>Rate-limited sampling and trace-based log sampling</a:t>
            </a:r>
          </a:p>
          <a:p>
            <a:pPr marL="171450" indent="-171450" algn="just">
              <a:buFont typeface="Arial" panose="020B0604020202020204" pitchFamily="34" charset="0"/>
              <a:buChar char="•"/>
            </a:pPr>
            <a:r>
              <a:rPr lang="en-US" b="1" dirty="0"/>
              <a:t>Performance counters</a:t>
            </a:r>
          </a:p>
          <a:p>
            <a:pPr marL="171450" indent="-171450" algn="just">
              <a:buFont typeface="Arial" panose="020B0604020202020204" pitchFamily="34" charset="0"/>
              <a:buChar char="•"/>
            </a:pPr>
            <a:r>
              <a:rPr lang="en-US" b="1" dirty="0"/>
              <a:t>New telemetry attributes</a:t>
            </a:r>
            <a:endParaRPr lang="en-US" dirty="0"/>
          </a:p>
          <a:p>
            <a:pPr algn="just"/>
            <a:endParaRPr lang="en-US" dirty="0"/>
          </a:p>
        </p:txBody>
      </p:sp>
    </p:spTree>
    <p:extLst>
      <p:ext uri="{BB962C8B-B14F-4D97-AF65-F5344CB8AC3E}">
        <p14:creationId xmlns:p14="http://schemas.microsoft.com/office/powerpoint/2010/main" val="906664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90D2E24-0318-2AD9-943B-2CC8D3748839}"/>
              </a:ext>
            </a:extLst>
          </p:cNvPr>
          <p:cNvSpPr>
            <a:spLocks noGrp="1"/>
          </p:cNvSpPr>
          <p:nvPr>
            <p:ph type="body" sz="quarter" idx="10"/>
          </p:nvPr>
        </p:nvSpPr>
        <p:spPr>
          <a:xfrm>
            <a:off x="4433776" y="855080"/>
            <a:ext cx="4365038" cy="2359175"/>
          </a:xfrm>
        </p:spPr>
        <p:txBody>
          <a:bodyPr/>
          <a:lstStyle/>
          <a:p>
            <a:pPr algn="just"/>
            <a:r>
              <a:rPr lang="en-US" sz="1000" dirty="0">
                <a:hlinkClick r:id="rId2"/>
              </a:rPr>
              <a:t>Public Preview Refresh Announcement - Site Manager</a:t>
            </a:r>
            <a:endParaRPr lang="en-US" sz="1000" dirty="0"/>
          </a:p>
          <a:p>
            <a:pPr algn="just"/>
            <a:r>
              <a:rPr lang="en-US" sz="1000" dirty="0"/>
              <a:t>Microsoft has announced the </a:t>
            </a:r>
            <a:r>
              <a:rPr lang="en-US" sz="1000" b="1" dirty="0"/>
              <a:t>Public Preview Refresh of Azure Arc Site Manager</a:t>
            </a:r>
            <a:r>
              <a:rPr lang="en-US" sz="1000" dirty="0"/>
              <a:t>, a cloud-native solution that simplifies configuration, governance, and lifecycle management for distributed, hybrid, and edge environments. Designed for organizations running Arc-enabled resources across factories, retail sites, and on-premises datacenters, Site Manager provides a unified view to reduce operational complexity and improve reliability at scale.</a:t>
            </a:r>
          </a:p>
          <a:p>
            <a:pPr algn="just"/>
            <a:r>
              <a:rPr lang="en-US" sz="1000" b="1" dirty="0"/>
              <a:t>Key Capabilities</a:t>
            </a:r>
          </a:p>
          <a:p>
            <a:pPr marL="171450" indent="-171450">
              <a:buFont typeface="Arial" panose="020B0604020202020204" pitchFamily="34" charset="0"/>
              <a:buChar char="•"/>
            </a:pPr>
            <a:r>
              <a:rPr lang="en-US" sz="1000" b="1" dirty="0"/>
              <a:t>Flexible site scoping with Service Groups</a:t>
            </a:r>
            <a:br>
              <a:rPr lang="en-US" sz="1000" dirty="0"/>
            </a:br>
            <a:r>
              <a:rPr lang="en-US" sz="1000" b="1" dirty="0"/>
              <a:t>Hierarchical site organization</a:t>
            </a:r>
          </a:p>
          <a:p>
            <a:pPr marL="171450" indent="-171450">
              <a:buFont typeface="Arial" panose="020B0604020202020204" pitchFamily="34" charset="0"/>
              <a:buChar char="•"/>
            </a:pPr>
            <a:r>
              <a:rPr lang="en-US" sz="1000" b="1" dirty="0"/>
              <a:t>Aggregated monitoring and insights</a:t>
            </a:r>
            <a:br>
              <a:rPr lang="en-US" sz="1000" dirty="0"/>
            </a:br>
            <a:r>
              <a:rPr lang="en-US" sz="1000" b="1" dirty="0"/>
              <a:t>Reusable site configurations</a:t>
            </a:r>
            <a:endParaRPr lang="en-US" sz="1000" dirty="0"/>
          </a:p>
        </p:txBody>
      </p:sp>
      <p:sp>
        <p:nvSpPr>
          <p:cNvPr id="3" name="Title 2">
            <a:extLst>
              <a:ext uri="{FF2B5EF4-FFF2-40B4-BE49-F238E27FC236}">
                <a16:creationId xmlns:a16="http://schemas.microsoft.com/office/drawing/2014/main" id="{6864F6BB-CE16-4EAD-4119-F03898350B7D}"/>
              </a:ext>
            </a:extLst>
          </p:cNvPr>
          <p:cNvSpPr>
            <a:spLocks noGrp="1"/>
          </p:cNvSpPr>
          <p:nvPr>
            <p:ph type="title"/>
          </p:nvPr>
        </p:nvSpPr>
        <p:spPr/>
        <p:txBody>
          <a:bodyPr/>
          <a:lstStyle/>
          <a:p>
            <a:r>
              <a:rPr lang="en-US" sz="1600" dirty="0"/>
              <a:t>Management &amp; Governance Updates (Azure ARC) 1/3</a:t>
            </a:r>
            <a:endParaRPr lang="en-US" dirty="0"/>
          </a:p>
        </p:txBody>
      </p:sp>
      <p:sp>
        <p:nvSpPr>
          <p:cNvPr id="4" name="Text Placeholder 3">
            <a:extLst>
              <a:ext uri="{FF2B5EF4-FFF2-40B4-BE49-F238E27FC236}">
                <a16:creationId xmlns:a16="http://schemas.microsoft.com/office/drawing/2014/main" id="{B94755E8-91E6-170B-03B8-EB11EB61DED5}"/>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117AE90B-46D4-0B38-26FE-464F406FF1F4}"/>
              </a:ext>
            </a:extLst>
          </p:cNvPr>
          <p:cNvSpPr>
            <a:spLocks noGrp="1"/>
          </p:cNvSpPr>
          <p:nvPr>
            <p:ph type="body" sz="quarter" idx="16"/>
          </p:nvPr>
        </p:nvSpPr>
        <p:spPr/>
        <p:txBody>
          <a:bodyPr/>
          <a:lstStyle/>
          <a:p>
            <a:pPr algn="just"/>
            <a:r>
              <a:rPr lang="en-US" dirty="0">
                <a:hlinkClick r:id="rId3"/>
              </a:rPr>
              <a:t>Workload Identity support for Azure Arc-enabled Kubernetes clusters now Generally Available!</a:t>
            </a:r>
            <a:endParaRPr lang="en-US" dirty="0"/>
          </a:p>
          <a:p>
            <a:pPr algn="just"/>
            <a:r>
              <a:rPr lang="en-US" b="1" dirty="0"/>
              <a:t>Workload Identity support for Azure Arc-enabled Kubernetes is now generally available</a:t>
            </a:r>
            <a:r>
              <a:rPr lang="en-US" dirty="0"/>
              <a:t>, bringing secure, </a:t>
            </a:r>
            <a:r>
              <a:rPr lang="en-US" dirty="0" err="1"/>
              <a:t>secretless</a:t>
            </a:r>
            <a:r>
              <a:rPr lang="en-US" dirty="0"/>
              <a:t> authentication to applications running on Arc-connected clusters outside Azure. Previously, these workloads relied on static credentials or certificates to access services like Azure Key Vault, Event Hubs, or Azure Storage—creating operational overhead and security exposure.</a:t>
            </a:r>
          </a:p>
          <a:p>
            <a:pPr algn="just"/>
            <a:r>
              <a:rPr lang="en-US" dirty="0"/>
              <a:t>With Microsoft Entra Workload ID federation, Kubernetes workloads can now:</a:t>
            </a:r>
          </a:p>
          <a:p>
            <a:pPr marL="171450" indent="-171450" algn="just">
              <a:buFont typeface="Arial" panose="020B0604020202020204" pitchFamily="34" charset="0"/>
              <a:buChar char="•"/>
            </a:pPr>
            <a:r>
              <a:rPr lang="en-US" dirty="0"/>
              <a:t>Authenticate to Azure services using </a:t>
            </a:r>
            <a:r>
              <a:rPr lang="en-US" b="1" dirty="0"/>
              <a:t>OpenID Connect (OIDC)</a:t>
            </a:r>
            <a:r>
              <a:rPr lang="en-US" dirty="0"/>
              <a:t> without storing secrets</a:t>
            </a:r>
          </a:p>
          <a:p>
            <a:pPr marL="171450" indent="-171450" algn="just">
              <a:buFont typeface="Arial" panose="020B0604020202020204" pitchFamily="34" charset="0"/>
              <a:buChar char="•"/>
            </a:pPr>
            <a:r>
              <a:rPr lang="en-US" dirty="0"/>
              <a:t>Exchange trusted tokens for Azure access tokens securely</a:t>
            </a:r>
          </a:p>
          <a:p>
            <a:pPr marL="171450" indent="-171450" algn="just">
              <a:buFont typeface="Arial" panose="020B0604020202020204" pitchFamily="34" charset="0"/>
              <a:buChar char="•"/>
            </a:pPr>
            <a:r>
              <a:rPr lang="en-US" dirty="0"/>
              <a:t>Eliminate manual secret rotation while reducing attack surface</a:t>
            </a:r>
          </a:p>
          <a:p>
            <a:pPr algn="just"/>
            <a:r>
              <a:rPr lang="en-US" dirty="0"/>
              <a:t>This GA release delivers stronger security, simplified operations, and improved compliance for hybrid and </a:t>
            </a:r>
            <a:r>
              <a:rPr lang="en-US" dirty="0" err="1"/>
              <a:t>multicloud</a:t>
            </a:r>
            <a:r>
              <a:rPr lang="en-US" dirty="0"/>
              <a:t> Kubernetes environments connected through Azure Arc.</a:t>
            </a:r>
          </a:p>
          <a:p>
            <a:pPr algn="just"/>
            <a:endParaRPr lang="en-US" dirty="0"/>
          </a:p>
        </p:txBody>
      </p:sp>
      <p:pic>
        <p:nvPicPr>
          <p:cNvPr id="7" name="Picture 6">
            <a:extLst>
              <a:ext uri="{FF2B5EF4-FFF2-40B4-BE49-F238E27FC236}">
                <a16:creationId xmlns:a16="http://schemas.microsoft.com/office/drawing/2014/main" id="{318977A5-15D2-A791-285A-62FFFF6EBEDA}"/>
              </a:ext>
            </a:extLst>
          </p:cNvPr>
          <p:cNvPicPr>
            <a:picLocks noChangeAspect="1"/>
          </p:cNvPicPr>
          <p:nvPr/>
        </p:nvPicPr>
        <p:blipFill>
          <a:blip r:embed="rId4"/>
          <a:stretch>
            <a:fillRect/>
          </a:stretch>
        </p:blipFill>
        <p:spPr>
          <a:xfrm>
            <a:off x="4845790" y="3214255"/>
            <a:ext cx="3560618" cy="1218463"/>
          </a:xfrm>
          <a:prstGeom prst="rect">
            <a:avLst/>
          </a:prstGeom>
        </p:spPr>
      </p:pic>
    </p:spTree>
    <p:extLst>
      <p:ext uri="{BB962C8B-B14F-4D97-AF65-F5344CB8AC3E}">
        <p14:creationId xmlns:p14="http://schemas.microsoft.com/office/powerpoint/2010/main" val="620746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1" end="1"/>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
                                            <p:txEl>
                                              <p:pRg st="3" end="3"/>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68EEC1-619A-C833-D35F-A6528F201BEE}"/>
              </a:ext>
            </a:extLst>
          </p:cNvPr>
          <p:cNvSpPr>
            <a:spLocks noGrp="1"/>
          </p:cNvSpPr>
          <p:nvPr>
            <p:ph type="title"/>
          </p:nvPr>
        </p:nvSpPr>
        <p:spPr/>
        <p:txBody>
          <a:bodyPr/>
          <a:lstStyle/>
          <a:p>
            <a:r>
              <a:rPr lang="en-US" sz="1800" dirty="0"/>
              <a:t>Management &amp; Governance Updates (Azure ARC) 2/3</a:t>
            </a:r>
            <a:endParaRPr lang="en-US" dirty="0"/>
          </a:p>
        </p:txBody>
      </p:sp>
      <p:sp>
        <p:nvSpPr>
          <p:cNvPr id="4" name="Text Placeholder 3">
            <a:extLst>
              <a:ext uri="{FF2B5EF4-FFF2-40B4-BE49-F238E27FC236}">
                <a16:creationId xmlns:a16="http://schemas.microsoft.com/office/drawing/2014/main" id="{AB4B58A6-074C-2C49-4AF2-46B49B9E2BA8}"/>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8232E4DC-2F9F-F005-F76C-7AB0724BDE8D}"/>
              </a:ext>
            </a:extLst>
          </p:cNvPr>
          <p:cNvSpPr>
            <a:spLocks noGrp="1"/>
          </p:cNvSpPr>
          <p:nvPr>
            <p:ph type="body" sz="quarter" idx="16"/>
          </p:nvPr>
        </p:nvSpPr>
        <p:spPr/>
        <p:txBody>
          <a:bodyPr/>
          <a:lstStyle/>
          <a:p>
            <a:pPr algn="just"/>
            <a:r>
              <a:rPr lang="en-US" dirty="0">
                <a:hlinkClick r:id="rId2"/>
              </a:rPr>
              <a:t>Public Preview: </a:t>
            </a:r>
            <a:r>
              <a:rPr lang="en-US" dirty="0" err="1">
                <a:hlinkClick r:id="rId2"/>
              </a:rPr>
              <a:t>Multicloud</a:t>
            </a:r>
            <a:r>
              <a:rPr lang="en-US" dirty="0">
                <a:hlinkClick r:id="rId2"/>
              </a:rPr>
              <a:t> connector support for Google Cloud</a:t>
            </a:r>
            <a:endParaRPr lang="en-US" dirty="0"/>
          </a:p>
          <a:p>
            <a:pPr algn="just"/>
            <a:r>
              <a:rPr lang="en-US" dirty="0"/>
              <a:t>Microsoft has announced that the </a:t>
            </a:r>
            <a:r>
              <a:rPr lang="en-US" b="1" dirty="0" err="1"/>
              <a:t>Multicloud</a:t>
            </a:r>
            <a:r>
              <a:rPr lang="en-US" b="1" dirty="0"/>
              <a:t> connector enabled by Azure Arc now supports Google Cloud Platform (GCP)</a:t>
            </a:r>
            <a:r>
              <a:rPr lang="en-US" dirty="0"/>
              <a:t>, allowing customers to view and manage cross-cloud workloads from a single Azure experience.</a:t>
            </a:r>
          </a:p>
          <a:p>
            <a:pPr algn="just"/>
            <a:r>
              <a:rPr lang="en-US" b="1" dirty="0"/>
              <a:t>Key Capabilities</a:t>
            </a:r>
          </a:p>
          <a:p>
            <a:pPr marL="171450" indent="-171450" algn="just">
              <a:buFont typeface="Arial" panose="020B0604020202020204" pitchFamily="34" charset="0"/>
              <a:buChar char="•"/>
            </a:pPr>
            <a:r>
              <a:rPr lang="en-US" b="1" dirty="0"/>
              <a:t>Unified </a:t>
            </a:r>
            <a:r>
              <a:rPr lang="en-US" b="1" dirty="0" err="1"/>
              <a:t>multicloud</a:t>
            </a:r>
            <a:r>
              <a:rPr lang="en-US" b="1" dirty="0"/>
              <a:t> inventory </a:t>
            </a:r>
            <a:r>
              <a:rPr lang="en-US" dirty="0"/>
              <a:t>The agentless connector discovers GCP resources—including Compute VMs, GKE clusters, Storage, Functions, and more—and projects them as Azure resources with full metadata, including GCP labels. Customers can now view, query, and tag resources across </a:t>
            </a:r>
            <a:r>
              <a:rPr lang="en-US" b="1" dirty="0"/>
              <a:t>Azure, AWS, and GCP</a:t>
            </a:r>
            <a:r>
              <a:rPr lang="en-US" dirty="0"/>
              <a:t> in one centralized interface.</a:t>
            </a:r>
          </a:p>
          <a:p>
            <a:pPr marL="171450" indent="-171450" algn="just">
              <a:buFont typeface="Arial" panose="020B0604020202020204" pitchFamily="34" charset="0"/>
              <a:buChar char="•"/>
            </a:pPr>
            <a:r>
              <a:rPr lang="en-US" b="1" dirty="0"/>
              <a:t>Automated Azure Arc onboarding </a:t>
            </a:r>
            <a:r>
              <a:rPr lang="en-US" dirty="0"/>
              <a:t>Existing and new GCP VMs can be automatically Arc-enabled, allowing organizations to use Azure services such as </a:t>
            </a:r>
            <a:r>
              <a:rPr lang="en-US" b="1" dirty="0"/>
              <a:t>Azure Monitor</a:t>
            </a:r>
            <a:r>
              <a:rPr lang="en-US" dirty="0"/>
              <a:t> and </a:t>
            </a:r>
            <a:r>
              <a:rPr lang="en-US" b="1" dirty="0"/>
              <a:t>Microsoft Defender for Cloud</a:t>
            </a:r>
            <a:r>
              <a:rPr lang="en-US" dirty="0"/>
              <a:t>. The connector installs the Azure Arc agent automatically for eligible machines.</a:t>
            </a:r>
          </a:p>
          <a:p>
            <a:pPr algn="just"/>
            <a:r>
              <a:rPr lang="en-US" dirty="0"/>
              <a:t>This preview expands Azure Arc’s </a:t>
            </a:r>
            <a:r>
              <a:rPr lang="en-US" dirty="0" err="1"/>
              <a:t>multicloud</a:t>
            </a:r>
            <a:r>
              <a:rPr lang="en-US" dirty="0"/>
              <a:t> reach, giving customers consistent visibility and governance across all major cloud providers.</a:t>
            </a:r>
          </a:p>
          <a:p>
            <a:pPr algn="just"/>
            <a:endParaRPr lang="en-US" dirty="0"/>
          </a:p>
        </p:txBody>
      </p:sp>
      <p:sp>
        <p:nvSpPr>
          <p:cNvPr id="8" name="Text Placeholder 4">
            <a:extLst>
              <a:ext uri="{FF2B5EF4-FFF2-40B4-BE49-F238E27FC236}">
                <a16:creationId xmlns:a16="http://schemas.microsoft.com/office/drawing/2014/main" id="{943167D1-D8EE-7291-FBA0-479D3692BFE2}"/>
              </a:ext>
            </a:extLst>
          </p:cNvPr>
          <p:cNvSpPr txBox="1">
            <a:spLocks/>
          </p:cNvSpPr>
          <p:nvPr/>
        </p:nvSpPr>
        <p:spPr>
          <a:xfrm>
            <a:off x="4570857" y="855080"/>
            <a:ext cx="3955312"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dirty="0">
                <a:hlinkClick r:id="rId3"/>
              </a:rPr>
              <a:t>Announcing General Availability of the Azure Key Vault Secret Store Extension</a:t>
            </a:r>
            <a:endParaRPr lang="en-US" dirty="0"/>
          </a:p>
          <a:p>
            <a:pPr algn="just"/>
            <a:r>
              <a:rPr lang="en-US" dirty="0"/>
              <a:t>Microsoft has announced the </a:t>
            </a:r>
            <a:r>
              <a:rPr lang="en-US" b="1" dirty="0"/>
              <a:t>general availability of the Azure Key Vault Secret Store Extension (SSE)</a:t>
            </a:r>
            <a:r>
              <a:rPr lang="en-US" dirty="0"/>
              <a:t> for Arc-enabled on-premises Kubernetes, including both customer-connected clusters and AKS Arc–managed clusters. SSE automatically syncs secrets from Azure Key Vault to on-premises clusters for </a:t>
            </a:r>
            <a:r>
              <a:rPr lang="en-US" b="1" dirty="0"/>
              <a:t>offline access</a:t>
            </a:r>
            <a:r>
              <a:rPr lang="en-US" dirty="0"/>
              <a:t>, enabling secure secret management even in semi-disconnected environments.</a:t>
            </a:r>
          </a:p>
          <a:p>
            <a:pPr algn="just"/>
            <a:r>
              <a:rPr lang="en-US" b="1" dirty="0"/>
              <a:t>Key Benefits</a:t>
            </a:r>
          </a:p>
          <a:p>
            <a:pPr marL="171450" indent="-171450" algn="just">
              <a:buFont typeface="Arial" panose="020B0604020202020204" pitchFamily="34" charset="0"/>
              <a:buChar char="•"/>
            </a:pPr>
            <a:r>
              <a:rPr lang="en-US" b="1" dirty="0"/>
              <a:t>Offline access</a:t>
            </a:r>
          </a:p>
          <a:p>
            <a:pPr marL="171450" indent="-171450" algn="just">
              <a:buFont typeface="Arial" panose="020B0604020202020204" pitchFamily="34" charset="0"/>
              <a:buChar char="•"/>
            </a:pPr>
            <a:r>
              <a:rPr lang="en-US" b="1" dirty="0"/>
              <a:t>Standard Kubernetes usage</a:t>
            </a:r>
          </a:p>
          <a:p>
            <a:pPr marL="171450" indent="-171450" algn="just">
              <a:buFont typeface="Arial" panose="020B0604020202020204" pitchFamily="34" charset="0"/>
              <a:buChar char="•"/>
            </a:pPr>
            <a:r>
              <a:rPr lang="en-US" b="1" dirty="0"/>
              <a:t>Strong security</a:t>
            </a:r>
          </a:p>
          <a:p>
            <a:pPr marL="171450" indent="-171450" algn="just">
              <a:buFont typeface="Arial" panose="020B0604020202020204" pitchFamily="34" charset="0"/>
              <a:buChar char="•"/>
            </a:pPr>
            <a:r>
              <a:rPr lang="en-US" b="1" dirty="0"/>
              <a:t>Scalability</a:t>
            </a:r>
          </a:p>
          <a:p>
            <a:pPr marL="171450" indent="-171450" algn="just">
              <a:buFont typeface="Arial" panose="020B0604020202020204" pitchFamily="34" charset="0"/>
              <a:buChar char="•"/>
            </a:pPr>
            <a:r>
              <a:rPr lang="en-US" b="1" dirty="0"/>
              <a:t>Low maintenance</a:t>
            </a:r>
          </a:p>
          <a:p>
            <a:pPr algn="just"/>
            <a:r>
              <a:rPr lang="en-US" dirty="0"/>
              <a:t>This GA release brings secure, resilient, and scalable secret management to hybrid and on-premises Kubernetes environments through Azure Arc.</a:t>
            </a:r>
          </a:p>
          <a:p>
            <a:pPr algn="just"/>
            <a:endParaRPr lang="en-US" dirty="0"/>
          </a:p>
        </p:txBody>
      </p:sp>
    </p:spTree>
    <p:extLst>
      <p:ext uri="{BB962C8B-B14F-4D97-AF65-F5344CB8AC3E}">
        <p14:creationId xmlns:p14="http://schemas.microsoft.com/office/powerpoint/2010/main" val="3234403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
                                            <p:txEl>
                                              <p:pRg st="6" end="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xEl>
                                              <p:pRg st="7" end="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9EACE-2947-B6B2-9E8D-58D66D66FE2C}"/>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F799D386-8FFB-9287-3092-EBC4EED0ED44}"/>
              </a:ext>
            </a:extLst>
          </p:cNvPr>
          <p:cNvSpPr>
            <a:spLocks noGrp="1"/>
          </p:cNvSpPr>
          <p:nvPr>
            <p:ph type="title"/>
          </p:nvPr>
        </p:nvSpPr>
        <p:spPr/>
        <p:txBody>
          <a:bodyPr/>
          <a:lstStyle/>
          <a:p>
            <a:r>
              <a:rPr lang="en-US" sz="1800" dirty="0"/>
              <a:t>Management &amp; Governance Updates (Azure ARC) 3/3</a:t>
            </a:r>
            <a:endParaRPr lang="en-US" dirty="0"/>
          </a:p>
        </p:txBody>
      </p:sp>
      <p:sp>
        <p:nvSpPr>
          <p:cNvPr id="13" name="Text Placeholder 12">
            <a:extLst>
              <a:ext uri="{FF2B5EF4-FFF2-40B4-BE49-F238E27FC236}">
                <a16:creationId xmlns:a16="http://schemas.microsoft.com/office/drawing/2014/main" id="{3ECB1CBE-D19D-DB22-C144-06273C1863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9E41336-3964-F676-4CD6-656D0DDBD34A}"/>
              </a:ext>
            </a:extLst>
          </p:cNvPr>
          <p:cNvSpPr>
            <a:spLocks noGrp="1"/>
          </p:cNvSpPr>
          <p:nvPr>
            <p:ph type="body" sz="quarter" idx="16"/>
          </p:nvPr>
        </p:nvSpPr>
        <p:spPr/>
        <p:txBody>
          <a:bodyPr/>
          <a:lstStyle/>
          <a:p>
            <a:pPr algn="just"/>
            <a:r>
              <a:rPr lang="en-US" dirty="0">
                <a:hlinkClick r:id="rId2"/>
              </a:rPr>
              <a:t>Generally Available: New SQL Server migration in Azure Arc</a:t>
            </a:r>
            <a:endParaRPr lang="en-US" dirty="0"/>
          </a:p>
          <a:p>
            <a:pPr algn="just"/>
            <a:r>
              <a:rPr lang="en-US" dirty="0"/>
              <a:t>A new SQL Server migration in Azure Arc solution streamlines and accelerates journey to Azure SQL Managed Instance. The capabilities in SQL Server migration in Azure Arc include:</a:t>
            </a:r>
          </a:p>
          <a:p>
            <a:pPr marL="171450" indent="-171450" algn="just">
              <a:buFont typeface="Arial" panose="020B0604020202020204" pitchFamily="34" charset="0"/>
              <a:buChar char="•"/>
            </a:pPr>
            <a:r>
              <a:rPr lang="en-US" dirty="0"/>
              <a:t>Continuous assessment reporting that automatically delivers readiness, cost, and technical insights. </a:t>
            </a:r>
          </a:p>
          <a:p>
            <a:pPr marL="171450" indent="-171450" algn="just">
              <a:buFont typeface="Arial" panose="020B0604020202020204" pitchFamily="34" charset="0"/>
              <a:buChar char="•"/>
            </a:pPr>
            <a:r>
              <a:rPr lang="en-US" dirty="0"/>
              <a:t>Streamlined provisioning. IT is possible to select or provision Azure SQL targets directly within the portal, eliminating context switching. </a:t>
            </a:r>
          </a:p>
          <a:p>
            <a:pPr marL="171450" indent="-171450" algn="just">
              <a:buFont typeface="Arial" panose="020B0604020202020204" pitchFamily="34" charset="0"/>
              <a:buChar char="•"/>
            </a:pPr>
            <a:r>
              <a:rPr lang="en-US" dirty="0"/>
              <a:t>Real-time data replication via distributed availability groups (DAGs). Instead of a complex, multiple-step setup, you get a simplified replication process without the need to navigate separate portals. </a:t>
            </a:r>
          </a:p>
          <a:p>
            <a:pPr marL="171450" indent="-171450" algn="just">
              <a:buFont typeface="Arial" panose="020B0604020202020204" pitchFamily="34" charset="0"/>
              <a:buChar char="•"/>
            </a:pPr>
            <a:r>
              <a:rPr lang="en-US" dirty="0"/>
              <a:t>Read-only replica validation</a:t>
            </a:r>
          </a:p>
          <a:p>
            <a:pPr marL="171450" indent="-171450" algn="just">
              <a:buFont typeface="Arial" panose="020B0604020202020204" pitchFamily="34" charset="0"/>
              <a:buChar char="•"/>
            </a:pPr>
            <a:r>
              <a:rPr lang="en-US" dirty="0"/>
              <a:t>Client connection summaries that continuously identify which clients connect to each SQL instance, replacing manual tracing. </a:t>
            </a:r>
          </a:p>
          <a:p>
            <a:pPr marL="171450" indent="-171450" algn="just">
              <a:buFont typeface="Arial" panose="020B0604020202020204" pitchFamily="34" charset="0"/>
              <a:buChar char="•"/>
            </a:pPr>
            <a:r>
              <a:rPr lang="en-US" dirty="0"/>
              <a:t>Copilot assistance and troubleshooting that guides through the migration steps, reducing manual effort and delays. </a:t>
            </a:r>
          </a:p>
        </p:txBody>
      </p:sp>
      <p:pic>
        <p:nvPicPr>
          <p:cNvPr id="2050" name="Picture 2">
            <a:extLst>
              <a:ext uri="{FF2B5EF4-FFF2-40B4-BE49-F238E27FC236}">
                <a16:creationId xmlns:a16="http://schemas.microsoft.com/office/drawing/2014/main" id="{4FCED584-6FF3-4AD2-6808-663650396BD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95156" y="855080"/>
            <a:ext cx="4326279" cy="15690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9708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C8DF3D9-A1FE-BAFA-B245-D24D8B770FB1}"/>
              </a:ext>
            </a:extLst>
          </p:cNvPr>
          <p:cNvSpPr>
            <a:spLocks noGrp="1"/>
          </p:cNvSpPr>
          <p:nvPr>
            <p:ph type="body" sz="quarter" idx="10"/>
          </p:nvPr>
        </p:nvSpPr>
        <p:spPr>
          <a:xfrm>
            <a:off x="342900" y="855080"/>
            <a:ext cx="4365038" cy="2206775"/>
          </a:xfrm>
        </p:spPr>
        <p:txBody>
          <a:bodyPr/>
          <a:lstStyle/>
          <a:p>
            <a:pPr algn="just"/>
            <a:r>
              <a:rPr lang="en-US" sz="1000" dirty="0">
                <a:hlinkClick r:id="rId2"/>
              </a:rPr>
              <a:t>Announcing the preview of Azure Local rack aware cluster</a:t>
            </a:r>
            <a:endParaRPr lang="en-US" sz="1000" dirty="0"/>
          </a:p>
          <a:p>
            <a:pPr algn="just"/>
            <a:r>
              <a:rPr lang="en-US" sz="1000" dirty="0"/>
              <a:t>An </a:t>
            </a:r>
            <a:r>
              <a:rPr lang="en-US" sz="1000" b="1" dirty="0"/>
              <a:t>Azure Local rack-aware cluster</a:t>
            </a:r>
            <a:r>
              <a:rPr lang="en-US" sz="1000" dirty="0"/>
              <a:t> is an advanced architecture that improves fault tolerance and data durability within an Azure Local instance. It allows machines to be clustered across </a:t>
            </a:r>
            <a:r>
              <a:rPr lang="en-US" sz="1000" b="1" dirty="0"/>
              <a:t>two physical racks</a:t>
            </a:r>
            <a:r>
              <a:rPr lang="en-US" sz="1000" dirty="0"/>
              <a:t>—typically located in separate rooms or buildings—connected through high-bandwidth, low-latency networking. Each rack effectively acts as a </a:t>
            </a:r>
            <a:r>
              <a:rPr lang="en-US" sz="1000" b="1" dirty="0"/>
              <a:t>local availability zone</a:t>
            </a:r>
            <a:r>
              <a:rPr lang="en-US" sz="1000" dirty="0"/>
              <a:t>, extending from the operating system layer through Azure Local management and Azure Local VMs.</a:t>
            </a:r>
          </a:p>
          <a:p>
            <a:pPr algn="just"/>
            <a:r>
              <a:rPr lang="en-US" sz="1000" dirty="0"/>
              <a:t>Using top-of-rack (</a:t>
            </a:r>
            <a:r>
              <a:rPr lang="en-US" sz="1000" dirty="0" err="1"/>
              <a:t>ToR</a:t>
            </a:r>
            <a:r>
              <a:rPr lang="en-US" sz="1000" dirty="0"/>
              <a:t>) switches, the architecture supports a </a:t>
            </a:r>
            <a:r>
              <a:rPr lang="en-US" sz="1000" b="1" dirty="0"/>
              <a:t>single shared storage pool</a:t>
            </a:r>
            <a:r>
              <a:rPr lang="en-US" sz="1000" dirty="0"/>
              <a:t>, with data automatically distributed across both racks. If one rack fails, the other continues to maintain full data integrity and service availability. This design is ideal for environments requiring high availability and protection against rack-level failures such as fires, power loss, or localized hardware outages.</a:t>
            </a:r>
          </a:p>
          <a:p>
            <a:pPr algn="just"/>
            <a:endParaRPr lang="en-US" sz="1000" dirty="0"/>
          </a:p>
        </p:txBody>
      </p:sp>
      <p:sp>
        <p:nvSpPr>
          <p:cNvPr id="3" name="Title 2">
            <a:extLst>
              <a:ext uri="{FF2B5EF4-FFF2-40B4-BE49-F238E27FC236}">
                <a16:creationId xmlns:a16="http://schemas.microsoft.com/office/drawing/2014/main" id="{531F7738-D051-2510-F789-9F42C07D3A7C}"/>
              </a:ext>
            </a:extLst>
          </p:cNvPr>
          <p:cNvSpPr>
            <a:spLocks noGrp="1"/>
          </p:cNvSpPr>
          <p:nvPr>
            <p:ph type="title"/>
          </p:nvPr>
        </p:nvSpPr>
        <p:spPr/>
        <p:txBody>
          <a:bodyPr/>
          <a:lstStyle/>
          <a:p>
            <a:r>
              <a:rPr lang="en-US" sz="1600" dirty="0"/>
              <a:t>Management &amp; Governance Updates (Azure Local) 1/1</a:t>
            </a:r>
            <a:endParaRPr lang="en-US" dirty="0"/>
          </a:p>
        </p:txBody>
      </p:sp>
      <p:sp>
        <p:nvSpPr>
          <p:cNvPr id="4" name="Text Placeholder 3">
            <a:extLst>
              <a:ext uri="{FF2B5EF4-FFF2-40B4-BE49-F238E27FC236}">
                <a16:creationId xmlns:a16="http://schemas.microsoft.com/office/drawing/2014/main" id="{F84FD832-F8EF-22F7-D030-44D94DEF28BD}"/>
              </a:ext>
            </a:extLst>
          </p:cNvPr>
          <p:cNvSpPr>
            <a:spLocks noGrp="1"/>
          </p:cNvSpPr>
          <p:nvPr>
            <p:ph type="body" sz="quarter" idx="15"/>
          </p:nvPr>
        </p:nvSpPr>
        <p:spPr/>
        <p:txBody>
          <a:bodyPr/>
          <a:lstStyle/>
          <a:p>
            <a:endParaRPr lang="en-US"/>
          </a:p>
        </p:txBody>
      </p:sp>
      <p:pic>
        <p:nvPicPr>
          <p:cNvPr id="9" name="Picture 8">
            <a:extLst>
              <a:ext uri="{FF2B5EF4-FFF2-40B4-BE49-F238E27FC236}">
                <a16:creationId xmlns:a16="http://schemas.microsoft.com/office/drawing/2014/main" id="{4BACD66C-6517-5F54-9C74-B371F1225203}"/>
              </a:ext>
            </a:extLst>
          </p:cNvPr>
          <p:cNvPicPr>
            <a:picLocks noChangeAspect="1"/>
          </p:cNvPicPr>
          <p:nvPr/>
        </p:nvPicPr>
        <p:blipFill>
          <a:blip r:embed="rId3"/>
          <a:stretch>
            <a:fillRect/>
          </a:stretch>
        </p:blipFill>
        <p:spPr>
          <a:xfrm>
            <a:off x="959105" y="3061855"/>
            <a:ext cx="3355706" cy="1869489"/>
          </a:xfrm>
          <a:prstGeom prst="rect">
            <a:avLst/>
          </a:prstGeom>
        </p:spPr>
      </p:pic>
    </p:spTree>
    <p:extLst>
      <p:ext uri="{BB962C8B-B14F-4D97-AF65-F5344CB8AC3E}">
        <p14:creationId xmlns:p14="http://schemas.microsoft.com/office/powerpoint/2010/main" val="381249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57984E-AE34-BEA9-2134-9FA9EF1EF1AF}"/>
              </a:ext>
            </a:extLst>
          </p:cNvPr>
          <p:cNvSpPr>
            <a:spLocks noGrp="1"/>
          </p:cNvSpPr>
          <p:nvPr>
            <p:ph type="body" sz="quarter" idx="10"/>
          </p:nvPr>
        </p:nvSpPr>
        <p:spPr/>
        <p:txBody>
          <a:bodyPr/>
          <a:lstStyle/>
          <a:p>
            <a:pPr algn="just"/>
            <a:r>
              <a:rPr lang="en-US" sz="1000" dirty="0">
                <a:hlinkClick r:id="rId2"/>
              </a:rPr>
              <a:t>Public Preview: Online and offline migrations in Azure </a:t>
            </a:r>
            <a:r>
              <a:rPr lang="en-US" sz="1000" dirty="0" err="1">
                <a:hlinkClick r:id="rId2"/>
              </a:rPr>
              <a:t>DocumentDB</a:t>
            </a:r>
            <a:r>
              <a:rPr lang="en-US" sz="1000" dirty="0">
                <a:hlinkClick r:id="rId2"/>
              </a:rPr>
              <a:t> Migration extension</a:t>
            </a:r>
            <a:endParaRPr lang="en-US" sz="1000" dirty="0"/>
          </a:p>
          <a:p>
            <a:pPr algn="just"/>
            <a:r>
              <a:rPr lang="en-US" sz="1000" dirty="0"/>
              <a:t>Organizations can now migrate MongoDB workloads to </a:t>
            </a:r>
            <a:r>
              <a:rPr lang="en-US" sz="1000" b="1" dirty="0"/>
              <a:t>Azure </a:t>
            </a:r>
            <a:r>
              <a:rPr lang="en-US" sz="1000" b="1" dirty="0" err="1"/>
              <a:t>DocumentDB</a:t>
            </a:r>
            <a:r>
              <a:rPr lang="en-US" sz="1000" dirty="0"/>
              <a:t> using the new </a:t>
            </a:r>
            <a:r>
              <a:rPr lang="en-US" sz="1000" b="1" dirty="0"/>
              <a:t>Azure </a:t>
            </a:r>
            <a:r>
              <a:rPr lang="en-US" sz="1000" b="1" dirty="0" err="1"/>
              <a:t>DocumentDB</a:t>
            </a:r>
            <a:r>
              <a:rPr lang="en-US" sz="1000" b="1" dirty="0"/>
              <a:t> Migration extension for Visual Studio Code</a:t>
            </a:r>
            <a:r>
              <a:rPr lang="en-US" sz="1000" dirty="0"/>
              <a:t>, available in public preview. This seamless, zero-cost migration experience supports both </a:t>
            </a:r>
            <a:r>
              <a:rPr lang="en-US" sz="1000" b="1" dirty="0"/>
              <a:t>online</a:t>
            </a:r>
            <a:r>
              <a:rPr lang="en-US" sz="1000" dirty="0"/>
              <a:t> and </a:t>
            </a:r>
            <a:r>
              <a:rPr lang="en-US" sz="1000" b="1" dirty="0"/>
              <a:t>offline</a:t>
            </a:r>
            <a:r>
              <a:rPr lang="en-US" sz="1000" dirty="0"/>
              <a:t> modes, helping accelerate modernization efforts.</a:t>
            </a:r>
          </a:p>
          <a:p>
            <a:pPr algn="just"/>
            <a:r>
              <a:rPr lang="en-US" sz="1000" dirty="0"/>
              <a:t>Migration jobs run entirely on </a:t>
            </a:r>
            <a:r>
              <a:rPr lang="en-US" sz="1000" b="1" dirty="0"/>
              <a:t>Azure-managed resources</a:t>
            </a:r>
            <a:r>
              <a:rPr lang="en-US" sz="1000" dirty="0"/>
              <a:t> maintained by the Azure Cosmos DB team, eliminating the need to deploy or manage migration infrastructure. Users can start and monitor migrations without remaining connected, making the solution well suited for secure, large-scale, or long-running scenarios. The extension also supports </a:t>
            </a:r>
            <a:r>
              <a:rPr lang="en-US" sz="1000" b="1" dirty="0"/>
              <a:t>private endpoint–enabled</a:t>
            </a:r>
            <a:r>
              <a:rPr lang="en-US" sz="1000" dirty="0"/>
              <a:t> targets to meet enterprise security and compliance requirements.</a:t>
            </a:r>
          </a:p>
          <a:p>
            <a:pPr algn="just"/>
            <a:r>
              <a:rPr lang="en-US" sz="1000" dirty="0"/>
              <a:t>Whether migrating from self-hosted MongoDB, MongoDB Atlas, or other compatible sources, the extension provides a unified and intuitive workflow directly within Visual Studio Code. Organizations benefit from improved performance, reduced operational overhead, and a streamlined path to Azure </a:t>
            </a:r>
            <a:r>
              <a:rPr lang="en-US" sz="1000" dirty="0" err="1"/>
              <a:t>DocumentDB</a:t>
            </a:r>
            <a:r>
              <a:rPr lang="en-US" sz="1000" dirty="0"/>
              <a:t>—all with </a:t>
            </a:r>
            <a:r>
              <a:rPr lang="en-US" sz="1000" b="1" dirty="0"/>
              <a:t>no additional migration cost</a:t>
            </a:r>
            <a:r>
              <a:rPr lang="en-US" sz="1000" dirty="0"/>
              <a:t>.</a:t>
            </a:r>
          </a:p>
          <a:p>
            <a:pPr algn="just"/>
            <a:endParaRPr lang="en-US" sz="1000" dirty="0"/>
          </a:p>
        </p:txBody>
      </p:sp>
      <p:sp>
        <p:nvSpPr>
          <p:cNvPr id="3" name="Title 2">
            <a:extLst>
              <a:ext uri="{FF2B5EF4-FFF2-40B4-BE49-F238E27FC236}">
                <a16:creationId xmlns:a16="http://schemas.microsoft.com/office/drawing/2014/main" id="{19740D7B-9770-3062-224B-4A31703E292D}"/>
              </a:ext>
            </a:extLst>
          </p:cNvPr>
          <p:cNvSpPr>
            <a:spLocks noGrp="1"/>
          </p:cNvSpPr>
          <p:nvPr>
            <p:ph type="title"/>
          </p:nvPr>
        </p:nvSpPr>
        <p:spPr/>
        <p:txBody>
          <a:bodyPr/>
          <a:lstStyle/>
          <a:p>
            <a:r>
              <a:rPr lang="en-US" sz="1800" dirty="0"/>
              <a:t>Management &amp; Governance Updates (Azure Migration) 1/1</a:t>
            </a:r>
            <a:endParaRPr lang="en-US" dirty="0"/>
          </a:p>
        </p:txBody>
      </p:sp>
      <p:sp>
        <p:nvSpPr>
          <p:cNvPr id="4" name="Text Placeholder 3">
            <a:extLst>
              <a:ext uri="{FF2B5EF4-FFF2-40B4-BE49-F238E27FC236}">
                <a16:creationId xmlns:a16="http://schemas.microsoft.com/office/drawing/2014/main" id="{256869B2-8698-8FC3-485F-BBEA47C43253}"/>
              </a:ext>
            </a:extLst>
          </p:cNvPr>
          <p:cNvSpPr>
            <a:spLocks noGrp="1"/>
          </p:cNvSpPr>
          <p:nvPr>
            <p:ph type="body" sz="quarter" idx="15"/>
          </p:nvPr>
        </p:nvSpPr>
        <p:spPr/>
        <p:txBody>
          <a:bodyPr/>
          <a:lstStyle/>
          <a:p>
            <a:endParaRPr lang="en-US"/>
          </a:p>
        </p:txBody>
      </p:sp>
      <p:sp>
        <p:nvSpPr>
          <p:cNvPr id="12" name="Text Placeholder 1">
            <a:extLst>
              <a:ext uri="{FF2B5EF4-FFF2-40B4-BE49-F238E27FC236}">
                <a16:creationId xmlns:a16="http://schemas.microsoft.com/office/drawing/2014/main" id="{5CCE89EB-E7F6-B11C-C374-69BB242DCD9F}"/>
              </a:ext>
            </a:extLst>
          </p:cNvPr>
          <p:cNvSpPr txBox="1">
            <a:spLocks/>
          </p:cNvSpPr>
          <p:nvPr/>
        </p:nvSpPr>
        <p:spPr>
          <a:xfrm>
            <a:off x="342900" y="855080"/>
            <a:ext cx="3945082"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2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sz="1000" dirty="0">
                <a:hlinkClick r:id="rId3"/>
              </a:rPr>
              <a:t>Generally Available: Online migration from Azure Cosmos DB for MongoDB RU to Azure </a:t>
            </a:r>
            <a:r>
              <a:rPr lang="en-US" sz="1000" dirty="0" err="1">
                <a:hlinkClick r:id="rId3"/>
              </a:rPr>
              <a:t>DocumentDB</a:t>
            </a:r>
            <a:endParaRPr lang="en-US" sz="1000" dirty="0"/>
          </a:p>
          <a:p>
            <a:pPr algn="just"/>
            <a:r>
              <a:rPr lang="en-US" sz="1000" dirty="0"/>
              <a:t>Microsoft has announced the </a:t>
            </a:r>
            <a:r>
              <a:rPr lang="en-US" sz="1000" b="1" dirty="0"/>
              <a:t>general availability of seamless, self-serve online migrations</a:t>
            </a:r>
            <a:r>
              <a:rPr lang="en-US" sz="1000" dirty="0"/>
              <a:t> from </a:t>
            </a:r>
            <a:r>
              <a:rPr lang="en-US" sz="1000" b="1" dirty="0"/>
              <a:t>Azure Cosmos DB for MongoDB RU</a:t>
            </a:r>
            <a:r>
              <a:rPr lang="en-US" sz="1000" dirty="0"/>
              <a:t> to </a:t>
            </a:r>
            <a:r>
              <a:rPr lang="en-US" sz="1000" b="1" dirty="0"/>
              <a:t>Azure </a:t>
            </a:r>
            <a:r>
              <a:rPr lang="en-US" sz="1000" b="1" dirty="0" err="1"/>
              <a:t>DocumentDB</a:t>
            </a:r>
            <a:r>
              <a:rPr lang="en-US" sz="1000" dirty="0"/>
              <a:t>, fully integrated into the Azure portal. This capability allows organizations to modernize MongoDB workloads with </a:t>
            </a:r>
            <a:r>
              <a:rPr lang="en-US" sz="1000" b="1" dirty="0"/>
              <a:t>zero downtime</a:t>
            </a:r>
            <a:r>
              <a:rPr lang="en-US" sz="1000" dirty="0"/>
              <a:t>, </a:t>
            </a:r>
            <a:r>
              <a:rPr lang="en-US" sz="1000" b="1" dirty="0"/>
              <a:t>no migration cost</a:t>
            </a:r>
            <a:r>
              <a:rPr lang="en-US" sz="1000" dirty="0"/>
              <a:t>, and </a:t>
            </a:r>
            <a:r>
              <a:rPr lang="en-US" sz="1000" b="1" dirty="0"/>
              <a:t>minimal operational effort</a:t>
            </a:r>
            <a:r>
              <a:rPr lang="en-US" sz="1000" dirty="0"/>
              <a:t>.</a:t>
            </a:r>
          </a:p>
          <a:p>
            <a:pPr algn="just"/>
            <a:r>
              <a:rPr lang="en-US" sz="1000" dirty="0"/>
              <a:t>The migration engine reads natively from Azure Cosmos DB for MongoDB RU and writes directly to Azure </a:t>
            </a:r>
            <a:r>
              <a:rPr lang="en-US" sz="1000" dirty="0" err="1"/>
              <a:t>DocumentDB</a:t>
            </a:r>
            <a:r>
              <a:rPr lang="en-US" sz="1000" dirty="0"/>
              <a:t>, ensuring compatibility and strong performance across a wide range of workloads. Both </a:t>
            </a:r>
            <a:r>
              <a:rPr lang="en-US" sz="1000" b="1" dirty="0"/>
              <a:t>offline</a:t>
            </a:r>
            <a:r>
              <a:rPr lang="en-US" sz="1000" dirty="0"/>
              <a:t> and </a:t>
            </a:r>
            <a:r>
              <a:rPr lang="en-US" sz="1000" b="1" dirty="0"/>
              <a:t>online</a:t>
            </a:r>
            <a:r>
              <a:rPr lang="en-US" sz="1000" dirty="0"/>
              <a:t> migrations are supported. Additional features—such as Microsoft Entra ID integration and partition-level read optimization—are already available to enhance security and efficiency.</a:t>
            </a:r>
          </a:p>
          <a:p>
            <a:pPr algn="just"/>
            <a:r>
              <a:rPr lang="en-US" sz="1000" dirty="0"/>
              <a:t>Organizations can begin using this capability immediately to accelerate adoption of Azure </a:t>
            </a:r>
            <a:r>
              <a:rPr lang="en-US" sz="1000" dirty="0" err="1"/>
              <a:t>DocumentDB</a:t>
            </a:r>
            <a:r>
              <a:rPr lang="en-US" sz="1000" dirty="0"/>
              <a:t>, gaining access to advanced features, improved performance, and a future-ready database architecture.</a:t>
            </a:r>
          </a:p>
          <a:p>
            <a:pPr algn="just"/>
            <a:endParaRPr lang="en-US" sz="1000" dirty="0"/>
          </a:p>
        </p:txBody>
      </p:sp>
    </p:spTree>
    <p:extLst>
      <p:ext uri="{BB962C8B-B14F-4D97-AF65-F5344CB8AC3E}">
        <p14:creationId xmlns:p14="http://schemas.microsoft.com/office/powerpoint/2010/main" val="2218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a:xfrm>
            <a:off x="4433776" y="855080"/>
            <a:ext cx="4365038" cy="1250811"/>
          </a:xfrm>
        </p:spPr>
        <p:txBody>
          <a:bodyPr/>
          <a:lstStyle/>
          <a:p>
            <a:pPr algn="just"/>
            <a:r>
              <a:rPr lang="en-US" sz="1000" dirty="0">
                <a:hlinkClick r:id="rId2"/>
              </a:rPr>
              <a:t>Public Preview: Azure Functions support for Java 25</a:t>
            </a:r>
            <a:endParaRPr lang="en-US" sz="1000" dirty="0"/>
          </a:p>
          <a:p>
            <a:pPr algn="just"/>
            <a:r>
              <a:rPr lang="en-US" sz="1000" dirty="0"/>
              <a:t>Azure Functions now supports </a:t>
            </a:r>
            <a:r>
              <a:rPr lang="en-US" sz="1000" b="1" dirty="0"/>
              <a:t>Java 25</a:t>
            </a:r>
            <a:r>
              <a:rPr lang="en-US" sz="1000" dirty="0"/>
              <a:t>, enabling developers to build functions locally and deploy them to both </a:t>
            </a:r>
            <a:r>
              <a:rPr lang="en-US" sz="1000" b="1" dirty="0"/>
              <a:t>Windows</a:t>
            </a:r>
            <a:r>
              <a:rPr lang="en-US" sz="1000" dirty="0"/>
              <a:t> and </a:t>
            </a:r>
            <a:r>
              <a:rPr lang="en-US" sz="1000" b="1" dirty="0"/>
              <a:t>Linux</a:t>
            </a:r>
            <a:r>
              <a:rPr lang="en-US" sz="1000" dirty="0"/>
              <a:t> environments.</a:t>
            </a:r>
          </a:p>
          <a:p>
            <a:pPr algn="just"/>
            <a:r>
              <a:rPr lang="en-US" sz="1000" dirty="0"/>
              <a:t>Upgrading to Java 25 delivers </a:t>
            </a:r>
            <a:r>
              <a:rPr lang="en-US" sz="1000" b="1" dirty="0"/>
              <a:t>stronger security</a:t>
            </a:r>
            <a:r>
              <a:rPr lang="en-US" sz="1000" dirty="0"/>
              <a:t>, a </a:t>
            </a:r>
            <a:r>
              <a:rPr lang="en-US" sz="1000" b="1" dirty="0"/>
              <a:t>longer support lifecycle</a:t>
            </a:r>
            <a:r>
              <a:rPr lang="en-US" sz="1000" dirty="0"/>
              <a:t>, and full compatibility with the Azure Functions runtime and development tools—ensuring your Java-based serverless apps stay modern and reliable.</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 (Azure Functions) 1/4</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Azure Functions support for Node.js 24</a:t>
            </a:r>
            <a:endParaRPr lang="en-US" dirty="0"/>
          </a:p>
          <a:p>
            <a:pPr algn="just"/>
            <a:r>
              <a:rPr lang="en-US" dirty="0"/>
              <a:t>Azure Functions now supports </a:t>
            </a:r>
            <a:r>
              <a:rPr lang="en-US" b="1" dirty="0"/>
              <a:t>Node.js 24</a:t>
            </a:r>
            <a:r>
              <a:rPr lang="en-US" dirty="0"/>
              <a:t>, allowing developers to build functions locally and deploy them to both </a:t>
            </a:r>
            <a:r>
              <a:rPr lang="en-US" b="1" dirty="0"/>
              <a:t>Windows</a:t>
            </a:r>
            <a:r>
              <a:rPr lang="en-US" dirty="0"/>
              <a:t> and </a:t>
            </a:r>
            <a:r>
              <a:rPr lang="en-US" b="1" dirty="0"/>
              <a:t>Linux</a:t>
            </a:r>
            <a:r>
              <a:rPr lang="en-US" dirty="0"/>
              <a:t> plans.</a:t>
            </a:r>
          </a:p>
          <a:p>
            <a:pPr algn="just"/>
            <a:r>
              <a:rPr lang="en-US" b="1" dirty="0"/>
              <a:t>Key notes:</a:t>
            </a:r>
            <a:endParaRPr lang="en-US" dirty="0"/>
          </a:p>
          <a:p>
            <a:pPr marL="171450" indent="-171450" algn="just">
              <a:buFont typeface="Arial" panose="020B0604020202020204" pitchFamily="34" charset="0"/>
              <a:buChar char="•"/>
            </a:pPr>
            <a:r>
              <a:rPr lang="en-US" dirty="0"/>
              <a:t>Node.js 24 </a:t>
            </a:r>
            <a:r>
              <a:rPr lang="en-US" b="1" dirty="0"/>
              <a:t>does not support 32-bit Windows</a:t>
            </a:r>
            <a:r>
              <a:rPr lang="en-US" dirty="0"/>
              <a:t>.</a:t>
            </a:r>
            <a:br>
              <a:rPr lang="en-US" dirty="0"/>
            </a:br>
            <a:r>
              <a:rPr lang="en-US" dirty="0"/>
              <a:t>New Windows Function Apps using Node.js 24 now default to </a:t>
            </a:r>
            <a:r>
              <a:rPr lang="en-US" b="1" dirty="0"/>
              <a:t>64-bit</a:t>
            </a:r>
            <a:r>
              <a:rPr lang="en-US" dirty="0"/>
              <a:t>.</a:t>
            </a:r>
          </a:p>
          <a:p>
            <a:pPr marL="171450" indent="-171450" algn="just">
              <a:buFont typeface="Arial" panose="020B0604020202020204" pitchFamily="34" charset="0"/>
              <a:buChar char="•"/>
            </a:pPr>
            <a:r>
              <a:rPr lang="en-US" dirty="0"/>
              <a:t>Upgrading to Node.js 24 provides </a:t>
            </a:r>
            <a:r>
              <a:rPr lang="en-US" b="1" dirty="0"/>
              <a:t>improved security</a:t>
            </a:r>
            <a:r>
              <a:rPr lang="en-US" dirty="0"/>
              <a:t>, a </a:t>
            </a:r>
            <a:r>
              <a:rPr lang="en-US" b="1" dirty="0"/>
              <a:t>longer support lifecycle</a:t>
            </a:r>
            <a:r>
              <a:rPr lang="en-US" dirty="0"/>
              <a:t>, and full compatibility with the Azure Functions runtime and tools.</a:t>
            </a:r>
          </a:p>
          <a:p>
            <a:pPr algn="just"/>
            <a:r>
              <a:rPr lang="en-US" dirty="0"/>
              <a:t>This update ensures that Node.js workloads remain modern, secure, and fully supported on Azure Functions.</a:t>
            </a:r>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CA0F787-4187-03CF-2079-201D384E0FA5}"/>
              </a:ext>
            </a:extLst>
          </p:cNvPr>
          <p:cNvSpPr>
            <a:spLocks noGrp="1"/>
          </p:cNvSpPr>
          <p:nvPr>
            <p:ph type="body" sz="quarter" idx="10"/>
          </p:nvPr>
        </p:nvSpPr>
        <p:spPr/>
        <p:txBody>
          <a:bodyPr/>
          <a:lstStyle/>
          <a:p>
            <a:pPr algn="just"/>
            <a:r>
              <a:rPr lang="en-US" sz="1000" dirty="0">
                <a:hlinkClick r:id="rId2"/>
              </a:rPr>
              <a:t>Public Preview: Self-hosted remote MCP servers on Azure Functions</a:t>
            </a:r>
            <a:endParaRPr lang="en-US" sz="1000" dirty="0"/>
          </a:p>
          <a:p>
            <a:pPr algn="just"/>
            <a:r>
              <a:rPr lang="en-US" sz="1000" dirty="0"/>
              <a:t>A new capability is now available that enables organizations to </a:t>
            </a:r>
            <a:r>
              <a:rPr lang="en-US" sz="1000" b="1" dirty="0"/>
              <a:t>host remote Model Context Protocol (MCP) servers</a:t>
            </a:r>
            <a:r>
              <a:rPr lang="en-US" sz="1000" dirty="0"/>
              <a:t>—built with the MCP SDKs—on </a:t>
            </a:r>
            <a:r>
              <a:rPr lang="en-US" sz="1000" b="1" dirty="0"/>
              <a:t>Azure Functions</a:t>
            </a:r>
            <a:r>
              <a:rPr lang="en-US" sz="1000" dirty="0"/>
              <a:t>. Hosting MCP servers on the Functions platform offers several key advantages:</a:t>
            </a:r>
          </a:p>
          <a:p>
            <a:pPr marL="171450" indent="-171450" algn="just">
              <a:buFont typeface="Arial" panose="020B0604020202020204" pitchFamily="34" charset="0"/>
              <a:buChar char="•"/>
            </a:pPr>
            <a:r>
              <a:rPr lang="en-US" sz="1000" b="1" dirty="0"/>
              <a:t>Built-in server authentication</a:t>
            </a:r>
            <a:endParaRPr lang="en-US" sz="1000" dirty="0"/>
          </a:p>
          <a:p>
            <a:pPr marL="171450" indent="-171450" algn="just">
              <a:buFont typeface="Arial" panose="020B0604020202020204" pitchFamily="34" charset="0"/>
              <a:buChar char="•"/>
            </a:pPr>
            <a:r>
              <a:rPr lang="en-US" sz="1000" b="1" dirty="0"/>
              <a:t>Automatic and burst-based scaling</a:t>
            </a:r>
            <a:endParaRPr lang="en-US" sz="1000" dirty="0"/>
          </a:p>
          <a:p>
            <a:pPr marL="171450" indent="-171450" algn="just">
              <a:buFont typeface="Arial" panose="020B0604020202020204" pitchFamily="34" charset="0"/>
              <a:buChar char="•"/>
            </a:pPr>
            <a:r>
              <a:rPr lang="en-US" sz="1000" b="1" dirty="0"/>
              <a:t>Pay-per-use pricing</a:t>
            </a:r>
            <a:endParaRPr lang="en-US" sz="1000" dirty="0"/>
          </a:p>
          <a:p>
            <a:pPr algn="just"/>
            <a:r>
              <a:rPr lang="en-US" sz="1000" dirty="0"/>
              <a:t>Existing MCP servers require </a:t>
            </a:r>
            <a:r>
              <a:rPr lang="en-US" sz="1000" b="1" dirty="0"/>
              <a:t>no code changes</a:t>
            </a:r>
            <a:r>
              <a:rPr lang="en-US" sz="1000" dirty="0"/>
              <a:t> to run on Azure Functions, making adoption seamless.</a:t>
            </a:r>
          </a:p>
          <a:p>
            <a:pPr algn="just"/>
            <a:r>
              <a:rPr lang="en-US" sz="1000" dirty="0"/>
              <a:t>Currently in </a:t>
            </a:r>
            <a:r>
              <a:rPr lang="en-US" sz="1000" b="1" dirty="0"/>
              <a:t>public preview</a:t>
            </a:r>
            <a:r>
              <a:rPr lang="en-US" sz="1000" dirty="0"/>
              <a:t>, this capability supports remote hosting of MCP servers built with the </a:t>
            </a:r>
            <a:r>
              <a:rPr lang="en-US" sz="1000" b="1" dirty="0"/>
              <a:t>Python, TypeScript, C#, and Java MCP SDKs</a:t>
            </a:r>
            <a:r>
              <a:rPr lang="en-US" sz="1000" dirty="0"/>
              <a:t> on the </a:t>
            </a:r>
            <a:r>
              <a:rPr lang="en-US" sz="1000" b="1" dirty="0"/>
              <a:t>Flex Consumption</a:t>
            </a:r>
            <a:r>
              <a:rPr lang="en-US" sz="1000" dirty="0"/>
              <a:t> plan. Hosted servers must be stateless and use the </a:t>
            </a:r>
            <a:r>
              <a:rPr lang="en-US" sz="1000" b="1" dirty="0" err="1"/>
              <a:t>streamable</a:t>
            </a:r>
            <a:r>
              <a:rPr lang="en-US" sz="1000" b="1" dirty="0"/>
              <a:t>-http</a:t>
            </a:r>
            <a:r>
              <a:rPr lang="en-US" sz="1000" dirty="0"/>
              <a:t> transport.</a:t>
            </a:r>
          </a:p>
          <a:p>
            <a:pPr algn="just"/>
            <a:endParaRPr lang="en-US" sz="1000" dirty="0"/>
          </a:p>
        </p:txBody>
      </p:sp>
      <p:sp>
        <p:nvSpPr>
          <p:cNvPr id="3" name="Title 2">
            <a:extLst>
              <a:ext uri="{FF2B5EF4-FFF2-40B4-BE49-F238E27FC236}">
                <a16:creationId xmlns:a16="http://schemas.microsoft.com/office/drawing/2014/main" id="{2095F6F1-2FEE-4997-5D97-AEA9C4C6484D}"/>
              </a:ext>
            </a:extLst>
          </p:cNvPr>
          <p:cNvSpPr>
            <a:spLocks noGrp="1"/>
          </p:cNvSpPr>
          <p:nvPr>
            <p:ph type="title"/>
          </p:nvPr>
        </p:nvSpPr>
        <p:spPr/>
        <p:txBody>
          <a:bodyPr/>
          <a:lstStyle/>
          <a:p>
            <a:r>
              <a:rPr lang="en-US" sz="1600" dirty="0"/>
              <a:t>Compute Updates (Azure Functions) 2/4</a:t>
            </a:r>
            <a:endParaRPr lang="en-US" dirty="0"/>
          </a:p>
        </p:txBody>
      </p:sp>
      <p:sp>
        <p:nvSpPr>
          <p:cNvPr id="4" name="Text Placeholder 3">
            <a:extLst>
              <a:ext uri="{FF2B5EF4-FFF2-40B4-BE49-F238E27FC236}">
                <a16:creationId xmlns:a16="http://schemas.microsoft.com/office/drawing/2014/main" id="{E47490CB-3B39-BDD9-4CED-05F6BA3786A1}"/>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73B5FC84-FB96-D7D4-C972-DCB517B23C30}"/>
              </a:ext>
            </a:extLst>
          </p:cNvPr>
          <p:cNvSpPr>
            <a:spLocks noGrp="1"/>
          </p:cNvSpPr>
          <p:nvPr>
            <p:ph type="body" sz="quarter" idx="16"/>
          </p:nvPr>
        </p:nvSpPr>
        <p:spPr/>
        <p:txBody>
          <a:bodyPr/>
          <a:lstStyle/>
          <a:p>
            <a:pPr algn="just"/>
            <a:r>
              <a:rPr lang="en-US" dirty="0">
                <a:hlinkClick r:id="rId3"/>
              </a:rPr>
              <a:t>Announcing: Resources for migrating to Azure Functions Flex Consumption</a:t>
            </a:r>
            <a:endParaRPr lang="en-US" dirty="0"/>
          </a:p>
          <a:p>
            <a:pPr algn="just"/>
            <a:r>
              <a:rPr lang="en-US" b="1" dirty="0"/>
              <a:t>Azure Functions Flex Consumption</a:t>
            </a:r>
            <a:r>
              <a:rPr lang="en-US" dirty="0"/>
              <a:t> is now the recommended hosting plan for serverless workloads that require advanced scaling, enhanced networking, and improved cost optimization. To support customers transitioning from the Azure Functions Consumption plan or from AWS Lambda, Microsoft has released comprehensive migration guides and tooling.</a:t>
            </a:r>
          </a:p>
          <a:p>
            <a:pPr marL="171450" indent="-171450" algn="just">
              <a:buFont typeface="Arial" panose="020B0604020202020204" pitchFamily="34" charset="0"/>
              <a:buChar char="•"/>
            </a:pPr>
            <a:r>
              <a:rPr lang="en-US" b="1" dirty="0"/>
              <a:t>Azure Functions Consumption → Flex Consumption:</a:t>
            </a:r>
            <a:br>
              <a:rPr lang="en-US" dirty="0"/>
            </a:br>
            <a:r>
              <a:rPr lang="en-US" dirty="0"/>
              <a:t>The new documentation provides detailed, step-by-step instructions for migrating existing Azure Functions apps. It includes guidance on updating infrastructure-as-code definitions (ARM/Bicep), making necessary configuration changes, and using newly introduced Azure CLI commands to automate portions of the migration.</a:t>
            </a:r>
          </a:p>
          <a:p>
            <a:pPr marL="171450" indent="-171450" algn="just">
              <a:buFont typeface="Arial" panose="020B0604020202020204" pitchFamily="34" charset="0"/>
              <a:buChar char="•"/>
            </a:pPr>
            <a:r>
              <a:rPr lang="en-US" b="1" dirty="0"/>
              <a:t>AWS Lambda → Azure Functions Flex Consumption:</a:t>
            </a:r>
            <a:br>
              <a:rPr lang="en-US" dirty="0"/>
            </a:br>
            <a:r>
              <a:rPr lang="en-US" dirty="0"/>
              <a:t>This guide explains how to map AWS Lambda concepts to Azure Functions, outlines code porting strategies, and highlights best practices for deploying to Flex Consumption. It also includes recommendations for using GitHub Copilot in Visual Studio Code to assist with code refactoring, as well as manual migration techniques for more nuanced changes.</a:t>
            </a:r>
          </a:p>
          <a:p>
            <a:pPr algn="just"/>
            <a:r>
              <a:rPr lang="en-US" dirty="0"/>
              <a:t>These resources are designed to reduce downtime and simplify adoption, helping organizations take full advantage of Flex Consumption’s improved scalability, networking capabilities, and cost controls.</a:t>
            </a:r>
          </a:p>
          <a:p>
            <a:pPr algn="just"/>
            <a:endParaRPr lang="en-US" dirty="0"/>
          </a:p>
        </p:txBody>
      </p:sp>
    </p:spTree>
    <p:extLst>
      <p:ext uri="{BB962C8B-B14F-4D97-AF65-F5344CB8AC3E}">
        <p14:creationId xmlns:p14="http://schemas.microsoft.com/office/powerpoint/2010/main" val="3649135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A2AAD6F-3C71-FE0F-8A7F-92D9C2D56FC8}"/>
              </a:ext>
            </a:extLst>
          </p:cNvPr>
          <p:cNvSpPr>
            <a:spLocks noGrp="1"/>
          </p:cNvSpPr>
          <p:nvPr>
            <p:ph type="body" sz="quarter" idx="10"/>
          </p:nvPr>
        </p:nvSpPr>
        <p:spPr/>
        <p:txBody>
          <a:bodyPr/>
          <a:lstStyle/>
          <a:p>
            <a:pPr algn="just"/>
            <a:r>
              <a:rPr lang="en-US" sz="1000" dirty="0">
                <a:hlinkClick r:id="rId2"/>
              </a:rPr>
              <a:t>Generally Available: Azure Functions enables </a:t>
            </a:r>
            <a:r>
              <a:rPr lang="en-US" sz="1000" dirty="0" err="1">
                <a:hlinkClick r:id="rId2"/>
              </a:rPr>
              <a:t>OpenTelemetry</a:t>
            </a:r>
            <a:r>
              <a:rPr lang="en-US" sz="1000" dirty="0">
                <a:hlinkClick r:id="rId2"/>
              </a:rPr>
              <a:t> support</a:t>
            </a:r>
            <a:endParaRPr lang="en-US" sz="1000" dirty="0"/>
          </a:p>
          <a:p>
            <a:pPr algn="just"/>
            <a:r>
              <a:rPr lang="en-US" sz="1000" dirty="0"/>
              <a:t>Azure Functions now offers </a:t>
            </a:r>
            <a:r>
              <a:rPr lang="en-US" sz="1000" b="1" dirty="0"/>
              <a:t>general availability support for </a:t>
            </a:r>
            <a:r>
              <a:rPr lang="en-US" sz="1000" b="1" dirty="0" err="1"/>
              <a:t>OpenTelemetry</a:t>
            </a:r>
            <a:r>
              <a:rPr lang="en-US" sz="1000" dirty="0"/>
              <a:t>, enabling developers to export logs, traces, and metrics using open, industry-standard formats. Building on the earlier public preview, this release delivers a fully supported, production-grade observability experience for serverless applications.</a:t>
            </a:r>
          </a:p>
          <a:p>
            <a:pPr algn="just"/>
            <a:r>
              <a:rPr lang="en-US" sz="1000" dirty="0"/>
              <a:t>With this GA release, Azure Functions provides:</a:t>
            </a:r>
          </a:p>
          <a:p>
            <a:pPr marL="171450" indent="-171450" algn="just">
              <a:buFont typeface="Arial" panose="020B0604020202020204" pitchFamily="34" charset="0"/>
              <a:buChar char="•"/>
            </a:pPr>
            <a:r>
              <a:rPr lang="en-US" sz="1000" b="1" dirty="0"/>
              <a:t>Unified observability</a:t>
            </a:r>
            <a:r>
              <a:rPr lang="en-US" sz="1000" dirty="0"/>
              <a:t> – Standardized logs, traces, and metrics across serverless workloads.</a:t>
            </a:r>
          </a:p>
          <a:p>
            <a:pPr marL="171450" indent="-171450" algn="just">
              <a:buFont typeface="Arial" panose="020B0604020202020204" pitchFamily="34" charset="0"/>
              <a:buChar char="•"/>
            </a:pPr>
            <a:r>
              <a:rPr lang="en-US" sz="1000" b="1" dirty="0"/>
              <a:t>Vendor-neutral telemetry</a:t>
            </a:r>
            <a:r>
              <a:rPr lang="en-US" sz="1000" dirty="0"/>
              <a:t> – Integration with Azure Monitor or any </a:t>
            </a:r>
            <a:r>
              <a:rPr lang="en-US" sz="1000" dirty="0" err="1"/>
              <a:t>OpenTelemetry</a:t>
            </a:r>
            <a:r>
              <a:rPr lang="en-US" sz="1000" dirty="0"/>
              <a:t>-compliant backend.</a:t>
            </a:r>
          </a:p>
          <a:p>
            <a:pPr marL="171450" indent="-171450" algn="just">
              <a:buFont typeface="Arial" panose="020B0604020202020204" pitchFamily="34" charset="0"/>
              <a:buChar char="•"/>
            </a:pPr>
            <a:r>
              <a:rPr lang="en-US" sz="1000" b="1" dirty="0"/>
              <a:t>Broad language support</a:t>
            </a:r>
            <a:r>
              <a:rPr lang="en-US" sz="1000" dirty="0"/>
              <a:t> – Available for .NET (isolated), Java, JavaScript, Python, PowerShell, and TypeScript.</a:t>
            </a:r>
          </a:p>
          <a:p>
            <a:pPr algn="just"/>
            <a:r>
              <a:rPr lang="en-US" sz="1000" dirty="0"/>
              <a:t>Organizations can now adopt </a:t>
            </a:r>
            <a:r>
              <a:rPr lang="en-US" sz="1000" dirty="0" err="1"/>
              <a:t>OpenTelemetry</a:t>
            </a:r>
            <a:r>
              <a:rPr lang="en-US" sz="1000" dirty="0"/>
              <a:t> in Azure Functions to bring modern, standards-based observability to their applications. Documentation is available with step-by-step guidance for enabling </a:t>
            </a:r>
            <a:r>
              <a:rPr lang="en-US" sz="1000" dirty="0" err="1"/>
              <a:t>OpenTelemetry</a:t>
            </a:r>
            <a:r>
              <a:rPr lang="en-US" sz="1000" dirty="0"/>
              <a:t> and configuring exporters for preferred telemetry backends.</a:t>
            </a:r>
          </a:p>
          <a:p>
            <a:pPr algn="just"/>
            <a:endParaRPr lang="en-US" sz="1000" dirty="0"/>
          </a:p>
        </p:txBody>
      </p:sp>
      <p:sp>
        <p:nvSpPr>
          <p:cNvPr id="3" name="Title 2">
            <a:extLst>
              <a:ext uri="{FF2B5EF4-FFF2-40B4-BE49-F238E27FC236}">
                <a16:creationId xmlns:a16="http://schemas.microsoft.com/office/drawing/2014/main" id="{9064FE2C-3A18-E8F4-A4DF-68A30D3D6F7F}"/>
              </a:ext>
            </a:extLst>
          </p:cNvPr>
          <p:cNvSpPr>
            <a:spLocks noGrp="1"/>
          </p:cNvSpPr>
          <p:nvPr>
            <p:ph type="title"/>
          </p:nvPr>
        </p:nvSpPr>
        <p:spPr/>
        <p:txBody>
          <a:bodyPr/>
          <a:lstStyle/>
          <a:p>
            <a:r>
              <a:rPr lang="en-US" sz="1800" dirty="0"/>
              <a:t>Compute Updates (Azure Functions) 3/4</a:t>
            </a:r>
            <a:endParaRPr lang="en-US" dirty="0"/>
          </a:p>
        </p:txBody>
      </p:sp>
      <p:sp>
        <p:nvSpPr>
          <p:cNvPr id="4" name="Text Placeholder 3">
            <a:extLst>
              <a:ext uri="{FF2B5EF4-FFF2-40B4-BE49-F238E27FC236}">
                <a16:creationId xmlns:a16="http://schemas.microsoft.com/office/drawing/2014/main" id="{C8FF0CE5-941E-7726-8654-99E895EBFEA3}"/>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6166633B-10A8-E2A9-DA18-9ADE1E2B0309}"/>
              </a:ext>
            </a:extLst>
          </p:cNvPr>
          <p:cNvSpPr>
            <a:spLocks noGrp="1"/>
          </p:cNvSpPr>
          <p:nvPr>
            <p:ph type="body" sz="quarter" idx="16"/>
          </p:nvPr>
        </p:nvSpPr>
        <p:spPr/>
        <p:txBody>
          <a:bodyPr/>
          <a:lstStyle/>
          <a:p>
            <a:pPr algn="just"/>
            <a:r>
              <a:rPr lang="en-US" dirty="0">
                <a:hlinkClick r:id="rId3"/>
              </a:rPr>
              <a:t>Generally Available: Model Context Protocol (MCP) tool trigger for Azure Functions</a:t>
            </a:r>
            <a:endParaRPr lang="en-US" dirty="0"/>
          </a:p>
          <a:p>
            <a:pPr algn="just"/>
            <a:r>
              <a:rPr lang="en-US" b="1" dirty="0"/>
              <a:t>The Azure Functions MCP tool trigger is now generally available</a:t>
            </a:r>
            <a:r>
              <a:rPr lang="en-US" dirty="0"/>
              <a:t>, enabling developers to build </a:t>
            </a:r>
            <a:r>
              <a:rPr lang="en-US" b="1" dirty="0"/>
              <a:t>remote Model Context Protocol (MCP) tools</a:t>
            </a:r>
            <a:r>
              <a:rPr lang="en-US" dirty="0"/>
              <a:t> that operate at cloud scale.</a:t>
            </a:r>
          </a:p>
          <a:p>
            <a:pPr algn="just"/>
            <a:r>
              <a:rPr lang="en-US" dirty="0"/>
              <a:t>MCP provides a standardized way for applications to expose capabilities and context to large language models, with tools being a key mechanism for enabling agent actions. While MCP servers can run locally, remote servers are required for scalable, enterprise-grade tool hosting.</a:t>
            </a:r>
          </a:p>
          <a:p>
            <a:pPr algn="just"/>
            <a:r>
              <a:rPr lang="en-US" dirty="0"/>
              <a:t>With this GA release, developers can now implement MCP tools using </a:t>
            </a:r>
            <a:r>
              <a:rPr lang="en-US" b="1" dirty="0"/>
              <a:t>Azure Functions</a:t>
            </a:r>
            <a:r>
              <a:rPr lang="en-US" dirty="0"/>
              <a:t>, benefiting from:</a:t>
            </a:r>
          </a:p>
          <a:p>
            <a:pPr marL="171450" indent="-171450" algn="just">
              <a:buFont typeface="Arial" panose="020B0604020202020204" pitchFamily="34" charset="0"/>
              <a:buChar char="•"/>
            </a:pPr>
            <a:r>
              <a:rPr lang="en-US" b="1" dirty="0"/>
              <a:t>Event-driven execution</a:t>
            </a:r>
            <a:endParaRPr lang="en-US" dirty="0"/>
          </a:p>
          <a:p>
            <a:pPr marL="171450" indent="-171450" algn="just">
              <a:buFont typeface="Arial" panose="020B0604020202020204" pitchFamily="34" charset="0"/>
              <a:buChar char="•"/>
            </a:pPr>
            <a:r>
              <a:rPr lang="en-US" b="1" dirty="0"/>
              <a:t>Automatic scaling</a:t>
            </a:r>
            <a:endParaRPr lang="en-US" dirty="0"/>
          </a:p>
          <a:p>
            <a:pPr marL="171450" indent="-171450" algn="just">
              <a:buFont typeface="Arial" panose="020B0604020202020204" pitchFamily="34" charset="0"/>
              <a:buChar char="•"/>
            </a:pPr>
            <a:r>
              <a:rPr lang="en-US" b="1" dirty="0"/>
              <a:t>Fully managed infrastructure</a:t>
            </a:r>
            <a:endParaRPr lang="en-US" dirty="0"/>
          </a:p>
          <a:p>
            <a:pPr algn="just"/>
            <a:r>
              <a:rPr lang="en-US" dirty="0"/>
              <a:t>Developers focus solely on the tool’s logic while Azure Functions handles scaling, reliability, and operations—making it easier than ever to build cloud-hosted MCP tools.</a:t>
            </a:r>
          </a:p>
          <a:p>
            <a:pPr algn="just"/>
            <a:endParaRPr lang="en-US" dirty="0"/>
          </a:p>
        </p:txBody>
      </p:sp>
    </p:spTree>
    <p:extLst>
      <p:ext uri="{BB962C8B-B14F-4D97-AF65-F5344CB8AC3E}">
        <p14:creationId xmlns:p14="http://schemas.microsoft.com/office/powerpoint/2010/main" val="2871784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4" end="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11A85FE-1987-9AD0-1DFC-F21A8607760D}"/>
              </a:ext>
            </a:extLst>
          </p:cNvPr>
          <p:cNvSpPr>
            <a:spLocks noGrp="1"/>
          </p:cNvSpPr>
          <p:nvPr>
            <p:ph type="body" sz="quarter" idx="10"/>
          </p:nvPr>
        </p:nvSpPr>
        <p:spPr/>
        <p:txBody>
          <a:bodyPr/>
          <a:lstStyle/>
          <a:p>
            <a:endParaRPr lang="en-US" dirty="0"/>
          </a:p>
        </p:txBody>
      </p:sp>
      <p:sp>
        <p:nvSpPr>
          <p:cNvPr id="3" name="Title 2">
            <a:extLst>
              <a:ext uri="{FF2B5EF4-FFF2-40B4-BE49-F238E27FC236}">
                <a16:creationId xmlns:a16="http://schemas.microsoft.com/office/drawing/2014/main" id="{B35E4146-E899-7528-9828-BFC8EB72CC45}"/>
              </a:ext>
            </a:extLst>
          </p:cNvPr>
          <p:cNvSpPr>
            <a:spLocks noGrp="1"/>
          </p:cNvSpPr>
          <p:nvPr>
            <p:ph type="title"/>
          </p:nvPr>
        </p:nvSpPr>
        <p:spPr/>
        <p:txBody>
          <a:bodyPr/>
          <a:lstStyle/>
          <a:p>
            <a:r>
              <a:rPr lang="en-US" sz="1600" dirty="0"/>
              <a:t>Compute Updates (Azure Functions) 4/4</a:t>
            </a:r>
            <a:endParaRPr lang="en-US" dirty="0"/>
          </a:p>
        </p:txBody>
      </p:sp>
      <p:sp>
        <p:nvSpPr>
          <p:cNvPr id="4" name="Text Placeholder 3">
            <a:extLst>
              <a:ext uri="{FF2B5EF4-FFF2-40B4-BE49-F238E27FC236}">
                <a16:creationId xmlns:a16="http://schemas.microsoft.com/office/drawing/2014/main" id="{58946E1D-9C88-3D69-D545-D21A98ED65AB}"/>
              </a:ext>
            </a:extLst>
          </p:cNvPr>
          <p:cNvSpPr>
            <a:spLocks noGrp="1"/>
          </p:cNvSpPr>
          <p:nvPr>
            <p:ph type="body" sz="quarter" idx="15"/>
          </p:nvPr>
        </p:nvSpPr>
        <p:spPr/>
        <p:txBody>
          <a:bodyPr/>
          <a:lstStyle/>
          <a:p>
            <a:endParaRPr lang="en-US"/>
          </a:p>
        </p:txBody>
      </p:sp>
      <p:sp>
        <p:nvSpPr>
          <p:cNvPr id="6" name="Text Placeholder 4">
            <a:extLst>
              <a:ext uri="{FF2B5EF4-FFF2-40B4-BE49-F238E27FC236}">
                <a16:creationId xmlns:a16="http://schemas.microsoft.com/office/drawing/2014/main" id="{02D4E42E-84FF-B0FE-65FA-7E258416F6DB}"/>
              </a:ext>
            </a:extLst>
          </p:cNvPr>
          <p:cNvSpPr>
            <a:spLocks noGrp="1"/>
          </p:cNvSpPr>
          <p:nvPr>
            <p:ph type="body" sz="quarter" idx="16"/>
          </p:nvPr>
        </p:nvSpPr>
        <p:spPr>
          <a:xfrm>
            <a:off x="342900" y="855663"/>
            <a:ext cx="3956050" cy="3773487"/>
          </a:xfrm>
        </p:spPr>
        <p:txBody>
          <a:bodyPr/>
          <a:lstStyle/>
          <a:p>
            <a:pPr algn="just"/>
            <a:r>
              <a:rPr lang="en-US" dirty="0">
                <a:hlinkClick r:id="rId2"/>
              </a:rPr>
              <a:t>Generally Available: Azure Functions durable task scheduler Dedicated SKU (GA) &amp; Consumption SKU (Public Preview)</a:t>
            </a:r>
            <a:endParaRPr lang="en-US" dirty="0"/>
          </a:p>
          <a:p>
            <a:pPr algn="just"/>
            <a:r>
              <a:rPr lang="en-US" dirty="0"/>
              <a:t>Microsoft’s </a:t>
            </a:r>
            <a:r>
              <a:rPr lang="en-US" b="1" dirty="0"/>
              <a:t>Azure Functions durable task scheduler</a:t>
            </a:r>
            <a:r>
              <a:rPr lang="en-US" dirty="0"/>
              <a:t>—designed for complex workflows and intelligent agents—is now </a:t>
            </a:r>
            <a:r>
              <a:rPr lang="en-US" b="1" dirty="0"/>
              <a:t>generally available</a:t>
            </a:r>
            <a:r>
              <a:rPr lang="en-US" dirty="0"/>
              <a:t> on the </a:t>
            </a:r>
            <a:r>
              <a:rPr lang="en-US" b="1" dirty="0"/>
              <a:t>Dedicated SKU</a:t>
            </a:r>
            <a:r>
              <a:rPr lang="en-US" dirty="0"/>
              <a:t>, with the </a:t>
            </a:r>
            <a:r>
              <a:rPr lang="en-US" b="1" dirty="0"/>
              <a:t>Consumption SKU in public preview</a:t>
            </a:r>
            <a:r>
              <a:rPr lang="en-US" dirty="0"/>
              <a:t>.</a:t>
            </a:r>
          </a:p>
          <a:p>
            <a:pPr algn="just"/>
            <a:r>
              <a:rPr lang="en-US" dirty="0"/>
              <a:t>The scheduler provides resilient orchestration with automatic checkpointing and state management, ensuring fault-tolerant execution for cloud-native and agentic applications.</a:t>
            </a:r>
          </a:p>
          <a:p>
            <a:pPr marL="171450" indent="-171450" algn="just">
              <a:buFont typeface="Arial" panose="020B0604020202020204" pitchFamily="34" charset="0"/>
              <a:buChar char="•"/>
            </a:pPr>
            <a:r>
              <a:rPr lang="en-US" b="1" dirty="0"/>
              <a:t>Dedicated SKU (GA):</a:t>
            </a:r>
            <a:r>
              <a:rPr lang="en-US" dirty="0"/>
              <a:t> Predictable pricing for steady, long-running, or mission-critical workflows.</a:t>
            </a:r>
          </a:p>
          <a:p>
            <a:pPr marL="171450" indent="-171450" algn="just">
              <a:buFont typeface="Arial" panose="020B0604020202020204" pitchFamily="34" charset="0"/>
              <a:buChar char="•"/>
            </a:pPr>
            <a:r>
              <a:rPr lang="en-US" b="1" dirty="0"/>
              <a:t>Consumption SKU (Preview):</a:t>
            </a:r>
            <a:r>
              <a:rPr lang="en-US" dirty="0"/>
              <a:t> Flexible, pay-as-you-go pricing ideal for dynamic, bursty, or event-driven workloads.</a:t>
            </a:r>
          </a:p>
          <a:p>
            <a:pPr algn="just"/>
            <a:r>
              <a:rPr lang="en-US" dirty="0"/>
              <a:t>These options give organizations full control over cost and performance when building reliable, large-scale orchestrations on Azure Functions.</a:t>
            </a:r>
          </a:p>
          <a:p>
            <a:pPr algn="just"/>
            <a:endParaRPr lang="en-US" dirty="0"/>
          </a:p>
        </p:txBody>
      </p:sp>
    </p:spTree>
    <p:extLst>
      <p:ext uri="{BB962C8B-B14F-4D97-AF65-F5344CB8AC3E}">
        <p14:creationId xmlns:p14="http://schemas.microsoft.com/office/powerpoint/2010/main" val="780258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60CE90B-3141-B03F-BF75-ED7AAB5249A0}"/>
              </a:ext>
            </a:extLst>
          </p:cNvPr>
          <p:cNvSpPr>
            <a:spLocks noGrp="1"/>
          </p:cNvSpPr>
          <p:nvPr>
            <p:ph type="body" sz="quarter" idx="10"/>
          </p:nvPr>
        </p:nvSpPr>
        <p:spPr/>
        <p:txBody>
          <a:bodyPr/>
          <a:lstStyle/>
          <a:p>
            <a:pPr algn="just"/>
            <a:r>
              <a:rPr lang="en-US" sz="1000" dirty="0">
                <a:hlinkClick r:id="rId2"/>
              </a:rPr>
              <a:t>Public Preview: New healthcare connectors for Azure Logic Apps</a:t>
            </a:r>
            <a:endParaRPr lang="en-US" sz="1000" dirty="0"/>
          </a:p>
          <a:p>
            <a:pPr algn="just"/>
            <a:r>
              <a:rPr lang="en-US" sz="1000" dirty="0"/>
              <a:t>Two new connectors are now in </a:t>
            </a:r>
            <a:r>
              <a:rPr lang="en-US" sz="1000" b="1" dirty="0"/>
              <a:t>public preview</a:t>
            </a:r>
            <a:r>
              <a:rPr lang="en-US" sz="1000" dirty="0"/>
              <a:t> for Azure Logic Apps:</a:t>
            </a:r>
          </a:p>
          <a:p>
            <a:pPr marL="171450" indent="-171450" algn="just">
              <a:buFont typeface="Arial" panose="020B0604020202020204" pitchFamily="34" charset="0"/>
              <a:buChar char="•"/>
            </a:pPr>
            <a:r>
              <a:rPr lang="en-US" sz="1000" b="1" dirty="0"/>
              <a:t>HL7 connector:</a:t>
            </a:r>
            <a:r>
              <a:rPr lang="en-US" sz="1000" dirty="0"/>
              <a:t> Supports seamless healthcare data exchange using HL7 messaging standards and helps modernize BizTalk-based integrations.</a:t>
            </a:r>
          </a:p>
          <a:p>
            <a:pPr marL="171450" indent="-171450" algn="just">
              <a:buFont typeface="Arial" panose="020B0604020202020204" pitchFamily="34" charset="0"/>
              <a:buChar char="•"/>
            </a:pPr>
            <a:r>
              <a:rPr lang="en-US" sz="1000" b="1" dirty="0"/>
              <a:t>MLLP connector:</a:t>
            </a:r>
            <a:r>
              <a:rPr lang="en-US" sz="1000" dirty="0"/>
              <a:t> Adds Minimal Lower Layer Protocol support for connecting to healthcare systems and enables BizTalk migration scenarios, available in the Logic Apps Hybrid deployment model.</a:t>
            </a:r>
          </a:p>
          <a:p>
            <a:pPr algn="just"/>
            <a:r>
              <a:rPr lang="en-US" sz="1000" dirty="0"/>
              <a:t>These additions further strengthen Logic Apps as a platform for enterprise-grade, event-driven, and healthcare-integrated workflows—bridging cloud, on-premises, and industry-specific systems with ease.</a:t>
            </a:r>
          </a:p>
        </p:txBody>
      </p:sp>
      <p:sp>
        <p:nvSpPr>
          <p:cNvPr id="3" name="Title 2">
            <a:extLst>
              <a:ext uri="{FF2B5EF4-FFF2-40B4-BE49-F238E27FC236}">
                <a16:creationId xmlns:a16="http://schemas.microsoft.com/office/drawing/2014/main" id="{DD5D46F5-596A-087B-118C-21D01BE3B58E}"/>
              </a:ext>
            </a:extLst>
          </p:cNvPr>
          <p:cNvSpPr>
            <a:spLocks noGrp="1"/>
          </p:cNvSpPr>
          <p:nvPr>
            <p:ph type="title"/>
          </p:nvPr>
        </p:nvSpPr>
        <p:spPr/>
        <p:txBody>
          <a:bodyPr/>
          <a:lstStyle/>
          <a:p>
            <a:r>
              <a:rPr lang="en-US" sz="1600" dirty="0"/>
              <a:t>Compute Updates (Azure Logical Apps)</a:t>
            </a:r>
            <a:endParaRPr lang="en-US" dirty="0"/>
          </a:p>
        </p:txBody>
      </p:sp>
      <p:sp>
        <p:nvSpPr>
          <p:cNvPr id="4" name="Text Placeholder 3">
            <a:extLst>
              <a:ext uri="{FF2B5EF4-FFF2-40B4-BE49-F238E27FC236}">
                <a16:creationId xmlns:a16="http://schemas.microsoft.com/office/drawing/2014/main" id="{125AF2D1-B78A-1E39-CB4E-7857F609AA45}"/>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3CF3EC05-5DB8-8564-D2A1-4142E45F9D08}"/>
              </a:ext>
            </a:extLst>
          </p:cNvPr>
          <p:cNvSpPr>
            <a:spLocks noGrp="1"/>
          </p:cNvSpPr>
          <p:nvPr>
            <p:ph type="body" sz="quarter" idx="16"/>
          </p:nvPr>
        </p:nvSpPr>
        <p:spPr>
          <a:xfrm>
            <a:off x="342900" y="855081"/>
            <a:ext cx="3955312" cy="2684756"/>
          </a:xfrm>
        </p:spPr>
        <p:txBody>
          <a:bodyPr/>
          <a:lstStyle/>
          <a:p>
            <a:pPr algn="just"/>
            <a:r>
              <a:rPr lang="en-US" dirty="0">
                <a:hlinkClick r:id="rId3"/>
              </a:rPr>
              <a:t>Public Preview: Redesigned designer experience for Azure Logic Apps [Standard]</a:t>
            </a:r>
            <a:endParaRPr lang="en-US" dirty="0"/>
          </a:p>
          <a:p>
            <a:pPr algn="just"/>
            <a:r>
              <a:rPr lang="en-US" dirty="0"/>
              <a:t>The updated Logic Apps designer introduces a more streamlined and integrated workflow experience by bringing </a:t>
            </a:r>
            <a:r>
              <a:rPr lang="en-US" b="1" dirty="0"/>
              <a:t>run history and workflow editing into a single unified view</a:t>
            </a:r>
            <a:r>
              <a:rPr lang="en-US" dirty="0"/>
              <a:t>, making it easier to iterate, debug, and optimize workflows.</a:t>
            </a:r>
          </a:p>
          <a:p>
            <a:pPr algn="just"/>
            <a:r>
              <a:rPr lang="en-US" dirty="0"/>
              <a:t>Key enhancements include:</a:t>
            </a:r>
          </a:p>
          <a:p>
            <a:pPr marL="171450" indent="-171450" algn="just">
              <a:buFont typeface="Arial" panose="020B0604020202020204" pitchFamily="34" charset="0"/>
              <a:buChar char="•"/>
            </a:pPr>
            <a:r>
              <a:rPr lang="en-US" b="1" dirty="0"/>
              <a:t>Improved run visualization</a:t>
            </a:r>
            <a:r>
              <a:rPr lang="en-US" dirty="0"/>
              <a:t> for faster, clearer troubleshooting</a:t>
            </a:r>
          </a:p>
          <a:p>
            <a:pPr marL="171450" indent="-171450" algn="just">
              <a:buFont typeface="Arial" panose="020B0604020202020204" pitchFamily="34" charset="0"/>
              <a:buChar char="•"/>
            </a:pPr>
            <a:r>
              <a:rPr lang="en-US" b="1" dirty="0"/>
              <a:t>A cleaner design-time interface</a:t>
            </a:r>
            <a:r>
              <a:rPr lang="en-US" dirty="0"/>
              <a:t> that removes unnecessary clutter</a:t>
            </a:r>
          </a:p>
          <a:p>
            <a:pPr marL="171450" indent="-171450" algn="just">
              <a:buFont typeface="Arial" panose="020B0604020202020204" pitchFamily="34" charset="0"/>
              <a:buChar char="•"/>
            </a:pPr>
            <a:r>
              <a:rPr lang="en-US" b="1" dirty="0"/>
              <a:t>New Notes feature</a:t>
            </a:r>
            <a:r>
              <a:rPr lang="en-US" dirty="0"/>
              <a:t> that lets you add sticky notes directly on the canvas to document logic, share context with teammates, or leave reminders</a:t>
            </a:r>
          </a:p>
          <a:p>
            <a:pPr algn="just"/>
            <a:r>
              <a:rPr lang="en-US" dirty="0"/>
              <a:t>This redesigned experience is now available as an </a:t>
            </a:r>
            <a:r>
              <a:rPr lang="en-US" b="1" dirty="0"/>
              <a:t>opt-in preview for Logic Apps (Standard)</a:t>
            </a:r>
            <a:r>
              <a:rPr lang="en-US" dirty="0"/>
              <a:t> in the Azure portal, with additional improvements planned for future updates.</a:t>
            </a:r>
          </a:p>
        </p:txBody>
      </p:sp>
    </p:spTree>
    <p:extLst>
      <p:ext uri="{BB962C8B-B14F-4D97-AF65-F5344CB8AC3E}">
        <p14:creationId xmlns:p14="http://schemas.microsoft.com/office/powerpoint/2010/main" val="1040536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027F4-E37F-9EF5-D9EA-7AA6B2B87EEE}"/>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7B3499D8-7C6B-2114-C57A-CC1635D22640}"/>
              </a:ext>
            </a:extLst>
          </p:cNvPr>
          <p:cNvSpPr>
            <a:spLocks noGrp="1"/>
          </p:cNvSpPr>
          <p:nvPr>
            <p:ph type="body" sz="quarter" idx="10"/>
          </p:nvPr>
        </p:nvSpPr>
        <p:spPr>
          <a:xfrm>
            <a:off x="4433776" y="855080"/>
            <a:ext cx="4365038" cy="3425975"/>
          </a:xfrm>
        </p:spPr>
        <p:txBody>
          <a:bodyPr/>
          <a:lstStyle/>
          <a:p>
            <a:pPr algn="just"/>
            <a:r>
              <a:rPr lang="en-US" sz="1000" dirty="0">
                <a:hlinkClick r:id="rId2"/>
              </a:rPr>
              <a:t>Generally Available: Agent Loop in Azure Logic Apps [Standard]</a:t>
            </a:r>
            <a:r>
              <a:rPr lang="en-US" sz="1000" dirty="0"/>
              <a:t> </a:t>
            </a:r>
            <a:r>
              <a:rPr lang="en-US" sz="1000" dirty="0">
                <a:hlinkClick r:id="rId3"/>
              </a:rPr>
              <a:t>&amp; Azure Logic App [Consumptions]</a:t>
            </a:r>
            <a:endParaRPr lang="en-US" sz="1000" dirty="0"/>
          </a:p>
          <a:p>
            <a:pPr algn="just"/>
            <a:r>
              <a:rPr lang="en-US" sz="1000" b="1" dirty="0"/>
              <a:t>Agent Loop</a:t>
            </a:r>
            <a:r>
              <a:rPr lang="en-US" sz="1000" dirty="0"/>
              <a:t> brings agentic intelligence to Azure Logic Apps, enabling workflows that go beyond predefined automation and instead operate as </a:t>
            </a:r>
            <a:r>
              <a:rPr lang="en-US" sz="1000" b="1" dirty="0"/>
              <a:t>goal-driven, adaptive processes</a:t>
            </a:r>
            <a:r>
              <a:rPr lang="en-US" sz="1000" dirty="0"/>
              <a:t>. Rather than executing a fixed sequence of actions, Logic Apps can now reason, decide, and iterate autonomously based on real-time context.</a:t>
            </a:r>
          </a:p>
          <a:p>
            <a:pPr algn="just"/>
            <a:r>
              <a:rPr lang="en-US" sz="1000" b="1" dirty="0"/>
              <a:t>What Agent Loop enables:</a:t>
            </a:r>
            <a:endParaRPr lang="en-US" sz="1000" dirty="0"/>
          </a:p>
          <a:p>
            <a:pPr marL="171450" indent="-171450" algn="just">
              <a:buFont typeface="Arial" panose="020B0604020202020204" pitchFamily="34" charset="0"/>
              <a:buChar char="•"/>
            </a:pPr>
            <a:r>
              <a:rPr lang="en-US" sz="1000" b="1" dirty="0"/>
              <a:t>Goal-driven workflows:</a:t>
            </a:r>
            <a:r>
              <a:rPr lang="en-US" sz="1000" dirty="0"/>
              <a:t> Automatically refine actions and repeat reasoning cycles until an objective is achieved.</a:t>
            </a:r>
          </a:p>
          <a:p>
            <a:pPr marL="171450" indent="-171450" algn="just">
              <a:buFont typeface="Arial" panose="020B0604020202020204" pitchFamily="34" charset="0"/>
              <a:buChar char="•"/>
            </a:pPr>
            <a:r>
              <a:rPr lang="en-US" sz="1000" b="1" dirty="0"/>
              <a:t>Deep enterprise integration:</a:t>
            </a:r>
            <a:r>
              <a:rPr lang="en-US" sz="1000" dirty="0"/>
              <a:t> Leverage 1,400+ connectors to give agents real-time access to business systems and data.</a:t>
            </a:r>
          </a:p>
          <a:p>
            <a:pPr marL="171450" indent="-171450" algn="just">
              <a:buFont typeface="Arial" panose="020B0604020202020204" pitchFamily="34" charset="0"/>
              <a:buChar char="•"/>
            </a:pPr>
            <a:r>
              <a:rPr lang="en-US" sz="1000" b="1" dirty="0"/>
              <a:t>Seamless AI integration:</a:t>
            </a:r>
            <a:r>
              <a:rPr lang="en-US" sz="1000" dirty="0"/>
              <a:t> Connect directly with Azure AI Foundry and choose from a wide range of models and AI services.</a:t>
            </a:r>
          </a:p>
          <a:p>
            <a:pPr marL="171450" indent="-171450" algn="just">
              <a:buFont typeface="Arial" panose="020B0604020202020204" pitchFamily="34" charset="0"/>
              <a:buChar char="•"/>
            </a:pPr>
            <a:r>
              <a:rPr lang="en-US" sz="1000" b="1" dirty="0"/>
              <a:t>Full traceability:</a:t>
            </a:r>
            <a:r>
              <a:rPr lang="en-US" sz="1000" dirty="0"/>
              <a:t> Maintain auditability of reasoning loops for compliance, transparency, and troubleshooting.</a:t>
            </a:r>
          </a:p>
          <a:p>
            <a:pPr algn="just"/>
            <a:r>
              <a:rPr lang="en-US" sz="1000" dirty="0"/>
              <a:t>Agent Loop represents a major advancement in enterprise integration—transforming Logic Apps into a platform for intelligent, adaptive, agentic business processes.</a:t>
            </a:r>
          </a:p>
        </p:txBody>
      </p:sp>
      <p:sp>
        <p:nvSpPr>
          <p:cNvPr id="11" name="Title 10">
            <a:extLst>
              <a:ext uri="{FF2B5EF4-FFF2-40B4-BE49-F238E27FC236}">
                <a16:creationId xmlns:a16="http://schemas.microsoft.com/office/drawing/2014/main" id="{9A87B58C-445F-0F9C-16BF-B45E2CAC6389}"/>
              </a:ext>
            </a:extLst>
          </p:cNvPr>
          <p:cNvSpPr>
            <a:spLocks noGrp="1"/>
          </p:cNvSpPr>
          <p:nvPr>
            <p:ph type="title"/>
          </p:nvPr>
        </p:nvSpPr>
        <p:spPr/>
        <p:txBody>
          <a:bodyPr/>
          <a:lstStyle/>
          <a:p>
            <a:r>
              <a:rPr lang="en-US" sz="1800" dirty="0"/>
              <a:t>Compute Updates (Azure Logical Apps) 1/2</a:t>
            </a:r>
            <a:endParaRPr lang="en-US" dirty="0"/>
          </a:p>
        </p:txBody>
      </p:sp>
      <p:sp>
        <p:nvSpPr>
          <p:cNvPr id="13" name="Text Placeholder 12">
            <a:extLst>
              <a:ext uri="{FF2B5EF4-FFF2-40B4-BE49-F238E27FC236}">
                <a16:creationId xmlns:a16="http://schemas.microsoft.com/office/drawing/2014/main" id="{CD428E81-1DDF-1C0F-CE1C-114C2430C20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256488B-5839-91E1-8F71-2D334A0D3442}"/>
              </a:ext>
            </a:extLst>
          </p:cNvPr>
          <p:cNvSpPr>
            <a:spLocks noGrp="1"/>
          </p:cNvSpPr>
          <p:nvPr>
            <p:ph type="body" sz="quarter" idx="16"/>
          </p:nvPr>
        </p:nvSpPr>
        <p:spPr/>
        <p:txBody>
          <a:bodyPr/>
          <a:lstStyle/>
          <a:p>
            <a:pPr algn="just"/>
            <a:r>
              <a:rPr lang="en-US" dirty="0">
                <a:hlinkClick r:id="rId4"/>
              </a:rPr>
              <a:t>Generally Available: Automated Testing Framework for Logic Apps</a:t>
            </a:r>
            <a:endParaRPr lang="en-US" dirty="0"/>
          </a:p>
          <a:p>
            <a:pPr algn="just"/>
            <a:r>
              <a:rPr lang="en-US" dirty="0"/>
              <a:t>MS announced the general availability of automated testing for </a:t>
            </a:r>
            <a:r>
              <a:rPr lang="en-US" b="1" dirty="0"/>
              <a:t>Azure Logic Apps (Standard) in the Visual Studio Code extension</a:t>
            </a:r>
            <a:r>
              <a:rPr lang="en-US" dirty="0"/>
              <a:t>. This new capability empowers developers and integration specialists to build more reliable workflows by simplifying the unit testing experience directly within their local development environment. </a:t>
            </a:r>
          </a:p>
          <a:p>
            <a:pPr algn="just"/>
            <a:r>
              <a:rPr lang="en-US" dirty="0"/>
              <a:t>Starting with version </a:t>
            </a:r>
            <a:r>
              <a:rPr lang="en-US" b="1" dirty="0"/>
              <a:t>5.58.8 of the Azure Logic Apps (Standard) extension </a:t>
            </a:r>
            <a:r>
              <a:rPr lang="en-US" dirty="0"/>
              <a:t>for Visual Studio Code, you can now: </a:t>
            </a:r>
          </a:p>
          <a:p>
            <a:pPr marL="171450" indent="-171450" algn="just">
              <a:buFont typeface="Arial" panose="020B0604020202020204" pitchFamily="34" charset="0"/>
              <a:buChar char="•"/>
            </a:pPr>
            <a:r>
              <a:rPr lang="en-US" dirty="0"/>
              <a:t>Generate unit tests from existing workflow runs or saved workflow definitions. </a:t>
            </a:r>
          </a:p>
          <a:p>
            <a:pPr marL="171450" indent="-171450" algn="just">
              <a:buFont typeface="Arial" panose="020B0604020202020204" pitchFamily="34" charset="0"/>
              <a:buChar char="•"/>
            </a:pPr>
            <a:r>
              <a:rPr lang="en-US" dirty="0"/>
              <a:t>Edit and customize tests directly within Visual Studio Code. </a:t>
            </a:r>
          </a:p>
          <a:p>
            <a:pPr marL="171450" indent="-171450" algn="just">
              <a:buFont typeface="Arial" panose="020B0604020202020204" pitchFamily="34" charset="0"/>
              <a:buChar char="•"/>
            </a:pPr>
            <a:r>
              <a:rPr lang="en-US" dirty="0"/>
              <a:t>Execute tests locally, enabling faster validation and iteration before deploying to production. </a:t>
            </a:r>
          </a:p>
          <a:p>
            <a:pPr algn="just"/>
            <a:r>
              <a:rPr lang="en-US" dirty="0"/>
              <a:t>The enhanced testing experience combines a visual designer interface and an SDK for test script implementation, both powered by the same Test Runner engine to ensure consistency and accuracy of results regardless of the testing approach used. </a:t>
            </a:r>
          </a:p>
        </p:txBody>
      </p:sp>
    </p:spTree>
    <p:extLst>
      <p:ext uri="{BB962C8B-B14F-4D97-AF65-F5344CB8AC3E}">
        <p14:creationId xmlns:p14="http://schemas.microsoft.com/office/powerpoint/2010/main" val="4233254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E4ED61A-6326-CE27-7405-F2CBEE6CD29C}"/>
              </a:ext>
            </a:extLst>
          </p:cNvPr>
          <p:cNvSpPr>
            <a:spLocks noGrp="1"/>
          </p:cNvSpPr>
          <p:nvPr>
            <p:ph type="title"/>
          </p:nvPr>
        </p:nvSpPr>
        <p:spPr/>
        <p:txBody>
          <a:bodyPr/>
          <a:lstStyle/>
          <a:p>
            <a:r>
              <a:rPr lang="en-US" sz="1800" dirty="0"/>
              <a:t>Compute Updates (Azure Logical Apps) 2/2</a:t>
            </a:r>
            <a:endParaRPr lang="en-US" dirty="0"/>
          </a:p>
        </p:txBody>
      </p:sp>
      <p:sp>
        <p:nvSpPr>
          <p:cNvPr id="4" name="Text Placeholder 3">
            <a:extLst>
              <a:ext uri="{FF2B5EF4-FFF2-40B4-BE49-F238E27FC236}">
                <a16:creationId xmlns:a16="http://schemas.microsoft.com/office/drawing/2014/main" id="{D7D22190-896E-ADE3-A9FB-D589DAF392B4}"/>
              </a:ext>
            </a:extLst>
          </p:cNvPr>
          <p:cNvSpPr>
            <a:spLocks noGrp="1"/>
          </p:cNvSpPr>
          <p:nvPr>
            <p:ph type="body" sz="quarter" idx="15"/>
          </p:nvPr>
        </p:nvSpPr>
        <p:spPr/>
        <p:txBody>
          <a:bodyPr/>
          <a:lstStyle/>
          <a:p>
            <a:endParaRPr lang="en-US"/>
          </a:p>
        </p:txBody>
      </p:sp>
      <p:sp>
        <p:nvSpPr>
          <p:cNvPr id="6" name="Text Placeholder 4">
            <a:extLst>
              <a:ext uri="{FF2B5EF4-FFF2-40B4-BE49-F238E27FC236}">
                <a16:creationId xmlns:a16="http://schemas.microsoft.com/office/drawing/2014/main" id="{7434A2E4-172F-D65A-512F-FA6A223E6AAD}"/>
              </a:ext>
            </a:extLst>
          </p:cNvPr>
          <p:cNvSpPr>
            <a:spLocks noGrp="1"/>
          </p:cNvSpPr>
          <p:nvPr>
            <p:ph type="body" sz="quarter" idx="16"/>
          </p:nvPr>
        </p:nvSpPr>
        <p:spPr>
          <a:xfrm>
            <a:off x="342900" y="855080"/>
            <a:ext cx="3955312" cy="3774069"/>
          </a:xfrm>
        </p:spPr>
        <p:txBody>
          <a:bodyPr/>
          <a:lstStyle/>
          <a:p>
            <a:pPr algn="just"/>
            <a:r>
              <a:rPr lang="en-US" dirty="0">
                <a:hlinkClick r:id="rId2"/>
              </a:rPr>
              <a:t>Private Preview: ActiveMQ and JMS connector for Azure Logic Apps</a:t>
            </a:r>
            <a:endParaRPr lang="en-US" dirty="0"/>
          </a:p>
          <a:p>
            <a:pPr algn="just"/>
            <a:r>
              <a:rPr lang="en-US" dirty="0"/>
              <a:t>Microsoft has introduced the </a:t>
            </a:r>
            <a:r>
              <a:rPr lang="en-US" b="1" dirty="0"/>
              <a:t>private preview</a:t>
            </a:r>
            <a:r>
              <a:rPr lang="en-US" dirty="0"/>
              <a:t> of the </a:t>
            </a:r>
            <a:r>
              <a:rPr lang="en-US" b="1" dirty="0"/>
              <a:t>ActiveMQ/JMS connector for Azure Logic Apps</a:t>
            </a:r>
            <a:r>
              <a:rPr lang="en-US" dirty="0"/>
              <a:t>. This new capability enables Logic Apps to connect to enterprise messaging systems built on </a:t>
            </a:r>
            <a:r>
              <a:rPr lang="en-US" b="1" dirty="0"/>
              <a:t>ActiveMQ</a:t>
            </a:r>
            <a:r>
              <a:rPr lang="en-US" dirty="0"/>
              <a:t> and </a:t>
            </a:r>
            <a:r>
              <a:rPr lang="en-US" b="1" dirty="0"/>
              <a:t>JMS</a:t>
            </a:r>
            <a:r>
              <a:rPr lang="en-US" dirty="0"/>
              <a:t>, unlocking more advanced hybrid integration scenarios across distributed applications and services.</a:t>
            </a:r>
          </a:p>
        </p:txBody>
      </p:sp>
      <p:sp>
        <p:nvSpPr>
          <p:cNvPr id="14" name="Text Placeholder 13">
            <a:extLst>
              <a:ext uri="{FF2B5EF4-FFF2-40B4-BE49-F238E27FC236}">
                <a16:creationId xmlns:a16="http://schemas.microsoft.com/office/drawing/2014/main" id="{49104E40-B616-5259-A98B-8099EE2331BE}"/>
              </a:ext>
            </a:extLst>
          </p:cNvPr>
          <p:cNvSpPr txBox="1">
            <a:spLocks/>
          </p:cNvSpPr>
          <p:nvPr/>
        </p:nvSpPr>
        <p:spPr>
          <a:xfrm>
            <a:off x="4570857" y="855080"/>
            <a:ext cx="3955312"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dirty="0">
                <a:hlinkClick r:id="rId3"/>
              </a:rPr>
              <a:t>Generally Available: New Hybrid Integration Connectors for Azure Logic Apps</a:t>
            </a:r>
            <a:endParaRPr lang="en-US" dirty="0"/>
          </a:p>
          <a:p>
            <a:pPr algn="just"/>
            <a:r>
              <a:rPr lang="en-US" dirty="0"/>
              <a:t>The following connectors are now generally available: </a:t>
            </a:r>
          </a:p>
          <a:p>
            <a:pPr marL="171450" indent="-171450" algn="just">
              <a:buFont typeface="Arial" panose="020B0604020202020204" pitchFamily="34" charset="0"/>
              <a:buChar char="•"/>
            </a:pPr>
            <a:r>
              <a:rPr lang="en-US" b="1" dirty="0"/>
              <a:t>Confluent Kafka connector</a:t>
            </a:r>
            <a:r>
              <a:rPr lang="en-US" dirty="0"/>
              <a:t>: Connect Logic Apps to Confluent Cloud for event streaming and real-time data processing. </a:t>
            </a:r>
          </a:p>
          <a:p>
            <a:pPr marL="171450" indent="-171450" algn="just">
              <a:buFont typeface="Arial" panose="020B0604020202020204" pitchFamily="34" charset="0"/>
              <a:buChar char="•"/>
            </a:pPr>
            <a:r>
              <a:rPr lang="en-US" b="1" dirty="0"/>
              <a:t>XML – Parse and Compose operations</a:t>
            </a:r>
            <a:r>
              <a:rPr lang="en-US" dirty="0"/>
              <a:t>: Easily handle complex XML operations, bridging modern workflows with legacy systems and enabling BizTalk migrations. </a:t>
            </a:r>
          </a:p>
          <a:p>
            <a:pPr marL="171450" indent="-171450" algn="just">
              <a:buFont typeface="Arial" panose="020B0604020202020204" pitchFamily="34" charset="0"/>
              <a:buChar char="•"/>
            </a:pPr>
            <a:r>
              <a:rPr lang="en-US" b="1" dirty="0"/>
              <a:t>Inline Code operations (C#, PowerShell, JavaScript): </a:t>
            </a:r>
            <a:r>
              <a:rPr lang="en-US" dirty="0"/>
              <a:t>Execute inline code for advanced logic, data manipulation, and integration flexibility. </a:t>
            </a:r>
          </a:p>
          <a:p>
            <a:pPr marL="171450" indent="-171450" algn="just">
              <a:buFont typeface="Arial" panose="020B0604020202020204" pitchFamily="34" charset="0"/>
              <a:buChar char="•"/>
            </a:pPr>
            <a:r>
              <a:rPr lang="en-US" b="1" dirty="0"/>
              <a:t>RabbitMQ connector</a:t>
            </a:r>
            <a:r>
              <a:rPr lang="en-US" dirty="0"/>
              <a:t>: Integrate with RabbitMQ for reliable message queuing across distributed systems. Ideal for on-premises scenarios. </a:t>
            </a:r>
          </a:p>
          <a:p>
            <a:pPr algn="just"/>
            <a:r>
              <a:rPr lang="en-US" dirty="0"/>
              <a:t>These enhancements strengthen Azure Logic Apps as the foundation for enterprise-grade, event-driven workflows, bridging on-premises, cloud, and industry-specific systems with ease. </a:t>
            </a:r>
          </a:p>
        </p:txBody>
      </p:sp>
    </p:spTree>
    <p:extLst>
      <p:ext uri="{BB962C8B-B14F-4D97-AF65-F5344CB8AC3E}">
        <p14:creationId xmlns:p14="http://schemas.microsoft.com/office/powerpoint/2010/main" val="2541907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BDF78E-75DA-B064-0D43-95E7C0F057BC}"/>
              </a:ext>
            </a:extLst>
          </p:cNvPr>
          <p:cNvSpPr>
            <a:spLocks noGrp="1"/>
          </p:cNvSpPr>
          <p:nvPr>
            <p:ph type="title"/>
          </p:nvPr>
        </p:nvSpPr>
        <p:spPr/>
        <p:txBody>
          <a:bodyPr/>
          <a:lstStyle/>
          <a:p>
            <a:r>
              <a:rPr lang="en-US" sz="1600" dirty="0"/>
              <a:t>Compute Updates (Azure Red Hat OpenShift) 1/1</a:t>
            </a:r>
            <a:endParaRPr lang="en-US" dirty="0"/>
          </a:p>
        </p:txBody>
      </p:sp>
      <p:sp>
        <p:nvSpPr>
          <p:cNvPr id="4" name="Text Placeholder 3">
            <a:extLst>
              <a:ext uri="{FF2B5EF4-FFF2-40B4-BE49-F238E27FC236}">
                <a16:creationId xmlns:a16="http://schemas.microsoft.com/office/drawing/2014/main" id="{09602A59-63F5-3420-2210-43E67214CCB8}"/>
              </a:ext>
            </a:extLst>
          </p:cNvPr>
          <p:cNvSpPr>
            <a:spLocks noGrp="1"/>
          </p:cNvSpPr>
          <p:nvPr>
            <p:ph type="body" sz="quarter" idx="15"/>
          </p:nvPr>
        </p:nvSpPr>
        <p:spPr/>
        <p:txBody>
          <a:bodyPr/>
          <a:lstStyle/>
          <a:p>
            <a:endParaRPr lang="en-US"/>
          </a:p>
        </p:txBody>
      </p:sp>
      <p:sp>
        <p:nvSpPr>
          <p:cNvPr id="6" name="Text Placeholder 4">
            <a:extLst>
              <a:ext uri="{FF2B5EF4-FFF2-40B4-BE49-F238E27FC236}">
                <a16:creationId xmlns:a16="http://schemas.microsoft.com/office/drawing/2014/main" id="{D5ECD2EB-51A4-2BF7-C6CF-F18586086140}"/>
              </a:ext>
            </a:extLst>
          </p:cNvPr>
          <p:cNvSpPr>
            <a:spLocks noGrp="1"/>
          </p:cNvSpPr>
          <p:nvPr>
            <p:ph type="body" sz="quarter" idx="16"/>
          </p:nvPr>
        </p:nvSpPr>
        <p:spPr>
          <a:xfrm>
            <a:off x="342900" y="855081"/>
            <a:ext cx="3955312" cy="1333938"/>
          </a:xfrm>
        </p:spPr>
        <p:txBody>
          <a:bodyPr/>
          <a:lstStyle/>
          <a:p>
            <a:pPr algn="just"/>
            <a:r>
              <a:rPr lang="en-US" dirty="0">
                <a:hlinkClick r:id="rId2"/>
              </a:rPr>
              <a:t>Azure Red Hat OpenShift Confidential Containers: General Availability Announced</a:t>
            </a:r>
            <a:endParaRPr lang="en-US" dirty="0"/>
          </a:p>
          <a:p>
            <a:pPr algn="just"/>
            <a:r>
              <a:rPr lang="en-US" dirty="0"/>
              <a:t>This new capability brings Azure </a:t>
            </a:r>
            <a:r>
              <a:rPr lang="en-US" b="1" dirty="0"/>
              <a:t>Confidential Computing</a:t>
            </a:r>
            <a:r>
              <a:rPr lang="en-US" dirty="0"/>
              <a:t> protections to </a:t>
            </a:r>
            <a:r>
              <a:rPr lang="en-US" b="1" dirty="0"/>
              <a:t>Red Hat OpenShift</a:t>
            </a:r>
            <a:r>
              <a:rPr lang="en-US" dirty="0"/>
              <a:t>, enabling data-in-use encryption and workload attestation for sensitive applications. Organizations can now secure data even while it is being processed and verify workload integrity in a zero-trust environment—extending confidential computing benefits to OpenShift-based deployments.</a:t>
            </a:r>
          </a:p>
        </p:txBody>
      </p:sp>
      <p:pic>
        <p:nvPicPr>
          <p:cNvPr id="7" name="Picture 6">
            <a:extLst>
              <a:ext uri="{FF2B5EF4-FFF2-40B4-BE49-F238E27FC236}">
                <a16:creationId xmlns:a16="http://schemas.microsoft.com/office/drawing/2014/main" id="{C8B1AF7B-3456-25E2-3E9E-5433D993AE5F}"/>
              </a:ext>
            </a:extLst>
          </p:cNvPr>
          <p:cNvPicPr>
            <a:picLocks noChangeAspect="1"/>
          </p:cNvPicPr>
          <p:nvPr/>
        </p:nvPicPr>
        <p:blipFill>
          <a:blip r:embed="rId3"/>
          <a:stretch>
            <a:fillRect/>
          </a:stretch>
        </p:blipFill>
        <p:spPr>
          <a:xfrm>
            <a:off x="446088" y="2237511"/>
            <a:ext cx="3748936" cy="1932708"/>
          </a:xfrm>
          <a:prstGeom prst="rect">
            <a:avLst/>
          </a:prstGeom>
        </p:spPr>
      </p:pic>
      <p:sp>
        <p:nvSpPr>
          <p:cNvPr id="12" name="Text Placeholder 11">
            <a:extLst>
              <a:ext uri="{FF2B5EF4-FFF2-40B4-BE49-F238E27FC236}">
                <a16:creationId xmlns:a16="http://schemas.microsoft.com/office/drawing/2014/main" id="{D082964C-E8A1-73CC-B206-1A488254620C}"/>
              </a:ext>
            </a:extLst>
          </p:cNvPr>
          <p:cNvSpPr>
            <a:spLocks noGrp="1"/>
          </p:cNvSpPr>
          <p:nvPr>
            <p:ph type="body" sz="quarter" idx="10"/>
          </p:nvPr>
        </p:nvSpPr>
        <p:spPr>
          <a:xfrm>
            <a:off x="4433776" y="855080"/>
            <a:ext cx="4365038" cy="3774069"/>
          </a:xfrm>
        </p:spPr>
        <p:txBody>
          <a:bodyPr/>
          <a:lstStyle/>
          <a:p>
            <a:pPr algn="just"/>
            <a:r>
              <a:rPr lang="en-US" sz="1000" dirty="0">
                <a:hlinkClick r:id="rId4"/>
              </a:rPr>
              <a:t>Generally Available: OpenShift Virtualization now available on Azure Red Hat OpenShift</a:t>
            </a:r>
            <a:endParaRPr lang="en-US" sz="1000" dirty="0"/>
          </a:p>
          <a:p>
            <a:pPr algn="just"/>
            <a:r>
              <a:rPr lang="en-US" sz="1000" b="1" dirty="0"/>
              <a:t>Red Hat OpenShift Virtualization is now generally available on Azure Red Hat OpenShift (ARO)</a:t>
            </a:r>
            <a:r>
              <a:rPr lang="en-US" sz="1000" dirty="0"/>
              <a:t>, enabling organizations to run and manage </a:t>
            </a:r>
            <a:r>
              <a:rPr lang="en-US" sz="1000" b="1" dirty="0"/>
              <a:t>virtual machines and containers on a single cloud-native platform</a:t>
            </a:r>
            <a:r>
              <a:rPr lang="en-US" sz="1000" dirty="0"/>
              <a:t>. Building on customer feedback from the preview, this GA release helps enterprises modernize at their own pace while maintaining support for mission-critical workloads.</a:t>
            </a:r>
          </a:p>
          <a:p>
            <a:pPr algn="just"/>
            <a:r>
              <a:rPr lang="en-US" sz="1000" dirty="0"/>
              <a:t>Key enhancements include:</a:t>
            </a:r>
          </a:p>
          <a:p>
            <a:pPr marL="171450" indent="-171450" algn="just">
              <a:buFont typeface="Arial" panose="020B0604020202020204" pitchFamily="34" charset="0"/>
              <a:buChar char="•"/>
            </a:pPr>
            <a:r>
              <a:rPr lang="en-US" sz="1000" b="1" dirty="0"/>
              <a:t>Migration Toolkit for Virtualization (MTV)</a:t>
            </a:r>
            <a:r>
              <a:rPr lang="en-US" sz="1000" dirty="0"/>
              <a:t> support for streamlined VM migration</a:t>
            </a:r>
          </a:p>
          <a:p>
            <a:pPr marL="171450" indent="-171450" algn="just">
              <a:buFont typeface="Arial" panose="020B0604020202020204" pitchFamily="34" charset="0"/>
              <a:buChar char="•"/>
            </a:pPr>
            <a:r>
              <a:rPr lang="en-US" sz="1000" b="1" dirty="0"/>
              <a:t>Integration with Ansible Automation Platform</a:t>
            </a:r>
            <a:r>
              <a:rPr lang="en-US" sz="1000" dirty="0"/>
              <a:t> for consistent automation</a:t>
            </a:r>
          </a:p>
          <a:p>
            <a:pPr marL="171450" indent="-171450" algn="just">
              <a:buFont typeface="Arial" panose="020B0604020202020204" pitchFamily="34" charset="0"/>
              <a:buChar char="•"/>
            </a:pPr>
            <a:r>
              <a:rPr lang="en-US" sz="1000" b="1" dirty="0"/>
              <a:t>Licensing benefits</a:t>
            </a:r>
            <a:r>
              <a:rPr lang="en-US" sz="1000" dirty="0"/>
              <a:t>, including built-in RHEL entitlements and Windows Server licensing via Azure Hybrid Benefit</a:t>
            </a:r>
          </a:p>
          <a:p>
            <a:pPr algn="just"/>
            <a:r>
              <a:rPr lang="en-US" sz="1000" dirty="0"/>
              <a:t>With these capabilities, customers can migrate legacy applications to Azure with minimal disruption, take advantage of Azure’s security and hybrid features, and manage both VMs and containers directly from the OpenShift console. Unifying workloads on ARO enables faster delivery, DevOps consistency, and reduced operational overhead.</a:t>
            </a:r>
          </a:p>
        </p:txBody>
      </p:sp>
    </p:spTree>
    <p:extLst>
      <p:ext uri="{BB962C8B-B14F-4D97-AF65-F5344CB8AC3E}">
        <p14:creationId xmlns:p14="http://schemas.microsoft.com/office/powerpoint/2010/main" val="4150207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A7C3D0-130B-62F1-1ED1-AEF324CFB42C}"/>
              </a:ext>
            </a:extLst>
          </p:cNvPr>
          <p:cNvSpPr>
            <a:spLocks noGrp="1"/>
          </p:cNvSpPr>
          <p:nvPr>
            <p:ph type="title"/>
          </p:nvPr>
        </p:nvSpPr>
        <p:spPr/>
        <p:txBody>
          <a:bodyPr/>
          <a:lstStyle/>
          <a:p>
            <a:r>
              <a:rPr lang="en-US" sz="1800" dirty="0"/>
              <a:t>Compute Updates (Azure Container Apps) 1/4</a:t>
            </a:r>
            <a:endParaRPr lang="en-US" dirty="0"/>
          </a:p>
        </p:txBody>
      </p:sp>
      <p:sp>
        <p:nvSpPr>
          <p:cNvPr id="4" name="Text Placeholder 3">
            <a:extLst>
              <a:ext uri="{FF2B5EF4-FFF2-40B4-BE49-F238E27FC236}">
                <a16:creationId xmlns:a16="http://schemas.microsoft.com/office/drawing/2014/main" id="{7C549D67-CCD2-BFC8-042E-1D61A34FE47F}"/>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D7EF9F26-E559-C543-1D17-964EC84922DB}"/>
              </a:ext>
            </a:extLst>
          </p:cNvPr>
          <p:cNvSpPr>
            <a:spLocks noGrp="1"/>
          </p:cNvSpPr>
          <p:nvPr>
            <p:ph type="body" sz="quarter" idx="16"/>
          </p:nvPr>
        </p:nvSpPr>
        <p:spPr/>
        <p:txBody>
          <a:bodyPr/>
          <a:lstStyle/>
          <a:p>
            <a:pPr algn="just"/>
            <a:r>
              <a:rPr lang="en-US" dirty="0">
                <a:hlinkClick r:id="rId2"/>
              </a:rPr>
              <a:t>Public Preview: Azure Container Apps adds support for agentic Docker Compose</a:t>
            </a:r>
            <a:endParaRPr lang="en-US" dirty="0"/>
          </a:p>
          <a:p>
            <a:pPr algn="just"/>
            <a:r>
              <a:rPr lang="en-US" dirty="0"/>
              <a:t>Azure Container Apps now offers </a:t>
            </a:r>
            <a:r>
              <a:rPr lang="en-US" b="1" dirty="0"/>
              <a:t>native support for Docker Compose</a:t>
            </a:r>
            <a:r>
              <a:rPr lang="en-US" dirty="0"/>
              <a:t>, bringing one of the most familiar developer workflows directly into the platform. Developers can define and run multi-container applications using the same Compose files they use locally—then deploy them to Azure Container Apps </a:t>
            </a:r>
            <a:r>
              <a:rPr lang="en-US" b="1" dirty="0"/>
              <a:t>without changing tools or workflows</a:t>
            </a:r>
            <a:r>
              <a:rPr lang="en-US" dirty="0"/>
              <a:t>.</a:t>
            </a:r>
          </a:p>
          <a:p>
            <a:pPr algn="just"/>
            <a:r>
              <a:rPr lang="en-US" dirty="0"/>
              <a:t>This integration makes it easy to move from local development to cloud deployment, providing a consistent, developer-first experience. When combined with </a:t>
            </a:r>
            <a:r>
              <a:rPr lang="en-US" b="1" dirty="0"/>
              <a:t>serverless GPU support</a:t>
            </a:r>
            <a:r>
              <a:rPr lang="en-US" dirty="0"/>
              <a:t>, Docker Compose becomes a powerful way to build and run AI-powered agents and applications, enabling rapid iteration and scalable execution.</a:t>
            </a:r>
          </a:p>
          <a:p>
            <a:pPr algn="just"/>
            <a:r>
              <a:rPr lang="en-US" dirty="0"/>
              <a:t>This update unifies the inner-loop and outer-loop experience, giving teams a seamless path from development to production for modern, agentic AI workloads.</a:t>
            </a:r>
          </a:p>
        </p:txBody>
      </p:sp>
      <p:sp>
        <p:nvSpPr>
          <p:cNvPr id="6" name="Text Placeholder 5">
            <a:extLst>
              <a:ext uri="{FF2B5EF4-FFF2-40B4-BE49-F238E27FC236}">
                <a16:creationId xmlns:a16="http://schemas.microsoft.com/office/drawing/2014/main" id="{E839F17F-71A1-061F-8334-CECD4A64D71A}"/>
              </a:ext>
            </a:extLst>
          </p:cNvPr>
          <p:cNvSpPr>
            <a:spLocks noGrp="1"/>
          </p:cNvSpPr>
          <p:nvPr>
            <p:ph type="body" sz="quarter" idx="10"/>
          </p:nvPr>
        </p:nvSpPr>
        <p:spPr>
          <a:xfrm>
            <a:off x="4433776" y="855080"/>
            <a:ext cx="4365038" cy="2233177"/>
          </a:xfrm>
        </p:spPr>
        <p:txBody>
          <a:bodyPr/>
          <a:lstStyle/>
          <a:p>
            <a:pPr algn="just"/>
            <a:r>
              <a:rPr lang="en-US" sz="1000" dirty="0">
                <a:hlinkClick r:id="rId3"/>
              </a:rPr>
              <a:t>Public Preview: Confidential computing in Azure Container Apps</a:t>
            </a:r>
            <a:endParaRPr lang="en-US" sz="1000" dirty="0"/>
          </a:p>
          <a:p>
            <a:pPr algn="just"/>
            <a:r>
              <a:rPr lang="en-US" sz="1000" dirty="0"/>
              <a:t>Azure Container Apps now supports </a:t>
            </a:r>
            <a:r>
              <a:rPr lang="en-US" sz="1000" b="1" dirty="0"/>
              <a:t>hardware-based Trusted Execution Environments (TEEs)</a:t>
            </a:r>
            <a:r>
              <a:rPr lang="en-US" sz="1000" dirty="0"/>
              <a:t>, bringing confidential computing to containerized workloads. While Azure already encrypts data at rest and in transit, confidential computing adds protection for </a:t>
            </a:r>
            <a:r>
              <a:rPr lang="en-US" sz="1000" b="1" dirty="0"/>
              <a:t>data in use</a:t>
            </a:r>
            <a:r>
              <a:rPr lang="en-US" sz="1000" dirty="0"/>
              <a:t> by encrypting memory and running workloads only after the environment is cryptographically verified.</a:t>
            </a:r>
          </a:p>
          <a:p>
            <a:pPr algn="just"/>
            <a:r>
              <a:rPr lang="en-US" sz="1000" dirty="0"/>
              <a:t>This prevents unauthorized access — even from cloud operators — and is ideal for organizations handling highly sensitive data or regulated applications.</a:t>
            </a:r>
          </a:p>
          <a:p>
            <a:pPr algn="just"/>
            <a:r>
              <a:rPr lang="en-US" sz="1000" dirty="0"/>
              <a:t>Confidential computing is enabled through new </a:t>
            </a:r>
            <a:r>
              <a:rPr lang="en-US" sz="1000" b="1" dirty="0"/>
              <a:t>workload profiles</a:t>
            </a:r>
            <a:r>
              <a:rPr lang="en-US" sz="1000" dirty="0"/>
              <a:t> in Azure Container Apps. The public preview is available in select regions.</a:t>
            </a:r>
          </a:p>
        </p:txBody>
      </p:sp>
    </p:spTree>
    <p:extLst>
      <p:ext uri="{BB962C8B-B14F-4D97-AF65-F5344CB8AC3E}">
        <p14:creationId xmlns:p14="http://schemas.microsoft.com/office/powerpoint/2010/main" val="1047209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416433A-7824-545E-60FE-A9B02B081FAF}"/>
              </a:ext>
            </a:extLst>
          </p:cNvPr>
          <p:cNvSpPr>
            <a:spLocks noGrp="1"/>
          </p:cNvSpPr>
          <p:nvPr>
            <p:ph type="body" sz="quarter" idx="10"/>
          </p:nvPr>
        </p:nvSpPr>
        <p:spPr/>
        <p:txBody>
          <a:bodyPr/>
          <a:lstStyle/>
          <a:p>
            <a:pPr algn="just"/>
            <a:r>
              <a:rPr lang="en-US" sz="1000" dirty="0">
                <a:hlinkClick r:id="rId2"/>
              </a:rPr>
              <a:t>Public Preview: Deployment labels in Azure Container Apps</a:t>
            </a:r>
            <a:endParaRPr lang="en-US" sz="1000" dirty="0"/>
          </a:p>
          <a:p>
            <a:pPr algn="just"/>
            <a:r>
              <a:rPr lang="en-US" sz="1000" dirty="0"/>
              <a:t>Azure Container Apps now supports </a:t>
            </a:r>
            <a:r>
              <a:rPr lang="en-US" sz="1000" b="1" dirty="0"/>
              <a:t>deployment labels</a:t>
            </a:r>
            <a:r>
              <a:rPr lang="en-US" sz="1000" dirty="0"/>
              <a:t> in public preview, introducing a more flexible deployment model for managing container revisions. Labels—such as </a:t>
            </a:r>
            <a:r>
              <a:rPr lang="en-US" sz="1000" i="1" dirty="0"/>
              <a:t>dev</a:t>
            </a:r>
            <a:r>
              <a:rPr lang="en-US" sz="1000" dirty="0"/>
              <a:t>, </a:t>
            </a:r>
            <a:r>
              <a:rPr lang="en-US" sz="1000" i="1" dirty="0"/>
              <a:t>staging</a:t>
            </a:r>
            <a:r>
              <a:rPr lang="en-US" sz="1000" dirty="0"/>
              <a:t>, or </a:t>
            </a:r>
            <a:r>
              <a:rPr lang="en-US" sz="1000" i="1" dirty="0"/>
              <a:t>prod</a:t>
            </a:r>
            <a:r>
              <a:rPr lang="en-US" sz="1000" dirty="0"/>
              <a:t>—can be assigned to revisions, enabling clearer organization and more advanced deployment practices.</a:t>
            </a:r>
          </a:p>
          <a:p>
            <a:pPr algn="just"/>
            <a:r>
              <a:rPr lang="en-US" sz="1000" dirty="0"/>
              <a:t>Key benefits include:</a:t>
            </a:r>
          </a:p>
          <a:p>
            <a:pPr marL="171450" indent="-171450" algn="just">
              <a:buFont typeface="Arial" panose="020B0604020202020204" pitchFamily="34" charset="0"/>
              <a:buChar char="•"/>
            </a:pPr>
            <a:r>
              <a:rPr lang="en-US" sz="1000" b="1" dirty="0"/>
              <a:t>Simplified environment management</a:t>
            </a:r>
            <a:r>
              <a:rPr lang="en-US" sz="1000" dirty="0"/>
              <a:t> by grouping revisions under meaningful labels.</a:t>
            </a:r>
          </a:p>
          <a:p>
            <a:pPr marL="171450" indent="-171450" algn="just">
              <a:buFont typeface="Arial" panose="020B0604020202020204" pitchFamily="34" charset="0"/>
              <a:buChar char="•"/>
            </a:pPr>
            <a:r>
              <a:rPr lang="en-US" sz="1000" b="1" dirty="0"/>
              <a:t>Smarter traffic routing</a:t>
            </a:r>
            <a:r>
              <a:rPr lang="en-US" sz="1000" dirty="0"/>
              <a:t> for A/B tests, staged rollouts, and blue-green deployments.</a:t>
            </a:r>
          </a:p>
          <a:p>
            <a:pPr marL="171450" indent="-171450" algn="just">
              <a:buFont typeface="Arial" panose="020B0604020202020204" pitchFamily="34" charset="0"/>
              <a:buChar char="•"/>
            </a:pPr>
            <a:r>
              <a:rPr lang="en-US" sz="1000" b="1" dirty="0"/>
              <a:t>Fast promotion and rollback</a:t>
            </a:r>
            <a:r>
              <a:rPr lang="en-US" sz="1000" dirty="0"/>
              <a:t> using label history for smooth transitions and minimal downtime.</a:t>
            </a:r>
          </a:p>
          <a:p>
            <a:pPr algn="just"/>
            <a:r>
              <a:rPr lang="en-US" sz="1000" dirty="0"/>
              <a:t>This feature enhances lifecycle control and reduces complexity across multi-environment and multi-revision workflows.</a:t>
            </a:r>
          </a:p>
          <a:p>
            <a:pPr algn="just"/>
            <a:endParaRPr lang="en-US" sz="1000" dirty="0"/>
          </a:p>
        </p:txBody>
      </p:sp>
      <p:sp>
        <p:nvSpPr>
          <p:cNvPr id="3" name="Title 2">
            <a:extLst>
              <a:ext uri="{FF2B5EF4-FFF2-40B4-BE49-F238E27FC236}">
                <a16:creationId xmlns:a16="http://schemas.microsoft.com/office/drawing/2014/main" id="{7FED43BC-7E83-22D0-D588-3E7F45465AD7}"/>
              </a:ext>
            </a:extLst>
          </p:cNvPr>
          <p:cNvSpPr>
            <a:spLocks noGrp="1"/>
          </p:cNvSpPr>
          <p:nvPr>
            <p:ph type="title"/>
          </p:nvPr>
        </p:nvSpPr>
        <p:spPr/>
        <p:txBody>
          <a:bodyPr/>
          <a:lstStyle/>
          <a:p>
            <a:r>
              <a:rPr lang="en-US" sz="1600" dirty="0"/>
              <a:t>Compute Updates (Azure Container Apps) 2/4</a:t>
            </a:r>
            <a:endParaRPr lang="en-US" dirty="0"/>
          </a:p>
        </p:txBody>
      </p:sp>
      <p:sp>
        <p:nvSpPr>
          <p:cNvPr id="4" name="Text Placeholder 3">
            <a:extLst>
              <a:ext uri="{FF2B5EF4-FFF2-40B4-BE49-F238E27FC236}">
                <a16:creationId xmlns:a16="http://schemas.microsoft.com/office/drawing/2014/main" id="{903A28ED-E129-FECB-853B-776043232DB5}"/>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ACBD9A17-7D08-FF5A-D540-04EDC14057CB}"/>
              </a:ext>
            </a:extLst>
          </p:cNvPr>
          <p:cNvSpPr>
            <a:spLocks noGrp="1"/>
          </p:cNvSpPr>
          <p:nvPr>
            <p:ph type="body" sz="quarter" idx="16"/>
          </p:nvPr>
        </p:nvSpPr>
        <p:spPr/>
        <p:txBody>
          <a:bodyPr/>
          <a:lstStyle/>
          <a:p>
            <a:pPr algn="just"/>
            <a:r>
              <a:rPr lang="en-US" dirty="0">
                <a:hlinkClick r:id="rId3"/>
              </a:rPr>
              <a:t>Public Preview: Dynamic sessions shell environment and MCP support in Azure Container Apps</a:t>
            </a:r>
            <a:endParaRPr lang="en-US" dirty="0"/>
          </a:p>
          <a:p>
            <a:pPr algn="just"/>
            <a:r>
              <a:rPr lang="en-US" dirty="0"/>
              <a:t>Azure Container Apps now supports </a:t>
            </a:r>
            <a:r>
              <a:rPr lang="en-US" b="1" dirty="0"/>
              <a:t>dynamic shell sessions</a:t>
            </a:r>
            <a:r>
              <a:rPr lang="en-US" dirty="0"/>
              <a:t> in public preview. These sessions provide a secure, disposable, platform-managed container for running shell commands without deploying your own infrastructure.</a:t>
            </a:r>
          </a:p>
          <a:p>
            <a:pPr algn="just"/>
            <a:r>
              <a:rPr lang="en-US" dirty="0"/>
              <a:t>With support for </a:t>
            </a:r>
            <a:r>
              <a:rPr lang="en-US" b="1" dirty="0"/>
              <a:t>empty shell sessions</a:t>
            </a:r>
            <a:r>
              <a:rPr lang="en-US" dirty="0"/>
              <a:t> and an </a:t>
            </a:r>
            <a:r>
              <a:rPr lang="en-US" b="1" dirty="0"/>
              <a:t>integrated MCP server</a:t>
            </a:r>
            <a:r>
              <a:rPr lang="en-US" dirty="0"/>
              <a:t>, agents can spin up isolated sandboxes on demand for tasks like code execution, tool testing, and workflow automation. This improves security, enables rapid provisioning, and reduces operational overhead for agentic workloads.</a:t>
            </a:r>
          </a:p>
          <a:p>
            <a:pPr algn="just"/>
            <a:endParaRPr lang="en-US" dirty="0"/>
          </a:p>
        </p:txBody>
      </p:sp>
    </p:spTree>
    <p:extLst>
      <p:ext uri="{BB962C8B-B14F-4D97-AF65-F5344CB8AC3E}">
        <p14:creationId xmlns:p14="http://schemas.microsoft.com/office/powerpoint/2010/main" val="2876298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C36915-559D-6563-6151-62C8A85DDFE3}"/>
              </a:ext>
            </a:extLst>
          </p:cNvPr>
          <p:cNvSpPr>
            <a:spLocks noGrp="1"/>
          </p:cNvSpPr>
          <p:nvPr>
            <p:ph type="title"/>
          </p:nvPr>
        </p:nvSpPr>
        <p:spPr/>
        <p:txBody>
          <a:bodyPr/>
          <a:lstStyle/>
          <a:p>
            <a:r>
              <a:rPr lang="en-US" sz="1600" dirty="0"/>
              <a:t>Compute Updates (Azure Container Apps) 3/4</a:t>
            </a:r>
            <a:endParaRPr lang="en-US" dirty="0"/>
          </a:p>
        </p:txBody>
      </p:sp>
      <p:sp>
        <p:nvSpPr>
          <p:cNvPr id="4" name="Text Placeholder 3">
            <a:extLst>
              <a:ext uri="{FF2B5EF4-FFF2-40B4-BE49-F238E27FC236}">
                <a16:creationId xmlns:a16="http://schemas.microsoft.com/office/drawing/2014/main" id="{D4AB59BD-916F-D012-ECD0-F4EE6542DC1A}"/>
              </a:ext>
            </a:extLst>
          </p:cNvPr>
          <p:cNvSpPr>
            <a:spLocks noGrp="1"/>
          </p:cNvSpPr>
          <p:nvPr>
            <p:ph type="body" sz="quarter" idx="15"/>
          </p:nvPr>
        </p:nvSpPr>
        <p:spPr/>
        <p:txBody>
          <a:bodyPr/>
          <a:lstStyle/>
          <a:p>
            <a:endParaRPr lang="en-US"/>
          </a:p>
        </p:txBody>
      </p:sp>
      <p:sp>
        <p:nvSpPr>
          <p:cNvPr id="6" name="Text Placeholder 4">
            <a:extLst>
              <a:ext uri="{FF2B5EF4-FFF2-40B4-BE49-F238E27FC236}">
                <a16:creationId xmlns:a16="http://schemas.microsoft.com/office/drawing/2014/main" id="{549869F1-8D8C-3776-C7CF-ABA374C6B224}"/>
              </a:ext>
            </a:extLst>
          </p:cNvPr>
          <p:cNvSpPr>
            <a:spLocks noGrp="1"/>
          </p:cNvSpPr>
          <p:nvPr>
            <p:ph type="body" sz="quarter" idx="16"/>
          </p:nvPr>
        </p:nvSpPr>
        <p:spPr>
          <a:xfrm>
            <a:off x="342900" y="855080"/>
            <a:ext cx="3955312" cy="3774069"/>
          </a:xfrm>
        </p:spPr>
        <p:txBody>
          <a:bodyPr/>
          <a:lstStyle/>
          <a:p>
            <a:pPr algn="just"/>
            <a:r>
              <a:rPr lang="en-US" dirty="0">
                <a:hlinkClick r:id="rId2"/>
              </a:rPr>
              <a:t>Generally Available: Rule-based routing in Azure Container Apps</a:t>
            </a:r>
            <a:endParaRPr lang="en-US" dirty="0"/>
          </a:p>
          <a:p>
            <a:pPr algn="just"/>
            <a:r>
              <a:rPr lang="en-US" dirty="0"/>
              <a:t>Azure Container Apps now provides </a:t>
            </a:r>
            <a:r>
              <a:rPr lang="en-US" b="1" dirty="0"/>
              <a:t>general availability of rule-based routing</a:t>
            </a:r>
            <a:r>
              <a:rPr lang="en-US" dirty="0"/>
              <a:t>, offering greater flexibility and simpler architectures for microservice applications. This capability enables HTTP traffic to be routed to specific apps within a Container Apps environment based on </a:t>
            </a:r>
            <a:r>
              <a:rPr lang="en-US" b="1" dirty="0"/>
              <a:t>hostnames</a:t>
            </a:r>
            <a:r>
              <a:rPr lang="en-US" dirty="0"/>
              <a:t> or </a:t>
            </a:r>
            <a:r>
              <a:rPr lang="en-US" b="1" dirty="0"/>
              <a:t>request paths</a:t>
            </a:r>
            <a:r>
              <a:rPr lang="en-US" dirty="0"/>
              <a:t>, with full support for </a:t>
            </a:r>
            <a:r>
              <a:rPr lang="en-US" b="1" dirty="0"/>
              <a:t>custom domains</a:t>
            </a:r>
            <a:r>
              <a:rPr lang="en-US" dirty="0"/>
              <a:t>.</a:t>
            </a:r>
          </a:p>
          <a:p>
            <a:pPr algn="just"/>
            <a:r>
              <a:rPr lang="en-US" dirty="0"/>
              <a:t>By defining routing rules directly in the environment, organizations can:</a:t>
            </a:r>
          </a:p>
          <a:p>
            <a:pPr marL="171450" indent="-171450" algn="just">
              <a:buFont typeface="Arial" panose="020B0604020202020204" pitchFamily="34" charset="0"/>
              <a:buChar char="•"/>
            </a:pPr>
            <a:r>
              <a:rPr lang="en-US" dirty="0"/>
              <a:t>Streamline A/B testing, blue-green deployments, and multi-service routing.</a:t>
            </a:r>
          </a:p>
          <a:p>
            <a:pPr marL="171450" indent="-171450" algn="just">
              <a:buFont typeface="Arial" panose="020B0604020202020204" pitchFamily="34" charset="0"/>
              <a:buChar char="•"/>
            </a:pPr>
            <a:r>
              <a:rPr lang="en-US" dirty="0"/>
              <a:t>Remove the need for external reverse proxies like NGINX.</a:t>
            </a:r>
          </a:p>
          <a:p>
            <a:pPr marL="171450" indent="-171450" algn="just">
              <a:buFont typeface="Arial" panose="020B0604020202020204" pitchFamily="34" charset="0"/>
              <a:buChar char="•"/>
            </a:pPr>
            <a:r>
              <a:rPr lang="en-US" dirty="0"/>
              <a:t>Ensure traffic is automatically routed to the correct application based on configured rules.</a:t>
            </a:r>
          </a:p>
          <a:p>
            <a:pPr algn="just"/>
            <a:r>
              <a:rPr lang="en-US" dirty="0"/>
              <a:t>This enhancement significantly simplifies traffic management and improves microservice composability.</a:t>
            </a:r>
          </a:p>
        </p:txBody>
      </p:sp>
      <p:sp>
        <p:nvSpPr>
          <p:cNvPr id="5" name="Text Placeholder 4">
            <a:extLst>
              <a:ext uri="{FF2B5EF4-FFF2-40B4-BE49-F238E27FC236}">
                <a16:creationId xmlns:a16="http://schemas.microsoft.com/office/drawing/2014/main" id="{0B50A62F-EDC2-61EE-7261-E502B53F9007}"/>
              </a:ext>
            </a:extLst>
          </p:cNvPr>
          <p:cNvSpPr txBox="1">
            <a:spLocks/>
          </p:cNvSpPr>
          <p:nvPr/>
        </p:nvSpPr>
        <p:spPr>
          <a:xfrm>
            <a:off x="4570857" y="855080"/>
            <a:ext cx="3955312"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dirty="0">
                <a:hlinkClick r:id="rId3"/>
              </a:rPr>
              <a:t>Generally Available: Premium Ingress in Azure Container Apps</a:t>
            </a:r>
            <a:endParaRPr lang="en-US" dirty="0"/>
          </a:p>
          <a:p>
            <a:pPr algn="just"/>
            <a:r>
              <a:rPr lang="en-US" dirty="0"/>
              <a:t>Azure Container Apps now introduces </a:t>
            </a:r>
            <a:r>
              <a:rPr lang="en-US" b="1" dirty="0"/>
              <a:t>environment-level ingress configuration</a:t>
            </a:r>
            <a:r>
              <a:rPr lang="en-US" dirty="0"/>
              <a:t>, with the key enhancement being </a:t>
            </a:r>
            <a:r>
              <a:rPr lang="en-US" b="1" dirty="0"/>
              <a:t>customizable ingress scaling</a:t>
            </a:r>
            <a:r>
              <a:rPr lang="en-US" dirty="0"/>
              <a:t>. This allows the ingress proxy to scale out on workload profiles, enabling applications to handle significantly higher traffic volumes—ideal for scenarios like large-scale performance testing. Running ingress on a workload profile incurs normal compute costs.</a:t>
            </a:r>
          </a:p>
          <a:p>
            <a:pPr algn="just"/>
            <a:r>
              <a:rPr lang="en-US" dirty="0"/>
              <a:t>Additional ingress settings further improve flexibility and control, including:</a:t>
            </a:r>
          </a:p>
          <a:p>
            <a:pPr marL="171450" indent="-171450" algn="just">
              <a:buFont typeface="Arial" panose="020B0604020202020204" pitchFamily="34" charset="0"/>
              <a:buChar char="•"/>
            </a:pPr>
            <a:r>
              <a:rPr lang="en-US" b="1" dirty="0"/>
              <a:t>Termination grace period</a:t>
            </a:r>
            <a:endParaRPr lang="en-US" dirty="0"/>
          </a:p>
          <a:p>
            <a:pPr marL="171450" indent="-171450" algn="just">
              <a:buFont typeface="Arial" panose="020B0604020202020204" pitchFamily="34" charset="0"/>
              <a:buChar char="•"/>
            </a:pPr>
            <a:r>
              <a:rPr lang="en-US" b="1" dirty="0"/>
              <a:t>Idle request timeout</a:t>
            </a:r>
            <a:endParaRPr lang="en-US" dirty="0"/>
          </a:p>
          <a:p>
            <a:pPr marL="171450" indent="-171450" algn="just">
              <a:buFont typeface="Arial" panose="020B0604020202020204" pitchFamily="34" charset="0"/>
              <a:buChar char="•"/>
            </a:pPr>
            <a:r>
              <a:rPr lang="en-US" b="1" dirty="0"/>
              <a:t>Header count limits</a:t>
            </a:r>
            <a:endParaRPr lang="en-US" dirty="0"/>
          </a:p>
          <a:p>
            <a:pPr algn="just"/>
            <a:r>
              <a:rPr lang="en-US" dirty="0"/>
              <a:t>These enhancements give organizations deeper control over traffic handling and provide improved reliability under heavy load.</a:t>
            </a:r>
          </a:p>
        </p:txBody>
      </p:sp>
    </p:spTree>
    <p:extLst>
      <p:ext uri="{BB962C8B-B14F-4D97-AF65-F5344CB8AC3E}">
        <p14:creationId xmlns:p14="http://schemas.microsoft.com/office/powerpoint/2010/main" val="2408970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charRg st="64" end="40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charRg st="406" end="48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charRg st="480" end="55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charRg st="555" end="61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charRg st="612" end="70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charRg st="705" end="80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E6B62E-33C0-1929-69BC-407E49E58241}"/>
              </a:ext>
            </a:extLst>
          </p:cNvPr>
          <p:cNvSpPr>
            <a:spLocks noGrp="1"/>
          </p:cNvSpPr>
          <p:nvPr>
            <p:ph type="title"/>
          </p:nvPr>
        </p:nvSpPr>
        <p:spPr/>
        <p:txBody>
          <a:bodyPr/>
          <a:lstStyle/>
          <a:p>
            <a:r>
              <a:rPr lang="en-US" sz="1600" dirty="0"/>
              <a:t>Compute Updates (Azure Container Apps) 4/4</a:t>
            </a:r>
            <a:endParaRPr lang="en-US" dirty="0"/>
          </a:p>
        </p:txBody>
      </p:sp>
      <p:sp>
        <p:nvSpPr>
          <p:cNvPr id="4" name="Text Placeholder 3">
            <a:extLst>
              <a:ext uri="{FF2B5EF4-FFF2-40B4-BE49-F238E27FC236}">
                <a16:creationId xmlns:a16="http://schemas.microsoft.com/office/drawing/2014/main" id="{8ABD0B21-57A3-6C88-BE28-E725F7461AE7}"/>
              </a:ext>
            </a:extLst>
          </p:cNvPr>
          <p:cNvSpPr>
            <a:spLocks noGrp="1"/>
          </p:cNvSpPr>
          <p:nvPr>
            <p:ph type="body" sz="quarter" idx="15"/>
          </p:nvPr>
        </p:nvSpPr>
        <p:spPr/>
        <p:txBody>
          <a:bodyPr/>
          <a:lstStyle/>
          <a:p>
            <a:endParaRPr lang="en-US"/>
          </a:p>
        </p:txBody>
      </p:sp>
      <p:sp>
        <p:nvSpPr>
          <p:cNvPr id="7" name="Text Placeholder 1">
            <a:extLst>
              <a:ext uri="{FF2B5EF4-FFF2-40B4-BE49-F238E27FC236}">
                <a16:creationId xmlns:a16="http://schemas.microsoft.com/office/drawing/2014/main" id="{4A28326A-BBD8-8313-9DFA-BC5D5E8F0724}"/>
              </a:ext>
            </a:extLst>
          </p:cNvPr>
          <p:cNvSpPr txBox="1">
            <a:spLocks/>
          </p:cNvSpPr>
          <p:nvPr/>
        </p:nvSpPr>
        <p:spPr>
          <a:xfrm>
            <a:off x="342900" y="855080"/>
            <a:ext cx="3979718"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2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sz="1000" dirty="0">
                <a:hlinkClick r:id="rId2"/>
              </a:rPr>
              <a:t>Generally Available: Azure Container Apps serverless GPUs in additional regions</a:t>
            </a:r>
            <a:endParaRPr lang="en-US" sz="1000" dirty="0"/>
          </a:p>
          <a:p>
            <a:pPr algn="just"/>
            <a:r>
              <a:rPr lang="en-US" sz="1000" dirty="0"/>
              <a:t>To meet growing demand for GPU-powered workloads, </a:t>
            </a:r>
            <a:r>
              <a:rPr lang="en-US" sz="1000" b="1" dirty="0"/>
              <a:t>Azure Container Apps serverless GPUs</a:t>
            </a:r>
            <a:r>
              <a:rPr lang="en-US" sz="1000" dirty="0"/>
              <a:t> are now generally available in additional regions. This expansion enables developers to run AI inference, model training, and GPU-accelerated applications using the simplicity and efficiency of a serverless model.</a:t>
            </a:r>
          </a:p>
          <a:p>
            <a:pPr algn="just"/>
            <a:r>
              <a:rPr lang="en-US" sz="1000" b="1" dirty="0"/>
              <a:t>Newly available regions:</a:t>
            </a:r>
            <a:endParaRPr lang="en-US" sz="1000" dirty="0"/>
          </a:p>
          <a:p>
            <a:pPr marL="171450" indent="-171450" algn="just">
              <a:buFont typeface="Arial" panose="020B0604020202020204" pitchFamily="34" charset="0"/>
              <a:buChar char="•"/>
            </a:pPr>
            <a:r>
              <a:rPr lang="en-US" sz="1000" b="1" dirty="0"/>
              <a:t>Americas:</a:t>
            </a:r>
            <a:r>
              <a:rPr lang="en-US" sz="1000" dirty="0"/>
              <a:t> East US, West US 2, South Central US, North Central US, Brazil South</a:t>
            </a:r>
            <a:br>
              <a:rPr lang="en-US" sz="1000" dirty="0"/>
            </a:br>
            <a:r>
              <a:rPr lang="en-US" sz="1000" b="1" dirty="0"/>
              <a:t>Asia:</a:t>
            </a:r>
            <a:r>
              <a:rPr lang="en-US" sz="1000" dirty="0"/>
              <a:t> Japan East, Southeast Asia, Central India, South India</a:t>
            </a:r>
            <a:br>
              <a:rPr lang="en-US" sz="1000" dirty="0"/>
            </a:br>
            <a:r>
              <a:rPr lang="en-US" sz="1000" b="1" dirty="0"/>
              <a:t>Europe:</a:t>
            </a:r>
            <a:r>
              <a:rPr lang="en-US" sz="1000" dirty="0"/>
              <a:t> France Central, Italy North</a:t>
            </a:r>
          </a:p>
          <a:p>
            <a:pPr algn="just"/>
            <a:r>
              <a:rPr lang="en-US" sz="1000" b="1" dirty="0"/>
              <a:t>Key benefits of serverless GPUs:</a:t>
            </a:r>
            <a:endParaRPr lang="en-US" sz="1000" dirty="0"/>
          </a:p>
          <a:p>
            <a:pPr marL="171450" indent="-171450" algn="just">
              <a:buFont typeface="Arial" panose="020B0604020202020204" pitchFamily="34" charset="0"/>
              <a:buChar char="•"/>
            </a:pPr>
            <a:r>
              <a:rPr lang="en-US" sz="1000" b="1" dirty="0"/>
              <a:t>Scale-to-zero GPUs:</a:t>
            </a:r>
            <a:r>
              <a:rPr lang="en-US" sz="1000" dirty="0"/>
              <a:t> Automatic serverless scaling for NVIDIA A100 and NVIDIA T4 GPUs</a:t>
            </a:r>
          </a:p>
          <a:p>
            <a:pPr marL="171450" indent="-171450" algn="just">
              <a:buFont typeface="Arial" panose="020B0604020202020204" pitchFamily="34" charset="0"/>
              <a:buChar char="•"/>
            </a:pPr>
            <a:r>
              <a:rPr lang="en-US" sz="1000" b="1" dirty="0"/>
              <a:t>Per-second billing:</a:t>
            </a:r>
            <a:r>
              <a:rPr lang="en-US" sz="1000" dirty="0"/>
              <a:t> Pay only for the GPU compute consumed</a:t>
            </a:r>
          </a:p>
          <a:p>
            <a:pPr marL="171450" indent="-171450" algn="just">
              <a:buFont typeface="Arial" panose="020B0604020202020204" pitchFamily="34" charset="0"/>
              <a:buChar char="•"/>
            </a:pPr>
            <a:r>
              <a:rPr lang="en-US" sz="1000" b="1" dirty="0"/>
              <a:t>Built-in data governance:</a:t>
            </a:r>
            <a:r>
              <a:rPr lang="en-US" sz="1000" dirty="0"/>
              <a:t> All data remains within the container boundary</a:t>
            </a:r>
          </a:p>
          <a:p>
            <a:pPr marL="171450" indent="-171450" algn="just">
              <a:buFont typeface="Arial" panose="020B0604020202020204" pitchFamily="34" charset="0"/>
              <a:buChar char="•"/>
            </a:pPr>
            <a:r>
              <a:rPr lang="en-US" sz="1000" dirty="0"/>
              <a:t>This regional expansion provides broader access to cost-efficient, flexible GPU infrastructure for AI-driven and compute-intensive workloads.</a:t>
            </a:r>
          </a:p>
          <a:p>
            <a:pPr algn="just"/>
            <a:endParaRPr lang="en-US" sz="1000" dirty="0"/>
          </a:p>
        </p:txBody>
      </p:sp>
      <p:sp>
        <p:nvSpPr>
          <p:cNvPr id="8" name="Text Placeholder 1">
            <a:extLst>
              <a:ext uri="{FF2B5EF4-FFF2-40B4-BE49-F238E27FC236}">
                <a16:creationId xmlns:a16="http://schemas.microsoft.com/office/drawing/2014/main" id="{F129287B-6829-93BF-13D4-9609E2FC2398}"/>
              </a:ext>
            </a:extLst>
          </p:cNvPr>
          <p:cNvSpPr>
            <a:spLocks noGrp="1"/>
          </p:cNvSpPr>
          <p:nvPr>
            <p:ph type="body" sz="quarter" idx="10"/>
          </p:nvPr>
        </p:nvSpPr>
        <p:spPr>
          <a:xfrm>
            <a:off x="4433776" y="855080"/>
            <a:ext cx="4365038" cy="3774069"/>
          </a:xfrm>
        </p:spPr>
        <p:txBody>
          <a:bodyPr/>
          <a:lstStyle/>
          <a:p>
            <a:pPr algn="just"/>
            <a:r>
              <a:rPr lang="en-US" sz="1000" dirty="0">
                <a:hlinkClick r:id="rId3"/>
              </a:rPr>
              <a:t>Public Preview: Azure Container Apps introduces flexible workload profile</a:t>
            </a:r>
            <a:endParaRPr lang="en-US" sz="1000" dirty="0"/>
          </a:p>
          <a:p>
            <a:pPr algn="just"/>
            <a:r>
              <a:rPr lang="en-US" sz="1000" dirty="0"/>
              <a:t>The </a:t>
            </a:r>
            <a:r>
              <a:rPr lang="en-US" sz="1000" b="1" dirty="0"/>
              <a:t>Flexible workload profile</a:t>
            </a:r>
            <a:r>
              <a:rPr lang="en-US" sz="1000" dirty="0"/>
              <a:t> is a new option that combines the simplicity of serverless consumption with the performance and control of dedicated workload profiles. It maintains the same pay-per-use model as the Consumption plan, while adding key capabilities such as:</a:t>
            </a:r>
          </a:p>
          <a:p>
            <a:pPr marL="171450" indent="-171450" algn="just">
              <a:buFont typeface="Arial" panose="020B0604020202020204" pitchFamily="34" charset="0"/>
              <a:buChar char="•"/>
            </a:pPr>
            <a:r>
              <a:rPr lang="en-US" sz="1000" b="1" dirty="0"/>
              <a:t>Planned maintenance windows</a:t>
            </a:r>
            <a:endParaRPr lang="en-US" sz="1000" dirty="0"/>
          </a:p>
          <a:p>
            <a:pPr marL="171450" indent="-171450" algn="just">
              <a:buFont typeface="Arial" panose="020B0604020202020204" pitchFamily="34" charset="0"/>
              <a:buChar char="•"/>
            </a:pPr>
            <a:r>
              <a:rPr lang="en-US" sz="1000" b="1" dirty="0"/>
              <a:t>Dedicated networking support</a:t>
            </a:r>
            <a:endParaRPr lang="en-US" sz="1000" dirty="0"/>
          </a:p>
          <a:p>
            <a:pPr marL="171450" indent="-171450" algn="just">
              <a:buFont typeface="Arial" panose="020B0604020202020204" pitchFamily="34" charset="0"/>
              <a:buChar char="•"/>
            </a:pPr>
            <a:r>
              <a:rPr lang="en-US" sz="1000" b="1" dirty="0"/>
              <a:t>Larger replica sizes for resource-intensive workloads</a:t>
            </a:r>
            <a:endParaRPr lang="en-US" sz="1000" dirty="0"/>
          </a:p>
          <a:p>
            <a:pPr algn="just"/>
            <a:r>
              <a:rPr lang="en-US" sz="1000" dirty="0"/>
              <a:t>Running on a </a:t>
            </a:r>
            <a:r>
              <a:rPr lang="en-US" sz="1000" b="1" dirty="0"/>
              <a:t>single-tenant compute pool</a:t>
            </a:r>
            <a:r>
              <a:rPr lang="en-US" sz="1000" dirty="0"/>
              <a:t>, it offers improved predictability, isolation, and stability—without adding operational overhead. This profile is ideal for customers who want serverless convenience with enhanced control over performance and environment behavior.</a:t>
            </a:r>
          </a:p>
        </p:txBody>
      </p:sp>
    </p:spTree>
    <p:extLst>
      <p:ext uri="{BB962C8B-B14F-4D97-AF65-F5344CB8AC3E}">
        <p14:creationId xmlns:p14="http://schemas.microsoft.com/office/powerpoint/2010/main" val="1701653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
                                            <p:txEl>
                                              <p:pRg st="3" end="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xEl>
                                              <p:pRg st="4" end="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ED7208-1610-9604-E096-D0D2D943A46F}"/>
              </a:ext>
            </a:extLst>
          </p:cNvPr>
          <p:cNvSpPr>
            <a:spLocks noGrp="1"/>
          </p:cNvSpPr>
          <p:nvPr>
            <p:ph type="body" sz="quarter" idx="10"/>
          </p:nvPr>
        </p:nvSpPr>
        <p:spPr/>
        <p:txBody>
          <a:bodyPr/>
          <a:lstStyle/>
          <a:p>
            <a:pPr algn="just"/>
            <a:r>
              <a:rPr lang="en-US" sz="1000" dirty="0">
                <a:hlinkClick r:id="rId2"/>
              </a:rPr>
              <a:t>Public Preview: AKS Automatic managed system node pools</a:t>
            </a:r>
            <a:endParaRPr lang="en-US" sz="1000" dirty="0"/>
          </a:p>
          <a:p>
            <a:pPr algn="just"/>
            <a:r>
              <a:rPr lang="en-US" sz="1000" b="1" dirty="0"/>
              <a:t>Managed system node pools</a:t>
            </a:r>
            <a:r>
              <a:rPr lang="en-US" sz="1000" dirty="0"/>
              <a:t> in </a:t>
            </a:r>
            <a:r>
              <a:rPr lang="en-US" sz="1000" b="1" dirty="0"/>
              <a:t>AKS Automatic</a:t>
            </a:r>
            <a:r>
              <a:rPr lang="en-US" sz="1000" dirty="0"/>
              <a:t> remove the need to provision, scale, patch, or maintain system nodes. Instead of managing system infrastructure manually, AKS Automatic fully handles the underlying compute for system workloads with no customer intervention.</a:t>
            </a:r>
          </a:p>
          <a:p>
            <a:pPr algn="just"/>
            <a:r>
              <a:rPr lang="en-US" sz="1000" dirty="0"/>
              <a:t>By isolating system components from application workloads, AKS Automatic delivers higher reliability, predictable performance, and SLA-backed stability. This reduces operational burden, accelerates Kubernetes adoption, and lets teams focus entirely on deploying and scaling their applications.</a:t>
            </a:r>
          </a:p>
          <a:p>
            <a:pPr algn="just"/>
            <a:endParaRPr lang="en-US" sz="1000" dirty="0"/>
          </a:p>
        </p:txBody>
      </p:sp>
      <p:sp>
        <p:nvSpPr>
          <p:cNvPr id="3" name="Title 2">
            <a:extLst>
              <a:ext uri="{FF2B5EF4-FFF2-40B4-BE49-F238E27FC236}">
                <a16:creationId xmlns:a16="http://schemas.microsoft.com/office/drawing/2014/main" id="{1BA79016-7E28-BA69-E2F8-FFBCD2B4791F}"/>
              </a:ext>
            </a:extLst>
          </p:cNvPr>
          <p:cNvSpPr>
            <a:spLocks noGrp="1"/>
          </p:cNvSpPr>
          <p:nvPr>
            <p:ph type="title"/>
          </p:nvPr>
        </p:nvSpPr>
        <p:spPr/>
        <p:txBody>
          <a:bodyPr/>
          <a:lstStyle/>
          <a:p>
            <a:r>
              <a:rPr lang="en-US" sz="1600" dirty="0"/>
              <a:t>Compute Updates (K8S Updates) 1/7</a:t>
            </a:r>
            <a:endParaRPr lang="en-US" dirty="0"/>
          </a:p>
        </p:txBody>
      </p:sp>
      <p:sp>
        <p:nvSpPr>
          <p:cNvPr id="4" name="Text Placeholder 3">
            <a:extLst>
              <a:ext uri="{FF2B5EF4-FFF2-40B4-BE49-F238E27FC236}">
                <a16:creationId xmlns:a16="http://schemas.microsoft.com/office/drawing/2014/main" id="{4962248D-DBEB-F22D-0696-ACA75597789B}"/>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2AB907DC-3C68-B0A2-1387-F9F72D228791}"/>
              </a:ext>
            </a:extLst>
          </p:cNvPr>
          <p:cNvSpPr>
            <a:spLocks noGrp="1"/>
          </p:cNvSpPr>
          <p:nvPr>
            <p:ph type="body" sz="quarter" idx="16"/>
          </p:nvPr>
        </p:nvSpPr>
        <p:spPr>
          <a:xfrm>
            <a:off x="342900" y="855081"/>
            <a:ext cx="3955312" cy="1716670"/>
          </a:xfrm>
        </p:spPr>
        <p:txBody>
          <a:bodyPr/>
          <a:lstStyle/>
          <a:p>
            <a:pPr algn="just"/>
            <a:r>
              <a:rPr lang="en-US" dirty="0">
                <a:hlinkClick r:id="rId3"/>
              </a:rPr>
              <a:t>Public Preview: Azure Kubernetes Service desktop</a:t>
            </a:r>
            <a:endParaRPr lang="en-US" dirty="0"/>
          </a:p>
          <a:p>
            <a:pPr algn="just"/>
            <a:r>
              <a:rPr lang="en-US" dirty="0"/>
              <a:t>AKS desktop delivers a modern, application-centric experience for deploying and managing workloads on Azure Kubernetes Service. Built on supported AKS features, best practices, and the open-source</a:t>
            </a:r>
            <a:r>
              <a:rPr lang="en-US" b="1" dirty="0"/>
              <a:t> Headlamp project, it offers a guided, self-service interface that simplifies Kubernetes operations while preserving control. </a:t>
            </a:r>
          </a:p>
          <a:p>
            <a:pPr algn="just"/>
            <a:r>
              <a:rPr lang="en-US" dirty="0"/>
              <a:t>Designed to integrate with existing environments and tools, </a:t>
            </a:r>
            <a:r>
              <a:rPr lang="en-US" b="1" dirty="0"/>
              <a:t>AKS desktop enables seamless team collaboration through role-based access control (RBAC), helping teams move faster and stay aligned.</a:t>
            </a:r>
          </a:p>
        </p:txBody>
      </p:sp>
      <p:pic>
        <p:nvPicPr>
          <p:cNvPr id="7" name="Picture 6">
            <a:extLst>
              <a:ext uri="{FF2B5EF4-FFF2-40B4-BE49-F238E27FC236}">
                <a16:creationId xmlns:a16="http://schemas.microsoft.com/office/drawing/2014/main" id="{1F2B8A47-3FD9-E80A-EF7C-A02EE1951B14}"/>
              </a:ext>
            </a:extLst>
          </p:cNvPr>
          <p:cNvPicPr>
            <a:picLocks noChangeAspect="1"/>
          </p:cNvPicPr>
          <p:nvPr/>
        </p:nvPicPr>
        <p:blipFill>
          <a:blip r:embed="rId4"/>
          <a:stretch>
            <a:fillRect/>
          </a:stretch>
        </p:blipFill>
        <p:spPr>
          <a:xfrm>
            <a:off x="619678" y="2571750"/>
            <a:ext cx="3590487" cy="2130136"/>
          </a:xfrm>
          <a:prstGeom prst="rect">
            <a:avLst/>
          </a:prstGeom>
        </p:spPr>
      </p:pic>
    </p:spTree>
    <p:extLst>
      <p:ext uri="{BB962C8B-B14F-4D97-AF65-F5344CB8AC3E}">
        <p14:creationId xmlns:p14="http://schemas.microsoft.com/office/powerpoint/2010/main" val="1525232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77DAECF-B438-183D-03A6-91BE19040167}"/>
              </a:ext>
            </a:extLst>
          </p:cNvPr>
          <p:cNvSpPr>
            <a:spLocks noGrp="1"/>
          </p:cNvSpPr>
          <p:nvPr>
            <p:ph type="body" sz="quarter" idx="10"/>
          </p:nvPr>
        </p:nvSpPr>
        <p:spPr/>
        <p:txBody>
          <a:bodyPr/>
          <a:lstStyle/>
          <a:p>
            <a:pPr algn="just"/>
            <a:r>
              <a:rPr lang="en-US" sz="1000" dirty="0">
                <a:hlinkClick r:id="rId2"/>
              </a:rPr>
              <a:t>Announcing Kubernetes Center (Preview) On Azure Portal</a:t>
            </a:r>
            <a:endParaRPr lang="en-US" sz="1000" dirty="0"/>
          </a:p>
          <a:p>
            <a:pPr algn="just"/>
            <a:r>
              <a:rPr lang="en-US" sz="1000" dirty="0"/>
              <a:t>Microsoft has introduced the </a:t>
            </a:r>
            <a:r>
              <a:rPr lang="en-US" sz="1000" b="1" dirty="0"/>
              <a:t>Kubernetes Center</a:t>
            </a:r>
            <a:r>
              <a:rPr lang="en-US" sz="1000" dirty="0"/>
              <a:t> in the Azure portal, a new unified experience designed to simplify management, monitoring, and optimization of Azure Kubernetes Service (AKS) environments at scale. As Kubernetes adoption grows, the Kubernetes Center provides a single pane of glass that helps platform teams stay in control while enabling developers to move quickly.</a:t>
            </a:r>
          </a:p>
          <a:p>
            <a:pPr algn="just"/>
            <a:r>
              <a:rPr lang="en-US" sz="1000" b="1" dirty="0"/>
              <a:t>Key capabilities include:</a:t>
            </a:r>
            <a:endParaRPr lang="en-US" sz="1000" dirty="0"/>
          </a:p>
          <a:p>
            <a:pPr marL="171450" indent="-171450" algn="just">
              <a:buFont typeface="Arial" panose="020B0604020202020204" pitchFamily="34" charset="0"/>
              <a:buChar char="•"/>
            </a:pPr>
            <a:r>
              <a:rPr lang="en-US" sz="1000" b="1" dirty="0"/>
              <a:t>Actionable insights:</a:t>
            </a:r>
            <a:r>
              <a:rPr lang="en-US" sz="1000" dirty="0"/>
              <a:t> A unified view surfaces security vulnerabilities, alerts, compliance gaps, and upgrade recommendations so teams can focus on the most important issues first.</a:t>
            </a:r>
          </a:p>
          <a:p>
            <a:pPr marL="171450" indent="-171450" algn="just">
              <a:buFont typeface="Arial" panose="020B0604020202020204" pitchFamily="34" charset="0"/>
              <a:buChar char="•"/>
            </a:pPr>
            <a:r>
              <a:rPr lang="en-US" sz="1000" b="1" dirty="0"/>
              <a:t>Streamlined management:</a:t>
            </a:r>
            <a:r>
              <a:rPr lang="en-US" sz="1000" dirty="0"/>
              <a:t> AKS, AKS Automatic, Fleet Manager, and Managed Namespaces are now brought together in one consistent interface—reducing the need to switch between services.</a:t>
            </a:r>
          </a:p>
          <a:p>
            <a:pPr marL="171450" indent="-171450" algn="just">
              <a:buFont typeface="Arial" panose="020B0604020202020204" pitchFamily="34" charset="0"/>
              <a:buChar char="•"/>
            </a:pPr>
            <a:r>
              <a:rPr lang="en-US" sz="1000" b="1" dirty="0"/>
              <a:t>Centralized </a:t>
            </a:r>
            <a:r>
              <a:rPr lang="en-US" sz="1000" b="1" dirty="0" err="1"/>
              <a:t>Quickstarts</a:t>
            </a:r>
            <a:r>
              <a:rPr lang="en-US" sz="1000" b="1" dirty="0"/>
              <a:t>:</a:t>
            </a:r>
            <a:r>
              <a:rPr lang="en-US" sz="1000" dirty="0"/>
              <a:t> Documentation, learning resources, and in-context guidance are consolidated to accelerate onboarding and troubleshooting.</a:t>
            </a:r>
          </a:p>
          <a:p>
            <a:pPr algn="just"/>
            <a:r>
              <a:rPr lang="en-US" sz="1000" dirty="0"/>
              <a:t>Kubernetes Center delivers clearer visibility, faster operations, and a more intuitive management experience for Kubernetes on Azure.</a:t>
            </a:r>
          </a:p>
          <a:p>
            <a:pPr algn="just"/>
            <a:endParaRPr lang="en-US" sz="1000" dirty="0"/>
          </a:p>
        </p:txBody>
      </p:sp>
      <p:sp>
        <p:nvSpPr>
          <p:cNvPr id="3" name="Title 2">
            <a:extLst>
              <a:ext uri="{FF2B5EF4-FFF2-40B4-BE49-F238E27FC236}">
                <a16:creationId xmlns:a16="http://schemas.microsoft.com/office/drawing/2014/main" id="{644AAECF-D78F-F757-C315-01B0850C93D7}"/>
              </a:ext>
            </a:extLst>
          </p:cNvPr>
          <p:cNvSpPr>
            <a:spLocks noGrp="1"/>
          </p:cNvSpPr>
          <p:nvPr>
            <p:ph type="title"/>
          </p:nvPr>
        </p:nvSpPr>
        <p:spPr/>
        <p:txBody>
          <a:bodyPr/>
          <a:lstStyle/>
          <a:p>
            <a:r>
              <a:rPr lang="en-US" sz="1800" dirty="0"/>
              <a:t>Compute Updates (K8S Updates) 2/7</a:t>
            </a:r>
            <a:endParaRPr lang="en-US" dirty="0"/>
          </a:p>
        </p:txBody>
      </p:sp>
      <p:sp>
        <p:nvSpPr>
          <p:cNvPr id="4" name="Text Placeholder 3">
            <a:extLst>
              <a:ext uri="{FF2B5EF4-FFF2-40B4-BE49-F238E27FC236}">
                <a16:creationId xmlns:a16="http://schemas.microsoft.com/office/drawing/2014/main" id="{1DF60CCD-FD4A-7449-C019-AAAF72FBADE9}"/>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CFCF43E8-2A15-1408-2A6C-E56D04040BFF}"/>
              </a:ext>
            </a:extLst>
          </p:cNvPr>
          <p:cNvSpPr>
            <a:spLocks noGrp="1"/>
          </p:cNvSpPr>
          <p:nvPr>
            <p:ph type="body" sz="quarter" idx="16"/>
          </p:nvPr>
        </p:nvSpPr>
        <p:spPr/>
        <p:txBody>
          <a:bodyPr/>
          <a:lstStyle/>
          <a:p>
            <a:pPr algn="just"/>
            <a:r>
              <a:rPr lang="en-US" dirty="0">
                <a:hlinkClick r:id="rId3"/>
              </a:rPr>
              <a:t>Public Preview: Container network metrics filtering in Advanced Container Networking Services for (ACNS) for AKS</a:t>
            </a:r>
            <a:endParaRPr lang="en-US" dirty="0"/>
          </a:p>
          <a:p>
            <a:pPr algn="just"/>
            <a:r>
              <a:rPr lang="en-US" b="1" dirty="0"/>
              <a:t>Container network metrics filtering</a:t>
            </a:r>
            <a:r>
              <a:rPr lang="en-US" dirty="0"/>
              <a:t> in Azure Container Networking Services (ACNS) is now available in public preview.</a:t>
            </a:r>
          </a:p>
          <a:p>
            <a:pPr algn="just"/>
            <a:r>
              <a:rPr lang="en-US" dirty="0"/>
              <a:t>In containerized environments, ingesting large volumes of network metrics can increase storage costs and clutter observability dashboards, making it harder to maintain operational clarity. The new ACNS capability addresses this by allowing users to define </a:t>
            </a:r>
            <a:r>
              <a:rPr lang="en-US" b="1" dirty="0"/>
              <a:t>fine-grained filters</a:t>
            </a:r>
            <a:r>
              <a:rPr lang="en-US" dirty="0"/>
              <a:t> at the Cilium level using a Custom Resource Definition (CRD). Metrics collection can now be scoped by </a:t>
            </a:r>
            <a:r>
              <a:rPr lang="en-US" b="1" dirty="0"/>
              <a:t>namespace</a:t>
            </a:r>
            <a:r>
              <a:rPr lang="en-US" dirty="0"/>
              <a:t> or </a:t>
            </a:r>
            <a:r>
              <a:rPr lang="en-US" b="1" dirty="0"/>
              <a:t>pod</a:t>
            </a:r>
            <a:r>
              <a:rPr lang="en-US" dirty="0"/>
              <a:t>, ensuring only the metrics that matter are captured.</a:t>
            </a:r>
          </a:p>
          <a:p>
            <a:pPr algn="just"/>
            <a:r>
              <a:rPr lang="en-US" dirty="0"/>
              <a:t>By filtering metrics before they reach Prometheus, organizations can significantly reduce data volume, lower operational overhead, and improve the signal-to-noise ratio in their observability tools.</a:t>
            </a:r>
          </a:p>
          <a:p>
            <a:pPr algn="just"/>
            <a:endParaRPr lang="en-US" dirty="0"/>
          </a:p>
        </p:txBody>
      </p:sp>
    </p:spTree>
    <p:extLst>
      <p:ext uri="{BB962C8B-B14F-4D97-AF65-F5344CB8AC3E}">
        <p14:creationId xmlns:p14="http://schemas.microsoft.com/office/powerpoint/2010/main" val="4046216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0C50E8E-7685-3B7E-AE3A-8AD134FCF0BE}"/>
              </a:ext>
            </a:extLst>
          </p:cNvPr>
          <p:cNvSpPr>
            <a:spLocks noGrp="1"/>
          </p:cNvSpPr>
          <p:nvPr>
            <p:ph type="body" sz="quarter" idx="10"/>
          </p:nvPr>
        </p:nvSpPr>
        <p:spPr/>
        <p:txBody>
          <a:bodyPr/>
          <a:lstStyle/>
          <a:p>
            <a:pPr algn="just"/>
            <a:r>
              <a:rPr lang="en-US" sz="1000" dirty="0">
                <a:hlinkClick r:id="rId2"/>
              </a:rPr>
              <a:t>Public Preview: Azure Kubernetes Fleet Manager for Arc-enabled clusters</a:t>
            </a:r>
            <a:endParaRPr lang="en-US" sz="1000" dirty="0"/>
          </a:p>
          <a:p>
            <a:pPr algn="just"/>
            <a:r>
              <a:rPr lang="en-US" sz="1000" dirty="0"/>
              <a:t>Azure is simplifying hybrid and multi-cloud Kubernetes operations with new support for </a:t>
            </a:r>
            <a:r>
              <a:rPr lang="en-US" sz="1000" b="1" dirty="0"/>
              <a:t>Azure Arc–enabled Kubernetes</a:t>
            </a:r>
            <a:r>
              <a:rPr lang="en-US" sz="1000" dirty="0"/>
              <a:t> in </a:t>
            </a:r>
            <a:r>
              <a:rPr lang="en-US" sz="1000" b="1" dirty="0"/>
              <a:t>Azure Kubernetes Fleet Manager</a:t>
            </a:r>
            <a:r>
              <a:rPr lang="en-US" sz="1000" dirty="0"/>
              <a:t>. Any CNCF-compliant cluster—on-premises, in other clouds, or at the edge—can now be Arc-enabled and managed as a Fleet member.</a:t>
            </a:r>
          </a:p>
          <a:p>
            <a:pPr algn="just"/>
            <a:r>
              <a:rPr lang="en-US" sz="1000" dirty="0"/>
              <a:t>This integration provides </a:t>
            </a:r>
            <a:r>
              <a:rPr lang="en-US" sz="1000" b="1" dirty="0"/>
              <a:t>centralized visibility</a:t>
            </a:r>
            <a:r>
              <a:rPr lang="en-US" sz="1000" dirty="0"/>
              <a:t> into cluster health and performance, along with </a:t>
            </a:r>
            <a:r>
              <a:rPr lang="en-US" sz="1000" b="1" dirty="0"/>
              <a:t>intelligent workload placement</a:t>
            </a:r>
            <a:r>
              <a:rPr lang="en-US" sz="1000" dirty="0"/>
              <a:t> to deploy applications and configurations consistently across environments.</a:t>
            </a:r>
          </a:p>
          <a:p>
            <a:pPr algn="just"/>
            <a:r>
              <a:rPr lang="en-US" sz="1000" dirty="0"/>
              <a:t>The result: reduced operational overhead, faster and more reliable deployments, and stronger governance across distributed Kubernetes infrastructure.</a:t>
            </a:r>
          </a:p>
          <a:p>
            <a:pPr algn="just"/>
            <a:endParaRPr lang="en-US" sz="1000" dirty="0"/>
          </a:p>
        </p:txBody>
      </p:sp>
      <p:sp>
        <p:nvSpPr>
          <p:cNvPr id="3" name="Title 2">
            <a:extLst>
              <a:ext uri="{FF2B5EF4-FFF2-40B4-BE49-F238E27FC236}">
                <a16:creationId xmlns:a16="http://schemas.microsoft.com/office/drawing/2014/main" id="{D6B572EE-864D-934E-C068-9D442FFB1DAD}"/>
              </a:ext>
            </a:extLst>
          </p:cNvPr>
          <p:cNvSpPr>
            <a:spLocks noGrp="1"/>
          </p:cNvSpPr>
          <p:nvPr>
            <p:ph type="title"/>
          </p:nvPr>
        </p:nvSpPr>
        <p:spPr/>
        <p:txBody>
          <a:bodyPr/>
          <a:lstStyle/>
          <a:p>
            <a:r>
              <a:rPr lang="en-US" sz="1800" dirty="0"/>
              <a:t>Compute Updates (K8S Updates) 3/7</a:t>
            </a:r>
            <a:endParaRPr lang="en-US" dirty="0"/>
          </a:p>
        </p:txBody>
      </p:sp>
      <p:sp>
        <p:nvSpPr>
          <p:cNvPr id="4" name="Text Placeholder 3">
            <a:extLst>
              <a:ext uri="{FF2B5EF4-FFF2-40B4-BE49-F238E27FC236}">
                <a16:creationId xmlns:a16="http://schemas.microsoft.com/office/drawing/2014/main" id="{F890F3C1-FD44-FE5D-4E2C-7B9B7F5BD4E0}"/>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95660F3E-A881-A5C4-8597-467CF0B054F5}"/>
              </a:ext>
            </a:extLst>
          </p:cNvPr>
          <p:cNvSpPr>
            <a:spLocks noGrp="1"/>
          </p:cNvSpPr>
          <p:nvPr>
            <p:ph type="body" sz="quarter" idx="16"/>
          </p:nvPr>
        </p:nvSpPr>
        <p:spPr/>
        <p:txBody>
          <a:bodyPr/>
          <a:lstStyle/>
          <a:p>
            <a:pPr algn="just"/>
            <a:r>
              <a:rPr lang="en-US" dirty="0">
                <a:hlinkClick r:id="rId3"/>
              </a:rPr>
              <a:t>Public Preview: Windows Server 2025 on AKS</a:t>
            </a:r>
            <a:endParaRPr lang="en-US" dirty="0"/>
          </a:p>
          <a:p>
            <a:pPr algn="just"/>
            <a:r>
              <a:rPr lang="en-US" dirty="0"/>
              <a:t>Organizations running Windows-based workloads on Azure Kubernetes Service (AKS) are facing increasing pressure to modernize as end-of-support timelines for older Windows Server versions approach. To support this transition, AKS now offers </a:t>
            </a:r>
            <a:r>
              <a:rPr lang="en-US" b="1" dirty="0"/>
              <a:t>preview support for Windows Server 2025</a:t>
            </a:r>
            <a:r>
              <a:rPr lang="en-US" dirty="0"/>
              <a:t>, bringing notable enhancements compared to Windows Server 2022.</a:t>
            </a:r>
          </a:p>
          <a:p>
            <a:pPr algn="just"/>
            <a:r>
              <a:rPr lang="en-US" dirty="0"/>
              <a:t>Windows Server 2025 delivers several key improvements:</a:t>
            </a:r>
          </a:p>
          <a:p>
            <a:pPr marL="171450" indent="-171450" algn="just">
              <a:buFont typeface="Arial" panose="020B0604020202020204" pitchFamily="34" charset="0"/>
              <a:buChar char="•"/>
            </a:pPr>
            <a:r>
              <a:rPr lang="en-US" b="1" dirty="0"/>
              <a:t>Stable ABI</a:t>
            </a:r>
            <a:r>
              <a:rPr lang="en-US" dirty="0"/>
              <a:t>, enabling Windows Server 2022 containers to run on Windows Server 2025</a:t>
            </a:r>
          </a:p>
          <a:p>
            <a:pPr marL="171450" indent="-171450" algn="just">
              <a:buFont typeface="Arial" panose="020B0604020202020204" pitchFamily="34" charset="0"/>
              <a:buChar char="•"/>
            </a:pPr>
            <a:r>
              <a:rPr lang="en-US" b="1" dirty="0"/>
              <a:t>Updated defaults</a:t>
            </a:r>
            <a:r>
              <a:rPr lang="en-US" dirty="0"/>
              <a:t>, including Generation 2 VMs, </a:t>
            </a:r>
            <a:r>
              <a:rPr lang="en-US" dirty="0" err="1"/>
              <a:t>containerd</a:t>
            </a:r>
            <a:r>
              <a:rPr lang="en-US" dirty="0"/>
              <a:t> 2.0, and FIPS enablement</a:t>
            </a:r>
          </a:p>
          <a:p>
            <a:pPr marL="171450" indent="-171450" algn="just">
              <a:buFont typeface="Arial" panose="020B0604020202020204" pitchFamily="34" charset="0"/>
              <a:buChar char="•"/>
            </a:pPr>
            <a:r>
              <a:rPr lang="en-US" b="1" dirty="0"/>
              <a:t>Enhanced Nano Server flexibility</a:t>
            </a:r>
            <a:r>
              <a:rPr lang="en-US" dirty="0"/>
              <a:t>, including new functionality such as 32-bit application support via a Feature on Demand (</a:t>
            </a:r>
            <a:r>
              <a:rPr lang="en-US" dirty="0" err="1"/>
              <a:t>FoD</a:t>
            </a:r>
            <a:r>
              <a:rPr lang="en-US" dirty="0"/>
              <a:t>)</a:t>
            </a:r>
          </a:p>
          <a:p>
            <a:pPr marL="171450" indent="-171450" algn="just">
              <a:buFont typeface="Arial" panose="020B0604020202020204" pitchFamily="34" charset="0"/>
              <a:buChar char="•"/>
            </a:pPr>
            <a:r>
              <a:rPr lang="en-US" b="1" dirty="0"/>
              <a:t>Improved GPU support</a:t>
            </a:r>
            <a:r>
              <a:rPr lang="en-US" dirty="0"/>
              <a:t>, enabling CUDA-based workloads to run inside containers</a:t>
            </a:r>
          </a:p>
          <a:p>
            <a:pPr algn="just"/>
            <a:r>
              <a:rPr lang="en-US" dirty="0"/>
              <a:t>With upcoming retirement dates—</a:t>
            </a:r>
            <a:r>
              <a:rPr lang="en-US" b="1" dirty="0"/>
              <a:t>Windows Server 2019 on March 1, 2026</a:t>
            </a:r>
            <a:r>
              <a:rPr lang="en-US" dirty="0"/>
              <a:t>, and </a:t>
            </a:r>
            <a:r>
              <a:rPr lang="en-US" b="1" dirty="0"/>
              <a:t>Windows Server 2022 on March 15, 2027</a:t>
            </a:r>
            <a:r>
              <a:rPr lang="en-US" dirty="0"/>
              <a:t>—organizations are encouraged to begin testing and evaluating Windows Server 2025. Migration requires recreating node pools using the new OS and shifting existing workloads accordingly.</a:t>
            </a:r>
          </a:p>
          <a:p>
            <a:pPr algn="just"/>
            <a:endParaRPr lang="en-US" dirty="0"/>
          </a:p>
        </p:txBody>
      </p:sp>
    </p:spTree>
    <p:extLst>
      <p:ext uri="{BB962C8B-B14F-4D97-AF65-F5344CB8AC3E}">
        <p14:creationId xmlns:p14="http://schemas.microsoft.com/office/powerpoint/2010/main" val="782651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FEB1E78-5217-A1BC-D268-78FCEB3C8F21}"/>
              </a:ext>
            </a:extLst>
          </p:cNvPr>
          <p:cNvSpPr>
            <a:spLocks noGrp="1"/>
          </p:cNvSpPr>
          <p:nvPr>
            <p:ph type="body" sz="quarter" idx="10"/>
          </p:nvPr>
        </p:nvSpPr>
        <p:spPr/>
        <p:txBody>
          <a:bodyPr/>
          <a:lstStyle/>
          <a:p>
            <a:pPr algn="just"/>
            <a:r>
              <a:rPr lang="en-US" sz="1000" dirty="0">
                <a:hlinkClick r:id="rId2"/>
              </a:rPr>
              <a:t>Generally Available: Cluster-wide Cilium network policy with Azure CNI powered by Cilium for AKS</a:t>
            </a:r>
            <a:endParaRPr lang="en-US" sz="1000" dirty="0"/>
          </a:p>
          <a:p>
            <a:pPr algn="just"/>
            <a:r>
              <a:rPr lang="en-US" sz="1000" b="1" dirty="0"/>
              <a:t>Cluster-wide Cilium network policy</a:t>
            </a:r>
            <a:r>
              <a:rPr lang="en-US" sz="1000" dirty="0"/>
              <a:t> for AKS clusters using Azure CNI powered by Cilium is now generally available.</a:t>
            </a:r>
          </a:p>
          <a:p>
            <a:pPr algn="just"/>
            <a:r>
              <a:rPr lang="en-US" sz="1000" dirty="0"/>
              <a:t>Managing consistent network policies across Kubernetes namespaces has historically been challenging, particularly in multi-tenant environments. With this general availability release, organizations can define and enforce network policies at the </a:t>
            </a:r>
            <a:r>
              <a:rPr lang="en-US" sz="1000" b="1" dirty="0"/>
              <a:t>cluster level</a:t>
            </a:r>
            <a:r>
              <a:rPr lang="en-US" sz="1000" dirty="0"/>
              <a:t>, ensuring consistent governance across all namespaces.</a:t>
            </a:r>
          </a:p>
          <a:p>
            <a:pPr algn="just"/>
            <a:r>
              <a:rPr lang="en-US" sz="1000" dirty="0"/>
              <a:t>This capability simplifies policy administration and strengthens tenant isolation by leveraging Cilium’s high-performance </a:t>
            </a:r>
            <a:r>
              <a:rPr lang="en-US" sz="1000" b="1" dirty="0" err="1"/>
              <a:t>eBPF</a:t>
            </a:r>
            <a:r>
              <a:rPr lang="en-US" sz="1000" b="1" dirty="0"/>
              <a:t> </a:t>
            </a:r>
            <a:r>
              <a:rPr lang="en-US" sz="1000" b="1" dirty="0" err="1"/>
              <a:t>dataplane</a:t>
            </a:r>
            <a:r>
              <a:rPr lang="en-US" sz="1000" dirty="0"/>
              <a:t>, providing a more scalable and secure approach to Kubernetes network policy management.</a:t>
            </a:r>
          </a:p>
          <a:p>
            <a:pPr algn="just"/>
            <a:endParaRPr lang="en-US" sz="1000" dirty="0"/>
          </a:p>
        </p:txBody>
      </p:sp>
      <p:sp>
        <p:nvSpPr>
          <p:cNvPr id="3" name="Title 2">
            <a:extLst>
              <a:ext uri="{FF2B5EF4-FFF2-40B4-BE49-F238E27FC236}">
                <a16:creationId xmlns:a16="http://schemas.microsoft.com/office/drawing/2014/main" id="{4A660E92-8246-0FB2-D76B-28E3EA1063EC}"/>
              </a:ext>
            </a:extLst>
          </p:cNvPr>
          <p:cNvSpPr>
            <a:spLocks noGrp="1"/>
          </p:cNvSpPr>
          <p:nvPr>
            <p:ph type="title"/>
          </p:nvPr>
        </p:nvSpPr>
        <p:spPr/>
        <p:txBody>
          <a:bodyPr/>
          <a:lstStyle/>
          <a:p>
            <a:r>
              <a:rPr lang="en-US" sz="1600" dirty="0"/>
              <a:t>Compute Updates (K8S Updates) </a:t>
            </a:r>
            <a:r>
              <a:rPr lang="en-US" sz="1800" dirty="0"/>
              <a:t>4/7</a:t>
            </a:r>
            <a:endParaRPr lang="en-US" dirty="0"/>
          </a:p>
        </p:txBody>
      </p:sp>
      <p:sp>
        <p:nvSpPr>
          <p:cNvPr id="4" name="Text Placeholder 3">
            <a:extLst>
              <a:ext uri="{FF2B5EF4-FFF2-40B4-BE49-F238E27FC236}">
                <a16:creationId xmlns:a16="http://schemas.microsoft.com/office/drawing/2014/main" id="{6F3203C2-7346-B67B-C90E-2924E9E5D7CC}"/>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E7A31430-A8B7-2CC2-94DC-FB276154B530}"/>
              </a:ext>
            </a:extLst>
          </p:cNvPr>
          <p:cNvSpPr>
            <a:spLocks noGrp="1"/>
          </p:cNvSpPr>
          <p:nvPr>
            <p:ph type="body" sz="quarter" idx="16"/>
          </p:nvPr>
        </p:nvSpPr>
        <p:spPr>
          <a:xfrm>
            <a:off x="342900" y="855081"/>
            <a:ext cx="3955312" cy="2961846"/>
          </a:xfrm>
        </p:spPr>
        <p:txBody>
          <a:bodyPr/>
          <a:lstStyle/>
          <a:p>
            <a:pPr algn="just"/>
            <a:r>
              <a:rPr lang="en-US" dirty="0">
                <a:hlinkClick r:id="rId3"/>
              </a:rPr>
              <a:t>Generally Available: Pod sandboxing on AKS</a:t>
            </a:r>
            <a:endParaRPr lang="ru-RU" dirty="0"/>
          </a:p>
          <a:p>
            <a:pPr algn="just"/>
            <a:r>
              <a:rPr lang="en-US" dirty="0"/>
              <a:t>AKS now supports </a:t>
            </a:r>
            <a:r>
              <a:rPr lang="en-US" b="1" dirty="0"/>
              <a:t>pod sandboxing</a:t>
            </a:r>
            <a:r>
              <a:rPr lang="en-US" dirty="0"/>
              <a:t>, enabling containers to run inside </a:t>
            </a:r>
            <a:r>
              <a:rPr lang="en-US" b="1" dirty="0"/>
              <a:t>per-workload pod VMs</a:t>
            </a:r>
            <a:r>
              <a:rPr lang="en-US" dirty="0"/>
              <a:t> for strong, hardware-backed isolation. Each pod VM is fully isolated from other pods and from the host OS, ensuring a robust security boundary for containerized workloads.</a:t>
            </a:r>
          </a:p>
          <a:p>
            <a:pPr algn="just"/>
            <a:r>
              <a:rPr lang="en-US" dirty="0"/>
              <a:t>Built on the </a:t>
            </a:r>
            <a:r>
              <a:rPr lang="en-US" b="1" dirty="0"/>
              <a:t>Kata Containers</a:t>
            </a:r>
            <a:r>
              <a:rPr lang="en-US" dirty="0"/>
              <a:t> open-source project and running on the Azure Linux container host, pod sandboxing provides a dedicated kernel and isolated compute resources for every sandboxed pod. No resources are shared with other Kata or namespace-based containers on the same node.</a:t>
            </a:r>
          </a:p>
          <a:p>
            <a:pPr algn="just"/>
            <a:r>
              <a:rPr lang="en-US" dirty="0"/>
              <a:t>This capability significantly strengthens workload security, reduces cross-pod and host-level risk, and is ideal for </a:t>
            </a:r>
            <a:r>
              <a:rPr lang="en-US" b="1" dirty="0"/>
              <a:t>multi-tenant, regulated, or high-sensitivity applications</a:t>
            </a:r>
            <a:r>
              <a:rPr lang="en-US" dirty="0"/>
              <a:t>.</a:t>
            </a:r>
          </a:p>
        </p:txBody>
      </p:sp>
    </p:spTree>
    <p:extLst>
      <p:ext uri="{BB962C8B-B14F-4D97-AF65-F5344CB8AC3E}">
        <p14:creationId xmlns:p14="http://schemas.microsoft.com/office/powerpoint/2010/main" val="1469093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DA61D8-3A49-4615-0056-BDBAA972F368}"/>
              </a:ext>
            </a:extLst>
          </p:cNvPr>
          <p:cNvSpPr>
            <a:spLocks noGrp="1"/>
          </p:cNvSpPr>
          <p:nvPr>
            <p:ph type="body" sz="quarter" idx="10"/>
          </p:nvPr>
        </p:nvSpPr>
        <p:spPr/>
        <p:txBody>
          <a:bodyPr/>
          <a:lstStyle/>
          <a:p>
            <a:pPr algn="just"/>
            <a:r>
              <a:rPr lang="en-US" sz="1000" dirty="0">
                <a:hlinkClick r:id="rId2"/>
              </a:rPr>
              <a:t>Generally Available: Layer 7 policy with Advanced Container Networking Services (ACNS) for AKS</a:t>
            </a:r>
            <a:endParaRPr lang="en-US" sz="1000" dirty="0"/>
          </a:p>
          <a:p>
            <a:pPr algn="just"/>
            <a:r>
              <a:rPr lang="en-US" sz="1000" dirty="0"/>
              <a:t>Layer 7 Policy is now generally available in Azure Container Networking Services, enabling fine-grained, application-layer traffic control for protocols such as HTTP, HTTPS, </a:t>
            </a:r>
            <a:r>
              <a:rPr lang="en-US" sz="1000" dirty="0" err="1"/>
              <a:t>gRPC</a:t>
            </a:r>
            <a:r>
              <a:rPr lang="en-US" sz="1000" dirty="0"/>
              <a:t>, and Kafka. This capability enhances microservice isolation, strengthens zero-trust security, and provides deeper traffic visibility—all with high performance and simplified policy management.</a:t>
            </a:r>
          </a:p>
        </p:txBody>
      </p:sp>
      <p:sp>
        <p:nvSpPr>
          <p:cNvPr id="3" name="Title 2">
            <a:extLst>
              <a:ext uri="{FF2B5EF4-FFF2-40B4-BE49-F238E27FC236}">
                <a16:creationId xmlns:a16="http://schemas.microsoft.com/office/drawing/2014/main" id="{96DB4598-7724-9CCD-78FC-399120C7EC18}"/>
              </a:ext>
            </a:extLst>
          </p:cNvPr>
          <p:cNvSpPr>
            <a:spLocks noGrp="1"/>
          </p:cNvSpPr>
          <p:nvPr>
            <p:ph type="title"/>
          </p:nvPr>
        </p:nvSpPr>
        <p:spPr/>
        <p:txBody>
          <a:bodyPr/>
          <a:lstStyle/>
          <a:p>
            <a:r>
              <a:rPr lang="en-US" sz="1600" dirty="0"/>
              <a:t>Compute Updates (K8S Updates) </a:t>
            </a:r>
            <a:r>
              <a:rPr lang="en-US" sz="1800" dirty="0"/>
              <a:t>5/7</a:t>
            </a:r>
            <a:endParaRPr lang="en-US" dirty="0"/>
          </a:p>
        </p:txBody>
      </p:sp>
      <p:sp>
        <p:nvSpPr>
          <p:cNvPr id="4" name="Text Placeholder 3">
            <a:extLst>
              <a:ext uri="{FF2B5EF4-FFF2-40B4-BE49-F238E27FC236}">
                <a16:creationId xmlns:a16="http://schemas.microsoft.com/office/drawing/2014/main" id="{CDC64E1B-3150-1F67-CE1B-7F18D99CDD6F}"/>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811EB4F1-CCAF-9996-3A84-6634FD1E8F89}"/>
              </a:ext>
            </a:extLst>
          </p:cNvPr>
          <p:cNvSpPr>
            <a:spLocks noGrp="1"/>
          </p:cNvSpPr>
          <p:nvPr>
            <p:ph type="body" sz="quarter" idx="16"/>
          </p:nvPr>
        </p:nvSpPr>
        <p:spPr/>
        <p:txBody>
          <a:bodyPr/>
          <a:lstStyle/>
          <a:p>
            <a:pPr algn="just"/>
            <a:r>
              <a:rPr lang="en-US" dirty="0">
                <a:hlinkClick r:id="rId3"/>
              </a:rPr>
              <a:t>Generally Available: AKS Automatic pod readiness SLA</a:t>
            </a:r>
            <a:endParaRPr lang="en-US" dirty="0"/>
          </a:p>
          <a:p>
            <a:pPr algn="just"/>
            <a:r>
              <a:rPr lang="en-US" dirty="0"/>
              <a:t>AKS Automatic clusters now provide a </a:t>
            </a:r>
            <a:r>
              <a:rPr lang="en-US" b="1" dirty="0"/>
              <a:t>pod readiness SLA</a:t>
            </a:r>
            <a:r>
              <a:rPr lang="en-US" dirty="0"/>
              <a:t>, guaranteeing that eligible pods become ready within </a:t>
            </a:r>
            <a:r>
              <a:rPr lang="en-US" b="1" dirty="0"/>
              <a:t>five minutes at the 99.9th percentile</a:t>
            </a:r>
            <a:r>
              <a:rPr lang="en-US" dirty="0"/>
              <a:t>. This ensures faster, more predictable startup times for mission-critical workloads and delivers increased reliability backed by a formal, financially backed service-level commitment.</a:t>
            </a:r>
          </a:p>
        </p:txBody>
      </p:sp>
    </p:spTree>
    <p:extLst>
      <p:ext uri="{BB962C8B-B14F-4D97-AF65-F5344CB8AC3E}">
        <p14:creationId xmlns:p14="http://schemas.microsoft.com/office/powerpoint/2010/main" val="1735453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D15F1BB-130C-7961-A904-B4348203D42E}"/>
              </a:ext>
            </a:extLst>
          </p:cNvPr>
          <p:cNvSpPr>
            <a:spLocks noGrp="1"/>
          </p:cNvSpPr>
          <p:nvPr>
            <p:ph type="body" sz="quarter" idx="10"/>
          </p:nvPr>
        </p:nvSpPr>
        <p:spPr/>
        <p:txBody>
          <a:bodyPr/>
          <a:lstStyle/>
          <a:p>
            <a:pPr algn="just"/>
            <a:r>
              <a:rPr lang="en-US" sz="1000" dirty="0">
                <a:hlinkClick r:id="rId2"/>
              </a:rPr>
              <a:t>Generally Available: MCP support for AI toolchain operator add-on in AKS</a:t>
            </a:r>
            <a:endParaRPr lang="en-US" sz="1000" dirty="0"/>
          </a:p>
          <a:p>
            <a:pPr algn="just"/>
            <a:r>
              <a:rPr lang="en-US" sz="1000" dirty="0"/>
              <a:t>The AI Toolchain Operator add-on now includes support for </a:t>
            </a:r>
            <a:r>
              <a:rPr lang="en-US" sz="1000" b="1" dirty="0"/>
              <a:t>KAITO inference workspaces</a:t>
            </a:r>
            <a:r>
              <a:rPr lang="en-US" sz="1000" dirty="0"/>
              <a:t> with integrated tool calling and </a:t>
            </a:r>
            <a:r>
              <a:rPr lang="en-US" sz="1000" b="1" dirty="0"/>
              <a:t>Model Context Protocol (MCP)</a:t>
            </a:r>
            <a:r>
              <a:rPr lang="en-US" sz="1000" dirty="0"/>
              <a:t>, addressing longstanding challenges related to dynamic model interaction and real-time data integration.</a:t>
            </a:r>
          </a:p>
          <a:p>
            <a:pPr algn="just"/>
            <a:r>
              <a:rPr lang="en-US" sz="1000" dirty="0"/>
              <a:t>Previously, deploying LLM-based services that required access to external tools—such as APIs or custom functions—often demanded custom orchestration and complex integrations. With this release, KAITO’s </a:t>
            </a:r>
            <a:r>
              <a:rPr lang="en-US" sz="1000" b="1" dirty="0" err="1"/>
              <a:t>vLLM</a:t>
            </a:r>
            <a:r>
              <a:rPr lang="en-US" sz="1000" b="1" dirty="0"/>
              <a:t>-based tool calling</a:t>
            </a:r>
            <a:r>
              <a:rPr lang="en-US" sz="1000" dirty="0"/>
              <a:t> works seamlessly with supported models, while MCP enables models to connect to external systems in real time.</a:t>
            </a:r>
          </a:p>
          <a:p>
            <a:pPr algn="just"/>
            <a:r>
              <a:rPr lang="en-US" sz="1000" dirty="0"/>
              <a:t>Together, these capabilities allow organizations to deliver smarter, more context-aware AI services directly within AKS, with significantly reduced friction and operational overhead.</a:t>
            </a:r>
          </a:p>
          <a:p>
            <a:pPr algn="just"/>
            <a:endParaRPr lang="en-US" sz="1000" dirty="0"/>
          </a:p>
        </p:txBody>
      </p:sp>
      <p:sp>
        <p:nvSpPr>
          <p:cNvPr id="3" name="Title 2">
            <a:extLst>
              <a:ext uri="{FF2B5EF4-FFF2-40B4-BE49-F238E27FC236}">
                <a16:creationId xmlns:a16="http://schemas.microsoft.com/office/drawing/2014/main" id="{8A6C21AC-824A-2FDB-EBE4-CE5DCA2EB9CE}"/>
              </a:ext>
            </a:extLst>
          </p:cNvPr>
          <p:cNvSpPr>
            <a:spLocks noGrp="1"/>
          </p:cNvSpPr>
          <p:nvPr>
            <p:ph type="title"/>
          </p:nvPr>
        </p:nvSpPr>
        <p:spPr/>
        <p:txBody>
          <a:bodyPr/>
          <a:lstStyle/>
          <a:p>
            <a:r>
              <a:rPr lang="en-US" sz="1600" dirty="0"/>
              <a:t>Compute Updates (K8S Updates) </a:t>
            </a:r>
            <a:r>
              <a:rPr lang="en-US" sz="1800" dirty="0"/>
              <a:t>6/7</a:t>
            </a:r>
            <a:endParaRPr lang="en-US" dirty="0"/>
          </a:p>
        </p:txBody>
      </p:sp>
      <p:sp>
        <p:nvSpPr>
          <p:cNvPr id="4" name="Text Placeholder 3">
            <a:extLst>
              <a:ext uri="{FF2B5EF4-FFF2-40B4-BE49-F238E27FC236}">
                <a16:creationId xmlns:a16="http://schemas.microsoft.com/office/drawing/2014/main" id="{BD4DDCBE-6794-43B3-6FE7-EA2BA6DEA79A}"/>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6AAC56ED-3548-AA65-994E-AF0DEC5781B1}"/>
              </a:ext>
            </a:extLst>
          </p:cNvPr>
          <p:cNvSpPr>
            <a:spLocks noGrp="1"/>
          </p:cNvSpPr>
          <p:nvPr>
            <p:ph type="body" sz="quarter" idx="16"/>
          </p:nvPr>
        </p:nvSpPr>
        <p:spPr/>
        <p:txBody>
          <a:bodyPr/>
          <a:lstStyle/>
          <a:p>
            <a:pPr algn="just"/>
            <a:r>
              <a:rPr lang="en-US" dirty="0">
                <a:hlinkClick r:id="rId3"/>
              </a:rPr>
              <a:t>Generally Available: Local redirect policy in Azure CNI powered by Cilium for AKS</a:t>
            </a:r>
            <a:endParaRPr lang="en-US" dirty="0"/>
          </a:p>
          <a:p>
            <a:pPr algn="just"/>
            <a:r>
              <a:rPr lang="en-US" b="1" dirty="0"/>
              <a:t>Local redirect policy</a:t>
            </a:r>
            <a:r>
              <a:rPr lang="en-US" dirty="0"/>
              <a:t> with Azure CNI powered by Cilium for AKS is now generally available.</a:t>
            </a:r>
          </a:p>
          <a:p>
            <a:pPr algn="just"/>
            <a:r>
              <a:rPr lang="en-US" dirty="0"/>
              <a:t>High-scale AKS workloads often encounter latency and performance bottlenecks when traffic is routed across nodes. The local redirect policy solves this by enabling </a:t>
            </a:r>
            <a:r>
              <a:rPr lang="en-US" b="1" dirty="0"/>
              <a:t>node-local service routing</a:t>
            </a:r>
            <a:r>
              <a:rPr lang="en-US" dirty="0"/>
              <a:t>, ensuring that traffic is directed to pods residing on the same node whenever possible. This approach lowers latency, increases throughput, and improves overall reliability—benefits that are especially important for AI training workloads and microservice-based applications.</a:t>
            </a:r>
          </a:p>
          <a:p>
            <a:pPr algn="just"/>
            <a:endParaRPr lang="en-US" dirty="0"/>
          </a:p>
        </p:txBody>
      </p:sp>
    </p:spTree>
    <p:extLst>
      <p:ext uri="{BB962C8B-B14F-4D97-AF65-F5344CB8AC3E}">
        <p14:creationId xmlns:p14="http://schemas.microsoft.com/office/powerpoint/2010/main" val="2977317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0CEB375-B3BA-8B38-0444-B601C60FDFC4}"/>
              </a:ext>
            </a:extLst>
          </p:cNvPr>
          <p:cNvSpPr>
            <a:spLocks noGrp="1"/>
          </p:cNvSpPr>
          <p:nvPr>
            <p:ph type="body" sz="quarter" idx="10"/>
          </p:nvPr>
        </p:nvSpPr>
        <p:spPr>
          <a:xfrm>
            <a:off x="342900" y="748146"/>
            <a:ext cx="3716482" cy="3995304"/>
          </a:xfrm>
        </p:spPr>
        <p:txBody>
          <a:bodyPr/>
          <a:lstStyle/>
          <a:p>
            <a:pPr algn="just"/>
            <a:r>
              <a:rPr lang="en-US" sz="1000" dirty="0">
                <a:hlinkClick r:id="rId2"/>
              </a:rPr>
              <a:t>Generally Available: Managed namespaces on AKS</a:t>
            </a:r>
            <a:endParaRPr lang="en-US" sz="1000" dirty="0"/>
          </a:p>
          <a:p>
            <a:pPr algn="just"/>
            <a:r>
              <a:rPr lang="en-US" sz="1000" dirty="0"/>
              <a:t>Managing namespace configurations across AKS clusters has traditionally required manual setup and ongoing maintenance, increasing complexity and the risk of misconfiguration. With the general availability of </a:t>
            </a:r>
            <a:r>
              <a:rPr lang="en-US" sz="1000" b="1" dirty="0"/>
              <a:t>Managed Namespaces</a:t>
            </a:r>
            <a:r>
              <a:rPr lang="en-US" sz="1000" dirty="0"/>
              <a:t>, AKS now enables users to deploy preconfigured namespaces with built-in lifecycle management.</a:t>
            </a:r>
          </a:p>
          <a:p>
            <a:pPr algn="just"/>
            <a:r>
              <a:rPr lang="en-US" sz="1000" dirty="0"/>
              <a:t>This feature streamlines the application of consistent controls across clusters, including ingress and egress network policies, RBAC, and resource limits and requests. By shifting namespace lifecycle management to Azure, organizations can accelerate deployments, strengthen governance, and reduce operational overhead.</a:t>
            </a:r>
          </a:p>
          <a:p>
            <a:pPr algn="just"/>
            <a:endParaRPr lang="en-US" sz="1000" dirty="0"/>
          </a:p>
        </p:txBody>
      </p:sp>
      <p:sp>
        <p:nvSpPr>
          <p:cNvPr id="3" name="Title 2">
            <a:extLst>
              <a:ext uri="{FF2B5EF4-FFF2-40B4-BE49-F238E27FC236}">
                <a16:creationId xmlns:a16="http://schemas.microsoft.com/office/drawing/2014/main" id="{95BEA992-8CF5-F2A3-F378-2F14A0D023FE}"/>
              </a:ext>
            </a:extLst>
          </p:cNvPr>
          <p:cNvSpPr>
            <a:spLocks noGrp="1"/>
          </p:cNvSpPr>
          <p:nvPr>
            <p:ph type="title"/>
          </p:nvPr>
        </p:nvSpPr>
        <p:spPr/>
        <p:txBody>
          <a:bodyPr/>
          <a:lstStyle/>
          <a:p>
            <a:r>
              <a:rPr lang="en-US" sz="1800" dirty="0"/>
              <a:t>Compute Updates (K8S Updates) 7/7</a:t>
            </a:r>
            <a:endParaRPr lang="en-US" dirty="0"/>
          </a:p>
        </p:txBody>
      </p:sp>
      <p:sp>
        <p:nvSpPr>
          <p:cNvPr id="4" name="Text Placeholder 3">
            <a:extLst>
              <a:ext uri="{FF2B5EF4-FFF2-40B4-BE49-F238E27FC236}">
                <a16:creationId xmlns:a16="http://schemas.microsoft.com/office/drawing/2014/main" id="{4C4ED0F4-7680-0302-D813-F36EF8A85DCD}"/>
              </a:ext>
            </a:extLst>
          </p:cNvPr>
          <p:cNvSpPr>
            <a:spLocks noGrp="1"/>
          </p:cNvSpPr>
          <p:nvPr>
            <p:ph type="body" sz="quarter" idx="15"/>
          </p:nvPr>
        </p:nvSpPr>
        <p:spPr/>
        <p:txBody>
          <a:bodyPr/>
          <a:lstStyle/>
          <a:p>
            <a:endParaRPr lang="en-US"/>
          </a:p>
        </p:txBody>
      </p:sp>
      <p:sp>
        <p:nvSpPr>
          <p:cNvPr id="8" name="Text Placeholder 1">
            <a:extLst>
              <a:ext uri="{FF2B5EF4-FFF2-40B4-BE49-F238E27FC236}">
                <a16:creationId xmlns:a16="http://schemas.microsoft.com/office/drawing/2014/main" id="{E12218A8-FBC0-AEEA-6CAA-4670067396E1}"/>
              </a:ext>
            </a:extLst>
          </p:cNvPr>
          <p:cNvSpPr txBox="1">
            <a:spLocks/>
          </p:cNvSpPr>
          <p:nvPr/>
        </p:nvSpPr>
        <p:spPr>
          <a:xfrm>
            <a:off x="4357576" y="748146"/>
            <a:ext cx="4365038"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2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sz="1000" dirty="0">
                <a:hlinkClick r:id="rId3"/>
              </a:rPr>
              <a:t>Windows Server 2019 Retirement on AKS enabled by Azure Arc</a:t>
            </a:r>
            <a:endParaRPr lang="en-US" sz="1000" dirty="0"/>
          </a:p>
          <a:p>
            <a:pPr algn="just"/>
            <a:r>
              <a:rPr lang="en-US" sz="1000" dirty="0"/>
              <a:t>Microsoft has confirmed the retirement of </a:t>
            </a:r>
            <a:r>
              <a:rPr lang="en-US" sz="1000" b="1" dirty="0"/>
              <a:t>Windows Server 2019 support</a:t>
            </a:r>
            <a:r>
              <a:rPr lang="en-US" sz="1000" dirty="0"/>
              <a:t> on </a:t>
            </a:r>
            <a:r>
              <a:rPr lang="en-US" sz="1000" b="1" dirty="0"/>
              <a:t>Azure Kubernetes Service (AKS) enabled by Azure Arc</a:t>
            </a:r>
            <a:r>
              <a:rPr lang="en-US" sz="1000" dirty="0"/>
              <a:t> for all releases after </a:t>
            </a:r>
            <a:r>
              <a:rPr lang="en-US" sz="1000" b="1" dirty="0"/>
              <a:t>April 1, 2026</a:t>
            </a:r>
            <a:r>
              <a:rPr lang="en-US" sz="1000" dirty="0"/>
              <a:t>. To remain supported and continue receiving security updates and Kubernetes version upgrades, organizations must migrate Windows Server 2019 workloads to </a:t>
            </a:r>
            <a:r>
              <a:rPr lang="en-US" sz="1000" b="1" dirty="0"/>
              <a:t>Windows Server 2022</a:t>
            </a:r>
            <a:r>
              <a:rPr lang="en-US" sz="1000" dirty="0"/>
              <a:t>.</a:t>
            </a:r>
          </a:p>
          <a:p>
            <a:pPr algn="just"/>
            <a:r>
              <a:rPr lang="en-US" sz="1000" b="1" dirty="0"/>
              <a:t>Migration Requirements</a:t>
            </a:r>
          </a:p>
          <a:p>
            <a:pPr algn="just"/>
            <a:r>
              <a:rPr lang="en-US" sz="1000" dirty="0"/>
              <a:t>Windows node pools </a:t>
            </a:r>
            <a:r>
              <a:rPr lang="en-US" sz="1000" b="1" dirty="0"/>
              <a:t>cannot be upgraded in place</a:t>
            </a:r>
            <a:r>
              <a:rPr lang="en-US" sz="1000" dirty="0"/>
              <a:t>. The migration process involves:</a:t>
            </a:r>
          </a:p>
          <a:p>
            <a:pPr marL="171450" indent="-171450" algn="just">
              <a:buFont typeface="Arial" panose="020B0604020202020204" pitchFamily="34" charset="0"/>
              <a:buChar char="•"/>
            </a:pPr>
            <a:r>
              <a:rPr lang="en-US" sz="1000" dirty="0"/>
              <a:t>Creating new </a:t>
            </a:r>
            <a:r>
              <a:rPr lang="en-US" sz="1000" b="1" dirty="0"/>
              <a:t>Windows Server 2022</a:t>
            </a:r>
            <a:r>
              <a:rPr lang="en-US" sz="1000" dirty="0"/>
              <a:t> node pools</a:t>
            </a:r>
          </a:p>
          <a:p>
            <a:pPr marL="171450" indent="-171450" algn="just">
              <a:buFont typeface="Arial" panose="020B0604020202020204" pitchFamily="34" charset="0"/>
              <a:buChar char="•"/>
            </a:pPr>
            <a:r>
              <a:rPr lang="en-US" sz="1000" dirty="0"/>
              <a:t>Rebuilding container images using </a:t>
            </a:r>
            <a:r>
              <a:rPr lang="en-US" sz="1000" b="1" dirty="0"/>
              <a:t>WS2022 base images</a:t>
            </a:r>
            <a:endParaRPr lang="en-US" sz="1000" dirty="0"/>
          </a:p>
          <a:p>
            <a:pPr marL="171450" indent="-171450" algn="just">
              <a:buFont typeface="Arial" panose="020B0604020202020204" pitchFamily="34" charset="0"/>
              <a:buChar char="•"/>
            </a:pPr>
            <a:r>
              <a:rPr lang="en-US" sz="1000" dirty="0"/>
              <a:t>Migrating workloads to the new pools</a:t>
            </a:r>
          </a:p>
          <a:p>
            <a:pPr marL="171450" indent="-171450" algn="just">
              <a:buFont typeface="Arial" panose="020B0604020202020204" pitchFamily="34" charset="0"/>
              <a:buChar char="•"/>
            </a:pPr>
            <a:r>
              <a:rPr lang="en-US" sz="1000" dirty="0"/>
              <a:t>Retiring the old Windows Server 2019 node pools</a:t>
            </a:r>
          </a:p>
          <a:p>
            <a:pPr algn="just"/>
            <a:r>
              <a:rPr lang="en-US" sz="1000" dirty="0"/>
              <a:t>Microsoft recommends allocating </a:t>
            </a:r>
            <a:r>
              <a:rPr lang="en-US" sz="1000" b="1" dirty="0"/>
              <a:t>2–4 weeks</a:t>
            </a:r>
            <a:r>
              <a:rPr lang="en-US" sz="1000" dirty="0"/>
              <a:t> for testing and completing production migrations </a:t>
            </a:r>
            <a:r>
              <a:rPr lang="en-US" sz="1000" b="1" dirty="0"/>
              <a:t>by March 2026</a:t>
            </a:r>
            <a:r>
              <a:rPr lang="en-US" sz="1000" dirty="0"/>
              <a:t> to ensure continuity and compliance.</a:t>
            </a:r>
          </a:p>
          <a:p>
            <a:pPr algn="just"/>
            <a:endParaRPr lang="en-US" sz="1000" dirty="0"/>
          </a:p>
        </p:txBody>
      </p:sp>
    </p:spTree>
    <p:extLst>
      <p:ext uri="{BB962C8B-B14F-4D97-AF65-F5344CB8AC3E}">
        <p14:creationId xmlns:p14="http://schemas.microsoft.com/office/powerpoint/2010/main" val="2323898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 (Azure App Service) 1/2</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a:xfrm>
            <a:off x="342900" y="855079"/>
            <a:ext cx="3955312" cy="2033593"/>
          </a:xfrm>
        </p:spPr>
        <p:txBody>
          <a:bodyPr/>
          <a:lstStyle/>
          <a:p>
            <a:pPr algn="just"/>
            <a:r>
              <a:rPr lang="en-US" dirty="0">
                <a:hlinkClick r:id="rId2"/>
              </a:rPr>
              <a:t>Generally Available: Custom error pages on Azure App Service</a:t>
            </a:r>
            <a:endParaRPr lang="en-US" dirty="0"/>
          </a:p>
          <a:p>
            <a:pPr algn="just"/>
            <a:r>
              <a:rPr lang="en-US" dirty="0"/>
              <a:t>Custom error pages are now generally available in Azure App Service. This feature allows you to replace default system-generated error screens with your own branded or user-friendly pages.</a:t>
            </a:r>
            <a:br>
              <a:rPr lang="en-US" dirty="0"/>
            </a:br>
            <a:r>
              <a:rPr lang="en-US" dirty="0"/>
              <a:t>You can customize responses for the following HTTP status codes:</a:t>
            </a:r>
          </a:p>
          <a:p>
            <a:pPr marL="171450" indent="-171450" algn="just">
              <a:buFont typeface="Arial" panose="020B0604020202020204" pitchFamily="34" charset="0"/>
              <a:buChar char="•"/>
            </a:pPr>
            <a:r>
              <a:rPr lang="en-US" b="1" dirty="0"/>
              <a:t>403 – Forbidden</a:t>
            </a:r>
            <a:endParaRPr lang="en-US" dirty="0"/>
          </a:p>
          <a:p>
            <a:pPr marL="171450" indent="-171450" algn="just">
              <a:buFont typeface="Arial" panose="020B0604020202020204" pitchFamily="34" charset="0"/>
              <a:buChar char="•"/>
            </a:pPr>
            <a:r>
              <a:rPr lang="en-US" b="1" dirty="0"/>
              <a:t>502 – Bad Gateway</a:t>
            </a:r>
            <a:endParaRPr lang="en-US" dirty="0"/>
          </a:p>
          <a:p>
            <a:pPr marL="171450" indent="-171450" algn="just">
              <a:buFont typeface="Arial" panose="020B0604020202020204" pitchFamily="34" charset="0"/>
              <a:buChar char="•"/>
            </a:pPr>
            <a:r>
              <a:rPr lang="en-US" b="1" dirty="0"/>
              <a:t>503 – Service Unavailable</a:t>
            </a:r>
            <a:endParaRPr lang="en-US" dirty="0"/>
          </a:p>
          <a:p>
            <a:pPr algn="just"/>
            <a:r>
              <a:rPr lang="en-US" dirty="0"/>
              <a:t>This enhancement improves user experience, supports branding consistency, and provides clearer guidance during service disruptions.</a:t>
            </a:r>
          </a:p>
        </p:txBody>
      </p:sp>
      <p:sp>
        <p:nvSpPr>
          <p:cNvPr id="5" name="Text Placeholder 4">
            <a:extLst>
              <a:ext uri="{FF2B5EF4-FFF2-40B4-BE49-F238E27FC236}">
                <a16:creationId xmlns:a16="http://schemas.microsoft.com/office/drawing/2014/main" id="{28FC3590-B6E0-85D1-3D82-5C40C7333305}"/>
              </a:ext>
            </a:extLst>
          </p:cNvPr>
          <p:cNvSpPr txBox="1">
            <a:spLocks/>
          </p:cNvSpPr>
          <p:nvPr/>
        </p:nvSpPr>
        <p:spPr>
          <a:xfrm>
            <a:off x="4570857" y="855079"/>
            <a:ext cx="3955312"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dirty="0">
                <a:hlinkClick r:id="rId3"/>
              </a:rPr>
              <a:t>Introducing Preview of Async Scaling for App Service Plans</a:t>
            </a:r>
            <a:endParaRPr lang="en-US" dirty="0"/>
          </a:p>
          <a:p>
            <a:pPr algn="just"/>
            <a:r>
              <a:rPr lang="en-US" dirty="0"/>
              <a:t>Azure App Service has introduced a </a:t>
            </a:r>
            <a:r>
              <a:rPr lang="en-US" b="1" dirty="0"/>
              <a:t>new preview capability</a:t>
            </a:r>
            <a:r>
              <a:rPr lang="en-US" dirty="0"/>
              <a:t> that allows App Service Plans to be </a:t>
            </a:r>
            <a:r>
              <a:rPr lang="en-US" b="1" dirty="0"/>
              <a:t>created and scaled asynchronously</a:t>
            </a:r>
            <a:r>
              <a:rPr lang="en-US" dirty="0"/>
              <a:t>. Customers can now specify the </a:t>
            </a:r>
            <a:r>
              <a:rPr lang="en-US" i="1" dirty="0"/>
              <a:t>final desired number of instances</a:t>
            </a:r>
            <a:r>
              <a:rPr lang="en-US" dirty="0"/>
              <a:t>, and the platform will automatically provision and retry until that target is reached—eliminating the need for repeated manual scaling operations.</a:t>
            </a:r>
          </a:p>
          <a:p>
            <a:pPr marL="171450" indent="-171450" algn="just">
              <a:buFont typeface="Arial" panose="020B0604020202020204" pitchFamily="34" charset="0"/>
              <a:buChar char="•"/>
            </a:pPr>
            <a:r>
              <a:rPr lang="en-US" b="1" dirty="0"/>
              <a:t>Current behavior: </a:t>
            </a:r>
            <a:r>
              <a:rPr lang="en-US" dirty="0"/>
              <a:t>When creating a new App Service Plan, a request for (e.g.) 15 instances may fail if only 6 are immediately available. Customers must then scale out in small increments as capacity becomes available.</a:t>
            </a:r>
          </a:p>
          <a:p>
            <a:pPr marL="171450" indent="-171450" algn="just">
              <a:buFont typeface="Arial" panose="020B0604020202020204" pitchFamily="34" charset="0"/>
              <a:buChar char="•"/>
            </a:pPr>
            <a:r>
              <a:rPr lang="en-US" b="1" dirty="0"/>
              <a:t>New preview functionality: </a:t>
            </a:r>
            <a:r>
              <a:rPr lang="en-US" dirty="0"/>
              <a:t>Customers can request all 15 instances up front. The platform will provision what is currently available (e.g., 6 instances) and automatically continue adding instances until the plan reaches the requested total—no additional user actions required.</a:t>
            </a:r>
          </a:p>
          <a:p>
            <a:pPr algn="just"/>
            <a:r>
              <a:rPr lang="en-US" dirty="0"/>
              <a:t>This delivers a more consistent, streamlined experience for scaling App Service Plans.</a:t>
            </a:r>
          </a:p>
          <a:p>
            <a:pPr algn="just"/>
            <a:endParaRPr lang="en-US" dirty="0"/>
          </a:p>
        </p:txBody>
      </p:sp>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8313F2E-5981-18F6-CF1C-909DFD2C7E9B}"/>
              </a:ext>
            </a:extLst>
          </p:cNvPr>
          <p:cNvSpPr>
            <a:spLocks noGrp="1"/>
          </p:cNvSpPr>
          <p:nvPr>
            <p:ph type="body" sz="quarter" idx="10"/>
          </p:nvPr>
        </p:nvSpPr>
        <p:spPr/>
        <p:txBody>
          <a:bodyPr/>
          <a:lstStyle/>
          <a:p>
            <a:endParaRPr lang="en-US"/>
          </a:p>
        </p:txBody>
      </p:sp>
      <p:sp>
        <p:nvSpPr>
          <p:cNvPr id="3" name="Title 2">
            <a:extLst>
              <a:ext uri="{FF2B5EF4-FFF2-40B4-BE49-F238E27FC236}">
                <a16:creationId xmlns:a16="http://schemas.microsoft.com/office/drawing/2014/main" id="{40853B56-4E03-79D0-4AAA-3197F5841812}"/>
              </a:ext>
            </a:extLst>
          </p:cNvPr>
          <p:cNvSpPr>
            <a:spLocks noGrp="1"/>
          </p:cNvSpPr>
          <p:nvPr>
            <p:ph type="title"/>
          </p:nvPr>
        </p:nvSpPr>
        <p:spPr/>
        <p:txBody>
          <a:bodyPr/>
          <a:lstStyle/>
          <a:p>
            <a:r>
              <a:rPr lang="en-US" sz="1600" dirty="0"/>
              <a:t>Compute Updates (Azure App Service) 2/2</a:t>
            </a:r>
            <a:endParaRPr lang="en-US" dirty="0"/>
          </a:p>
        </p:txBody>
      </p:sp>
      <p:sp>
        <p:nvSpPr>
          <p:cNvPr id="4" name="Text Placeholder 3">
            <a:extLst>
              <a:ext uri="{FF2B5EF4-FFF2-40B4-BE49-F238E27FC236}">
                <a16:creationId xmlns:a16="http://schemas.microsoft.com/office/drawing/2014/main" id="{D80B5BEC-28EA-B653-5510-F6338A4AF072}"/>
              </a:ext>
            </a:extLst>
          </p:cNvPr>
          <p:cNvSpPr>
            <a:spLocks noGrp="1"/>
          </p:cNvSpPr>
          <p:nvPr>
            <p:ph type="body" sz="quarter" idx="15"/>
          </p:nvPr>
        </p:nvSpPr>
        <p:spPr/>
        <p:txBody>
          <a:bodyPr/>
          <a:lstStyle/>
          <a:p>
            <a:endParaRPr lang="en-US"/>
          </a:p>
        </p:txBody>
      </p:sp>
      <p:sp>
        <p:nvSpPr>
          <p:cNvPr id="6" name="Text Placeholder 1">
            <a:extLst>
              <a:ext uri="{FF2B5EF4-FFF2-40B4-BE49-F238E27FC236}">
                <a16:creationId xmlns:a16="http://schemas.microsoft.com/office/drawing/2014/main" id="{79111EB5-7253-8E0A-D11C-0951BDA26FD8}"/>
              </a:ext>
            </a:extLst>
          </p:cNvPr>
          <p:cNvSpPr txBox="1">
            <a:spLocks/>
          </p:cNvSpPr>
          <p:nvPr/>
        </p:nvSpPr>
        <p:spPr>
          <a:xfrm>
            <a:off x="342900" y="855080"/>
            <a:ext cx="3965864"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2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sz="1000" dirty="0">
                <a:hlinkClick r:id="rId2"/>
              </a:rPr>
              <a:t>Public Preview: Managed Instance on Azure App Service</a:t>
            </a:r>
            <a:endParaRPr lang="en-US" sz="1000" dirty="0"/>
          </a:p>
          <a:p>
            <a:pPr algn="just"/>
            <a:r>
              <a:rPr lang="en-US" sz="1000" dirty="0"/>
              <a:t>Microsoft has announced the </a:t>
            </a:r>
            <a:r>
              <a:rPr lang="en-US" sz="1000" b="1" dirty="0"/>
              <a:t>public preview of Managed Instance on Azure App Service</a:t>
            </a:r>
            <a:r>
              <a:rPr lang="en-US" sz="1000" dirty="0"/>
              <a:t>, a new capability that enables organizations to move web applications to the cloud with minimal configuration and </a:t>
            </a:r>
            <a:r>
              <a:rPr lang="en-US" sz="1000" b="1" dirty="0"/>
              <a:t>no code rewrites</a:t>
            </a:r>
            <a:r>
              <a:rPr lang="en-US" sz="1000" dirty="0"/>
              <a:t>. Whether applications currently run on-premises or in virtual machines, Managed Instance provides a fully managed PaaS environment that helps future-proof infrastructure and unlock cloud scalability, security, and AI-driven benefits.</a:t>
            </a:r>
          </a:p>
          <a:p>
            <a:pPr algn="just"/>
            <a:r>
              <a:rPr lang="en-US" sz="1000" b="1" dirty="0"/>
              <a:t>Key benefits include:</a:t>
            </a:r>
            <a:endParaRPr lang="en-US" sz="1000" dirty="0"/>
          </a:p>
          <a:p>
            <a:pPr marL="171450" indent="-171450" algn="just">
              <a:buFont typeface="Arial" panose="020B0604020202020204" pitchFamily="34" charset="0"/>
              <a:buChar char="•"/>
            </a:pPr>
            <a:r>
              <a:rPr lang="en-US" sz="1000" dirty="0"/>
              <a:t>Full Azure App Service experience with turnkey scaling, resiliency, and integrated platform services</a:t>
            </a:r>
          </a:p>
          <a:p>
            <a:pPr marL="171450" indent="-171450" algn="just">
              <a:buFont typeface="Arial" panose="020B0604020202020204" pitchFamily="34" charset="0"/>
              <a:buChar char="•"/>
            </a:pPr>
            <a:r>
              <a:rPr lang="en-US" sz="1000" dirty="0"/>
              <a:t>Greater control through Bastion-enabled RDP access, custom configurations, and flexible identity management</a:t>
            </a:r>
          </a:p>
          <a:p>
            <a:pPr marL="171450" indent="-171450" algn="just">
              <a:buFont typeface="Arial" panose="020B0604020202020204" pitchFamily="34" charset="0"/>
              <a:buChar char="•"/>
            </a:pPr>
            <a:r>
              <a:rPr lang="en-US" sz="1000" dirty="0"/>
              <a:t>Compatibility for complex workloads—including classic .NET Framework apps—without requiring code changes</a:t>
            </a:r>
          </a:p>
          <a:p>
            <a:pPr algn="just"/>
            <a:r>
              <a:rPr lang="en-US" sz="1000" dirty="0"/>
              <a:t>As part of a broader migration and modernization strategy, </a:t>
            </a:r>
            <a:r>
              <a:rPr lang="en-US" sz="1000" b="1" dirty="0"/>
              <a:t>Managed Instance on Azure App Service</a:t>
            </a:r>
            <a:r>
              <a:rPr lang="en-US" sz="1000" dirty="0"/>
              <a:t> simplifies cloud adoption, reduces costs, and accelerates the path toward modern, cloud-optimized applications.</a:t>
            </a:r>
          </a:p>
          <a:p>
            <a:pPr algn="just"/>
            <a:endParaRPr lang="en-US" sz="1000" dirty="0"/>
          </a:p>
        </p:txBody>
      </p:sp>
    </p:spTree>
    <p:extLst>
      <p:ext uri="{BB962C8B-B14F-4D97-AF65-F5344CB8AC3E}">
        <p14:creationId xmlns:p14="http://schemas.microsoft.com/office/powerpoint/2010/main" val="2883026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BEBD86F-9484-BAA7-DCF1-DA91B7D047D2}"/>
              </a:ext>
            </a:extLst>
          </p:cNvPr>
          <p:cNvSpPr>
            <a:spLocks noGrp="1"/>
          </p:cNvSpPr>
          <p:nvPr>
            <p:ph type="body" sz="quarter" idx="10"/>
          </p:nvPr>
        </p:nvSpPr>
        <p:spPr/>
        <p:txBody>
          <a:bodyPr/>
          <a:lstStyle/>
          <a:p>
            <a:pPr algn="just"/>
            <a:r>
              <a:rPr lang="en-US" sz="1000" dirty="0">
                <a:hlinkClick r:id="rId2"/>
              </a:rPr>
              <a:t>Private Preview: Azure Boost remote storage throughput and network bandwidth enhancements</a:t>
            </a:r>
            <a:endParaRPr lang="en-US" sz="1000" dirty="0"/>
          </a:p>
          <a:p>
            <a:pPr algn="just"/>
            <a:r>
              <a:rPr lang="en-US" sz="1000" dirty="0"/>
              <a:t>Remote storage throughput and network bandwidth enhancements for the latest </a:t>
            </a:r>
            <a:r>
              <a:rPr lang="en-US" sz="1000" b="1" dirty="0"/>
              <a:t>Azure Boost</a:t>
            </a:r>
            <a:r>
              <a:rPr lang="en-US" sz="1000" dirty="0"/>
              <a:t> architecture are now in preview.</a:t>
            </a:r>
          </a:p>
          <a:p>
            <a:pPr algn="just"/>
            <a:r>
              <a:rPr lang="en-US" sz="1000" dirty="0"/>
              <a:t>Azure Boost is a Microsoft Azure technology that offloads key virtualization tasks—such as networking, storage, and host management—from the hypervisor and host OS to specialized hardware and software. This design frees CPU resources for customer workloads and strengthens security through physical isolation and a hardware root of trust. By reducing maintenance impact and improving scalability, Azure Boost delivers faster, more secure, and highly efficient cloud operations for demanding workloads.</a:t>
            </a:r>
          </a:p>
          <a:p>
            <a:pPr algn="just"/>
            <a:r>
              <a:rPr lang="en-US" sz="1000" dirty="0"/>
              <a:t>The latest architectural upgrades introduce:</a:t>
            </a:r>
          </a:p>
          <a:p>
            <a:pPr marL="171450" indent="-171450" algn="just">
              <a:buFont typeface="Arial" panose="020B0604020202020204" pitchFamily="34" charset="0"/>
              <a:buChar char="•"/>
            </a:pPr>
            <a:r>
              <a:rPr lang="en-US" sz="1000" b="1" dirty="0"/>
              <a:t>Up to 20 </a:t>
            </a:r>
            <a:r>
              <a:rPr lang="en-US" sz="1000" b="1" dirty="0" err="1"/>
              <a:t>GBps</a:t>
            </a:r>
            <a:r>
              <a:rPr lang="en-US" sz="1000" b="1" dirty="0"/>
              <a:t> remote storage throughput</a:t>
            </a:r>
            <a:endParaRPr lang="en-US" sz="1000" dirty="0"/>
          </a:p>
          <a:p>
            <a:pPr marL="171450" indent="-171450" algn="just">
              <a:buFont typeface="Arial" panose="020B0604020202020204" pitchFamily="34" charset="0"/>
              <a:buChar char="•"/>
            </a:pPr>
            <a:r>
              <a:rPr lang="en-US" sz="1000" b="1" dirty="0"/>
              <a:t>Up to 1 million remote storage IOPS</a:t>
            </a:r>
            <a:endParaRPr lang="en-US" sz="1000" dirty="0"/>
          </a:p>
          <a:p>
            <a:pPr marL="171450" indent="-171450" algn="just">
              <a:buFont typeface="Arial" panose="020B0604020202020204" pitchFamily="34" charset="0"/>
              <a:buChar char="•"/>
            </a:pPr>
            <a:r>
              <a:rPr lang="en-US" sz="1000" b="1" dirty="0"/>
              <a:t>Up to 400 Gbps network bandwidth</a:t>
            </a:r>
            <a:endParaRPr lang="en-US" sz="1000" dirty="0"/>
          </a:p>
          <a:p>
            <a:pPr algn="just"/>
            <a:r>
              <a:rPr lang="en-US" sz="1000" dirty="0"/>
              <a:t>These performance improvements will debut with the </a:t>
            </a:r>
            <a:r>
              <a:rPr lang="en-US" sz="1000" b="1" dirty="0"/>
              <a:t>D/E/Fsv7 Intel “Granite Rapids” VMs</a:t>
            </a:r>
            <a:r>
              <a:rPr lang="en-US" sz="1000" dirty="0"/>
              <a:t> (now in preview). Additional new VM series adopting this architecture will offer similar high-performance capabilities.</a:t>
            </a:r>
          </a:p>
          <a:p>
            <a:pPr algn="just"/>
            <a:endParaRPr lang="en-US" sz="1000" dirty="0"/>
          </a:p>
          <a:p>
            <a:pPr algn="just"/>
            <a:endParaRPr lang="en-US" sz="1000" dirty="0"/>
          </a:p>
        </p:txBody>
      </p:sp>
      <p:sp>
        <p:nvSpPr>
          <p:cNvPr id="3" name="Title 2">
            <a:extLst>
              <a:ext uri="{FF2B5EF4-FFF2-40B4-BE49-F238E27FC236}">
                <a16:creationId xmlns:a16="http://schemas.microsoft.com/office/drawing/2014/main" id="{3F57C689-C0E2-6971-862C-0AE34BBD6898}"/>
              </a:ext>
            </a:extLst>
          </p:cNvPr>
          <p:cNvSpPr>
            <a:spLocks noGrp="1"/>
          </p:cNvSpPr>
          <p:nvPr>
            <p:ph type="title"/>
          </p:nvPr>
        </p:nvSpPr>
        <p:spPr/>
        <p:txBody>
          <a:bodyPr/>
          <a:lstStyle/>
          <a:p>
            <a:r>
              <a:rPr lang="en-US" sz="1800" dirty="0"/>
              <a:t>Compute Updates (Azure Boost) 1/1</a:t>
            </a:r>
            <a:endParaRPr lang="en-US" dirty="0"/>
          </a:p>
        </p:txBody>
      </p:sp>
      <p:sp>
        <p:nvSpPr>
          <p:cNvPr id="4" name="Text Placeholder 3">
            <a:extLst>
              <a:ext uri="{FF2B5EF4-FFF2-40B4-BE49-F238E27FC236}">
                <a16:creationId xmlns:a16="http://schemas.microsoft.com/office/drawing/2014/main" id="{33755B22-ABEF-FA84-BA63-BD940282C98D}"/>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29A26F42-3D93-A322-BE49-E278C0AAD954}"/>
              </a:ext>
            </a:extLst>
          </p:cNvPr>
          <p:cNvSpPr>
            <a:spLocks noGrp="1"/>
          </p:cNvSpPr>
          <p:nvPr>
            <p:ph type="body" sz="quarter" idx="16"/>
          </p:nvPr>
        </p:nvSpPr>
        <p:spPr/>
        <p:txBody>
          <a:bodyPr/>
          <a:lstStyle/>
          <a:p>
            <a:pPr algn="just"/>
            <a:r>
              <a:rPr lang="en-US" dirty="0">
                <a:hlinkClick r:id="rId3"/>
              </a:rPr>
              <a:t>Private Preview: Azure Boost confidential device</a:t>
            </a:r>
            <a:endParaRPr lang="en-US" dirty="0"/>
          </a:p>
          <a:p>
            <a:pPr algn="just"/>
            <a:r>
              <a:rPr lang="en-US" dirty="0"/>
              <a:t>The </a:t>
            </a:r>
            <a:r>
              <a:rPr lang="en-US" b="1" dirty="0"/>
              <a:t>Azure Boost confidential device</a:t>
            </a:r>
            <a:r>
              <a:rPr lang="en-US" dirty="0"/>
              <a:t> feature is now in preview.</a:t>
            </a:r>
          </a:p>
          <a:p>
            <a:pPr algn="just"/>
            <a:r>
              <a:rPr lang="en-US" dirty="0"/>
              <a:t>Azure Boost is a Microsoft Azure technology that offloads virtualization functions—such as networking, storage, and host management—from the hypervisor and host operating system to specialized hardware and software. This approach increases CPU availability for customer workloads while strengthening security through physical isolation and a hardware root of trust. By reducing maintenance overhead and improving scalability, Azure Boost delivers faster, more secure, and more efficient cloud operations for demanding workloads.</a:t>
            </a:r>
          </a:p>
          <a:p>
            <a:pPr algn="just"/>
            <a:r>
              <a:rPr lang="en-US" dirty="0"/>
              <a:t>The new confidential device capability is designed for upcoming generations of Azure confidential VMs. It extends the confidential computing trust boundary of these VMs into the Azure Boost card using the </a:t>
            </a:r>
            <a:r>
              <a:rPr lang="en-US" b="1" dirty="0"/>
              <a:t>PCIe TDISP standard</a:t>
            </a:r>
            <a:r>
              <a:rPr lang="en-US" dirty="0"/>
              <a:t>, which enables hardware-based attestation of the Boost card and hardware-encrypted PCIe data paths. This eliminates the need for a software “bounce buffer” when sensitive data moves beyond the VM’s trust boundary.</a:t>
            </a:r>
          </a:p>
          <a:p>
            <a:pPr algn="just"/>
            <a:r>
              <a:rPr lang="en-US" dirty="0"/>
              <a:t>The result is faster data movement, lower CPU overhead, and improved confidential VM performance—achieved without compromising the security guarantees of confidential computing.</a:t>
            </a:r>
          </a:p>
          <a:p>
            <a:pPr algn="just"/>
            <a:endParaRPr lang="en-US" dirty="0"/>
          </a:p>
        </p:txBody>
      </p:sp>
    </p:spTree>
    <p:extLst>
      <p:ext uri="{BB962C8B-B14F-4D97-AF65-F5344CB8AC3E}">
        <p14:creationId xmlns:p14="http://schemas.microsoft.com/office/powerpoint/2010/main" val="1557542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EF0DE71-9AB1-BCD3-CDAE-0B23F81C7F97}"/>
              </a:ext>
            </a:extLst>
          </p:cNvPr>
          <p:cNvSpPr>
            <a:spLocks noGrp="1"/>
          </p:cNvSpPr>
          <p:nvPr>
            <p:ph type="body" sz="quarter" idx="10"/>
          </p:nvPr>
        </p:nvSpPr>
        <p:spPr/>
        <p:txBody>
          <a:bodyPr/>
          <a:lstStyle/>
          <a:p>
            <a:pPr algn="just"/>
            <a:r>
              <a:rPr lang="en-US" sz="1000" dirty="0">
                <a:hlinkClick r:id="rId2"/>
              </a:rPr>
              <a:t>Generally Available: Trusted Launch is now supported for Arm64 Marketplace Images</a:t>
            </a:r>
            <a:endParaRPr lang="en-US" sz="1000" dirty="0"/>
          </a:p>
          <a:p>
            <a:pPr algn="just"/>
            <a:r>
              <a:rPr lang="en-US" sz="1000" dirty="0"/>
              <a:t>Arm64 VMs bring cost savings, energy efficiency, and high performance to cloud workloads. </a:t>
            </a:r>
          </a:p>
          <a:p>
            <a:pPr algn="just"/>
            <a:r>
              <a:rPr lang="en-US" sz="1000" dirty="0"/>
              <a:t>Trusted Launch VMs provide foundational compute security to Azure VMs by enabling Secure Boot and </a:t>
            </a:r>
            <a:r>
              <a:rPr lang="en-US" sz="1000" dirty="0" err="1"/>
              <a:t>vTPM</a:t>
            </a:r>
            <a:r>
              <a:rPr lang="en-US" sz="1000" dirty="0"/>
              <a:t> capabilities. Trusted Launch protects OS against rootkits, boot kits and enables attestation by measuring the boot chain of VM. </a:t>
            </a:r>
          </a:p>
          <a:p>
            <a:pPr algn="just"/>
            <a:r>
              <a:rPr lang="en-US" sz="1000" dirty="0"/>
              <a:t>The </a:t>
            </a:r>
            <a:r>
              <a:rPr lang="en-US" sz="1000" b="1" dirty="0"/>
              <a:t>Cobalt 100 based Arm64 VMs (Dpsv6/Dplsv6/Epsv6) support </a:t>
            </a:r>
            <a:r>
              <a:rPr lang="en-US" sz="1000" dirty="0"/>
              <a:t>the Trusted Launch security type, and users can improve the security of their Cobalt 100 VMs by deploying with Trusted Launch images from the marketplace. Supported images include </a:t>
            </a:r>
            <a:r>
              <a:rPr lang="en-US" sz="1000" b="1" dirty="0"/>
              <a:t>Ubuntu 24.04, Debian 13, Rocky 9, Azure Linux 3, RedHat Enterprise Linux 10, and more. </a:t>
            </a:r>
          </a:p>
        </p:txBody>
      </p:sp>
      <p:sp>
        <p:nvSpPr>
          <p:cNvPr id="3" name="Title 2">
            <a:extLst>
              <a:ext uri="{FF2B5EF4-FFF2-40B4-BE49-F238E27FC236}">
                <a16:creationId xmlns:a16="http://schemas.microsoft.com/office/drawing/2014/main" id="{3126DA4D-9A58-0993-5F90-2694AD91A5B7}"/>
              </a:ext>
            </a:extLst>
          </p:cNvPr>
          <p:cNvSpPr>
            <a:spLocks noGrp="1"/>
          </p:cNvSpPr>
          <p:nvPr>
            <p:ph type="title"/>
          </p:nvPr>
        </p:nvSpPr>
        <p:spPr/>
        <p:txBody>
          <a:bodyPr/>
          <a:lstStyle/>
          <a:p>
            <a:r>
              <a:rPr lang="en-US" sz="1600" dirty="0"/>
              <a:t>Compute Updates 1/6</a:t>
            </a:r>
            <a:endParaRPr lang="en-US" dirty="0"/>
          </a:p>
        </p:txBody>
      </p:sp>
      <p:sp>
        <p:nvSpPr>
          <p:cNvPr id="4" name="Text Placeholder 3">
            <a:extLst>
              <a:ext uri="{FF2B5EF4-FFF2-40B4-BE49-F238E27FC236}">
                <a16:creationId xmlns:a16="http://schemas.microsoft.com/office/drawing/2014/main" id="{042A7487-72DF-3A45-15E4-A62878B66C4C}"/>
              </a:ext>
            </a:extLst>
          </p:cNvPr>
          <p:cNvSpPr>
            <a:spLocks noGrp="1"/>
          </p:cNvSpPr>
          <p:nvPr>
            <p:ph type="body" sz="quarter" idx="15"/>
          </p:nvPr>
        </p:nvSpPr>
        <p:spPr/>
        <p:txBody>
          <a:bodyPr/>
          <a:lstStyle/>
          <a:p>
            <a:endParaRPr lang="en-US"/>
          </a:p>
        </p:txBody>
      </p:sp>
      <p:sp>
        <p:nvSpPr>
          <p:cNvPr id="12" name="Text Placeholder 11">
            <a:extLst>
              <a:ext uri="{FF2B5EF4-FFF2-40B4-BE49-F238E27FC236}">
                <a16:creationId xmlns:a16="http://schemas.microsoft.com/office/drawing/2014/main" id="{995ECF59-E5F0-A908-6FBA-7B62FCFAAF59}"/>
              </a:ext>
            </a:extLst>
          </p:cNvPr>
          <p:cNvSpPr txBox="1">
            <a:spLocks/>
          </p:cNvSpPr>
          <p:nvPr/>
        </p:nvSpPr>
        <p:spPr>
          <a:xfrm>
            <a:off x="342900" y="855080"/>
            <a:ext cx="3917373"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2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sz="1000" dirty="0">
                <a:hlinkClick r:id="rId3"/>
              </a:rPr>
              <a:t>Generally Available: Azure Sphere OS version 25.10 is now available</a:t>
            </a:r>
            <a:endParaRPr lang="en-US" sz="1000" dirty="0"/>
          </a:p>
          <a:p>
            <a:pPr algn="just"/>
            <a:r>
              <a:rPr lang="en-US" sz="1000" dirty="0"/>
              <a:t>Azure </a:t>
            </a:r>
            <a:r>
              <a:rPr lang="en-US" sz="1000" b="1" dirty="0"/>
              <a:t>Sphere OS version 25.10 </a:t>
            </a:r>
            <a:r>
              <a:rPr lang="en-US" sz="1000" dirty="0"/>
              <a:t>is now available in the Retail feed. This release includes updates to Azure Sphere OS only; it does not include an updated SDK. If your devices are connected to the internet, they will receive the updated OS from the cloud</a:t>
            </a:r>
          </a:p>
        </p:txBody>
      </p:sp>
    </p:spTree>
    <p:extLst>
      <p:ext uri="{BB962C8B-B14F-4D97-AF65-F5344CB8AC3E}">
        <p14:creationId xmlns:p14="http://schemas.microsoft.com/office/powerpoint/2010/main" val="2551848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46A0BCA-FE57-99B6-006A-B25FDE35F072}"/>
              </a:ext>
            </a:extLst>
          </p:cNvPr>
          <p:cNvSpPr>
            <a:spLocks noGrp="1"/>
          </p:cNvSpPr>
          <p:nvPr>
            <p:ph type="body" sz="quarter" idx="10"/>
          </p:nvPr>
        </p:nvSpPr>
        <p:spPr/>
        <p:txBody>
          <a:bodyPr/>
          <a:lstStyle/>
          <a:p>
            <a:pPr algn="just"/>
            <a:r>
              <a:rPr lang="en-US" sz="1000" dirty="0">
                <a:hlinkClick r:id="rId2"/>
              </a:rPr>
              <a:t>Introducing Metadata Security Protocol (MSP): Elevating Platform Security for Azure VMs</a:t>
            </a:r>
            <a:endParaRPr lang="en-US" sz="1000" dirty="0"/>
          </a:p>
          <a:p>
            <a:pPr algn="just"/>
            <a:r>
              <a:rPr lang="en-US" sz="1000" dirty="0">
                <a:hlinkClick r:id="rId3"/>
              </a:rPr>
              <a:t>Metadata Security Protocol (MSP),</a:t>
            </a:r>
            <a:r>
              <a:rPr lang="en-US" sz="1000" dirty="0"/>
              <a:t> an industry-first innovation designed to mitigate vulnerabilities at the platform layer. Azure becomes the first major cloud provider to integrate strong authentication and authorization (AuthN and </a:t>
            </a:r>
            <a:r>
              <a:rPr lang="en-US" sz="1000" dirty="0" err="1"/>
              <a:t>AuthZ</a:t>
            </a:r>
            <a:r>
              <a:rPr lang="en-US" sz="1000" dirty="0"/>
              <a:t>) for metadata service endpoints inside virtual machines. MSP introduces a default-closed security model for the Instance Metadata Service (IMDS) and </a:t>
            </a:r>
            <a:r>
              <a:rPr lang="en-US" sz="1000" dirty="0" err="1"/>
              <a:t>WireServer</a:t>
            </a:r>
            <a:r>
              <a:rPr lang="en-US" sz="1000" dirty="0"/>
              <a:t>, ensuring only trusted processes can access sensitive data over it, eliminating a subset of attack classes, reducing another subset of attack surfaces and aligning with zero-trust security principles. </a:t>
            </a:r>
          </a:p>
          <a:p>
            <a:pPr marL="171450" indent="-171450" algn="just">
              <a:buFont typeface="Arial" panose="020B0604020202020204" pitchFamily="34" charset="0"/>
              <a:buChar char="•"/>
            </a:pPr>
            <a:r>
              <a:rPr lang="en-US" sz="1000" dirty="0"/>
              <a:t>Authentication for IMDS calls</a:t>
            </a:r>
          </a:p>
          <a:p>
            <a:pPr marL="171450" indent="-171450" algn="just">
              <a:buFont typeface="Arial" panose="020B0604020202020204" pitchFamily="34" charset="0"/>
              <a:buChar char="•"/>
            </a:pPr>
            <a:r>
              <a:rPr lang="en-US" sz="1000" dirty="0"/>
              <a:t>Improved isolation</a:t>
            </a:r>
          </a:p>
          <a:p>
            <a:pPr marL="171450" indent="-171450" algn="just">
              <a:buFont typeface="Arial" panose="020B0604020202020204" pitchFamily="34" charset="0"/>
              <a:buChar char="•"/>
            </a:pPr>
            <a:r>
              <a:rPr lang="en-US" sz="1000" dirty="0"/>
              <a:t>Default-Closed Model</a:t>
            </a:r>
          </a:p>
          <a:p>
            <a:pPr marL="171450" indent="-171450" algn="just">
              <a:buFont typeface="Arial" panose="020B0604020202020204" pitchFamily="34" charset="0"/>
              <a:buChar char="•"/>
            </a:pPr>
            <a:r>
              <a:rPr lang="en-US" sz="1000" dirty="0"/>
              <a:t>Guest Proxy Agent (GPA) </a:t>
            </a:r>
          </a:p>
          <a:p>
            <a:pPr marL="171450" indent="-171450" algn="just">
              <a:buFont typeface="Arial" panose="020B0604020202020204" pitchFamily="34" charset="0"/>
              <a:buChar char="•"/>
            </a:pPr>
            <a:r>
              <a:rPr lang="en-US" sz="1000" dirty="0"/>
              <a:t>Fine-grained access control </a:t>
            </a:r>
          </a:p>
        </p:txBody>
      </p:sp>
      <p:sp>
        <p:nvSpPr>
          <p:cNvPr id="3" name="Title 2">
            <a:extLst>
              <a:ext uri="{FF2B5EF4-FFF2-40B4-BE49-F238E27FC236}">
                <a16:creationId xmlns:a16="http://schemas.microsoft.com/office/drawing/2014/main" id="{8A96E225-960F-C2A1-6524-21A82AE0D424}"/>
              </a:ext>
            </a:extLst>
          </p:cNvPr>
          <p:cNvSpPr>
            <a:spLocks noGrp="1"/>
          </p:cNvSpPr>
          <p:nvPr>
            <p:ph type="title"/>
          </p:nvPr>
        </p:nvSpPr>
        <p:spPr/>
        <p:txBody>
          <a:bodyPr/>
          <a:lstStyle/>
          <a:p>
            <a:r>
              <a:rPr lang="en-US" sz="1800" dirty="0"/>
              <a:t>Compute Updates 2/6</a:t>
            </a:r>
            <a:endParaRPr lang="en-US" dirty="0"/>
          </a:p>
        </p:txBody>
      </p:sp>
      <p:sp>
        <p:nvSpPr>
          <p:cNvPr id="4" name="Text Placeholder 3">
            <a:extLst>
              <a:ext uri="{FF2B5EF4-FFF2-40B4-BE49-F238E27FC236}">
                <a16:creationId xmlns:a16="http://schemas.microsoft.com/office/drawing/2014/main" id="{BD8AC01E-1463-7FF1-0E5C-3005CA7737A3}"/>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09BFA2D8-0EF6-F0B8-0C1B-2F65085B5F87}"/>
              </a:ext>
            </a:extLst>
          </p:cNvPr>
          <p:cNvSpPr>
            <a:spLocks noGrp="1"/>
          </p:cNvSpPr>
          <p:nvPr>
            <p:ph type="body" sz="quarter" idx="16"/>
          </p:nvPr>
        </p:nvSpPr>
        <p:spPr/>
        <p:txBody>
          <a:bodyPr/>
          <a:lstStyle/>
          <a:p>
            <a:pPr algn="just"/>
            <a:r>
              <a:rPr lang="en-US" dirty="0">
                <a:hlinkClick r:id="rId4"/>
              </a:rPr>
              <a:t>Generally Available: Scheduled Actions</a:t>
            </a:r>
            <a:endParaRPr lang="en-US" dirty="0"/>
          </a:p>
          <a:p>
            <a:pPr algn="just"/>
            <a:r>
              <a:rPr lang="en-US" b="1" dirty="0"/>
              <a:t>Scheduled Actions</a:t>
            </a:r>
            <a:r>
              <a:rPr lang="en-US" dirty="0"/>
              <a:t> provides the ability to manage the lifecycle of Azure Virtual Machines at large scale on a recurring schedule. It automatically handles subscription throttling and transient-error retries, ensuring that scheduled operations complete successfully without additional operational burden.</a:t>
            </a:r>
          </a:p>
          <a:p>
            <a:pPr algn="just"/>
            <a:r>
              <a:rPr lang="en-US" dirty="0"/>
              <a:t>Scheduled Actions is a dedicated resource provider—</a:t>
            </a:r>
            <a:r>
              <a:rPr lang="en-US" b="1" dirty="0" err="1"/>
              <a:t>compute.schedule</a:t>
            </a:r>
            <a:r>
              <a:rPr lang="en-US" dirty="0"/>
              <a:t>—that runs above the Azure Compute REST API. It performs VM operations on behalf of a subscription at the exact times specified by the user.</a:t>
            </a:r>
          </a:p>
          <a:p>
            <a:pPr algn="just"/>
            <a:r>
              <a:rPr lang="en-US" b="1" dirty="0"/>
              <a:t>Supported VM operations include:</a:t>
            </a:r>
            <a:endParaRPr lang="en-US" dirty="0"/>
          </a:p>
          <a:p>
            <a:pPr marL="171450" indent="-171450" algn="just">
              <a:buFont typeface="Arial" panose="020B0604020202020204" pitchFamily="34" charset="0"/>
              <a:buChar char="•"/>
            </a:pPr>
            <a:r>
              <a:rPr lang="en-US" b="1" dirty="0"/>
              <a:t>Stop</a:t>
            </a:r>
            <a:endParaRPr lang="en-US" dirty="0"/>
          </a:p>
          <a:p>
            <a:pPr marL="171450" indent="-171450" algn="just">
              <a:buFont typeface="Arial" panose="020B0604020202020204" pitchFamily="34" charset="0"/>
              <a:buChar char="•"/>
            </a:pPr>
            <a:r>
              <a:rPr lang="en-US" b="1" dirty="0"/>
              <a:t>Start</a:t>
            </a:r>
            <a:endParaRPr lang="en-US" dirty="0"/>
          </a:p>
          <a:p>
            <a:pPr marL="171450" indent="-171450" algn="just">
              <a:buFont typeface="Arial" panose="020B0604020202020204" pitchFamily="34" charset="0"/>
              <a:buChar char="•"/>
            </a:pPr>
            <a:r>
              <a:rPr lang="en-US" b="1" dirty="0"/>
              <a:t>Hibernate</a:t>
            </a:r>
            <a:endParaRPr lang="en-US" dirty="0"/>
          </a:p>
          <a:p>
            <a:pPr algn="just"/>
            <a:endParaRPr lang="en-US" dirty="0"/>
          </a:p>
        </p:txBody>
      </p:sp>
    </p:spTree>
    <p:extLst>
      <p:ext uri="{BB962C8B-B14F-4D97-AF65-F5344CB8AC3E}">
        <p14:creationId xmlns:p14="http://schemas.microsoft.com/office/powerpoint/2010/main" val="844266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C19073-F309-ECE1-EBE9-EFA39EB7E700}"/>
              </a:ext>
            </a:extLst>
          </p:cNvPr>
          <p:cNvSpPr>
            <a:spLocks noGrp="1"/>
          </p:cNvSpPr>
          <p:nvPr>
            <p:ph type="title"/>
          </p:nvPr>
        </p:nvSpPr>
        <p:spPr/>
        <p:txBody>
          <a:bodyPr/>
          <a:lstStyle/>
          <a:p>
            <a:r>
              <a:rPr lang="en-US" sz="1800" dirty="0"/>
              <a:t>Compute Updates 3/6</a:t>
            </a:r>
            <a:endParaRPr lang="en-US" dirty="0"/>
          </a:p>
        </p:txBody>
      </p:sp>
      <p:sp>
        <p:nvSpPr>
          <p:cNvPr id="4" name="Text Placeholder 3">
            <a:extLst>
              <a:ext uri="{FF2B5EF4-FFF2-40B4-BE49-F238E27FC236}">
                <a16:creationId xmlns:a16="http://schemas.microsoft.com/office/drawing/2014/main" id="{5FF31185-4A86-D4D1-6328-3FCD5C680C12}"/>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E736C01C-AD15-EF02-D447-08080062493C}"/>
              </a:ext>
            </a:extLst>
          </p:cNvPr>
          <p:cNvSpPr>
            <a:spLocks noGrp="1"/>
          </p:cNvSpPr>
          <p:nvPr>
            <p:ph type="body" sz="quarter" idx="16"/>
          </p:nvPr>
        </p:nvSpPr>
        <p:spPr/>
        <p:txBody>
          <a:bodyPr/>
          <a:lstStyle/>
          <a:p>
            <a:pPr algn="just"/>
            <a:r>
              <a:rPr lang="en-US" dirty="0">
                <a:hlinkClick r:id="rId2"/>
              </a:rPr>
              <a:t>Azure ND GB300 v6 now Generally Available - Hyper-optimized for Generative and Agentic AI workloads</a:t>
            </a:r>
            <a:endParaRPr lang="en-US" dirty="0"/>
          </a:p>
          <a:p>
            <a:pPr algn="just"/>
            <a:r>
              <a:rPr lang="en-US" dirty="0"/>
              <a:t>Microsoft has announced the </a:t>
            </a:r>
            <a:r>
              <a:rPr lang="en-US" b="1" dirty="0"/>
              <a:t>general availability of ND GB300 v6 virtual machines</a:t>
            </a:r>
            <a:r>
              <a:rPr lang="en-US" dirty="0"/>
              <a:t>, delivering the next major leap in Azure’s AI infrastructure. Powered by </a:t>
            </a:r>
            <a:r>
              <a:rPr lang="en-US" b="1" dirty="0"/>
              <a:t>NVIDIA GB300 NVL72 systems</a:t>
            </a:r>
            <a:r>
              <a:rPr lang="en-US" dirty="0"/>
              <a:t>, these VMs are designed for frontier model training, large-scale inference, multimodal reasoning, and agentic AI. Azure has already deployed </a:t>
            </a:r>
            <a:r>
              <a:rPr lang="en-US" b="1" dirty="0"/>
              <a:t>tens of thousands of GB300 GPUs</a:t>
            </a:r>
            <a:r>
              <a:rPr lang="en-US" dirty="0"/>
              <a:t> for production workloads, with scale expected to reach hundreds of thousands.</a:t>
            </a:r>
          </a:p>
          <a:p>
            <a:pPr algn="just"/>
            <a:r>
              <a:rPr lang="en-US" dirty="0"/>
              <a:t>ND GB300 v6 enables organizations to:</a:t>
            </a:r>
          </a:p>
          <a:p>
            <a:pPr marL="171450" indent="-171450" algn="just">
              <a:buFont typeface="Arial" panose="020B0604020202020204" pitchFamily="34" charset="0"/>
              <a:buChar char="•"/>
            </a:pPr>
            <a:r>
              <a:rPr lang="en-US" dirty="0"/>
              <a:t>Train trillion-parameter models with exceptional throughput</a:t>
            </a:r>
          </a:p>
          <a:p>
            <a:pPr marL="171450" indent="-171450" algn="just">
              <a:buFont typeface="Arial" panose="020B0604020202020204" pitchFamily="34" charset="0"/>
              <a:buChar char="•"/>
            </a:pPr>
            <a:r>
              <a:rPr lang="en-US" dirty="0"/>
              <a:t>Accelerate long-context and multimodal inference</a:t>
            </a:r>
          </a:p>
          <a:p>
            <a:pPr marL="171450" indent="-171450" algn="just">
              <a:buFont typeface="Arial" panose="020B0604020202020204" pitchFamily="34" charset="0"/>
              <a:buChar char="•"/>
            </a:pPr>
            <a:r>
              <a:rPr lang="en-US" dirty="0"/>
              <a:t>Scale efficiently for massive distributed training</a:t>
            </a:r>
          </a:p>
          <a:p>
            <a:pPr algn="just"/>
            <a:r>
              <a:rPr lang="en-US" dirty="0"/>
              <a:t>Benchmarks show </a:t>
            </a:r>
            <a:r>
              <a:rPr lang="en-US" b="1" dirty="0"/>
              <a:t>1.1M tokens/sec</a:t>
            </a:r>
            <a:r>
              <a:rPr lang="en-US" dirty="0"/>
              <a:t> on Llama-2 70B—</a:t>
            </a:r>
            <a:r>
              <a:rPr lang="en-US" b="1" dirty="0"/>
              <a:t>27% faster</a:t>
            </a:r>
            <a:r>
              <a:rPr lang="en-US" dirty="0"/>
              <a:t> than ND GB200 v6.</a:t>
            </a:r>
          </a:p>
          <a:p>
            <a:pPr algn="just"/>
            <a:r>
              <a:rPr lang="en-US" dirty="0"/>
              <a:t>Each rack-scale system includes </a:t>
            </a:r>
            <a:r>
              <a:rPr lang="en-US" b="1" dirty="0"/>
              <a:t>72 Blackwell Ultra GPUs</a:t>
            </a:r>
            <a:r>
              <a:rPr lang="en-US" dirty="0"/>
              <a:t>, </a:t>
            </a:r>
            <a:r>
              <a:rPr lang="en-US" b="1" dirty="0"/>
              <a:t>36 Grace CPUs</a:t>
            </a:r>
            <a:r>
              <a:rPr lang="en-US" dirty="0"/>
              <a:t>, </a:t>
            </a:r>
            <a:r>
              <a:rPr lang="en-US" b="1" dirty="0"/>
              <a:t>130 TB/s NVLINK bandwidth</a:t>
            </a:r>
            <a:r>
              <a:rPr lang="en-US" dirty="0"/>
              <a:t>, </a:t>
            </a:r>
            <a:r>
              <a:rPr lang="en-US" b="1" dirty="0"/>
              <a:t>800 Gbps InfiniBand</a:t>
            </a:r>
            <a:r>
              <a:rPr lang="en-US" dirty="0"/>
              <a:t>, and up to </a:t>
            </a:r>
            <a:r>
              <a:rPr lang="en-US" b="1" dirty="0"/>
              <a:t>1,440 PFLOPS FP4 performance</a:t>
            </a:r>
            <a:r>
              <a:rPr lang="en-US" dirty="0"/>
              <a:t>, enabling unified compute and memory with minimal latency.</a:t>
            </a:r>
          </a:p>
          <a:p>
            <a:pPr algn="just"/>
            <a:r>
              <a:rPr lang="en-US" dirty="0"/>
              <a:t>Azure complements this hardware with a full AI platform—including </a:t>
            </a:r>
            <a:r>
              <a:rPr lang="en-US" b="1" dirty="0"/>
              <a:t>Azure </a:t>
            </a:r>
            <a:r>
              <a:rPr lang="en-US" b="1" dirty="0" err="1"/>
              <a:t>CycleCloud</a:t>
            </a:r>
            <a:r>
              <a:rPr lang="en-US" b="1" dirty="0"/>
              <a:t>, Azure Batch, and AKS</a:t>
            </a:r>
            <a:r>
              <a:rPr lang="en-US" dirty="0"/>
              <a:t>—allowing customers to build, deploy, and scale AI workloads efficiently at massive scale.</a:t>
            </a:r>
          </a:p>
          <a:p>
            <a:pPr algn="just"/>
            <a:endParaRPr lang="en-US" dirty="0"/>
          </a:p>
        </p:txBody>
      </p:sp>
      <p:sp>
        <p:nvSpPr>
          <p:cNvPr id="6" name="Text Placeholder 1">
            <a:extLst>
              <a:ext uri="{FF2B5EF4-FFF2-40B4-BE49-F238E27FC236}">
                <a16:creationId xmlns:a16="http://schemas.microsoft.com/office/drawing/2014/main" id="{0A978E65-07CD-3F57-B3A9-DEF4649DBF2B}"/>
              </a:ext>
            </a:extLst>
          </p:cNvPr>
          <p:cNvSpPr>
            <a:spLocks noGrp="1"/>
          </p:cNvSpPr>
          <p:nvPr>
            <p:ph type="body" sz="quarter" idx="10"/>
          </p:nvPr>
        </p:nvSpPr>
        <p:spPr>
          <a:xfrm>
            <a:off x="4433776" y="855080"/>
            <a:ext cx="4365038" cy="3774069"/>
          </a:xfrm>
        </p:spPr>
        <p:txBody>
          <a:bodyPr/>
          <a:lstStyle/>
          <a:p>
            <a:pPr algn="just"/>
            <a:r>
              <a:rPr lang="en-US" sz="1000" dirty="0">
                <a:hlinkClick r:id="rId3"/>
              </a:rPr>
              <a:t>Announcing Cobalt 200: Azure’s next cloud-native CPU</a:t>
            </a:r>
            <a:endParaRPr lang="en-US" sz="1000" dirty="0"/>
          </a:p>
          <a:p>
            <a:pPr algn="just"/>
            <a:r>
              <a:rPr lang="en-US" sz="1000" dirty="0"/>
              <a:t>Microsoft has announced </a:t>
            </a:r>
            <a:r>
              <a:rPr lang="en-US" sz="1000" b="1" dirty="0"/>
              <a:t>Azure Cobalt 200</a:t>
            </a:r>
            <a:r>
              <a:rPr lang="en-US" sz="1000" dirty="0"/>
              <a:t>, its next-generation Arm-based CPU designed for cloud-native workloads, delivering </a:t>
            </a:r>
            <a:r>
              <a:rPr lang="en-US" sz="1000" b="1" dirty="0"/>
              <a:t>up to 50% more performance</a:t>
            </a:r>
            <a:r>
              <a:rPr lang="en-US" sz="1000" dirty="0"/>
              <a:t> than Cobalt 100 and full compatibility with existing workloads. Cobalt 200 servers are already running in production, with broader customer availability planned for 2026.</a:t>
            </a:r>
          </a:p>
          <a:p>
            <a:pPr algn="just"/>
            <a:r>
              <a:rPr lang="en-US" sz="1000" dirty="0"/>
              <a:t>Cobalt 200 is built on Arm’s Neoverse CSS V3 and features </a:t>
            </a:r>
            <a:r>
              <a:rPr lang="en-US" sz="1000" b="1" dirty="0"/>
              <a:t>132 cores</a:t>
            </a:r>
            <a:r>
              <a:rPr lang="en-US" sz="1000" dirty="0"/>
              <a:t>, per-core DVFS, </a:t>
            </a:r>
            <a:r>
              <a:rPr lang="en-US" sz="1000" b="1" dirty="0"/>
              <a:t>TSMC 3nm technology</a:t>
            </a:r>
            <a:r>
              <a:rPr lang="en-US" sz="1000" dirty="0"/>
              <a:t>, built-in memory encryption, Arm CCA support, and custom accelerators for compression, encryption, and decompression—offloading common operations and reducing CPU cost for workloads like Azure SQL.</a:t>
            </a:r>
          </a:p>
          <a:p>
            <a:pPr algn="just"/>
            <a:r>
              <a:rPr lang="en-US" sz="1000" dirty="0"/>
              <a:t>The design was informed by more than </a:t>
            </a:r>
            <a:r>
              <a:rPr lang="en-US" sz="1000" b="1" dirty="0"/>
              <a:t>140 real-world benchmark variants</a:t>
            </a:r>
            <a:r>
              <a:rPr lang="en-US" sz="1000" dirty="0"/>
              <a:t> and </a:t>
            </a:r>
            <a:r>
              <a:rPr lang="en-US" sz="1000" b="1" dirty="0"/>
              <a:t>350,000 simulated system configurations</a:t>
            </a:r>
            <a:r>
              <a:rPr lang="en-US" sz="1000" dirty="0"/>
              <a:t>, ensuring the CPU is optimized for actual Azure customer workloads. Cobalt 200 also integrates Azure Boost for improved networking and remote storage performance and includes Azure’s integrated HSM for FIPS 140-3 Level 3–compliant key protection.</a:t>
            </a:r>
          </a:p>
          <a:p>
            <a:pPr algn="just"/>
            <a:r>
              <a:rPr lang="en-US" sz="1000" dirty="0"/>
              <a:t>With Cobalt 200, Microsoft continues advancing cloud infrastructure from silicon to software, delivering higher performance, better efficiency, and stronger security for next-generation AI and cloud applications.</a:t>
            </a:r>
          </a:p>
          <a:p>
            <a:pPr algn="just"/>
            <a:endParaRPr lang="en-US" sz="1000" dirty="0"/>
          </a:p>
        </p:txBody>
      </p:sp>
    </p:spTree>
    <p:extLst>
      <p:ext uri="{BB962C8B-B14F-4D97-AF65-F5344CB8AC3E}">
        <p14:creationId xmlns:p14="http://schemas.microsoft.com/office/powerpoint/2010/main" val="2115544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xEl>
                                              <p:pRg st="3" end="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A2C1F84-87B2-A6EA-0A9B-E0B399877107}"/>
              </a:ext>
            </a:extLst>
          </p:cNvPr>
          <p:cNvSpPr>
            <a:spLocks noGrp="1"/>
          </p:cNvSpPr>
          <p:nvPr>
            <p:ph type="body" sz="quarter" idx="10"/>
          </p:nvPr>
        </p:nvSpPr>
        <p:spPr/>
        <p:txBody>
          <a:bodyPr/>
          <a:lstStyle/>
          <a:p>
            <a:pPr algn="just"/>
            <a:r>
              <a:rPr lang="en-US" sz="1000" dirty="0">
                <a:hlinkClick r:id="rId2"/>
              </a:rPr>
              <a:t>Announcing new hybrid deployment options for Azure Virtual Desktop</a:t>
            </a:r>
            <a:endParaRPr lang="en-US" sz="1000" dirty="0"/>
          </a:p>
          <a:p>
            <a:pPr algn="just"/>
            <a:r>
              <a:rPr lang="en-US" sz="1000" dirty="0"/>
              <a:t>Microsoft has announced the </a:t>
            </a:r>
            <a:r>
              <a:rPr lang="en-US" sz="1000" b="1" dirty="0"/>
              <a:t>limited preview of Azure Virtual Desktop (AVD) for hybrid environments</a:t>
            </a:r>
            <a:r>
              <a:rPr lang="en-US" sz="1000" dirty="0"/>
              <a:t>, enabling organizations to run AVD session hosts on </a:t>
            </a:r>
            <a:r>
              <a:rPr lang="en-US" sz="1000" b="1" dirty="0"/>
              <a:t>on-premises Arc-Enabled Servers</a:t>
            </a:r>
            <a:r>
              <a:rPr lang="en-US" sz="1000" dirty="0"/>
              <a:t>. This expands AVD beyond Azure Local to support Microsoft Hyper-V, Nutanix AHV, VMware vSphere, physical Windows Servers, and any on-premises infrastructure managed through Azure Arc.</a:t>
            </a:r>
          </a:p>
          <a:p>
            <a:pPr algn="just"/>
            <a:r>
              <a:rPr lang="en-US" sz="1000" dirty="0"/>
              <a:t>This capability brings cloud-native desktop virtualization to environments that must remain on-premises for performance, data residency, or compliance reasons, while also providing a smoother path to cloud migration. Session host VMs run in customer datacenters but connect directly to the AVD service in the Microsoft Cloud, delivering unified identity, policy, and management.</a:t>
            </a:r>
          </a:p>
          <a:p>
            <a:pPr algn="just"/>
            <a:r>
              <a:rPr lang="en-US" sz="1000" dirty="0"/>
              <a:t>Azure Virtual Desktop for Azure Local remains available for customers needing a fully Microsoft-managed edge solution, while the new hybrid option allows organizations to leverage existing hardware and preferred hypervisors with flexibility to use partner tooling for VM provisioning and management.</a:t>
            </a:r>
          </a:p>
          <a:p>
            <a:pPr algn="just"/>
            <a:endParaRPr lang="en-US" sz="1000" dirty="0"/>
          </a:p>
        </p:txBody>
      </p:sp>
      <p:sp>
        <p:nvSpPr>
          <p:cNvPr id="3" name="Title 2">
            <a:extLst>
              <a:ext uri="{FF2B5EF4-FFF2-40B4-BE49-F238E27FC236}">
                <a16:creationId xmlns:a16="http://schemas.microsoft.com/office/drawing/2014/main" id="{8826108D-4460-BC21-3207-A6FA8D9E6E06}"/>
              </a:ext>
            </a:extLst>
          </p:cNvPr>
          <p:cNvSpPr>
            <a:spLocks noGrp="1"/>
          </p:cNvSpPr>
          <p:nvPr>
            <p:ph type="title"/>
          </p:nvPr>
        </p:nvSpPr>
        <p:spPr/>
        <p:txBody>
          <a:bodyPr/>
          <a:lstStyle/>
          <a:p>
            <a:r>
              <a:rPr lang="en-US" sz="1800" dirty="0"/>
              <a:t>Compute Updates 4/6</a:t>
            </a:r>
            <a:endParaRPr lang="en-US" dirty="0"/>
          </a:p>
        </p:txBody>
      </p:sp>
      <p:sp>
        <p:nvSpPr>
          <p:cNvPr id="4" name="Text Placeholder 3">
            <a:extLst>
              <a:ext uri="{FF2B5EF4-FFF2-40B4-BE49-F238E27FC236}">
                <a16:creationId xmlns:a16="http://schemas.microsoft.com/office/drawing/2014/main" id="{C814506D-95F4-D82C-3000-A3C2524C9B7A}"/>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02B8B6B0-AF2A-094C-88F0-F3CB34A2D652}"/>
              </a:ext>
            </a:extLst>
          </p:cNvPr>
          <p:cNvSpPr>
            <a:spLocks noGrp="1"/>
          </p:cNvSpPr>
          <p:nvPr>
            <p:ph type="body" sz="quarter" idx="16"/>
          </p:nvPr>
        </p:nvSpPr>
        <p:spPr/>
        <p:txBody>
          <a:bodyPr/>
          <a:lstStyle/>
          <a:p>
            <a:r>
              <a:rPr lang="en-US" dirty="0">
                <a:hlinkClick r:id="rId3"/>
              </a:rPr>
              <a:t>Announcing preview of new Azure Dlsv7, Dsv7, and Esv7 VMs based on Intel® Xeon® 6 processors</a:t>
            </a:r>
            <a:endParaRPr lang="en-US" dirty="0"/>
          </a:p>
          <a:p>
            <a:r>
              <a:rPr lang="en-US" dirty="0"/>
              <a:t>Microsoft has announced the preview of the </a:t>
            </a:r>
            <a:r>
              <a:rPr lang="en-US" b="1" dirty="0"/>
              <a:t>Dlsv7/Dsv7 General Purpose</a:t>
            </a:r>
            <a:r>
              <a:rPr lang="en-US" dirty="0"/>
              <a:t> and </a:t>
            </a:r>
            <a:r>
              <a:rPr lang="en-US" b="1" dirty="0"/>
              <a:t>Esv7 Memory Optimized</a:t>
            </a:r>
            <a:r>
              <a:rPr lang="en-US" dirty="0"/>
              <a:t> Azure VMs, powered by the latest </a:t>
            </a:r>
            <a:r>
              <a:rPr lang="en-US" b="1" dirty="0"/>
              <a:t>Intel® Xeon® 6 (Granite Rapids)</a:t>
            </a:r>
            <a:r>
              <a:rPr lang="en-US" dirty="0"/>
              <a:t> processors. These new VM series offer three memory-to-vCPU ratios and options with or without local </a:t>
            </a:r>
            <a:r>
              <a:rPr lang="en-US" dirty="0" err="1"/>
              <a:t>NVMe</a:t>
            </a:r>
            <a:r>
              <a:rPr lang="en-US" dirty="0"/>
              <a:t> temp disks.</a:t>
            </a:r>
          </a:p>
          <a:p>
            <a:r>
              <a:rPr lang="en-US" dirty="0"/>
              <a:t>Compared to the previous v6 generation, the new v7 VMs deliver:</a:t>
            </a:r>
          </a:p>
          <a:p>
            <a:pPr marL="171450" indent="-171450">
              <a:buFont typeface="Arial" panose="020B0604020202020204" pitchFamily="34" charset="0"/>
              <a:buChar char="•"/>
            </a:pPr>
            <a:r>
              <a:rPr lang="en-US" b="1" dirty="0"/>
              <a:t>Up to 15% better compute performance</a:t>
            </a:r>
            <a:r>
              <a:rPr lang="en-US" dirty="0"/>
              <a:t> with turbo frequencies up to 4.2 GHz</a:t>
            </a:r>
          </a:p>
          <a:p>
            <a:pPr marL="171450" indent="-171450">
              <a:buFont typeface="Arial" panose="020B0604020202020204" pitchFamily="34" charset="0"/>
              <a:buChar char="•"/>
            </a:pPr>
            <a:r>
              <a:rPr lang="en-US" b="1" dirty="0"/>
              <a:t>Up to 2× higher memory bandwidth</a:t>
            </a:r>
            <a:endParaRPr lang="en-US" dirty="0"/>
          </a:p>
          <a:p>
            <a:pPr marL="171450" indent="-171450">
              <a:buFont typeface="Arial" panose="020B0604020202020204" pitchFamily="34" charset="0"/>
              <a:buChar char="•"/>
            </a:pPr>
            <a:r>
              <a:rPr lang="en-US" b="1" dirty="0"/>
              <a:t>Larger VM sizes:</a:t>
            </a:r>
            <a:r>
              <a:rPr lang="en-US" dirty="0"/>
              <a:t> up to </a:t>
            </a:r>
            <a:r>
              <a:rPr lang="en-US" b="1" dirty="0"/>
              <a:t>372 vCPUs</a:t>
            </a:r>
            <a:r>
              <a:rPr lang="en-US" dirty="0"/>
              <a:t> and </a:t>
            </a:r>
            <a:r>
              <a:rPr lang="en-US" b="1" dirty="0"/>
              <a:t>2.8 TiB RAM</a:t>
            </a:r>
            <a:r>
              <a:rPr lang="en-US" dirty="0"/>
              <a:t> (Esv7)</a:t>
            </a:r>
          </a:p>
          <a:p>
            <a:pPr marL="171450" indent="-171450">
              <a:buFont typeface="Arial" panose="020B0604020202020204" pitchFamily="34" charset="0"/>
              <a:buChar char="•"/>
            </a:pPr>
            <a:r>
              <a:rPr lang="en-US" b="1" dirty="0"/>
              <a:t>Higher I/O capabilities:</a:t>
            </a:r>
            <a:r>
              <a:rPr lang="en-US" dirty="0"/>
              <a:t> up to </a:t>
            </a:r>
            <a:r>
              <a:rPr lang="en-US" b="1" dirty="0"/>
              <a:t>400 Gbps networking</a:t>
            </a:r>
            <a:r>
              <a:rPr lang="en-US" dirty="0"/>
              <a:t>, </a:t>
            </a:r>
            <a:r>
              <a:rPr lang="en-US" b="1" dirty="0"/>
              <a:t>800K IOPS</a:t>
            </a:r>
            <a:r>
              <a:rPr lang="en-US" dirty="0"/>
              <a:t>, and </a:t>
            </a:r>
            <a:r>
              <a:rPr lang="en-US" b="1" dirty="0"/>
              <a:t>20 </a:t>
            </a:r>
            <a:r>
              <a:rPr lang="en-US" b="1" dirty="0" err="1"/>
              <a:t>GBps</a:t>
            </a:r>
            <a:r>
              <a:rPr lang="en-US" dirty="0"/>
              <a:t> remote storage throughput via Azure Boost</a:t>
            </a:r>
          </a:p>
          <a:p>
            <a:r>
              <a:rPr lang="en-US" dirty="0"/>
              <a:t>The families support three memory ratios—</a:t>
            </a:r>
            <a:r>
              <a:rPr lang="en-US" b="1" dirty="0"/>
              <a:t>2:1</a:t>
            </a:r>
            <a:r>
              <a:rPr lang="en-US" dirty="0"/>
              <a:t>, </a:t>
            </a:r>
            <a:r>
              <a:rPr lang="en-US" b="1" dirty="0"/>
              <a:t>4:1</a:t>
            </a:r>
            <a:r>
              <a:rPr lang="en-US" dirty="0"/>
              <a:t>, and </a:t>
            </a:r>
            <a:r>
              <a:rPr lang="en-US" b="1" dirty="0"/>
              <a:t>8:1</a:t>
            </a:r>
            <a:r>
              <a:rPr lang="en-US" dirty="0"/>
              <a:t>—across Dlsv7/Dldsv7, Dsv7/Ddsv7, and Esv7/Edsv7 VMs.</a:t>
            </a:r>
          </a:p>
          <a:p>
            <a:pPr marL="171450" indent="-171450">
              <a:buFont typeface="Arial" panose="020B0604020202020204" pitchFamily="34" charset="0"/>
              <a:buChar char="•"/>
            </a:pPr>
            <a:r>
              <a:rPr lang="en-US" b="1" dirty="0"/>
              <a:t>Dlsv7 and Dsv7</a:t>
            </a:r>
            <a:r>
              <a:rPr lang="en-US" dirty="0"/>
              <a:t>: ideal for general-purpose workloads such as e-commerce, web apps, VDI, and application servers.</a:t>
            </a:r>
          </a:p>
          <a:p>
            <a:pPr marL="171450" indent="-171450">
              <a:buFont typeface="Arial" panose="020B0604020202020204" pitchFamily="34" charset="0"/>
              <a:buChar char="•"/>
            </a:pPr>
            <a:r>
              <a:rPr lang="en-US" b="1" dirty="0"/>
              <a:t>Esv7</a:t>
            </a:r>
            <a:r>
              <a:rPr lang="en-US" dirty="0"/>
              <a:t>: optimized for memory-intensive workloads including SQL/NoSQL databases, data warehousing, BI, SAP, Redis, and in-memory analytics</a:t>
            </a:r>
          </a:p>
          <a:p>
            <a:endParaRPr lang="en-US" dirty="0"/>
          </a:p>
        </p:txBody>
      </p:sp>
    </p:spTree>
    <p:extLst>
      <p:ext uri="{BB962C8B-B14F-4D97-AF65-F5344CB8AC3E}">
        <p14:creationId xmlns:p14="http://schemas.microsoft.com/office/powerpoint/2010/main" val="3503197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0" end="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1" end="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1189-CF39-6970-06DD-2F3E951D811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736A2DE-B6FD-C635-9880-42440690A8EF}"/>
              </a:ext>
            </a:extLst>
          </p:cNvPr>
          <p:cNvSpPr>
            <a:spLocks noGrp="1"/>
          </p:cNvSpPr>
          <p:nvPr>
            <p:ph type="body" sz="quarter" idx="10"/>
          </p:nvPr>
        </p:nvSpPr>
        <p:spPr/>
        <p:txBody>
          <a:bodyPr/>
          <a:lstStyle/>
          <a:p>
            <a:r>
              <a:rPr lang="en-US" sz="1000" dirty="0">
                <a:hlinkClick r:id="rId2"/>
              </a:rPr>
              <a:t>Public Preview: Industry-leading storage performance Ebsv6 VM series</a:t>
            </a:r>
            <a:endParaRPr lang="en-US" sz="1000" dirty="0"/>
          </a:p>
          <a:p>
            <a:r>
              <a:rPr lang="en-US" sz="1000" dirty="0"/>
              <a:t>The Ebsv6 and Ebdsv6 VMs deliver up to and industry </a:t>
            </a:r>
            <a:r>
              <a:rPr lang="en-US" sz="1000" b="1" dirty="0"/>
              <a:t>leading 800,000 IOPS and 14 </a:t>
            </a:r>
            <a:r>
              <a:rPr lang="en-US" sz="1000" b="1" dirty="0" err="1"/>
              <a:t>GBps</a:t>
            </a:r>
            <a:r>
              <a:rPr lang="en-US" sz="1000" b="1" dirty="0"/>
              <a:t> of remote disk storage </a:t>
            </a:r>
            <a:r>
              <a:rPr lang="en-US" sz="1000" dirty="0"/>
              <a:t>throughput, providing high-performance remote storage bandwidth for demanding workloads. This new generation provides up to 2x higher remote storage performance compared to the previous generation, enabling workload consolidation on fewer VMs.</a:t>
            </a:r>
          </a:p>
          <a:p>
            <a:r>
              <a:rPr lang="en-US" sz="1000" dirty="0"/>
              <a:t>Key new features and improved VM specs compared to Ebsv5/Ebdsv5 </a:t>
            </a:r>
          </a:p>
          <a:p>
            <a:pPr marL="171450" indent="-171450">
              <a:buFont typeface="Arial" panose="020B0604020202020204" pitchFamily="34" charset="0"/>
              <a:buChar char="•"/>
            </a:pPr>
            <a:r>
              <a:rPr lang="en-US" sz="1000" dirty="0"/>
              <a:t>Up to 192 vCPU and 1832 GiB memory </a:t>
            </a:r>
          </a:p>
          <a:p>
            <a:pPr marL="171450" indent="-171450">
              <a:buFont typeface="Arial" panose="020B0604020202020204" pitchFamily="34" charset="0"/>
              <a:buChar char="•"/>
            </a:pPr>
            <a:r>
              <a:rPr lang="en-US" sz="1000" dirty="0"/>
              <a:t>15-30% improvement in CPU performance  </a:t>
            </a:r>
          </a:p>
          <a:p>
            <a:pPr marL="171450" indent="-171450">
              <a:buFont typeface="Arial" panose="020B0604020202020204" pitchFamily="34" charset="0"/>
              <a:buChar char="•"/>
            </a:pPr>
            <a:r>
              <a:rPr lang="en-US" sz="1000" dirty="0"/>
              <a:t>40% larger local SSD capacity with 3X read IOPS </a:t>
            </a:r>
          </a:p>
          <a:p>
            <a:pPr marL="171450" indent="-171450">
              <a:buFont typeface="Arial" panose="020B0604020202020204" pitchFamily="34" charset="0"/>
              <a:buChar char="•"/>
            </a:pPr>
            <a:r>
              <a:rPr lang="en-US" sz="1000" dirty="0"/>
              <a:t>Azure Boost which enables up to: </a:t>
            </a:r>
          </a:p>
          <a:p>
            <a:pPr marL="514350" lvl="1" indent="-171450">
              <a:buFont typeface="Arial" panose="020B0604020202020204" pitchFamily="34" charset="0"/>
              <a:buChar char="•"/>
            </a:pPr>
            <a:r>
              <a:rPr lang="en-US" sz="1000" dirty="0">
                <a:latin typeface="+mj-lt"/>
              </a:rPr>
              <a:t>800K IOPS and 14GB/s remote storage throughput with Premium v2 and Ultra Disk support </a:t>
            </a:r>
          </a:p>
          <a:p>
            <a:pPr marL="514350" lvl="1" indent="-171450">
              <a:buFont typeface="Arial" panose="020B0604020202020204" pitchFamily="34" charset="0"/>
              <a:buChar char="•"/>
            </a:pPr>
            <a:r>
              <a:rPr lang="en-US" sz="1000" dirty="0">
                <a:latin typeface="+mj-lt"/>
              </a:rPr>
              <a:t>15% higher remote storage performance per vCPU with up to 6600 IOPS/vCPU </a:t>
            </a:r>
          </a:p>
          <a:p>
            <a:pPr marL="514350" lvl="1" indent="-171450">
              <a:buFont typeface="Arial" panose="020B0604020202020204" pitchFamily="34" charset="0"/>
              <a:buChar char="•"/>
            </a:pPr>
            <a:r>
              <a:rPr lang="en-US" sz="1000" dirty="0">
                <a:latin typeface="+mj-lt"/>
              </a:rPr>
              <a:t>10% higher remote storage throughput per vCPU </a:t>
            </a:r>
          </a:p>
          <a:p>
            <a:pPr marL="514350" lvl="1" indent="-171450">
              <a:buFont typeface="Arial" panose="020B0604020202020204" pitchFamily="34" charset="0"/>
              <a:buChar char="•"/>
            </a:pPr>
            <a:r>
              <a:rPr lang="en-US" sz="1000" dirty="0">
                <a:latin typeface="+mj-lt"/>
              </a:rPr>
              <a:t>Up to 200 Gbps VM network bandwidth  </a:t>
            </a:r>
          </a:p>
          <a:p>
            <a:pPr marL="514350" lvl="1" indent="-171450">
              <a:buFont typeface="Arial" panose="020B0604020202020204" pitchFamily="34" charset="0"/>
              <a:buChar char="•"/>
            </a:pPr>
            <a:r>
              <a:rPr lang="en-US" sz="1000" dirty="0">
                <a:latin typeface="+mj-lt"/>
              </a:rPr>
              <a:t>Enhanced security through Total Memory Encryption (TME) technology </a:t>
            </a:r>
          </a:p>
          <a:p>
            <a:endParaRPr lang="en-US" sz="1000" dirty="0"/>
          </a:p>
        </p:txBody>
      </p:sp>
      <p:sp>
        <p:nvSpPr>
          <p:cNvPr id="11" name="Title 10">
            <a:extLst>
              <a:ext uri="{FF2B5EF4-FFF2-40B4-BE49-F238E27FC236}">
                <a16:creationId xmlns:a16="http://schemas.microsoft.com/office/drawing/2014/main" id="{55108E1B-188F-34CB-E2F4-B4F546C318BA}"/>
              </a:ext>
            </a:extLst>
          </p:cNvPr>
          <p:cNvSpPr>
            <a:spLocks noGrp="1"/>
          </p:cNvSpPr>
          <p:nvPr>
            <p:ph type="title"/>
          </p:nvPr>
        </p:nvSpPr>
        <p:spPr/>
        <p:txBody>
          <a:bodyPr/>
          <a:lstStyle/>
          <a:p>
            <a:r>
              <a:rPr lang="en-US" sz="1800" dirty="0"/>
              <a:t>Compute Updates 5/6</a:t>
            </a:r>
            <a:endParaRPr lang="en-US" dirty="0"/>
          </a:p>
        </p:txBody>
      </p:sp>
      <p:sp>
        <p:nvSpPr>
          <p:cNvPr id="13" name="Text Placeholder 12">
            <a:extLst>
              <a:ext uri="{FF2B5EF4-FFF2-40B4-BE49-F238E27FC236}">
                <a16:creationId xmlns:a16="http://schemas.microsoft.com/office/drawing/2014/main" id="{0AC618DB-0932-277F-3E42-37D002107928}"/>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D5C20627-BF61-394B-61E8-E9F6702CBB52}"/>
              </a:ext>
            </a:extLst>
          </p:cNvPr>
          <p:cNvSpPr>
            <a:spLocks noGrp="1"/>
          </p:cNvSpPr>
          <p:nvPr>
            <p:ph type="body" sz="quarter" idx="16"/>
          </p:nvPr>
        </p:nvSpPr>
        <p:spPr/>
        <p:txBody>
          <a:bodyPr/>
          <a:lstStyle/>
          <a:p>
            <a:pPr algn="just"/>
            <a:r>
              <a:rPr lang="en-US" dirty="0">
                <a:hlinkClick r:id="rId3"/>
              </a:rPr>
              <a:t>Public Preview: NCv6 Virtual Machines</a:t>
            </a:r>
            <a:endParaRPr lang="en-US" dirty="0"/>
          </a:p>
          <a:p>
            <a:pPr algn="just"/>
            <a:r>
              <a:rPr lang="en-US" dirty="0"/>
              <a:t>MS announced a public preview of NCv6 RTX PRO 6000 Blackwell Server Edition Virtual Machines, as the next enhancement of NC Series VMs available on Azure.</a:t>
            </a:r>
          </a:p>
          <a:p>
            <a:pPr algn="just"/>
            <a:r>
              <a:rPr lang="en-US" dirty="0"/>
              <a:t>The NCv6 VM family will be available in three categories to best suit workload needs:  </a:t>
            </a:r>
          </a:p>
          <a:p>
            <a:pPr marL="171450" indent="-171450" algn="just">
              <a:buFont typeface="Arial" panose="020B0604020202020204" pitchFamily="34" charset="0"/>
              <a:buChar char="•"/>
            </a:pPr>
            <a:r>
              <a:rPr lang="en-US" b="1" dirty="0"/>
              <a:t>Compute optimized </a:t>
            </a:r>
            <a:r>
              <a:rPr lang="en-US" dirty="0"/>
              <a:t>- NClds_RTXPRO6000BSE_v6 - designed for AI and LLM inferencing workloads </a:t>
            </a:r>
          </a:p>
          <a:p>
            <a:pPr marL="171450" indent="-171450" algn="just">
              <a:buFont typeface="Arial" panose="020B0604020202020204" pitchFamily="34" charset="0"/>
              <a:buChar char="•"/>
            </a:pPr>
            <a:r>
              <a:rPr lang="en-US" b="1" dirty="0"/>
              <a:t>Memory optimized </a:t>
            </a:r>
            <a:r>
              <a:rPr lang="en-US" dirty="0"/>
              <a:t>- NCmds_RTXPRO6000BSE_v6 - tailored for visualization and graphics workloads </a:t>
            </a:r>
          </a:p>
          <a:p>
            <a:pPr marL="171450" indent="-171450" algn="just">
              <a:buFont typeface="Arial" panose="020B0604020202020204" pitchFamily="34" charset="0"/>
              <a:buChar char="•"/>
            </a:pPr>
            <a:r>
              <a:rPr lang="en-US" b="1" dirty="0"/>
              <a:t>General purpose </a:t>
            </a:r>
            <a:r>
              <a:rPr lang="en-US" dirty="0"/>
              <a:t>- NCds_RTXPRO6000BSE_v6 - category ideal for VDI and general-purpose AI workloads. </a:t>
            </a:r>
          </a:p>
          <a:p>
            <a:pPr algn="just"/>
            <a:r>
              <a:rPr lang="en-US" dirty="0"/>
              <a:t>For workloads running NCv6, customer experience will be the same as other NC and NV Series VMs such as T4, A100, and H100, with all currently supported workloads from those SKUs also supported on NCv6. Additionally, NCv6 VM SKUs will come with integrated NVIDIA </a:t>
            </a:r>
            <a:r>
              <a:rPr lang="en-US" dirty="0" err="1"/>
              <a:t>vGPU</a:t>
            </a:r>
            <a:r>
              <a:rPr lang="en-US" dirty="0"/>
              <a:t> licenses and support Multi Instance GPU (MIG), enabling greater flexibility and efficiency for a variety of use cases. </a:t>
            </a:r>
          </a:p>
          <a:p>
            <a:pPr algn="just"/>
            <a:endParaRPr lang="en-US" dirty="0"/>
          </a:p>
        </p:txBody>
      </p:sp>
    </p:spTree>
    <p:extLst>
      <p:ext uri="{BB962C8B-B14F-4D97-AF65-F5344CB8AC3E}">
        <p14:creationId xmlns:p14="http://schemas.microsoft.com/office/powerpoint/2010/main" val="25538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xEl>
                                              <p:pRg st="7" end="7"/>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
                                            <p:txEl>
                                              <p:pRg st="8" end="8"/>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
                                            <p:txEl>
                                              <p:pRg st="9" end="9"/>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
                                            <p:txEl>
                                              <p:pRg st="10" end="10"/>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9B5C0B7-0EAC-F7E9-22DF-758B7B859B38}"/>
              </a:ext>
            </a:extLst>
          </p:cNvPr>
          <p:cNvSpPr>
            <a:spLocks noGrp="1"/>
          </p:cNvSpPr>
          <p:nvPr>
            <p:ph type="title"/>
          </p:nvPr>
        </p:nvSpPr>
        <p:spPr/>
        <p:txBody>
          <a:bodyPr/>
          <a:lstStyle/>
          <a:p>
            <a:r>
              <a:rPr lang="en-US" sz="1800" dirty="0"/>
              <a:t>Compute Updates 6/6</a:t>
            </a:r>
            <a:endParaRPr lang="en-US" dirty="0"/>
          </a:p>
        </p:txBody>
      </p:sp>
      <p:sp>
        <p:nvSpPr>
          <p:cNvPr id="4" name="Text Placeholder 3">
            <a:extLst>
              <a:ext uri="{FF2B5EF4-FFF2-40B4-BE49-F238E27FC236}">
                <a16:creationId xmlns:a16="http://schemas.microsoft.com/office/drawing/2014/main" id="{ECB2DEDA-F33A-B3F5-AE8E-7B5800122BA9}"/>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F422300B-F7A3-18BD-4F1F-7925E80F252B}"/>
              </a:ext>
            </a:extLst>
          </p:cNvPr>
          <p:cNvSpPr>
            <a:spLocks noGrp="1"/>
          </p:cNvSpPr>
          <p:nvPr>
            <p:ph type="body" sz="quarter" idx="16"/>
          </p:nvPr>
        </p:nvSpPr>
        <p:spPr/>
        <p:txBody>
          <a:bodyPr/>
          <a:lstStyle/>
          <a:p>
            <a:pPr algn="just"/>
            <a:r>
              <a:rPr lang="en-US" dirty="0">
                <a:hlinkClick r:id="rId2"/>
              </a:rPr>
              <a:t>Public Preview: Built-in CIS benchmarks for Azure endorsed Linux distros in Machine Config</a:t>
            </a:r>
            <a:endParaRPr lang="en-US" dirty="0"/>
          </a:p>
          <a:p>
            <a:pPr algn="just"/>
            <a:r>
              <a:rPr lang="en-US" dirty="0"/>
              <a:t>Microsoft Azure now offers built-in Center for </a:t>
            </a:r>
            <a:r>
              <a:rPr lang="en-US" b="1" dirty="0"/>
              <a:t>Internet Security (CIS) benchmarks in public preview for all Azure endorsed Linux distributions through Azure Machine Configuration’s new </a:t>
            </a:r>
            <a:r>
              <a:rPr lang="en-US" dirty="0"/>
              <a:t>customizable security benchmarks capability, powered by azure-</a:t>
            </a:r>
            <a:r>
              <a:rPr lang="en-US" dirty="0" err="1"/>
              <a:t>osconfig’s</a:t>
            </a:r>
            <a:r>
              <a:rPr lang="en-US" dirty="0"/>
              <a:t> compliance engine. </a:t>
            </a:r>
          </a:p>
          <a:p>
            <a:pPr algn="just"/>
            <a:r>
              <a:rPr lang="en-US" dirty="0"/>
              <a:t>This capability allows organizations to easily customize and apply industry-standard security benchmarks which are in parity with the content published on CIS website.</a:t>
            </a:r>
          </a:p>
          <a:p>
            <a:pPr algn="just"/>
            <a:r>
              <a:rPr lang="en-US" dirty="0"/>
              <a:t>It supports </a:t>
            </a:r>
            <a:r>
              <a:rPr lang="en-US" b="1" dirty="0"/>
              <a:t>both Level 1(L1) and Level 2(L2) server profiles, </a:t>
            </a:r>
            <a:r>
              <a:rPr lang="en-US" dirty="0"/>
              <a:t>enables exception and parameter customization, operates in audit-only mode at no additional cost, and extends compliance management to hybrid scenarios via Azure Arc.</a:t>
            </a:r>
          </a:p>
          <a:p>
            <a:pPr algn="just"/>
            <a:r>
              <a:rPr lang="en-US" dirty="0"/>
              <a:t>Using this new capability, it is possible to introduce a flexible, compliance as code driven approach to organization to maintain security and compliance across your hybrid infrastructure. The solution is officially certified by CIS for CIS benchmark assessment for all the supported benchmarks. </a:t>
            </a:r>
          </a:p>
        </p:txBody>
      </p:sp>
      <p:sp>
        <p:nvSpPr>
          <p:cNvPr id="8" name="Text Placeholder 4">
            <a:extLst>
              <a:ext uri="{FF2B5EF4-FFF2-40B4-BE49-F238E27FC236}">
                <a16:creationId xmlns:a16="http://schemas.microsoft.com/office/drawing/2014/main" id="{D0903237-4BC3-1EC6-C748-1707D7AE81CB}"/>
              </a:ext>
            </a:extLst>
          </p:cNvPr>
          <p:cNvSpPr txBox="1">
            <a:spLocks/>
          </p:cNvSpPr>
          <p:nvPr/>
        </p:nvSpPr>
        <p:spPr>
          <a:xfrm>
            <a:off x="4570857" y="855080"/>
            <a:ext cx="3955312" cy="1716670"/>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dirty="0">
                <a:hlinkClick r:id="rId3"/>
              </a:rPr>
              <a:t>Retirement: Migrate to dedicated VM for your compute clusters</a:t>
            </a:r>
            <a:endParaRPr lang="en-US" dirty="0"/>
          </a:p>
          <a:p>
            <a:pPr algn="just"/>
            <a:r>
              <a:rPr lang="en-US" dirty="0"/>
              <a:t>On September 30, 2025, Low-Priority VM will reach </a:t>
            </a:r>
            <a:r>
              <a:rPr lang="en-US" u="sng" dirty="0">
                <a:hlinkClick r:id="rId4"/>
              </a:rPr>
              <a:t>end of life</a:t>
            </a:r>
            <a:r>
              <a:rPr lang="en-US" dirty="0"/>
              <a:t>. However, ms will continue to be supported on Azure Machine Learning until March 31, 2026.  </a:t>
            </a:r>
          </a:p>
          <a:p>
            <a:pPr algn="just"/>
            <a:r>
              <a:rPr lang="en-US" dirty="0"/>
              <a:t>To ensure that your clusters are not automatically scaled down it is recommended to migrate to dedicated VMs before that date.  </a:t>
            </a:r>
          </a:p>
          <a:p>
            <a:pPr algn="just"/>
            <a:r>
              <a:rPr lang="en-US" dirty="0"/>
              <a:t>After March 31, 2026, you'll not be able to use your clusters with low-priority VM.  </a:t>
            </a:r>
          </a:p>
          <a:p>
            <a:pPr algn="just"/>
            <a:endParaRPr lang="en-US" dirty="0"/>
          </a:p>
        </p:txBody>
      </p:sp>
    </p:spTree>
    <p:extLst>
      <p:ext uri="{BB962C8B-B14F-4D97-AF65-F5344CB8AC3E}">
        <p14:creationId xmlns:p14="http://schemas.microsoft.com/office/powerpoint/2010/main" val="3296350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Storage &amp; Data</a:t>
            </a:r>
          </a:p>
        </p:txBody>
      </p:sp>
    </p:spTree>
    <p:extLst>
      <p:ext uri="{BB962C8B-B14F-4D97-AF65-F5344CB8AC3E}">
        <p14:creationId xmlns:p14="http://schemas.microsoft.com/office/powerpoint/2010/main" val="21881407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Support for large volume breakthrough mode</a:t>
            </a:r>
            <a:endParaRPr lang="en-US" sz="1000" dirty="0"/>
          </a:p>
          <a:p>
            <a:pPr algn="just"/>
            <a:r>
              <a:rPr lang="en-US" sz="1000" dirty="0"/>
              <a:t>Breakthrough mode in Azure NetApp Files enables extreme performance and scalability for demanding HPC and EDA workloads. It supports large volumes up to </a:t>
            </a:r>
            <a:r>
              <a:rPr lang="en-US" sz="1000" b="1" dirty="0"/>
              <a:t>2PiB, delivering throughput up to 50GiBps, </a:t>
            </a:r>
            <a:r>
              <a:rPr lang="en-US" sz="1000" dirty="0"/>
              <a:t>depending on workload characteristics. Breakthrough mode </a:t>
            </a:r>
            <a:r>
              <a:rPr lang="en-US" sz="1000" b="1" dirty="0"/>
              <a:t>uses six storage endpoints for each large volume ensuring consistent performance.</a:t>
            </a:r>
            <a:r>
              <a:rPr lang="en-US" sz="1000" dirty="0"/>
              <a:t> Storage systems hosting breakthrough mode volumes are reserved for each customer </a:t>
            </a:r>
            <a:r>
              <a:rPr lang="en-US" sz="1000" b="1" dirty="0"/>
              <a:t>to provide peak performance and not compete </a:t>
            </a:r>
            <a:r>
              <a:rPr lang="en-US" sz="1000" dirty="0"/>
              <a:t>with other workloads. </a:t>
            </a:r>
          </a:p>
          <a:p>
            <a:pPr algn="just"/>
            <a:r>
              <a:rPr lang="en-US" sz="1000" dirty="0"/>
              <a:t>Key benefits include: </a:t>
            </a:r>
          </a:p>
          <a:p>
            <a:pPr marL="171450" indent="-171450" algn="just">
              <a:buFont typeface="Arial" panose="020B0604020202020204" pitchFamily="34" charset="0"/>
              <a:buChar char="•"/>
            </a:pPr>
            <a:r>
              <a:rPr lang="en-US" sz="1000" dirty="0"/>
              <a:t>High-capacity scaling for large-scale, latency-sensitive workloads </a:t>
            </a:r>
          </a:p>
          <a:p>
            <a:pPr marL="171450" indent="-171450" algn="just">
              <a:buFont typeface="Arial" panose="020B0604020202020204" pitchFamily="34" charset="0"/>
              <a:buChar char="•"/>
            </a:pPr>
            <a:r>
              <a:rPr lang="en-US" sz="1000" dirty="0"/>
              <a:t>Simplified network management with multiple storage endpoints per volume </a:t>
            </a:r>
          </a:p>
          <a:p>
            <a:pPr marL="171450" indent="-171450" algn="just">
              <a:buFont typeface="Arial" panose="020B0604020202020204" pitchFamily="34" charset="0"/>
              <a:buChar char="•"/>
            </a:pPr>
            <a:r>
              <a:rPr lang="en-US" sz="1000" dirty="0"/>
              <a:t>Dedicated capacity stamps to eliminate noisy neighbor interference and maintain predictable performance </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Storage &amp; Data Updates (Azure NetApp Files) 1/4</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Large volumes up to 7.2 PiB</a:t>
            </a:r>
            <a:endParaRPr lang="en-US" dirty="0"/>
          </a:p>
          <a:p>
            <a:pPr algn="just"/>
            <a:r>
              <a:rPr lang="en-US" dirty="0"/>
              <a:t>The Large Volumes up </a:t>
            </a:r>
            <a:r>
              <a:rPr lang="en-US" b="1" dirty="0"/>
              <a:t>to 7.2 PiB with Cool Access feature allows to create Azure NetApp Files volumes up to 7.2 PiB on dedicated capacity</a:t>
            </a:r>
            <a:r>
              <a:rPr lang="en-US" dirty="0"/>
              <a:t>, designed for workloads where most data are rarely accessed. This enhancement extends cool-access support beyond </a:t>
            </a:r>
            <a:r>
              <a:rPr lang="en-US" b="1" dirty="0"/>
              <a:t>the previous 2 PiB limit</a:t>
            </a:r>
            <a:r>
              <a:rPr lang="en-US" dirty="0"/>
              <a:t>, giving customers a new scale option for large deployments. By combining petabyte-scale capacity, cool-tier economics, and enterprise-grade performance, organizations can store massive datasets cost-effectively without compromising efficiency. </a:t>
            </a:r>
          </a:p>
          <a:p>
            <a:pPr algn="just"/>
            <a:r>
              <a:rPr lang="en-US" dirty="0"/>
              <a:t>This capability helps reduce storage costs for infrequently accessed data while maintaining predictable performance for active workloads. It’s ideal for industries managing large archives, backups, and compliance-driven datasets where 80–90% of data can reside in the cool tier. Use cases include archives, media libraries, healthcare imaging, compliance data lakes, AI/ML datasets, EDA projects, and large file shares—delivering multi-petabyte consolidation, transparent tiering, and lower TCO without sacrificing enterprise-grade performance. </a:t>
            </a:r>
          </a:p>
        </p:txBody>
      </p:sp>
    </p:spTree>
    <p:extLst>
      <p:ext uri="{BB962C8B-B14F-4D97-AF65-F5344CB8AC3E}">
        <p14:creationId xmlns:p14="http://schemas.microsoft.com/office/powerpoint/2010/main" val="3259403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a:xfrm>
            <a:off x="4433776" y="855080"/>
            <a:ext cx="4365038" cy="883665"/>
          </a:xfrm>
        </p:spPr>
        <p:txBody>
          <a:bodyPr/>
          <a:lstStyle/>
          <a:p>
            <a:r>
              <a:rPr lang="en-US" sz="1000" b="1" dirty="0"/>
              <a:t>Cache volumes support both reads and writes. </a:t>
            </a:r>
            <a:r>
              <a:rPr lang="en-US" sz="1000" dirty="0"/>
              <a:t>New data saved to the cache volume is asynchronously written back to the origin, ensuring the origin remains the authoritative copy. This write-back caching provides near-local write latency, even when the primary storage is in a remote location</a:t>
            </a:r>
          </a:p>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Storage &amp; Data Updates (Azure NetApp Files) 2/4</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1"/>
            <a:ext cx="3955312" cy="1770356"/>
          </a:xfrm>
        </p:spPr>
        <p:txBody>
          <a:bodyPr/>
          <a:lstStyle/>
          <a:p>
            <a:pPr algn="just"/>
            <a:r>
              <a:rPr lang="en-US" dirty="0">
                <a:hlinkClick r:id="rId2"/>
              </a:rPr>
              <a:t>Public Preview: </a:t>
            </a:r>
            <a:r>
              <a:rPr lang="fr-FR" dirty="0">
                <a:hlinkClick r:id="rId2"/>
              </a:rPr>
              <a:t>Azure NetApp Files cache volumes</a:t>
            </a:r>
            <a:endParaRPr lang="fr-FR" dirty="0"/>
          </a:p>
          <a:p>
            <a:pPr algn="just"/>
            <a:r>
              <a:rPr lang="en-US" dirty="0"/>
              <a:t>Azure NetApp Files cache volumes enable to create a cloud-based cache of external NetApp ONTAP and Cloud Volumes ONTAP storage volumes in Azure. Caching active ("hot") data closer to users and cloud applications improves data access speeds and throughput over WAN connections. This results in cost-effective, low-latency remote access to important files. In practical terms, allow to burst on-premises datasets to Azure with near-local performance—ideal for running computational workloads in Azure on on-premises data or enabling globally distributed teams to collaborate without lengthy file transfer delays.</a:t>
            </a:r>
          </a:p>
          <a:p>
            <a:pPr algn="just"/>
            <a:endParaRPr lang="en-US" dirty="0"/>
          </a:p>
        </p:txBody>
      </p:sp>
      <p:pic>
        <p:nvPicPr>
          <p:cNvPr id="2050" name="Picture 2" descr="Screenshot that shows the architecture of cache volumes.">
            <a:extLst>
              <a:ext uri="{FF2B5EF4-FFF2-40B4-BE49-F238E27FC236}">
                <a16:creationId xmlns:a16="http://schemas.microsoft.com/office/drawing/2014/main" id="{633D1825-F7F1-369B-EDC4-5DD5AE3FBE7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6253" y="2694752"/>
            <a:ext cx="3596201" cy="17587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3131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4"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BC30-BE9D-D666-D8EC-C477902CDD33}"/>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9338C940-1C5A-F159-79FA-059EBE1E77FE}"/>
              </a:ext>
            </a:extLst>
          </p:cNvPr>
          <p:cNvSpPr>
            <a:spLocks noGrp="1"/>
          </p:cNvSpPr>
          <p:nvPr>
            <p:ph type="title"/>
          </p:nvPr>
        </p:nvSpPr>
        <p:spPr/>
        <p:txBody>
          <a:bodyPr/>
          <a:lstStyle/>
          <a:p>
            <a:r>
              <a:rPr lang="en-US" sz="1800" dirty="0"/>
              <a:t>Storage &amp; Data Updates (Azure NetApp Files) 3/4</a:t>
            </a:r>
            <a:endParaRPr lang="en-US" dirty="0"/>
          </a:p>
        </p:txBody>
      </p:sp>
      <p:sp>
        <p:nvSpPr>
          <p:cNvPr id="13" name="Text Placeholder 12">
            <a:extLst>
              <a:ext uri="{FF2B5EF4-FFF2-40B4-BE49-F238E27FC236}">
                <a16:creationId xmlns:a16="http://schemas.microsoft.com/office/drawing/2014/main" id="{79819030-1C59-2813-CD9C-4D9347E3D50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6F37A70-680F-B50D-A1A9-E9D2AE2C922F}"/>
              </a:ext>
            </a:extLst>
          </p:cNvPr>
          <p:cNvSpPr>
            <a:spLocks noGrp="1"/>
          </p:cNvSpPr>
          <p:nvPr>
            <p:ph type="body" sz="quarter" idx="16"/>
          </p:nvPr>
        </p:nvSpPr>
        <p:spPr>
          <a:xfrm>
            <a:off x="342900" y="855080"/>
            <a:ext cx="3955312" cy="2442302"/>
          </a:xfrm>
        </p:spPr>
        <p:txBody>
          <a:bodyPr/>
          <a:lstStyle/>
          <a:p>
            <a:pPr algn="just"/>
            <a:r>
              <a:rPr lang="en-US" dirty="0">
                <a:hlinkClick r:id="rId2"/>
              </a:rPr>
              <a:t>Public Preview: User and group quota reports in Azure NetApp Files</a:t>
            </a:r>
            <a:endParaRPr lang="en-US" dirty="0"/>
          </a:p>
          <a:p>
            <a:pPr algn="just"/>
            <a:r>
              <a:rPr lang="en-US" dirty="0"/>
              <a:t>Quota reporting in Azure NetApp Files allows administrators to generate usage reports for an existing volume with quota rules, independent of host-based tooling and without having to mount the volume.</a:t>
            </a:r>
          </a:p>
          <a:p>
            <a:pPr marL="171450" indent="-171450" algn="just">
              <a:buFont typeface="Arial" panose="020B0604020202020204" pitchFamily="34" charset="0"/>
              <a:buChar char="•"/>
            </a:pPr>
            <a:r>
              <a:rPr lang="en-US" dirty="0"/>
              <a:t>Quota reporting is specific to the volume and its quota rules.</a:t>
            </a:r>
          </a:p>
          <a:p>
            <a:pPr marL="171450" indent="-171450" algn="just">
              <a:buFont typeface="Arial" panose="020B0604020202020204" pitchFamily="34" charset="0"/>
              <a:buChar char="•"/>
            </a:pPr>
            <a:r>
              <a:rPr lang="en-US" dirty="0"/>
              <a:t>Quota reports are supported on regular and large volumes.</a:t>
            </a:r>
          </a:p>
          <a:p>
            <a:pPr marL="171450" indent="-171450" algn="just">
              <a:buFont typeface="Arial" panose="020B0604020202020204" pitchFamily="34" charset="0"/>
              <a:buChar char="•"/>
            </a:pPr>
            <a:r>
              <a:rPr lang="en-US" dirty="0"/>
              <a:t>Quota reports are compiled on demand. They aren't persisted.</a:t>
            </a:r>
          </a:p>
          <a:p>
            <a:pPr marL="171450" indent="-171450" algn="just">
              <a:buFont typeface="Arial" panose="020B0604020202020204" pitchFamily="34" charset="0"/>
              <a:buChar char="•"/>
            </a:pPr>
            <a:r>
              <a:rPr lang="en-US" dirty="0"/>
              <a:t>Entries in the quota report are sorted by percentage used in descending order.</a:t>
            </a:r>
          </a:p>
          <a:p>
            <a:pPr marL="171450" indent="-171450" algn="just">
              <a:buFont typeface="Arial" panose="020B0604020202020204" pitchFamily="34" charset="0"/>
              <a:buChar char="•"/>
            </a:pPr>
            <a:r>
              <a:rPr lang="en-US" dirty="0"/>
              <a:t>The number of entries in the quota report is currently capped at 1,000 entries.</a:t>
            </a:r>
          </a:p>
          <a:p>
            <a:pPr algn="just"/>
            <a:endParaRPr lang="en-US" dirty="0"/>
          </a:p>
        </p:txBody>
      </p:sp>
      <p:sp>
        <p:nvSpPr>
          <p:cNvPr id="2" name="Text Placeholder 11">
            <a:extLst>
              <a:ext uri="{FF2B5EF4-FFF2-40B4-BE49-F238E27FC236}">
                <a16:creationId xmlns:a16="http://schemas.microsoft.com/office/drawing/2014/main" id="{0AE795B7-0C4D-6CAC-2F9E-29152EF52D4D}"/>
              </a:ext>
            </a:extLst>
          </p:cNvPr>
          <p:cNvSpPr>
            <a:spLocks noGrp="1"/>
          </p:cNvSpPr>
          <p:nvPr>
            <p:ph type="body" sz="quarter" idx="10"/>
          </p:nvPr>
        </p:nvSpPr>
        <p:spPr>
          <a:xfrm>
            <a:off x="4570857" y="855080"/>
            <a:ext cx="4365038" cy="3861098"/>
          </a:xfrm>
        </p:spPr>
        <p:txBody>
          <a:bodyPr/>
          <a:lstStyle/>
          <a:p>
            <a:pPr algn="just"/>
            <a:r>
              <a:rPr lang="en-US" sz="1000" dirty="0">
                <a:hlinkClick r:id="rId3"/>
              </a:rPr>
              <a:t>Public Preview: Azure NetApp Files migration assistant (portal support)</a:t>
            </a:r>
            <a:endParaRPr lang="en-US" sz="1000" dirty="0"/>
          </a:p>
          <a:p>
            <a:pPr algn="just"/>
            <a:r>
              <a:rPr lang="en-US" sz="1000" dirty="0"/>
              <a:t>Azure NetApp Files migration assistant (with </a:t>
            </a:r>
            <a:r>
              <a:rPr lang="en-US" sz="1000" dirty="0" err="1"/>
              <a:t>SnapMirror</a:t>
            </a:r>
            <a:r>
              <a:rPr lang="en-US" sz="1000" dirty="0"/>
              <a:t>) provides efficient and cost-effective data </a:t>
            </a:r>
            <a:r>
              <a:rPr lang="en-US" sz="1000" b="1" dirty="0"/>
              <a:t>migration leveraging ONTAP's built-in replication engine for </a:t>
            </a:r>
            <a:r>
              <a:rPr lang="en-US" sz="1000" dirty="0"/>
              <a:t>seamless transition from on-premises or CVO/other cloud providers to Azure NetApp Files (ANF). This feature offers benefits aligned with the goal to accelerate and simplify migrations of business-critical applications and data to Azure. The feature is now available in Azure Portal and is now in Public Preview in all regions. </a:t>
            </a:r>
          </a:p>
          <a:p>
            <a:pPr algn="just"/>
            <a:r>
              <a:rPr lang="en-US" sz="1000" dirty="0"/>
              <a:t> Key Benefits </a:t>
            </a:r>
          </a:p>
          <a:p>
            <a:pPr marL="171450" indent="-171450" algn="just">
              <a:buFont typeface="Arial" panose="020B0604020202020204" pitchFamily="34" charset="0"/>
              <a:buChar char="•"/>
            </a:pPr>
            <a:r>
              <a:rPr lang="en-US" sz="1000" dirty="0"/>
              <a:t>Storage-efficient data transfer that reduces network transfer costs for both baseline and incremental updates </a:t>
            </a:r>
          </a:p>
          <a:p>
            <a:pPr marL="171450" indent="-171450" algn="just">
              <a:buFont typeface="Arial" panose="020B0604020202020204" pitchFamily="34" charset="0"/>
              <a:buChar char="•"/>
            </a:pPr>
            <a:r>
              <a:rPr lang="en-US" sz="1000" dirty="0"/>
              <a:t>Low cutover/downtime window ensuring faster and more efficient final updates, minimizing disruption to customer operations </a:t>
            </a:r>
          </a:p>
          <a:p>
            <a:pPr marL="171450" indent="-171450" algn="just">
              <a:buFont typeface="Arial" panose="020B0604020202020204" pitchFamily="34" charset="0"/>
              <a:buChar char="•"/>
            </a:pPr>
            <a:r>
              <a:rPr lang="en-US" sz="1000" dirty="0"/>
              <a:t>Volume migration using migration assistant includes source volume snapshots for primary data protection, and directory and file metadata maintaining security attributes </a:t>
            </a:r>
          </a:p>
        </p:txBody>
      </p:sp>
    </p:spTree>
    <p:extLst>
      <p:ext uri="{BB962C8B-B14F-4D97-AF65-F5344CB8AC3E}">
        <p14:creationId xmlns:p14="http://schemas.microsoft.com/office/powerpoint/2010/main" val="670539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5B8DF3-F5B5-652E-092D-1120BE3FE0EB}"/>
              </a:ext>
            </a:extLst>
          </p:cNvPr>
          <p:cNvSpPr>
            <a:spLocks noGrp="1"/>
          </p:cNvSpPr>
          <p:nvPr>
            <p:ph type="title"/>
          </p:nvPr>
        </p:nvSpPr>
        <p:spPr/>
        <p:txBody>
          <a:bodyPr/>
          <a:lstStyle/>
          <a:p>
            <a:r>
              <a:rPr lang="en-US" sz="1600" dirty="0"/>
              <a:t>Storage &amp; Data Updates (Azure NetApp Files) 4/4</a:t>
            </a:r>
            <a:endParaRPr lang="en-US" dirty="0"/>
          </a:p>
        </p:txBody>
      </p:sp>
      <p:sp>
        <p:nvSpPr>
          <p:cNvPr id="4" name="Text Placeholder 3">
            <a:extLst>
              <a:ext uri="{FF2B5EF4-FFF2-40B4-BE49-F238E27FC236}">
                <a16:creationId xmlns:a16="http://schemas.microsoft.com/office/drawing/2014/main" id="{6B894C8B-2F1E-C35C-19B1-E18D049BD5CC}"/>
              </a:ext>
            </a:extLst>
          </p:cNvPr>
          <p:cNvSpPr>
            <a:spLocks noGrp="1"/>
          </p:cNvSpPr>
          <p:nvPr>
            <p:ph type="body" sz="quarter" idx="15"/>
          </p:nvPr>
        </p:nvSpPr>
        <p:spPr/>
        <p:txBody>
          <a:bodyPr/>
          <a:lstStyle/>
          <a:p>
            <a:endParaRPr lang="en-US"/>
          </a:p>
        </p:txBody>
      </p:sp>
      <p:sp>
        <p:nvSpPr>
          <p:cNvPr id="12" name="Text Placeholder 11">
            <a:extLst>
              <a:ext uri="{FF2B5EF4-FFF2-40B4-BE49-F238E27FC236}">
                <a16:creationId xmlns:a16="http://schemas.microsoft.com/office/drawing/2014/main" id="{42DF6D2C-F56A-685B-1BF3-E4EBF4C6CDA8}"/>
              </a:ext>
            </a:extLst>
          </p:cNvPr>
          <p:cNvSpPr txBox="1">
            <a:spLocks/>
          </p:cNvSpPr>
          <p:nvPr/>
        </p:nvSpPr>
        <p:spPr>
          <a:xfrm>
            <a:off x="342900" y="855079"/>
            <a:ext cx="3957880"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2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sz="1000" dirty="0">
                <a:hlinkClick r:id="rId2"/>
              </a:rPr>
              <a:t>Generally Available: Azure NetApp Files single file restore from backup</a:t>
            </a:r>
            <a:endParaRPr lang="en-US" sz="1000" dirty="0"/>
          </a:p>
          <a:p>
            <a:pPr algn="just"/>
            <a:r>
              <a:rPr lang="en-US" sz="1000" dirty="0"/>
              <a:t>Azure NetApp Files now supports </a:t>
            </a:r>
            <a:r>
              <a:rPr lang="en-US" sz="1000" b="1" dirty="0"/>
              <a:t>single file restore from backup</a:t>
            </a:r>
            <a:r>
              <a:rPr lang="en-US" sz="1000" dirty="0"/>
              <a:t>, allowing organizations to recover individual files directly from an Azure NetApp Files backup vault without restoring an entire volume. By restoring only the required files, this capability reduces both recovery time and associated costs. The feature is available across all regions supported by Azure NetApp Files.</a:t>
            </a:r>
          </a:p>
        </p:txBody>
      </p:sp>
    </p:spTree>
    <p:extLst>
      <p:ext uri="{BB962C8B-B14F-4D97-AF65-F5344CB8AC3E}">
        <p14:creationId xmlns:p14="http://schemas.microsoft.com/office/powerpoint/2010/main" val="967668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5A84F6E-FCD1-81F0-C9D4-95865ECAC1B8}"/>
              </a:ext>
            </a:extLst>
          </p:cNvPr>
          <p:cNvSpPr>
            <a:spLocks noGrp="1"/>
          </p:cNvSpPr>
          <p:nvPr>
            <p:ph type="title"/>
          </p:nvPr>
        </p:nvSpPr>
        <p:spPr/>
        <p:txBody>
          <a:bodyPr/>
          <a:lstStyle/>
          <a:p>
            <a:r>
              <a:rPr lang="en-US" sz="1800" dirty="0"/>
              <a:t>Storage &amp; Data Updates (Azure Files) 1/2</a:t>
            </a:r>
            <a:endParaRPr lang="en-US" dirty="0"/>
          </a:p>
        </p:txBody>
      </p:sp>
      <p:sp>
        <p:nvSpPr>
          <p:cNvPr id="4" name="Text Placeholder 3">
            <a:extLst>
              <a:ext uri="{FF2B5EF4-FFF2-40B4-BE49-F238E27FC236}">
                <a16:creationId xmlns:a16="http://schemas.microsoft.com/office/drawing/2014/main" id="{CC88C422-A933-C1E5-FAA3-B42B6994C685}"/>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1DDB13F7-55EB-6357-C27B-9FC5AFB78E18}"/>
              </a:ext>
            </a:extLst>
          </p:cNvPr>
          <p:cNvSpPr>
            <a:spLocks noGrp="1"/>
          </p:cNvSpPr>
          <p:nvPr>
            <p:ph type="body" sz="quarter" idx="16"/>
          </p:nvPr>
        </p:nvSpPr>
        <p:spPr>
          <a:xfrm>
            <a:off x="342899" y="685800"/>
            <a:ext cx="4227957" cy="3774069"/>
          </a:xfrm>
        </p:spPr>
        <p:txBody>
          <a:bodyPr/>
          <a:lstStyle/>
          <a:p>
            <a:pPr algn="just"/>
            <a:r>
              <a:rPr lang="en-US" dirty="0">
                <a:hlinkClick r:id="rId2"/>
              </a:rPr>
              <a:t>Public Preview: Entra-only identities support with Azure Files SMB</a:t>
            </a:r>
            <a:endParaRPr lang="en-US" dirty="0"/>
          </a:p>
          <a:p>
            <a:pPr algn="just"/>
            <a:r>
              <a:rPr lang="en-US" dirty="0"/>
              <a:t>Azure Files now supports Entra-only identities, enabling customers to retire on-premises domain controllers while maintaining secure SMB access to file shares. This feature delivers a fully cloud-native authentication model using </a:t>
            </a:r>
            <a:r>
              <a:rPr lang="en-US" b="1" dirty="0"/>
              <a:t>Microsoft Entra Kerberos allowing secure access for identities /groups created and managed in MS Entra. </a:t>
            </a:r>
            <a:r>
              <a:rPr lang="en-US" dirty="0"/>
              <a:t>Placing identity and access control in the cloud also enhances remote and distributed workforce scenarios—no VPN or hybrid trust required.</a:t>
            </a:r>
          </a:p>
          <a:p>
            <a:pPr algn="just"/>
            <a:r>
              <a:rPr lang="en-US" dirty="0"/>
              <a:t>While beneficial across all workloads, this capability is especially impactful for:</a:t>
            </a:r>
          </a:p>
          <a:p>
            <a:pPr marL="171450" indent="-171450" algn="just">
              <a:buFont typeface="Arial" panose="020B0604020202020204" pitchFamily="34" charset="0"/>
              <a:buChar char="•"/>
            </a:pPr>
            <a:r>
              <a:rPr lang="en-US" b="1" dirty="0"/>
              <a:t>Information Worker collaboration </a:t>
            </a:r>
            <a:r>
              <a:rPr lang="en-US" dirty="0"/>
              <a:t>(departmental shares, project folders)</a:t>
            </a:r>
          </a:p>
          <a:p>
            <a:pPr marL="171450" indent="-171450" algn="just">
              <a:buFont typeface="Arial" panose="020B0604020202020204" pitchFamily="34" charset="0"/>
              <a:buChar char="•"/>
            </a:pPr>
            <a:r>
              <a:rPr lang="en-US" b="1" dirty="0"/>
              <a:t>VDI/AVD environments with </a:t>
            </a:r>
            <a:r>
              <a:rPr lang="en-US" b="1" dirty="0" err="1"/>
              <a:t>FSLogix</a:t>
            </a:r>
            <a:r>
              <a:rPr lang="en-US" b="1" dirty="0"/>
              <a:t> profiles</a:t>
            </a:r>
          </a:p>
          <a:p>
            <a:pPr marL="171450" indent="-171450" algn="just">
              <a:buFont typeface="Arial" panose="020B0604020202020204" pitchFamily="34" charset="0"/>
              <a:buChar char="•"/>
            </a:pPr>
            <a:r>
              <a:rPr lang="en-US" b="1" dirty="0"/>
              <a:t>Industry workloads requiring secure, mobile access</a:t>
            </a:r>
          </a:p>
          <a:p>
            <a:pPr algn="just"/>
            <a:r>
              <a:rPr lang="en-US" b="1" dirty="0"/>
              <a:t>Limitations:</a:t>
            </a:r>
          </a:p>
          <a:p>
            <a:pPr marL="171450" indent="-171450" algn="just">
              <a:buFont typeface="Arial" panose="020B0604020202020204" pitchFamily="34" charset="0"/>
              <a:buChar char="•"/>
            </a:pPr>
            <a:r>
              <a:rPr lang="en-US" dirty="0"/>
              <a:t>Azure storage account can't authenticate with both Microsoft Entra ID and a second method like AD DS or Microsoft Entra Domain Services.</a:t>
            </a:r>
          </a:p>
          <a:p>
            <a:pPr marL="171450" indent="-171450" algn="just">
              <a:buFont typeface="Arial" panose="020B0604020202020204" pitchFamily="34" charset="0"/>
              <a:buChar char="•"/>
            </a:pPr>
            <a:r>
              <a:rPr lang="en-US" dirty="0"/>
              <a:t>You must disable multifactor authentication (MFA) on the Microsoft Entra app representing the storage account.</a:t>
            </a:r>
          </a:p>
          <a:p>
            <a:pPr marL="171450" indent="-171450" algn="just">
              <a:buFont typeface="Arial" panose="020B0604020202020204" pitchFamily="34" charset="0"/>
              <a:buChar char="•"/>
            </a:pPr>
            <a:r>
              <a:rPr lang="en-US" dirty="0"/>
              <a:t>This feature doesn't currently support cross-tenant access for B2B users or guest users.</a:t>
            </a:r>
          </a:p>
          <a:p>
            <a:pPr marL="171450" indent="-171450" algn="just">
              <a:buFont typeface="Arial" panose="020B0604020202020204" pitchFamily="34" charset="0"/>
              <a:buChar char="•"/>
            </a:pPr>
            <a:r>
              <a:rPr lang="en-US" dirty="0"/>
              <a:t>Cloud-only identities support (preview) is only available using a default share-level permission.</a:t>
            </a:r>
          </a:p>
          <a:p>
            <a:endParaRPr lang="en-US" dirty="0"/>
          </a:p>
        </p:txBody>
      </p:sp>
      <p:pic>
        <p:nvPicPr>
          <p:cNvPr id="7" name="Picture 6">
            <a:extLst>
              <a:ext uri="{FF2B5EF4-FFF2-40B4-BE49-F238E27FC236}">
                <a16:creationId xmlns:a16="http://schemas.microsoft.com/office/drawing/2014/main" id="{E38D4F69-C8C3-2F97-9BE8-8D666ABECBE2}"/>
              </a:ext>
            </a:extLst>
          </p:cNvPr>
          <p:cNvPicPr>
            <a:picLocks noChangeAspect="1"/>
          </p:cNvPicPr>
          <p:nvPr/>
        </p:nvPicPr>
        <p:blipFill>
          <a:blip r:embed="rId3"/>
          <a:stretch>
            <a:fillRect/>
          </a:stretch>
        </p:blipFill>
        <p:spPr>
          <a:xfrm>
            <a:off x="4570857" y="1129144"/>
            <a:ext cx="4378014" cy="3037609"/>
          </a:xfrm>
          <a:prstGeom prst="rect">
            <a:avLst/>
          </a:prstGeom>
        </p:spPr>
      </p:pic>
    </p:spTree>
    <p:extLst>
      <p:ext uri="{BB962C8B-B14F-4D97-AF65-F5344CB8AC3E}">
        <p14:creationId xmlns:p14="http://schemas.microsoft.com/office/powerpoint/2010/main" val="2787904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E830911-7530-B7E3-73D3-1CEBF9B86161}"/>
              </a:ext>
            </a:extLst>
          </p:cNvPr>
          <p:cNvSpPr>
            <a:spLocks noGrp="1"/>
          </p:cNvSpPr>
          <p:nvPr>
            <p:ph type="title"/>
          </p:nvPr>
        </p:nvSpPr>
        <p:spPr/>
        <p:txBody>
          <a:bodyPr/>
          <a:lstStyle/>
          <a:p>
            <a:r>
              <a:rPr lang="en-US" sz="1600" dirty="0"/>
              <a:t>Storage &amp; Data Updates (Azure Files) 2/2</a:t>
            </a:r>
            <a:endParaRPr lang="en-US" dirty="0"/>
          </a:p>
        </p:txBody>
      </p:sp>
      <p:sp>
        <p:nvSpPr>
          <p:cNvPr id="4" name="Text Placeholder 3">
            <a:extLst>
              <a:ext uri="{FF2B5EF4-FFF2-40B4-BE49-F238E27FC236}">
                <a16:creationId xmlns:a16="http://schemas.microsoft.com/office/drawing/2014/main" id="{76E03053-3946-281C-B313-FAA34C14CE16}"/>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1D84FB9F-B1D2-3410-0A9B-3F25454026EB}"/>
              </a:ext>
            </a:extLst>
          </p:cNvPr>
          <p:cNvSpPr>
            <a:spLocks noGrp="1"/>
          </p:cNvSpPr>
          <p:nvPr>
            <p:ph type="body" sz="quarter" idx="16"/>
          </p:nvPr>
        </p:nvSpPr>
        <p:spPr>
          <a:xfrm>
            <a:off x="342900" y="770440"/>
            <a:ext cx="3955312" cy="1846556"/>
          </a:xfrm>
        </p:spPr>
        <p:txBody>
          <a:bodyPr/>
          <a:lstStyle/>
          <a:p>
            <a:pPr algn="just"/>
            <a:r>
              <a:rPr lang="en-US" dirty="0">
                <a:hlinkClick r:id="rId2"/>
              </a:rPr>
              <a:t>Reduce latency and enhance resilience with Azure Files zonal placement</a:t>
            </a:r>
            <a:endParaRPr lang="en-US" dirty="0"/>
          </a:p>
          <a:p>
            <a:pPr algn="just"/>
            <a:r>
              <a:rPr lang="en-US" dirty="0"/>
              <a:t>Azure Files provides both local-redundant storage (LRS) and zone-redundant storage (ZRS) options today. ZRS is leveraged for workloads that require storage-level replication across zones. For applications using Azure Files Premium LRS with application-level replication, customers can now </a:t>
            </a:r>
            <a:r>
              <a:rPr lang="en-US" b="1" dirty="0"/>
              <a:t>pin storage resources to a specific Availability Zone</a:t>
            </a:r>
            <a:r>
              <a:rPr lang="en-US" dirty="0"/>
              <a:t> to co-locate storage with compute resources like Virtual Machines (VMs). Zonal placement can be leveraged with both SMB and NFS shares, making it ideal for latency sensitive Windows and Linux workloads including databases, enterprise platforms, DevOps tools, and line-of-business applications.</a:t>
            </a:r>
          </a:p>
        </p:txBody>
      </p:sp>
      <p:pic>
        <p:nvPicPr>
          <p:cNvPr id="7" name="Picture 6">
            <a:extLst>
              <a:ext uri="{FF2B5EF4-FFF2-40B4-BE49-F238E27FC236}">
                <a16:creationId xmlns:a16="http://schemas.microsoft.com/office/drawing/2014/main" id="{A85D503A-375C-9A52-58AF-C622DDE75E7E}"/>
              </a:ext>
            </a:extLst>
          </p:cNvPr>
          <p:cNvPicPr>
            <a:picLocks noChangeAspect="1"/>
          </p:cNvPicPr>
          <p:nvPr/>
        </p:nvPicPr>
        <p:blipFill>
          <a:blip r:embed="rId3"/>
          <a:stretch>
            <a:fillRect/>
          </a:stretch>
        </p:blipFill>
        <p:spPr>
          <a:xfrm>
            <a:off x="410109" y="2701637"/>
            <a:ext cx="3820893" cy="1814324"/>
          </a:xfrm>
          <a:prstGeom prst="rect">
            <a:avLst/>
          </a:prstGeom>
        </p:spPr>
      </p:pic>
    </p:spTree>
    <p:extLst>
      <p:ext uri="{BB962C8B-B14F-4D97-AF65-F5344CB8AC3E}">
        <p14:creationId xmlns:p14="http://schemas.microsoft.com/office/powerpoint/2010/main" val="479429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845D1DC-0179-5F36-2543-D94444C4E989}"/>
              </a:ext>
            </a:extLst>
          </p:cNvPr>
          <p:cNvSpPr>
            <a:spLocks noGrp="1"/>
          </p:cNvSpPr>
          <p:nvPr>
            <p:ph type="body" sz="quarter" idx="10"/>
          </p:nvPr>
        </p:nvSpPr>
        <p:spPr/>
        <p:txBody>
          <a:bodyPr/>
          <a:lstStyle/>
          <a:p>
            <a:pPr algn="just"/>
            <a:r>
              <a:rPr lang="en-US" sz="1000" dirty="0">
                <a:hlinkClick r:id="rId2"/>
              </a:rPr>
              <a:t>Public Preview: Auto-import for Azure Managed </a:t>
            </a:r>
            <a:r>
              <a:rPr lang="en-US" sz="1000" dirty="0" err="1">
                <a:hlinkClick r:id="rId2"/>
              </a:rPr>
              <a:t>Lustre</a:t>
            </a:r>
            <a:endParaRPr lang="en-US" sz="1000" dirty="0"/>
          </a:p>
          <a:p>
            <a:pPr algn="just"/>
            <a:r>
              <a:rPr lang="en-US" sz="1000" dirty="0"/>
              <a:t>Auto-import enables seamless, policy-driven synchronization of data from Azure </a:t>
            </a:r>
            <a:r>
              <a:rPr lang="en-US" sz="1000" b="1" dirty="0"/>
              <a:t>Blob Storage containers into AMLFS clusters, automatically reflecting new, changed, or deleted blobs in the </a:t>
            </a:r>
            <a:r>
              <a:rPr lang="en-US" sz="1000" b="1" dirty="0" err="1"/>
              <a:t>Lustre</a:t>
            </a:r>
            <a:r>
              <a:rPr lang="en-US" sz="1000" b="1" dirty="0"/>
              <a:t> namespace. </a:t>
            </a:r>
            <a:r>
              <a:rPr lang="en-US" sz="1000" dirty="0"/>
              <a:t>This feature supports hybrid workflows where data is generated in Blob and consumed in AMLFS.</a:t>
            </a:r>
          </a:p>
          <a:p>
            <a:pPr algn="just"/>
            <a:r>
              <a:rPr lang="en-US" sz="1000" dirty="0"/>
              <a:t>Customers can configure import policies </a:t>
            </a:r>
            <a:r>
              <a:rPr lang="en-US" sz="1000" b="1" dirty="0"/>
              <a:t>per Blob container–AMLFS cluster pair, specifying which types of changes are imported and how conflicts are resolved</a:t>
            </a:r>
            <a:r>
              <a:rPr lang="en-US" sz="1000" dirty="0"/>
              <a:t>. This flexibility supports a range of scenarios, including post-deployment ingestion, machine learning pipelines, and continuous data synchronization for analytics workloads. Auto-import helps unify object and file-based workflows, enabling near real-time data sharing and reducing operational overhead by eliminating the need for manual import scripts or intermediate file servers.</a:t>
            </a:r>
          </a:p>
        </p:txBody>
      </p:sp>
      <p:sp>
        <p:nvSpPr>
          <p:cNvPr id="3" name="Title 2">
            <a:extLst>
              <a:ext uri="{FF2B5EF4-FFF2-40B4-BE49-F238E27FC236}">
                <a16:creationId xmlns:a16="http://schemas.microsoft.com/office/drawing/2014/main" id="{3CE8B68E-E3BF-8F21-E637-CD1743C00BFA}"/>
              </a:ext>
            </a:extLst>
          </p:cNvPr>
          <p:cNvSpPr>
            <a:spLocks noGrp="1"/>
          </p:cNvSpPr>
          <p:nvPr>
            <p:ph type="title"/>
          </p:nvPr>
        </p:nvSpPr>
        <p:spPr/>
        <p:txBody>
          <a:bodyPr/>
          <a:lstStyle/>
          <a:p>
            <a:r>
              <a:rPr lang="en-US" sz="1800" dirty="0"/>
              <a:t>Storage &amp; Data Updates (Azure Managed Luster) 1/2</a:t>
            </a:r>
            <a:endParaRPr lang="en-US" dirty="0"/>
          </a:p>
        </p:txBody>
      </p:sp>
      <p:sp>
        <p:nvSpPr>
          <p:cNvPr id="4" name="Text Placeholder 3">
            <a:extLst>
              <a:ext uri="{FF2B5EF4-FFF2-40B4-BE49-F238E27FC236}">
                <a16:creationId xmlns:a16="http://schemas.microsoft.com/office/drawing/2014/main" id="{D86F15A3-6857-D094-265C-58EF94BDA5E9}"/>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2147FEF0-E8E6-BFC4-587B-9AFD5EDA6904}"/>
              </a:ext>
            </a:extLst>
          </p:cNvPr>
          <p:cNvSpPr>
            <a:spLocks noGrp="1"/>
          </p:cNvSpPr>
          <p:nvPr>
            <p:ph type="body" sz="quarter" idx="16"/>
          </p:nvPr>
        </p:nvSpPr>
        <p:spPr/>
        <p:txBody>
          <a:bodyPr/>
          <a:lstStyle/>
          <a:p>
            <a:pPr algn="just"/>
            <a:r>
              <a:rPr lang="en-US" dirty="0">
                <a:hlinkClick r:id="rId3"/>
              </a:rPr>
              <a:t>Public Preview: 20 MB/s/TiB Performance Tier for Azure Managed </a:t>
            </a:r>
            <a:r>
              <a:rPr lang="en-US" dirty="0" err="1">
                <a:hlinkClick r:id="rId3"/>
              </a:rPr>
              <a:t>Lustre</a:t>
            </a:r>
            <a:endParaRPr lang="en-US" dirty="0"/>
          </a:p>
          <a:p>
            <a:pPr algn="just"/>
            <a:r>
              <a:rPr lang="en-US" dirty="0"/>
              <a:t>Azure Managed </a:t>
            </a:r>
            <a:r>
              <a:rPr lang="en-US" dirty="0" err="1"/>
              <a:t>Lustre</a:t>
            </a:r>
            <a:r>
              <a:rPr lang="en-US" dirty="0"/>
              <a:t> now offers a </a:t>
            </a:r>
            <a:r>
              <a:rPr lang="en-US" b="1" dirty="0"/>
              <a:t>new 20 MB/s/TiB performance tier in public preview,</a:t>
            </a:r>
            <a:r>
              <a:rPr lang="en-US" dirty="0"/>
              <a:t> designed to meet the demands of large-scale AI and high-performance computing (HPC) workloads. This tier enables customers to provision file </a:t>
            </a:r>
            <a:r>
              <a:rPr lang="en-US" b="1" dirty="0"/>
              <a:t>systems up to 25 PiB in a single namespace, delivering up to 512 GB/s of bandwidth and supporting up to 20 billion </a:t>
            </a:r>
            <a:r>
              <a:rPr lang="en-US" b="1" dirty="0" err="1"/>
              <a:t>inodes</a:t>
            </a:r>
            <a:r>
              <a:rPr lang="en-US" b="1" dirty="0"/>
              <a:t> </a:t>
            </a:r>
            <a:r>
              <a:rPr lang="en-US" dirty="0"/>
              <a:t>for massive file counts.</a:t>
            </a:r>
          </a:p>
          <a:p>
            <a:pPr algn="just"/>
            <a:r>
              <a:rPr lang="en-US" dirty="0"/>
              <a:t>The 20 MB/s/TiB tier uses </a:t>
            </a:r>
            <a:r>
              <a:rPr lang="en-US" dirty="0" err="1"/>
              <a:t>Lustre’s</a:t>
            </a:r>
            <a:r>
              <a:rPr lang="en-US" dirty="0"/>
              <a:t> DNE2 multi-MDS architecture, adding one MDS per 5 PiB to enable directory striping across multiple metadata targets. This boosts metadata operations, delivering over 5× higher IOPS in </a:t>
            </a:r>
            <a:r>
              <a:rPr lang="en-US" dirty="0" err="1"/>
              <a:t>mdtest</a:t>
            </a:r>
            <a:r>
              <a:rPr lang="en-US" dirty="0"/>
              <a:t> benchmarks as striping scales. Ideal for AI training and HPC workloads, it ensures high metadata throughput and efficient handling of massive datasets.</a:t>
            </a:r>
          </a:p>
        </p:txBody>
      </p:sp>
    </p:spTree>
    <p:extLst>
      <p:ext uri="{BB962C8B-B14F-4D97-AF65-F5344CB8AC3E}">
        <p14:creationId xmlns:p14="http://schemas.microsoft.com/office/powerpoint/2010/main" val="3190513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684A358-672C-04FA-94B8-434553974E05}"/>
              </a:ext>
            </a:extLst>
          </p:cNvPr>
          <p:cNvSpPr>
            <a:spLocks noGrp="1"/>
          </p:cNvSpPr>
          <p:nvPr>
            <p:ph type="body" sz="quarter" idx="10"/>
          </p:nvPr>
        </p:nvSpPr>
        <p:spPr/>
        <p:txBody>
          <a:bodyPr/>
          <a:lstStyle/>
          <a:p>
            <a:pPr algn="just"/>
            <a:r>
              <a:rPr lang="en-US" sz="1000" dirty="0">
                <a:hlinkClick r:id="rId2"/>
              </a:rPr>
              <a:t>Generally Available: Azure Managed </a:t>
            </a:r>
            <a:r>
              <a:rPr lang="en-US" sz="1000" dirty="0" err="1">
                <a:hlinkClick r:id="rId2"/>
              </a:rPr>
              <a:t>Lustre</a:t>
            </a:r>
            <a:r>
              <a:rPr lang="en-US" sz="1000" dirty="0">
                <a:hlinkClick r:id="rId2"/>
              </a:rPr>
              <a:t> Support for Azure MCP Server</a:t>
            </a:r>
            <a:endParaRPr lang="en-US" sz="1000" dirty="0"/>
          </a:p>
          <a:p>
            <a:pPr algn="just"/>
            <a:r>
              <a:rPr lang="en-US" sz="1000" dirty="0"/>
              <a:t>Azure MCP Server enables developers and infrastructure teams to manage Azure resources—</a:t>
            </a:r>
            <a:r>
              <a:rPr lang="en-US" sz="1000" b="1" dirty="0"/>
              <a:t>including Azure Managed </a:t>
            </a:r>
            <a:r>
              <a:rPr lang="en-US" sz="1000" b="1" dirty="0" err="1"/>
              <a:t>Lustre</a:t>
            </a:r>
            <a:r>
              <a:rPr lang="en-US" sz="1000" b="1" dirty="0"/>
              <a:t> file systems—using natural language prompts, </a:t>
            </a:r>
            <a:r>
              <a:rPr lang="en-US" sz="1000" dirty="0"/>
              <a:t>streamlining operations for AI training and high-performance computing (HPC) environments.</a:t>
            </a:r>
          </a:p>
          <a:p>
            <a:pPr algn="just"/>
            <a:r>
              <a:rPr lang="en-US" sz="1000" dirty="0"/>
              <a:t>With this integration, it is possible to create, list, and manage Azure Managed </a:t>
            </a:r>
            <a:r>
              <a:rPr lang="en-US" sz="1000" dirty="0" err="1"/>
              <a:t>Lustre</a:t>
            </a:r>
            <a:r>
              <a:rPr lang="en-US" sz="1000" dirty="0"/>
              <a:t> file systems directly from supported IDEs (such as Visual Studio Code, Visual Studio, and IntelliJ) or via automation scripts, using the </a:t>
            </a:r>
            <a:r>
              <a:rPr lang="en-US" sz="1000" b="1" dirty="0"/>
              <a:t>Model Context Protocol (MCP). </a:t>
            </a:r>
            <a:r>
              <a:rPr lang="en-US" sz="1000" dirty="0"/>
              <a:t>The Azure Managed </a:t>
            </a:r>
            <a:r>
              <a:rPr lang="en-US" sz="1000" dirty="0" err="1"/>
              <a:t>Lustre</a:t>
            </a:r>
            <a:r>
              <a:rPr lang="en-US" sz="1000" dirty="0"/>
              <a:t> tools for MCP Server support advanced configuration options, including specifying network, capacity, maintenance windows, availability zones, and encryption settings.</a:t>
            </a:r>
          </a:p>
          <a:p>
            <a:pPr algn="just"/>
            <a:r>
              <a:rPr lang="en-US" sz="1000" dirty="0"/>
              <a:t>This makes it easier to provision and operate scalable, high-performance </a:t>
            </a:r>
            <a:r>
              <a:rPr lang="en-US" sz="1000" dirty="0" err="1"/>
              <a:t>Lustre</a:t>
            </a:r>
            <a:r>
              <a:rPr lang="en-US" sz="1000" dirty="0"/>
              <a:t> file systems for large-scale </a:t>
            </a:r>
            <a:r>
              <a:rPr lang="en-US" sz="1000" b="1" dirty="0"/>
              <a:t>simulation, model training, and fine-tuning workloads.</a:t>
            </a:r>
          </a:p>
          <a:p>
            <a:pPr algn="just"/>
            <a:r>
              <a:rPr lang="en-US" sz="1000" dirty="0"/>
              <a:t>Azure MCP Server provides secure, role-based access and supports a wide range of Azure services, enabling unified management and automation for modern AI and HPC pipelines.</a:t>
            </a:r>
          </a:p>
        </p:txBody>
      </p:sp>
      <p:sp>
        <p:nvSpPr>
          <p:cNvPr id="3" name="Title 2">
            <a:extLst>
              <a:ext uri="{FF2B5EF4-FFF2-40B4-BE49-F238E27FC236}">
                <a16:creationId xmlns:a16="http://schemas.microsoft.com/office/drawing/2014/main" id="{109B1083-E4E1-BEB5-1B3F-9286C2B3B8C5}"/>
              </a:ext>
            </a:extLst>
          </p:cNvPr>
          <p:cNvSpPr>
            <a:spLocks noGrp="1"/>
          </p:cNvSpPr>
          <p:nvPr>
            <p:ph type="title"/>
          </p:nvPr>
        </p:nvSpPr>
        <p:spPr/>
        <p:txBody>
          <a:bodyPr/>
          <a:lstStyle/>
          <a:p>
            <a:r>
              <a:rPr lang="en-US" sz="1600" dirty="0"/>
              <a:t>Storage &amp; Data Updates (Azure Managed Luster) 2/2</a:t>
            </a:r>
            <a:endParaRPr lang="en-US" dirty="0"/>
          </a:p>
        </p:txBody>
      </p:sp>
      <p:sp>
        <p:nvSpPr>
          <p:cNvPr id="4" name="Text Placeholder 3">
            <a:extLst>
              <a:ext uri="{FF2B5EF4-FFF2-40B4-BE49-F238E27FC236}">
                <a16:creationId xmlns:a16="http://schemas.microsoft.com/office/drawing/2014/main" id="{A7EDFB8C-BB52-7CB5-3E56-3491E3B2B332}"/>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7A894D8C-5335-2C60-B84F-158404899722}"/>
              </a:ext>
            </a:extLst>
          </p:cNvPr>
          <p:cNvSpPr>
            <a:spLocks noGrp="1"/>
          </p:cNvSpPr>
          <p:nvPr>
            <p:ph type="body" sz="quarter" idx="16"/>
          </p:nvPr>
        </p:nvSpPr>
        <p:spPr/>
        <p:txBody>
          <a:bodyPr/>
          <a:lstStyle/>
          <a:p>
            <a:pPr algn="just"/>
            <a:r>
              <a:rPr lang="en-US" dirty="0">
                <a:hlinkClick r:id="rId3"/>
              </a:rPr>
              <a:t>Generally Available: CSI Dynamic Provisioning for Azure Managed </a:t>
            </a:r>
            <a:r>
              <a:rPr lang="en-US" dirty="0" err="1">
                <a:hlinkClick r:id="rId3"/>
              </a:rPr>
              <a:t>Lustre</a:t>
            </a:r>
            <a:endParaRPr lang="en-US" dirty="0"/>
          </a:p>
          <a:p>
            <a:pPr algn="just"/>
            <a:r>
              <a:rPr lang="en-US" dirty="0"/>
              <a:t>With dynamic provisioning, Kubernetes applications can request </a:t>
            </a:r>
            <a:r>
              <a:rPr lang="en-US" b="1" dirty="0"/>
              <a:t>AMLFS-backed persistent volumes on demand using standard StorageClass and </a:t>
            </a:r>
            <a:r>
              <a:rPr lang="en-US" b="1" dirty="0" err="1"/>
              <a:t>PersistentVolumeClaim</a:t>
            </a:r>
            <a:r>
              <a:rPr lang="en-US" b="1" dirty="0"/>
              <a:t> objects</a:t>
            </a:r>
            <a:r>
              <a:rPr lang="en-US" dirty="0"/>
              <a:t>—no pre‑provisioning of volumes is required. This simplifies day-to-day operations for AI/ML training, simulation, and high‑throughput analytics that rely on POSIX file semantics and shared access at scale.</a:t>
            </a:r>
          </a:p>
          <a:p>
            <a:pPr algn="just"/>
            <a:r>
              <a:rPr lang="en-US" dirty="0"/>
              <a:t>This GA supports Azure Kubernetes Service (AKS) clusters running Kubernetes 1.21 and later and uses the Azure </a:t>
            </a:r>
            <a:r>
              <a:rPr lang="en-US" dirty="0" err="1"/>
              <a:t>Lustre</a:t>
            </a:r>
            <a:r>
              <a:rPr lang="en-US" dirty="0"/>
              <a:t> CSI driver. Dynamic provisioning is supported in driver version v0.3.0 and later. Node pools must use the Ubuntu Linux OS SKU.</a:t>
            </a:r>
          </a:p>
        </p:txBody>
      </p:sp>
    </p:spTree>
    <p:extLst>
      <p:ext uri="{BB962C8B-B14F-4D97-AF65-F5344CB8AC3E}">
        <p14:creationId xmlns:p14="http://schemas.microsoft.com/office/powerpoint/2010/main" val="4234762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E7A46-37FC-DE37-B781-F6CD941A9DAF}"/>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F3F52A13-614F-F618-4B9C-591B009977B2}"/>
              </a:ext>
            </a:extLst>
          </p:cNvPr>
          <p:cNvSpPr>
            <a:spLocks noGrp="1"/>
          </p:cNvSpPr>
          <p:nvPr>
            <p:ph type="title"/>
          </p:nvPr>
        </p:nvSpPr>
        <p:spPr>
          <a:xfrm>
            <a:off x="336133" y="404367"/>
            <a:ext cx="8455914" cy="342900"/>
          </a:xfrm>
        </p:spPr>
        <p:txBody>
          <a:bodyPr/>
          <a:lstStyle/>
          <a:p>
            <a:r>
              <a:rPr lang="en-US" sz="1800" dirty="0"/>
              <a:t>Storage &amp; Data Updates (Azure Storage Blob) 1/1</a:t>
            </a:r>
            <a:endParaRPr lang="en-US" dirty="0"/>
          </a:p>
        </p:txBody>
      </p:sp>
      <p:sp>
        <p:nvSpPr>
          <p:cNvPr id="13" name="Text Placeholder 12">
            <a:extLst>
              <a:ext uri="{FF2B5EF4-FFF2-40B4-BE49-F238E27FC236}">
                <a16:creationId xmlns:a16="http://schemas.microsoft.com/office/drawing/2014/main" id="{95405789-54A1-B49A-B9F4-2BC26AD8154F}"/>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84D6F84-88AB-C63B-5FD4-B461BDD233D2}"/>
              </a:ext>
            </a:extLst>
          </p:cNvPr>
          <p:cNvSpPr>
            <a:spLocks noGrp="1"/>
          </p:cNvSpPr>
          <p:nvPr>
            <p:ph type="body" sz="quarter" idx="16"/>
          </p:nvPr>
        </p:nvSpPr>
        <p:spPr>
          <a:xfrm>
            <a:off x="336133" y="808735"/>
            <a:ext cx="3955312" cy="4042502"/>
          </a:xfrm>
        </p:spPr>
        <p:txBody>
          <a:bodyPr/>
          <a:lstStyle/>
          <a:p>
            <a:pPr algn="just"/>
            <a:r>
              <a:rPr lang="en-US" dirty="0">
                <a:hlinkClick r:id="rId2"/>
              </a:rPr>
              <a:t>Public Preview: Smart Tier account level tiering (Azure Blob Storage and ADLS)</a:t>
            </a:r>
            <a:endParaRPr lang="en-US" dirty="0"/>
          </a:p>
          <a:p>
            <a:pPr algn="just"/>
            <a:r>
              <a:rPr lang="en-US" dirty="0"/>
              <a:t>Smart tier is a fully managed and automated data tiering solution, avoiding manual tier placement for object storage standard online tiers. </a:t>
            </a:r>
          </a:p>
          <a:p>
            <a:pPr algn="just"/>
            <a:r>
              <a:rPr lang="en-US" dirty="0"/>
              <a:t>Smart tier automatically moves data between </a:t>
            </a:r>
            <a:r>
              <a:rPr lang="en-US" b="1" dirty="0"/>
              <a:t>hot, cool, and cold access tiers </a:t>
            </a:r>
            <a:r>
              <a:rPr lang="en-US" dirty="0"/>
              <a:t>based on usage patterns, optimizing costs for these access tiers automatically. New data is stored in </a:t>
            </a:r>
            <a:r>
              <a:rPr lang="en-US" b="1" dirty="0"/>
              <a:t>the hot tier</a:t>
            </a:r>
            <a:r>
              <a:rPr lang="en-US" dirty="0"/>
              <a:t>. Any object that isn’t accessed </a:t>
            </a:r>
            <a:r>
              <a:rPr lang="en-US" b="1" dirty="0"/>
              <a:t>for 30 days is moved to the cool tier; after 90 days of inactivity, it transitions to the cold tier. </a:t>
            </a:r>
            <a:r>
              <a:rPr lang="en-US" dirty="0"/>
              <a:t>If objects are accessed, they are transitioning back to the hot tier and restart their tiering cycle. </a:t>
            </a:r>
          </a:p>
          <a:p>
            <a:pPr algn="just"/>
            <a:r>
              <a:rPr lang="en-US" dirty="0"/>
              <a:t>Key Capabilities </a:t>
            </a:r>
          </a:p>
          <a:p>
            <a:pPr marL="171450" indent="-171450" algn="just">
              <a:buFont typeface="Arial" panose="020B0604020202020204" pitchFamily="34" charset="0"/>
              <a:buChar char="•"/>
            </a:pPr>
            <a:r>
              <a:rPr lang="en-US" b="1" dirty="0"/>
              <a:t>Seamless Enablement: </a:t>
            </a:r>
            <a:r>
              <a:rPr lang="en-US" dirty="0"/>
              <a:t>Activate smart tier at the storage account scope on new and existing general purpose v2 storage accounts with zonal redundancies today.  </a:t>
            </a:r>
          </a:p>
          <a:p>
            <a:pPr marL="171450" indent="-171450" algn="just">
              <a:buFont typeface="Arial" panose="020B0604020202020204" pitchFamily="34" charset="0"/>
              <a:buChar char="•"/>
            </a:pPr>
            <a:r>
              <a:rPr lang="en-US" b="1" dirty="0"/>
              <a:t>Automated Lifecycle: </a:t>
            </a:r>
            <a:r>
              <a:rPr lang="en-US" dirty="0"/>
              <a:t>Data movement between tiers is fully automated. Smart tier ensures optimal tier placement for both your active and inactive objects.</a:t>
            </a:r>
          </a:p>
          <a:p>
            <a:pPr marL="171450" indent="-171450" algn="just">
              <a:buFont typeface="Arial" panose="020B0604020202020204" pitchFamily="34" charset="0"/>
              <a:buChar char="•"/>
            </a:pPr>
            <a:r>
              <a:rPr lang="en-US" b="1" dirty="0"/>
              <a:t>Simplified Billing Model</a:t>
            </a:r>
            <a:r>
              <a:rPr lang="en-US" dirty="0"/>
              <a:t>: Data uses the existing hot, cool and cold tier capacity prices. There are no charges for tier transitions inside smart tier, early deletion or data retrieval fees. A monitoring fee Is charged for objects stored in smart tier over 128 KiB in size. </a:t>
            </a:r>
          </a:p>
        </p:txBody>
      </p:sp>
      <p:sp>
        <p:nvSpPr>
          <p:cNvPr id="6" name="Text Placeholder 13">
            <a:extLst>
              <a:ext uri="{FF2B5EF4-FFF2-40B4-BE49-F238E27FC236}">
                <a16:creationId xmlns:a16="http://schemas.microsoft.com/office/drawing/2014/main" id="{5F082C05-93E4-F01C-DC62-70427109EFEE}"/>
              </a:ext>
            </a:extLst>
          </p:cNvPr>
          <p:cNvSpPr txBox="1">
            <a:spLocks/>
          </p:cNvSpPr>
          <p:nvPr/>
        </p:nvSpPr>
        <p:spPr>
          <a:xfrm>
            <a:off x="4564090" y="803449"/>
            <a:ext cx="3955312" cy="1791138"/>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dirty="0">
                <a:hlinkClick r:id="rId3"/>
              </a:rPr>
              <a:t>Generally Available: The Archive access tier for Azure Blob Storage is now generally available in the Taiwan North region</a:t>
            </a:r>
            <a:endParaRPr lang="en-US" dirty="0"/>
          </a:p>
          <a:p>
            <a:pPr algn="just"/>
            <a:r>
              <a:rPr lang="en-US" dirty="0"/>
              <a:t>The Archive access tier for Azure Blob Storage is now generally available in the Taiwan North region.</a:t>
            </a:r>
          </a:p>
          <a:p>
            <a:pPr algn="just"/>
            <a:r>
              <a:rPr lang="en-US" dirty="0"/>
              <a:t>With this regional expansion, customers in Taiwan can now store infrequently accessed data in the cost-effective Archive tier, while meeting data residency and compliance requirements locally. The Archive tier is ideal for long-term backup, compliance, and archival scenarios, offering the lowest-priced storage option in Azure.</a:t>
            </a:r>
          </a:p>
        </p:txBody>
      </p:sp>
    </p:spTree>
    <p:extLst>
      <p:ext uri="{BB962C8B-B14F-4D97-AF65-F5344CB8AC3E}">
        <p14:creationId xmlns:p14="http://schemas.microsoft.com/office/powerpoint/2010/main" val="2281606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Databases</a:t>
            </a:r>
          </a:p>
        </p:txBody>
      </p:sp>
    </p:spTree>
    <p:extLst>
      <p:ext uri="{BB962C8B-B14F-4D97-AF65-F5344CB8AC3E}">
        <p14:creationId xmlns:p14="http://schemas.microsoft.com/office/powerpoint/2010/main" val="12409598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2CC8EA5-316B-3A85-2D62-92C9FCC897B8}"/>
              </a:ext>
            </a:extLst>
          </p:cNvPr>
          <p:cNvSpPr>
            <a:spLocks noGrp="1"/>
          </p:cNvSpPr>
          <p:nvPr>
            <p:ph type="title"/>
          </p:nvPr>
        </p:nvSpPr>
        <p:spPr/>
        <p:txBody>
          <a:bodyPr/>
          <a:lstStyle/>
          <a:p>
            <a:r>
              <a:rPr lang="en-US" sz="1800" dirty="0"/>
              <a:t>Databases Updates (Azure </a:t>
            </a:r>
            <a:r>
              <a:rPr lang="en-US" sz="1800" dirty="0" err="1"/>
              <a:t>DocumentDB</a:t>
            </a:r>
            <a:r>
              <a:rPr lang="en-US" sz="1800" dirty="0"/>
              <a:t>) 1/2</a:t>
            </a:r>
            <a:endParaRPr lang="en-US" dirty="0"/>
          </a:p>
        </p:txBody>
      </p:sp>
      <p:sp>
        <p:nvSpPr>
          <p:cNvPr id="4" name="Text Placeholder 3">
            <a:extLst>
              <a:ext uri="{FF2B5EF4-FFF2-40B4-BE49-F238E27FC236}">
                <a16:creationId xmlns:a16="http://schemas.microsoft.com/office/drawing/2014/main" id="{1D3803DE-3CBA-9B84-77BF-DC3355DCEDD5}"/>
              </a:ext>
            </a:extLst>
          </p:cNvPr>
          <p:cNvSpPr>
            <a:spLocks noGrp="1"/>
          </p:cNvSpPr>
          <p:nvPr>
            <p:ph type="body" sz="quarter" idx="15"/>
          </p:nvPr>
        </p:nvSpPr>
        <p:spPr/>
        <p:txBody>
          <a:bodyPr/>
          <a:lstStyle/>
          <a:p>
            <a:endParaRPr lang="en-US"/>
          </a:p>
        </p:txBody>
      </p:sp>
      <p:sp>
        <p:nvSpPr>
          <p:cNvPr id="6" name="Text Placeholder 1">
            <a:extLst>
              <a:ext uri="{FF2B5EF4-FFF2-40B4-BE49-F238E27FC236}">
                <a16:creationId xmlns:a16="http://schemas.microsoft.com/office/drawing/2014/main" id="{85ED56DA-084B-828E-D8C3-F2E7B77282C5}"/>
              </a:ext>
            </a:extLst>
          </p:cNvPr>
          <p:cNvSpPr txBox="1">
            <a:spLocks/>
          </p:cNvSpPr>
          <p:nvPr/>
        </p:nvSpPr>
        <p:spPr>
          <a:xfrm>
            <a:off x="342900" y="855080"/>
            <a:ext cx="3903636"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2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sz="1000" dirty="0">
                <a:hlinkClick r:id="rId2"/>
              </a:rPr>
              <a:t>Azure </a:t>
            </a:r>
            <a:r>
              <a:rPr lang="en-US" sz="1000" dirty="0" err="1">
                <a:hlinkClick r:id="rId2"/>
              </a:rPr>
              <a:t>DocumentDB</a:t>
            </a:r>
            <a:r>
              <a:rPr lang="en-US" sz="1000" dirty="0">
                <a:hlinkClick r:id="rId2"/>
              </a:rPr>
              <a:t> is Now Generally Available</a:t>
            </a:r>
            <a:endParaRPr lang="en-US" sz="1000" dirty="0"/>
          </a:p>
          <a:p>
            <a:pPr algn="just"/>
            <a:r>
              <a:rPr lang="en-US" sz="1000" dirty="0"/>
              <a:t>Microsoft has announced the </a:t>
            </a:r>
            <a:r>
              <a:rPr lang="en-US" sz="1000" b="1" dirty="0"/>
              <a:t>general availability of Azure </a:t>
            </a:r>
            <a:r>
              <a:rPr lang="en-US" sz="1000" b="1" dirty="0" err="1"/>
              <a:t>DocumentDB</a:t>
            </a:r>
            <a:r>
              <a:rPr lang="en-US" sz="1000" dirty="0"/>
              <a:t>, a fully managed, MongoDB-compatible database service built on the open-source </a:t>
            </a:r>
            <a:r>
              <a:rPr lang="en-US" sz="1000" dirty="0" err="1"/>
              <a:t>DocumentDB</a:t>
            </a:r>
            <a:r>
              <a:rPr lang="en-US" sz="1000" dirty="0"/>
              <a:t> project governed by the Linux Foundation. Formerly known as vCore-based Azure Cosmos DB for MongoDB, Azure </a:t>
            </a:r>
            <a:r>
              <a:rPr lang="en-US" sz="1000" dirty="0" err="1"/>
              <a:t>DocumentDB</a:t>
            </a:r>
            <a:r>
              <a:rPr lang="en-US" sz="1000" dirty="0"/>
              <a:t> offers developers a multi-cloud, first-party database engine that preserves MongoDB skills and tooling while improving portability and cost control through a simple compute and storage model.</a:t>
            </a:r>
          </a:p>
          <a:p>
            <a:pPr algn="just"/>
            <a:r>
              <a:rPr lang="en-US" sz="1000" dirty="0"/>
              <a:t>At Ignite, Microsoft also introduced enhancements including the </a:t>
            </a:r>
            <a:r>
              <a:rPr lang="en-US" sz="1000" b="1" dirty="0"/>
              <a:t>AI-powered Index Advisor</a:t>
            </a:r>
            <a:r>
              <a:rPr lang="en-US" sz="1000" dirty="0"/>
              <a:t>, </a:t>
            </a:r>
            <a:r>
              <a:rPr lang="en-US" sz="1000" b="1" dirty="0"/>
              <a:t>Premium Storage v2 disks</a:t>
            </a:r>
            <a:r>
              <a:rPr lang="en-US" sz="1000" dirty="0"/>
              <a:t>, and a </a:t>
            </a:r>
            <a:r>
              <a:rPr lang="en-US" sz="1000" b="1" dirty="0"/>
              <a:t>VS Code migration extension</a:t>
            </a:r>
            <a:r>
              <a:rPr lang="en-US" sz="1000" dirty="0"/>
              <a:t>, helping teams build enterprise applications faster.</a:t>
            </a:r>
          </a:p>
          <a:p>
            <a:pPr algn="just"/>
            <a:r>
              <a:rPr lang="en-US" sz="1000" dirty="0"/>
              <a:t>Because </a:t>
            </a:r>
            <a:r>
              <a:rPr lang="en-US" sz="1000" dirty="0" err="1"/>
              <a:t>DocumentDB</a:t>
            </a:r>
            <a:r>
              <a:rPr lang="en-US" sz="1000" dirty="0"/>
              <a:t> began as an open-source, MIT-licensed, MongoDB-compatible engine, it avoids vendor lock-in and enables consistent deployment across cloud providers. The </a:t>
            </a:r>
            <a:r>
              <a:rPr lang="en-US" sz="1000" dirty="0" err="1"/>
              <a:t>DocumentDB</a:t>
            </a:r>
            <a:r>
              <a:rPr lang="en-US" sz="1000" dirty="0"/>
              <a:t> Kubernetes Operator supports cluster management across Azure, AWS, GCP, and on-premises, and Microsoft’s open-source VS Code extension works with any </a:t>
            </a:r>
            <a:r>
              <a:rPr lang="en-US" sz="1000" dirty="0" err="1"/>
              <a:t>DocumentDB</a:t>
            </a:r>
            <a:r>
              <a:rPr lang="en-US" sz="1000" dirty="0"/>
              <a:t> or MongoDB cluster. Azure </a:t>
            </a:r>
            <a:r>
              <a:rPr lang="en-US" sz="1000" dirty="0" err="1"/>
              <a:t>DocumentDB</a:t>
            </a:r>
            <a:r>
              <a:rPr lang="en-US" sz="1000" dirty="0"/>
              <a:t> is Microsoft’s fully managed, first-party service built on this open, multi-cloud foundation.</a:t>
            </a:r>
          </a:p>
          <a:p>
            <a:pPr algn="just"/>
            <a:endParaRPr lang="en-US" sz="1000" dirty="0"/>
          </a:p>
        </p:txBody>
      </p:sp>
      <p:sp>
        <p:nvSpPr>
          <p:cNvPr id="7" name="Text Placeholder 2">
            <a:extLst>
              <a:ext uri="{FF2B5EF4-FFF2-40B4-BE49-F238E27FC236}">
                <a16:creationId xmlns:a16="http://schemas.microsoft.com/office/drawing/2014/main" id="{EAD8885C-83EA-09C9-48D5-AAC42ED54DB2}"/>
              </a:ext>
            </a:extLst>
          </p:cNvPr>
          <p:cNvSpPr txBox="1">
            <a:spLocks/>
          </p:cNvSpPr>
          <p:nvPr/>
        </p:nvSpPr>
        <p:spPr>
          <a:xfrm>
            <a:off x="4628181" y="857753"/>
            <a:ext cx="3955312"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dirty="0">
                <a:hlinkClick r:id="rId3"/>
              </a:rPr>
              <a:t>Public Preview: Azure </a:t>
            </a:r>
            <a:r>
              <a:rPr lang="en-US" dirty="0" err="1">
                <a:hlinkClick r:id="rId3"/>
              </a:rPr>
              <a:t>DocumentDB</a:t>
            </a:r>
            <a:r>
              <a:rPr lang="en-US" dirty="0">
                <a:hlinkClick r:id="rId3"/>
              </a:rPr>
              <a:t> high-performance storage</a:t>
            </a:r>
            <a:endParaRPr lang="en-US" dirty="0"/>
          </a:p>
          <a:p>
            <a:pPr algn="just"/>
            <a:r>
              <a:rPr lang="en-US" dirty="0"/>
              <a:t>Azure </a:t>
            </a:r>
            <a:r>
              <a:rPr lang="en-US" dirty="0" err="1"/>
              <a:t>DocumentDB</a:t>
            </a:r>
            <a:r>
              <a:rPr lang="en-US" dirty="0"/>
              <a:t> now supports </a:t>
            </a:r>
            <a:r>
              <a:rPr lang="en-US" b="1" dirty="0"/>
              <a:t>high-performance storage</a:t>
            </a:r>
            <a:r>
              <a:rPr lang="en-US" dirty="0"/>
              <a:t>, enabling larger and more demanding workloads to run on fewer nodes. Each physical shard can now deliver:</a:t>
            </a:r>
          </a:p>
          <a:p>
            <a:pPr marL="171450" indent="-171450" algn="just">
              <a:buFont typeface="Arial" panose="020B0604020202020204" pitchFamily="34" charset="0"/>
              <a:buChar char="•"/>
            </a:pPr>
            <a:r>
              <a:rPr lang="en-US" b="1" dirty="0"/>
              <a:t>Up to 64 TiB</a:t>
            </a:r>
            <a:r>
              <a:rPr lang="en-US" dirty="0"/>
              <a:t> storage capacity</a:t>
            </a:r>
          </a:p>
          <a:p>
            <a:pPr marL="171450" indent="-171450" algn="just">
              <a:buFont typeface="Arial" panose="020B0604020202020204" pitchFamily="34" charset="0"/>
              <a:buChar char="•"/>
            </a:pPr>
            <a:r>
              <a:rPr lang="en-US" b="1" dirty="0"/>
              <a:t>80,000 IOPS</a:t>
            </a:r>
            <a:endParaRPr lang="en-US" dirty="0"/>
          </a:p>
          <a:p>
            <a:pPr marL="171450" indent="-171450" algn="just">
              <a:buFont typeface="Arial" panose="020B0604020202020204" pitchFamily="34" charset="0"/>
              <a:buChar char="•"/>
            </a:pPr>
            <a:r>
              <a:rPr lang="en-US" b="1" dirty="0"/>
              <a:t>1,200 MB/s</a:t>
            </a:r>
            <a:r>
              <a:rPr lang="en-US" dirty="0"/>
              <a:t> throughput</a:t>
            </a:r>
          </a:p>
          <a:p>
            <a:pPr algn="just"/>
            <a:r>
              <a:rPr lang="en-US" dirty="0"/>
              <a:t>Clusters with high-performance storage automatically operate at the highest throughput and IOPS supported by their compute and storage tiers.</a:t>
            </a:r>
          </a:p>
          <a:p>
            <a:pPr algn="just"/>
            <a:r>
              <a:rPr lang="en-US" dirty="0"/>
              <a:t>This upgrade dramatically improves scalability and efficiency for I/O-intensive and large-dataset workloads. Organizations can consolidate data previously spread across many shards while maintaining </a:t>
            </a:r>
            <a:r>
              <a:rPr lang="en-US" b="1" dirty="0"/>
              <a:t>low latency</a:t>
            </a:r>
            <a:r>
              <a:rPr lang="en-US" dirty="0"/>
              <a:t>, even during peak traffic. Ideal use cases include real-time analytics, personalization engines, and high-volume commerce systems.</a:t>
            </a:r>
          </a:p>
          <a:p>
            <a:pPr algn="just"/>
            <a:r>
              <a:rPr lang="en-US" dirty="0"/>
              <a:t>To get started, create a cluster with high-performance storage in the Azure portal and benchmark workloads to size shards and compute appropriately.</a:t>
            </a:r>
          </a:p>
          <a:p>
            <a:pPr algn="just"/>
            <a:endParaRPr lang="en-US" dirty="0"/>
          </a:p>
        </p:txBody>
      </p:sp>
    </p:spTree>
    <p:extLst>
      <p:ext uri="{BB962C8B-B14F-4D97-AF65-F5344CB8AC3E}">
        <p14:creationId xmlns:p14="http://schemas.microsoft.com/office/powerpoint/2010/main" val="2795246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a:xfrm>
            <a:off x="342900" y="855080"/>
            <a:ext cx="4365038" cy="3774069"/>
          </a:xfrm>
        </p:spPr>
        <p:txBody>
          <a:bodyPr/>
          <a:lstStyle/>
          <a:p>
            <a:pPr algn="just"/>
            <a:r>
              <a:rPr lang="en-US" sz="1000" dirty="0">
                <a:hlinkClick r:id="rId2"/>
              </a:rPr>
              <a:t>Public Preview: Index Advisor for Azure </a:t>
            </a:r>
            <a:r>
              <a:rPr lang="en-US" sz="1000" dirty="0" err="1">
                <a:hlinkClick r:id="rId2"/>
              </a:rPr>
              <a:t>DocumentDB</a:t>
            </a:r>
            <a:endParaRPr lang="en-US" sz="1000" dirty="0"/>
          </a:p>
          <a:p>
            <a:pPr algn="just"/>
            <a:r>
              <a:rPr lang="en-US" sz="1000" dirty="0"/>
              <a:t>The </a:t>
            </a:r>
            <a:r>
              <a:rPr lang="en-US" sz="1000" dirty="0" err="1"/>
              <a:t>DocumentDB</a:t>
            </a:r>
            <a:r>
              <a:rPr lang="en-US" sz="1000" dirty="0"/>
              <a:t> for VS Code extension now includes the </a:t>
            </a:r>
            <a:r>
              <a:rPr lang="en-US" sz="1000" b="1" dirty="0"/>
              <a:t>Index Advisor</a:t>
            </a:r>
            <a:r>
              <a:rPr lang="en-US" sz="1000" dirty="0"/>
              <a:t>, a natural language–powered tool that helps you optimize MongoDB workloads.</a:t>
            </a:r>
          </a:p>
          <a:p>
            <a:pPr algn="just"/>
            <a:r>
              <a:rPr lang="en-US" sz="1000" b="1" dirty="0"/>
              <a:t>Key benefits:</a:t>
            </a:r>
            <a:endParaRPr lang="en-US" sz="1000" dirty="0"/>
          </a:p>
          <a:p>
            <a:pPr marL="171450" indent="-171450" algn="just">
              <a:buFont typeface="Arial" panose="020B0604020202020204" pitchFamily="34" charset="0"/>
              <a:buChar char="•"/>
            </a:pPr>
            <a:r>
              <a:rPr lang="en-US" sz="1000" dirty="0"/>
              <a:t>Identify slow or inefficient queries and pinpoint performance bottlenecks.</a:t>
            </a:r>
          </a:p>
          <a:p>
            <a:pPr marL="171450" indent="-171450" algn="just">
              <a:buFont typeface="Arial" panose="020B0604020202020204" pitchFamily="34" charset="0"/>
              <a:buChar char="•"/>
            </a:pPr>
            <a:r>
              <a:rPr lang="en-US" sz="1000" dirty="0"/>
              <a:t>Get prioritized, actionable index recommendations based on impact.</a:t>
            </a:r>
          </a:p>
          <a:p>
            <a:pPr marL="171450" indent="-171450" algn="just">
              <a:buFont typeface="Arial" panose="020B0604020202020204" pitchFamily="34" charset="0"/>
              <a:buChar char="•"/>
            </a:pPr>
            <a:r>
              <a:rPr lang="en-US" sz="1000" dirty="0"/>
              <a:t>Understand each recommendation through clear, plain-English explanations.</a:t>
            </a:r>
          </a:p>
          <a:p>
            <a:pPr marL="171450" indent="-171450" algn="just">
              <a:buFont typeface="Arial" panose="020B0604020202020204" pitchFamily="34" charset="0"/>
              <a:buChar char="•"/>
            </a:pPr>
            <a:r>
              <a:rPr lang="en-US" sz="1000" dirty="0"/>
              <a:t>Apply suggested indexes instantly from within VS Code.</a:t>
            </a:r>
          </a:p>
          <a:p>
            <a:pPr marL="171450" indent="-171450" algn="just">
              <a:buFont typeface="Arial" panose="020B0604020202020204" pitchFamily="34" charset="0"/>
              <a:buChar char="•"/>
            </a:pPr>
            <a:r>
              <a:rPr lang="en-US" sz="1000" dirty="0"/>
              <a:t>Automatically compare query performance before and after index creation.</a:t>
            </a:r>
          </a:p>
          <a:p>
            <a:pPr algn="just"/>
            <a:r>
              <a:rPr lang="en-US" sz="1000" dirty="0"/>
              <a:t>This enhancement makes it easier to tune performance and maintain efficient </a:t>
            </a:r>
            <a:r>
              <a:rPr lang="en-US" sz="1000" dirty="0" err="1"/>
              <a:t>DocumentDB</a:t>
            </a:r>
            <a:r>
              <a:rPr lang="en-US" sz="1000" dirty="0"/>
              <a:t> or MongoDB-based applications directly from your developer workflow.</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Databases Updates (Azure </a:t>
            </a:r>
            <a:r>
              <a:rPr lang="en-US" sz="1800" dirty="0" err="1"/>
              <a:t>DocumentDB</a:t>
            </a:r>
            <a:r>
              <a:rPr lang="en-US" sz="1800" dirty="0"/>
              <a:t>) 2/2</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1776979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8D03045-9E26-C299-A18A-C938DD6EF222}"/>
              </a:ext>
            </a:extLst>
          </p:cNvPr>
          <p:cNvSpPr>
            <a:spLocks noGrp="1"/>
          </p:cNvSpPr>
          <p:nvPr>
            <p:ph type="body" sz="quarter" idx="10"/>
          </p:nvPr>
        </p:nvSpPr>
        <p:spPr/>
        <p:txBody>
          <a:bodyPr/>
          <a:lstStyle/>
          <a:p>
            <a:pPr algn="just"/>
            <a:r>
              <a:rPr lang="en-US" sz="1000" dirty="0">
                <a:hlinkClick r:id="rId2"/>
              </a:rPr>
              <a:t>Public Preview: Azure Cosmos DB Fleet Analytics</a:t>
            </a:r>
            <a:endParaRPr lang="en-US" sz="1000" dirty="0"/>
          </a:p>
          <a:p>
            <a:pPr algn="just"/>
            <a:r>
              <a:rPr lang="en-US" sz="1000" dirty="0"/>
              <a:t>Azure Cosmos DB Fleet Analytics is now in public preview, giving organizations a </a:t>
            </a:r>
            <a:r>
              <a:rPr lang="en-US" sz="1000" b="1" dirty="0"/>
              <a:t>unified, cross-account view</a:t>
            </a:r>
            <a:r>
              <a:rPr lang="en-US" sz="1000" dirty="0"/>
              <a:t> of their entire Cosmos DB estate. This capability aggregates insights across </a:t>
            </a:r>
            <a:r>
              <a:rPr lang="en-US" sz="1000" b="1" dirty="0"/>
              <a:t>multiple accounts, subscriptions, and workloads</a:t>
            </a:r>
            <a:r>
              <a:rPr lang="en-US" sz="1000" dirty="0"/>
              <a:t>, enabling teams to:</a:t>
            </a:r>
          </a:p>
          <a:p>
            <a:pPr marL="171450" indent="-171450" algn="just">
              <a:buFont typeface="Arial" panose="020B0604020202020204" pitchFamily="34" charset="0"/>
              <a:buChar char="•"/>
            </a:pPr>
            <a:r>
              <a:rPr lang="en-US" sz="1000" dirty="0"/>
              <a:t>Analyze performance and usage patterns at scale</a:t>
            </a:r>
          </a:p>
          <a:p>
            <a:pPr marL="171450" indent="-171450" algn="just">
              <a:buFont typeface="Arial" panose="020B0604020202020204" pitchFamily="34" charset="0"/>
              <a:buChar char="•"/>
            </a:pPr>
            <a:r>
              <a:rPr lang="en-US" sz="1000" dirty="0"/>
              <a:t>Monitor and optimize cost and capacity trends</a:t>
            </a:r>
          </a:p>
          <a:p>
            <a:pPr marL="171450" indent="-171450" algn="just">
              <a:buFont typeface="Arial" panose="020B0604020202020204" pitchFamily="34" charset="0"/>
              <a:buChar char="•"/>
            </a:pPr>
            <a:r>
              <a:rPr lang="en-US" sz="1000" dirty="0"/>
              <a:t>Identify inconsistencies and manage growth more effectively</a:t>
            </a:r>
          </a:p>
          <a:p>
            <a:pPr algn="just"/>
            <a:r>
              <a:rPr lang="en-US" sz="1000" dirty="0"/>
              <a:t>With a single consolidated analytics layer, operators can make faster, data-driven decisions and maintain consistency across their Cosmos DB fleet.</a:t>
            </a:r>
          </a:p>
          <a:p>
            <a:pPr algn="just"/>
            <a:endParaRPr lang="en-US" sz="1000" dirty="0"/>
          </a:p>
        </p:txBody>
      </p:sp>
      <p:sp>
        <p:nvSpPr>
          <p:cNvPr id="3" name="Title 2">
            <a:extLst>
              <a:ext uri="{FF2B5EF4-FFF2-40B4-BE49-F238E27FC236}">
                <a16:creationId xmlns:a16="http://schemas.microsoft.com/office/drawing/2014/main" id="{A8393FFE-587B-8115-0F60-6C9B3F0BCE0A}"/>
              </a:ext>
            </a:extLst>
          </p:cNvPr>
          <p:cNvSpPr>
            <a:spLocks noGrp="1"/>
          </p:cNvSpPr>
          <p:nvPr>
            <p:ph type="title"/>
          </p:nvPr>
        </p:nvSpPr>
        <p:spPr/>
        <p:txBody>
          <a:bodyPr/>
          <a:lstStyle/>
          <a:p>
            <a:r>
              <a:rPr lang="en-US" sz="1600" dirty="0"/>
              <a:t>Databases Updates (Azure Cosmos DB) 1/6 </a:t>
            </a:r>
            <a:endParaRPr lang="en-US" dirty="0"/>
          </a:p>
        </p:txBody>
      </p:sp>
      <p:sp>
        <p:nvSpPr>
          <p:cNvPr id="4" name="Text Placeholder 3">
            <a:extLst>
              <a:ext uri="{FF2B5EF4-FFF2-40B4-BE49-F238E27FC236}">
                <a16:creationId xmlns:a16="http://schemas.microsoft.com/office/drawing/2014/main" id="{2B0E0387-995A-01AD-34AA-73427AB1CF0B}"/>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0"/>
            <a:ext cx="3955312" cy="3774069"/>
          </a:xfrm>
        </p:spPr>
        <p:txBody>
          <a:bodyPr/>
          <a:lstStyle/>
          <a:p>
            <a:pPr algn="just"/>
            <a:r>
              <a:rPr lang="en-US" dirty="0">
                <a:hlinkClick r:id="rId3"/>
              </a:rPr>
              <a:t>Public Preview: Online container copy in Azure Cosmos DB</a:t>
            </a:r>
            <a:endParaRPr lang="en-US" dirty="0"/>
          </a:p>
          <a:p>
            <a:pPr algn="just"/>
            <a:r>
              <a:rPr lang="en-US" dirty="0"/>
              <a:t>Azure Cosmos DB now supports </a:t>
            </a:r>
            <a:r>
              <a:rPr lang="en-US" b="1" dirty="0"/>
              <a:t>online container copy</a:t>
            </a:r>
            <a:r>
              <a:rPr lang="en-US" dirty="0"/>
              <a:t>, allowing you to replicate data from one container to another </a:t>
            </a:r>
            <a:r>
              <a:rPr lang="en-US" b="1" dirty="0"/>
              <a:t>in real time</a:t>
            </a:r>
            <a:r>
              <a:rPr lang="en-US" dirty="0"/>
              <a:t> with </a:t>
            </a:r>
            <a:r>
              <a:rPr lang="en-US" b="1" dirty="0"/>
              <a:t>minimal downtime</a:t>
            </a:r>
            <a:r>
              <a:rPr lang="en-US" dirty="0"/>
              <a:t>.</a:t>
            </a:r>
          </a:p>
          <a:p>
            <a:pPr algn="just"/>
            <a:r>
              <a:rPr lang="en-US" b="1" dirty="0"/>
              <a:t>Key benefits:</a:t>
            </a:r>
            <a:endParaRPr lang="en-US" dirty="0"/>
          </a:p>
          <a:p>
            <a:pPr marL="171450" indent="-171450" algn="just">
              <a:buFont typeface="Arial" panose="020B0604020202020204" pitchFamily="34" charset="0"/>
              <a:buChar char="•"/>
            </a:pPr>
            <a:r>
              <a:rPr lang="en-US" b="1" dirty="0"/>
              <a:t>Zero-interruption operations:</a:t>
            </a:r>
            <a:r>
              <a:rPr lang="en-US" dirty="0"/>
              <a:t> Applications continue using the source container while data is copied.</a:t>
            </a:r>
          </a:p>
          <a:p>
            <a:pPr marL="171450" indent="-171450" algn="just">
              <a:buFont typeface="Arial" panose="020B0604020202020204" pitchFamily="34" charset="0"/>
              <a:buChar char="•"/>
            </a:pPr>
            <a:r>
              <a:rPr lang="en-US" b="1" dirty="0"/>
              <a:t>Real-time synchronization:</a:t>
            </a:r>
            <a:r>
              <a:rPr lang="en-US" dirty="0"/>
              <a:t> Changes in the source container are streamed to the destination during the copy.</a:t>
            </a:r>
          </a:p>
          <a:p>
            <a:pPr marL="171450" indent="-171450" algn="just">
              <a:buFont typeface="Arial" panose="020B0604020202020204" pitchFamily="34" charset="0"/>
              <a:buChar char="•"/>
            </a:pPr>
            <a:r>
              <a:rPr lang="en-US" b="1" dirty="0"/>
              <a:t>Seamless switchover:</a:t>
            </a:r>
            <a:r>
              <a:rPr lang="en-US" dirty="0"/>
              <a:t> Once the copy is complete, you can switch traffic to the new container with minimal impact.</a:t>
            </a:r>
          </a:p>
          <a:p>
            <a:pPr algn="just"/>
            <a:r>
              <a:rPr lang="en-US" dirty="0"/>
              <a:t>This capability simplifies migrations, schema changes, and performance optimizations without service disruption.</a:t>
            </a:r>
          </a:p>
        </p:txBody>
      </p:sp>
    </p:spTree>
    <p:extLst>
      <p:ext uri="{BB962C8B-B14F-4D97-AF65-F5344CB8AC3E}">
        <p14:creationId xmlns:p14="http://schemas.microsoft.com/office/powerpoint/2010/main" val="1141667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357846A-4772-5002-EFB3-EC3F9BB60DEE}"/>
              </a:ext>
            </a:extLst>
          </p:cNvPr>
          <p:cNvSpPr>
            <a:spLocks noGrp="1"/>
          </p:cNvSpPr>
          <p:nvPr>
            <p:ph type="title"/>
          </p:nvPr>
        </p:nvSpPr>
        <p:spPr/>
        <p:txBody>
          <a:bodyPr/>
          <a:lstStyle/>
          <a:p>
            <a:r>
              <a:rPr lang="en-US" sz="1800" dirty="0"/>
              <a:t>Databases Updates (Azure Cosmos DB) 2/6 </a:t>
            </a:r>
            <a:endParaRPr lang="en-US" dirty="0"/>
          </a:p>
        </p:txBody>
      </p:sp>
      <p:sp>
        <p:nvSpPr>
          <p:cNvPr id="4" name="Text Placeholder 3">
            <a:extLst>
              <a:ext uri="{FF2B5EF4-FFF2-40B4-BE49-F238E27FC236}">
                <a16:creationId xmlns:a16="http://schemas.microsoft.com/office/drawing/2014/main" id="{56971B5D-C8FC-8BB9-1295-3188F818547E}"/>
              </a:ext>
            </a:extLst>
          </p:cNvPr>
          <p:cNvSpPr>
            <a:spLocks noGrp="1"/>
          </p:cNvSpPr>
          <p:nvPr>
            <p:ph type="body" sz="quarter" idx="15"/>
          </p:nvPr>
        </p:nvSpPr>
        <p:spPr/>
        <p:txBody>
          <a:bodyPr/>
          <a:lstStyle/>
          <a:p>
            <a:endParaRPr lang="en-US"/>
          </a:p>
        </p:txBody>
      </p:sp>
      <p:sp>
        <p:nvSpPr>
          <p:cNvPr id="6" name="Text Placeholder 1">
            <a:extLst>
              <a:ext uri="{FF2B5EF4-FFF2-40B4-BE49-F238E27FC236}">
                <a16:creationId xmlns:a16="http://schemas.microsoft.com/office/drawing/2014/main" id="{F14281DC-EFC5-EBBD-71C3-04B78F265700}"/>
              </a:ext>
            </a:extLst>
          </p:cNvPr>
          <p:cNvSpPr txBox="1">
            <a:spLocks/>
          </p:cNvSpPr>
          <p:nvPr/>
        </p:nvSpPr>
        <p:spPr>
          <a:xfrm>
            <a:off x="342900" y="855079"/>
            <a:ext cx="3778827"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2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sz="1000" dirty="0">
                <a:hlinkClick r:id="rId2"/>
              </a:rPr>
              <a:t>Public Preview: Support for Italian and Portuguese in Azure Cosmos DB for NoSQL full-text search</a:t>
            </a:r>
            <a:endParaRPr lang="en-US" sz="1000" dirty="0"/>
          </a:p>
          <a:p>
            <a:pPr algn="just"/>
            <a:r>
              <a:rPr lang="en-US" sz="1000" dirty="0"/>
              <a:t>Azure </a:t>
            </a:r>
            <a:r>
              <a:rPr lang="en-US" sz="1000" b="1" dirty="0"/>
              <a:t>Cosmos DB for NoSQL now supports Italian and Portuguese languages in full-text search</a:t>
            </a:r>
            <a:r>
              <a:rPr lang="en-US" sz="1000" dirty="0"/>
              <a:t>, available today in public preview. This update adds to the list of supported languages, enabling to build rich, language-aware search experiences that understand the linguistic nuances of Italian and Portuguese text. </a:t>
            </a:r>
          </a:p>
          <a:p>
            <a:pPr algn="just"/>
            <a:r>
              <a:rPr lang="en-US" sz="1000" dirty="0"/>
              <a:t>It is now possible easily create multilingual </a:t>
            </a:r>
            <a:r>
              <a:rPr lang="en-US" sz="1000" b="1" dirty="0"/>
              <a:t>applications that deliver a natural and localized search experience for users across Europe and Latin America</a:t>
            </a:r>
            <a:r>
              <a:rPr lang="en-US" sz="1000" dirty="0"/>
              <a:t>. Whether building e-commerce catalogs, customer knowledge bases, or AI-powered chat and discovery tools, you can now seamlessly search across Italian and Portuguese content without needing to preprocess or translate data. </a:t>
            </a:r>
          </a:p>
        </p:txBody>
      </p:sp>
      <p:sp>
        <p:nvSpPr>
          <p:cNvPr id="14" name="Text Placeholder 13">
            <a:extLst>
              <a:ext uri="{FF2B5EF4-FFF2-40B4-BE49-F238E27FC236}">
                <a16:creationId xmlns:a16="http://schemas.microsoft.com/office/drawing/2014/main" id="{A99C1840-42CB-2AAA-82F4-807BF7A8EB8F}"/>
              </a:ext>
            </a:extLst>
          </p:cNvPr>
          <p:cNvSpPr txBox="1">
            <a:spLocks/>
          </p:cNvSpPr>
          <p:nvPr/>
        </p:nvSpPr>
        <p:spPr>
          <a:xfrm>
            <a:off x="4488697" y="855078"/>
            <a:ext cx="3955312" cy="2670785"/>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dirty="0">
                <a:hlinkClick r:id="rId3"/>
              </a:rPr>
              <a:t>Generally Available: Azure Cosmos DB fleet pools</a:t>
            </a:r>
            <a:endParaRPr lang="en-US" dirty="0"/>
          </a:p>
          <a:p>
            <a:pPr algn="just"/>
            <a:r>
              <a:rPr lang="en-US" dirty="0"/>
              <a:t>Azure Cosmos DB fleet pools introduce new capabilities for building and operating multitenant SaaS applications at scale.</a:t>
            </a:r>
          </a:p>
          <a:p>
            <a:pPr algn="just"/>
            <a:r>
              <a:rPr lang="en-US" dirty="0"/>
              <a:t>With fleet pools, you can:</a:t>
            </a:r>
          </a:p>
          <a:p>
            <a:pPr marL="171450" indent="-171450" algn="just">
              <a:buFont typeface="Arial" panose="020B0604020202020204" pitchFamily="34" charset="0"/>
              <a:buChar char="•"/>
            </a:pPr>
            <a:r>
              <a:rPr lang="en-US" b="1" dirty="0"/>
              <a:t>Simplify capacity management</a:t>
            </a:r>
            <a:r>
              <a:rPr lang="en-US" dirty="0"/>
              <a:t> by creating a shared pool of throughput (RU/s) that multiple Cosmos DB accounts in the fleet can draw from.</a:t>
            </a:r>
          </a:p>
          <a:p>
            <a:pPr marL="171450" indent="-171450" algn="just">
              <a:buFont typeface="Arial" panose="020B0604020202020204" pitchFamily="34" charset="0"/>
              <a:buChar char="•"/>
            </a:pPr>
            <a:r>
              <a:rPr lang="en-US" b="1" dirty="0"/>
              <a:t>Maintain strong security and performance isolation</a:t>
            </a:r>
            <a:r>
              <a:rPr lang="en-US" dirty="0"/>
              <a:t> by using a dedicated Cosmos DB account per tenant or customer.</a:t>
            </a:r>
          </a:p>
          <a:p>
            <a:pPr marL="171450" indent="-171450" algn="just">
              <a:buFont typeface="Arial" panose="020B0604020202020204" pitchFamily="34" charset="0"/>
              <a:buChar char="•"/>
            </a:pPr>
            <a:r>
              <a:rPr lang="en-US" b="1" dirty="0"/>
              <a:t>Avoid overprovisioning</a:t>
            </a:r>
            <a:r>
              <a:rPr lang="en-US" dirty="0"/>
              <a:t> at the tenant level by efficiently sharing RU/s across accounts, reducing cost while maintaining predictable performance.</a:t>
            </a:r>
          </a:p>
          <a:p>
            <a:pPr algn="just"/>
            <a:r>
              <a:rPr lang="en-US" dirty="0"/>
              <a:t>Fleet pools deliver the best of both worlds: per-tenant isolation with centralized, optimized resource management.</a:t>
            </a:r>
          </a:p>
        </p:txBody>
      </p:sp>
    </p:spTree>
    <p:extLst>
      <p:ext uri="{BB962C8B-B14F-4D97-AF65-F5344CB8AC3E}">
        <p14:creationId xmlns:p14="http://schemas.microsoft.com/office/powerpoint/2010/main" val="2548761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30A3B-5B5F-E3BD-A4F6-C2C8DE0B4DB6}"/>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96FF38FE-F7F4-39FA-FD76-EE7224F55359}"/>
              </a:ext>
            </a:extLst>
          </p:cNvPr>
          <p:cNvSpPr>
            <a:spLocks noGrp="1"/>
          </p:cNvSpPr>
          <p:nvPr>
            <p:ph type="title"/>
          </p:nvPr>
        </p:nvSpPr>
        <p:spPr/>
        <p:txBody>
          <a:bodyPr/>
          <a:lstStyle/>
          <a:p>
            <a:r>
              <a:rPr lang="en-US" sz="1800" dirty="0"/>
              <a:t>Databases Updates (Azure Cosmos DB) 3/6 </a:t>
            </a:r>
            <a:endParaRPr lang="en-US" dirty="0"/>
          </a:p>
        </p:txBody>
      </p:sp>
      <p:sp>
        <p:nvSpPr>
          <p:cNvPr id="13" name="Text Placeholder 12">
            <a:extLst>
              <a:ext uri="{FF2B5EF4-FFF2-40B4-BE49-F238E27FC236}">
                <a16:creationId xmlns:a16="http://schemas.microsoft.com/office/drawing/2014/main" id="{7ADF7F88-4577-68E6-C1CF-62135B255195}"/>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C75C4F3-4834-7F0D-397C-729C14BBA3BD}"/>
              </a:ext>
            </a:extLst>
          </p:cNvPr>
          <p:cNvSpPr>
            <a:spLocks noGrp="1"/>
          </p:cNvSpPr>
          <p:nvPr>
            <p:ph type="body" sz="quarter" idx="16"/>
          </p:nvPr>
        </p:nvSpPr>
        <p:spPr/>
        <p:txBody>
          <a:bodyPr/>
          <a:lstStyle/>
          <a:p>
            <a:pPr algn="just"/>
            <a:r>
              <a:rPr lang="en-US" dirty="0">
                <a:hlinkClick r:id="rId2"/>
              </a:rPr>
              <a:t>Generally Available: Cosmos DB in Microsoft Fabric</a:t>
            </a:r>
            <a:endParaRPr lang="en-US" dirty="0"/>
          </a:p>
          <a:p>
            <a:pPr algn="just"/>
            <a:r>
              <a:rPr lang="en-US" b="1" dirty="0"/>
              <a:t>Cosmos DB in Fabric is now generally available</a:t>
            </a:r>
            <a:r>
              <a:rPr lang="en-US" dirty="0"/>
              <a:t>, enabling organizations to unify operational and analytical workloads within Microsoft Fabric.</a:t>
            </a:r>
          </a:p>
          <a:p>
            <a:pPr algn="just"/>
            <a:r>
              <a:rPr lang="en-US" dirty="0"/>
              <a:t>With this release, you can:</a:t>
            </a:r>
          </a:p>
          <a:p>
            <a:pPr marL="171450" indent="-171450" algn="just">
              <a:buFont typeface="Arial" panose="020B0604020202020204" pitchFamily="34" charset="0"/>
              <a:buChar char="•"/>
            </a:pPr>
            <a:r>
              <a:rPr lang="en-US" b="1" dirty="0"/>
              <a:t>Run SQL queries over JSON data</a:t>
            </a:r>
            <a:r>
              <a:rPr lang="en-US" dirty="0"/>
              <a:t> and build real-time intelligence directly on top of transactional data.</a:t>
            </a:r>
          </a:p>
          <a:p>
            <a:pPr marL="171450" indent="-171450" algn="just">
              <a:buFont typeface="Arial" panose="020B0604020202020204" pitchFamily="34" charset="0"/>
              <a:buChar char="•"/>
            </a:pPr>
            <a:r>
              <a:rPr lang="en-US" b="1" dirty="0"/>
              <a:t>Leverage AI-powered capabilities</a:t>
            </a:r>
            <a:r>
              <a:rPr lang="en-US" dirty="0"/>
              <a:t> from Azure Cosmos DB alongside Fabric’s analytics and data workflows.</a:t>
            </a:r>
          </a:p>
          <a:p>
            <a:pPr marL="171450" indent="-171450" algn="just">
              <a:buFont typeface="Arial" panose="020B0604020202020204" pitchFamily="34" charset="0"/>
              <a:buChar char="•"/>
            </a:pPr>
            <a:r>
              <a:rPr lang="en-US" dirty="0"/>
              <a:t>Use new features such as:</a:t>
            </a:r>
          </a:p>
          <a:p>
            <a:pPr marL="514350" lvl="1" indent="-171450" algn="just">
              <a:buFont typeface="Arial" panose="020B0604020202020204" pitchFamily="34" charset="0"/>
              <a:buChar char="•"/>
            </a:pPr>
            <a:r>
              <a:rPr lang="en-US" sz="1000" b="1" dirty="0">
                <a:latin typeface="+mj-lt"/>
              </a:rPr>
              <a:t>User-defined functions (UDFs)</a:t>
            </a:r>
            <a:r>
              <a:rPr lang="en-US" sz="1000" dirty="0">
                <a:latin typeface="+mj-lt"/>
              </a:rPr>
              <a:t> to seamlessly connect to Cosmos DB artifacts</a:t>
            </a:r>
          </a:p>
          <a:p>
            <a:pPr marL="514350" lvl="1" indent="-171450" algn="just">
              <a:buFont typeface="Arial" panose="020B0604020202020204" pitchFamily="34" charset="0"/>
              <a:buChar char="•"/>
            </a:pPr>
            <a:r>
              <a:rPr lang="en-US" sz="1000" b="1" dirty="0">
                <a:latin typeface="+mj-lt"/>
              </a:rPr>
              <a:t>CI/CD support</a:t>
            </a:r>
            <a:r>
              <a:rPr lang="en-US" sz="1000" dirty="0">
                <a:latin typeface="+mj-lt"/>
              </a:rPr>
              <a:t> for managing dev/test/prod pipelines</a:t>
            </a:r>
          </a:p>
          <a:p>
            <a:pPr marL="514350" lvl="1" indent="-171450" algn="just">
              <a:buFont typeface="Arial" panose="020B0604020202020204" pitchFamily="34" charset="0"/>
              <a:buChar char="•"/>
            </a:pPr>
            <a:r>
              <a:rPr lang="en-US" sz="1000" b="1" dirty="0" err="1">
                <a:latin typeface="+mj-lt"/>
              </a:rPr>
              <a:t>Autoscale</a:t>
            </a:r>
            <a:r>
              <a:rPr lang="en-US" sz="1000" dirty="0">
                <a:latin typeface="+mj-lt"/>
              </a:rPr>
              <a:t> for elastic throughput</a:t>
            </a:r>
          </a:p>
          <a:p>
            <a:pPr marL="514350" lvl="1" indent="-171450" algn="just">
              <a:buFont typeface="Arial" panose="020B0604020202020204" pitchFamily="34" charset="0"/>
              <a:buChar char="•"/>
            </a:pPr>
            <a:r>
              <a:rPr lang="en-US" sz="1000" b="1" dirty="0">
                <a:latin typeface="+mj-lt"/>
              </a:rPr>
              <a:t>Vector and full-text indexing and search (enabled by default)</a:t>
            </a:r>
            <a:r>
              <a:rPr lang="en-US" sz="1000" dirty="0">
                <a:latin typeface="+mj-lt"/>
              </a:rPr>
              <a:t> to power AI workloads</a:t>
            </a:r>
          </a:p>
          <a:p>
            <a:pPr marL="514350" lvl="1" indent="-171450" algn="just">
              <a:buFont typeface="Arial" panose="020B0604020202020204" pitchFamily="34" charset="0"/>
              <a:buChar char="•"/>
            </a:pPr>
            <a:r>
              <a:rPr lang="en-US" sz="1000" b="1" dirty="0">
                <a:latin typeface="+mj-lt"/>
              </a:rPr>
              <a:t>Customer-managed keys (CMK) for Fabric (Preview)</a:t>
            </a:r>
            <a:endParaRPr lang="en-US" sz="1000" dirty="0">
              <a:latin typeface="+mj-lt"/>
            </a:endParaRPr>
          </a:p>
          <a:p>
            <a:pPr algn="just"/>
            <a:r>
              <a:rPr lang="en-US" dirty="0"/>
              <a:t>This GA release represents a major milestone in making operational Cosmos DB data fully accessible, </a:t>
            </a:r>
            <a:r>
              <a:rPr lang="en-US" dirty="0" err="1"/>
              <a:t>queryable</a:t>
            </a:r>
            <a:r>
              <a:rPr lang="en-US" dirty="0"/>
              <a:t>, and integrated across the entire Fabric ecosystem.</a:t>
            </a:r>
          </a:p>
          <a:p>
            <a:pPr algn="just"/>
            <a:endParaRPr lang="en-US" dirty="0"/>
          </a:p>
        </p:txBody>
      </p:sp>
      <p:sp>
        <p:nvSpPr>
          <p:cNvPr id="3" name="Text Placeholder 2">
            <a:extLst>
              <a:ext uri="{FF2B5EF4-FFF2-40B4-BE49-F238E27FC236}">
                <a16:creationId xmlns:a16="http://schemas.microsoft.com/office/drawing/2014/main" id="{13824565-A6BC-0AA6-2CC0-41A1C46E4CA8}"/>
              </a:ext>
            </a:extLst>
          </p:cNvPr>
          <p:cNvSpPr>
            <a:spLocks noGrp="1"/>
          </p:cNvSpPr>
          <p:nvPr>
            <p:ph type="body" sz="quarter" idx="10"/>
          </p:nvPr>
        </p:nvSpPr>
        <p:spPr/>
        <p:txBody>
          <a:bodyPr/>
          <a:lstStyle/>
          <a:p>
            <a:pPr algn="just"/>
            <a:r>
              <a:rPr lang="en-US" sz="1000" dirty="0">
                <a:hlinkClick r:id="rId3"/>
              </a:rPr>
              <a:t>Generally Available: Azure Cosmos DB Mirroring in Microsoft Fabric</a:t>
            </a:r>
            <a:endParaRPr lang="en-US" sz="1000" dirty="0"/>
          </a:p>
          <a:p>
            <a:pPr algn="just"/>
            <a:r>
              <a:rPr lang="en-US" sz="1000" b="1" dirty="0"/>
              <a:t>Azure Cosmos DB Mirroring in Fabric</a:t>
            </a:r>
            <a:r>
              <a:rPr lang="en-US" sz="1000" dirty="0"/>
              <a:t> enables seamless integration of existing operational workloads with the analytical power of Microsoft Fabric.</a:t>
            </a:r>
          </a:p>
          <a:p>
            <a:pPr algn="just"/>
            <a:r>
              <a:rPr lang="en-US" sz="1000" dirty="0"/>
              <a:t>With this capability, you can:</a:t>
            </a:r>
          </a:p>
          <a:p>
            <a:pPr marL="171450" indent="-171450" algn="just">
              <a:buFont typeface="Arial" panose="020B0604020202020204" pitchFamily="34" charset="0"/>
              <a:buChar char="•"/>
            </a:pPr>
            <a:r>
              <a:rPr lang="en-US" sz="1000" b="1" dirty="0"/>
              <a:t>Run SQL queries over JSON data</a:t>
            </a:r>
            <a:r>
              <a:rPr lang="en-US" sz="1000" dirty="0"/>
              <a:t> and build real-time analytics directly on top of your existing Cosmos DB transactional data.</a:t>
            </a:r>
          </a:p>
          <a:p>
            <a:pPr marL="171450" indent="-171450" algn="just">
              <a:buFont typeface="Arial" panose="020B0604020202020204" pitchFamily="34" charset="0"/>
              <a:buChar char="•"/>
            </a:pPr>
            <a:r>
              <a:rPr lang="en-US" sz="1000" b="1" dirty="0"/>
              <a:t>Leverage the full Microsoft Fabric ecosystem</a:t>
            </a:r>
            <a:r>
              <a:rPr lang="en-US" sz="1000" dirty="0"/>
              <a:t>, including Copilot-assisted Power BI, without stitching together separate services.</a:t>
            </a:r>
          </a:p>
          <a:p>
            <a:pPr marL="171450" indent="-171450" algn="just">
              <a:buFont typeface="Arial" panose="020B0604020202020204" pitchFamily="34" charset="0"/>
              <a:buChar char="•"/>
            </a:pPr>
            <a:r>
              <a:rPr lang="en-US" sz="1000" b="1" dirty="0"/>
              <a:t>Select exactly which Cosmos DB containers to mirror</a:t>
            </a:r>
            <a:r>
              <a:rPr lang="en-US" sz="1000" dirty="0"/>
              <a:t>, giving you full control over what data flows into Fabric for analysis.</a:t>
            </a:r>
          </a:p>
          <a:p>
            <a:pPr algn="just"/>
            <a:r>
              <a:rPr lang="en-US" sz="1000" dirty="0"/>
              <a:t>This integration delivers a smooth path from operational workloads to unified analytics—ensuring real-time intelligence with minimal operational overhead.</a:t>
            </a:r>
          </a:p>
        </p:txBody>
      </p:sp>
    </p:spTree>
    <p:extLst>
      <p:ext uri="{BB962C8B-B14F-4D97-AF65-F5344CB8AC3E}">
        <p14:creationId xmlns:p14="http://schemas.microsoft.com/office/powerpoint/2010/main" val="2199866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0" end="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42F66AE-F3E0-D90F-0FCF-79D3EA6DB048}"/>
              </a:ext>
            </a:extLst>
          </p:cNvPr>
          <p:cNvSpPr>
            <a:spLocks noGrp="1"/>
          </p:cNvSpPr>
          <p:nvPr>
            <p:ph type="body" sz="quarter" idx="10"/>
          </p:nvPr>
        </p:nvSpPr>
        <p:spPr/>
        <p:txBody>
          <a:bodyPr/>
          <a:lstStyle/>
          <a:p>
            <a:pPr algn="just"/>
            <a:r>
              <a:rPr lang="en-US" sz="1000" dirty="0">
                <a:hlinkClick r:id="rId2"/>
              </a:rPr>
              <a:t>Generally Available: Vector indexing performance improvements in Azure Cosmos DB for NoSQL</a:t>
            </a:r>
            <a:endParaRPr lang="en-US" sz="1000" dirty="0"/>
          </a:p>
          <a:p>
            <a:pPr algn="just"/>
            <a:r>
              <a:rPr lang="en-US" sz="1000" dirty="0"/>
              <a:t>This release delivers </a:t>
            </a:r>
            <a:r>
              <a:rPr lang="en-US" sz="1000" b="1" dirty="0"/>
              <a:t>significantly faster vector inserts and index builds</a:t>
            </a:r>
            <a:r>
              <a:rPr lang="en-US" sz="1000" dirty="0"/>
              <a:t> in Azure Cosmos DB for NoSQL, reducing end-to-end ingestion and indexing time for large AI workloads. These improvements are powered by enhanced vector indexing algorithms, enabling more efficient scaling and higher performance for vector-heavy applications.</a:t>
            </a:r>
          </a:p>
        </p:txBody>
      </p:sp>
      <p:sp>
        <p:nvSpPr>
          <p:cNvPr id="3" name="Title 2">
            <a:extLst>
              <a:ext uri="{FF2B5EF4-FFF2-40B4-BE49-F238E27FC236}">
                <a16:creationId xmlns:a16="http://schemas.microsoft.com/office/drawing/2014/main" id="{2A4395EE-1D04-B65D-0F92-713846AA74E8}"/>
              </a:ext>
            </a:extLst>
          </p:cNvPr>
          <p:cNvSpPr>
            <a:spLocks noGrp="1"/>
          </p:cNvSpPr>
          <p:nvPr>
            <p:ph type="title"/>
          </p:nvPr>
        </p:nvSpPr>
        <p:spPr/>
        <p:txBody>
          <a:bodyPr/>
          <a:lstStyle/>
          <a:p>
            <a:r>
              <a:rPr lang="en-US" sz="1800" dirty="0"/>
              <a:t>Databases Updates (Azure Cosmos DB) 4/6 </a:t>
            </a:r>
            <a:endParaRPr lang="en-US" dirty="0"/>
          </a:p>
        </p:txBody>
      </p:sp>
      <p:sp>
        <p:nvSpPr>
          <p:cNvPr id="4" name="Text Placeholder 3">
            <a:extLst>
              <a:ext uri="{FF2B5EF4-FFF2-40B4-BE49-F238E27FC236}">
                <a16:creationId xmlns:a16="http://schemas.microsoft.com/office/drawing/2014/main" id="{C24ECAE0-7876-EC8B-4A74-CD439E6ED5AF}"/>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5C277007-3AC5-6831-C123-793A01308688}"/>
              </a:ext>
            </a:extLst>
          </p:cNvPr>
          <p:cNvSpPr>
            <a:spLocks noGrp="1"/>
          </p:cNvSpPr>
          <p:nvPr>
            <p:ph type="body" sz="quarter" idx="16"/>
          </p:nvPr>
        </p:nvSpPr>
        <p:spPr/>
        <p:txBody>
          <a:bodyPr/>
          <a:lstStyle/>
          <a:p>
            <a:pPr algn="just"/>
            <a:r>
              <a:rPr lang="en-US" dirty="0">
                <a:hlinkClick r:id="rId3"/>
              </a:rPr>
              <a:t>Generally Available: Priority-based execution in Azure Cosmos DB</a:t>
            </a:r>
            <a:endParaRPr lang="en-US" dirty="0"/>
          </a:p>
          <a:p>
            <a:pPr algn="just"/>
            <a:r>
              <a:rPr lang="en-US" b="1" dirty="0"/>
              <a:t>Azure Cosmos DB Priority-Based Execution</a:t>
            </a:r>
            <a:r>
              <a:rPr lang="en-US" dirty="0"/>
              <a:t> now allows high-priority operations to be favored during periods of heavy load. When resource contention occurs, </a:t>
            </a:r>
            <a:r>
              <a:rPr lang="en-US" b="1" dirty="0"/>
              <a:t>low-priority requests are throttled first</a:t>
            </a:r>
            <a:r>
              <a:rPr lang="en-US" dirty="0"/>
              <a:t>, ensuring that mission-critical, high-priority workloads continue to run on a best-effort basis.</a:t>
            </a:r>
          </a:p>
          <a:p>
            <a:pPr algn="just"/>
            <a:r>
              <a:rPr lang="en-US" dirty="0"/>
              <a:t>Developers can set each request to </a:t>
            </a:r>
            <a:r>
              <a:rPr lang="en-US" b="1" dirty="0"/>
              <a:t>high</a:t>
            </a:r>
            <a:r>
              <a:rPr lang="en-US" dirty="0"/>
              <a:t> or </a:t>
            </a:r>
            <a:r>
              <a:rPr lang="en-US" b="1" dirty="0"/>
              <a:t>low priority</a:t>
            </a:r>
            <a:r>
              <a:rPr lang="en-US" dirty="0"/>
              <a:t> using the Azure Cosmos DB SDK. Low-priority operations are automatically retried according to the configured retry policy, helping maintain overall performance and protect critical workflows even under pressure.</a:t>
            </a:r>
          </a:p>
          <a:p>
            <a:pPr algn="just"/>
            <a:endParaRPr lang="en-US" dirty="0"/>
          </a:p>
        </p:txBody>
      </p:sp>
    </p:spTree>
    <p:extLst>
      <p:ext uri="{BB962C8B-B14F-4D97-AF65-F5344CB8AC3E}">
        <p14:creationId xmlns:p14="http://schemas.microsoft.com/office/powerpoint/2010/main" val="655348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B10F53F-60AB-3AC8-7438-B6F62854C458}"/>
              </a:ext>
            </a:extLst>
          </p:cNvPr>
          <p:cNvSpPr>
            <a:spLocks noGrp="1"/>
          </p:cNvSpPr>
          <p:nvPr>
            <p:ph type="title"/>
          </p:nvPr>
        </p:nvSpPr>
        <p:spPr/>
        <p:txBody>
          <a:bodyPr/>
          <a:lstStyle/>
          <a:p>
            <a:r>
              <a:rPr lang="en-US" sz="1800" dirty="0"/>
              <a:t>Databases Updates (Azure Cosmos DB) 5/6 </a:t>
            </a:r>
            <a:endParaRPr lang="en-US" dirty="0"/>
          </a:p>
        </p:txBody>
      </p:sp>
      <p:sp>
        <p:nvSpPr>
          <p:cNvPr id="4" name="Text Placeholder 3">
            <a:extLst>
              <a:ext uri="{FF2B5EF4-FFF2-40B4-BE49-F238E27FC236}">
                <a16:creationId xmlns:a16="http://schemas.microsoft.com/office/drawing/2014/main" id="{F389B30E-74DC-9092-416B-3D4A97F30CEE}"/>
              </a:ext>
            </a:extLst>
          </p:cNvPr>
          <p:cNvSpPr>
            <a:spLocks noGrp="1"/>
          </p:cNvSpPr>
          <p:nvPr>
            <p:ph type="body" sz="quarter" idx="15"/>
          </p:nvPr>
        </p:nvSpPr>
        <p:spPr/>
        <p:txBody>
          <a:bodyPr/>
          <a:lstStyle/>
          <a:p>
            <a:endParaRPr lang="en-US"/>
          </a:p>
        </p:txBody>
      </p:sp>
      <p:sp>
        <p:nvSpPr>
          <p:cNvPr id="6" name="Text Placeholder 4">
            <a:extLst>
              <a:ext uri="{FF2B5EF4-FFF2-40B4-BE49-F238E27FC236}">
                <a16:creationId xmlns:a16="http://schemas.microsoft.com/office/drawing/2014/main" id="{7332DA45-52B7-4A95-AB45-AFBE6B487943}"/>
              </a:ext>
            </a:extLst>
          </p:cNvPr>
          <p:cNvSpPr>
            <a:spLocks noGrp="1"/>
          </p:cNvSpPr>
          <p:nvPr>
            <p:ph type="body" sz="quarter" idx="16"/>
          </p:nvPr>
        </p:nvSpPr>
        <p:spPr>
          <a:xfrm>
            <a:off x="342900" y="855080"/>
            <a:ext cx="3955312" cy="3774069"/>
          </a:xfrm>
        </p:spPr>
        <p:txBody>
          <a:bodyPr/>
          <a:lstStyle/>
          <a:p>
            <a:pPr algn="just"/>
            <a:r>
              <a:rPr lang="en-US" dirty="0">
                <a:hlinkClick r:id="rId2"/>
              </a:rPr>
              <a:t>Generally Available: Fuzzy search in Azure Cosmos DB for NoSQL full-text search</a:t>
            </a:r>
            <a:endParaRPr lang="en-US" dirty="0"/>
          </a:p>
          <a:p>
            <a:pPr algn="just"/>
            <a:r>
              <a:rPr lang="en-US" dirty="0"/>
              <a:t>Azure </a:t>
            </a:r>
            <a:r>
              <a:rPr lang="en-US" b="1" dirty="0"/>
              <a:t>Cosmos DB for NoSQL now supports fuzzy search in full-text search</a:t>
            </a:r>
            <a:r>
              <a:rPr lang="en-US" dirty="0"/>
              <a:t>. With </a:t>
            </a:r>
            <a:r>
              <a:rPr lang="en-US" b="1" dirty="0"/>
              <a:t>fuzzy search</a:t>
            </a:r>
            <a:r>
              <a:rPr lang="en-US" dirty="0"/>
              <a:t>, can deliver </a:t>
            </a:r>
            <a:r>
              <a:rPr lang="en-US" b="1" dirty="0"/>
              <a:t>typo-tolerant, error-resilient search experiences directly within Azure Cosmos DB</a:t>
            </a:r>
            <a:r>
              <a:rPr lang="en-US" dirty="0"/>
              <a:t>, helping users find the right results even when queries or the data itself contain errors. This feature improves the quality and usability of search-driven applications, making them feel more natural and forgiving for end users. </a:t>
            </a:r>
          </a:p>
        </p:txBody>
      </p:sp>
      <p:sp>
        <p:nvSpPr>
          <p:cNvPr id="7" name="Text Placeholder 4">
            <a:extLst>
              <a:ext uri="{FF2B5EF4-FFF2-40B4-BE49-F238E27FC236}">
                <a16:creationId xmlns:a16="http://schemas.microsoft.com/office/drawing/2014/main" id="{17104DBF-8F81-6CF9-8589-56C3A610DDF6}"/>
              </a:ext>
            </a:extLst>
          </p:cNvPr>
          <p:cNvSpPr txBox="1">
            <a:spLocks/>
          </p:cNvSpPr>
          <p:nvPr/>
        </p:nvSpPr>
        <p:spPr>
          <a:xfrm>
            <a:off x="4570857" y="855080"/>
            <a:ext cx="3955312"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hlinkClick r:id="rId3"/>
              </a:rPr>
              <a:t>Public Preview: Dynamic data masking with Azure Cosmos DB</a:t>
            </a:r>
            <a:endParaRPr lang="en-US" dirty="0"/>
          </a:p>
          <a:p>
            <a:r>
              <a:rPr lang="en-US" dirty="0"/>
              <a:t>Azure Cosmos DB now supports </a:t>
            </a:r>
            <a:r>
              <a:rPr lang="en-US" b="1" dirty="0"/>
              <a:t>dynamic data masking (DDM)</a:t>
            </a:r>
            <a:r>
              <a:rPr lang="en-US" dirty="0"/>
              <a:t>, a server-side, policy-based capability that protects sensitive information by automatically redacting fields for non-privileged users. Data is masked in real time before being returned to applications, while the underlying values remain unchanged.</a:t>
            </a:r>
            <a:br>
              <a:rPr lang="en-US" dirty="0"/>
            </a:br>
            <a:r>
              <a:rPr lang="en-US" dirty="0"/>
              <a:t>This enhancement helps organizations reduce exposure to sensitive data—such as PII and PHI—and strengthens compliance with security and regulatory requirements.</a:t>
            </a:r>
          </a:p>
        </p:txBody>
      </p:sp>
    </p:spTree>
    <p:extLst>
      <p:ext uri="{BB962C8B-B14F-4D97-AF65-F5344CB8AC3E}">
        <p14:creationId xmlns:p14="http://schemas.microsoft.com/office/powerpoint/2010/main" val="165304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34EF49-E08A-06BC-CA4F-AC5A02A55834}"/>
              </a:ext>
            </a:extLst>
          </p:cNvPr>
          <p:cNvSpPr>
            <a:spLocks noGrp="1"/>
          </p:cNvSpPr>
          <p:nvPr>
            <p:ph type="title"/>
          </p:nvPr>
        </p:nvSpPr>
        <p:spPr/>
        <p:txBody>
          <a:bodyPr/>
          <a:lstStyle/>
          <a:p>
            <a:r>
              <a:rPr lang="en-US" sz="1800" dirty="0"/>
              <a:t>Databases Updates (Azure Cosmos DB) 6/6 </a:t>
            </a:r>
            <a:endParaRPr lang="en-US" dirty="0"/>
          </a:p>
        </p:txBody>
      </p:sp>
      <p:sp>
        <p:nvSpPr>
          <p:cNvPr id="4" name="Text Placeholder 3">
            <a:extLst>
              <a:ext uri="{FF2B5EF4-FFF2-40B4-BE49-F238E27FC236}">
                <a16:creationId xmlns:a16="http://schemas.microsoft.com/office/drawing/2014/main" id="{6FD937AC-C8D9-083E-E5C0-1C278211262F}"/>
              </a:ext>
            </a:extLst>
          </p:cNvPr>
          <p:cNvSpPr>
            <a:spLocks noGrp="1"/>
          </p:cNvSpPr>
          <p:nvPr>
            <p:ph type="body" sz="quarter" idx="15"/>
          </p:nvPr>
        </p:nvSpPr>
        <p:spPr/>
        <p:txBody>
          <a:bodyPr/>
          <a:lstStyle/>
          <a:p>
            <a:endParaRPr lang="en-US"/>
          </a:p>
        </p:txBody>
      </p:sp>
      <p:sp>
        <p:nvSpPr>
          <p:cNvPr id="9" name="Text Placeholder 8">
            <a:extLst>
              <a:ext uri="{FF2B5EF4-FFF2-40B4-BE49-F238E27FC236}">
                <a16:creationId xmlns:a16="http://schemas.microsoft.com/office/drawing/2014/main" id="{1D527A1D-467A-9C84-6B25-F5F249565217}"/>
              </a:ext>
            </a:extLst>
          </p:cNvPr>
          <p:cNvSpPr>
            <a:spLocks noGrp="1"/>
          </p:cNvSpPr>
          <p:nvPr>
            <p:ph type="body" sz="quarter" idx="16"/>
          </p:nvPr>
        </p:nvSpPr>
        <p:spPr/>
        <p:txBody>
          <a:bodyPr/>
          <a:lstStyle/>
          <a:p>
            <a:pPr algn="just"/>
            <a:r>
              <a:rPr lang="en-US" dirty="0">
                <a:hlinkClick r:id="rId2"/>
              </a:rPr>
              <a:t>Generally Available: Float16 data type for vector indexes in Azure Cosmos DB</a:t>
            </a:r>
            <a:endParaRPr lang="en-US" dirty="0"/>
          </a:p>
          <a:p>
            <a:pPr algn="just"/>
            <a:r>
              <a:rPr lang="en-US" dirty="0"/>
              <a:t>Azure Cosmos DB now supports </a:t>
            </a:r>
            <a:r>
              <a:rPr lang="en-US" b="1" dirty="0"/>
              <a:t>float16</a:t>
            </a:r>
            <a:r>
              <a:rPr lang="en-US" dirty="0"/>
              <a:t> vector data types, allowing vector indexes to use half-precision floating-point numbers. This reduces storage requirements by </a:t>
            </a:r>
            <a:r>
              <a:rPr lang="en-US" b="1" dirty="0"/>
              <a:t>50%</a:t>
            </a:r>
            <a:r>
              <a:rPr lang="en-US" dirty="0"/>
              <a:t> compared to float32 while maintaining high retrieval accuracy for most AI workloads.</a:t>
            </a:r>
          </a:p>
          <a:p>
            <a:pPr algn="just"/>
            <a:r>
              <a:rPr lang="en-US" dirty="0"/>
              <a:t>This improvement is especially valuable for large-scale scenarios—such as semantic search, recommendation engines, and AI agent memory—where storing large volumes of embeddings can be costly. Smaller vectors mean lower storage and indexing costs and improved scalability for vector-driven applications.</a:t>
            </a:r>
          </a:p>
          <a:p>
            <a:pPr algn="just"/>
            <a:endParaRPr lang="en-US" dirty="0"/>
          </a:p>
        </p:txBody>
      </p:sp>
      <p:sp>
        <p:nvSpPr>
          <p:cNvPr id="11" name="Text Placeholder 10">
            <a:extLst>
              <a:ext uri="{FF2B5EF4-FFF2-40B4-BE49-F238E27FC236}">
                <a16:creationId xmlns:a16="http://schemas.microsoft.com/office/drawing/2014/main" id="{E284B478-0578-E8D1-9B5E-D50BDB6182D1}"/>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405766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E7A5555-3FE8-6B3E-93FD-BC41458DF271}"/>
              </a:ext>
            </a:extLst>
          </p:cNvPr>
          <p:cNvSpPr>
            <a:spLocks noGrp="1"/>
          </p:cNvSpPr>
          <p:nvPr>
            <p:ph type="body" sz="quarter" idx="10"/>
          </p:nvPr>
        </p:nvSpPr>
        <p:spPr/>
        <p:txBody>
          <a:bodyPr/>
          <a:lstStyle/>
          <a:p>
            <a:pPr algn="just"/>
            <a:r>
              <a:rPr lang="en-US" sz="1000" dirty="0">
                <a:hlinkClick r:id="rId2"/>
              </a:rPr>
              <a:t>Public Preview: Azure Database for PostgreSQL – Flexible Server v6 series VMs and AMD v6 Confidential Compute</a:t>
            </a:r>
            <a:endParaRPr lang="en-US" sz="1000" dirty="0"/>
          </a:p>
          <a:p>
            <a:pPr algn="just"/>
            <a:r>
              <a:rPr lang="en-US" sz="1000" dirty="0"/>
              <a:t>Organizations can now deploy </a:t>
            </a:r>
            <a:r>
              <a:rPr lang="en-US" sz="1000" b="1" dirty="0"/>
              <a:t>general purpose</a:t>
            </a:r>
            <a:r>
              <a:rPr lang="en-US" sz="1000" dirty="0"/>
              <a:t> and </a:t>
            </a:r>
            <a:r>
              <a:rPr lang="en-US" sz="1000" b="1" dirty="0"/>
              <a:t>memory-optimized v6-series Azure Virtual Machines with local </a:t>
            </a:r>
            <a:r>
              <a:rPr lang="en-US" sz="1000" b="1" dirty="0" err="1"/>
              <a:t>NVMe</a:t>
            </a:r>
            <a:r>
              <a:rPr lang="en-US" sz="1000" b="1" dirty="0"/>
              <a:t> storage</a:t>
            </a:r>
            <a:r>
              <a:rPr lang="en-US" sz="1000" dirty="0"/>
              <a:t> for </a:t>
            </a:r>
            <a:r>
              <a:rPr lang="en-US" sz="1000" b="1" dirty="0"/>
              <a:t>Azure Database for PostgreSQL Flexible Server</a:t>
            </a:r>
            <a:r>
              <a:rPr lang="en-US" sz="1000" dirty="0"/>
              <a:t>. The v6-series offers a choice of either </a:t>
            </a:r>
            <a:r>
              <a:rPr lang="en-US" sz="1000" b="1" dirty="0"/>
              <a:t>Intel</a:t>
            </a:r>
            <a:r>
              <a:rPr lang="en-US" sz="1000" dirty="0"/>
              <a:t> or </a:t>
            </a:r>
            <a:r>
              <a:rPr lang="en-US" sz="1000" b="1" dirty="0"/>
              <a:t>AMD</a:t>
            </a:r>
            <a:r>
              <a:rPr lang="en-US" sz="1000" dirty="0"/>
              <a:t> processors, providing greater flexibility and performance options for PostgreSQL workloads.</a:t>
            </a:r>
          </a:p>
        </p:txBody>
      </p:sp>
      <p:sp>
        <p:nvSpPr>
          <p:cNvPr id="3" name="Title 2">
            <a:extLst>
              <a:ext uri="{FF2B5EF4-FFF2-40B4-BE49-F238E27FC236}">
                <a16:creationId xmlns:a16="http://schemas.microsoft.com/office/drawing/2014/main" id="{EAC12BD8-BAA6-3531-CECB-63FB06D49E4B}"/>
              </a:ext>
            </a:extLst>
          </p:cNvPr>
          <p:cNvSpPr>
            <a:spLocks noGrp="1"/>
          </p:cNvSpPr>
          <p:nvPr>
            <p:ph type="title"/>
          </p:nvPr>
        </p:nvSpPr>
        <p:spPr/>
        <p:txBody>
          <a:bodyPr/>
          <a:lstStyle/>
          <a:p>
            <a:r>
              <a:rPr lang="en-US" sz="1600" dirty="0"/>
              <a:t>Databases Updates (Azure Database for PostgreSQL) 1/5 </a:t>
            </a:r>
            <a:endParaRPr lang="en-US" dirty="0"/>
          </a:p>
        </p:txBody>
      </p:sp>
      <p:sp>
        <p:nvSpPr>
          <p:cNvPr id="4" name="Text Placeholder 3">
            <a:extLst>
              <a:ext uri="{FF2B5EF4-FFF2-40B4-BE49-F238E27FC236}">
                <a16:creationId xmlns:a16="http://schemas.microsoft.com/office/drawing/2014/main" id="{B6C15CF2-3D28-E583-2487-185A863D4F34}"/>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21092C1C-7E76-988F-A215-400A03589DCD}"/>
              </a:ext>
            </a:extLst>
          </p:cNvPr>
          <p:cNvSpPr>
            <a:spLocks noGrp="1"/>
          </p:cNvSpPr>
          <p:nvPr>
            <p:ph type="body" sz="quarter" idx="16"/>
          </p:nvPr>
        </p:nvSpPr>
        <p:spPr/>
        <p:txBody>
          <a:bodyPr/>
          <a:lstStyle/>
          <a:p>
            <a:pPr algn="just"/>
            <a:r>
              <a:rPr lang="en-US" dirty="0">
                <a:hlinkClick r:id="rId3"/>
              </a:rPr>
              <a:t>Public Preview: Native Microsoft Foundry support for Azure Database for PostgreSQL</a:t>
            </a:r>
            <a:endParaRPr lang="en-US" dirty="0"/>
          </a:p>
          <a:p>
            <a:pPr algn="just"/>
            <a:r>
              <a:rPr lang="en-US" dirty="0"/>
              <a:t>Microsoft has announced the public preview of </a:t>
            </a:r>
            <a:r>
              <a:rPr lang="en-US" b="1" dirty="0"/>
              <a:t>Microsoft Foundry support for Azure Database for PostgreSQL</a:t>
            </a:r>
            <a:r>
              <a:rPr lang="en-US" dirty="0"/>
              <a:t>, with the Azure PostgreSQL MCP Server now natively integrated into Microsoft Foundry.</a:t>
            </a:r>
          </a:p>
          <a:p>
            <a:pPr algn="just"/>
            <a:r>
              <a:rPr lang="en-US" dirty="0"/>
              <a:t>This integration enables organizations to build AI agents that can securely query and analyze PostgreSQL data using natural language, with capabilities such as data retrieval, vector search, schema discovery, and more.</a:t>
            </a:r>
          </a:p>
          <a:p>
            <a:pPr algn="just"/>
            <a:r>
              <a:rPr lang="en-US" dirty="0"/>
              <a:t>Backed by enterprise-grade security through Microsoft Entra ID—and compatible with row-level access controls—the release accelerates secure AI adoption across the organization.</a:t>
            </a:r>
          </a:p>
          <a:p>
            <a:pPr algn="just"/>
            <a:r>
              <a:rPr lang="en-US" dirty="0"/>
              <a:t>Onboarding can be completed within minutes using the Microsoft Foundry SDK or the Microsoft Agent Framework to build agents that interact with the Azure Database for PostgreSQL MCP Server. For enhanced data protection, organizations also have the option to self-host the MCP Server using Azure Container Apps or Azure Functions within their own Azure subscriptions and virtual networks.</a:t>
            </a:r>
          </a:p>
          <a:p>
            <a:pPr algn="just"/>
            <a:endParaRPr lang="en-US" dirty="0"/>
          </a:p>
        </p:txBody>
      </p:sp>
    </p:spTree>
    <p:extLst>
      <p:ext uri="{BB962C8B-B14F-4D97-AF65-F5344CB8AC3E}">
        <p14:creationId xmlns:p14="http://schemas.microsoft.com/office/powerpoint/2010/main" val="1319435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B29319-3C2B-2FF0-04E4-5F89F96A0B1A}"/>
              </a:ext>
            </a:extLst>
          </p:cNvPr>
          <p:cNvSpPr>
            <a:spLocks noGrp="1"/>
          </p:cNvSpPr>
          <p:nvPr>
            <p:ph type="title"/>
          </p:nvPr>
        </p:nvSpPr>
        <p:spPr/>
        <p:txBody>
          <a:bodyPr/>
          <a:lstStyle/>
          <a:p>
            <a:r>
              <a:rPr lang="en-US" sz="1800" dirty="0"/>
              <a:t>Databases Updates (Azure Database for PostgreSQL) 2/5 </a:t>
            </a:r>
            <a:endParaRPr lang="en-US" dirty="0"/>
          </a:p>
        </p:txBody>
      </p:sp>
      <p:sp>
        <p:nvSpPr>
          <p:cNvPr id="4" name="Text Placeholder 3">
            <a:extLst>
              <a:ext uri="{FF2B5EF4-FFF2-40B4-BE49-F238E27FC236}">
                <a16:creationId xmlns:a16="http://schemas.microsoft.com/office/drawing/2014/main" id="{905FB0EC-54AD-FB9D-308C-6B8CFD9C8003}"/>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55E3AFC3-51FF-C7B9-76FC-A6D27CBC0DB7}"/>
              </a:ext>
            </a:extLst>
          </p:cNvPr>
          <p:cNvSpPr>
            <a:spLocks noGrp="1"/>
          </p:cNvSpPr>
          <p:nvPr>
            <p:ph type="body" sz="quarter" idx="16"/>
          </p:nvPr>
        </p:nvSpPr>
        <p:spPr/>
        <p:txBody>
          <a:bodyPr/>
          <a:lstStyle/>
          <a:p>
            <a:pPr algn="just"/>
            <a:r>
              <a:rPr lang="en-US" dirty="0">
                <a:hlinkClick r:id="rId2"/>
              </a:rPr>
              <a:t>Generally Available: Elastic clusters on Azure Database for PostgreSQL – Flexible Server</a:t>
            </a:r>
            <a:endParaRPr lang="en-US" dirty="0"/>
          </a:p>
          <a:p>
            <a:pPr algn="just"/>
            <a:r>
              <a:rPr lang="en-US" dirty="0"/>
              <a:t>Elastic clusters are now available to horizontally scale </a:t>
            </a:r>
            <a:r>
              <a:rPr lang="en-US" b="1" dirty="0"/>
              <a:t>Azure Database for PostgreSQL using both row-based and schema-based sharding. </a:t>
            </a:r>
            <a:r>
              <a:rPr lang="en-US" dirty="0"/>
              <a:t>This capability simplifies the development of multitenant applications by delegating shard management and operational tasks—such as tenant isolation, shard splitting, and online rebalancing—to the service.</a:t>
            </a:r>
          </a:p>
          <a:p>
            <a:pPr algn="just"/>
            <a:r>
              <a:rPr lang="en-US" b="1" dirty="0"/>
              <a:t>Row-based sharding is well suited for multitenant SaaS scenarios, distributing tenants as rows within a cluster-wide table to increase density and improve per-tenant margins. Schema-based sharding</a:t>
            </a:r>
            <a:r>
              <a:rPr lang="en-US" dirty="0"/>
              <a:t>, on the other hand, is ideal for microservices architectures and lift-and-shift migrations, providing greater flexibility to customize schemas for individual tenants.</a:t>
            </a:r>
          </a:p>
        </p:txBody>
      </p:sp>
      <p:sp>
        <p:nvSpPr>
          <p:cNvPr id="6" name="Text Placeholder 4">
            <a:extLst>
              <a:ext uri="{FF2B5EF4-FFF2-40B4-BE49-F238E27FC236}">
                <a16:creationId xmlns:a16="http://schemas.microsoft.com/office/drawing/2014/main" id="{F727EBCC-B8AD-3A17-3B48-EB50C841D45E}"/>
              </a:ext>
            </a:extLst>
          </p:cNvPr>
          <p:cNvSpPr txBox="1">
            <a:spLocks/>
          </p:cNvSpPr>
          <p:nvPr/>
        </p:nvSpPr>
        <p:spPr>
          <a:xfrm>
            <a:off x="4570857" y="855080"/>
            <a:ext cx="3955312"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dirty="0">
                <a:hlinkClick r:id="rId3"/>
              </a:rPr>
              <a:t>Generally Available: Azure Database for PostgreSQL storage extension support for Parquet</a:t>
            </a:r>
            <a:endParaRPr lang="en-US" dirty="0"/>
          </a:p>
          <a:p>
            <a:pPr algn="just"/>
            <a:r>
              <a:rPr lang="en-US" dirty="0"/>
              <a:t>Azure Database for PostgreSQL – Flexible Server now supports the </a:t>
            </a:r>
            <a:r>
              <a:rPr lang="en-US" b="1" dirty="0"/>
              <a:t>Azure Storage extension</a:t>
            </a:r>
            <a:r>
              <a:rPr lang="en-US" dirty="0"/>
              <a:t> with </a:t>
            </a:r>
            <a:r>
              <a:rPr lang="en-US" b="1" dirty="0"/>
              <a:t>Parquet format</a:t>
            </a:r>
            <a:r>
              <a:rPr lang="en-US" dirty="0"/>
              <a:t> and multiple </a:t>
            </a:r>
            <a:r>
              <a:rPr lang="en-US" b="1" dirty="0"/>
              <a:t>compression options</a:t>
            </a:r>
            <a:r>
              <a:rPr lang="en-US" dirty="0"/>
              <a:t>.</a:t>
            </a:r>
            <a:br>
              <a:rPr lang="en-US" dirty="0"/>
            </a:br>
            <a:r>
              <a:rPr lang="en-US" dirty="0"/>
              <a:t>This update enables PostgreSQL to </a:t>
            </a:r>
            <a:r>
              <a:rPr lang="en-US" b="1" dirty="0"/>
              <a:t>directly read and write Parquet files</a:t>
            </a:r>
            <a:r>
              <a:rPr lang="en-US" dirty="0"/>
              <a:t>, delivering faster data exchange with analytics systems and more efficient cloud storage usage.</a:t>
            </a:r>
          </a:p>
          <a:p>
            <a:pPr algn="just"/>
            <a:r>
              <a:rPr lang="en-US" dirty="0"/>
              <a:t>With Parquet and compression support, teams can:</a:t>
            </a:r>
          </a:p>
          <a:p>
            <a:pPr marL="171450" indent="-171450" algn="just">
              <a:buFont typeface="Arial" panose="020B0604020202020204" pitchFamily="34" charset="0"/>
              <a:buChar char="•"/>
            </a:pPr>
            <a:r>
              <a:rPr lang="en-US" dirty="0"/>
              <a:t>Streamline data pipelines by interacting with Azure Storage without external ETL tools</a:t>
            </a:r>
          </a:p>
          <a:p>
            <a:pPr marL="171450" indent="-171450" algn="just">
              <a:buFont typeface="Arial" panose="020B0604020202020204" pitchFamily="34" charset="0"/>
              <a:buChar char="•"/>
            </a:pPr>
            <a:r>
              <a:rPr lang="en-US" dirty="0"/>
              <a:t>Improve performance for large analytical and bulk-processing workloads</a:t>
            </a:r>
          </a:p>
          <a:p>
            <a:pPr marL="171450" indent="-171450" algn="just">
              <a:buFont typeface="Arial" panose="020B0604020202020204" pitchFamily="34" charset="0"/>
              <a:buChar char="•"/>
            </a:pPr>
            <a:r>
              <a:rPr lang="en-US" dirty="0"/>
              <a:t>Reduce storage costs through highly efficient Parquet compression</a:t>
            </a:r>
          </a:p>
          <a:p>
            <a:pPr algn="just"/>
            <a:r>
              <a:rPr lang="en-US" dirty="0"/>
              <a:t>All of this is now possible </a:t>
            </a:r>
            <a:r>
              <a:rPr lang="en-US" b="1" dirty="0"/>
              <a:t>directly within PostgreSQL</a:t>
            </a:r>
            <a:r>
              <a:rPr lang="en-US" dirty="0"/>
              <a:t>, simplifying architectures and boosting efficiency.</a:t>
            </a:r>
          </a:p>
        </p:txBody>
      </p:sp>
    </p:spTree>
    <p:extLst>
      <p:ext uri="{BB962C8B-B14F-4D97-AF65-F5344CB8AC3E}">
        <p14:creationId xmlns:p14="http://schemas.microsoft.com/office/powerpoint/2010/main" val="4103698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654A72F-A8E5-006A-00F3-E5FA465C9A50}"/>
              </a:ext>
            </a:extLst>
          </p:cNvPr>
          <p:cNvSpPr>
            <a:spLocks noGrp="1"/>
          </p:cNvSpPr>
          <p:nvPr>
            <p:ph type="body" sz="quarter" idx="10"/>
          </p:nvPr>
        </p:nvSpPr>
        <p:spPr/>
        <p:txBody>
          <a:bodyPr/>
          <a:lstStyle/>
          <a:p>
            <a:r>
              <a:rPr lang="en-US" sz="1000" dirty="0">
                <a:hlinkClick r:id="rId2"/>
              </a:rPr>
              <a:t>Generally Available: Azure Database for PostgreSQL – Flexible Server anon extension</a:t>
            </a:r>
            <a:endParaRPr lang="en-US" sz="1000" dirty="0"/>
          </a:p>
          <a:p>
            <a:r>
              <a:rPr lang="en-US" sz="1000" dirty="0"/>
              <a:t>The anon extension is now generally available in </a:t>
            </a:r>
            <a:r>
              <a:rPr lang="en-US" sz="1000" b="1" dirty="0"/>
              <a:t>Azure Database for PostgreSQL Flexible Server. </a:t>
            </a:r>
            <a:r>
              <a:rPr lang="en-US" sz="1000" dirty="0"/>
              <a:t>This extension delivers built-in data anonymization capabilities, enabling organizations to protect sensitive information while maintaining data utility for analytics, testing, and development scenarios.</a:t>
            </a:r>
          </a:p>
        </p:txBody>
      </p:sp>
      <p:sp>
        <p:nvSpPr>
          <p:cNvPr id="3" name="Title 2">
            <a:extLst>
              <a:ext uri="{FF2B5EF4-FFF2-40B4-BE49-F238E27FC236}">
                <a16:creationId xmlns:a16="http://schemas.microsoft.com/office/drawing/2014/main" id="{63EB1488-CBE0-305B-F360-4195B9F946AC}"/>
              </a:ext>
            </a:extLst>
          </p:cNvPr>
          <p:cNvSpPr>
            <a:spLocks noGrp="1"/>
          </p:cNvSpPr>
          <p:nvPr>
            <p:ph type="title"/>
          </p:nvPr>
        </p:nvSpPr>
        <p:spPr/>
        <p:txBody>
          <a:bodyPr/>
          <a:lstStyle/>
          <a:p>
            <a:r>
              <a:rPr lang="en-US" sz="1800" dirty="0"/>
              <a:t>Databases Updates (Azure Database for PostgreSQL) 3/5 </a:t>
            </a:r>
            <a:endParaRPr lang="en-US" dirty="0"/>
          </a:p>
        </p:txBody>
      </p:sp>
      <p:sp>
        <p:nvSpPr>
          <p:cNvPr id="4" name="Text Placeholder 3">
            <a:extLst>
              <a:ext uri="{FF2B5EF4-FFF2-40B4-BE49-F238E27FC236}">
                <a16:creationId xmlns:a16="http://schemas.microsoft.com/office/drawing/2014/main" id="{2CD165FA-C09C-D82C-D236-618115ABE837}"/>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2D5E2B91-CE70-2DCE-CAAE-9B22C3F861E9}"/>
              </a:ext>
            </a:extLst>
          </p:cNvPr>
          <p:cNvSpPr>
            <a:spLocks noGrp="1"/>
          </p:cNvSpPr>
          <p:nvPr>
            <p:ph type="body" sz="quarter" idx="16"/>
          </p:nvPr>
        </p:nvSpPr>
        <p:spPr/>
        <p:txBody>
          <a:bodyPr/>
          <a:lstStyle/>
          <a:p>
            <a:pPr algn="just"/>
            <a:r>
              <a:rPr lang="en-US" dirty="0">
                <a:hlinkClick r:id="rId3"/>
              </a:rPr>
              <a:t>Generally Available: Mirroring in Fabric for PostgreSQL Flexible Server</a:t>
            </a:r>
            <a:endParaRPr lang="en-US" dirty="0"/>
          </a:p>
          <a:p>
            <a:pPr algn="just"/>
            <a:r>
              <a:rPr lang="en-US" dirty="0"/>
              <a:t>Organizations can now consolidate data and streamline analytics through </a:t>
            </a:r>
            <a:r>
              <a:rPr lang="en-US" b="1" dirty="0"/>
              <a:t>Microsoft Fabric mirroring for Azure Database for PostgreSQL Flexible Server, </a:t>
            </a:r>
            <a:r>
              <a:rPr lang="en-US" dirty="0"/>
              <a:t>which is now generally available. This capability centralizes data </a:t>
            </a:r>
            <a:r>
              <a:rPr lang="en-US" b="1" dirty="0"/>
              <a:t>in </a:t>
            </a:r>
            <a:r>
              <a:rPr lang="en-US" b="1" dirty="0" err="1"/>
              <a:t>OneLake</a:t>
            </a:r>
            <a:r>
              <a:rPr lang="en-US" b="1" dirty="0"/>
              <a:t> and supports network-isolated PostgreSQL servers configured with virtual networks, private endpoints, or high-availability setups.</a:t>
            </a:r>
          </a:p>
          <a:p>
            <a:pPr algn="just"/>
            <a:r>
              <a:rPr lang="en-US" dirty="0"/>
              <a:t>To enhance application integration with actionable business insights, data from multiple sources can be joined seamlessly, with one-click connectivity to Microsoft Power BI. For faster and more efficient analytical performance, mirrored data can also be optimized using Delta Lake table features.</a:t>
            </a:r>
          </a:p>
        </p:txBody>
      </p:sp>
    </p:spTree>
    <p:extLst>
      <p:ext uri="{BB962C8B-B14F-4D97-AF65-F5344CB8AC3E}">
        <p14:creationId xmlns:p14="http://schemas.microsoft.com/office/powerpoint/2010/main" val="919761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2526E4D-A66B-B0D7-DAD8-958A86B483B3}"/>
              </a:ext>
            </a:extLst>
          </p:cNvPr>
          <p:cNvSpPr>
            <a:spLocks noGrp="1"/>
          </p:cNvSpPr>
          <p:nvPr>
            <p:ph type="body" sz="quarter" idx="10"/>
          </p:nvPr>
        </p:nvSpPr>
        <p:spPr/>
        <p:txBody>
          <a:bodyPr/>
          <a:lstStyle/>
          <a:p>
            <a:pPr algn="just"/>
            <a:r>
              <a:rPr lang="en-US" sz="1000" dirty="0">
                <a:hlinkClick r:id="rId2"/>
              </a:rPr>
              <a:t>Generally Available: 2025 REST API for Azure Database for PostgreSQL</a:t>
            </a:r>
            <a:endParaRPr lang="en-US" sz="1000" dirty="0"/>
          </a:p>
          <a:p>
            <a:pPr algn="just"/>
            <a:r>
              <a:rPr lang="en-US" sz="1000" dirty="0"/>
              <a:t>Microsoft has announced the </a:t>
            </a:r>
            <a:r>
              <a:rPr lang="en-US" sz="1000" b="1" dirty="0"/>
              <a:t>general availability of the 2025 REST API for Azure Database for PostgreSQL</a:t>
            </a:r>
            <a:r>
              <a:rPr lang="en-US" sz="1000" dirty="0"/>
              <a:t>. This release introduces support for </a:t>
            </a:r>
            <a:r>
              <a:rPr lang="en-US" sz="1000" b="1" dirty="0"/>
              <a:t>PostgreSQL 17 and 18</a:t>
            </a:r>
            <a:r>
              <a:rPr lang="en-US" sz="1000" dirty="0"/>
              <a:t>, enabling organizations to adopt newer engine versions without modifying existing automation workflows. The API also now allows setting a </a:t>
            </a:r>
            <a:r>
              <a:rPr lang="en-US" sz="1000" b="1" dirty="0"/>
              <a:t>default database name for elastic clusters</a:t>
            </a:r>
            <a:r>
              <a:rPr lang="en-US" sz="1000" dirty="0"/>
              <a:t>, improving flexibility in cluster configuration.</a:t>
            </a:r>
          </a:p>
          <a:p>
            <a:pPr algn="just"/>
            <a:r>
              <a:rPr lang="en-US" sz="1000" dirty="0"/>
              <a:t>To enhance the developer experience, operation IDs have been renamed for clearer navigation, and HTTP response codes have been corrected to ensure scripts, automation, and retry logic behave as expected. Security guidance has been strengthened through a new </a:t>
            </a:r>
            <a:r>
              <a:rPr lang="en-US" sz="1000" b="1" dirty="0"/>
              <a:t>customer-managed key (CMK) encryption example</a:t>
            </a:r>
            <a:r>
              <a:rPr lang="en-US" sz="1000" dirty="0"/>
              <a:t>, demonstrating how key versions can be updated automatically.</a:t>
            </a:r>
          </a:p>
          <a:p>
            <a:pPr algn="just"/>
            <a:r>
              <a:rPr lang="en-US" sz="1000" dirty="0"/>
              <a:t>Additional improvements—such as renamed files for accuracy, a reorganized specification structure for easier browsing and diffs, and richer local definition metadata—make the 2025 REST API clearer, safer, and more capable for modern PostgreSQL roadmaps.</a:t>
            </a:r>
          </a:p>
          <a:p>
            <a:pPr algn="just"/>
            <a:endParaRPr lang="en-US" sz="1000" dirty="0"/>
          </a:p>
        </p:txBody>
      </p:sp>
      <p:sp>
        <p:nvSpPr>
          <p:cNvPr id="3" name="Title 2">
            <a:extLst>
              <a:ext uri="{FF2B5EF4-FFF2-40B4-BE49-F238E27FC236}">
                <a16:creationId xmlns:a16="http://schemas.microsoft.com/office/drawing/2014/main" id="{772D4C63-7AF6-0637-D996-68E4E5487EBA}"/>
              </a:ext>
            </a:extLst>
          </p:cNvPr>
          <p:cNvSpPr>
            <a:spLocks noGrp="1"/>
          </p:cNvSpPr>
          <p:nvPr>
            <p:ph type="title"/>
          </p:nvPr>
        </p:nvSpPr>
        <p:spPr/>
        <p:txBody>
          <a:bodyPr/>
          <a:lstStyle/>
          <a:p>
            <a:r>
              <a:rPr lang="en-US" sz="1800" dirty="0"/>
              <a:t>Databases Updates (Azure Database for PostgreSQL) 4/5 </a:t>
            </a:r>
            <a:endParaRPr lang="en-US" dirty="0"/>
          </a:p>
        </p:txBody>
      </p:sp>
      <p:sp>
        <p:nvSpPr>
          <p:cNvPr id="4" name="Text Placeholder 3">
            <a:extLst>
              <a:ext uri="{FF2B5EF4-FFF2-40B4-BE49-F238E27FC236}">
                <a16:creationId xmlns:a16="http://schemas.microsoft.com/office/drawing/2014/main" id="{EB4C6F07-71AF-0675-3175-8B3014ADD89A}"/>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333AA2E5-8FA7-EEBC-3181-F13851F5657E}"/>
              </a:ext>
            </a:extLst>
          </p:cNvPr>
          <p:cNvSpPr>
            <a:spLocks noGrp="1"/>
          </p:cNvSpPr>
          <p:nvPr>
            <p:ph type="body" sz="quarter" idx="16"/>
          </p:nvPr>
        </p:nvSpPr>
        <p:spPr/>
        <p:txBody>
          <a:bodyPr/>
          <a:lstStyle/>
          <a:p>
            <a:pPr algn="just"/>
            <a:r>
              <a:rPr lang="en-US" dirty="0">
                <a:hlinkClick r:id="rId3"/>
              </a:rPr>
              <a:t>Generally Available: PostgreSQL 18 with in-place upgrade on Azure Database for PostgreSQL</a:t>
            </a:r>
            <a:endParaRPr lang="en-US" dirty="0"/>
          </a:p>
          <a:p>
            <a:pPr algn="just"/>
            <a:r>
              <a:rPr lang="en-US" dirty="0"/>
              <a:t>Organizations can now use </a:t>
            </a:r>
            <a:r>
              <a:rPr lang="en-US" b="1" dirty="0"/>
              <a:t>PostgreSQL 18</a:t>
            </a:r>
            <a:r>
              <a:rPr lang="en-US" dirty="0"/>
              <a:t> on Azure Database for PostgreSQL. This release brings the latest PostgreSQL innovations together with seamless </a:t>
            </a:r>
            <a:r>
              <a:rPr lang="en-US" b="1" dirty="0"/>
              <a:t>in-place upgrade</a:t>
            </a:r>
            <a:r>
              <a:rPr lang="en-US" dirty="0"/>
              <a:t> support, enabling upgrades from earlier versions without changing server endpoints, reconfiguring applications, or performing manual data migrations. The result is minimal downtime, reduced operational complexity, and a fully managed path to staying current.</a:t>
            </a:r>
          </a:p>
          <a:p>
            <a:pPr algn="just"/>
            <a:r>
              <a:rPr lang="en-US" dirty="0"/>
              <a:t>PostgreSQL 18 introduces major advancements in performance, scalability, and developer productivity, including asynchronous I/O (AIO) for faster queries, improved vacuuming, UUIDv7 support, enhancements to logical replication, and virtual generated columns for more flexible schema design. By adopting PostgreSQL 18 on Azure Database for PostgreSQL, organizations gain access to the newest community features with enterprise-grade reliability, integrated security, and high availability.</a:t>
            </a:r>
          </a:p>
          <a:p>
            <a:pPr algn="just"/>
            <a:endParaRPr lang="en-US" dirty="0"/>
          </a:p>
          <a:p>
            <a:pPr algn="just"/>
            <a:endParaRPr lang="en-US" dirty="0"/>
          </a:p>
          <a:p>
            <a:pPr algn="just"/>
            <a:endParaRPr lang="en-US" dirty="0"/>
          </a:p>
        </p:txBody>
      </p:sp>
    </p:spTree>
    <p:extLst>
      <p:ext uri="{BB962C8B-B14F-4D97-AF65-F5344CB8AC3E}">
        <p14:creationId xmlns:p14="http://schemas.microsoft.com/office/powerpoint/2010/main" val="32633875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7BEF36-F212-3AAC-C80E-26882FFF2136}"/>
              </a:ext>
            </a:extLst>
          </p:cNvPr>
          <p:cNvSpPr>
            <a:spLocks noGrp="1"/>
          </p:cNvSpPr>
          <p:nvPr>
            <p:ph type="title"/>
          </p:nvPr>
        </p:nvSpPr>
        <p:spPr/>
        <p:txBody>
          <a:bodyPr/>
          <a:lstStyle/>
          <a:p>
            <a:r>
              <a:rPr lang="en-US" sz="1800" dirty="0"/>
              <a:t>Databases Updates (Azure Database for PostgreSQL) 5/5 </a:t>
            </a:r>
            <a:endParaRPr lang="en-US" dirty="0"/>
          </a:p>
        </p:txBody>
      </p:sp>
      <p:sp>
        <p:nvSpPr>
          <p:cNvPr id="4" name="Text Placeholder 3">
            <a:extLst>
              <a:ext uri="{FF2B5EF4-FFF2-40B4-BE49-F238E27FC236}">
                <a16:creationId xmlns:a16="http://schemas.microsoft.com/office/drawing/2014/main" id="{44D0E2FC-A56B-D8B3-BC38-727C64A27411}"/>
              </a:ext>
            </a:extLst>
          </p:cNvPr>
          <p:cNvSpPr>
            <a:spLocks noGrp="1"/>
          </p:cNvSpPr>
          <p:nvPr>
            <p:ph type="body" sz="quarter" idx="15"/>
          </p:nvPr>
        </p:nvSpPr>
        <p:spPr/>
        <p:txBody>
          <a:bodyPr/>
          <a:lstStyle/>
          <a:p>
            <a:endParaRPr lang="en-US"/>
          </a:p>
        </p:txBody>
      </p:sp>
      <p:sp>
        <p:nvSpPr>
          <p:cNvPr id="6" name="Text Placeholder 1">
            <a:extLst>
              <a:ext uri="{FF2B5EF4-FFF2-40B4-BE49-F238E27FC236}">
                <a16:creationId xmlns:a16="http://schemas.microsoft.com/office/drawing/2014/main" id="{6DE127D5-2B26-BE0C-7A3E-6588268A22DB}"/>
              </a:ext>
            </a:extLst>
          </p:cNvPr>
          <p:cNvSpPr txBox="1">
            <a:spLocks/>
          </p:cNvSpPr>
          <p:nvPr/>
        </p:nvSpPr>
        <p:spPr>
          <a:xfrm>
            <a:off x="342900" y="855080"/>
            <a:ext cx="3872639"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2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sz="1000" dirty="0">
                <a:hlinkClick r:id="rId2"/>
              </a:rPr>
              <a:t>Public Preview: Azure Database for PostgreSQL – Flexible Server </a:t>
            </a:r>
            <a:r>
              <a:rPr lang="en-US" sz="1000" dirty="0" err="1">
                <a:hlinkClick r:id="rId2"/>
              </a:rPr>
              <a:t>pg_duckdb</a:t>
            </a:r>
            <a:r>
              <a:rPr lang="en-US" sz="1000" dirty="0">
                <a:hlinkClick r:id="rId2"/>
              </a:rPr>
              <a:t> extension</a:t>
            </a:r>
            <a:endParaRPr lang="en-US" sz="1000" dirty="0"/>
          </a:p>
          <a:p>
            <a:pPr algn="just"/>
            <a:r>
              <a:rPr lang="en-US" sz="1000" dirty="0"/>
              <a:t>Azure Database for PostgreSQL – Flexible Server now supports creating </a:t>
            </a:r>
            <a:r>
              <a:rPr lang="en-US" sz="1000" b="1" dirty="0" err="1"/>
              <a:t>pg_duckdb</a:t>
            </a:r>
            <a:r>
              <a:rPr lang="en-US" sz="1000" b="1" dirty="0"/>
              <a:t> extensions</a:t>
            </a:r>
            <a:r>
              <a:rPr lang="en-US" sz="1000" dirty="0"/>
              <a:t>, allowing organizations to accelerate analytics workloads with </a:t>
            </a:r>
            <a:r>
              <a:rPr lang="en-US" sz="1000" dirty="0" err="1"/>
              <a:t>DuckDB’s</a:t>
            </a:r>
            <a:r>
              <a:rPr lang="en-US" sz="1000" dirty="0"/>
              <a:t> fast, vectorized, columnar execution engine. This integration enables high-performance analytical queries directly inside PostgreSQL, reducing data movement and simplifying analytics pipelines.</a:t>
            </a:r>
          </a:p>
        </p:txBody>
      </p:sp>
    </p:spTree>
    <p:extLst>
      <p:ext uri="{BB962C8B-B14F-4D97-AF65-F5344CB8AC3E}">
        <p14:creationId xmlns:p14="http://schemas.microsoft.com/office/powerpoint/2010/main" val="4059758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38055AB-7B3A-204C-1297-AF80F151EC2C}"/>
              </a:ext>
            </a:extLst>
          </p:cNvPr>
          <p:cNvSpPr>
            <a:spLocks noGrp="1"/>
          </p:cNvSpPr>
          <p:nvPr>
            <p:ph type="body" sz="quarter" idx="10"/>
          </p:nvPr>
        </p:nvSpPr>
        <p:spPr>
          <a:xfrm>
            <a:off x="342899" y="972844"/>
            <a:ext cx="4145973" cy="3774069"/>
          </a:xfrm>
        </p:spPr>
        <p:txBody>
          <a:bodyPr/>
          <a:lstStyle/>
          <a:p>
            <a:pPr algn="just"/>
            <a:r>
              <a:rPr lang="en-US" sz="1000" dirty="0">
                <a:hlinkClick r:id="rId2"/>
              </a:rPr>
              <a:t>Public Preview: Azure SQL change event streaming</a:t>
            </a:r>
            <a:endParaRPr lang="en-US" sz="1000" dirty="0"/>
          </a:p>
          <a:p>
            <a:pPr algn="just"/>
            <a:r>
              <a:rPr lang="en-US" sz="1000" dirty="0"/>
              <a:t>Azure SQL Database now supports </a:t>
            </a:r>
            <a:r>
              <a:rPr lang="en-US" sz="1000" b="1" dirty="0"/>
              <a:t>near real-time data change streaming</a:t>
            </a:r>
            <a:r>
              <a:rPr lang="en-US" sz="1000" dirty="0"/>
              <a:t> directly into </a:t>
            </a:r>
            <a:r>
              <a:rPr lang="en-US" sz="1000" b="1" dirty="0"/>
              <a:t>Azure Event Hubs</a:t>
            </a:r>
            <a:r>
              <a:rPr lang="en-US" sz="1000" dirty="0"/>
              <a:t> with the public preview of </a:t>
            </a:r>
            <a:r>
              <a:rPr lang="en-US" sz="1000" b="1" dirty="0"/>
              <a:t>Change Event Streaming (CES)</a:t>
            </a:r>
            <a:r>
              <a:rPr lang="en-US" sz="1000" dirty="0"/>
              <a:t>. This capability streamlines data integration and enables advanced analytics, event-driven architectures, and the modernization of monolithic applications.</a:t>
            </a:r>
          </a:p>
          <a:p>
            <a:pPr algn="just"/>
            <a:r>
              <a:rPr lang="en-US" sz="1000" dirty="0"/>
              <a:t>By streaming operational data from SQL databases into Azure Event Hubs, organizations can feed real-time dashboards, microservices, and other downstream systems without relying on traditional batch pipelines. Data is extracted from SQL only once and can be consumed by multiple subscribers, reducing polling overhead on operational databases. With changes available on a shared message bus, new consumers can access data more easily, accelerating innovation—including AI-driven solutions.</a:t>
            </a:r>
          </a:p>
          <a:p>
            <a:pPr algn="just"/>
            <a:r>
              <a:rPr lang="en-US" sz="1000" dirty="0"/>
              <a:t>CES delivers </a:t>
            </a:r>
            <a:r>
              <a:rPr lang="en-US" sz="1000" b="1" dirty="0"/>
              <a:t>near real-time latency</a:t>
            </a:r>
            <a:r>
              <a:rPr lang="en-US" sz="1000" dirty="0"/>
              <a:t>, an </a:t>
            </a:r>
            <a:r>
              <a:rPr lang="en-US" sz="1000" b="1" dirty="0"/>
              <a:t>“at least once”</a:t>
            </a:r>
            <a:r>
              <a:rPr lang="en-US" sz="1000" dirty="0"/>
              <a:t> delivery guarantee, and </a:t>
            </a:r>
            <a:r>
              <a:rPr lang="en-US" sz="1000" b="1" dirty="0"/>
              <a:t>minimal impact</a:t>
            </a:r>
            <a:r>
              <a:rPr lang="en-US" sz="1000" dirty="0"/>
              <a:t> on source workloads.</a:t>
            </a:r>
          </a:p>
          <a:p>
            <a:pPr algn="just"/>
            <a:endParaRPr lang="en-US" sz="1000" dirty="0"/>
          </a:p>
        </p:txBody>
      </p:sp>
      <p:sp>
        <p:nvSpPr>
          <p:cNvPr id="3" name="Title 2">
            <a:extLst>
              <a:ext uri="{FF2B5EF4-FFF2-40B4-BE49-F238E27FC236}">
                <a16:creationId xmlns:a16="http://schemas.microsoft.com/office/drawing/2014/main" id="{9AD164F2-A750-454E-FF0B-6D88C480E26A}"/>
              </a:ext>
            </a:extLst>
          </p:cNvPr>
          <p:cNvSpPr>
            <a:spLocks noGrp="1"/>
          </p:cNvSpPr>
          <p:nvPr>
            <p:ph type="title"/>
          </p:nvPr>
        </p:nvSpPr>
        <p:spPr/>
        <p:txBody>
          <a:bodyPr/>
          <a:lstStyle/>
          <a:p>
            <a:r>
              <a:rPr lang="en-US" sz="1600" dirty="0"/>
              <a:t>Databases Updates (Azure SQL) 1/5 </a:t>
            </a:r>
            <a:endParaRPr lang="en-US" dirty="0"/>
          </a:p>
        </p:txBody>
      </p:sp>
      <p:sp>
        <p:nvSpPr>
          <p:cNvPr id="4" name="Text Placeholder 3">
            <a:extLst>
              <a:ext uri="{FF2B5EF4-FFF2-40B4-BE49-F238E27FC236}">
                <a16:creationId xmlns:a16="http://schemas.microsoft.com/office/drawing/2014/main" id="{78402B9B-433C-58CA-B850-E9DB3E31D7D7}"/>
              </a:ext>
            </a:extLst>
          </p:cNvPr>
          <p:cNvSpPr>
            <a:spLocks noGrp="1"/>
          </p:cNvSpPr>
          <p:nvPr>
            <p:ph type="body" sz="quarter" idx="15"/>
          </p:nvPr>
        </p:nvSpPr>
        <p:spPr/>
        <p:txBody>
          <a:bodyPr/>
          <a:lstStyle/>
          <a:p>
            <a:endParaRPr lang="en-US"/>
          </a:p>
        </p:txBody>
      </p:sp>
      <p:sp>
        <p:nvSpPr>
          <p:cNvPr id="8" name="Text Placeholder 11">
            <a:extLst>
              <a:ext uri="{FF2B5EF4-FFF2-40B4-BE49-F238E27FC236}">
                <a16:creationId xmlns:a16="http://schemas.microsoft.com/office/drawing/2014/main" id="{E1FE15C0-EAEC-E6D4-AEAC-82109CB7780D}"/>
              </a:ext>
            </a:extLst>
          </p:cNvPr>
          <p:cNvSpPr txBox="1">
            <a:spLocks/>
          </p:cNvSpPr>
          <p:nvPr/>
        </p:nvSpPr>
        <p:spPr>
          <a:xfrm>
            <a:off x="4655130" y="972843"/>
            <a:ext cx="4365038"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2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sz="1000" dirty="0">
                <a:hlinkClick r:id="rId3"/>
              </a:rPr>
              <a:t>Generally Available: SQL database in Microsoft Fabric</a:t>
            </a:r>
            <a:endParaRPr lang="en-US" sz="1000" dirty="0"/>
          </a:p>
          <a:p>
            <a:pPr algn="just"/>
            <a:r>
              <a:rPr lang="en-US" sz="1000" dirty="0"/>
              <a:t>Built on the trusted SQL Server and Azure SQL Database engine, this fully SaaS-native solution empowers developers</a:t>
            </a:r>
            <a:r>
              <a:rPr lang="en-US" sz="1000" b="1" dirty="0"/>
              <a:t> and data professionals to unify operational and analytical workloads with speed, security</a:t>
            </a:r>
            <a:r>
              <a:rPr lang="en-US" sz="1000" dirty="0"/>
              <a:t>, and AI-powered capabilities.</a:t>
            </a:r>
          </a:p>
          <a:p>
            <a:pPr algn="just"/>
            <a:r>
              <a:rPr lang="en-US" sz="1000" dirty="0"/>
              <a:t>Key highlights include fast provisioning,</a:t>
            </a:r>
            <a:r>
              <a:rPr lang="en-US" sz="1000" b="1" dirty="0"/>
              <a:t> Copilot-powered management, autonomous scaling, enterprise-grade security </a:t>
            </a:r>
            <a:r>
              <a:rPr lang="en-US" sz="1000" dirty="0"/>
              <a:t>(with Customer Managed Keys and SQL Auditing), and native support for AI scenarios like semantic search and RAG</a:t>
            </a:r>
          </a:p>
        </p:txBody>
      </p:sp>
    </p:spTree>
    <p:extLst>
      <p:ext uri="{BB962C8B-B14F-4D97-AF65-F5344CB8AC3E}">
        <p14:creationId xmlns:p14="http://schemas.microsoft.com/office/powerpoint/2010/main" val="1369705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93715-9869-88DC-2CB8-A7701BFB332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9D1DAA-5541-5F8D-D325-1706397A6A43}"/>
              </a:ext>
            </a:extLst>
          </p:cNvPr>
          <p:cNvSpPr>
            <a:spLocks noGrp="1"/>
          </p:cNvSpPr>
          <p:nvPr>
            <p:ph type="body" sz="quarter" idx="10"/>
          </p:nvPr>
        </p:nvSpPr>
        <p:spPr/>
        <p:txBody>
          <a:bodyPr/>
          <a:lstStyle/>
          <a:p>
            <a:pPr algn="just"/>
            <a:r>
              <a:rPr lang="en-US" sz="1000" dirty="0">
                <a:hlinkClick r:id="rId2"/>
              </a:rPr>
              <a:t>Public Preview: Azure SQL updates for November 2025</a:t>
            </a:r>
            <a:endParaRPr lang="en-US" sz="1000" dirty="0"/>
          </a:p>
          <a:p>
            <a:pPr algn="just"/>
            <a:r>
              <a:rPr lang="en-US" sz="1000" dirty="0"/>
              <a:t>In November 2025, several updates and enhancements were introduced to Azure SQL:</a:t>
            </a:r>
          </a:p>
          <a:p>
            <a:pPr marL="171450" indent="-171450" algn="just">
              <a:buFont typeface="Arial" panose="020B0604020202020204" pitchFamily="34" charset="0"/>
              <a:buChar char="•"/>
            </a:pPr>
            <a:r>
              <a:rPr lang="en-US" sz="1000" dirty="0"/>
              <a:t>The </a:t>
            </a:r>
            <a:r>
              <a:rPr lang="en-US" sz="1000" b="1" dirty="0"/>
              <a:t>interactive Edit Data interface</a:t>
            </a:r>
            <a:r>
              <a:rPr lang="en-US" sz="1000" dirty="0"/>
              <a:t> in the MSSQL extension for Visual Studio Code now allows users to view, modify, and insert table rows without manually writing T-SQL.</a:t>
            </a:r>
          </a:p>
          <a:p>
            <a:pPr marL="171450" indent="-171450" algn="just">
              <a:buFont typeface="Arial" panose="020B0604020202020204" pitchFamily="34" charset="0"/>
              <a:buChar char="•"/>
            </a:pPr>
            <a:r>
              <a:rPr lang="en-US" sz="1000" b="1" dirty="0"/>
              <a:t>DACPAC import and export</a:t>
            </a:r>
            <a:r>
              <a:rPr lang="en-US" sz="1000" dirty="0"/>
              <a:t> capabilities were added to the MSSQL extension, enabling developers to apply DACPAC files to new or existing databases or generate new DACPACs from existing databases.</a:t>
            </a:r>
          </a:p>
          <a:p>
            <a:pPr algn="just"/>
            <a:endParaRPr lang="en-US" sz="1000" dirty="0"/>
          </a:p>
        </p:txBody>
      </p:sp>
      <p:sp>
        <p:nvSpPr>
          <p:cNvPr id="11" name="Title 10">
            <a:extLst>
              <a:ext uri="{FF2B5EF4-FFF2-40B4-BE49-F238E27FC236}">
                <a16:creationId xmlns:a16="http://schemas.microsoft.com/office/drawing/2014/main" id="{B05E9534-3C35-9313-C6E7-9E564BDFC466}"/>
              </a:ext>
            </a:extLst>
          </p:cNvPr>
          <p:cNvSpPr>
            <a:spLocks noGrp="1"/>
          </p:cNvSpPr>
          <p:nvPr>
            <p:ph type="title"/>
          </p:nvPr>
        </p:nvSpPr>
        <p:spPr/>
        <p:txBody>
          <a:bodyPr/>
          <a:lstStyle/>
          <a:p>
            <a:r>
              <a:rPr lang="en-US" sz="1800" dirty="0"/>
              <a:t>Databases Updates (Azure SQL) 2/5 </a:t>
            </a:r>
            <a:endParaRPr lang="en-US" dirty="0"/>
          </a:p>
        </p:txBody>
      </p:sp>
      <p:sp>
        <p:nvSpPr>
          <p:cNvPr id="13" name="Text Placeholder 12">
            <a:extLst>
              <a:ext uri="{FF2B5EF4-FFF2-40B4-BE49-F238E27FC236}">
                <a16:creationId xmlns:a16="http://schemas.microsoft.com/office/drawing/2014/main" id="{DE6CD169-A2F9-0F7E-49EE-EC7FAE204B1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510AD9-2A44-5DDF-30FA-DE4500EB2760}"/>
              </a:ext>
            </a:extLst>
          </p:cNvPr>
          <p:cNvSpPr>
            <a:spLocks noGrp="1"/>
          </p:cNvSpPr>
          <p:nvPr>
            <p:ph type="body" sz="quarter" idx="16"/>
          </p:nvPr>
        </p:nvSpPr>
        <p:spPr/>
        <p:txBody>
          <a:bodyPr/>
          <a:lstStyle/>
          <a:p>
            <a:pPr algn="just"/>
            <a:r>
              <a:rPr lang="en-US" dirty="0">
                <a:hlinkClick r:id="rId3"/>
              </a:rPr>
              <a:t>Public Preview: Azure SQL Database </a:t>
            </a:r>
            <a:r>
              <a:rPr lang="en-US" dirty="0" err="1">
                <a:hlinkClick r:id="rId3"/>
              </a:rPr>
              <a:t>DiskANN</a:t>
            </a:r>
            <a:r>
              <a:rPr lang="en-US" dirty="0">
                <a:hlinkClick r:id="rId3"/>
              </a:rPr>
              <a:t> vector indexing</a:t>
            </a:r>
            <a:endParaRPr lang="en-US" dirty="0"/>
          </a:p>
          <a:p>
            <a:pPr algn="just"/>
            <a:r>
              <a:rPr lang="en-US" dirty="0"/>
              <a:t>Microsoft has introduced the </a:t>
            </a:r>
            <a:r>
              <a:rPr lang="en-US" b="1" dirty="0"/>
              <a:t>public preview of vector indexing with </a:t>
            </a:r>
            <a:r>
              <a:rPr lang="en-US" b="1" dirty="0" err="1"/>
              <a:t>DiskANN</a:t>
            </a:r>
            <a:r>
              <a:rPr lang="en-US" dirty="0"/>
              <a:t> in Azure SQL Database, Azure SQL Managed Instance, and SQL Database in Microsoft Fabric.</a:t>
            </a:r>
            <a:br>
              <a:rPr lang="en-US" dirty="0"/>
            </a:br>
            <a:r>
              <a:rPr lang="en-US" dirty="0" err="1"/>
              <a:t>DiskANN</a:t>
            </a:r>
            <a:r>
              <a:rPr lang="en-US" dirty="0"/>
              <a:t> is a high-performance algorithm optimized for large-scale vector similarity search, ideal for scenarios like product recommendations, image search, and multimodal AI applications.</a:t>
            </a:r>
          </a:p>
          <a:p>
            <a:pPr algn="just"/>
            <a:r>
              <a:rPr lang="en-US" dirty="0"/>
              <a:t>Integrated directly into the SQL query engine, </a:t>
            </a:r>
            <a:r>
              <a:rPr lang="en-US" dirty="0" err="1"/>
              <a:t>DiskANN</a:t>
            </a:r>
            <a:r>
              <a:rPr lang="en-US" dirty="0"/>
              <a:t> enables developers to build advanced semantic search and recommendation capabilities without relying on external services. This preview builds on the earlier GA of vector data types and functions, expanding SQL’s built-in AI capabilities for modern applications.</a:t>
            </a:r>
          </a:p>
        </p:txBody>
      </p:sp>
    </p:spTree>
    <p:extLst>
      <p:ext uri="{BB962C8B-B14F-4D97-AF65-F5344CB8AC3E}">
        <p14:creationId xmlns:p14="http://schemas.microsoft.com/office/powerpoint/2010/main" val="580018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B08EA6-0624-6981-305F-89B4E0F5C857}"/>
              </a:ext>
            </a:extLst>
          </p:cNvPr>
          <p:cNvSpPr>
            <a:spLocks noGrp="1"/>
          </p:cNvSpPr>
          <p:nvPr>
            <p:ph type="title"/>
          </p:nvPr>
        </p:nvSpPr>
        <p:spPr/>
        <p:txBody>
          <a:bodyPr/>
          <a:lstStyle/>
          <a:p>
            <a:r>
              <a:rPr lang="en-US" sz="1600" dirty="0"/>
              <a:t>Databases Updates (Azure SQL) 3/5 </a:t>
            </a:r>
            <a:endParaRPr lang="en-US" dirty="0"/>
          </a:p>
        </p:txBody>
      </p:sp>
      <p:sp>
        <p:nvSpPr>
          <p:cNvPr id="4" name="Text Placeholder 3">
            <a:extLst>
              <a:ext uri="{FF2B5EF4-FFF2-40B4-BE49-F238E27FC236}">
                <a16:creationId xmlns:a16="http://schemas.microsoft.com/office/drawing/2014/main" id="{198B9477-30C0-E83F-42E7-34720EBE85AF}"/>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F0BE189E-A027-8AC5-5A95-FB5F0F952C93}"/>
              </a:ext>
            </a:extLst>
          </p:cNvPr>
          <p:cNvSpPr>
            <a:spLocks noGrp="1"/>
          </p:cNvSpPr>
          <p:nvPr>
            <p:ph type="body" sz="quarter" idx="16"/>
          </p:nvPr>
        </p:nvSpPr>
        <p:spPr/>
        <p:txBody>
          <a:bodyPr/>
          <a:lstStyle/>
          <a:p>
            <a:r>
              <a:rPr lang="en-US" dirty="0">
                <a:hlinkClick r:id="rId2"/>
              </a:rPr>
              <a:t>Generally Available: Microsoft Python driver for SQL Server</a:t>
            </a:r>
            <a:endParaRPr lang="en-US" dirty="0"/>
          </a:p>
          <a:p>
            <a:r>
              <a:rPr lang="en-US" dirty="0"/>
              <a:t>Microsoft has announced the </a:t>
            </a:r>
            <a:r>
              <a:rPr lang="en-US" b="1" dirty="0"/>
              <a:t>general availability of the </a:t>
            </a:r>
            <a:r>
              <a:rPr lang="en-US" b="1" dirty="0" err="1"/>
              <a:t>mssql</a:t>
            </a:r>
            <a:r>
              <a:rPr lang="en-US" b="1" dirty="0"/>
              <a:t>-python driver</a:t>
            </a:r>
            <a:r>
              <a:rPr lang="en-US" dirty="0"/>
              <a:t>, delivering a modern, high-performance, and developer-friendly experience for Python applications connecting to </a:t>
            </a:r>
            <a:r>
              <a:rPr lang="en-US" b="1" dirty="0"/>
              <a:t>SQL Server</a:t>
            </a:r>
            <a:r>
              <a:rPr lang="en-US" dirty="0"/>
              <a:t>, </a:t>
            </a:r>
            <a:r>
              <a:rPr lang="en-US" b="1" dirty="0"/>
              <a:t>Azure SQL Database</a:t>
            </a:r>
            <a:r>
              <a:rPr lang="en-US" dirty="0"/>
              <a:t>, and </a:t>
            </a:r>
            <a:r>
              <a:rPr lang="en-US" b="1" dirty="0"/>
              <a:t>SQL databases in Microsoft Fabric</a:t>
            </a:r>
            <a:r>
              <a:rPr lang="en-US" dirty="0"/>
              <a:t>.</a:t>
            </a:r>
            <a:br>
              <a:rPr lang="en-US" dirty="0"/>
            </a:br>
            <a:r>
              <a:rPr lang="en-US" dirty="0"/>
              <a:t>This GA release provides improved performance, enhanced reliability, and a more intuitive API, making it easier for Python developers to build data-driven and AI-enabled applications on Microsoft’s SQL platforms.</a:t>
            </a:r>
          </a:p>
        </p:txBody>
      </p:sp>
      <p:sp>
        <p:nvSpPr>
          <p:cNvPr id="6" name="Text Placeholder 1">
            <a:extLst>
              <a:ext uri="{FF2B5EF4-FFF2-40B4-BE49-F238E27FC236}">
                <a16:creationId xmlns:a16="http://schemas.microsoft.com/office/drawing/2014/main" id="{BE9DD9A5-3274-B255-DC5F-E7C2D929FBAE}"/>
              </a:ext>
            </a:extLst>
          </p:cNvPr>
          <p:cNvSpPr>
            <a:spLocks noGrp="1"/>
          </p:cNvSpPr>
          <p:nvPr>
            <p:ph type="body" sz="quarter" idx="10"/>
          </p:nvPr>
        </p:nvSpPr>
        <p:spPr>
          <a:xfrm>
            <a:off x="4433776" y="855080"/>
            <a:ext cx="4365038" cy="3774069"/>
          </a:xfrm>
        </p:spPr>
        <p:txBody>
          <a:bodyPr/>
          <a:lstStyle/>
          <a:p>
            <a:pPr algn="just"/>
            <a:r>
              <a:rPr lang="en-US" sz="1000" dirty="0">
                <a:hlinkClick r:id="rId3"/>
              </a:rPr>
              <a:t>Generally Available: Azure SQL Database long-term retention (LTR) backup immutability</a:t>
            </a:r>
            <a:endParaRPr lang="en-US" sz="1000" dirty="0"/>
          </a:p>
          <a:p>
            <a:pPr algn="just"/>
            <a:r>
              <a:rPr lang="en-US" sz="1000" dirty="0"/>
              <a:t>Azure SQL Database now supports </a:t>
            </a:r>
            <a:r>
              <a:rPr lang="en-US" sz="1000" b="1" dirty="0"/>
              <a:t>immutability for long-term retention (LTR) backups</a:t>
            </a:r>
            <a:r>
              <a:rPr lang="en-US" sz="1000" dirty="0"/>
              <a:t>, helping organizations meet strict compliance and regulatory requirements.</a:t>
            </a:r>
            <a:br>
              <a:rPr lang="en-US" sz="1000" dirty="0"/>
            </a:br>
            <a:r>
              <a:rPr lang="en-US" sz="1000" dirty="0"/>
              <a:t>When immutability is enabled, LTR backups </a:t>
            </a:r>
            <a:r>
              <a:rPr lang="en-US" sz="1000" b="1" dirty="0"/>
              <a:t>cannot be altered or deleted</a:t>
            </a:r>
            <a:r>
              <a:rPr lang="en-US" sz="1000" dirty="0"/>
              <a:t> until the retention period expires, protecting data integrity and reducing the risk of ransomware, accidental deletion, or malicious tampering throughout the full backup lifecycle.</a:t>
            </a:r>
          </a:p>
        </p:txBody>
      </p:sp>
    </p:spTree>
    <p:extLst>
      <p:ext uri="{BB962C8B-B14F-4D97-AF65-F5344CB8AC3E}">
        <p14:creationId xmlns:p14="http://schemas.microsoft.com/office/powerpoint/2010/main" val="2441241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2A54E74-4CB8-FB50-96B8-EFB16A127D36}"/>
              </a:ext>
            </a:extLst>
          </p:cNvPr>
          <p:cNvSpPr>
            <a:spLocks noGrp="1"/>
          </p:cNvSpPr>
          <p:nvPr>
            <p:ph type="body" sz="quarter" idx="10"/>
          </p:nvPr>
        </p:nvSpPr>
        <p:spPr/>
        <p:txBody>
          <a:bodyPr/>
          <a:lstStyle/>
          <a:p>
            <a:pPr algn="just"/>
            <a:r>
              <a:rPr lang="en-US" sz="1000" dirty="0">
                <a:hlinkClick r:id="rId2"/>
              </a:rPr>
              <a:t>Generally </a:t>
            </a:r>
            <a:r>
              <a:rPr lang="en-US" sz="1000" dirty="0" err="1">
                <a:hlinkClick r:id="rId2"/>
              </a:rPr>
              <a:t>Availabe</a:t>
            </a:r>
            <a:r>
              <a:rPr lang="en-US" sz="1000" dirty="0">
                <a:hlinkClick r:id="rId2"/>
              </a:rPr>
              <a:t>: SQL Server 2025</a:t>
            </a:r>
            <a:endParaRPr lang="en-US" sz="1000" dirty="0"/>
          </a:p>
          <a:p>
            <a:pPr algn="just"/>
            <a:r>
              <a:rPr lang="en-US" sz="1000" b="1" dirty="0"/>
              <a:t>SQL Server 2025 is now generally available</a:t>
            </a:r>
            <a:r>
              <a:rPr lang="en-US" sz="1000" dirty="0"/>
              <a:t>, bringing integrated AI capabilities and deeper interoperability with Microsoft Fabric and Azure.</a:t>
            </a:r>
            <a:br>
              <a:rPr lang="en-US" sz="1000" dirty="0"/>
            </a:br>
            <a:r>
              <a:rPr lang="en-US" sz="1000" dirty="0"/>
              <a:t>This release boosts developer productivity with enhanced T-SQL features, improves performance with intelligent query processing and optimized concurrency, and strengthens security through Microsoft Entra–based identity management.</a:t>
            </a:r>
          </a:p>
          <a:p>
            <a:pPr algn="just"/>
            <a:r>
              <a:rPr lang="en-US" sz="1000" dirty="0"/>
              <a:t>Built for hybrid environments—on-premises, multi-cloud, and edge—SQL Server 2025 delivers enterprise-grade reliability and compliance while enabling advanced, AI-driven workloads.</a:t>
            </a:r>
          </a:p>
          <a:p>
            <a:pPr algn="just"/>
            <a:endParaRPr lang="en-US" sz="1000" dirty="0"/>
          </a:p>
        </p:txBody>
      </p:sp>
      <p:sp>
        <p:nvSpPr>
          <p:cNvPr id="3" name="Title 2">
            <a:extLst>
              <a:ext uri="{FF2B5EF4-FFF2-40B4-BE49-F238E27FC236}">
                <a16:creationId xmlns:a16="http://schemas.microsoft.com/office/drawing/2014/main" id="{23ADC052-BA46-6C78-C6F4-9139E80B2B95}"/>
              </a:ext>
            </a:extLst>
          </p:cNvPr>
          <p:cNvSpPr>
            <a:spLocks noGrp="1"/>
          </p:cNvSpPr>
          <p:nvPr>
            <p:ph type="title"/>
          </p:nvPr>
        </p:nvSpPr>
        <p:spPr/>
        <p:txBody>
          <a:bodyPr/>
          <a:lstStyle/>
          <a:p>
            <a:r>
              <a:rPr lang="en-US" sz="1600" dirty="0"/>
              <a:t>Databases Updates (Azure SQL) 4/5 </a:t>
            </a:r>
            <a:endParaRPr lang="en-US" dirty="0"/>
          </a:p>
        </p:txBody>
      </p:sp>
      <p:sp>
        <p:nvSpPr>
          <p:cNvPr id="4" name="Text Placeholder 3">
            <a:extLst>
              <a:ext uri="{FF2B5EF4-FFF2-40B4-BE49-F238E27FC236}">
                <a16:creationId xmlns:a16="http://schemas.microsoft.com/office/drawing/2014/main" id="{77E705D7-68F7-5EB2-58D3-675F71DD97E9}"/>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FC11D12F-EFD3-D2FD-F70A-3E7C696CA6EE}"/>
              </a:ext>
            </a:extLst>
          </p:cNvPr>
          <p:cNvSpPr>
            <a:spLocks noGrp="1"/>
          </p:cNvSpPr>
          <p:nvPr>
            <p:ph type="body" sz="quarter" idx="16"/>
          </p:nvPr>
        </p:nvSpPr>
        <p:spPr/>
        <p:txBody>
          <a:bodyPr/>
          <a:lstStyle/>
          <a:p>
            <a:pPr algn="just"/>
            <a:r>
              <a:rPr lang="en-US" dirty="0">
                <a:hlinkClick r:id="rId3"/>
              </a:rPr>
              <a:t>Generally Available: Azure SQL updates for November 2025</a:t>
            </a:r>
            <a:endParaRPr lang="en-US" dirty="0"/>
          </a:p>
          <a:p>
            <a:pPr algn="just"/>
            <a:r>
              <a:rPr lang="en-US" dirty="0"/>
              <a:t>In November 2025, several updates and enhancements were introduced to Azure SQL:</a:t>
            </a:r>
          </a:p>
          <a:p>
            <a:pPr marL="171450" indent="-171450" algn="just">
              <a:buFont typeface="Arial" panose="020B0604020202020204" pitchFamily="34" charset="0"/>
              <a:buChar char="•"/>
            </a:pPr>
            <a:r>
              <a:rPr lang="en-US" b="1" dirty="0"/>
              <a:t>Reservation discounts</a:t>
            </a:r>
            <a:r>
              <a:rPr lang="en-US" dirty="0"/>
              <a:t> for 1-year and 3-year commitments on zone-redundant Azure SQL Managed Instance (General Purpose tier) now apply to both the standard compute and the zone-redundancy add-on.</a:t>
            </a:r>
          </a:p>
          <a:p>
            <a:pPr marL="171450" indent="-171450" algn="just">
              <a:buFont typeface="Arial" panose="020B0604020202020204" pitchFamily="34" charset="0"/>
              <a:buChar char="•"/>
            </a:pPr>
            <a:r>
              <a:rPr lang="en-US" b="1" dirty="0"/>
              <a:t>Additional memory options</a:t>
            </a:r>
            <a:r>
              <a:rPr lang="en-US" dirty="0"/>
              <a:t> are now available for Azure SQL Managed Instance, enabling improved performance and cost optimization.</a:t>
            </a:r>
          </a:p>
          <a:p>
            <a:pPr marL="171450" indent="-171450" algn="just">
              <a:buFont typeface="Arial" panose="020B0604020202020204" pitchFamily="34" charset="0"/>
              <a:buChar char="•"/>
            </a:pPr>
            <a:r>
              <a:rPr lang="en-US" b="1" dirty="0"/>
              <a:t>Optimized locking improvements</a:t>
            </a:r>
            <a:r>
              <a:rPr lang="en-US" dirty="0"/>
              <a:t> further reduce lock-related overhead within the SQL database engine, enhancing concurrency and efficiency.</a:t>
            </a:r>
          </a:p>
          <a:p>
            <a:pPr marL="171450" indent="-171450" algn="just">
              <a:buFont typeface="Arial" panose="020B0604020202020204" pitchFamily="34" charset="0"/>
              <a:buChar char="•"/>
            </a:pPr>
            <a:r>
              <a:rPr lang="en-US" b="1" dirty="0"/>
              <a:t>Regex support</a:t>
            </a:r>
            <a:r>
              <a:rPr lang="en-US" dirty="0"/>
              <a:t> has been added to SQL queries, providing advanced pattern-matching capabilities for more sophisticated data processing.</a:t>
            </a:r>
          </a:p>
          <a:p>
            <a:pPr marL="171450" indent="-171450" algn="just">
              <a:buFont typeface="Arial" panose="020B0604020202020204" pitchFamily="34" charset="0"/>
              <a:buChar char="•"/>
            </a:pPr>
            <a:r>
              <a:rPr lang="en-US" b="1" dirty="0" err="1"/>
              <a:t>Bigint</a:t>
            </a:r>
            <a:r>
              <a:rPr lang="en-US" b="1" dirty="0"/>
              <a:t> support in DATEADD</a:t>
            </a:r>
            <a:r>
              <a:rPr lang="en-US" dirty="0"/>
              <a:t> expands calculation ranges, enabling broader date and time manipulation scenarios.</a:t>
            </a:r>
          </a:p>
          <a:p>
            <a:pPr algn="just"/>
            <a:endParaRPr lang="en-US" dirty="0"/>
          </a:p>
        </p:txBody>
      </p:sp>
    </p:spTree>
    <p:extLst>
      <p:ext uri="{BB962C8B-B14F-4D97-AF65-F5344CB8AC3E}">
        <p14:creationId xmlns:p14="http://schemas.microsoft.com/office/powerpoint/2010/main" val="1114103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74DE0D-0CA7-7B6B-9692-147B07EA349A}"/>
              </a:ext>
            </a:extLst>
          </p:cNvPr>
          <p:cNvSpPr>
            <a:spLocks noGrp="1"/>
          </p:cNvSpPr>
          <p:nvPr>
            <p:ph type="title"/>
          </p:nvPr>
        </p:nvSpPr>
        <p:spPr/>
        <p:txBody>
          <a:bodyPr/>
          <a:lstStyle/>
          <a:p>
            <a:r>
              <a:rPr lang="en-US" sz="1600" dirty="0"/>
              <a:t>Databases Updates (Azure SQL) 5/5 </a:t>
            </a:r>
            <a:endParaRPr lang="en-US" dirty="0"/>
          </a:p>
        </p:txBody>
      </p:sp>
      <p:sp>
        <p:nvSpPr>
          <p:cNvPr id="5" name="Text Placeholder 4">
            <a:extLst>
              <a:ext uri="{FF2B5EF4-FFF2-40B4-BE49-F238E27FC236}">
                <a16:creationId xmlns:a16="http://schemas.microsoft.com/office/drawing/2014/main" id="{3F1200F6-8C2C-F701-18A5-455EEFC64E0C}"/>
              </a:ext>
            </a:extLst>
          </p:cNvPr>
          <p:cNvSpPr>
            <a:spLocks noGrp="1"/>
          </p:cNvSpPr>
          <p:nvPr>
            <p:ph type="body" sz="quarter" idx="16"/>
          </p:nvPr>
        </p:nvSpPr>
        <p:spPr/>
        <p:txBody>
          <a:bodyPr/>
          <a:lstStyle/>
          <a:p>
            <a:pPr algn="just"/>
            <a:r>
              <a:rPr lang="en-US" dirty="0">
                <a:hlinkClick r:id="rId2"/>
              </a:rPr>
              <a:t>Generally Available: Azure SQL Managed Instance Next-gen General Purpose service tier</a:t>
            </a:r>
            <a:endParaRPr lang="en-US" dirty="0"/>
          </a:p>
          <a:p>
            <a:pPr algn="just"/>
            <a:r>
              <a:rPr lang="en-US" b="1" dirty="0"/>
              <a:t>The Next-gen General Purpose tier</a:t>
            </a:r>
            <a:r>
              <a:rPr lang="en-US" dirty="0"/>
              <a:t> delivers a major performance boost while preserving the cost efficiency of a managed PaaS service.</a:t>
            </a:r>
            <a:br>
              <a:rPr lang="en-US" dirty="0"/>
            </a:br>
            <a:r>
              <a:rPr lang="en-US" dirty="0"/>
              <a:t>Customers can achieve </a:t>
            </a:r>
            <a:r>
              <a:rPr lang="en-US" b="1" dirty="0"/>
              <a:t>3–5× better performance</a:t>
            </a:r>
            <a:r>
              <a:rPr lang="en-US" dirty="0"/>
              <a:t> by upgrading from the classic General Purpose tier, with new options for </a:t>
            </a:r>
            <a:r>
              <a:rPr lang="en-US" b="1" dirty="0"/>
              <a:t>configurable IOPS</a:t>
            </a:r>
            <a:r>
              <a:rPr lang="en-US" dirty="0"/>
              <a:t> and </a:t>
            </a:r>
            <a:r>
              <a:rPr lang="en-US" b="1" dirty="0"/>
              <a:t>adjustable memory-to-vCore ratios</a:t>
            </a:r>
            <a:r>
              <a:rPr lang="en-US" dirty="0"/>
              <a:t> to fine-tune performance without overspending.</a:t>
            </a:r>
          </a:p>
          <a:p>
            <a:pPr algn="just"/>
            <a:r>
              <a:rPr lang="en-US" dirty="0"/>
              <a:t>This tier supports heavier workloads, scales more effectively, and provides a significantly improved </a:t>
            </a:r>
            <a:r>
              <a:rPr lang="en-US" b="1" dirty="0"/>
              <a:t>price-to-performance balance</a:t>
            </a:r>
            <a:r>
              <a:rPr lang="en-US" dirty="0"/>
              <a:t>, all with the simplicity of a fully managed platform.</a:t>
            </a:r>
          </a:p>
          <a:p>
            <a:pPr algn="just"/>
            <a:endParaRPr lang="en-US" dirty="0"/>
          </a:p>
        </p:txBody>
      </p:sp>
    </p:spTree>
    <p:extLst>
      <p:ext uri="{BB962C8B-B14F-4D97-AF65-F5344CB8AC3E}">
        <p14:creationId xmlns:p14="http://schemas.microsoft.com/office/powerpoint/2010/main" val="1827840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74C1EA8-940F-9F95-4314-FECD63A96B2A}"/>
              </a:ext>
            </a:extLst>
          </p:cNvPr>
          <p:cNvSpPr>
            <a:spLocks noGrp="1"/>
          </p:cNvSpPr>
          <p:nvPr>
            <p:ph type="title"/>
          </p:nvPr>
        </p:nvSpPr>
        <p:spPr/>
        <p:txBody>
          <a:bodyPr/>
          <a:lstStyle/>
          <a:p>
            <a:r>
              <a:rPr lang="en-US" sz="1800" dirty="0"/>
              <a:t>Databases Updates (Azure SQL) 1/1 </a:t>
            </a:r>
            <a:endParaRPr lang="en-US" dirty="0"/>
          </a:p>
        </p:txBody>
      </p:sp>
      <p:sp>
        <p:nvSpPr>
          <p:cNvPr id="4" name="Text Placeholder 3">
            <a:extLst>
              <a:ext uri="{FF2B5EF4-FFF2-40B4-BE49-F238E27FC236}">
                <a16:creationId xmlns:a16="http://schemas.microsoft.com/office/drawing/2014/main" id="{4A6785CC-56C7-56C9-20D6-91A4213E55EE}"/>
              </a:ext>
            </a:extLst>
          </p:cNvPr>
          <p:cNvSpPr>
            <a:spLocks noGrp="1"/>
          </p:cNvSpPr>
          <p:nvPr>
            <p:ph type="body" sz="quarter" idx="15"/>
          </p:nvPr>
        </p:nvSpPr>
        <p:spPr/>
        <p:txBody>
          <a:bodyPr/>
          <a:lstStyle/>
          <a:p>
            <a:endParaRPr lang="en-US"/>
          </a:p>
        </p:txBody>
      </p:sp>
      <p:sp>
        <p:nvSpPr>
          <p:cNvPr id="6" name="Text Placeholder 4">
            <a:extLst>
              <a:ext uri="{FF2B5EF4-FFF2-40B4-BE49-F238E27FC236}">
                <a16:creationId xmlns:a16="http://schemas.microsoft.com/office/drawing/2014/main" id="{698C036F-8637-FF68-4C90-1A4F16793995}"/>
              </a:ext>
            </a:extLst>
          </p:cNvPr>
          <p:cNvSpPr>
            <a:spLocks noGrp="1"/>
          </p:cNvSpPr>
          <p:nvPr>
            <p:ph type="body" sz="quarter" idx="16"/>
          </p:nvPr>
        </p:nvSpPr>
        <p:spPr>
          <a:xfrm>
            <a:off x="342900" y="855079"/>
            <a:ext cx="3955312" cy="3774069"/>
          </a:xfrm>
        </p:spPr>
        <p:txBody>
          <a:bodyPr/>
          <a:lstStyle/>
          <a:p>
            <a:pPr algn="just"/>
            <a:r>
              <a:rPr lang="en-US" dirty="0">
                <a:hlinkClick r:id="rId2"/>
              </a:rPr>
              <a:t>Private Preview: Azure </a:t>
            </a:r>
            <a:r>
              <a:rPr lang="en-US" dirty="0" err="1">
                <a:hlinkClick r:id="rId2"/>
              </a:rPr>
              <a:t>HorizonDB</a:t>
            </a:r>
            <a:endParaRPr lang="en-US" dirty="0"/>
          </a:p>
          <a:p>
            <a:pPr algn="just"/>
            <a:r>
              <a:rPr lang="en-US" dirty="0"/>
              <a:t>Engineered for high performance, </a:t>
            </a:r>
            <a:r>
              <a:rPr lang="en-US" b="1" dirty="0"/>
              <a:t>Azure </a:t>
            </a:r>
            <a:r>
              <a:rPr lang="en-US" b="1" dirty="0" err="1"/>
              <a:t>HorizonDB</a:t>
            </a:r>
            <a:r>
              <a:rPr lang="en-US" b="1" dirty="0"/>
              <a:t> for PostgreSQL</a:t>
            </a:r>
            <a:r>
              <a:rPr lang="en-US" dirty="0"/>
              <a:t> delivers future-ready, autoscaling storage up to </a:t>
            </a:r>
            <a:r>
              <a:rPr lang="en-US" b="1" dirty="0"/>
              <a:t>128 TB</a:t>
            </a:r>
            <a:r>
              <a:rPr lang="en-US" dirty="0"/>
              <a:t>, up to </a:t>
            </a:r>
            <a:r>
              <a:rPr lang="en-US" b="1" dirty="0"/>
              <a:t>3× faster performance</a:t>
            </a:r>
            <a:r>
              <a:rPr lang="en-US" dirty="0"/>
              <a:t> than open-source PostgreSQL, and rapid compute scaling up to </a:t>
            </a:r>
            <a:r>
              <a:rPr lang="en-US" b="1" dirty="0"/>
              <a:t>3,072 </a:t>
            </a:r>
            <a:r>
              <a:rPr lang="en-US" b="1" dirty="0" err="1"/>
              <a:t>vCores</a:t>
            </a:r>
            <a:r>
              <a:rPr lang="en-US" dirty="0"/>
              <a:t>. Now in private preview, </a:t>
            </a:r>
            <a:r>
              <a:rPr lang="en-US" dirty="0" err="1"/>
              <a:t>HorizonDB</a:t>
            </a:r>
            <a:r>
              <a:rPr lang="en-US" dirty="0"/>
              <a:t> is designed for mission-critical applications with enterprise-grade reliability and security.</a:t>
            </a:r>
          </a:p>
          <a:p>
            <a:pPr algn="just"/>
            <a:r>
              <a:rPr lang="en-US" dirty="0"/>
              <a:t>Developers can build smarter, more scalable applications using in-database, pre-provisioned AI models, advanced features such as </a:t>
            </a:r>
            <a:r>
              <a:rPr lang="en-US" b="1" dirty="0" err="1"/>
              <a:t>DiskANN</a:t>
            </a:r>
            <a:r>
              <a:rPr lang="en-US" b="1" dirty="0"/>
              <a:t> vector indexing</a:t>
            </a:r>
            <a:r>
              <a:rPr lang="en-US" dirty="0"/>
              <a:t> for fast filtered search, and native semantic operators for intelligent query handling. Familiar PostgreSQL extensions and GitHub Copilot integration streamline the development experience, helping teams move from concept to production more efficiently.</a:t>
            </a:r>
          </a:p>
          <a:p>
            <a:pPr algn="just"/>
            <a:r>
              <a:rPr lang="en-US" dirty="0"/>
              <a:t>Fully integrated into the Microsoft ecosystem, Azure </a:t>
            </a:r>
            <a:r>
              <a:rPr lang="en-US" dirty="0" err="1"/>
              <a:t>HorizonDB</a:t>
            </a:r>
            <a:r>
              <a:rPr lang="en-US" dirty="0"/>
              <a:t> provides seamless access to Azure’s advanced AI and analytics services, reducing integration overhead and enabling unified, end-to-end application innovation.</a:t>
            </a:r>
          </a:p>
          <a:p>
            <a:pPr algn="just"/>
            <a:endParaRPr lang="en-US" dirty="0"/>
          </a:p>
          <a:p>
            <a:pPr algn="just"/>
            <a:endParaRPr lang="en-US" dirty="0"/>
          </a:p>
        </p:txBody>
      </p:sp>
      <p:sp>
        <p:nvSpPr>
          <p:cNvPr id="7" name="Text Placeholder 6">
            <a:extLst>
              <a:ext uri="{FF2B5EF4-FFF2-40B4-BE49-F238E27FC236}">
                <a16:creationId xmlns:a16="http://schemas.microsoft.com/office/drawing/2014/main" id="{07DB0F9D-07B0-01B7-BA53-62CAC80414CF}"/>
              </a:ext>
            </a:extLst>
          </p:cNvPr>
          <p:cNvSpPr>
            <a:spLocks noGrp="1"/>
          </p:cNvSpPr>
          <p:nvPr>
            <p:ph type="body" sz="quarter" idx="10"/>
          </p:nvPr>
        </p:nvSpPr>
        <p:spPr>
          <a:xfrm>
            <a:off x="4433776" y="855080"/>
            <a:ext cx="4365038" cy="3774069"/>
          </a:xfrm>
        </p:spPr>
        <p:txBody>
          <a:bodyPr/>
          <a:lstStyle/>
          <a:p>
            <a:pPr algn="just"/>
            <a:r>
              <a:rPr lang="en-US" sz="1000" dirty="0">
                <a:hlinkClick r:id="rId3"/>
              </a:rPr>
              <a:t>OracleDatabase@Azure expands footprint to 31 regions and strengthens security with Azure Key Vault</a:t>
            </a:r>
            <a:endParaRPr lang="en-US" sz="1000" dirty="0"/>
          </a:p>
          <a:p>
            <a:pPr algn="just"/>
            <a:r>
              <a:rPr lang="en-US" sz="1000" dirty="0"/>
              <a:t>Microsoft is expanding global availability and strengthening security for </a:t>
            </a:r>
            <a:r>
              <a:rPr lang="en-US" sz="1000" b="1" dirty="0"/>
              <a:t>Oracle </a:t>
            </a:r>
            <a:r>
              <a:rPr lang="en-US" sz="1000" b="1" dirty="0" err="1"/>
              <a:t>Database@Azure</a:t>
            </a:r>
            <a:r>
              <a:rPr lang="en-US" sz="1000" dirty="0"/>
              <a:t>. The service is now </a:t>
            </a:r>
            <a:r>
              <a:rPr lang="en-US" sz="1000" b="1" dirty="0"/>
              <a:t>live in 31 regions worldwide</a:t>
            </a:r>
            <a:r>
              <a:rPr lang="en-US" sz="1000" dirty="0"/>
              <a:t>, including new regions in </a:t>
            </a:r>
            <a:r>
              <a:rPr lang="en-US" sz="1000" b="1" dirty="0"/>
              <a:t>North Central US, South India, and France South</a:t>
            </a:r>
            <a:r>
              <a:rPr lang="en-US" sz="1000" dirty="0"/>
              <a:t>. Two additional regions will come online within the next three months, bringing the total to </a:t>
            </a:r>
            <a:r>
              <a:rPr lang="en-US" sz="1000" b="1" dirty="0"/>
              <a:t>33 regions</a:t>
            </a:r>
            <a:r>
              <a:rPr lang="en-US" sz="1000" dirty="0"/>
              <a:t>—the broadest footprint of any </a:t>
            </a:r>
            <a:r>
              <a:rPr lang="en-US" sz="1000" dirty="0" err="1"/>
              <a:t>hyperscaler</a:t>
            </a:r>
            <a:r>
              <a:rPr lang="en-US" sz="1000" dirty="0"/>
              <a:t> for Oracle workloads.</a:t>
            </a:r>
          </a:p>
          <a:p>
            <a:pPr algn="just"/>
            <a:r>
              <a:rPr lang="en-US" sz="1000" dirty="0"/>
              <a:t>In addition, </a:t>
            </a:r>
            <a:r>
              <a:rPr lang="en-US" sz="1000" b="1" dirty="0"/>
              <a:t>Azure Key Vault (Standard, Premium, and Managed HSM)</a:t>
            </a:r>
            <a:r>
              <a:rPr lang="en-US" sz="1000" dirty="0"/>
              <a:t> is now </a:t>
            </a:r>
            <a:r>
              <a:rPr lang="en-US" sz="1000" b="1" dirty="0"/>
              <a:t>generally available</a:t>
            </a:r>
            <a:r>
              <a:rPr lang="en-US" sz="1000" dirty="0"/>
              <a:t> for </a:t>
            </a:r>
            <a:r>
              <a:rPr lang="en-US" sz="1000" b="1" dirty="0"/>
              <a:t>Oracle Autonomous AI Database on Oracle </a:t>
            </a:r>
            <a:r>
              <a:rPr lang="en-US" sz="1000" b="1" dirty="0" err="1"/>
              <a:t>Database@Azure</a:t>
            </a:r>
            <a:r>
              <a:rPr lang="en-US" sz="1000" dirty="0"/>
              <a:t>, providing built-in encryption, centralized key management, and strengthened data protection for both Exadata Database and Autonomous AI Database deployments.</a:t>
            </a:r>
          </a:p>
          <a:p>
            <a:pPr algn="just"/>
            <a:r>
              <a:rPr lang="en-US" sz="1000" dirty="0"/>
              <a:t>Oracle </a:t>
            </a:r>
            <a:r>
              <a:rPr lang="en-US" sz="1000" dirty="0" err="1"/>
              <a:t>Database@Azure</a:t>
            </a:r>
            <a:r>
              <a:rPr lang="en-US" sz="1000" dirty="0"/>
              <a:t> continues to offer enterprises </a:t>
            </a:r>
            <a:r>
              <a:rPr lang="en-US" sz="1000" b="1" dirty="0"/>
              <a:t>more choice, more control, and more global reach</a:t>
            </a:r>
            <a:r>
              <a:rPr lang="en-US" sz="1000" dirty="0"/>
              <a:t> for running mission-critical Oracle workloads.</a:t>
            </a:r>
          </a:p>
          <a:p>
            <a:pPr algn="just"/>
            <a:endParaRPr lang="en-US" sz="1000" dirty="0"/>
          </a:p>
        </p:txBody>
      </p:sp>
    </p:spTree>
    <p:extLst>
      <p:ext uri="{BB962C8B-B14F-4D97-AF65-F5344CB8AC3E}">
        <p14:creationId xmlns:p14="http://schemas.microsoft.com/office/powerpoint/2010/main" val="276234962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Integration</a:t>
            </a:r>
          </a:p>
        </p:txBody>
      </p:sp>
    </p:spTree>
    <p:extLst>
      <p:ext uri="{BB962C8B-B14F-4D97-AF65-F5344CB8AC3E}">
        <p14:creationId xmlns:p14="http://schemas.microsoft.com/office/powerpoint/2010/main" val="59623308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Integration Updates (Azure API Management) 1/2</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Azure API Management adds support for A2A Agent APIs</a:t>
            </a:r>
            <a:endParaRPr lang="en-US" dirty="0"/>
          </a:p>
          <a:p>
            <a:pPr algn="just"/>
            <a:r>
              <a:rPr lang="en-US" dirty="0"/>
              <a:t>With this new capability, organizations can manage and govern agent APIs alongside other API types — AI model APIs, Model Context Protocol (MCP) tools, and traditional APIs such as REST, SOAP, and </a:t>
            </a:r>
            <a:r>
              <a:rPr lang="en-US" dirty="0" err="1"/>
              <a:t>GraphQL</a:t>
            </a:r>
            <a:r>
              <a:rPr lang="en-US" dirty="0"/>
              <a:t>. </a:t>
            </a:r>
          </a:p>
          <a:p>
            <a:pPr algn="just"/>
            <a:r>
              <a:rPr lang="en-US" dirty="0"/>
              <a:t>This update empowers customers to extend their established API governance and security practices into the evolving agentic ecosystem, strengthening secure access, enforcing policies consistently, and ensuring observability for AI agents. </a:t>
            </a:r>
          </a:p>
          <a:p>
            <a:pPr algn="just"/>
            <a:r>
              <a:rPr lang="en-US" dirty="0"/>
              <a:t>A2A APIs in Azure API Management offer advanced mediation </a:t>
            </a:r>
            <a:r>
              <a:rPr lang="en-US" b="1" dirty="0"/>
              <a:t>of JSON-RPC runtime operations with robust policy support, enable agent card exposure to agents, users, or clients, and provide comprehensive tracing aligned with the </a:t>
            </a:r>
            <a:r>
              <a:rPr lang="en-US" b="1" dirty="0" err="1"/>
              <a:t>OpenTelemetry</a:t>
            </a:r>
            <a:r>
              <a:rPr lang="en-US" b="1" dirty="0"/>
              <a:t> GenAI semantic convention</a:t>
            </a:r>
            <a:r>
              <a:rPr lang="en-US" dirty="0"/>
              <a:t>. </a:t>
            </a:r>
          </a:p>
          <a:p>
            <a:pPr algn="just"/>
            <a:r>
              <a:rPr lang="en-US" dirty="0"/>
              <a:t> </a:t>
            </a:r>
          </a:p>
        </p:txBody>
      </p:sp>
      <p:sp>
        <p:nvSpPr>
          <p:cNvPr id="5" name="Text Placeholder 4">
            <a:extLst>
              <a:ext uri="{FF2B5EF4-FFF2-40B4-BE49-F238E27FC236}">
                <a16:creationId xmlns:a16="http://schemas.microsoft.com/office/drawing/2014/main" id="{CEB90B04-DDF9-E075-7E89-017E5DA6385F}"/>
              </a:ext>
            </a:extLst>
          </p:cNvPr>
          <p:cNvSpPr txBox="1">
            <a:spLocks/>
          </p:cNvSpPr>
          <p:nvPr/>
        </p:nvSpPr>
        <p:spPr>
          <a:xfrm>
            <a:off x="4656595" y="855079"/>
            <a:ext cx="3955312"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a:hlinkClick r:id="rId3"/>
              </a:rPr>
              <a:t>AI Gateway in Azure API Management Is Now Available in Microsoft Foundry (Preview)</a:t>
            </a:r>
            <a:endParaRPr lang="en-US"/>
          </a:p>
          <a:p>
            <a:pPr algn="just"/>
            <a:r>
              <a:rPr lang="en-US"/>
              <a:t>Microsoft has integrated </a:t>
            </a:r>
            <a:r>
              <a:rPr lang="en-US" b="1"/>
              <a:t>AI Gateway directly into Microsoft Foundry</a:t>
            </a:r>
            <a:r>
              <a:rPr lang="en-US"/>
              <a:t>, bringing enterprise-grade governance, security, and observability for </a:t>
            </a:r>
            <a:r>
              <a:rPr lang="en-US" b="1"/>
              <a:t>AI models, tools, and agents</a:t>
            </a:r>
            <a:r>
              <a:rPr lang="en-US"/>
              <a:t> into the Foundry environment. Built on Azure API Management, this integration gives organizations a unified way to control usage, enforce policies, and monitor AI workloads without slowing development.</a:t>
            </a:r>
          </a:p>
          <a:p>
            <a:pPr algn="just"/>
            <a:r>
              <a:rPr lang="en-US"/>
              <a:t>Teams can:</a:t>
            </a:r>
          </a:p>
          <a:p>
            <a:pPr marL="171450" indent="-171450" algn="just">
              <a:buFont typeface="Arial" panose="020B0604020202020204" pitchFamily="34" charset="0"/>
              <a:buChar char="•"/>
            </a:pPr>
            <a:r>
              <a:rPr lang="en-US"/>
              <a:t>Route all model traffic through a governed AI Gateway hostname</a:t>
            </a:r>
          </a:p>
          <a:p>
            <a:pPr marL="171450" indent="-171450" algn="just">
              <a:buFont typeface="Arial" panose="020B0604020202020204" pitchFamily="34" charset="0"/>
              <a:buChar char="•"/>
            </a:pPr>
            <a:r>
              <a:rPr lang="en-US"/>
              <a:t>Register and manage agents running anywhere for centralized oversight</a:t>
            </a:r>
          </a:p>
          <a:p>
            <a:pPr marL="171450" indent="-171450" algn="just">
              <a:buFont typeface="Arial" panose="020B0604020202020204" pitchFamily="34" charset="0"/>
              <a:buChar char="•"/>
            </a:pPr>
            <a:r>
              <a:rPr lang="en-US"/>
              <a:t>Govern MCP tools automatically, making them discoverable and secure</a:t>
            </a:r>
          </a:p>
          <a:p>
            <a:pPr algn="just"/>
            <a:r>
              <a:rPr lang="en-US"/>
              <a:t>Foundry users get simple, built-in governance, while still retaining full API Management capabilities for advanced needs. This integration delivers consistent, scalable AI governance from day one.</a:t>
            </a:r>
          </a:p>
          <a:p>
            <a:pPr algn="just"/>
            <a:endParaRPr lang="en-US" dirty="0"/>
          </a:p>
        </p:txBody>
      </p:sp>
    </p:spTree>
    <p:extLst>
      <p:ext uri="{BB962C8B-B14F-4D97-AF65-F5344CB8AC3E}">
        <p14:creationId xmlns:p14="http://schemas.microsoft.com/office/powerpoint/2010/main" val="4065945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AFB9E-2EF4-3C3A-43AA-78893D367E43}"/>
              </a:ext>
            </a:extLst>
          </p:cNvPr>
          <p:cNvSpPr>
            <a:spLocks noGrp="1"/>
          </p:cNvSpPr>
          <p:nvPr>
            <p:ph type="title"/>
          </p:nvPr>
        </p:nvSpPr>
        <p:spPr/>
        <p:txBody>
          <a:bodyPr/>
          <a:lstStyle/>
          <a:p>
            <a:r>
              <a:rPr lang="en-US" sz="1600" dirty="0"/>
              <a:t>Integration Updates (Azure API Management) 2/2</a:t>
            </a:r>
            <a:endParaRPr lang="en-US" dirty="0"/>
          </a:p>
        </p:txBody>
      </p:sp>
      <p:sp>
        <p:nvSpPr>
          <p:cNvPr id="4" name="Text Placeholder 3">
            <a:extLst>
              <a:ext uri="{FF2B5EF4-FFF2-40B4-BE49-F238E27FC236}">
                <a16:creationId xmlns:a16="http://schemas.microsoft.com/office/drawing/2014/main" id="{321FF099-5D79-9706-E15D-4946696FE9A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C3960749-A6C0-6C05-2CF4-B9E16BFA36F2}"/>
              </a:ext>
            </a:extLst>
          </p:cNvPr>
          <p:cNvSpPr>
            <a:spLocks noGrp="1"/>
          </p:cNvSpPr>
          <p:nvPr>
            <p:ph type="body" sz="quarter" idx="16"/>
          </p:nvPr>
        </p:nvSpPr>
        <p:spPr>
          <a:xfrm>
            <a:off x="342900" y="855080"/>
            <a:ext cx="3955312" cy="3166729"/>
          </a:xfrm>
        </p:spPr>
        <p:txBody>
          <a:bodyPr/>
          <a:lstStyle/>
          <a:p>
            <a:pPr algn="just"/>
            <a:r>
              <a:rPr lang="en-US" dirty="0">
                <a:hlinkClick r:id="rId2"/>
              </a:rPr>
              <a:t>Generally Available: Premium v2 tier in Azure API Management</a:t>
            </a:r>
            <a:endParaRPr lang="en-US" dirty="0"/>
          </a:p>
          <a:p>
            <a:pPr algn="just"/>
            <a:r>
              <a:rPr lang="en-US" dirty="0"/>
              <a:t>Microsoft has announced the </a:t>
            </a:r>
            <a:r>
              <a:rPr lang="en-US" b="1" dirty="0"/>
              <a:t>general availability of Azure API Management Premium v2</a:t>
            </a:r>
            <a:r>
              <a:rPr lang="en-US" dirty="0"/>
              <a:t>, offering higher capacity, unlimited included calls, and the most advanced feature set for enterprise-scale API programs. The new architecture removes management traffic from customer </a:t>
            </a:r>
            <a:r>
              <a:rPr lang="en-US" dirty="0" err="1"/>
              <a:t>VNets</a:t>
            </a:r>
            <a:r>
              <a:rPr lang="en-US" dirty="0"/>
              <a:t>, making private networking simpler and more secure, with support for both </a:t>
            </a:r>
            <a:r>
              <a:rPr lang="en-US" b="1" dirty="0"/>
              <a:t>VNet injection</a:t>
            </a:r>
            <a:r>
              <a:rPr lang="en-US" dirty="0"/>
              <a:t> and </a:t>
            </a:r>
            <a:r>
              <a:rPr lang="en-US" b="1" dirty="0"/>
              <a:t>VNet integration</a:t>
            </a:r>
            <a:r>
              <a:rPr lang="en-US" dirty="0"/>
              <a:t>.</a:t>
            </a:r>
          </a:p>
          <a:p>
            <a:pPr algn="just"/>
            <a:r>
              <a:rPr lang="en-US" dirty="0"/>
              <a:t>Premium v2 also introduces:</a:t>
            </a:r>
          </a:p>
          <a:p>
            <a:pPr marL="171450" indent="-171450" algn="just">
              <a:buFont typeface="Arial" panose="020B0604020202020204" pitchFamily="34" charset="0"/>
              <a:buChar char="•"/>
            </a:pPr>
            <a:r>
              <a:rPr lang="en-US" b="1" dirty="0"/>
              <a:t>Inbound Private Link</a:t>
            </a:r>
            <a:r>
              <a:rPr lang="en-US" dirty="0"/>
              <a:t> for secure, private endpoint access</a:t>
            </a:r>
          </a:p>
          <a:p>
            <a:pPr marL="171450" indent="-171450" algn="just">
              <a:buFont typeface="Arial" panose="020B0604020202020204" pitchFamily="34" charset="0"/>
              <a:buChar char="•"/>
            </a:pPr>
            <a:r>
              <a:rPr lang="en-US" b="1" dirty="0"/>
              <a:t>Availability zone support</a:t>
            </a:r>
            <a:r>
              <a:rPr lang="en-US" dirty="0"/>
              <a:t> for improved resiliency</a:t>
            </a:r>
          </a:p>
          <a:p>
            <a:pPr marL="171450" indent="-171450" algn="just">
              <a:buFont typeface="Arial" panose="020B0604020202020204" pitchFamily="34" charset="0"/>
              <a:buChar char="•"/>
            </a:pPr>
            <a:r>
              <a:rPr lang="en-US" b="1" dirty="0"/>
              <a:t>Custom CA certificates</a:t>
            </a:r>
            <a:r>
              <a:rPr lang="en-US" dirty="0"/>
              <a:t> for backend TLS validation</a:t>
            </a:r>
          </a:p>
          <a:p>
            <a:pPr algn="just"/>
            <a:r>
              <a:rPr lang="en-US" dirty="0"/>
              <a:t>The updated VNet injection model requires no route tables or service endpoints and gives customers full control over inbound/outbound traffic—supporting forced tunneling, NVAs, and WAF integration without constraints.</a:t>
            </a:r>
          </a:p>
        </p:txBody>
      </p:sp>
      <p:sp>
        <p:nvSpPr>
          <p:cNvPr id="6" name="Text Placeholder 13">
            <a:extLst>
              <a:ext uri="{FF2B5EF4-FFF2-40B4-BE49-F238E27FC236}">
                <a16:creationId xmlns:a16="http://schemas.microsoft.com/office/drawing/2014/main" id="{98429CD6-6C8E-8864-3288-60F201294D57}"/>
              </a:ext>
            </a:extLst>
          </p:cNvPr>
          <p:cNvSpPr txBox="1">
            <a:spLocks/>
          </p:cNvSpPr>
          <p:nvPr/>
        </p:nvSpPr>
        <p:spPr>
          <a:xfrm>
            <a:off x="4572000" y="855080"/>
            <a:ext cx="3955312" cy="2608556"/>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dirty="0">
                <a:hlinkClick r:id="rId3"/>
              </a:rPr>
              <a:t>Generally Available: Govern Model Context Protocol (MCP) endpoints using Azure API Management</a:t>
            </a:r>
            <a:endParaRPr lang="en-US" dirty="0"/>
          </a:p>
          <a:p>
            <a:pPr algn="just"/>
            <a:r>
              <a:rPr lang="en-US" dirty="0"/>
              <a:t>This release extends Azure API Management’s proven governance, security, and observability model to a new generation of AI-driven workloads. Enterprises can now apply consistent policies, authentication, and monitoring across both traditional APIs and AI systems that connect through MCP. What’s New:</a:t>
            </a:r>
          </a:p>
          <a:p>
            <a:pPr marL="171450" indent="-171450" algn="just">
              <a:buFont typeface="Arial" panose="020B0604020202020204" pitchFamily="34" charset="0"/>
              <a:buChar char="•"/>
            </a:pPr>
            <a:r>
              <a:rPr lang="en-US" dirty="0"/>
              <a:t>Expose APIs through MCP</a:t>
            </a:r>
          </a:p>
          <a:p>
            <a:pPr marL="171450" indent="-171450" algn="just">
              <a:buFont typeface="Arial" panose="020B0604020202020204" pitchFamily="34" charset="0"/>
              <a:buChar char="•"/>
            </a:pPr>
            <a:r>
              <a:rPr lang="en-US" dirty="0"/>
              <a:t>Proxy and govern external MCP services</a:t>
            </a:r>
          </a:p>
          <a:p>
            <a:pPr marL="171450" indent="-171450" algn="just">
              <a:buFont typeface="Arial" panose="020B0604020202020204" pitchFamily="34" charset="0"/>
              <a:buChar char="•"/>
            </a:pPr>
            <a:r>
              <a:rPr lang="en-US" dirty="0"/>
              <a:t>Unify access and governance</a:t>
            </a:r>
          </a:p>
          <a:p>
            <a:pPr marL="171450" indent="-171450" algn="just">
              <a:buFont typeface="Arial" panose="020B0604020202020204" pitchFamily="34" charset="0"/>
              <a:buChar char="•"/>
            </a:pPr>
            <a:r>
              <a:rPr lang="en-US" dirty="0"/>
              <a:t>Discover and govern through API Center</a:t>
            </a:r>
          </a:p>
          <a:p>
            <a:pPr algn="just"/>
            <a:r>
              <a:rPr lang="en-US" dirty="0"/>
              <a:t>Available across Azure API Management classic and v2 tiers, including the Developer tier and the Self-hosted Gateway. </a:t>
            </a:r>
          </a:p>
        </p:txBody>
      </p:sp>
      <p:pic>
        <p:nvPicPr>
          <p:cNvPr id="1026" name="Picture 2" descr="Diagram of model context protocol (MCP) architecture.">
            <a:extLst>
              <a:ext uri="{FF2B5EF4-FFF2-40B4-BE49-F238E27FC236}">
                <a16:creationId xmlns:a16="http://schemas.microsoft.com/office/drawing/2014/main" id="{F49BE429-915C-D349-C2AF-F6FE655B4F9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40279" y="3510615"/>
            <a:ext cx="3288259" cy="1288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713989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C17B7CB-8830-1888-15BC-1668067AE820}"/>
              </a:ext>
            </a:extLst>
          </p:cNvPr>
          <p:cNvSpPr>
            <a:spLocks noGrp="1"/>
          </p:cNvSpPr>
          <p:nvPr>
            <p:ph type="title"/>
          </p:nvPr>
        </p:nvSpPr>
        <p:spPr/>
        <p:txBody>
          <a:bodyPr/>
          <a:lstStyle/>
          <a:p>
            <a:r>
              <a:rPr lang="en-US" dirty="0"/>
              <a:t>Azure Integration Updates 1/1</a:t>
            </a:r>
          </a:p>
        </p:txBody>
      </p:sp>
      <p:sp>
        <p:nvSpPr>
          <p:cNvPr id="4" name="Text Placeholder 3">
            <a:extLst>
              <a:ext uri="{FF2B5EF4-FFF2-40B4-BE49-F238E27FC236}">
                <a16:creationId xmlns:a16="http://schemas.microsoft.com/office/drawing/2014/main" id="{86FBA26E-FDC8-CE3C-919A-329989AF950D}"/>
              </a:ext>
            </a:extLst>
          </p:cNvPr>
          <p:cNvSpPr>
            <a:spLocks noGrp="1"/>
          </p:cNvSpPr>
          <p:nvPr>
            <p:ph type="body" sz="quarter" idx="15"/>
          </p:nvPr>
        </p:nvSpPr>
        <p:spPr/>
        <p:txBody>
          <a:bodyPr/>
          <a:lstStyle/>
          <a:p>
            <a:endParaRPr lang="en-US"/>
          </a:p>
        </p:txBody>
      </p:sp>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a:xfrm>
            <a:off x="4433776" y="790503"/>
            <a:ext cx="4365038" cy="3774069"/>
          </a:xfrm>
        </p:spPr>
        <p:txBody>
          <a:bodyPr/>
          <a:lstStyle/>
          <a:p>
            <a:pPr algn="just"/>
            <a:r>
              <a:rPr lang="en-US" sz="1000" dirty="0">
                <a:hlinkClick r:id="rId2"/>
              </a:rPr>
              <a:t>Stream data in near real time from SQL to Azure Event Hubs - Public preview</a:t>
            </a:r>
            <a:endParaRPr lang="en-US" sz="1000" dirty="0"/>
          </a:p>
          <a:p>
            <a:pPr algn="just"/>
            <a:r>
              <a:rPr lang="en-US" sz="1000" dirty="0"/>
              <a:t>Azure SQL Database has introduced </a:t>
            </a:r>
            <a:r>
              <a:rPr lang="en-US" sz="1000" b="1" dirty="0"/>
              <a:t>Change Event Streaming (CES)</a:t>
            </a:r>
            <a:r>
              <a:rPr lang="en-US" sz="1000" dirty="0"/>
              <a:t> in public preview, a new feature designed to simplify near–real-time data integration. Modern applications increasingly depend on event-driven architectures, but traditional approaches—such as ETL jobs, polling, CDC, or third-party tools—add latency, increase operational overhead, and place extra load on source databases.</a:t>
            </a:r>
          </a:p>
          <a:p>
            <a:pPr algn="just"/>
            <a:r>
              <a:rPr lang="en-US" sz="1000" dirty="0"/>
              <a:t>CES streams </a:t>
            </a:r>
            <a:r>
              <a:rPr lang="en-US" sz="1000" b="1" dirty="0"/>
              <a:t>row-level inserts, updates, and deletes</a:t>
            </a:r>
            <a:r>
              <a:rPr lang="en-US" sz="1000" dirty="0"/>
              <a:t> directly from Azure SQL Database to </a:t>
            </a:r>
            <a:r>
              <a:rPr lang="en-US" sz="1000" b="1" dirty="0"/>
              <a:t>Azure Event Hubs</a:t>
            </a:r>
            <a:r>
              <a:rPr lang="en-US" sz="1000" dirty="0"/>
              <a:t> in near real time, addressing these challenges by:</a:t>
            </a:r>
          </a:p>
          <a:p>
            <a:pPr marL="171450" indent="-171450" algn="just">
              <a:buFont typeface="Arial" panose="020B0604020202020204" pitchFamily="34" charset="0"/>
              <a:buChar char="•"/>
            </a:pPr>
            <a:r>
              <a:rPr lang="en-US" sz="1000" b="1" dirty="0"/>
              <a:t>Reducing latency:</a:t>
            </a:r>
            <a:r>
              <a:rPr lang="en-US" sz="1000" dirty="0"/>
              <a:t> Events are pushed as changes occur, eliminating the need for frequent polling.</a:t>
            </a:r>
          </a:p>
          <a:p>
            <a:pPr marL="171450" indent="-171450" algn="just">
              <a:buFont typeface="Arial" panose="020B0604020202020204" pitchFamily="34" charset="0"/>
              <a:buChar char="•"/>
            </a:pPr>
            <a:r>
              <a:rPr lang="en-US" sz="1000" b="1" dirty="0"/>
              <a:t>Simplifying architecture:</a:t>
            </a:r>
            <a:r>
              <a:rPr lang="en-US" sz="1000" dirty="0"/>
              <a:t> No CDC, Change Tracking, custom polling, or external connectors are required. SQL manages delivery tracking, retries, and log truncation internally.</a:t>
            </a:r>
          </a:p>
          <a:p>
            <a:pPr marL="171450" indent="-171450" algn="just">
              <a:buFont typeface="Arial" panose="020B0604020202020204" pitchFamily="34" charset="0"/>
              <a:buChar char="•"/>
            </a:pPr>
            <a:r>
              <a:rPr lang="en-US" sz="1000" b="1" dirty="0"/>
              <a:t>Decoupling producers and consumers:</a:t>
            </a:r>
            <a:r>
              <a:rPr lang="en-US" sz="1000" dirty="0"/>
              <a:t> Changes are streamed at the database level after transactions commit, without modifying applications. Data is published once and can be consumed by any number of downstream systems via Event Hubs.</a:t>
            </a:r>
          </a:p>
          <a:p>
            <a:pPr algn="just"/>
            <a:r>
              <a:rPr lang="en-US" sz="1000" dirty="0"/>
              <a:t>CES provides a simpler, more efficient, and more scalable way to integrate operational SQL data into real-time analytics and event-driven systems.</a:t>
            </a:r>
          </a:p>
          <a:p>
            <a:pPr algn="just"/>
            <a:endParaRPr lang="en-US" sz="1000" dirty="0"/>
          </a:p>
        </p:txBody>
      </p:sp>
      <p:sp>
        <p:nvSpPr>
          <p:cNvPr id="8" name="Text Placeholder 11">
            <a:extLst>
              <a:ext uri="{FF2B5EF4-FFF2-40B4-BE49-F238E27FC236}">
                <a16:creationId xmlns:a16="http://schemas.microsoft.com/office/drawing/2014/main" id="{70409C6D-0E1D-A764-A4B4-2D3FADB4EE00}"/>
              </a:ext>
            </a:extLst>
          </p:cNvPr>
          <p:cNvSpPr txBox="1">
            <a:spLocks/>
          </p:cNvSpPr>
          <p:nvPr/>
        </p:nvSpPr>
        <p:spPr>
          <a:xfrm>
            <a:off x="342900" y="790504"/>
            <a:ext cx="3934632"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2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000" dirty="0">
                <a:hlinkClick r:id="rId3"/>
              </a:rPr>
              <a:t>Announcing: API Center Standard now included at no additional cost for linked Azure API Management Standard and Premium tiers</a:t>
            </a:r>
            <a:endParaRPr lang="en-US" sz="1000" dirty="0"/>
          </a:p>
          <a:p>
            <a:pPr algn="just"/>
            <a:r>
              <a:rPr lang="en-US" sz="1000" dirty="0"/>
              <a:t>API Center Standard, previously a separate paid offering, </a:t>
            </a:r>
            <a:r>
              <a:rPr lang="en-US" sz="1000" b="1" dirty="0"/>
              <a:t>is now included at no additional cost for all Azure API Management Standard and Premium customers</a:t>
            </a:r>
            <a:r>
              <a:rPr lang="en-US" sz="1000" dirty="0"/>
              <a:t>, when an API Center instance is linked with a corresponding Azure API Management service (for both classic and v2 SKUs). </a:t>
            </a:r>
          </a:p>
          <a:p>
            <a:pPr algn="just"/>
            <a:r>
              <a:rPr lang="en-US" sz="1000" dirty="0"/>
              <a:t>With this update, organizations can now </a:t>
            </a:r>
            <a:r>
              <a:rPr lang="en-US" sz="1000" b="1" dirty="0"/>
              <a:t>use API Center Standard without incurring additional charges once integration is configured</a:t>
            </a:r>
            <a:r>
              <a:rPr lang="en-US" sz="1000" dirty="0"/>
              <a:t>, bringing even greater value to existing Azure API Management deployments. </a:t>
            </a:r>
          </a:p>
          <a:p>
            <a:pPr algn="just"/>
            <a:r>
              <a:rPr lang="en-US" sz="1000" dirty="0"/>
              <a:t>API Center enables teams to track and manage APIs in a centralized location, making it easier to drive discovery, reuse, and governance across the organization. It provides a single source of truth for all APIs, helping teams catalog APIs across environments, improve visibility across the API landscape, and empower developers to find and reuse APIs across teams and business units. </a:t>
            </a:r>
          </a:p>
          <a:p>
            <a:pPr algn="just"/>
            <a:r>
              <a:rPr lang="en-US" sz="1000" dirty="0"/>
              <a:t>This update enhances the overall value of Azure API Management, helping customers simplify API operations and accelerate innovation without adding cost or complexity once integration is enabled.</a:t>
            </a:r>
          </a:p>
        </p:txBody>
      </p:sp>
    </p:spTree>
    <p:extLst>
      <p:ext uri="{BB962C8B-B14F-4D97-AF65-F5344CB8AC3E}">
        <p14:creationId xmlns:p14="http://schemas.microsoft.com/office/powerpoint/2010/main" val="222787769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ML &amp; AI &amp; IOT</a:t>
            </a:r>
          </a:p>
        </p:txBody>
      </p:sp>
    </p:spTree>
    <p:extLst>
      <p:ext uri="{BB962C8B-B14F-4D97-AF65-F5344CB8AC3E}">
        <p14:creationId xmlns:p14="http://schemas.microsoft.com/office/powerpoint/2010/main" val="351487831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a:xfrm>
            <a:off x="4433776" y="855081"/>
            <a:ext cx="4365038" cy="1482678"/>
          </a:xfrm>
        </p:spPr>
        <p:txBody>
          <a:bodyPr/>
          <a:lstStyle/>
          <a:p>
            <a:pPr algn="just"/>
            <a:r>
              <a:rPr lang="en-US" sz="1000" dirty="0">
                <a:hlinkClick r:id="rId2"/>
              </a:rPr>
              <a:t>Public Preview: Microsoft Foundry data connection for Azure Databricks</a:t>
            </a:r>
            <a:endParaRPr lang="en-US" sz="1000" dirty="0"/>
          </a:p>
          <a:p>
            <a:pPr algn="just"/>
            <a:r>
              <a:rPr lang="en-US" sz="1000" b="1" dirty="0"/>
              <a:t>Azure Databricks Genie is now integrated with Microsoft Foundry and available in public preview.</a:t>
            </a:r>
            <a:br>
              <a:rPr lang="en-US" sz="1000" dirty="0"/>
            </a:br>
            <a:r>
              <a:rPr lang="en-US" sz="1000" dirty="0"/>
              <a:t>You can now connect Genie spaces directly to Microsoft Foundry agents using </a:t>
            </a:r>
            <a:r>
              <a:rPr lang="en-US" sz="1000" b="1" dirty="0"/>
              <a:t>Model Context Protocol (MCP)</a:t>
            </a:r>
            <a:r>
              <a:rPr lang="en-US" sz="1000" dirty="0"/>
              <a:t>, enabling seamless, governed access to trusted data for intelligent workflows.</a:t>
            </a:r>
          </a:p>
          <a:p>
            <a:pPr algn="just"/>
            <a:r>
              <a:rPr lang="en-US" sz="1000" dirty="0"/>
              <a:t>This integration simplifies AI development by streamlining data connectivity, strengthening governance, and accelerating time-to-value.</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ML &amp; AI &amp; IOT Updates (Azure Foundry) 1/14 </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Claude in Microsoft Foundry</a:t>
            </a:r>
            <a:endParaRPr lang="en-US" dirty="0"/>
          </a:p>
          <a:p>
            <a:pPr algn="just"/>
            <a:r>
              <a:rPr lang="en-US" dirty="0"/>
              <a:t>Enterprises can now access </a:t>
            </a:r>
            <a:r>
              <a:rPr lang="en-US" b="1" dirty="0"/>
              <a:t>Claude Sonnet 4.5, Opus 4.1, and Haiku 4.5</a:t>
            </a:r>
            <a:r>
              <a:rPr lang="en-US" dirty="0"/>
              <a:t> for advanced long-context reasoning, coding, and multimodal comprehension—fully integrated into </a:t>
            </a:r>
            <a:r>
              <a:rPr lang="en-US" b="1" dirty="0"/>
              <a:t>Foundry Models, Playground, and the Agent Service</a:t>
            </a:r>
            <a:r>
              <a:rPr lang="en-US" dirty="0"/>
              <a:t>.</a:t>
            </a:r>
          </a:p>
          <a:p>
            <a:pPr algn="just"/>
            <a:r>
              <a:rPr lang="en-US" dirty="0"/>
              <a:t>These Claude models are delivered through the </a:t>
            </a:r>
            <a:r>
              <a:rPr lang="en-US" b="1" dirty="0"/>
              <a:t>global standard deployment type</a:t>
            </a:r>
            <a:r>
              <a:rPr lang="en-US" dirty="0"/>
              <a:t>, ensuring consistent availability, enterprise-grade support, and compliance across Azure regions worldwide.</a:t>
            </a:r>
          </a:p>
        </p:txBody>
      </p:sp>
    </p:spTree>
    <p:extLst>
      <p:ext uri="{BB962C8B-B14F-4D97-AF65-F5344CB8AC3E}">
        <p14:creationId xmlns:p14="http://schemas.microsoft.com/office/powerpoint/2010/main" val="3732754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8507874-6123-DE5D-1B96-479742FC4EE9}"/>
              </a:ext>
            </a:extLst>
          </p:cNvPr>
          <p:cNvSpPr>
            <a:spLocks noGrp="1"/>
          </p:cNvSpPr>
          <p:nvPr>
            <p:ph type="body" sz="quarter" idx="10"/>
          </p:nvPr>
        </p:nvSpPr>
        <p:spPr/>
        <p:txBody>
          <a:bodyPr/>
          <a:lstStyle/>
          <a:p>
            <a:pPr algn="just"/>
            <a:r>
              <a:rPr lang="en-US" sz="1000" dirty="0">
                <a:hlinkClick r:id="rId2"/>
              </a:rPr>
              <a:t>Public Preview: Agent mitigations and guardrail customization</a:t>
            </a:r>
            <a:endParaRPr lang="en-US" sz="1000" dirty="0"/>
          </a:p>
          <a:p>
            <a:pPr algn="just"/>
            <a:r>
              <a:rPr lang="en-US" sz="1000" b="1" dirty="0"/>
              <a:t>Guardrails for agents are now available in the Microsoft Foundry Control Plane</a:t>
            </a:r>
            <a:r>
              <a:rPr lang="en-US" sz="1000" dirty="0"/>
              <a:t>, extending beyond model-level protection to provide policy enforcement directly at the agent level. Previously known as content filters, these guardrails help mitigate prompt injection, reduce harmful or risky outputs, and improve </a:t>
            </a:r>
            <a:r>
              <a:rPr lang="en-US" sz="1000" dirty="0" err="1"/>
              <a:t>groundedness</a:t>
            </a:r>
            <a:r>
              <a:rPr lang="en-US" sz="1000" dirty="0"/>
              <a:t>.</a:t>
            </a:r>
          </a:p>
          <a:p>
            <a:pPr algn="just"/>
            <a:r>
              <a:rPr lang="en-US" sz="1000" dirty="0"/>
              <a:t>A new capability—</a:t>
            </a:r>
            <a:r>
              <a:rPr lang="en-US" sz="1000" b="1" dirty="0"/>
              <a:t>task adherence detection</a:t>
            </a:r>
            <a:r>
              <a:rPr lang="en-US" sz="1000" dirty="0"/>
              <a:t>—identifies when an agent begins to drift away from its intended task, ensuring more reliable and predictable behavior.</a:t>
            </a:r>
          </a:p>
          <a:p>
            <a:pPr algn="just"/>
            <a:r>
              <a:rPr lang="en-US" sz="1000" dirty="0"/>
              <a:t>The updated </a:t>
            </a:r>
            <a:r>
              <a:rPr lang="en-US" sz="1000" b="1" dirty="0"/>
              <a:t>control model</a:t>
            </a:r>
            <a:r>
              <a:rPr lang="en-US" sz="1000" dirty="0"/>
              <a:t> offers greater flexibility in shaping agent behavior:</a:t>
            </a:r>
          </a:p>
          <a:p>
            <a:pPr marL="171450" indent="-171450" algn="just">
              <a:buFont typeface="Arial" panose="020B0604020202020204" pitchFamily="34" charset="0"/>
              <a:buChar char="•"/>
            </a:pPr>
            <a:r>
              <a:rPr lang="en-US" sz="1000" b="1" dirty="0"/>
              <a:t>Choose which risks to monitor</a:t>
            </a:r>
            <a:endParaRPr lang="en-US" sz="1000" dirty="0"/>
          </a:p>
          <a:p>
            <a:pPr marL="171450" indent="-171450" algn="just">
              <a:buFont typeface="Arial" panose="020B0604020202020204" pitchFamily="34" charset="0"/>
              <a:buChar char="•"/>
            </a:pPr>
            <a:r>
              <a:rPr lang="en-US" sz="1000" b="1" dirty="0"/>
              <a:t>Select intervention points</a:t>
            </a:r>
            <a:r>
              <a:rPr lang="en-US" sz="1000" dirty="0"/>
              <a:t> (prompts, outputs, tool calls, and tool responses)</a:t>
            </a:r>
          </a:p>
          <a:p>
            <a:pPr marL="171450" indent="-171450" algn="just">
              <a:buFont typeface="Arial" panose="020B0604020202020204" pitchFamily="34" charset="0"/>
              <a:buChar char="•"/>
            </a:pPr>
            <a:r>
              <a:rPr lang="en-US" sz="1000" b="1" dirty="0"/>
              <a:t>Define actions</a:t>
            </a:r>
            <a:r>
              <a:rPr lang="en-US" sz="1000" dirty="0"/>
              <a:t> such as annotation or blocking</a:t>
            </a:r>
          </a:p>
          <a:p>
            <a:pPr algn="just"/>
            <a:r>
              <a:rPr lang="en-US" sz="1000" dirty="0"/>
              <a:t>These enhancements enable fine-grained, configurable safety and governance for agents across the Foundry ecosystem.</a:t>
            </a:r>
          </a:p>
        </p:txBody>
      </p:sp>
      <p:sp>
        <p:nvSpPr>
          <p:cNvPr id="3" name="Title 2">
            <a:extLst>
              <a:ext uri="{FF2B5EF4-FFF2-40B4-BE49-F238E27FC236}">
                <a16:creationId xmlns:a16="http://schemas.microsoft.com/office/drawing/2014/main" id="{E0BDD62E-548C-65B2-A474-EEDB7EB89582}"/>
              </a:ext>
            </a:extLst>
          </p:cNvPr>
          <p:cNvSpPr>
            <a:spLocks noGrp="1"/>
          </p:cNvSpPr>
          <p:nvPr>
            <p:ph type="title"/>
          </p:nvPr>
        </p:nvSpPr>
        <p:spPr/>
        <p:txBody>
          <a:bodyPr/>
          <a:lstStyle/>
          <a:p>
            <a:r>
              <a:rPr lang="en-US" sz="1600" dirty="0"/>
              <a:t>ML &amp; AI &amp; IOT Updates (Azure Foundry) 2/14 </a:t>
            </a:r>
            <a:endParaRPr lang="en-US" dirty="0"/>
          </a:p>
        </p:txBody>
      </p:sp>
      <p:sp>
        <p:nvSpPr>
          <p:cNvPr id="4" name="Text Placeholder 3">
            <a:extLst>
              <a:ext uri="{FF2B5EF4-FFF2-40B4-BE49-F238E27FC236}">
                <a16:creationId xmlns:a16="http://schemas.microsoft.com/office/drawing/2014/main" id="{482A7AA1-10FA-3C0E-7911-E9D144AA0812}"/>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2D63856F-B306-29DB-1B86-CBDCCC08345A}"/>
              </a:ext>
            </a:extLst>
          </p:cNvPr>
          <p:cNvSpPr>
            <a:spLocks noGrp="1"/>
          </p:cNvSpPr>
          <p:nvPr>
            <p:ph type="body" sz="quarter" idx="16"/>
          </p:nvPr>
        </p:nvSpPr>
        <p:spPr/>
        <p:txBody>
          <a:bodyPr/>
          <a:lstStyle/>
          <a:p>
            <a:pPr algn="just"/>
            <a:r>
              <a:rPr lang="en-US" dirty="0">
                <a:hlinkClick r:id="rId3"/>
              </a:rPr>
              <a:t>Public Preview: Microsoft Foundry Fine-Tuning Updates</a:t>
            </a:r>
            <a:endParaRPr lang="en-US" dirty="0"/>
          </a:p>
          <a:p>
            <a:pPr algn="just"/>
            <a:r>
              <a:rPr lang="en-US" b="1" dirty="0"/>
              <a:t>Microsoft Foundry Fine-Tuning has been redesigned with a new, agent-first UI</a:t>
            </a:r>
            <a:r>
              <a:rPr lang="en-US" dirty="0"/>
              <a:t>, now in public preview. The updated experience streamlines model creation, evaluation, and deployment, introduces tighter VS Code integration, and modernizes navigation to reduce friction and accelerate AI development.</a:t>
            </a:r>
          </a:p>
          <a:p>
            <a:pPr algn="just"/>
            <a:r>
              <a:rPr lang="en-US" dirty="0"/>
              <a:t>The preview includes support for </a:t>
            </a:r>
            <a:r>
              <a:rPr lang="en-US" b="1" dirty="0"/>
              <a:t>Reinforcement Fine-Tuning (RFT) for GPT-5</a:t>
            </a:r>
            <a:r>
              <a:rPr lang="en-US" dirty="0"/>
              <a:t>, enabling organizations to adapt large language models for highly specialized, context-aware applications. Full migration to the new experience is planned after July 2025.</a:t>
            </a:r>
          </a:p>
          <a:p>
            <a:pPr algn="just"/>
            <a:r>
              <a:rPr lang="en-US" dirty="0"/>
              <a:t>This update equips teams to optimize model performance for unique business needs, future-proof their agent ecosystem, and drive faster, more effective innovation.</a:t>
            </a:r>
          </a:p>
        </p:txBody>
      </p:sp>
    </p:spTree>
    <p:extLst>
      <p:ext uri="{BB962C8B-B14F-4D97-AF65-F5344CB8AC3E}">
        <p14:creationId xmlns:p14="http://schemas.microsoft.com/office/powerpoint/2010/main" val="787996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B33CF1F-D008-E121-D35F-D916186BCEBA}"/>
              </a:ext>
            </a:extLst>
          </p:cNvPr>
          <p:cNvSpPr>
            <a:spLocks noGrp="1"/>
          </p:cNvSpPr>
          <p:nvPr>
            <p:ph type="body" sz="quarter" idx="10"/>
          </p:nvPr>
        </p:nvSpPr>
        <p:spPr>
          <a:xfrm>
            <a:off x="4433776" y="855081"/>
            <a:ext cx="4365038" cy="1354720"/>
          </a:xfrm>
        </p:spPr>
        <p:txBody>
          <a:bodyPr/>
          <a:lstStyle/>
          <a:p>
            <a:pPr algn="just"/>
            <a:r>
              <a:rPr lang="en-US" sz="1000" dirty="0">
                <a:hlinkClick r:id="rId2"/>
              </a:rPr>
              <a:t>Public Preview: Microsoft Foundry one-click deploy channels in Teams, M365 and non-Microsoft</a:t>
            </a:r>
            <a:endParaRPr lang="en-US" sz="1000" dirty="0"/>
          </a:p>
          <a:p>
            <a:pPr algn="just"/>
            <a:r>
              <a:rPr lang="en-US" sz="1000" dirty="0"/>
              <a:t>Microsoft Foundry now </a:t>
            </a:r>
            <a:r>
              <a:rPr lang="en-US" sz="1000" b="1" dirty="0"/>
              <a:t>enables one-click</a:t>
            </a:r>
            <a:r>
              <a:rPr lang="en-US" sz="1000" dirty="0"/>
              <a:t>, no-code publishing of custom agents to </a:t>
            </a:r>
            <a:r>
              <a:rPr lang="en-US" sz="1000" b="1" dirty="0"/>
              <a:t>Microsoft Teams and Microsoft 365 Copilot</a:t>
            </a:r>
            <a:r>
              <a:rPr lang="en-US" sz="1000" dirty="0"/>
              <a:t>. This feature removes the complexity of pro-code deployment, allowing organizations to instantly reach millions of users while maintaining compliance, security, and governance. The streamlined process accelerates adoption and unlocks new </a:t>
            </a:r>
            <a:r>
              <a:rPr lang="en-US" sz="1000" b="1" dirty="0"/>
              <a:t>enterprise scenarios for AI agents.</a:t>
            </a:r>
          </a:p>
        </p:txBody>
      </p:sp>
      <p:sp>
        <p:nvSpPr>
          <p:cNvPr id="3" name="Title 2">
            <a:extLst>
              <a:ext uri="{FF2B5EF4-FFF2-40B4-BE49-F238E27FC236}">
                <a16:creationId xmlns:a16="http://schemas.microsoft.com/office/drawing/2014/main" id="{2118AF97-9CD7-3484-1AB5-FC066A359789}"/>
              </a:ext>
            </a:extLst>
          </p:cNvPr>
          <p:cNvSpPr>
            <a:spLocks noGrp="1"/>
          </p:cNvSpPr>
          <p:nvPr>
            <p:ph type="title"/>
          </p:nvPr>
        </p:nvSpPr>
        <p:spPr/>
        <p:txBody>
          <a:bodyPr/>
          <a:lstStyle/>
          <a:p>
            <a:r>
              <a:rPr lang="en-US" sz="1600" dirty="0"/>
              <a:t>ML &amp; AI &amp; IOT Updates (Azure Foundry) 3/14 </a:t>
            </a:r>
            <a:endParaRPr lang="en-US" dirty="0"/>
          </a:p>
        </p:txBody>
      </p:sp>
      <p:sp>
        <p:nvSpPr>
          <p:cNvPr id="4" name="Text Placeholder 3">
            <a:extLst>
              <a:ext uri="{FF2B5EF4-FFF2-40B4-BE49-F238E27FC236}">
                <a16:creationId xmlns:a16="http://schemas.microsoft.com/office/drawing/2014/main" id="{036190D0-87EE-DBE8-A2E3-16B27D687612}"/>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24E4B454-05F1-BC08-0446-9BDF90D03055}"/>
              </a:ext>
            </a:extLst>
          </p:cNvPr>
          <p:cNvSpPr>
            <a:spLocks noGrp="1"/>
          </p:cNvSpPr>
          <p:nvPr>
            <p:ph type="body" sz="quarter" idx="16"/>
          </p:nvPr>
        </p:nvSpPr>
        <p:spPr/>
        <p:txBody>
          <a:bodyPr/>
          <a:lstStyle/>
          <a:p>
            <a:pPr algn="just"/>
            <a:r>
              <a:rPr lang="en-US" dirty="0">
                <a:hlinkClick r:id="rId3"/>
              </a:rPr>
              <a:t>Public Preview: Microsoft Foundry Control Plane &amp; Entra Agent ID</a:t>
            </a:r>
            <a:endParaRPr lang="en-US" dirty="0"/>
          </a:p>
          <a:p>
            <a:pPr algn="just"/>
            <a:r>
              <a:rPr lang="en-US" dirty="0"/>
              <a:t>Microsoft Foundry introduces a unified platform for enterprise AI agent observability, security, and governance. The Control Plane integrates identity, monitoring, and compliance, providing centralized control, deep observability, and compliance for agent fleets. </a:t>
            </a:r>
            <a:r>
              <a:rPr lang="en-US" b="1" dirty="0"/>
              <a:t>Entra Agent ID anchors unified discovery and governance, ensuring agents adhere to enterprise security and Zero Trust standards.</a:t>
            </a:r>
          </a:p>
          <a:p>
            <a:pPr algn="just"/>
            <a:endParaRPr lang="en-US" b="1" dirty="0"/>
          </a:p>
        </p:txBody>
      </p:sp>
    </p:spTree>
    <p:extLst>
      <p:ext uri="{BB962C8B-B14F-4D97-AF65-F5344CB8AC3E}">
        <p14:creationId xmlns:p14="http://schemas.microsoft.com/office/powerpoint/2010/main" val="718675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2F4D909-622C-9344-5034-705B517E6993}"/>
              </a:ext>
            </a:extLst>
          </p:cNvPr>
          <p:cNvSpPr>
            <a:spLocks noGrp="1"/>
          </p:cNvSpPr>
          <p:nvPr>
            <p:ph type="body" sz="quarter" idx="10"/>
          </p:nvPr>
        </p:nvSpPr>
        <p:spPr>
          <a:xfrm>
            <a:off x="4433776" y="855081"/>
            <a:ext cx="4365038" cy="1929684"/>
          </a:xfrm>
        </p:spPr>
        <p:txBody>
          <a:bodyPr/>
          <a:lstStyle/>
          <a:p>
            <a:pPr algn="just"/>
            <a:r>
              <a:rPr lang="en-US" sz="1000" dirty="0">
                <a:hlinkClick r:id="rId2"/>
              </a:rPr>
              <a:t>Public Preview: New granular controls for network and integration security in Microsoft Foundry</a:t>
            </a:r>
            <a:endParaRPr lang="en-US" sz="1000" dirty="0"/>
          </a:p>
          <a:p>
            <a:pPr algn="just"/>
            <a:r>
              <a:rPr lang="en-US" sz="1000" dirty="0"/>
              <a:t>Microsoft Foundry streamlines AI development and management for the enterprise. MS introduced more granular </a:t>
            </a:r>
            <a:r>
              <a:rPr lang="en-US" sz="1000" b="1" dirty="0"/>
              <a:t>controls for network and integration security and resource management that empower IT admins to deploy </a:t>
            </a:r>
            <a:r>
              <a:rPr lang="en-US" sz="1000" dirty="0"/>
              <a:t>AI solutions while meeting enterprise-grade security, compliance, and governance requirements. </a:t>
            </a:r>
          </a:p>
          <a:p>
            <a:pPr algn="just"/>
            <a:r>
              <a:rPr lang="en-US" sz="1000" dirty="0"/>
              <a:t>Bring Your Own (BYO) Storage for </a:t>
            </a:r>
            <a:r>
              <a:rPr lang="en-US" sz="1000" b="1" dirty="0"/>
              <a:t>Speech and Language in Foundry is in public preview. </a:t>
            </a:r>
            <a:r>
              <a:rPr lang="en-US" sz="1000" dirty="0"/>
              <a:t>Link own Azure Storage account to Speech and Language services in Foundry Tools, for complete control over where and how data is stored, including access policies and retention. </a:t>
            </a:r>
          </a:p>
        </p:txBody>
      </p:sp>
      <p:sp>
        <p:nvSpPr>
          <p:cNvPr id="3" name="Title 2">
            <a:extLst>
              <a:ext uri="{FF2B5EF4-FFF2-40B4-BE49-F238E27FC236}">
                <a16:creationId xmlns:a16="http://schemas.microsoft.com/office/drawing/2014/main" id="{C2D2C915-AD12-BD99-A9C5-293509E156C5}"/>
              </a:ext>
            </a:extLst>
          </p:cNvPr>
          <p:cNvSpPr>
            <a:spLocks noGrp="1"/>
          </p:cNvSpPr>
          <p:nvPr>
            <p:ph type="title"/>
          </p:nvPr>
        </p:nvSpPr>
        <p:spPr/>
        <p:txBody>
          <a:bodyPr/>
          <a:lstStyle/>
          <a:p>
            <a:r>
              <a:rPr lang="en-US" sz="1600" dirty="0"/>
              <a:t>ML &amp; AI &amp; IOT Updates (Azure Foundry) 4/14 </a:t>
            </a:r>
            <a:endParaRPr lang="en-US" dirty="0"/>
          </a:p>
        </p:txBody>
      </p:sp>
      <p:sp>
        <p:nvSpPr>
          <p:cNvPr id="4" name="Text Placeholder 3">
            <a:extLst>
              <a:ext uri="{FF2B5EF4-FFF2-40B4-BE49-F238E27FC236}">
                <a16:creationId xmlns:a16="http://schemas.microsoft.com/office/drawing/2014/main" id="{A4E8F104-E401-53BF-2100-1D2D4828909B}"/>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F36B0653-B876-ADB8-42B3-15E799DC1E0C}"/>
              </a:ext>
            </a:extLst>
          </p:cNvPr>
          <p:cNvSpPr>
            <a:spLocks noGrp="1"/>
          </p:cNvSpPr>
          <p:nvPr>
            <p:ph type="body" sz="quarter" idx="16"/>
          </p:nvPr>
        </p:nvSpPr>
        <p:spPr/>
        <p:txBody>
          <a:bodyPr/>
          <a:lstStyle/>
          <a:p>
            <a:r>
              <a:rPr lang="en-US" dirty="0">
                <a:hlinkClick r:id="rId3"/>
              </a:rPr>
              <a:t>Public Preview: LLM Speech in Microsoft Foundry</a:t>
            </a:r>
            <a:endParaRPr lang="en-US" dirty="0"/>
          </a:p>
          <a:p>
            <a:r>
              <a:rPr lang="en-US" b="1" dirty="0"/>
              <a:t>LLM Speech in Microsoft Foundry</a:t>
            </a:r>
            <a:r>
              <a:rPr lang="en-US" dirty="0"/>
              <a:t> introduces advanced large language model capabilities to speech processing, delivering highly fluent, context-aware transcription and translation. With expanded multilingual support and powerful prompt-tuning options, the API adapts to diverse business scenarios and consistently outperforms competing solutions across key benchmarks.</a:t>
            </a:r>
            <a:br>
              <a:rPr lang="en-US" dirty="0"/>
            </a:br>
            <a:r>
              <a:rPr lang="en-US" dirty="0"/>
              <a:t>This release provides enterprises with customizable, intelligent speech capabilities built directly into the Foundry ecosystem.</a:t>
            </a:r>
          </a:p>
        </p:txBody>
      </p:sp>
    </p:spTree>
    <p:extLst>
      <p:ext uri="{BB962C8B-B14F-4D97-AF65-F5344CB8AC3E}">
        <p14:creationId xmlns:p14="http://schemas.microsoft.com/office/powerpoint/2010/main" val="688204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8F05191-BDA9-7087-28E5-84BE20F58C2C}"/>
              </a:ext>
            </a:extLst>
          </p:cNvPr>
          <p:cNvSpPr>
            <a:spLocks noGrp="1"/>
          </p:cNvSpPr>
          <p:nvPr>
            <p:ph type="body" sz="quarter" idx="10"/>
          </p:nvPr>
        </p:nvSpPr>
        <p:spPr/>
        <p:txBody>
          <a:bodyPr/>
          <a:lstStyle/>
          <a:p>
            <a:pPr algn="just"/>
            <a:r>
              <a:rPr lang="en-US" sz="1000" dirty="0">
                <a:hlinkClick r:id="rId2"/>
              </a:rPr>
              <a:t>Public Preview: New AI templates in Microsoft Foundry</a:t>
            </a:r>
            <a:endParaRPr lang="en-US" sz="1000" dirty="0"/>
          </a:p>
          <a:p>
            <a:pPr algn="just"/>
            <a:r>
              <a:rPr lang="en-US" sz="1000" dirty="0"/>
              <a:t>Microsoft Foundry introduces new </a:t>
            </a:r>
            <a:r>
              <a:rPr lang="en-US" sz="1000" b="1" dirty="0"/>
              <a:t>ready-to-use, customizable AI templates for popular use cases such as live voice </a:t>
            </a:r>
            <a:r>
              <a:rPr lang="en-US" sz="1000" dirty="0"/>
              <a:t>agents, release management, data unification, and SharePoint integration applications. These templates eliminate repetitive setup tasks, reduce deployment friction, and accelerate the journey from concept to production. With customizable code samples, </a:t>
            </a:r>
            <a:r>
              <a:rPr lang="en-US" sz="1000" b="1" dirty="0"/>
              <a:t>pre-integrated Azure services and GitHub-hosted quick-start guides, development teams can launch faster</a:t>
            </a:r>
            <a:r>
              <a:rPr lang="en-US" sz="1000" dirty="0"/>
              <a:t>, customize easily, and scale securely on Microsoft’s trusted AI infrastructure. </a:t>
            </a:r>
          </a:p>
        </p:txBody>
      </p:sp>
      <p:sp>
        <p:nvSpPr>
          <p:cNvPr id="3" name="Title 2">
            <a:extLst>
              <a:ext uri="{FF2B5EF4-FFF2-40B4-BE49-F238E27FC236}">
                <a16:creationId xmlns:a16="http://schemas.microsoft.com/office/drawing/2014/main" id="{6B699C11-79BE-C2CE-76E6-461B1974DFE1}"/>
              </a:ext>
            </a:extLst>
          </p:cNvPr>
          <p:cNvSpPr>
            <a:spLocks noGrp="1"/>
          </p:cNvSpPr>
          <p:nvPr>
            <p:ph type="title"/>
          </p:nvPr>
        </p:nvSpPr>
        <p:spPr/>
        <p:txBody>
          <a:bodyPr/>
          <a:lstStyle/>
          <a:p>
            <a:r>
              <a:rPr lang="en-US" sz="1600" dirty="0"/>
              <a:t>ML &amp; AI &amp; IOT Updates (Azure Foundry) 5/14 </a:t>
            </a:r>
            <a:endParaRPr lang="en-US" dirty="0"/>
          </a:p>
        </p:txBody>
      </p:sp>
      <p:sp>
        <p:nvSpPr>
          <p:cNvPr id="4" name="Text Placeholder 3">
            <a:extLst>
              <a:ext uri="{FF2B5EF4-FFF2-40B4-BE49-F238E27FC236}">
                <a16:creationId xmlns:a16="http://schemas.microsoft.com/office/drawing/2014/main" id="{227D21FE-7907-2FD8-CEC8-B600C27FFFD2}"/>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A14C02A2-8CED-EA32-B026-0C6DB2393902}"/>
              </a:ext>
            </a:extLst>
          </p:cNvPr>
          <p:cNvSpPr>
            <a:spLocks noGrp="1"/>
          </p:cNvSpPr>
          <p:nvPr>
            <p:ph type="body" sz="quarter" idx="16"/>
          </p:nvPr>
        </p:nvSpPr>
        <p:spPr>
          <a:xfrm>
            <a:off x="342900" y="855080"/>
            <a:ext cx="3955312" cy="1839629"/>
          </a:xfrm>
        </p:spPr>
        <p:txBody>
          <a:bodyPr/>
          <a:lstStyle/>
          <a:p>
            <a:pPr algn="just"/>
            <a:r>
              <a:rPr lang="en-US" dirty="0">
                <a:hlinkClick r:id="rId3"/>
              </a:rPr>
              <a:t>Private Preview: Foundry Local Android support</a:t>
            </a:r>
            <a:endParaRPr lang="en-US" dirty="0"/>
          </a:p>
          <a:p>
            <a:pPr algn="just"/>
            <a:r>
              <a:rPr lang="en-US" dirty="0"/>
              <a:t>Foundry Local now extends its capabilities to Android, in addition to Windows and Mac supporting advanced on-device AI for smartphones, tablets, and IoT devices, while Whisper model integration delivers robust, privacy-preserving speech and audio processing.</a:t>
            </a:r>
          </a:p>
          <a:p>
            <a:pPr algn="just"/>
            <a:r>
              <a:rPr lang="en-US" dirty="0"/>
              <a:t>The redesigned </a:t>
            </a:r>
            <a:r>
              <a:rPr lang="en-US" b="1" dirty="0"/>
              <a:t>Foundry Local SDK lets developers quickly create and launch AI-driven applications. </a:t>
            </a:r>
            <a:r>
              <a:rPr lang="en-US" dirty="0"/>
              <a:t>It features dynamic hardware accelerator compatibility and built-in chat and audio interfaces, all operating independently without needing outside dependencies.</a:t>
            </a:r>
          </a:p>
        </p:txBody>
      </p:sp>
    </p:spTree>
    <p:extLst>
      <p:ext uri="{BB962C8B-B14F-4D97-AF65-F5344CB8AC3E}">
        <p14:creationId xmlns:p14="http://schemas.microsoft.com/office/powerpoint/2010/main" val="3041600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FB5D179-48CA-A602-B734-AFA775DC48EB}"/>
              </a:ext>
            </a:extLst>
          </p:cNvPr>
          <p:cNvSpPr>
            <a:spLocks noGrp="1"/>
          </p:cNvSpPr>
          <p:nvPr>
            <p:ph type="body" sz="quarter" idx="10"/>
          </p:nvPr>
        </p:nvSpPr>
        <p:spPr/>
        <p:txBody>
          <a:bodyPr/>
          <a:lstStyle/>
          <a:p>
            <a:pPr algn="just"/>
            <a:r>
              <a:rPr lang="en-US" sz="1000" dirty="0">
                <a:hlinkClick r:id="rId2"/>
              </a:rPr>
              <a:t>Public Preview: Multi-agent workflows in Foundry Agent Service</a:t>
            </a:r>
            <a:endParaRPr lang="en-US" sz="1000" dirty="0"/>
          </a:p>
          <a:p>
            <a:pPr algn="just"/>
            <a:r>
              <a:rPr lang="en-US" sz="1000" dirty="0"/>
              <a:t>Developers can now build powerful multi-agent workflows using a visual designer or a code-first API. These workflows offer structured orchestration, shared context, persistent state, and built-in error recovery for complex enterprise processes. Their modular architecture enables secure data handling, easy extensibility, and long-term state management—making them ideal for advanced automation and enterprise-grade scenarios.</a:t>
            </a:r>
          </a:p>
          <a:p>
            <a:pPr algn="just"/>
            <a:r>
              <a:rPr lang="en-US" sz="1000" dirty="0"/>
              <a:t>If you'd like an even more concise or more marketing-style version, just let me know.</a:t>
            </a:r>
          </a:p>
        </p:txBody>
      </p:sp>
      <p:sp>
        <p:nvSpPr>
          <p:cNvPr id="3" name="Title 2">
            <a:extLst>
              <a:ext uri="{FF2B5EF4-FFF2-40B4-BE49-F238E27FC236}">
                <a16:creationId xmlns:a16="http://schemas.microsoft.com/office/drawing/2014/main" id="{78117996-B133-A500-2C58-7348C3136E78}"/>
              </a:ext>
            </a:extLst>
          </p:cNvPr>
          <p:cNvSpPr>
            <a:spLocks noGrp="1"/>
          </p:cNvSpPr>
          <p:nvPr>
            <p:ph type="title"/>
          </p:nvPr>
        </p:nvSpPr>
        <p:spPr/>
        <p:txBody>
          <a:bodyPr/>
          <a:lstStyle/>
          <a:p>
            <a:r>
              <a:rPr lang="en-US" sz="1600" dirty="0"/>
              <a:t>ML &amp; AI &amp; IOT Updates (Azure Foundry) 6/14 </a:t>
            </a:r>
            <a:endParaRPr lang="en-US" dirty="0"/>
          </a:p>
        </p:txBody>
      </p:sp>
      <p:sp>
        <p:nvSpPr>
          <p:cNvPr id="4" name="Text Placeholder 3">
            <a:extLst>
              <a:ext uri="{FF2B5EF4-FFF2-40B4-BE49-F238E27FC236}">
                <a16:creationId xmlns:a16="http://schemas.microsoft.com/office/drawing/2014/main" id="{0C134B0F-07EF-8732-E7EF-513C867A3D7C}"/>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6B7BF573-400F-70EE-C364-F8904A2C19EF}"/>
              </a:ext>
            </a:extLst>
          </p:cNvPr>
          <p:cNvSpPr>
            <a:spLocks noGrp="1"/>
          </p:cNvSpPr>
          <p:nvPr>
            <p:ph type="body" sz="quarter" idx="16"/>
          </p:nvPr>
        </p:nvSpPr>
        <p:spPr/>
        <p:txBody>
          <a:bodyPr/>
          <a:lstStyle/>
          <a:p>
            <a:pPr algn="just"/>
            <a:r>
              <a:rPr lang="en-US" dirty="0">
                <a:hlinkClick r:id="rId3"/>
              </a:rPr>
              <a:t>Public Preview: Bring Your Own AI Gateway to Foundry Agent Service</a:t>
            </a:r>
            <a:endParaRPr lang="en-US" dirty="0"/>
          </a:p>
          <a:p>
            <a:pPr algn="just"/>
            <a:r>
              <a:rPr lang="en-US" dirty="0"/>
              <a:t>The </a:t>
            </a:r>
            <a:r>
              <a:rPr lang="en-US" b="1" dirty="0"/>
              <a:t>BYO AI Model Gateway </a:t>
            </a:r>
            <a:r>
              <a:rPr lang="en-US" dirty="0"/>
              <a:t>feature allows enterprises to </a:t>
            </a:r>
            <a:r>
              <a:rPr lang="en-US" b="1" dirty="0"/>
              <a:t>connect Foundry-hosted models through any AI gateway services like Azure API Management</a:t>
            </a:r>
            <a:r>
              <a:rPr lang="en-US" dirty="0"/>
              <a:t>, </a:t>
            </a:r>
            <a:r>
              <a:rPr lang="en-US" dirty="0" err="1"/>
              <a:t>Mulesoft</a:t>
            </a:r>
            <a:r>
              <a:rPr lang="en-US" dirty="0"/>
              <a:t>, and Kong, to Foundry Agent Service.</a:t>
            </a:r>
          </a:p>
          <a:p>
            <a:pPr algn="just"/>
            <a:r>
              <a:rPr lang="en-US" dirty="0"/>
              <a:t>The Agent Service honors pre/post‑LLM hooks, policy‑based model selection, and multi‑region/multi‑provider load‑balancing with automatic failover, so teams can optimize for latency, cost, compliance, and availability without changing application code. This enables organizations to build agents using their own managed endpoints while maintaining enterprise-grade governance, security, and compliance.</a:t>
            </a:r>
          </a:p>
        </p:txBody>
      </p:sp>
    </p:spTree>
    <p:extLst>
      <p:ext uri="{BB962C8B-B14F-4D97-AF65-F5344CB8AC3E}">
        <p14:creationId xmlns:p14="http://schemas.microsoft.com/office/powerpoint/2010/main" val="820118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charRg st="63" end="49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charRg st="490" end="57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034ECDF-913E-F594-9529-1DBF20AEDBCF}"/>
              </a:ext>
            </a:extLst>
          </p:cNvPr>
          <p:cNvSpPr>
            <a:spLocks noGrp="1"/>
          </p:cNvSpPr>
          <p:nvPr>
            <p:ph type="body" sz="quarter" idx="10"/>
          </p:nvPr>
        </p:nvSpPr>
        <p:spPr/>
        <p:txBody>
          <a:bodyPr/>
          <a:lstStyle/>
          <a:p>
            <a:pPr algn="just"/>
            <a:r>
              <a:rPr lang="en-US" sz="1000" dirty="0">
                <a:hlinkClick r:id="rId2"/>
              </a:rPr>
              <a:t>Announcing: Developer Training tier for low-cost fine-tuning training</a:t>
            </a:r>
            <a:endParaRPr lang="en-US" sz="1000" dirty="0"/>
          </a:p>
          <a:p>
            <a:pPr algn="just"/>
            <a:r>
              <a:rPr lang="en-US" sz="1000" dirty="0"/>
              <a:t>Microsoft Foundry now offers a Developer Training tier, delivering ultra-low-cost model training by using spot capacity. Similar to the affordable Developer tier for model hosting, this tier applies the same pricing advantages to fine-tuning workflows. It’s ideal for rapid experimentation, testing multiple model variants, building MVPs, or running low-throughput training jobs—enabling teams to iterate quickly and cost-effectively before moving to production-grade tiers.</a:t>
            </a:r>
          </a:p>
          <a:p>
            <a:pPr algn="just"/>
            <a:r>
              <a:rPr lang="en-US" sz="1000" dirty="0"/>
              <a:t>If you want an even shorter, more promotional, or more technical version, I can generate that too.</a:t>
            </a:r>
          </a:p>
        </p:txBody>
      </p:sp>
      <p:sp>
        <p:nvSpPr>
          <p:cNvPr id="3" name="Title 2">
            <a:extLst>
              <a:ext uri="{FF2B5EF4-FFF2-40B4-BE49-F238E27FC236}">
                <a16:creationId xmlns:a16="http://schemas.microsoft.com/office/drawing/2014/main" id="{A41A1C9E-F973-7123-FC76-0C15023BC092}"/>
              </a:ext>
            </a:extLst>
          </p:cNvPr>
          <p:cNvSpPr>
            <a:spLocks noGrp="1"/>
          </p:cNvSpPr>
          <p:nvPr>
            <p:ph type="title"/>
          </p:nvPr>
        </p:nvSpPr>
        <p:spPr/>
        <p:txBody>
          <a:bodyPr/>
          <a:lstStyle/>
          <a:p>
            <a:r>
              <a:rPr lang="en-US" sz="1600" dirty="0"/>
              <a:t>ML &amp; AI &amp; IOT Updates (Azure Foundry) 7/14 </a:t>
            </a:r>
            <a:endParaRPr lang="en-US" dirty="0"/>
          </a:p>
        </p:txBody>
      </p:sp>
      <p:sp>
        <p:nvSpPr>
          <p:cNvPr id="4" name="Text Placeholder 3">
            <a:extLst>
              <a:ext uri="{FF2B5EF4-FFF2-40B4-BE49-F238E27FC236}">
                <a16:creationId xmlns:a16="http://schemas.microsoft.com/office/drawing/2014/main" id="{0418344D-772D-A62F-34D5-12E379403A1B}"/>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093F7E9E-F16A-F4DA-9362-5602B6B08C01}"/>
              </a:ext>
            </a:extLst>
          </p:cNvPr>
          <p:cNvSpPr>
            <a:spLocks noGrp="1"/>
          </p:cNvSpPr>
          <p:nvPr>
            <p:ph type="body" sz="quarter" idx="16"/>
          </p:nvPr>
        </p:nvSpPr>
        <p:spPr/>
        <p:txBody>
          <a:bodyPr/>
          <a:lstStyle/>
          <a:p>
            <a:pPr algn="just"/>
            <a:r>
              <a:rPr lang="en-US" dirty="0">
                <a:hlinkClick r:id="rId3"/>
              </a:rPr>
              <a:t>Public Preview: Azure Cosmos DB MCP </a:t>
            </a:r>
            <a:r>
              <a:rPr lang="en-US" dirty="0" err="1">
                <a:hlinkClick r:id="rId3"/>
              </a:rPr>
              <a:t>ToolKit</a:t>
            </a:r>
            <a:r>
              <a:rPr lang="en-US" dirty="0">
                <a:hlinkClick r:id="rId3"/>
              </a:rPr>
              <a:t> for Microsoft Foundry Agent Service</a:t>
            </a:r>
            <a:endParaRPr lang="en-US" dirty="0"/>
          </a:p>
          <a:p>
            <a:pPr algn="just"/>
            <a:r>
              <a:rPr lang="en-US" dirty="0"/>
              <a:t>Azure Cosmos DB for NoSQL now </a:t>
            </a:r>
            <a:r>
              <a:rPr lang="en-US" b="1" dirty="0"/>
              <a:t>offers an MCP Toolkit that can be used with Microsoft Foundry Agent Service</a:t>
            </a:r>
            <a:r>
              <a:rPr lang="en-US" dirty="0"/>
              <a:t>, available today in public preview. </a:t>
            </a:r>
          </a:p>
          <a:p>
            <a:pPr algn="just"/>
            <a:r>
              <a:rPr lang="en-US" dirty="0"/>
              <a:t> This new integration allows to connect </a:t>
            </a:r>
            <a:r>
              <a:rPr lang="en-US" b="1" dirty="0"/>
              <a:t>Microsoft Foundry Agents directly to data in Azure Cosmos DB. </a:t>
            </a:r>
            <a:r>
              <a:rPr lang="en-US" dirty="0"/>
              <a:t>By deploying the Azure Cosmos DB MCP Toolkit Server in your Azure environment, you can enable your agents to perform secure data operations and run semantic searches within Azure Cosmos DB. </a:t>
            </a:r>
          </a:p>
          <a:p>
            <a:pPr algn="just"/>
            <a:r>
              <a:rPr lang="en-US" dirty="0"/>
              <a:t>The toolkit includes multiple </a:t>
            </a:r>
            <a:r>
              <a:rPr lang="en-US" b="1" dirty="0"/>
              <a:t>ready-to-use tools that simplify setup and configuration, helping your agents discover data and retrieve </a:t>
            </a:r>
            <a:r>
              <a:rPr lang="en-US" dirty="0"/>
              <a:t>the right information for reasoning and task execution. You can now build data-aware agents that respond to user requests with information drawn from live operational data. The integration in Microsoft Foundry Agents Service makes it easy to connect to the MCP server and get started. </a:t>
            </a:r>
          </a:p>
        </p:txBody>
      </p:sp>
    </p:spTree>
    <p:extLst>
      <p:ext uri="{BB962C8B-B14F-4D97-AF65-F5344CB8AC3E}">
        <p14:creationId xmlns:p14="http://schemas.microsoft.com/office/powerpoint/2010/main" val="3054276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charRg st="70" end="54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charRg st="545" end="64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5AC36E-9F83-6234-0578-15246AD2C2BE}"/>
              </a:ext>
            </a:extLst>
          </p:cNvPr>
          <p:cNvSpPr>
            <a:spLocks noGrp="1"/>
          </p:cNvSpPr>
          <p:nvPr>
            <p:ph type="title"/>
          </p:nvPr>
        </p:nvSpPr>
        <p:spPr/>
        <p:txBody>
          <a:bodyPr/>
          <a:lstStyle/>
          <a:p>
            <a:r>
              <a:rPr lang="en-US" sz="1600" dirty="0"/>
              <a:t>ML &amp; AI &amp; IOT Updates (Azure Foundry) 8/14 </a:t>
            </a:r>
            <a:endParaRPr lang="en-US" dirty="0"/>
          </a:p>
        </p:txBody>
      </p:sp>
      <p:sp>
        <p:nvSpPr>
          <p:cNvPr id="4" name="Text Placeholder 3">
            <a:extLst>
              <a:ext uri="{FF2B5EF4-FFF2-40B4-BE49-F238E27FC236}">
                <a16:creationId xmlns:a16="http://schemas.microsoft.com/office/drawing/2014/main" id="{1498CA07-C3A7-67D2-24E4-61EF974B5B44}"/>
              </a:ext>
            </a:extLst>
          </p:cNvPr>
          <p:cNvSpPr>
            <a:spLocks noGrp="1"/>
          </p:cNvSpPr>
          <p:nvPr>
            <p:ph type="body" sz="quarter" idx="15"/>
          </p:nvPr>
        </p:nvSpPr>
        <p:spPr/>
        <p:txBody>
          <a:bodyPr/>
          <a:lstStyle/>
          <a:p>
            <a:endParaRPr lang="en-US"/>
          </a:p>
        </p:txBody>
      </p:sp>
      <p:sp>
        <p:nvSpPr>
          <p:cNvPr id="6" name="Text Placeholder 1">
            <a:extLst>
              <a:ext uri="{FF2B5EF4-FFF2-40B4-BE49-F238E27FC236}">
                <a16:creationId xmlns:a16="http://schemas.microsoft.com/office/drawing/2014/main" id="{46E88972-B893-3336-35D8-492B4D44CFAF}"/>
              </a:ext>
            </a:extLst>
          </p:cNvPr>
          <p:cNvSpPr txBox="1">
            <a:spLocks/>
          </p:cNvSpPr>
          <p:nvPr/>
        </p:nvSpPr>
        <p:spPr>
          <a:xfrm>
            <a:off x="342900" y="855080"/>
            <a:ext cx="3802897"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2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sz="1000" dirty="0">
                <a:hlinkClick r:id="rId2"/>
              </a:rPr>
              <a:t>Public Preview: Enterprise MCP enhancements in Foundry Agent Service</a:t>
            </a:r>
            <a:endParaRPr lang="en-US" sz="1000" dirty="0"/>
          </a:p>
          <a:p>
            <a:pPr algn="just"/>
            <a:r>
              <a:rPr lang="en-US" sz="1000" dirty="0"/>
              <a:t>Microsoft Foundry has enhanced </a:t>
            </a:r>
            <a:r>
              <a:rPr lang="en-US" sz="1000" b="1" dirty="0"/>
              <a:t>integration to Enterprise MCP </a:t>
            </a:r>
            <a:r>
              <a:rPr lang="en-US" sz="1000" dirty="0"/>
              <a:t>to enable secure, authenticated connections to MCP servers, allowing credentials to be passed to MCP servers securely. </a:t>
            </a:r>
            <a:r>
              <a:rPr lang="en-US" sz="1000" b="1" dirty="0"/>
              <a:t>These updates enable enhanced flexibility, security, and compliance when integrating MCP with Microsoft Foundry.</a:t>
            </a:r>
          </a:p>
        </p:txBody>
      </p:sp>
      <p:sp>
        <p:nvSpPr>
          <p:cNvPr id="7" name="Text Placeholder 1">
            <a:extLst>
              <a:ext uri="{FF2B5EF4-FFF2-40B4-BE49-F238E27FC236}">
                <a16:creationId xmlns:a16="http://schemas.microsoft.com/office/drawing/2014/main" id="{5769EF47-F1AD-D906-895D-C80A2985B339}"/>
              </a:ext>
            </a:extLst>
          </p:cNvPr>
          <p:cNvSpPr>
            <a:spLocks noGrp="1"/>
          </p:cNvSpPr>
          <p:nvPr>
            <p:ph type="body" sz="quarter" idx="10"/>
          </p:nvPr>
        </p:nvSpPr>
        <p:spPr>
          <a:xfrm>
            <a:off x="4433776" y="855080"/>
            <a:ext cx="4365038" cy="3774069"/>
          </a:xfrm>
        </p:spPr>
        <p:txBody>
          <a:bodyPr/>
          <a:lstStyle/>
          <a:p>
            <a:pPr algn="just"/>
            <a:r>
              <a:rPr lang="en-US" sz="1000" dirty="0">
                <a:hlinkClick r:id="rId3"/>
              </a:rPr>
              <a:t>Public Preview: Built-in memory in Foundry Agent Service</a:t>
            </a:r>
            <a:endParaRPr lang="en-US" sz="1000" dirty="0"/>
          </a:p>
          <a:p>
            <a:pPr algn="just"/>
            <a:r>
              <a:rPr lang="en-US" sz="1000" dirty="0"/>
              <a:t>The new long-term memory capability in the </a:t>
            </a:r>
            <a:r>
              <a:rPr lang="en-US" sz="1000" b="1" dirty="0"/>
              <a:t>Foundry Agent Service provides developers with a scalable and resilient </a:t>
            </a:r>
            <a:r>
              <a:rPr lang="en-US" sz="1000" dirty="0"/>
              <a:t>foundation for building agents that can remember, adapt, and maintain coherence across sessions and workflows. Integrated directly into the Foundry runtime, this persistent memory layer allows agents to store and retrieve chat summaries, user preferences, and important task outcomes. The result is more natural, consistent, and personalized agent behavior throughout ongoing interactions.</a:t>
            </a:r>
          </a:p>
        </p:txBody>
      </p:sp>
    </p:spTree>
    <p:extLst>
      <p:ext uri="{BB962C8B-B14F-4D97-AF65-F5344CB8AC3E}">
        <p14:creationId xmlns:p14="http://schemas.microsoft.com/office/powerpoint/2010/main" val="2327526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B8AB6-F4BE-B939-4E0F-96B99FC376B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3EA4C91-C9E2-0E20-5255-75111122E6E2}"/>
              </a:ext>
            </a:extLst>
          </p:cNvPr>
          <p:cNvSpPr>
            <a:spLocks noGrp="1"/>
          </p:cNvSpPr>
          <p:nvPr>
            <p:ph type="body" sz="quarter" idx="10"/>
          </p:nvPr>
        </p:nvSpPr>
        <p:spPr>
          <a:xfrm>
            <a:off x="4433776" y="855081"/>
            <a:ext cx="4365038" cy="1465556"/>
          </a:xfrm>
        </p:spPr>
        <p:txBody>
          <a:bodyPr/>
          <a:lstStyle/>
          <a:p>
            <a:pPr algn="just"/>
            <a:r>
              <a:rPr lang="en-US" sz="1000" dirty="0">
                <a:hlinkClick r:id="rId2"/>
              </a:rPr>
              <a:t>Public Preview: Hosted agents in Foundry Agent Service</a:t>
            </a:r>
            <a:endParaRPr lang="ru-RU" sz="1000" dirty="0"/>
          </a:p>
          <a:p>
            <a:pPr algn="just"/>
            <a:r>
              <a:rPr lang="en-US" sz="1000" dirty="0"/>
              <a:t>Hosted agents in </a:t>
            </a:r>
            <a:r>
              <a:rPr lang="en-US" sz="1000" b="1" dirty="0"/>
              <a:t>Foundry Agent Service make it effortless for teams to move from local experimentation to full-scale production.</a:t>
            </a:r>
          </a:p>
          <a:p>
            <a:pPr algn="just"/>
            <a:r>
              <a:rPr lang="en-US" sz="1000" dirty="0"/>
              <a:t>Developers can now deploy </a:t>
            </a:r>
            <a:r>
              <a:rPr lang="en-US" sz="1000" b="1" dirty="0"/>
              <a:t>custom-code agents built with Microsoft Agent Framework, </a:t>
            </a:r>
            <a:r>
              <a:rPr lang="en-US" sz="1000" b="1" dirty="0" err="1"/>
              <a:t>LangGraph</a:t>
            </a:r>
            <a:r>
              <a:rPr lang="en-US" sz="1000" b="1" dirty="0"/>
              <a:t>, </a:t>
            </a:r>
            <a:r>
              <a:rPr lang="en-US" sz="1000" b="1" dirty="0" err="1"/>
              <a:t>CrewAI</a:t>
            </a:r>
            <a:r>
              <a:rPr lang="en-US" sz="1000" b="1" dirty="0"/>
              <a:t>, or other open-source frameworks directly </a:t>
            </a:r>
            <a:r>
              <a:rPr lang="en-US" sz="1000" dirty="0"/>
              <a:t>into a fully managed runtime—no container images, Kubernetes clusters, or deployment pipelines required.</a:t>
            </a:r>
          </a:p>
        </p:txBody>
      </p:sp>
      <p:sp>
        <p:nvSpPr>
          <p:cNvPr id="3" name="Title 2">
            <a:extLst>
              <a:ext uri="{FF2B5EF4-FFF2-40B4-BE49-F238E27FC236}">
                <a16:creationId xmlns:a16="http://schemas.microsoft.com/office/drawing/2014/main" id="{9D5147E9-AB13-EBEE-A9D4-972623AFB9AE}"/>
              </a:ext>
            </a:extLst>
          </p:cNvPr>
          <p:cNvSpPr>
            <a:spLocks noGrp="1"/>
          </p:cNvSpPr>
          <p:nvPr>
            <p:ph type="title"/>
          </p:nvPr>
        </p:nvSpPr>
        <p:spPr/>
        <p:txBody>
          <a:bodyPr/>
          <a:lstStyle/>
          <a:p>
            <a:r>
              <a:rPr lang="en-US" sz="1600" dirty="0"/>
              <a:t>ML &amp; AI &amp; IOT Updates (Azure Foundry) 9/14 </a:t>
            </a:r>
            <a:endParaRPr lang="en-US" dirty="0"/>
          </a:p>
        </p:txBody>
      </p:sp>
      <p:sp>
        <p:nvSpPr>
          <p:cNvPr id="4" name="Text Placeholder 3">
            <a:extLst>
              <a:ext uri="{FF2B5EF4-FFF2-40B4-BE49-F238E27FC236}">
                <a16:creationId xmlns:a16="http://schemas.microsoft.com/office/drawing/2014/main" id="{7168759D-F218-F3E4-F81B-BDD84C198253}"/>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F09179A8-A0F4-A18E-5790-0B375718BB1E}"/>
              </a:ext>
            </a:extLst>
          </p:cNvPr>
          <p:cNvSpPr>
            <a:spLocks noGrp="1"/>
          </p:cNvSpPr>
          <p:nvPr>
            <p:ph type="body" sz="quarter" idx="16"/>
          </p:nvPr>
        </p:nvSpPr>
        <p:spPr/>
        <p:txBody>
          <a:bodyPr/>
          <a:lstStyle/>
          <a:p>
            <a:pPr algn="just"/>
            <a:r>
              <a:rPr lang="en-US" dirty="0">
                <a:hlinkClick r:id="rId3"/>
              </a:rPr>
              <a:t>Public Preview: Enrich agents with a unified catalog of prebuilt and custom tools in Microsoft Foundry</a:t>
            </a:r>
            <a:endParaRPr lang="en-US" dirty="0"/>
          </a:p>
          <a:p>
            <a:pPr algn="just"/>
            <a:r>
              <a:rPr lang="en-US" dirty="0"/>
              <a:t>With these latest updates in public preview, </a:t>
            </a:r>
            <a:r>
              <a:rPr lang="en-US" b="1" dirty="0"/>
              <a:t>Microsoft Foundry enables developers to enrich agents with real-time business context</a:t>
            </a:r>
            <a:r>
              <a:rPr lang="en-US" dirty="0"/>
              <a:t>, multimodal capabilities, and custom business logic through a unified catalog of Model Context Protocol (MCP) tools.​</a:t>
            </a:r>
          </a:p>
          <a:p>
            <a:pPr marL="171450" indent="-171450" algn="just">
              <a:buFont typeface="Arial" panose="020B0604020202020204" pitchFamily="34" charset="0"/>
              <a:buChar char="•"/>
            </a:pPr>
            <a:r>
              <a:rPr lang="en-US" b="1" dirty="0"/>
              <a:t>Unified tool discovery: </a:t>
            </a:r>
            <a:r>
              <a:rPr lang="en-US" dirty="0"/>
              <a:t>Developers can now find, connect, and manage public or private MCP tools for agents from a single, secure interface in Microsoft Foundry.​</a:t>
            </a:r>
          </a:p>
          <a:p>
            <a:pPr marL="171450" indent="-171450" algn="just">
              <a:buFont typeface="Arial" panose="020B0604020202020204" pitchFamily="34" charset="0"/>
              <a:buChar char="•"/>
            </a:pPr>
            <a:r>
              <a:rPr lang="en-US" b="1" dirty="0"/>
              <a:t>Deep business integration: </a:t>
            </a:r>
            <a:r>
              <a:rPr lang="en-US" dirty="0"/>
              <a:t>Logic Apps connectors provide access to 1,400+ systems like SAP, Salesforce, and HubSpot as MCP tools, enabling agents to quickly integrate with core business services and act on real-time business data and events.​</a:t>
            </a:r>
          </a:p>
          <a:p>
            <a:pPr marL="171450" indent="-171450" algn="just">
              <a:buFont typeface="Arial" panose="020B0604020202020204" pitchFamily="34" charset="0"/>
              <a:buChar char="•"/>
            </a:pPr>
            <a:r>
              <a:rPr lang="en-US" b="1" dirty="0"/>
              <a:t>Pre-built AI tools: </a:t>
            </a:r>
            <a:r>
              <a:rPr lang="en-US" dirty="0"/>
              <a:t>New Foundry Tools provide out-of-the-box capabilities for transcription, translation, voice, and intelligent document processing, available as MCP servers for rapid agent development.​</a:t>
            </a:r>
          </a:p>
          <a:p>
            <a:pPr marL="171450" indent="-171450" algn="just">
              <a:buFont typeface="Arial" panose="020B0604020202020204" pitchFamily="34" charset="0"/>
              <a:buChar char="•"/>
            </a:pPr>
            <a:r>
              <a:rPr lang="en-US" b="1" dirty="0"/>
              <a:t>Custom extensibility</a:t>
            </a:r>
            <a:r>
              <a:rPr lang="en-US" dirty="0"/>
              <a:t>: Through API Management, any API or function can be securely exposed as an MCP tool, enabling developers to reuse existing business logic and further accelerate time to value.</a:t>
            </a:r>
          </a:p>
        </p:txBody>
      </p:sp>
    </p:spTree>
    <p:extLst>
      <p:ext uri="{BB962C8B-B14F-4D97-AF65-F5344CB8AC3E}">
        <p14:creationId xmlns:p14="http://schemas.microsoft.com/office/powerpoint/2010/main" val="578936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6DD2B6-D358-E971-A544-1A147DB4DC8F}"/>
              </a:ext>
            </a:extLst>
          </p:cNvPr>
          <p:cNvSpPr>
            <a:spLocks noGrp="1"/>
          </p:cNvSpPr>
          <p:nvPr>
            <p:ph type="title"/>
          </p:nvPr>
        </p:nvSpPr>
        <p:spPr/>
        <p:txBody>
          <a:bodyPr/>
          <a:lstStyle/>
          <a:p>
            <a:r>
              <a:rPr lang="en-US" sz="1600" dirty="0"/>
              <a:t>ML &amp; AI &amp; IOT Updates (Azure Foundry) 10/14 </a:t>
            </a:r>
            <a:endParaRPr lang="en-US" dirty="0"/>
          </a:p>
        </p:txBody>
      </p:sp>
      <p:sp>
        <p:nvSpPr>
          <p:cNvPr id="4" name="Text Placeholder 3">
            <a:extLst>
              <a:ext uri="{FF2B5EF4-FFF2-40B4-BE49-F238E27FC236}">
                <a16:creationId xmlns:a16="http://schemas.microsoft.com/office/drawing/2014/main" id="{CBDF2481-0CA4-781A-89F9-69620FB067D6}"/>
              </a:ext>
            </a:extLst>
          </p:cNvPr>
          <p:cNvSpPr>
            <a:spLocks noGrp="1"/>
          </p:cNvSpPr>
          <p:nvPr>
            <p:ph type="body" sz="quarter" idx="15"/>
          </p:nvPr>
        </p:nvSpPr>
        <p:spPr/>
        <p:txBody>
          <a:bodyPr/>
          <a:lstStyle/>
          <a:p>
            <a:endParaRPr lang="en-US"/>
          </a:p>
        </p:txBody>
      </p:sp>
      <p:sp>
        <p:nvSpPr>
          <p:cNvPr id="6" name="Text Placeholder 4">
            <a:extLst>
              <a:ext uri="{FF2B5EF4-FFF2-40B4-BE49-F238E27FC236}">
                <a16:creationId xmlns:a16="http://schemas.microsoft.com/office/drawing/2014/main" id="{6311D4A8-4FEA-AEC6-9646-5B787B71509D}"/>
              </a:ext>
            </a:extLst>
          </p:cNvPr>
          <p:cNvSpPr>
            <a:spLocks noGrp="1"/>
          </p:cNvSpPr>
          <p:nvPr>
            <p:ph type="body" sz="quarter" idx="16"/>
          </p:nvPr>
        </p:nvSpPr>
        <p:spPr>
          <a:xfrm>
            <a:off x="342900" y="855080"/>
            <a:ext cx="3955312" cy="3774069"/>
          </a:xfrm>
        </p:spPr>
        <p:txBody>
          <a:bodyPr/>
          <a:lstStyle/>
          <a:p>
            <a:pPr algn="just"/>
            <a:r>
              <a:rPr lang="en-US" dirty="0">
                <a:hlinkClick r:id="rId2"/>
              </a:rPr>
              <a:t>Foundry IQ in public preview</a:t>
            </a:r>
            <a:endParaRPr lang="en-US" dirty="0"/>
          </a:p>
          <a:p>
            <a:pPr algn="just"/>
            <a:r>
              <a:rPr lang="en-US" dirty="0"/>
              <a:t>Microsoft has introduced </a:t>
            </a:r>
            <a:r>
              <a:rPr lang="en-US" b="1" dirty="0"/>
              <a:t>Foundry IQ</a:t>
            </a:r>
            <a:r>
              <a:rPr lang="en-US" dirty="0"/>
              <a:t> in public preview—a unified knowledge layer for agents that provides a single endpoint for contextual retrieval, automated source routing, and secure, permission-aware access to enterprise knowledge. Built on Azure AI Search, Foundry IQ simplifies how agents access and reason over organizational data.</a:t>
            </a:r>
          </a:p>
          <a:p>
            <a:pPr algn="just"/>
            <a:r>
              <a:rPr lang="en-US" b="1" dirty="0"/>
              <a:t>Key Capabilities</a:t>
            </a:r>
          </a:p>
          <a:p>
            <a:pPr marL="171450" indent="-171450" algn="just">
              <a:buFont typeface="Arial" panose="020B0604020202020204" pitchFamily="34" charset="0"/>
              <a:buChar char="•"/>
            </a:pPr>
            <a:r>
              <a:rPr lang="en-US" b="1" dirty="0"/>
              <a:t>Foundry IQ knowledge bases:</a:t>
            </a:r>
            <a:r>
              <a:rPr lang="en-US" dirty="0"/>
              <a:t> Topic-centric, reusable knowledge collections available in the new Foundry portal. Agents and applications can share a single API, eliminating the need to stitch together multiple data tools for each project.</a:t>
            </a:r>
          </a:p>
          <a:p>
            <a:pPr marL="171450" indent="-171450" algn="just">
              <a:buFont typeface="Arial" panose="020B0604020202020204" pitchFamily="34" charset="0"/>
              <a:buChar char="•"/>
            </a:pPr>
            <a:r>
              <a:rPr lang="en-US" b="1" dirty="0"/>
              <a:t>Automatic access to indexed and federated sources:</a:t>
            </a:r>
            <a:r>
              <a:rPr lang="en-US" dirty="0"/>
              <a:t> Supports both indexed data (with automatic ingestion, vectorization, and enrichment for text, images, and complex documents) and remote sources.</a:t>
            </a:r>
          </a:p>
          <a:p>
            <a:pPr marL="171450" indent="-171450" algn="just">
              <a:buFont typeface="Arial" panose="020B0604020202020204" pitchFamily="34" charset="0"/>
              <a:buChar char="•"/>
            </a:pPr>
            <a:r>
              <a:rPr lang="en-US" b="1" dirty="0"/>
              <a:t>Agentic retrieval engine:</a:t>
            </a:r>
            <a:r>
              <a:rPr lang="en-US" dirty="0"/>
              <a:t> A self-reflective AI search and synthesis engine with configurable “retrieval reasoning effort” for more precise, context-aware answers.</a:t>
            </a:r>
          </a:p>
          <a:p>
            <a:pPr marL="171450" indent="-171450" algn="just">
              <a:buFont typeface="Arial" panose="020B0604020202020204" pitchFamily="34" charset="0"/>
              <a:buChar char="•"/>
            </a:pPr>
            <a:r>
              <a:rPr lang="en-US" b="1" dirty="0"/>
              <a:t>Enterprise-grade security:</a:t>
            </a:r>
            <a:r>
              <a:rPr lang="en-US" dirty="0"/>
              <a:t> Document-level access controls, alignment with existing permission models, and support for hybrid indexed/remote data.</a:t>
            </a:r>
          </a:p>
          <a:p>
            <a:pPr algn="just"/>
            <a:endParaRPr lang="en-US" dirty="0"/>
          </a:p>
        </p:txBody>
      </p:sp>
      <p:sp>
        <p:nvSpPr>
          <p:cNvPr id="8" name="Text Placeholder 4">
            <a:extLst>
              <a:ext uri="{FF2B5EF4-FFF2-40B4-BE49-F238E27FC236}">
                <a16:creationId xmlns:a16="http://schemas.microsoft.com/office/drawing/2014/main" id="{70422ACA-A2CA-884C-C298-661BEB806852}"/>
              </a:ext>
            </a:extLst>
          </p:cNvPr>
          <p:cNvSpPr txBox="1">
            <a:spLocks/>
          </p:cNvSpPr>
          <p:nvPr/>
        </p:nvSpPr>
        <p:spPr>
          <a:xfrm>
            <a:off x="4570857" y="855080"/>
            <a:ext cx="3955312"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dirty="0">
                <a:hlinkClick r:id="rId3"/>
              </a:rPr>
              <a:t>Public Preview: Foundry IQ by Azure AI Search</a:t>
            </a:r>
            <a:endParaRPr lang="en-US" dirty="0"/>
          </a:p>
          <a:p>
            <a:pPr algn="just"/>
            <a:r>
              <a:rPr lang="en-US" dirty="0"/>
              <a:t>Foundry IQ, powered by Azure AI Search, is </a:t>
            </a:r>
            <a:r>
              <a:rPr lang="en-US" b="1" dirty="0"/>
              <a:t>a knowledge system that delivers a smarter way to ground agents in enterprise data. </a:t>
            </a:r>
          </a:p>
          <a:p>
            <a:pPr algn="just"/>
            <a:r>
              <a:rPr lang="en-US" dirty="0"/>
              <a:t>Agents only need to connect to a single knowledge base to access multiple sources, removing the need to manage separate APIs and function calls. Knowledge bases perform knowledge retrieval </a:t>
            </a:r>
            <a:r>
              <a:rPr lang="en-US" b="1" dirty="0"/>
              <a:t>over supported sources including Microsoft SharePoint, Fabric </a:t>
            </a:r>
            <a:r>
              <a:rPr lang="en-US" b="1" dirty="0" err="1"/>
              <a:t>OneLake</a:t>
            </a:r>
            <a:r>
              <a:rPr lang="en-US" b="1" dirty="0"/>
              <a:t>, and web.</a:t>
            </a:r>
          </a:p>
          <a:p>
            <a:pPr algn="just"/>
            <a:r>
              <a:rPr lang="en-US" dirty="0"/>
              <a:t>Unlike traditional RAG and vector databases, knowledge bases use an agentic retrieval engine holistically across sources and conversations. It also has broader access to data, because it can connect to data remotely or in a synced index.</a:t>
            </a:r>
          </a:p>
          <a:p>
            <a:pPr algn="just"/>
            <a:r>
              <a:rPr lang="en-US" dirty="0"/>
              <a:t>This enables better response quality out of the box, where single-shot retrieval can fall short. </a:t>
            </a:r>
            <a:r>
              <a:rPr lang="en-US" b="1" dirty="0"/>
              <a:t>Foundry IQ is enterprise-ready, with Purview governance and Entra-based access control</a:t>
            </a:r>
            <a:r>
              <a:rPr lang="en-US" dirty="0"/>
              <a:t>, so developers can build with trust and confidence. Create and manage knowledge bases from the Foundry portal, or directly in Azure AI Search. </a:t>
            </a:r>
          </a:p>
          <a:p>
            <a:pPr algn="just"/>
            <a:endParaRPr lang="en-US" dirty="0"/>
          </a:p>
        </p:txBody>
      </p:sp>
    </p:spTree>
    <p:extLst>
      <p:ext uri="{BB962C8B-B14F-4D97-AF65-F5344CB8AC3E}">
        <p14:creationId xmlns:p14="http://schemas.microsoft.com/office/powerpoint/2010/main" val="2613312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9208C5A-9F81-8DD8-E823-7FF29A186556}"/>
              </a:ext>
            </a:extLst>
          </p:cNvPr>
          <p:cNvSpPr>
            <a:spLocks noGrp="1"/>
          </p:cNvSpPr>
          <p:nvPr>
            <p:ph type="body" sz="quarter" idx="10"/>
          </p:nvPr>
        </p:nvSpPr>
        <p:spPr/>
        <p:txBody>
          <a:bodyPr/>
          <a:lstStyle/>
          <a:p>
            <a:pPr algn="just"/>
            <a:r>
              <a:rPr lang="en-US" sz="1000" dirty="0">
                <a:hlinkClick r:id="rId2"/>
              </a:rPr>
              <a:t>Generally Available: Model Router in Microsoft Foundry</a:t>
            </a:r>
            <a:endParaRPr lang="en-US" sz="1000" dirty="0"/>
          </a:p>
          <a:p>
            <a:pPr algn="just"/>
            <a:r>
              <a:rPr lang="en-US" sz="1000" dirty="0"/>
              <a:t>Model router </a:t>
            </a:r>
            <a:r>
              <a:rPr lang="en-US" sz="1000" b="1" dirty="0"/>
              <a:t>is an AI orchestration layer dynamically selects the optimal model for each prompt.</a:t>
            </a:r>
            <a:r>
              <a:rPr lang="en-US" sz="1000" dirty="0"/>
              <a:t> </a:t>
            </a:r>
          </a:p>
          <a:p>
            <a:pPr algn="just"/>
            <a:r>
              <a:rPr lang="en-US" sz="1000" dirty="0"/>
              <a:t>It now supports a broader range of models including: </a:t>
            </a:r>
            <a:r>
              <a:rPr lang="en-US" sz="1000" b="1" dirty="0"/>
              <a:t>GPT-4 family, GPT-5 family, GPT-</a:t>
            </a:r>
            <a:r>
              <a:rPr lang="en-US" sz="1000" b="1" dirty="0" err="1"/>
              <a:t>oss</a:t>
            </a:r>
            <a:r>
              <a:rPr lang="en-US" sz="1000" b="1" dirty="0"/>
              <a:t>, Deepseek-v3.1, Llama-4-maverick-instruct, Grok-4, and Grok-4-fast. </a:t>
            </a:r>
            <a:r>
              <a:rPr lang="en-US" sz="1000" dirty="0"/>
              <a:t>New customization modes – cost savings, quality, and balanced-- allow developers </a:t>
            </a:r>
            <a:r>
              <a:rPr lang="en-US" sz="1000" b="1" dirty="0"/>
              <a:t>to fine -tune routing logic to best suit their unique needs.  </a:t>
            </a:r>
          </a:p>
          <a:p>
            <a:pPr algn="just"/>
            <a:r>
              <a:rPr lang="en-US" sz="1000" dirty="0"/>
              <a:t>Additionally, the model router will be added </a:t>
            </a:r>
            <a:r>
              <a:rPr lang="en-US" sz="1000" b="1" dirty="0"/>
              <a:t>to Foundry Agent Service providing a single, intelligent endpoint that dynamically routes requests </a:t>
            </a:r>
            <a:r>
              <a:rPr lang="en-US" sz="1000" dirty="0"/>
              <a:t>to the most suitable model based on task complexity, performance, and cost. This feature simplifies integration, optimizes outcomes, and delivers enterprise resilience to enhance Foundry’s capabilities in multi-model orchestration. </a:t>
            </a:r>
          </a:p>
        </p:txBody>
      </p:sp>
      <p:sp>
        <p:nvSpPr>
          <p:cNvPr id="3" name="Title 2">
            <a:extLst>
              <a:ext uri="{FF2B5EF4-FFF2-40B4-BE49-F238E27FC236}">
                <a16:creationId xmlns:a16="http://schemas.microsoft.com/office/drawing/2014/main" id="{21065163-6FD8-2C3B-587C-B9D9A8189409}"/>
              </a:ext>
            </a:extLst>
          </p:cNvPr>
          <p:cNvSpPr>
            <a:spLocks noGrp="1"/>
          </p:cNvSpPr>
          <p:nvPr>
            <p:ph type="title"/>
          </p:nvPr>
        </p:nvSpPr>
        <p:spPr/>
        <p:txBody>
          <a:bodyPr/>
          <a:lstStyle/>
          <a:p>
            <a:r>
              <a:rPr lang="en-US" sz="1600" dirty="0"/>
              <a:t>ML &amp; AI &amp; IOT Updates (Azure Foundry) 11/14 </a:t>
            </a:r>
            <a:endParaRPr lang="en-US" dirty="0"/>
          </a:p>
        </p:txBody>
      </p:sp>
      <p:sp>
        <p:nvSpPr>
          <p:cNvPr id="4" name="Text Placeholder 3">
            <a:extLst>
              <a:ext uri="{FF2B5EF4-FFF2-40B4-BE49-F238E27FC236}">
                <a16:creationId xmlns:a16="http://schemas.microsoft.com/office/drawing/2014/main" id="{79713960-9C02-790E-DB6C-DD7A0727CED4}"/>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2D16B918-6463-381C-E63A-E0B5AE42313E}"/>
              </a:ext>
            </a:extLst>
          </p:cNvPr>
          <p:cNvSpPr>
            <a:spLocks noGrp="1"/>
          </p:cNvSpPr>
          <p:nvPr>
            <p:ph type="body" sz="quarter" idx="16"/>
          </p:nvPr>
        </p:nvSpPr>
        <p:spPr>
          <a:xfrm>
            <a:off x="342900" y="855080"/>
            <a:ext cx="3955312" cy="1901975"/>
          </a:xfrm>
        </p:spPr>
        <p:txBody>
          <a:bodyPr/>
          <a:lstStyle/>
          <a:p>
            <a:pPr algn="just"/>
            <a:r>
              <a:rPr lang="en-US" dirty="0">
                <a:hlinkClick r:id="rId3"/>
              </a:rPr>
              <a:t>Generally Available: Foundry Tools (rebrand from Azure AI Services)</a:t>
            </a:r>
            <a:endParaRPr lang="en-US" dirty="0"/>
          </a:p>
          <a:p>
            <a:pPr algn="just"/>
            <a:r>
              <a:rPr lang="en-US" b="1" dirty="0"/>
              <a:t>Foundry Tools (rebranded from Azure AI Services) </a:t>
            </a:r>
            <a:r>
              <a:rPr lang="en-US" dirty="0"/>
              <a:t>provide a unified suite of prebuilt, production-ready AI capabilities for audio, video, images, documents, and text.</a:t>
            </a:r>
          </a:p>
          <a:p>
            <a:pPr algn="just"/>
            <a:r>
              <a:rPr lang="en-US" dirty="0"/>
              <a:t>Seamlessly integrated into </a:t>
            </a:r>
            <a:r>
              <a:rPr lang="en-US" b="1" dirty="0"/>
              <a:t>the Microsoft Foundry platform, these tools empower developers to rapidly build </a:t>
            </a:r>
            <a:r>
              <a:rPr lang="en-US" dirty="0"/>
              <a:t>intelligent agents and applications with plug-and-play functionality, robust governance, and enterprise-grade security. </a:t>
            </a:r>
          </a:p>
          <a:p>
            <a:pPr algn="just"/>
            <a:r>
              <a:rPr lang="en-US" dirty="0"/>
              <a:t>The rebranding simplifies user experience and accelerates onboarding for agentic AI development.</a:t>
            </a:r>
          </a:p>
          <a:p>
            <a:pPr algn="just"/>
            <a:endParaRPr lang="en-US" dirty="0"/>
          </a:p>
        </p:txBody>
      </p:sp>
    </p:spTree>
    <p:extLst>
      <p:ext uri="{BB962C8B-B14F-4D97-AF65-F5344CB8AC3E}">
        <p14:creationId xmlns:p14="http://schemas.microsoft.com/office/powerpoint/2010/main" val="2477458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9674D03-112E-2DB3-6AF9-BA924BBCC5BA}"/>
              </a:ext>
            </a:extLst>
          </p:cNvPr>
          <p:cNvSpPr>
            <a:spLocks noGrp="1"/>
          </p:cNvSpPr>
          <p:nvPr>
            <p:ph type="body" sz="quarter" idx="10"/>
          </p:nvPr>
        </p:nvSpPr>
        <p:spPr>
          <a:xfrm>
            <a:off x="4433776" y="858105"/>
            <a:ext cx="4365038" cy="3890102"/>
          </a:xfrm>
        </p:spPr>
        <p:txBody>
          <a:bodyPr/>
          <a:lstStyle/>
          <a:p>
            <a:pPr algn="just"/>
            <a:r>
              <a:rPr lang="en-US" sz="1000" dirty="0">
                <a:hlinkClick r:id="rId2"/>
              </a:rPr>
              <a:t>Generally Available: Streamline IT governance, security, and cost management experiences with Microsoft Foundry</a:t>
            </a:r>
            <a:endParaRPr lang="en-US" sz="1000" dirty="0"/>
          </a:p>
          <a:p>
            <a:pPr algn="just"/>
            <a:r>
              <a:rPr lang="en-US" sz="1000" dirty="0"/>
              <a:t>Microsoft Foundry streamlines AI development and management for the enterprise. These features are now generally available, empowering IT admins to deploy AI solutions while meeting enterprise-grade security, compliance, and governance requirement: </a:t>
            </a:r>
          </a:p>
          <a:p>
            <a:pPr marL="171450" indent="-171450" algn="just">
              <a:buFont typeface="Arial" panose="020B0604020202020204" pitchFamily="34" charset="0"/>
              <a:buChar char="•"/>
            </a:pPr>
            <a:r>
              <a:rPr lang="en-US" sz="1000" b="1" dirty="0"/>
              <a:t>Manage Foundry costs with Azure Cost Management: </a:t>
            </a:r>
            <a:r>
              <a:rPr lang="en-US" sz="1000" dirty="0"/>
              <a:t>Attribute and track costs at the Foundry resource and model deployment level with tags, set budgets with alerts and auto-pause, and provide developers with visibility into costs at the deployment, agent, and run level for AI apps using Azure Cost Management. </a:t>
            </a:r>
          </a:p>
          <a:p>
            <a:pPr marL="171450" indent="-171450" algn="just">
              <a:buFont typeface="Arial" panose="020B0604020202020204" pitchFamily="34" charset="0"/>
              <a:buChar char="•"/>
            </a:pPr>
            <a:r>
              <a:rPr lang="en-US" sz="1000" b="1" dirty="0"/>
              <a:t>Manage Foundry resources with a unified dashboard in Azure Portal: </a:t>
            </a:r>
            <a:r>
              <a:rPr lang="en-US" sz="1000" dirty="0"/>
              <a:t>View and manage all resources, projects, connections, users, quota, and API Management integrations for Foundry from a unified dashboard within Azure Portal. </a:t>
            </a:r>
          </a:p>
          <a:p>
            <a:pPr marL="171450" indent="-171450" algn="just">
              <a:buFont typeface="Arial" panose="020B0604020202020204" pitchFamily="34" charset="0"/>
              <a:buChar char="•"/>
            </a:pPr>
            <a:r>
              <a:rPr lang="en-US" sz="1000" b="1" dirty="0"/>
              <a:t>NSP Support for Foundry and Azure OpenAI: </a:t>
            </a:r>
            <a:r>
              <a:rPr lang="en-US" sz="1000" dirty="0"/>
              <a:t>Isolate resources within secure, private boundaries using VNETs and private endpoints. This feature ensures data never traverses public networks, simplifies compliance, and strengthens protection against data exfiltration, making it ideal for regulated industries and sensitive workloads. </a:t>
            </a:r>
          </a:p>
          <a:p>
            <a:pPr marL="171450" indent="-171450" algn="just">
              <a:buFont typeface="Arial" panose="020B0604020202020204" pitchFamily="34" charset="0"/>
              <a:buChar char="•"/>
            </a:pPr>
            <a:r>
              <a:rPr lang="en-US" sz="1000" b="1" dirty="0"/>
              <a:t>BYO Key Vault connection for Foundry resources: </a:t>
            </a:r>
            <a:r>
              <a:rPr lang="en-US" sz="1000" dirty="0"/>
              <a:t>Securely store and manage secrets, credentials, and encryption keys using your own vaults to ensure compliance. </a:t>
            </a:r>
          </a:p>
          <a:p>
            <a:pPr algn="just"/>
            <a:endParaRPr lang="en-US" sz="1000" dirty="0"/>
          </a:p>
        </p:txBody>
      </p:sp>
      <p:sp>
        <p:nvSpPr>
          <p:cNvPr id="3" name="Title 2">
            <a:extLst>
              <a:ext uri="{FF2B5EF4-FFF2-40B4-BE49-F238E27FC236}">
                <a16:creationId xmlns:a16="http://schemas.microsoft.com/office/drawing/2014/main" id="{FA303D90-4E8A-423C-7EBD-AD816935CEAC}"/>
              </a:ext>
            </a:extLst>
          </p:cNvPr>
          <p:cNvSpPr>
            <a:spLocks noGrp="1"/>
          </p:cNvSpPr>
          <p:nvPr>
            <p:ph type="title"/>
          </p:nvPr>
        </p:nvSpPr>
        <p:spPr/>
        <p:txBody>
          <a:bodyPr/>
          <a:lstStyle/>
          <a:p>
            <a:r>
              <a:rPr lang="en-US" sz="1600" dirty="0"/>
              <a:t>ML &amp; AI &amp; IOT Updates (Azure Foundry) 12/14 </a:t>
            </a:r>
            <a:endParaRPr lang="en-US" dirty="0"/>
          </a:p>
        </p:txBody>
      </p:sp>
      <p:sp>
        <p:nvSpPr>
          <p:cNvPr id="4" name="Text Placeholder 3">
            <a:extLst>
              <a:ext uri="{FF2B5EF4-FFF2-40B4-BE49-F238E27FC236}">
                <a16:creationId xmlns:a16="http://schemas.microsoft.com/office/drawing/2014/main" id="{F86FE73D-753C-B0D3-B24B-DB69929B5450}"/>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5479A1D0-E66D-48EB-E1AD-6CBC7A997328}"/>
              </a:ext>
            </a:extLst>
          </p:cNvPr>
          <p:cNvSpPr>
            <a:spLocks noGrp="1"/>
          </p:cNvSpPr>
          <p:nvPr>
            <p:ph type="body" sz="quarter" idx="16"/>
          </p:nvPr>
        </p:nvSpPr>
        <p:spPr/>
        <p:txBody>
          <a:bodyPr/>
          <a:lstStyle/>
          <a:p>
            <a:pPr algn="just"/>
            <a:r>
              <a:rPr lang="en-US" dirty="0">
                <a:hlinkClick r:id="rId3"/>
              </a:rPr>
              <a:t>Generally Available: Observability in Foundry Control Plane</a:t>
            </a:r>
            <a:endParaRPr lang="en-US" dirty="0"/>
          </a:p>
          <a:p>
            <a:pPr algn="just"/>
            <a:r>
              <a:rPr lang="en-US" dirty="0"/>
              <a:t>Observability in </a:t>
            </a:r>
            <a:r>
              <a:rPr lang="en-US" b="1" dirty="0"/>
              <a:t>Foundry Control Plane now in public preview for agents with a GA pre-announcement for </a:t>
            </a:r>
            <a:r>
              <a:rPr lang="en-US" dirty="0"/>
              <a:t>model evals is a comprehensive suite of capabilities that enable developers to evaluate, monitor, and optimize the quality, performance, and safety of multi-agent AI systems. These capabilities are integrated throughout the agent </a:t>
            </a:r>
            <a:r>
              <a:rPr lang="en-US" b="1" dirty="0"/>
              <a:t>development lifecycle—spanning both build and operate experiences</a:t>
            </a:r>
            <a:r>
              <a:rPr lang="en-US" dirty="0"/>
              <a:t>—empowering teams to deliver production-grade AI with confidence and speed. </a:t>
            </a:r>
          </a:p>
          <a:p>
            <a:pPr algn="just"/>
            <a:r>
              <a:rPr lang="en-US" dirty="0"/>
              <a:t>Observability in </a:t>
            </a:r>
            <a:r>
              <a:rPr lang="en-US" b="1" dirty="0"/>
              <a:t>Foundry Control Plane empowers teams to build and manage reliable agents with integrated evaluations </a:t>
            </a:r>
            <a:r>
              <a:rPr lang="en-US" dirty="0"/>
              <a:t>(</a:t>
            </a:r>
            <a:r>
              <a:rPr lang="en-US" dirty="0" err="1"/>
              <a:t>adhoc</a:t>
            </a:r>
            <a:r>
              <a:rPr lang="en-US" dirty="0"/>
              <a:t>, continuous on production traffic and scheduled to detect drift), synthetic datasets, and visual cluster analysis for rapid improvement. It provides actionable insights through customizable dashboards, end-to-end </a:t>
            </a:r>
            <a:r>
              <a:rPr lang="en-US" dirty="0" err="1"/>
              <a:t>OpenTelemetry</a:t>
            </a:r>
            <a:r>
              <a:rPr lang="en-US" dirty="0"/>
              <a:t> based tracing, and model upgrade recommendations to optimize cost and performance. Unified observability across agents offers a single view of cost, performance, and security for agents built on Foundry or third-party platforms. Additionally, AI Red Teaming enables continuous safety testing with automated adversarial simulations to uncover vulnerabilities such as data leaks and jailbreaks, ensuring robust and secure AI deployments. </a:t>
            </a:r>
          </a:p>
        </p:txBody>
      </p:sp>
    </p:spTree>
    <p:extLst>
      <p:ext uri="{BB962C8B-B14F-4D97-AF65-F5344CB8AC3E}">
        <p14:creationId xmlns:p14="http://schemas.microsoft.com/office/powerpoint/2010/main" val="1152149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B0CF02-C32D-A473-6A74-D16D316BA9C5}"/>
              </a:ext>
            </a:extLst>
          </p:cNvPr>
          <p:cNvSpPr>
            <a:spLocks noGrp="1"/>
          </p:cNvSpPr>
          <p:nvPr>
            <p:ph type="title"/>
          </p:nvPr>
        </p:nvSpPr>
        <p:spPr/>
        <p:txBody>
          <a:bodyPr/>
          <a:lstStyle/>
          <a:p>
            <a:r>
              <a:rPr lang="en-US" sz="1600" dirty="0"/>
              <a:t>ML &amp; AI &amp; IOT Updates (Azure Foundry) 13/14 </a:t>
            </a:r>
            <a:endParaRPr lang="en-US" dirty="0"/>
          </a:p>
        </p:txBody>
      </p:sp>
      <p:sp>
        <p:nvSpPr>
          <p:cNvPr id="4" name="Text Placeholder 3">
            <a:extLst>
              <a:ext uri="{FF2B5EF4-FFF2-40B4-BE49-F238E27FC236}">
                <a16:creationId xmlns:a16="http://schemas.microsoft.com/office/drawing/2014/main" id="{8D3CBCBA-D0E8-A4FD-3ED3-07487510DB08}"/>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3747AA28-DD4F-B431-9ADD-D302F0CCE6B8}"/>
              </a:ext>
            </a:extLst>
          </p:cNvPr>
          <p:cNvSpPr>
            <a:spLocks noGrp="1"/>
          </p:cNvSpPr>
          <p:nvPr>
            <p:ph type="body" sz="quarter" idx="16"/>
          </p:nvPr>
        </p:nvSpPr>
        <p:spPr/>
        <p:txBody>
          <a:bodyPr/>
          <a:lstStyle/>
          <a:p>
            <a:pPr algn="just"/>
            <a:r>
              <a:rPr lang="en-US" dirty="0">
                <a:hlinkClick r:id="rId2"/>
              </a:rPr>
              <a:t>Generally Available: Content Understanding in Microsoft Foundry</a:t>
            </a:r>
            <a:endParaRPr lang="en-US" dirty="0"/>
          </a:p>
          <a:p>
            <a:pPr algn="just"/>
            <a:r>
              <a:rPr lang="en-US" dirty="0"/>
              <a:t>Content Understanding, the service now enables </a:t>
            </a:r>
            <a:r>
              <a:rPr lang="en-US" b="1" dirty="0"/>
              <a:t>connecting to Foundry models, allowing customers to use Foundry model deployments.</a:t>
            </a:r>
          </a:p>
          <a:p>
            <a:pPr algn="just"/>
            <a:r>
              <a:rPr lang="en-US" dirty="0"/>
              <a:t>Additional key updates include </a:t>
            </a:r>
            <a:r>
              <a:rPr lang="en-US" b="1" dirty="0"/>
              <a:t>support for VNETs, Managed Identities, Customer Managed Keys (CMK), and expanded region coverage</a:t>
            </a:r>
            <a:r>
              <a:rPr lang="en-US" dirty="0"/>
              <a:t>.</a:t>
            </a:r>
          </a:p>
          <a:p>
            <a:pPr algn="just"/>
            <a:r>
              <a:rPr lang="en-US" dirty="0"/>
              <a:t>The release also introduces simplified pricing, </a:t>
            </a:r>
            <a:r>
              <a:rPr lang="en-US" b="1" dirty="0"/>
              <a:t>new domain analyzers, RAG analyzers, and agent tools.</a:t>
            </a:r>
          </a:p>
          <a:p>
            <a:pPr algn="just"/>
            <a:r>
              <a:rPr lang="en-US" dirty="0"/>
              <a:t>Notably, it emphasizes enhanced confidence scores, grounding, and segmentation and routing capabilities, all designed to improve the precision, security, and scalability of AI-powered content analysis and extraction in enterprise environments.</a:t>
            </a:r>
          </a:p>
        </p:txBody>
      </p:sp>
      <p:sp>
        <p:nvSpPr>
          <p:cNvPr id="12" name="Text Placeholder 11">
            <a:extLst>
              <a:ext uri="{FF2B5EF4-FFF2-40B4-BE49-F238E27FC236}">
                <a16:creationId xmlns:a16="http://schemas.microsoft.com/office/drawing/2014/main" id="{914285B5-6219-941D-B080-ACB23944E4D0}"/>
              </a:ext>
            </a:extLst>
          </p:cNvPr>
          <p:cNvSpPr>
            <a:spLocks noGrp="1"/>
          </p:cNvSpPr>
          <p:nvPr>
            <p:ph type="body" sz="quarter" idx="10"/>
          </p:nvPr>
        </p:nvSpPr>
        <p:spPr>
          <a:xfrm>
            <a:off x="4433776" y="855080"/>
            <a:ext cx="4365038" cy="3774069"/>
          </a:xfrm>
        </p:spPr>
        <p:txBody>
          <a:bodyPr/>
          <a:lstStyle/>
          <a:p>
            <a:pPr algn="just"/>
            <a:r>
              <a:rPr lang="en-US" sz="1000" dirty="0">
                <a:hlinkClick r:id="rId3"/>
              </a:rPr>
              <a:t>Public Preview: Azure Managed Redis integration with Microsoft Foundry</a:t>
            </a:r>
            <a:endParaRPr lang="en-US" sz="1000" dirty="0"/>
          </a:p>
          <a:p>
            <a:pPr algn="just"/>
            <a:r>
              <a:rPr lang="en-US" sz="1000" dirty="0"/>
              <a:t>Azure Managed Redis is now available as part of the Microsoft Foundry MCP tools catalog, allowing customers to use Redis as a knowledge store or memory store for AI agents. </a:t>
            </a:r>
          </a:p>
          <a:p>
            <a:pPr algn="just"/>
            <a:r>
              <a:rPr lang="en-US" sz="1000" dirty="0"/>
              <a:t>This integration makes it simple to </a:t>
            </a:r>
            <a:r>
              <a:rPr lang="en-US" sz="1000" b="1" dirty="0"/>
              <a:t>connect Redis to Foundry-based agents, enabling semantic searching, long term and short term </a:t>
            </a:r>
            <a:r>
              <a:rPr lang="en-US" sz="1000" dirty="0"/>
              <a:t>memory, and faster reasoning for multi-agent applications—all running on trusted Azure infrastructure.</a:t>
            </a:r>
          </a:p>
          <a:p>
            <a:pPr algn="just"/>
            <a:endParaRPr lang="en-US" sz="1000" dirty="0"/>
          </a:p>
        </p:txBody>
      </p:sp>
    </p:spTree>
    <p:extLst>
      <p:ext uri="{BB962C8B-B14F-4D97-AF65-F5344CB8AC3E}">
        <p14:creationId xmlns:p14="http://schemas.microsoft.com/office/powerpoint/2010/main" val="718075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6B9DEEC-43A8-F983-D219-3AD57F042219}"/>
              </a:ext>
            </a:extLst>
          </p:cNvPr>
          <p:cNvSpPr>
            <a:spLocks noGrp="1"/>
          </p:cNvSpPr>
          <p:nvPr>
            <p:ph type="title"/>
          </p:nvPr>
        </p:nvSpPr>
        <p:spPr/>
        <p:txBody>
          <a:bodyPr/>
          <a:lstStyle/>
          <a:p>
            <a:r>
              <a:rPr lang="en-US" sz="1600" dirty="0"/>
              <a:t>ML &amp; AI &amp; IOT Updates (Azure Foundry) 14/14 </a:t>
            </a:r>
            <a:endParaRPr lang="en-US" dirty="0"/>
          </a:p>
        </p:txBody>
      </p:sp>
      <p:sp>
        <p:nvSpPr>
          <p:cNvPr id="4" name="Text Placeholder 3">
            <a:extLst>
              <a:ext uri="{FF2B5EF4-FFF2-40B4-BE49-F238E27FC236}">
                <a16:creationId xmlns:a16="http://schemas.microsoft.com/office/drawing/2014/main" id="{226694BD-A24C-7252-5A7E-E937E27CFF85}"/>
              </a:ext>
            </a:extLst>
          </p:cNvPr>
          <p:cNvSpPr>
            <a:spLocks noGrp="1"/>
          </p:cNvSpPr>
          <p:nvPr>
            <p:ph type="body" sz="quarter" idx="15"/>
          </p:nvPr>
        </p:nvSpPr>
        <p:spPr/>
        <p:txBody>
          <a:bodyPr/>
          <a:lstStyle/>
          <a:p>
            <a:endParaRPr lang="en-US"/>
          </a:p>
        </p:txBody>
      </p:sp>
      <p:sp>
        <p:nvSpPr>
          <p:cNvPr id="7" name="Text Placeholder 4">
            <a:extLst>
              <a:ext uri="{FF2B5EF4-FFF2-40B4-BE49-F238E27FC236}">
                <a16:creationId xmlns:a16="http://schemas.microsoft.com/office/drawing/2014/main" id="{515A85A4-5C7B-F49B-F771-904C431152B3}"/>
              </a:ext>
            </a:extLst>
          </p:cNvPr>
          <p:cNvSpPr txBox="1">
            <a:spLocks/>
          </p:cNvSpPr>
          <p:nvPr/>
        </p:nvSpPr>
        <p:spPr>
          <a:xfrm>
            <a:off x="342900" y="855079"/>
            <a:ext cx="3955312"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dirty="0">
                <a:hlinkClick r:id="rId2"/>
              </a:rPr>
              <a:t>Public Preview: Foundry IQ by Azure AI Search</a:t>
            </a:r>
            <a:endParaRPr lang="en-US" dirty="0"/>
          </a:p>
          <a:p>
            <a:pPr algn="just"/>
            <a:r>
              <a:rPr lang="en-US" dirty="0"/>
              <a:t>Foundry IQ, powered by Azure AI Search, is </a:t>
            </a:r>
            <a:r>
              <a:rPr lang="en-US" b="1" dirty="0"/>
              <a:t>a knowledge system that delivers a smarter way to ground agents in enterprise data. </a:t>
            </a:r>
          </a:p>
          <a:p>
            <a:pPr algn="just"/>
            <a:r>
              <a:rPr lang="en-US" dirty="0"/>
              <a:t>Agents only need to connect to a single knowledge base to access multiple sources, removing the need to manage separate APIs and function calls. Knowledge bases perform knowledge retrieval </a:t>
            </a:r>
            <a:r>
              <a:rPr lang="en-US" b="1" dirty="0"/>
              <a:t>over supported sources including Microsoft SharePoint, Fabric </a:t>
            </a:r>
            <a:r>
              <a:rPr lang="en-US" b="1" dirty="0" err="1"/>
              <a:t>OneLake</a:t>
            </a:r>
            <a:r>
              <a:rPr lang="en-US" b="1" dirty="0"/>
              <a:t>, and web.</a:t>
            </a:r>
          </a:p>
          <a:p>
            <a:pPr algn="just"/>
            <a:r>
              <a:rPr lang="en-US" dirty="0"/>
              <a:t>Unlike traditional RAG and vector databases, knowledge bases use an agentic retrieval engine holistically across sources and conversations. It also has broader access to data, because it can connect to data remotely or in a synced index.</a:t>
            </a:r>
          </a:p>
          <a:p>
            <a:pPr algn="just"/>
            <a:r>
              <a:rPr lang="en-US" dirty="0"/>
              <a:t>This enables better response quality out of the box, where single-shot retrieval can fall short. </a:t>
            </a:r>
            <a:r>
              <a:rPr lang="en-US" b="1" dirty="0"/>
              <a:t>Foundry IQ is enterprise-ready, with Purview governance and Entra-based access control</a:t>
            </a:r>
            <a:r>
              <a:rPr lang="en-US" dirty="0"/>
              <a:t>, so developers can build with trust and confidence. Create and manage knowledge bases from the Foundry portal, or directly in Azure AI Search. </a:t>
            </a:r>
          </a:p>
          <a:p>
            <a:pPr algn="just"/>
            <a:endParaRPr lang="en-US" dirty="0"/>
          </a:p>
        </p:txBody>
      </p:sp>
    </p:spTree>
    <p:extLst>
      <p:ext uri="{BB962C8B-B14F-4D97-AF65-F5344CB8AC3E}">
        <p14:creationId xmlns:p14="http://schemas.microsoft.com/office/powerpoint/2010/main" val="3617719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4AE65F0-489F-9BD0-D584-20D7CF549CEA}"/>
              </a:ext>
            </a:extLst>
          </p:cNvPr>
          <p:cNvSpPr>
            <a:spLocks noGrp="1"/>
          </p:cNvSpPr>
          <p:nvPr>
            <p:ph type="title"/>
          </p:nvPr>
        </p:nvSpPr>
        <p:spPr/>
        <p:txBody>
          <a:bodyPr/>
          <a:lstStyle/>
          <a:p>
            <a:r>
              <a:rPr lang="en-US" sz="1800" dirty="0"/>
              <a:t>ML &amp; AI &amp; IOT Updates (Azure Copilot) 1/2</a:t>
            </a:r>
            <a:endParaRPr lang="en-US" dirty="0"/>
          </a:p>
        </p:txBody>
      </p:sp>
      <p:sp>
        <p:nvSpPr>
          <p:cNvPr id="4" name="Text Placeholder 3">
            <a:extLst>
              <a:ext uri="{FF2B5EF4-FFF2-40B4-BE49-F238E27FC236}">
                <a16:creationId xmlns:a16="http://schemas.microsoft.com/office/drawing/2014/main" id="{7478461C-E655-7EA5-1793-AA0F8397B816}"/>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56806560-9B86-0CB1-F630-46107840CF6A}"/>
              </a:ext>
            </a:extLst>
          </p:cNvPr>
          <p:cNvSpPr>
            <a:spLocks noGrp="1"/>
          </p:cNvSpPr>
          <p:nvPr>
            <p:ph type="body" sz="quarter" idx="16"/>
          </p:nvPr>
        </p:nvSpPr>
        <p:spPr/>
        <p:txBody>
          <a:bodyPr/>
          <a:lstStyle/>
          <a:p>
            <a:pPr algn="just"/>
            <a:r>
              <a:rPr lang="en-US" dirty="0">
                <a:hlinkClick r:id="rId2"/>
              </a:rPr>
              <a:t>Public Preview: Azure Copilot observability agent</a:t>
            </a:r>
            <a:endParaRPr lang="en-US" dirty="0"/>
          </a:p>
          <a:p>
            <a:pPr algn="just"/>
            <a:r>
              <a:rPr lang="en-US" dirty="0"/>
              <a:t>Cloud operations need more than reactive troubleshooting, they demand intelligent observability that scales across resources and delivers actionable insights when services aren’t performing as expected.</a:t>
            </a:r>
          </a:p>
          <a:p>
            <a:pPr algn="just"/>
            <a:r>
              <a:rPr lang="en-US" dirty="0"/>
              <a:t>Why It Matters:</a:t>
            </a:r>
          </a:p>
          <a:p>
            <a:pPr marL="171450" indent="-171450" algn="just">
              <a:buFont typeface="Arial" panose="020B0604020202020204" pitchFamily="34" charset="0"/>
              <a:buChar char="•"/>
            </a:pPr>
            <a:r>
              <a:rPr lang="en-US" dirty="0"/>
              <a:t>Smarter insights, faster recovery across your Azure stack</a:t>
            </a:r>
          </a:p>
          <a:p>
            <a:pPr marL="171450" indent="-171450" algn="just">
              <a:buFont typeface="Arial" panose="020B0604020202020204" pitchFamily="34" charset="0"/>
              <a:buChar char="•"/>
            </a:pPr>
            <a:r>
              <a:rPr lang="en-US" dirty="0"/>
              <a:t>Automatic anomaly detection from metrics, logs, and observability signals</a:t>
            </a:r>
          </a:p>
          <a:p>
            <a:pPr marL="171450" indent="-171450" algn="just">
              <a:buFont typeface="Arial" panose="020B0604020202020204" pitchFamily="34" charset="0"/>
              <a:buChar char="•"/>
            </a:pPr>
            <a:r>
              <a:rPr lang="en-US" dirty="0"/>
              <a:t>Correlated findings with clear next steps in natural language</a:t>
            </a:r>
          </a:p>
          <a:p>
            <a:pPr marL="171450" indent="-171450" algn="just">
              <a:buFont typeface="Arial" panose="020B0604020202020204" pitchFamily="34" charset="0"/>
              <a:buChar char="•"/>
            </a:pPr>
            <a:r>
              <a:rPr lang="en-US" dirty="0"/>
              <a:t>Integrated experience with alerts, Azure portal, and Azure Copilot (preview)</a:t>
            </a:r>
          </a:p>
          <a:p>
            <a:pPr algn="just"/>
            <a:r>
              <a:rPr lang="en-US" dirty="0"/>
              <a:t>Expanded Capabilities:</a:t>
            </a:r>
          </a:p>
          <a:p>
            <a:pPr marL="171450" indent="-171450" algn="just">
              <a:buFont typeface="Arial" panose="020B0604020202020204" pitchFamily="34" charset="0"/>
              <a:buChar char="•"/>
            </a:pPr>
            <a:r>
              <a:rPr lang="en-US" dirty="0"/>
              <a:t>The agent now investigates issues across any Azure resource, including Application Insights (AI), Virtual Machines (VM) and Azure Kubernetes Service (AKS)</a:t>
            </a:r>
          </a:p>
          <a:p>
            <a:pPr marL="171450" indent="-171450" algn="just">
              <a:buFont typeface="Arial" panose="020B0604020202020204" pitchFamily="34" charset="0"/>
              <a:buChar char="•"/>
            </a:pPr>
            <a:r>
              <a:rPr lang="en-US" dirty="0"/>
              <a:t>Metric analysis for CPU, memory, and network patterns</a:t>
            </a:r>
          </a:p>
          <a:p>
            <a:pPr marL="171450" indent="-171450" algn="just">
              <a:buFont typeface="Arial" panose="020B0604020202020204" pitchFamily="34" charset="0"/>
              <a:buChar char="•"/>
            </a:pPr>
            <a:r>
              <a:rPr lang="en-US" dirty="0"/>
              <a:t>Resource health checks and diagnostics integration for quick remediation</a:t>
            </a:r>
          </a:p>
          <a:p>
            <a:pPr marL="171450" indent="-171450" algn="just">
              <a:buFont typeface="Arial" panose="020B0604020202020204" pitchFamily="34" charset="0"/>
              <a:buChar char="•"/>
            </a:pPr>
            <a:r>
              <a:rPr lang="en-US" dirty="0"/>
              <a:t>Log-enriched anomaly detection for precise root cause identification</a:t>
            </a:r>
          </a:p>
          <a:p>
            <a:pPr algn="just"/>
            <a:endParaRPr lang="en-US" dirty="0"/>
          </a:p>
        </p:txBody>
      </p:sp>
      <p:sp>
        <p:nvSpPr>
          <p:cNvPr id="8" name="Text Placeholder 1">
            <a:extLst>
              <a:ext uri="{FF2B5EF4-FFF2-40B4-BE49-F238E27FC236}">
                <a16:creationId xmlns:a16="http://schemas.microsoft.com/office/drawing/2014/main" id="{6C2F2065-3529-5F02-BBF8-83CAEFA3E64D}"/>
              </a:ext>
            </a:extLst>
          </p:cNvPr>
          <p:cNvSpPr>
            <a:spLocks noGrp="1"/>
          </p:cNvSpPr>
          <p:nvPr>
            <p:ph type="body" sz="quarter" idx="10"/>
          </p:nvPr>
        </p:nvSpPr>
        <p:spPr>
          <a:xfrm>
            <a:off x="4433776" y="855080"/>
            <a:ext cx="4365038" cy="3774069"/>
          </a:xfrm>
        </p:spPr>
        <p:txBody>
          <a:bodyPr/>
          <a:lstStyle/>
          <a:p>
            <a:pPr algn="just"/>
            <a:r>
              <a:rPr lang="en-US" sz="1000" dirty="0">
                <a:hlinkClick r:id="rId3"/>
              </a:rPr>
              <a:t>Azure Copilot observability agent</a:t>
            </a:r>
            <a:endParaRPr lang="en-US" sz="1000" dirty="0"/>
          </a:p>
          <a:p>
            <a:pPr algn="just"/>
            <a:r>
              <a:rPr lang="en-US" sz="1000" dirty="0"/>
              <a:t>Microsoft is introducing a new era of </a:t>
            </a:r>
            <a:r>
              <a:rPr lang="en-US" sz="1000" b="1" dirty="0"/>
              <a:t>agentic cloud operations</a:t>
            </a:r>
            <a:r>
              <a:rPr lang="en-US" sz="1000" dirty="0"/>
              <a:t> with </a:t>
            </a:r>
            <a:r>
              <a:rPr lang="en-US" sz="1000" b="1" dirty="0"/>
              <a:t>Azure Copilot agents</a:t>
            </a:r>
            <a:r>
              <a:rPr lang="en-US" sz="1000" dirty="0"/>
              <a:t>, starting with the preview of the </a:t>
            </a:r>
            <a:r>
              <a:rPr lang="en-US" sz="1000" b="1" dirty="0"/>
              <a:t>Azure Copilot observability agent</a:t>
            </a:r>
            <a:r>
              <a:rPr lang="en-US" sz="1000" dirty="0"/>
              <a:t>. Formerly known as </a:t>
            </a:r>
            <a:r>
              <a:rPr lang="en-US" sz="1000" i="1" dirty="0"/>
              <a:t>Azure Monitor Investigate</a:t>
            </a:r>
            <a:r>
              <a:rPr lang="en-US" sz="1000" dirty="0"/>
              <a:t>, this agent enhances full-stack troubleshooting by automatically correlating telemetry across services such as AKS, VMs, and application resources. It surfaces actionable root-cause insights in alerts, the Azure portal, and Azure Copilot (gated preview), helping teams diagnose and resolve issues faster and collaborate more effectively.</a:t>
            </a:r>
          </a:p>
          <a:p>
            <a:pPr algn="just"/>
            <a:r>
              <a:rPr lang="en-US" sz="1000" dirty="0"/>
              <a:t>Alongside this release, the new </a:t>
            </a:r>
            <a:r>
              <a:rPr lang="en-US" sz="1000" b="1" dirty="0"/>
              <a:t>Azure Copilot experience</a:t>
            </a:r>
            <a:r>
              <a:rPr lang="en-US" sz="1000" dirty="0"/>
              <a:t> unifies agentic workflows across Azure. From the Operations Center in the Azure portal, users gain a single view to navigate, operate, and optimize their environments—and can invoke agents directly in their workflows. The observability blade also provides suggested top actions, guided by the observability agent, to help teams prioritize, investigate, and remediate issues efficiently.</a:t>
            </a:r>
          </a:p>
          <a:p>
            <a:pPr algn="just"/>
            <a:endParaRPr lang="en-US" sz="1000" dirty="0"/>
          </a:p>
        </p:txBody>
      </p:sp>
    </p:spTree>
    <p:extLst>
      <p:ext uri="{BB962C8B-B14F-4D97-AF65-F5344CB8AC3E}">
        <p14:creationId xmlns:p14="http://schemas.microsoft.com/office/powerpoint/2010/main" val="1766811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
                                            <p:txEl>
                                              <p:pRg st="0" end="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1E86-1EBC-4F6B-6E64-6EB5FD91F4AC}"/>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F0107EA6-8DB4-F344-F529-449034C075F0}"/>
              </a:ext>
            </a:extLst>
          </p:cNvPr>
          <p:cNvSpPr>
            <a:spLocks noGrp="1"/>
          </p:cNvSpPr>
          <p:nvPr>
            <p:ph type="title"/>
          </p:nvPr>
        </p:nvSpPr>
        <p:spPr/>
        <p:txBody>
          <a:bodyPr/>
          <a:lstStyle/>
          <a:p>
            <a:r>
              <a:rPr lang="en-US" sz="1800" dirty="0"/>
              <a:t>ML &amp; AI &amp; IOT Updates (Azure Copilot) 2/2</a:t>
            </a:r>
            <a:endParaRPr lang="en-US" dirty="0"/>
          </a:p>
        </p:txBody>
      </p:sp>
      <p:sp>
        <p:nvSpPr>
          <p:cNvPr id="13" name="Text Placeholder 12">
            <a:extLst>
              <a:ext uri="{FF2B5EF4-FFF2-40B4-BE49-F238E27FC236}">
                <a16:creationId xmlns:a16="http://schemas.microsoft.com/office/drawing/2014/main" id="{DA4EB956-5F49-48E0-B1D6-AE1A636CECB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383DE5A4-66B0-B9DC-0E46-93B58BC9C3FE}"/>
              </a:ext>
            </a:extLst>
          </p:cNvPr>
          <p:cNvSpPr>
            <a:spLocks noGrp="1"/>
          </p:cNvSpPr>
          <p:nvPr>
            <p:ph type="body" sz="quarter" idx="16"/>
          </p:nvPr>
        </p:nvSpPr>
        <p:spPr>
          <a:xfrm>
            <a:off x="342900" y="855080"/>
            <a:ext cx="3955312" cy="1870867"/>
          </a:xfrm>
        </p:spPr>
        <p:txBody>
          <a:bodyPr/>
          <a:lstStyle/>
          <a:p>
            <a:pPr algn="just"/>
            <a:r>
              <a:rPr lang="en-US" dirty="0">
                <a:hlinkClick r:id="rId2"/>
              </a:rPr>
              <a:t>Public Preview: Azure Databricks Genie in Copilot Studio</a:t>
            </a:r>
            <a:endParaRPr lang="en-US" dirty="0"/>
          </a:p>
          <a:p>
            <a:pPr algn="just"/>
            <a:r>
              <a:rPr lang="en-US" b="1" dirty="0"/>
              <a:t>Azure Databricks Genie </a:t>
            </a:r>
            <a:r>
              <a:rPr lang="en-US" dirty="0"/>
              <a:t>is now available in Microsoft Copilot Studio, giving direct access to intelligent, </a:t>
            </a:r>
            <a:r>
              <a:rPr lang="en-US" b="1" dirty="0"/>
              <a:t>enterprise-grade AI answers </a:t>
            </a:r>
            <a:r>
              <a:rPr lang="en-US" dirty="0"/>
              <a:t>across full Azure Databricks data estate.</a:t>
            </a:r>
          </a:p>
          <a:p>
            <a:pPr algn="just"/>
            <a:r>
              <a:rPr lang="en-US" dirty="0"/>
              <a:t>This integration unlocks enterprise-grade, conversational analytics across data estate—no code required. Through </a:t>
            </a:r>
            <a:r>
              <a:rPr lang="en-US" b="1" dirty="0"/>
              <a:t>Model Context Protocol (MCP), Copilot Studio agents can now deliver richer</a:t>
            </a:r>
            <a:r>
              <a:rPr lang="en-US" dirty="0"/>
              <a:t>, more accurate responses grounded in actual business data. It is now possible to instantly publish Genie-powered agents to Microsoft Teams and Microsoft 365 to accelerate decision-making and empower users at every level. </a:t>
            </a:r>
          </a:p>
        </p:txBody>
      </p:sp>
    </p:spTree>
    <p:extLst>
      <p:ext uri="{BB962C8B-B14F-4D97-AF65-F5344CB8AC3E}">
        <p14:creationId xmlns:p14="http://schemas.microsoft.com/office/powerpoint/2010/main" val="3849961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9D88239-E1E0-3F57-2C3F-0A09F22EA172}"/>
              </a:ext>
            </a:extLst>
          </p:cNvPr>
          <p:cNvSpPr>
            <a:spLocks noGrp="1"/>
          </p:cNvSpPr>
          <p:nvPr>
            <p:ph type="body" sz="quarter" idx="10"/>
          </p:nvPr>
        </p:nvSpPr>
        <p:spPr>
          <a:xfrm>
            <a:off x="4433776" y="750295"/>
            <a:ext cx="4365038" cy="3774069"/>
          </a:xfrm>
        </p:spPr>
        <p:txBody>
          <a:bodyPr/>
          <a:lstStyle/>
          <a:p>
            <a:pPr algn="just"/>
            <a:r>
              <a:rPr lang="en-US" sz="1000" dirty="0">
                <a:hlinkClick r:id="rId2"/>
              </a:rPr>
              <a:t>Public Preview: New integration and extensibility capabilities to Azure SRE Agent</a:t>
            </a:r>
            <a:endParaRPr lang="en-US" sz="1000" dirty="0"/>
          </a:p>
          <a:p>
            <a:pPr algn="just"/>
            <a:r>
              <a:rPr lang="en-US" sz="1000" b="1" dirty="0"/>
              <a:t>Azure SRE Agent</a:t>
            </a:r>
            <a:r>
              <a:rPr lang="en-US" sz="1000" dirty="0"/>
              <a:t> is an AI-driven solution that unifies operational workflows into a single, prompt-based automation layer—removing complexity and reducing operational overhead for modern cloud environments. Unlike traditional automation approaches, SRE Agent uses AI and natural-language prompts to convert unstructured domain knowledge into dynamic, context-aware automation at scale.</a:t>
            </a:r>
          </a:p>
          <a:p>
            <a:pPr algn="just"/>
            <a:r>
              <a:rPr lang="en-US" sz="1000" b="1" dirty="0"/>
              <a:t>What’s new:</a:t>
            </a:r>
            <a:endParaRPr lang="en-US" sz="1000" dirty="0"/>
          </a:p>
          <a:p>
            <a:pPr marL="171450" indent="-171450" algn="just">
              <a:buFont typeface="Arial" panose="020B0604020202020204" pitchFamily="34" charset="0"/>
              <a:buChar char="•"/>
            </a:pPr>
            <a:r>
              <a:rPr lang="en-US" sz="1000" b="1" dirty="0"/>
              <a:t>No-code automation</a:t>
            </a:r>
            <a:endParaRPr lang="en-US" sz="1000" dirty="0"/>
          </a:p>
          <a:p>
            <a:pPr marL="171450" indent="-171450" algn="just">
              <a:buFont typeface="Arial" panose="020B0604020202020204" pitchFamily="34" charset="0"/>
              <a:buChar char="•"/>
            </a:pPr>
            <a:r>
              <a:rPr lang="en-US" sz="1000" b="1" dirty="0"/>
              <a:t>Event-driven triggers</a:t>
            </a:r>
            <a:endParaRPr lang="en-US" sz="1000" dirty="0"/>
          </a:p>
          <a:p>
            <a:pPr marL="171450" indent="-171450" algn="just">
              <a:buFont typeface="Arial" panose="020B0604020202020204" pitchFamily="34" charset="0"/>
              <a:buChar char="•"/>
            </a:pPr>
            <a:r>
              <a:rPr lang="en-US" sz="1000" b="1" dirty="0"/>
              <a:t>Expanded observability</a:t>
            </a:r>
          </a:p>
          <a:p>
            <a:pPr marL="171450" indent="-171450" algn="just">
              <a:buFont typeface="Arial" panose="020B0604020202020204" pitchFamily="34" charset="0"/>
              <a:buChar char="•"/>
            </a:pPr>
            <a:r>
              <a:rPr lang="en-US" sz="1000" b="1" dirty="0"/>
              <a:t>Orchestration across MCP-compatible tools</a:t>
            </a:r>
          </a:p>
          <a:p>
            <a:pPr marL="171450" indent="-171450" algn="just">
              <a:buFont typeface="Arial" panose="020B0604020202020204" pitchFamily="34" charset="0"/>
              <a:buChar char="•"/>
            </a:pPr>
            <a:r>
              <a:rPr lang="en-US" sz="1000" b="1" dirty="0"/>
              <a:t>Adaptive memory system</a:t>
            </a:r>
            <a:endParaRPr lang="en-US" sz="1000" dirty="0"/>
          </a:p>
        </p:txBody>
      </p:sp>
      <p:sp>
        <p:nvSpPr>
          <p:cNvPr id="3" name="Title 2">
            <a:extLst>
              <a:ext uri="{FF2B5EF4-FFF2-40B4-BE49-F238E27FC236}">
                <a16:creationId xmlns:a16="http://schemas.microsoft.com/office/drawing/2014/main" id="{35512113-104C-AFE2-8DE8-0F04629C34F8}"/>
              </a:ext>
            </a:extLst>
          </p:cNvPr>
          <p:cNvSpPr>
            <a:spLocks noGrp="1"/>
          </p:cNvSpPr>
          <p:nvPr>
            <p:ph type="title"/>
          </p:nvPr>
        </p:nvSpPr>
        <p:spPr/>
        <p:txBody>
          <a:bodyPr/>
          <a:lstStyle/>
          <a:p>
            <a:r>
              <a:rPr lang="en-US" sz="1600" dirty="0"/>
              <a:t>ML &amp; AI &amp; IOT Updates 1/3</a:t>
            </a:r>
            <a:endParaRPr lang="en-US" dirty="0"/>
          </a:p>
        </p:txBody>
      </p:sp>
      <p:sp>
        <p:nvSpPr>
          <p:cNvPr id="4" name="Text Placeholder 3">
            <a:extLst>
              <a:ext uri="{FF2B5EF4-FFF2-40B4-BE49-F238E27FC236}">
                <a16:creationId xmlns:a16="http://schemas.microsoft.com/office/drawing/2014/main" id="{50EA841C-91E7-AF4B-6C63-DE2839EFB323}"/>
              </a:ext>
            </a:extLst>
          </p:cNvPr>
          <p:cNvSpPr>
            <a:spLocks noGrp="1"/>
          </p:cNvSpPr>
          <p:nvPr>
            <p:ph type="body" sz="quarter" idx="15"/>
          </p:nvPr>
        </p:nvSpPr>
        <p:spPr/>
        <p:txBody>
          <a:bodyPr/>
          <a:lstStyle/>
          <a:p>
            <a:endParaRPr lang="en-US" dirty="0"/>
          </a:p>
        </p:txBody>
      </p:sp>
      <p:sp>
        <p:nvSpPr>
          <p:cNvPr id="8" name="Text Placeholder 4">
            <a:extLst>
              <a:ext uri="{FF2B5EF4-FFF2-40B4-BE49-F238E27FC236}">
                <a16:creationId xmlns:a16="http://schemas.microsoft.com/office/drawing/2014/main" id="{20F92F8A-F6F3-24BB-35CF-B9FF2EA3F886}"/>
              </a:ext>
            </a:extLst>
          </p:cNvPr>
          <p:cNvSpPr>
            <a:spLocks noGrp="1"/>
          </p:cNvSpPr>
          <p:nvPr>
            <p:ph type="body" sz="quarter" idx="16"/>
          </p:nvPr>
        </p:nvSpPr>
        <p:spPr>
          <a:xfrm>
            <a:off x="342900" y="750295"/>
            <a:ext cx="3955312" cy="4236465"/>
          </a:xfrm>
        </p:spPr>
        <p:txBody>
          <a:bodyPr/>
          <a:lstStyle/>
          <a:p>
            <a:pPr algn="just"/>
            <a:r>
              <a:rPr lang="en-US" dirty="0">
                <a:hlinkClick r:id="rId3"/>
              </a:rPr>
              <a:t>Public Preview: Azure Copilot brings new intelligent agents to support end-to-end lifecycle management of workloads</a:t>
            </a:r>
            <a:endParaRPr lang="en-US" dirty="0"/>
          </a:p>
          <a:p>
            <a:pPr algn="just"/>
            <a:r>
              <a:rPr lang="en-US" dirty="0"/>
              <a:t>Azure Copilot introduces specialized agents (gated preview) to help migrate, operate, and modernize workloads anywhere. Copilot evolves chat into an immersive, full-screen command center (public preview) powered by GPT-5 reasoning, artifact generation, and ARM-driven scenarios. Customers get contextual, multi-modal, and personalized experiences, including chat history and inline actions. A compliance-first architecture and Bring Your Own Storage (public preview) let customers manage chat data securely and control data residency. The new agents (gated preview) are as follows:</a:t>
            </a:r>
          </a:p>
          <a:p>
            <a:pPr marL="171450" indent="-171450" algn="just">
              <a:buFont typeface="Arial" panose="020B0604020202020204" pitchFamily="34" charset="0"/>
              <a:buChar char="•"/>
            </a:pPr>
            <a:r>
              <a:rPr lang="en-US" b="1" dirty="0"/>
              <a:t>Deployment Agent: </a:t>
            </a:r>
            <a:r>
              <a:rPr lang="en-US" dirty="0"/>
              <a:t>Streamlines environment planning and guided infrastructure deployment.</a:t>
            </a:r>
          </a:p>
          <a:p>
            <a:pPr marL="171450" indent="-171450" algn="just">
              <a:buFont typeface="Arial" panose="020B0604020202020204" pitchFamily="34" charset="0"/>
              <a:buChar char="•"/>
            </a:pPr>
            <a:r>
              <a:rPr lang="en-US" b="1" dirty="0"/>
              <a:t>Migration Agent: </a:t>
            </a:r>
            <a:r>
              <a:rPr lang="en-US" dirty="0"/>
              <a:t>Automates cloud migration, generates AI recommendations, and modernizes apps.</a:t>
            </a:r>
          </a:p>
          <a:p>
            <a:pPr marL="171450" indent="-171450" algn="just">
              <a:buFont typeface="Arial" panose="020B0604020202020204" pitchFamily="34" charset="0"/>
              <a:buChar char="•"/>
            </a:pPr>
            <a:r>
              <a:rPr lang="en-US" b="1" dirty="0"/>
              <a:t>Optimization Agent: </a:t>
            </a:r>
            <a:r>
              <a:rPr lang="en-US" dirty="0"/>
              <a:t>Finds cost and carbon savings and enables direct action.</a:t>
            </a:r>
          </a:p>
          <a:p>
            <a:pPr marL="171450" indent="-171450" algn="just">
              <a:buFont typeface="Arial" panose="020B0604020202020204" pitchFamily="34" charset="0"/>
              <a:buChar char="•"/>
            </a:pPr>
            <a:r>
              <a:rPr lang="en-US" b="1" dirty="0"/>
              <a:t>Observability Agent: </a:t>
            </a:r>
            <a:r>
              <a:rPr lang="en-US" dirty="0"/>
              <a:t>Diagnoses full-stack app issues and suggests mitigation using Azure Monitor.</a:t>
            </a:r>
          </a:p>
          <a:p>
            <a:pPr marL="171450" indent="-171450" algn="just">
              <a:buFont typeface="Arial" panose="020B0604020202020204" pitchFamily="34" charset="0"/>
              <a:buChar char="•"/>
            </a:pPr>
            <a:r>
              <a:rPr lang="en-US" b="1" dirty="0"/>
              <a:t>Resiliency Agent: </a:t>
            </a:r>
            <a:r>
              <a:rPr lang="en-US" dirty="0"/>
              <a:t>Offers resiliency insights, auto-remediation, and ransomware protection.</a:t>
            </a:r>
          </a:p>
          <a:p>
            <a:pPr marL="171450" indent="-171450" algn="just">
              <a:buFont typeface="Arial" panose="020B0604020202020204" pitchFamily="34" charset="0"/>
              <a:buChar char="•"/>
            </a:pPr>
            <a:r>
              <a:rPr lang="en-US" b="1" dirty="0"/>
              <a:t>Troubleshooting Agent: </a:t>
            </a:r>
            <a:r>
              <a:rPr lang="en-US" dirty="0"/>
              <a:t>Pinpoints issues, suggests fixes, and guides AKS troubleshooting.</a:t>
            </a:r>
          </a:p>
        </p:txBody>
      </p:sp>
    </p:spTree>
    <p:extLst>
      <p:ext uri="{BB962C8B-B14F-4D97-AF65-F5344CB8AC3E}">
        <p14:creationId xmlns:p14="http://schemas.microsoft.com/office/powerpoint/2010/main" val="568533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4" end="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70C921-FB7D-B992-89B9-B937AC979E29}"/>
              </a:ext>
            </a:extLst>
          </p:cNvPr>
          <p:cNvSpPr>
            <a:spLocks noGrp="1"/>
          </p:cNvSpPr>
          <p:nvPr>
            <p:ph type="body" sz="quarter" idx="10"/>
          </p:nvPr>
        </p:nvSpPr>
        <p:spPr/>
        <p:txBody>
          <a:bodyPr/>
          <a:lstStyle/>
          <a:p>
            <a:pPr algn="just"/>
            <a:r>
              <a:rPr lang="en-US" sz="1000" dirty="0">
                <a:hlinkClick r:id="rId2"/>
              </a:rPr>
              <a:t>Introducing Microsoft Agent Factory</a:t>
            </a:r>
            <a:endParaRPr lang="en-US" sz="1000" dirty="0"/>
          </a:p>
          <a:p>
            <a:pPr algn="just"/>
            <a:r>
              <a:rPr lang="en-US" sz="1000" dirty="0"/>
              <a:t>Microsoft has introduced </a:t>
            </a:r>
            <a:r>
              <a:rPr lang="en-US" sz="1000" b="1" dirty="0"/>
              <a:t>Microsoft Agent Factory</a:t>
            </a:r>
            <a:r>
              <a:rPr lang="en-US" sz="1000" dirty="0"/>
              <a:t>, a new program designed to help organizations move from AI experimentation to large-scale execution. With a </a:t>
            </a:r>
            <a:r>
              <a:rPr lang="en-US" sz="1000" b="1" dirty="0"/>
              <a:t>single metered plan</a:t>
            </a:r>
            <a:r>
              <a:rPr lang="en-US" sz="1000" dirty="0"/>
              <a:t>, organizations can build agents using </a:t>
            </a:r>
            <a:r>
              <a:rPr lang="en-US" sz="1000" b="1" dirty="0"/>
              <a:t>Work IQ, Fabric IQ, and Foundry IQ</a:t>
            </a:r>
            <a:r>
              <a:rPr lang="en-US" sz="1000" dirty="0"/>
              <a:t> through Microsoft Foundry and Copilot Studio, and deploy them anywhere—including </a:t>
            </a:r>
            <a:r>
              <a:rPr lang="en-US" sz="1000" b="1" dirty="0"/>
              <a:t>Microsoft 365 Copilot</a:t>
            </a:r>
            <a:r>
              <a:rPr lang="en-US" sz="1000" dirty="0"/>
              <a:t>—without upfront licensing or provisioning.</a:t>
            </a:r>
          </a:p>
          <a:p>
            <a:pPr algn="just"/>
            <a:r>
              <a:rPr lang="en-US" sz="1000" dirty="0"/>
              <a:t>Eligible customers can also access hands-on support from Microsoft’s </a:t>
            </a:r>
            <a:r>
              <a:rPr lang="en-US" sz="1000" b="1" dirty="0"/>
              <a:t>AI Forward Deployed Engineers (FDEs)</a:t>
            </a:r>
            <a:r>
              <a:rPr lang="en-US" sz="1000" dirty="0"/>
              <a:t> and benefit from role-based training to strengthen AI skills across teams. Organizations can adopt any combination of these components to match their specific needs.</a:t>
            </a:r>
          </a:p>
          <a:p>
            <a:pPr algn="just"/>
            <a:endParaRPr lang="en-US" sz="1000" dirty="0"/>
          </a:p>
        </p:txBody>
      </p:sp>
      <p:sp>
        <p:nvSpPr>
          <p:cNvPr id="3" name="Title 2">
            <a:extLst>
              <a:ext uri="{FF2B5EF4-FFF2-40B4-BE49-F238E27FC236}">
                <a16:creationId xmlns:a16="http://schemas.microsoft.com/office/drawing/2014/main" id="{EF829953-7794-60DC-67BC-97C1CAFE5CCA}"/>
              </a:ext>
            </a:extLst>
          </p:cNvPr>
          <p:cNvSpPr>
            <a:spLocks noGrp="1"/>
          </p:cNvSpPr>
          <p:nvPr>
            <p:ph type="title"/>
          </p:nvPr>
        </p:nvSpPr>
        <p:spPr/>
        <p:txBody>
          <a:bodyPr/>
          <a:lstStyle/>
          <a:p>
            <a:r>
              <a:rPr lang="en-US" sz="1800" dirty="0"/>
              <a:t>ML &amp; AI &amp; IOT Updates 2/3</a:t>
            </a:r>
            <a:endParaRPr lang="en-US" dirty="0"/>
          </a:p>
        </p:txBody>
      </p:sp>
      <p:sp>
        <p:nvSpPr>
          <p:cNvPr id="4" name="Text Placeholder 3">
            <a:extLst>
              <a:ext uri="{FF2B5EF4-FFF2-40B4-BE49-F238E27FC236}">
                <a16:creationId xmlns:a16="http://schemas.microsoft.com/office/drawing/2014/main" id="{D16F1306-DD5B-2332-5F11-3459C89285C9}"/>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3D1B644C-DE9A-6C31-BEB3-214615CFFBAA}"/>
              </a:ext>
            </a:extLst>
          </p:cNvPr>
          <p:cNvSpPr>
            <a:spLocks noGrp="1"/>
          </p:cNvSpPr>
          <p:nvPr>
            <p:ph type="body" sz="quarter" idx="16"/>
          </p:nvPr>
        </p:nvSpPr>
        <p:spPr/>
        <p:txBody>
          <a:bodyPr/>
          <a:lstStyle/>
          <a:p>
            <a:pPr algn="just"/>
            <a:r>
              <a:rPr lang="en-US" dirty="0">
                <a:hlinkClick r:id="rId3"/>
              </a:rPr>
              <a:t>Public Preview: Add durability to AI agents in Azure Functions using Microsoft Agent Framework</a:t>
            </a:r>
            <a:endParaRPr lang="en-US" dirty="0"/>
          </a:p>
          <a:p>
            <a:pPr algn="just"/>
            <a:r>
              <a:rPr lang="en-US" dirty="0"/>
              <a:t>Organizations can now build and host </a:t>
            </a:r>
            <a:r>
              <a:rPr lang="en-US" b="1" dirty="0"/>
              <a:t>reliable, production-grade AI agents</a:t>
            </a:r>
            <a:r>
              <a:rPr lang="en-US" dirty="0"/>
              <a:t> using the </a:t>
            </a:r>
            <a:r>
              <a:rPr lang="en-US" b="1" dirty="0"/>
              <a:t>durable extension for the Microsoft Agent Framework</a:t>
            </a:r>
            <a:r>
              <a:rPr lang="en-US" dirty="0"/>
              <a:t>. This integration combines the Microsoft Agent Framework with Azure Functions’ durable orchestration capabilities, delivering proven resiliency and scalable serverless hosting for AI agents. Benefits include automatic session management, built-in HTTP endpoints, and elastic scaling—from zero to thousands of instances—supported by pay-per-use pricing and fully managed infrastructure.</a:t>
            </a:r>
          </a:p>
          <a:p>
            <a:pPr marL="171450" indent="-171450" algn="just">
              <a:buFont typeface="Arial" panose="020B0604020202020204" pitchFamily="34" charset="0"/>
              <a:buChar char="•"/>
            </a:pPr>
            <a:r>
              <a:rPr lang="en-US" b="1" dirty="0"/>
              <a:t>Key capabilities include</a:t>
            </a:r>
            <a:endParaRPr lang="en-US" dirty="0"/>
          </a:p>
          <a:p>
            <a:pPr marL="171450" indent="-171450" algn="just">
              <a:buFont typeface="Arial" panose="020B0604020202020204" pitchFamily="34" charset="0"/>
              <a:buChar char="•"/>
            </a:pPr>
            <a:r>
              <a:rPr lang="en-US" b="1" dirty="0"/>
              <a:t>Stateful agent sessions</a:t>
            </a:r>
            <a:endParaRPr lang="en-US" dirty="0"/>
          </a:p>
          <a:p>
            <a:pPr marL="171450" indent="-171450" algn="just">
              <a:buFont typeface="Arial" panose="020B0604020202020204" pitchFamily="34" charset="0"/>
              <a:buChar char="•"/>
            </a:pPr>
            <a:r>
              <a:rPr lang="en-US" b="1" dirty="0"/>
              <a:t>Durable tool calls</a:t>
            </a:r>
            <a:endParaRPr lang="en-US" dirty="0"/>
          </a:p>
          <a:p>
            <a:pPr marL="171450" indent="-171450" algn="just">
              <a:buFont typeface="Arial" panose="020B0604020202020204" pitchFamily="34" charset="0"/>
              <a:buChar char="•"/>
            </a:pPr>
            <a:r>
              <a:rPr lang="en-US" b="1" dirty="0"/>
              <a:t>Deterministic multi-agent orchestration</a:t>
            </a:r>
            <a:endParaRPr lang="en-US" dirty="0"/>
          </a:p>
          <a:p>
            <a:pPr marL="171450" indent="-171450" algn="just">
              <a:buFont typeface="Arial" panose="020B0604020202020204" pitchFamily="34" charset="0"/>
              <a:buChar char="•"/>
            </a:pPr>
            <a:r>
              <a:rPr lang="en-US" b="1" dirty="0"/>
              <a:t>Human-in-the-loop workflows</a:t>
            </a:r>
            <a:endParaRPr lang="en-US" dirty="0"/>
          </a:p>
          <a:p>
            <a:pPr marL="171450" indent="-171450" algn="just">
              <a:buFont typeface="Arial" panose="020B0604020202020204" pitchFamily="34" charset="0"/>
              <a:buChar char="•"/>
            </a:pPr>
            <a:r>
              <a:rPr lang="en-US" b="1" dirty="0"/>
              <a:t>Built-in observability</a:t>
            </a:r>
            <a:endParaRPr lang="en-US" dirty="0"/>
          </a:p>
        </p:txBody>
      </p:sp>
    </p:spTree>
    <p:extLst>
      <p:ext uri="{BB962C8B-B14F-4D97-AF65-F5344CB8AC3E}">
        <p14:creationId xmlns:p14="http://schemas.microsoft.com/office/powerpoint/2010/main" val="4179300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D361493-93FE-555C-A54C-0535D70C9557}"/>
              </a:ext>
            </a:extLst>
          </p:cNvPr>
          <p:cNvSpPr>
            <a:spLocks noGrp="1"/>
          </p:cNvSpPr>
          <p:nvPr>
            <p:ph type="body" sz="quarter" idx="10"/>
          </p:nvPr>
        </p:nvSpPr>
        <p:spPr/>
        <p:txBody>
          <a:bodyPr/>
          <a:lstStyle/>
          <a:p>
            <a:endParaRPr lang="en-US"/>
          </a:p>
        </p:txBody>
      </p:sp>
      <p:sp>
        <p:nvSpPr>
          <p:cNvPr id="3" name="Title 2">
            <a:extLst>
              <a:ext uri="{FF2B5EF4-FFF2-40B4-BE49-F238E27FC236}">
                <a16:creationId xmlns:a16="http://schemas.microsoft.com/office/drawing/2014/main" id="{A462B1C0-A1A8-1237-15F1-73D0B8544890}"/>
              </a:ext>
            </a:extLst>
          </p:cNvPr>
          <p:cNvSpPr>
            <a:spLocks noGrp="1"/>
          </p:cNvSpPr>
          <p:nvPr>
            <p:ph type="title"/>
          </p:nvPr>
        </p:nvSpPr>
        <p:spPr/>
        <p:txBody>
          <a:bodyPr/>
          <a:lstStyle/>
          <a:p>
            <a:r>
              <a:rPr lang="en-US" sz="1800" dirty="0"/>
              <a:t>ML &amp; AI &amp; IOT Updates 3/3</a:t>
            </a:r>
            <a:endParaRPr lang="en-US" dirty="0"/>
          </a:p>
        </p:txBody>
      </p:sp>
      <p:sp>
        <p:nvSpPr>
          <p:cNvPr id="4" name="Text Placeholder 3">
            <a:extLst>
              <a:ext uri="{FF2B5EF4-FFF2-40B4-BE49-F238E27FC236}">
                <a16:creationId xmlns:a16="http://schemas.microsoft.com/office/drawing/2014/main" id="{8C4AFAFE-0BC3-89EC-EC0F-12296A54FE04}"/>
              </a:ext>
            </a:extLst>
          </p:cNvPr>
          <p:cNvSpPr>
            <a:spLocks noGrp="1"/>
          </p:cNvSpPr>
          <p:nvPr>
            <p:ph type="body" sz="quarter" idx="15"/>
          </p:nvPr>
        </p:nvSpPr>
        <p:spPr/>
        <p:txBody>
          <a:bodyPr/>
          <a:lstStyle/>
          <a:p>
            <a:endParaRPr lang="en-US"/>
          </a:p>
        </p:txBody>
      </p:sp>
      <p:sp>
        <p:nvSpPr>
          <p:cNvPr id="6" name="Text Placeholder 13">
            <a:extLst>
              <a:ext uri="{FF2B5EF4-FFF2-40B4-BE49-F238E27FC236}">
                <a16:creationId xmlns:a16="http://schemas.microsoft.com/office/drawing/2014/main" id="{0B331A00-CF62-F468-BCCC-F6840B7358F5}"/>
              </a:ext>
            </a:extLst>
          </p:cNvPr>
          <p:cNvSpPr txBox="1">
            <a:spLocks/>
          </p:cNvSpPr>
          <p:nvPr/>
        </p:nvSpPr>
        <p:spPr>
          <a:xfrm>
            <a:off x="342900" y="855080"/>
            <a:ext cx="3955312"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dirty="0">
                <a:hlinkClick r:id="rId2"/>
              </a:rPr>
              <a:t>Public Preview: Azure Copilot agents - a closer look at the deployment agent</a:t>
            </a:r>
            <a:endParaRPr lang="en-US" dirty="0"/>
          </a:p>
          <a:p>
            <a:pPr algn="just"/>
            <a:r>
              <a:rPr lang="en-US" dirty="0"/>
              <a:t>Following Azure Copilot announcement introducing agentic capabilities, this update focuses on one of the six new agents: the deployment agent. The deployment agent helps you discover, plan, and deploy cloud workloads faster and with confidence using natural language guidance.</a:t>
            </a:r>
          </a:p>
          <a:p>
            <a:pPr algn="just"/>
            <a:r>
              <a:rPr lang="en-US" dirty="0"/>
              <a:t>With the Azure Copilot deployment agent, users benefit from:  </a:t>
            </a:r>
          </a:p>
          <a:p>
            <a:pPr marL="171450" indent="-171450" algn="just">
              <a:buFont typeface="Arial" panose="020B0604020202020204" pitchFamily="34" charset="0"/>
              <a:buChar char="•"/>
            </a:pPr>
            <a:r>
              <a:rPr lang="en-US" dirty="0"/>
              <a:t>Intelligent workload recommendations based on Azure’s Well Architected Framework pillars.  </a:t>
            </a:r>
          </a:p>
          <a:p>
            <a:pPr marL="171450" indent="-171450" algn="just">
              <a:buFont typeface="Arial" panose="020B0604020202020204" pitchFamily="34" charset="0"/>
              <a:buChar char="•"/>
            </a:pPr>
            <a:r>
              <a:rPr lang="en-US" dirty="0"/>
              <a:t>Step-by-step guidance for planning and deploying infrastructure.  </a:t>
            </a:r>
          </a:p>
          <a:p>
            <a:pPr marL="171450" indent="-171450" algn="just">
              <a:buFont typeface="Arial" panose="020B0604020202020204" pitchFamily="34" charset="0"/>
              <a:buChar char="•"/>
            </a:pPr>
            <a:r>
              <a:rPr lang="en-US" dirty="0"/>
              <a:t>Optimal pre-built template selection or customized IaC that meets user needs.  </a:t>
            </a:r>
          </a:p>
          <a:p>
            <a:pPr marL="171450" indent="-171450" algn="just">
              <a:buFont typeface="Arial" panose="020B0604020202020204" pitchFamily="34" charset="0"/>
              <a:buChar char="•"/>
            </a:pPr>
            <a:r>
              <a:rPr lang="en-US" dirty="0"/>
              <a:t>Ability to pull custom IaC to users Git Hub repositories or VS Code Web based deployment. </a:t>
            </a:r>
          </a:p>
        </p:txBody>
      </p:sp>
    </p:spTree>
    <p:extLst>
      <p:ext uri="{BB962C8B-B14F-4D97-AF65-F5344CB8AC3E}">
        <p14:creationId xmlns:p14="http://schemas.microsoft.com/office/powerpoint/2010/main" val="263195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4748646" cy="1714500"/>
          </a:xfrm>
        </p:spPr>
        <p:txBody>
          <a:bodyPr/>
          <a:lstStyle/>
          <a:p>
            <a:r>
              <a:rPr lang="en-US" sz="4000" dirty="0"/>
              <a:t>DevOps &amp; IaC &amp; Automation</a:t>
            </a:r>
          </a:p>
        </p:txBody>
      </p:sp>
    </p:spTree>
    <p:extLst>
      <p:ext uri="{BB962C8B-B14F-4D97-AF65-F5344CB8AC3E}">
        <p14:creationId xmlns:p14="http://schemas.microsoft.com/office/powerpoint/2010/main" val="65378462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Oracle to PostgreSQL migration tooling in Visual Studio Code</a:t>
            </a:r>
            <a:endParaRPr lang="en-US" sz="1000" dirty="0"/>
          </a:p>
          <a:p>
            <a:pPr algn="just"/>
            <a:r>
              <a:rPr lang="en-US" sz="1000" dirty="0"/>
              <a:t>Migrating from Oracle to PostgreSQL is now easier with the new Oracle-to-PostgreSQL migration tool integrated into the Azure Database for PostgreSQL extension for Visual Studio Code.</a:t>
            </a:r>
          </a:p>
          <a:p>
            <a:pPr algn="just"/>
            <a:r>
              <a:rPr lang="en-US" sz="1000" dirty="0"/>
              <a:t>The tool lets extract Oracle schemas, convert them to PostgreSQL format, validate results in a temporary PostgreSQL database, and review AI-powered recommendations—all within a guided wizard in VS Code. It automatically detects Oracle-specific features, converts them to PostgreSQL-compatible syntax, and highlights items needing manual attention.</a:t>
            </a:r>
          </a:p>
          <a:p>
            <a:pPr algn="just"/>
            <a:r>
              <a:rPr lang="en-US" sz="1000" dirty="0"/>
              <a:t>Azure OpenAI Service enhances both database and application-level code conversion to reduce effort and speed up readiness.</a:t>
            </a:r>
          </a:p>
          <a:p>
            <a:pPr algn="just"/>
            <a:r>
              <a:rPr lang="en-US" sz="1000" dirty="0"/>
              <a:t>Beyond schema conversion, new Application Migration features—powered by GitHub Copilot Agent Mode and specialized converters—help modernize application code that depends on </a:t>
            </a:r>
            <a:r>
              <a:rPr lang="en-US" sz="1000" dirty="0" err="1"/>
              <a:t>Oracle.Whether</a:t>
            </a:r>
            <a:r>
              <a:rPr lang="en-US" sz="1000" dirty="0"/>
              <a:t> migrating a single app or full enterprise workloads, the tool streamlines end-to-end modernization and accelerates the move to PostgreSQL.</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DevOps &amp; IaC &amp; Automation</a:t>
            </a:r>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GitHub Copilot app modernization expanded capabilities</a:t>
            </a:r>
            <a:endParaRPr lang="en-US" dirty="0"/>
          </a:p>
          <a:p>
            <a:pPr algn="just"/>
            <a:r>
              <a:rPr lang="en-US" dirty="0"/>
              <a:t>Announcing new enhancements to GitHub Copilot App Modernization that are in Public Preview</a:t>
            </a:r>
          </a:p>
          <a:p>
            <a:pPr algn="just"/>
            <a:r>
              <a:rPr lang="en-US" dirty="0"/>
              <a:t>For .NET applications:  </a:t>
            </a:r>
          </a:p>
          <a:p>
            <a:pPr marL="171450" indent="-171450" algn="just">
              <a:buFont typeface="Arial" panose="020B0604020202020204" pitchFamily="34" charset="0"/>
              <a:buChar char="•"/>
            </a:pPr>
            <a:r>
              <a:rPr lang="en-US" dirty="0"/>
              <a:t>New App Service Managed Instance as a target for </a:t>
            </a:r>
            <a:r>
              <a:rPr lang="en-US" b="1" dirty="0"/>
              <a:t>easier migration of legacy Windows .NET apps (Public Preview) </a:t>
            </a:r>
          </a:p>
          <a:p>
            <a:pPr algn="just"/>
            <a:r>
              <a:rPr lang="en-US" dirty="0"/>
              <a:t>For Python applications: </a:t>
            </a:r>
          </a:p>
          <a:p>
            <a:pPr marL="171450" indent="-171450" algn="just">
              <a:buFont typeface="Arial" panose="020B0604020202020204" pitchFamily="34" charset="0"/>
              <a:buChar char="•"/>
            </a:pPr>
            <a:r>
              <a:rPr lang="en-US" dirty="0"/>
              <a:t>For Python, customers can now migrate from </a:t>
            </a:r>
            <a:r>
              <a:rPr lang="en-US" b="1" dirty="0"/>
              <a:t>semantic kernel to agent framework in Visual Studio Code  </a:t>
            </a:r>
          </a:p>
          <a:p>
            <a:pPr algn="just"/>
            <a:r>
              <a:rPr lang="en-US" dirty="0"/>
              <a:t>Database Modernization:  </a:t>
            </a:r>
          </a:p>
          <a:p>
            <a:pPr marL="171450" indent="-171450" algn="just">
              <a:buFont typeface="Arial" panose="020B0604020202020204" pitchFamily="34" charset="0"/>
              <a:buChar char="•"/>
            </a:pPr>
            <a:r>
              <a:rPr lang="en-US" dirty="0"/>
              <a:t>Modernize PostgreSQL and SQL databases on Azure using the latest PostgreSQL extension (Public Preview) and the SQL Server modernization remains supported through the existing Azure Database Migration Service for SQL migration </a:t>
            </a:r>
          </a:p>
          <a:p>
            <a:pPr algn="just"/>
            <a:r>
              <a:rPr lang="en-US" dirty="0"/>
              <a:t>Portfolio Assessment Integration:</a:t>
            </a:r>
          </a:p>
          <a:p>
            <a:pPr marL="171450" indent="-171450" algn="just">
              <a:buFont typeface="Arial" panose="020B0604020202020204" pitchFamily="34" charset="0"/>
              <a:buChar char="•"/>
            </a:pPr>
            <a:r>
              <a:rPr lang="en-US" dirty="0"/>
              <a:t>Integrated portfolio assessment via GitHub Issues with Dr. Migrate and Azure Migrate, and CAST support coming soon. </a:t>
            </a:r>
          </a:p>
          <a:p>
            <a:pPr algn="just"/>
            <a:r>
              <a:rPr lang="en-US" dirty="0"/>
              <a:t>These capabilities help streamline modernization projects, reduce manual effort, and accelerate your journey to Azure.</a:t>
            </a:r>
          </a:p>
        </p:txBody>
      </p:sp>
    </p:spTree>
    <p:extLst>
      <p:ext uri="{BB962C8B-B14F-4D97-AF65-F5344CB8AC3E}">
        <p14:creationId xmlns:p14="http://schemas.microsoft.com/office/powerpoint/2010/main" val="1921881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E166B-5F98-EE8E-5B62-AEAB3F55337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ACB0A5D-ABFF-FDBA-2981-B5840044FB65}"/>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16AAAE0B-0E99-B9BA-C719-42AF0D574738}"/>
              </a:ext>
            </a:extLst>
          </p:cNvPr>
          <p:cNvSpPr>
            <a:spLocks noGrp="1"/>
          </p:cNvSpPr>
          <p:nvPr>
            <p:ph type="title"/>
          </p:nvPr>
        </p:nvSpPr>
        <p:spPr/>
        <p:txBody>
          <a:bodyPr/>
          <a:lstStyle/>
          <a:p>
            <a:r>
              <a:rPr lang="en-US" sz="1800" dirty="0"/>
              <a:t>DevOps &amp; IaC &amp; Automation</a:t>
            </a:r>
          </a:p>
        </p:txBody>
      </p:sp>
      <p:sp>
        <p:nvSpPr>
          <p:cNvPr id="13" name="Text Placeholder 12">
            <a:extLst>
              <a:ext uri="{FF2B5EF4-FFF2-40B4-BE49-F238E27FC236}">
                <a16:creationId xmlns:a16="http://schemas.microsoft.com/office/drawing/2014/main" id="{E12F1E69-46C9-B918-9382-5DFF0FC578B8}"/>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CB295C0-8FE1-D74E-47AD-C2C789F6372C}"/>
              </a:ext>
            </a:extLst>
          </p:cNvPr>
          <p:cNvSpPr>
            <a:spLocks noGrp="1"/>
          </p:cNvSpPr>
          <p:nvPr>
            <p:ph type="body" sz="quarter" idx="16"/>
          </p:nvPr>
        </p:nvSpPr>
        <p:spPr/>
        <p:txBody>
          <a:bodyPr/>
          <a:lstStyle/>
          <a:p>
            <a:endParaRPr lang="en-US" dirty="0"/>
          </a:p>
        </p:txBody>
      </p:sp>
    </p:spTree>
    <p:extLst>
      <p:ext uri="{BB962C8B-B14F-4D97-AF65-F5344CB8AC3E}">
        <p14:creationId xmlns:p14="http://schemas.microsoft.com/office/powerpoint/2010/main" val="1359911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86D8C-1CF7-CFC9-5082-9B054DB0E4B0}"/>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7CBCE21E-6E97-4575-224A-07A9BE04CC17}"/>
              </a:ext>
            </a:extLst>
          </p:cNvPr>
          <p:cNvSpPr>
            <a:spLocks noGrp="1"/>
          </p:cNvSpPr>
          <p:nvPr>
            <p:ph type="body" sz="quarter" idx="10"/>
          </p:nvPr>
        </p:nvSpPr>
        <p:spPr/>
        <p:txBody>
          <a:bodyPr/>
          <a:lstStyle/>
          <a:p>
            <a:pPr algn="just"/>
            <a:r>
              <a:rPr lang="en-US" sz="1000" dirty="0">
                <a:hlinkClick r:id="rId2"/>
              </a:rPr>
              <a:t>Generally Available: GitHub Copilot app modernization expanded capabilities</a:t>
            </a:r>
            <a:endParaRPr lang="en-US" sz="1000" dirty="0"/>
          </a:p>
          <a:p>
            <a:pPr algn="just"/>
            <a:r>
              <a:rPr lang="en-US" sz="1000" dirty="0"/>
              <a:t>Announcing new enhancements to </a:t>
            </a:r>
            <a:r>
              <a:rPr lang="en-US" sz="1000" b="1" dirty="0"/>
              <a:t>GitHub Copilot App Modernization </a:t>
            </a:r>
            <a:r>
              <a:rPr lang="en-US" sz="1000" dirty="0"/>
              <a:t>that are Generally Available, making it easier than ever to modernize applications, databases, containers, and accelerate migration to Azure. Below capabilities are now Generally Available: </a:t>
            </a:r>
          </a:p>
          <a:p>
            <a:pPr algn="just"/>
            <a:r>
              <a:rPr lang="en-US" sz="1000" dirty="0"/>
              <a:t>For Java applications:  </a:t>
            </a:r>
          </a:p>
          <a:p>
            <a:pPr marL="171450" indent="-171450" algn="just">
              <a:buFont typeface="Arial" panose="020B0604020202020204" pitchFamily="34" charset="0"/>
              <a:buChar char="•"/>
            </a:pPr>
            <a:r>
              <a:rPr lang="en-US" sz="1000" dirty="0"/>
              <a:t>Improved custom tasks now offer support</a:t>
            </a:r>
            <a:r>
              <a:rPr lang="en-US" sz="1000" b="1" dirty="0"/>
              <a:t> for diffs, text, and markdown files, along with instructions </a:t>
            </a:r>
            <a:r>
              <a:rPr lang="en-US" sz="1000" dirty="0"/>
              <a:t>designed to address specific modernization requirements </a:t>
            </a:r>
          </a:p>
          <a:p>
            <a:pPr marL="171450" indent="-171450" algn="just">
              <a:buFont typeface="Arial" panose="020B0604020202020204" pitchFamily="34" charset="0"/>
              <a:buChar char="•"/>
            </a:pPr>
            <a:r>
              <a:rPr lang="en-US" sz="1000" dirty="0"/>
              <a:t>Extended IDE support </a:t>
            </a:r>
            <a:r>
              <a:rPr lang="en-US" sz="1000" b="1" dirty="0"/>
              <a:t>from Visual Studio Code to IntelliJ  </a:t>
            </a:r>
          </a:p>
          <a:p>
            <a:pPr algn="just"/>
            <a:r>
              <a:rPr lang="en-US" sz="1000" dirty="0"/>
              <a:t>For .NET applications:  </a:t>
            </a:r>
          </a:p>
          <a:p>
            <a:pPr marL="171450" indent="-171450" algn="just">
              <a:buFont typeface="Arial" panose="020B0604020202020204" pitchFamily="34" charset="0"/>
              <a:buChar char="•"/>
            </a:pPr>
            <a:r>
              <a:rPr lang="en-US" sz="1000" dirty="0"/>
              <a:t>Upgrade capabilities to </a:t>
            </a:r>
            <a:r>
              <a:rPr lang="en-US" sz="1000" b="1" dirty="0"/>
              <a:t>cover .NET Framework to .NET version upgrades for web apps available in Visual Studio  </a:t>
            </a:r>
          </a:p>
          <a:p>
            <a:pPr algn="just"/>
            <a:r>
              <a:rPr lang="en-US" sz="1000" dirty="0"/>
              <a:t>Containerization capability with containerization assist integration  </a:t>
            </a:r>
          </a:p>
          <a:p>
            <a:pPr marL="171450" indent="-171450" algn="just">
              <a:buFont typeface="Arial" panose="020B0604020202020204" pitchFamily="34" charset="0"/>
              <a:buChar char="•"/>
            </a:pPr>
            <a:r>
              <a:rPr lang="en-US" sz="1000" dirty="0"/>
              <a:t>Automatically generate </a:t>
            </a:r>
            <a:r>
              <a:rPr lang="en-US" sz="1000" b="1" dirty="0" err="1"/>
              <a:t>Dockerfiles</a:t>
            </a:r>
            <a:r>
              <a:rPr lang="en-US" sz="1000" b="1" dirty="0"/>
              <a:t> and related artifacts such as building images for deployment to Azure Kubernetes Service (AKS), AKS Automatic, or Azure Container Apps (ACA)</a:t>
            </a:r>
          </a:p>
          <a:p>
            <a:pPr algn="just"/>
            <a:r>
              <a:rPr lang="en-US" sz="1000" dirty="0"/>
              <a:t>Deployment on Azure for streamlined modernization and migration:</a:t>
            </a:r>
          </a:p>
          <a:p>
            <a:pPr marL="171450" indent="-171450" algn="just">
              <a:buFont typeface="Arial" panose="020B0604020202020204" pitchFamily="34" charset="0"/>
              <a:buChar char="•"/>
            </a:pPr>
            <a:r>
              <a:rPr lang="en-US" sz="1000" dirty="0"/>
              <a:t>Automatically </a:t>
            </a:r>
            <a:r>
              <a:rPr lang="en-US" sz="1000" b="1" dirty="0"/>
              <a:t>generate Bicep files and related artifacts </a:t>
            </a:r>
            <a:r>
              <a:rPr lang="en-US" sz="1000" dirty="0"/>
              <a:t>for deployment to App Service, App Service Managed Instance, AKS, AKS Automatic, or ACA</a:t>
            </a:r>
          </a:p>
        </p:txBody>
      </p:sp>
      <p:sp>
        <p:nvSpPr>
          <p:cNvPr id="11" name="Title 10">
            <a:extLst>
              <a:ext uri="{FF2B5EF4-FFF2-40B4-BE49-F238E27FC236}">
                <a16:creationId xmlns:a16="http://schemas.microsoft.com/office/drawing/2014/main" id="{913ABE3E-5CF4-60DA-7E03-258003FB6E61}"/>
              </a:ext>
            </a:extLst>
          </p:cNvPr>
          <p:cNvSpPr>
            <a:spLocks noGrp="1"/>
          </p:cNvSpPr>
          <p:nvPr>
            <p:ph type="title"/>
          </p:nvPr>
        </p:nvSpPr>
        <p:spPr/>
        <p:txBody>
          <a:bodyPr/>
          <a:lstStyle/>
          <a:p>
            <a:r>
              <a:rPr lang="en-US" sz="1800" dirty="0"/>
              <a:t>DevOps &amp; IaC &amp; Automation</a:t>
            </a:r>
          </a:p>
        </p:txBody>
      </p:sp>
      <p:sp>
        <p:nvSpPr>
          <p:cNvPr id="13" name="Text Placeholder 12">
            <a:extLst>
              <a:ext uri="{FF2B5EF4-FFF2-40B4-BE49-F238E27FC236}">
                <a16:creationId xmlns:a16="http://schemas.microsoft.com/office/drawing/2014/main" id="{F39435DB-59FA-A2E5-622B-52C33AFF7708}"/>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D47C64A-30C7-BF38-06B4-45C2009206FC}"/>
              </a:ext>
            </a:extLst>
          </p:cNvPr>
          <p:cNvSpPr>
            <a:spLocks noGrp="1"/>
          </p:cNvSpPr>
          <p:nvPr>
            <p:ph type="body" sz="quarter" idx="16"/>
          </p:nvPr>
        </p:nvSpPr>
        <p:spPr/>
        <p:txBody>
          <a:bodyPr/>
          <a:lstStyle/>
          <a:p>
            <a:pPr algn="just"/>
            <a:r>
              <a:rPr lang="en-US" dirty="0">
                <a:hlinkClick r:id="rId3"/>
              </a:rPr>
              <a:t>Generally Available: Visual Studio 2026</a:t>
            </a:r>
            <a:endParaRPr lang="en-US" dirty="0"/>
          </a:p>
          <a:p>
            <a:pPr algn="just"/>
            <a:r>
              <a:rPr lang="en-US" dirty="0"/>
              <a:t>Visual Studio 2026 is the next evolution of the world’s most trusted IDE—modernized with AI deeply integrated into everyday workflows. By seamlessly integrating GitHub Copilot and agentic workflows, Visual Studio empowers professional developers to move faster, reduce toil, and deliver higher-quality software. Combined with modern UX, blazing performance, and enterprise-grade trust, Visual Studio remains the IDE of choice for complex, mission-critical development. </a:t>
            </a:r>
          </a:p>
        </p:txBody>
      </p:sp>
    </p:spTree>
    <p:extLst>
      <p:ext uri="{BB962C8B-B14F-4D97-AF65-F5344CB8AC3E}">
        <p14:creationId xmlns:p14="http://schemas.microsoft.com/office/powerpoint/2010/main" val="1082689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8E683-9896-60B5-890F-D8C14CCC2EE1}"/>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B28DC66-0F99-0D96-A778-8F83D6B79938}"/>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BD2B0018-DD83-75C9-FFCF-F3A8B114374D}"/>
              </a:ext>
            </a:extLst>
          </p:cNvPr>
          <p:cNvSpPr>
            <a:spLocks noGrp="1"/>
          </p:cNvSpPr>
          <p:nvPr>
            <p:ph type="title"/>
          </p:nvPr>
        </p:nvSpPr>
        <p:spPr/>
        <p:txBody>
          <a:bodyPr/>
          <a:lstStyle/>
          <a:p>
            <a:r>
              <a:rPr lang="en-US" sz="1800" dirty="0"/>
              <a:t>DevOps &amp; IaC &amp; Automation</a:t>
            </a:r>
          </a:p>
        </p:txBody>
      </p:sp>
      <p:sp>
        <p:nvSpPr>
          <p:cNvPr id="13" name="Text Placeholder 12">
            <a:extLst>
              <a:ext uri="{FF2B5EF4-FFF2-40B4-BE49-F238E27FC236}">
                <a16:creationId xmlns:a16="http://schemas.microsoft.com/office/drawing/2014/main" id="{4C6FCBC0-5032-C33B-1DDF-337F7AB440F3}"/>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EB69B51E-D148-23D2-5856-B43EE4731506}"/>
              </a:ext>
            </a:extLst>
          </p:cNvPr>
          <p:cNvSpPr>
            <a:spLocks noGrp="1"/>
          </p:cNvSpPr>
          <p:nvPr>
            <p:ph type="body" sz="quarter" idx="16"/>
          </p:nvPr>
        </p:nvSpPr>
        <p:spPr/>
        <p:txBody>
          <a:bodyPr/>
          <a:lstStyle/>
          <a:p>
            <a:r>
              <a:rPr lang="en-US" dirty="0">
                <a:hlinkClick r:id="rId2"/>
              </a:rPr>
              <a:t>Generally Available: Azure Cosmos DB for Visual Studio Code</a:t>
            </a:r>
            <a:endParaRPr lang="ru-RU" dirty="0"/>
          </a:p>
          <a:p>
            <a:pPr algn="just"/>
            <a:r>
              <a:rPr lang="en-US" dirty="0"/>
              <a:t>Now generally available, </a:t>
            </a:r>
            <a:r>
              <a:rPr lang="en-US" b="1" dirty="0"/>
              <a:t>Azure Cosmos DB for VS Code comes with significant updates focused on usability, stability, and performance</a:t>
            </a:r>
            <a:r>
              <a:rPr lang="en-US" dirty="0"/>
              <a:t>. It incorporates months of feedback from preview users, who helped shape this extension into the powerful tool it is today. </a:t>
            </a:r>
          </a:p>
          <a:p>
            <a:pPr algn="just"/>
            <a:r>
              <a:rPr lang="en-US" dirty="0"/>
              <a:t>Core Capabilities</a:t>
            </a:r>
          </a:p>
          <a:p>
            <a:pPr marL="171450" indent="-171450" algn="just">
              <a:buFont typeface="Arial" panose="020B0604020202020204" pitchFamily="34" charset="0"/>
              <a:buChar char="•"/>
            </a:pPr>
            <a:r>
              <a:rPr lang="en-US" dirty="0"/>
              <a:t>Browse and Explore: Navigate through your Cosmos DB accounts, databases, containers, and items with an intuitive tree view</a:t>
            </a:r>
          </a:p>
          <a:p>
            <a:pPr marL="171450" indent="-171450" algn="just">
              <a:buFont typeface="Arial" panose="020B0604020202020204" pitchFamily="34" charset="0"/>
              <a:buChar char="•"/>
            </a:pPr>
            <a:r>
              <a:rPr lang="en-US" dirty="0"/>
              <a:t>Query and Inspect: Run queries directly against your containers and view results in a rich, formatted interface</a:t>
            </a:r>
          </a:p>
          <a:p>
            <a:pPr marL="171450" indent="-171450" algn="just">
              <a:buFont typeface="Arial" panose="020B0604020202020204" pitchFamily="34" charset="0"/>
              <a:buChar char="•"/>
            </a:pPr>
            <a:r>
              <a:rPr lang="en-US" dirty="0"/>
              <a:t>CRUD Operations: Create, read, update, and delete items with ease</a:t>
            </a:r>
          </a:p>
          <a:p>
            <a:pPr marL="171450" indent="-171450" algn="just">
              <a:buFont typeface="Arial" panose="020B0604020202020204" pitchFamily="34" charset="0"/>
              <a:buChar char="•"/>
            </a:pPr>
            <a:r>
              <a:rPr lang="en-US" dirty="0"/>
              <a:t>Local Development: Seamlessly connect to the Azure Cosmos DB Emulator for cost-free local development and testing</a:t>
            </a:r>
          </a:p>
          <a:p>
            <a:pPr marL="171450" indent="-171450" algn="just">
              <a:buFont typeface="Arial" panose="020B0604020202020204" pitchFamily="34" charset="0"/>
              <a:buChar char="•"/>
            </a:pPr>
            <a:r>
              <a:rPr lang="en-US" dirty="0"/>
              <a:t>Multi-Account Management: Switch between production, staging, and development accounts effortlessly</a:t>
            </a:r>
          </a:p>
          <a:p>
            <a:pPr marL="171450" indent="-171450" algn="just">
              <a:buFont typeface="Arial" panose="020B0604020202020204" pitchFamily="34" charset="0"/>
              <a:buChar char="•"/>
            </a:pPr>
            <a:r>
              <a:rPr lang="en-US" dirty="0"/>
              <a:t>Monitor and Optimize: View container metrics, throughput settings, and partition key strategies</a:t>
            </a:r>
          </a:p>
        </p:txBody>
      </p:sp>
    </p:spTree>
    <p:extLst>
      <p:ext uri="{BB962C8B-B14F-4D97-AF65-F5344CB8AC3E}">
        <p14:creationId xmlns:p14="http://schemas.microsoft.com/office/powerpoint/2010/main" val="2595320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Miscellaneous</a:t>
            </a:r>
          </a:p>
        </p:txBody>
      </p:sp>
    </p:spTree>
    <p:extLst>
      <p:ext uri="{BB962C8B-B14F-4D97-AF65-F5344CB8AC3E}">
        <p14:creationId xmlns:p14="http://schemas.microsoft.com/office/powerpoint/2010/main" val="158841815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F6376-AFAE-7966-3832-BF94E416269A}"/>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58E78F44-EBA7-0070-3283-4FD74A0787A3}"/>
              </a:ext>
            </a:extLst>
          </p:cNvPr>
          <p:cNvSpPr>
            <a:spLocks noGrp="1"/>
          </p:cNvSpPr>
          <p:nvPr>
            <p:ph type="body" sz="quarter" idx="10"/>
          </p:nvPr>
        </p:nvSpPr>
        <p:spPr/>
        <p:txBody>
          <a:bodyPr/>
          <a:lstStyle/>
          <a:p>
            <a:pPr algn="just"/>
            <a:r>
              <a:rPr lang="en-US" sz="1000" dirty="0">
                <a:hlinkClick r:id="rId2"/>
              </a:rPr>
              <a:t>Generally Available: SQL Server Management Studio (SSMS) 22</a:t>
            </a:r>
            <a:endParaRPr lang="en-US" sz="1000" dirty="0"/>
          </a:p>
          <a:p>
            <a:pPr algn="just"/>
            <a:r>
              <a:rPr lang="en-US" sz="1000" dirty="0"/>
              <a:t>SQL Server Management Studio (SSMS) has long served as a trusted environment for managing SQL databases, authoring T-SQL, and diagnosing operational issues. The latest release, </a:t>
            </a:r>
            <a:r>
              <a:rPr lang="en-US" sz="1000" b="1" dirty="0"/>
              <a:t>SSMS 22</a:t>
            </a:r>
            <a:r>
              <a:rPr lang="en-US" sz="1000" dirty="0"/>
              <a:t>, built on Visual Studio 2026, adds support for </a:t>
            </a:r>
            <a:r>
              <a:rPr lang="en-US" sz="1000" b="1" dirty="0"/>
              <a:t>SQL Server 2025</a:t>
            </a:r>
            <a:r>
              <a:rPr lang="en-US" sz="1000" dirty="0"/>
              <a:t>, delivers improved integration with SQL databases in Microsoft Fabric, and provides native compatibility for </a:t>
            </a:r>
            <a:r>
              <a:rPr lang="en-US" sz="1000" b="1" dirty="0"/>
              <a:t>Windows ARM64</a:t>
            </a:r>
            <a:r>
              <a:rPr lang="en-US" sz="1000" dirty="0"/>
              <a:t> devices.</a:t>
            </a:r>
          </a:p>
          <a:p>
            <a:pPr algn="just"/>
            <a:r>
              <a:rPr lang="en-US" sz="1000" dirty="0"/>
              <a:t>This version also introduces the </a:t>
            </a:r>
            <a:r>
              <a:rPr lang="en-US" sz="1000" b="1" dirty="0"/>
              <a:t>GitHub Copilot preview</a:t>
            </a:r>
            <a:r>
              <a:rPr lang="en-US" sz="1000" dirty="0"/>
              <a:t>, enabling AI-assisted T-SQL authoring, optimization, and troubleshooting directly within SSMS.</a:t>
            </a:r>
          </a:p>
          <a:p>
            <a:pPr algn="just"/>
            <a:endParaRPr lang="en-US" sz="1000" dirty="0"/>
          </a:p>
        </p:txBody>
      </p:sp>
      <p:sp>
        <p:nvSpPr>
          <p:cNvPr id="11" name="Title 10">
            <a:extLst>
              <a:ext uri="{FF2B5EF4-FFF2-40B4-BE49-F238E27FC236}">
                <a16:creationId xmlns:a16="http://schemas.microsoft.com/office/drawing/2014/main" id="{2FB73DF5-B435-B08A-FA0B-4E67E050E300}"/>
              </a:ext>
            </a:extLst>
          </p:cNvPr>
          <p:cNvSpPr>
            <a:spLocks noGrp="1"/>
          </p:cNvSpPr>
          <p:nvPr>
            <p:ph type="title"/>
          </p:nvPr>
        </p:nvSpPr>
        <p:spPr/>
        <p:txBody>
          <a:bodyPr/>
          <a:lstStyle/>
          <a:p>
            <a:r>
              <a:rPr lang="en-US" sz="1800" dirty="0"/>
              <a:t>Miscellaneous Updates 1/6</a:t>
            </a:r>
            <a:endParaRPr lang="en-US" dirty="0"/>
          </a:p>
        </p:txBody>
      </p:sp>
      <p:sp>
        <p:nvSpPr>
          <p:cNvPr id="13" name="Text Placeholder 12">
            <a:extLst>
              <a:ext uri="{FF2B5EF4-FFF2-40B4-BE49-F238E27FC236}">
                <a16:creationId xmlns:a16="http://schemas.microsoft.com/office/drawing/2014/main" id="{34A31A64-CCC6-D99D-7AF9-F1B68C99CE8F}"/>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28244EA9-AA7C-544B-0E10-45F0A7930630}"/>
              </a:ext>
            </a:extLst>
          </p:cNvPr>
          <p:cNvSpPr>
            <a:spLocks noGrp="1"/>
          </p:cNvSpPr>
          <p:nvPr>
            <p:ph type="body" sz="quarter" idx="16"/>
          </p:nvPr>
        </p:nvSpPr>
        <p:spPr/>
        <p:txBody>
          <a:bodyPr/>
          <a:lstStyle/>
          <a:p>
            <a:pPr algn="just"/>
            <a:r>
              <a:rPr lang="en-US" dirty="0">
                <a:hlinkClick r:id="rId3"/>
              </a:rPr>
              <a:t>Generally Available: Resale enabled offers through Microsoft Marketplace</a:t>
            </a:r>
            <a:endParaRPr lang="ru-RU" dirty="0"/>
          </a:p>
          <a:p>
            <a:pPr algn="just"/>
            <a:r>
              <a:rPr lang="en-US" dirty="0"/>
              <a:t>To help commercial customers maximize their technology innovation with Azure, </a:t>
            </a:r>
            <a:r>
              <a:rPr lang="en-US" b="1" dirty="0"/>
              <a:t>Microsoft Marketplace is fully embracing the channel-led Marketplace opportunity with the general availability of resale enabled offers.  </a:t>
            </a:r>
          </a:p>
          <a:p>
            <a:pPr algn="just"/>
            <a:r>
              <a:rPr lang="en-US" dirty="0"/>
              <a:t>Resale enabled offers enable software companies to empower channel partners to </a:t>
            </a:r>
            <a:r>
              <a:rPr lang="en-US" b="1" dirty="0"/>
              <a:t>sell their Marketplace listings through a repeatable model designed for scale. </a:t>
            </a:r>
            <a:r>
              <a:rPr lang="en-US" dirty="0"/>
              <a:t>This helps software companies break through to new markets without adding overhead while channel partners maintain their customer relationships while getting the added value of Marketplace. </a:t>
            </a:r>
          </a:p>
          <a:p>
            <a:pPr algn="just"/>
            <a:r>
              <a:rPr lang="en-US" dirty="0"/>
              <a:t> Sales of eligible solutions also count toward customers’ Azure consumption commitments, opening the door to larger, more strategic deals funded by pre-committed cloud budgets—creating stickier relationships and fueling growth. </a:t>
            </a:r>
          </a:p>
        </p:txBody>
      </p:sp>
    </p:spTree>
    <p:extLst>
      <p:ext uri="{BB962C8B-B14F-4D97-AF65-F5344CB8AC3E}">
        <p14:creationId xmlns:p14="http://schemas.microsoft.com/office/powerpoint/2010/main" val="3277490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BB758-24BC-C7E4-BF87-3DCA23EF4558}"/>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D05302F-8CC9-E6C3-B3FE-2196226826D5}"/>
              </a:ext>
            </a:extLst>
          </p:cNvPr>
          <p:cNvSpPr>
            <a:spLocks noGrp="1"/>
          </p:cNvSpPr>
          <p:nvPr>
            <p:ph type="body" sz="quarter" idx="10"/>
          </p:nvPr>
        </p:nvSpPr>
        <p:spPr/>
        <p:txBody>
          <a:bodyPr/>
          <a:lstStyle/>
          <a:p>
            <a:pPr algn="just"/>
            <a:r>
              <a:rPr lang="en-US" sz="1000" dirty="0">
                <a:hlinkClick r:id="rId2"/>
              </a:rPr>
              <a:t>Generally Available: PostgreSQL extension for Visual Studio Code with GitHub Copilot</a:t>
            </a:r>
            <a:endParaRPr lang="en-US" sz="1000" dirty="0"/>
          </a:p>
          <a:p>
            <a:pPr algn="just"/>
            <a:r>
              <a:rPr lang="en-US" sz="1000" dirty="0"/>
              <a:t>Microsoft has announced the general availability of the </a:t>
            </a:r>
            <a:r>
              <a:rPr lang="en-US" sz="1000" b="1" dirty="0"/>
              <a:t>PostgreSQL extension for Visual Studio Code</a:t>
            </a:r>
            <a:r>
              <a:rPr lang="en-US" sz="1000" dirty="0"/>
              <a:t>. This extension enables developers to connect to PostgreSQL database instances, run queries, create and manage connection profiles, and benefit from Microsoft Entra ID support, context-aware IntelliSense, syntax highlighting, and SQL formatting.</a:t>
            </a:r>
          </a:p>
          <a:p>
            <a:pPr algn="just"/>
            <a:r>
              <a:rPr lang="en-US" sz="1000" dirty="0"/>
              <a:t>Designed to enhance productivity and streamline development, the extension also offers automated local PostgreSQL container deployments using Docker and integrated chat capabilities with GitHub Copilot. By bringing these capabilities directly into Visual Studio Code, the extension allows developers to manage PostgreSQL databases without switching between tools or environments.</a:t>
            </a:r>
          </a:p>
          <a:p>
            <a:pPr algn="just"/>
            <a:endParaRPr lang="en-US" sz="1000" dirty="0"/>
          </a:p>
        </p:txBody>
      </p:sp>
      <p:sp>
        <p:nvSpPr>
          <p:cNvPr id="11" name="Title 10">
            <a:extLst>
              <a:ext uri="{FF2B5EF4-FFF2-40B4-BE49-F238E27FC236}">
                <a16:creationId xmlns:a16="http://schemas.microsoft.com/office/drawing/2014/main" id="{B38CC501-A225-12DF-0512-D8F6CC4E6D4E}"/>
              </a:ext>
            </a:extLst>
          </p:cNvPr>
          <p:cNvSpPr>
            <a:spLocks noGrp="1"/>
          </p:cNvSpPr>
          <p:nvPr>
            <p:ph type="title"/>
          </p:nvPr>
        </p:nvSpPr>
        <p:spPr/>
        <p:txBody>
          <a:bodyPr/>
          <a:lstStyle/>
          <a:p>
            <a:r>
              <a:rPr lang="en-US" sz="1800" dirty="0"/>
              <a:t>Miscellaneous Updates 2/6</a:t>
            </a:r>
            <a:endParaRPr lang="en-US" dirty="0"/>
          </a:p>
        </p:txBody>
      </p:sp>
      <p:sp>
        <p:nvSpPr>
          <p:cNvPr id="13" name="Text Placeholder 12">
            <a:extLst>
              <a:ext uri="{FF2B5EF4-FFF2-40B4-BE49-F238E27FC236}">
                <a16:creationId xmlns:a16="http://schemas.microsoft.com/office/drawing/2014/main" id="{166D860D-4F27-DA91-CAED-C08905E08AE7}"/>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C2A38DD5-5388-69B7-9975-14827283FDC5}"/>
              </a:ext>
            </a:extLst>
          </p:cNvPr>
          <p:cNvSpPr>
            <a:spLocks noGrp="1"/>
          </p:cNvSpPr>
          <p:nvPr>
            <p:ph type="body" sz="quarter" idx="16"/>
          </p:nvPr>
        </p:nvSpPr>
        <p:spPr/>
        <p:txBody>
          <a:bodyPr/>
          <a:lstStyle/>
          <a:p>
            <a:pPr algn="just"/>
            <a:r>
              <a:rPr lang="en-US" dirty="0">
                <a:hlinkClick r:id="rId3"/>
              </a:rPr>
              <a:t>Generally Available: MSSQL extension integration with GitHub Copilot in Visual Studio Code</a:t>
            </a:r>
            <a:endParaRPr lang="en-US" dirty="0"/>
          </a:p>
          <a:p>
            <a:pPr algn="just"/>
            <a:r>
              <a:rPr lang="en-US" dirty="0"/>
              <a:t>The MSSQL extension for Visual Studio Code now includes integrated </a:t>
            </a:r>
            <a:r>
              <a:rPr lang="en-US" b="1" dirty="0"/>
              <a:t>GitHub Copilot</a:t>
            </a:r>
            <a:r>
              <a:rPr lang="en-US" dirty="0"/>
              <a:t>, delivering AI-powered SQL assistance directly within the development workflow. This integration reduces repetitive tasks, accelerates development, and supports faster, more intelligent design of database schemas and applications. With just a few clicks, developers can generate T-SQL and ORM code, explore schemas, and build, analyze, and optimize queries—even with limited SQL experience.</a:t>
            </a:r>
          </a:p>
          <a:p>
            <a:pPr algn="just"/>
            <a:r>
              <a:rPr lang="en-US" dirty="0"/>
              <a:t>The general availability release introduces a more complete Copilot experience, including </a:t>
            </a:r>
            <a:r>
              <a:rPr lang="en-US" b="1" dirty="0"/>
              <a:t>Ask mode</a:t>
            </a:r>
            <a:r>
              <a:rPr lang="en-US" dirty="0"/>
              <a:t>, </a:t>
            </a:r>
            <a:r>
              <a:rPr lang="en-US" b="1" dirty="0"/>
              <a:t>Agent mode</a:t>
            </a:r>
            <a:r>
              <a:rPr lang="en-US" dirty="0"/>
              <a:t>, and </a:t>
            </a:r>
            <a:r>
              <a:rPr lang="en-US" b="1" dirty="0"/>
              <a:t>slash commands</a:t>
            </a:r>
            <a:r>
              <a:rPr lang="en-US" dirty="0"/>
              <a:t>. Developers can interact with SQL Server, Azure SQL, or SQL databases in Microsoft Fabric using natural language, backed by improved connection insights, clearer error handling, better context awareness, and enhanced guidance—making Copilot easier and more intuitive to use day to day.</a:t>
            </a:r>
          </a:p>
          <a:p>
            <a:pPr algn="just"/>
            <a:r>
              <a:rPr lang="en-US" dirty="0"/>
              <a:t>Whether supporting modern web applications, cloud-native architectures, or AI-driven solutions, GitHub Copilot helps interpret business logic within databases, apply best practices for performance and security, and generate mock data for rapid testing and prototyping.</a:t>
            </a:r>
          </a:p>
          <a:p>
            <a:pPr algn="just"/>
            <a:endParaRPr lang="en-US" dirty="0"/>
          </a:p>
        </p:txBody>
      </p:sp>
    </p:spTree>
    <p:extLst>
      <p:ext uri="{BB962C8B-B14F-4D97-AF65-F5344CB8AC3E}">
        <p14:creationId xmlns:p14="http://schemas.microsoft.com/office/powerpoint/2010/main" val="2384958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D8106-308E-2058-969F-38FD284FBA83}"/>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61C9E2D7-7B20-7200-85DB-C13915BB83A5}"/>
              </a:ext>
            </a:extLst>
          </p:cNvPr>
          <p:cNvSpPr>
            <a:spLocks noGrp="1"/>
          </p:cNvSpPr>
          <p:nvPr>
            <p:ph type="body" sz="quarter" idx="10"/>
          </p:nvPr>
        </p:nvSpPr>
        <p:spPr>
          <a:xfrm>
            <a:off x="4433776" y="855081"/>
            <a:ext cx="4365038" cy="1867338"/>
          </a:xfrm>
        </p:spPr>
        <p:txBody>
          <a:bodyPr/>
          <a:lstStyle/>
          <a:p>
            <a:pPr algn="just"/>
            <a:r>
              <a:rPr lang="en-US" sz="1000" dirty="0">
                <a:hlinkClick r:id="rId2"/>
              </a:rPr>
              <a:t>Microsoft 365 Local is Generally Available</a:t>
            </a:r>
            <a:endParaRPr lang="en-US" sz="1000" dirty="0"/>
          </a:p>
          <a:p>
            <a:pPr algn="just"/>
            <a:r>
              <a:rPr lang="en-US" sz="1000" dirty="0"/>
              <a:t>Microsoft has announced the </a:t>
            </a:r>
            <a:r>
              <a:rPr lang="en-US" sz="1000" b="1" dirty="0"/>
              <a:t>general availability of Microsoft 365 Local</a:t>
            </a:r>
            <a:r>
              <a:rPr lang="en-US" sz="1000" dirty="0"/>
              <a:t>, a deployment framework that enables core collaboration and communication workloads—</a:t>
            </a:r>
            <a:r>
              <a:rPr lang="en-US" sz="1000" b="1" dirty="0"/>
              <a:t>Exchange Server, SharePoint Server, and Skype for Business Server</a:t>
            </a:r>
            <a:r>
              <a:rPr lang="en-US" sz="1000" dirty="0"/>
              <a:t>—to run on </a:t>
            </a:r>
            <a:r>
              <a:rPr lang="en-US" sz="1000" b="1" dirty="0"/>
              <a:t>Azure Local</a:t>
            </a:r>
            <a:r>
              <a:rPr lang="en-US" sz="1000" dirty="0"/>
              <a:t>. Built on a validated reference architecture using </a:t>
            </a:r>
            <a:r>
              <a:rPr lang="en-US" sz="1000" b="1" dirty="0"/>
              <a:t>Azure Local Premier Solutions</a:t>
            </a:r>
            <a:r>
              <a:rPr lang="en-US" sz="1000" dirty="0"/>
              <a:t>, it provides full compatibility and support for sovereign and regulated environments.</a:t>
            </a:r>
          </a:p>
          <a:p>
            <a:pPr algn="just"/>
            <a:r>
              <a:rPr lang="en-US" sz="1000" dirty="0"/>
              <a:t>Partner-led services assist with sizing, configuration, and best-practice implementation, ensuring end-to-end deployment that includes networking, security, and operational guidance.</a:t>
            </a:r>
          </a:p>
          <a:p>
            <a:pPr algn="just"/>
            <a:endParaRPr lang="en-US" sz="1000" dirty="0"/>
          </a:p>
        </p:txBody>
      </p:sp>
      <p:sp>
        <p:nvSpPr>
          <p:cNvPr id="11" name="Title 10">
            <a:extLst>
              <a:ext uri="{FF2B5EF4-FFF2-40B4-BE49-F238E27FC236}">
                <a16:creationId xmlns:a16="http://schemas.microsoft.com/office/drawing/2014/main" id="{E5A60140-5658-B128-A355-F9517ACA00B1}"/>
              </a:ext>
            </a:extLst>
          </p:cNvPr>
          <p:cNvSpPr>
            <a:spLocks noGrp="1"/>
          </p:cNvSpPr>
          <p:nvPr>
            <p:ph type="title"/>
          </p:nvPr>
        </p:nvSpPr>
        <p:spPr/>
        <p:txBody>
          <a:bodyPr/>
          <a:lstStyle/>
          <a:p>
            <a:r>
              <a:rPr lang="en-US" sz="1800" dirty="0"/>
              <a:t>Miscellaneous Updates 3/6</a:t>
            </a:r>
            <a:endParaRPr lang="en-US" dirty="0"/>
          </a:p>
        </p:txBody>
      </p:sp>
      <p:sp>
        <p:nvSpPr>
          <p:cNvPr id="13" name="Text Placeholder 12">
            <a:extLst>
              <a:ext uri="{FF2B5EF4-FFF2-40B4-BE49-F238E27FC236}">
                <a16:creationId xmlns:a16="http://schemas.microsoft.com/office/drawing/2014/main" id="{BB974F60-AEAB-B4F3-C4A4-C3BFD0F4DB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25E6B4A4-F469-633F-707A-1111BB3ED4D4}"/>
              </a:ext>
            </a:extLst>
          </p:cNvPr>
          <p:cNvSpPr>
            <a:spLocks noGrp="1"/>
          </p:cNvSpPr>
          <p:nvPr>
            <p:ph type="body" sz="quarter" idx="16"/>
          </p:nvPr>
        </p:nvSpPr>
        <p:spPr/>
        <p:txBody>
          <a:bodyPr/>
          <a:lstStyle/>
          <a:p>
            <a:pPr algn="just"/>
            <a:r>
              <a:rPr lang="en-US" dirty="0">
                <a:hlinkClick r:id="rId3"/>
              </a:rPr>
              <a:t>Generally Available: Private Marketplace for VS Code</a:t>
            </a:r>
            <a:endParaRPr lang="en-US" dirty="0"/>
          </a:p>
          <a:p>
            <a:pPr algn="just"/>
            <a:r>
              <a:rPr lang="en-US" dirty="0"/>
              <a:t>The </a:t>
            </a:r>
            <a:r>
              <a:rPr lang="en-US" b="1" dirty="0"/>
              <a:t>VS Code Private Marketplace</a:t>
            </a:r>
            <a:r>
              <a:rPr lang="en-US" dirty="0"/>
              <a:t> provides a secure, enterprise-ready solution for hosting and managing extensions internally, fully integrated with Visual Studio Code. It enables organizations to self-host their extension catalog, streamline deployment, and manage updates with greater flexibility and control.</a:t>
            </a:r>
          </a:p>
        </p:txBody>
      </p:sp>
      <p:pic>
        <p:nvPicPr>
          <p:cNvPr id="3" name="Picture 2">
            <a:extLst>
              <a:ext uri="{FF2B5EF4-FFF2-40B4-BE49-F238E27FC236}">
                <a16:creationId xmlns:a16="http://schemas.microsoft.com/office/drawing/2014/main" id="{FC66692A-BF74-9E86-7088-509D73717D4C}"/>
              </a:ext>
            </a:extLst>
          </p:cNvPr>
          <p:cNvPicPr>
            <a:picLocks noChangeAspect="1"/>
          </p:cNvPicPr>
          <p:nvPr/>
        </p:nvPicPr>
        <p:blipFill>
          <a:blip r:embed="rId4"/>
          <a:stretch>
            <a:fillRect/>
          </a:stretch>
        </p:blipFill>
        <p:spPr>
          <a:xfrm>
            <a:off x="4620803" y="2655054"/>
            <a:ext cx="4178011" cy="2356827"/>
          </a:xfrm>
          <a:prstGeom prst="rect">
            <a:avLst/>
          </a:prstGeom>
        </p:spPr>
      </p:pic>
    </p:spTree>
    <p:extLst>
      <p:ext uri="{BB962C8B-B14F-4D97-AF65-F5344CB8AC3E}">
        <p14:creationId xmlns:p14="http://schemas.microsoft.com/office/powerpoint/2010/main" val="602097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1B81DC8-1523-4C3C-0BAA-5B251BA7AF03}"/>
              </a:ext>
            </a:extLst>
          </p:cNvPr>
          <p:cNvSpPr>
            <a:spLocks noGrp="1"/>
          </p:cNvSpPr>
          <p:nvPr>
            <p:ph type="body" sz="quarter" idx="10"/>
          </p:nvPr>
        </p:nvSpPr>
        <p:spPr>
          <a:xfrm>
            <a:off x="4433776" y="855081"/>
            <a:ext cx="4365038" cy="2837156"/>
          </a:xfrm>
        </p:spPr>
        <p:txBody>
          <a:bodyPr/>
          <a:lstStyle/>
          <a:p>
            <a:pPr algn="just"/>
            <a:r>
              <a:rPr lang="en-US" sz="1000" dirty="0">
                <a:hlinkClick r:id="rId2"/>
              </a:rPr>
              <a:t>Announcing General Availability for </a:t>
            </a:r>
            <a:r>
              <a:rPr lang="en-US" sz="1000" dirty="0" err="1">
                <a:hlinkClick r:id="rId2"/>
              </a:rPr>
              <a:t>AccelNet</a:t>
            </a:r>
            <a:r>
              <a:rPr lang="en-US" sz="1000" dirty="0">
                <a:hlinkClick r:id="rId2"/>
              </a:rPr>
              <a:t> on Windows Server 2025</a:t>
            </a:r>
            <a:endParaRPr lang="en-US" sz="1000" dirty="0"/>
          </a:p>
          <a:p>
            <a:pPr algn="just"/>
            <a:r>
              <a:rPr lang="en-US" sz="1000" dirty="0"/>
              <a:t>Customers modernizing their datacenters consistently emphasize two priorities: </a:t>
            </a:r>
            <a:r>
              <a:rPr lang="en-US" sz="1000" b="1" dirty="0"/>
              <a:t>every CPU cycle matters</a:t>
            </a:r>
            <a:r>
              <a:rPr lang="en-US" sz="1000" dirty="0"/>
              <a:t> and </a:t>
            </a:r>
            <a:r>
              <a:rPr lang="en-US" sz="1000" b="1" dirty="0"/>
              <a:t>predictable latency beats peak throughput</a:t>
            </a:r>
            <a:r>
              <a:rPr lang="en-US" sz="1000" dirty="0"/>
              <a:t>. To meet these needs, Microsoft is bringing </a:t>
            </a:r>
            <a:r>
              <a:rPr lang="en-US" sz="1000" b="1" dirty="0"/>
              <a:t>Accelerated Networking (</a:t>
            </a:r>
            <a:r>
              <a:rPr lang="en-US" sz="1000" b="1" dirty="0" err="1"/>
              <a:t>AccelNet</a:t>
            </a:r>
            <a:r>
              <a:rPr lang="en-US" sz="1000" b="1" dirty="0"/>
              <a:t>)</a:t>
            </a:r>
            <a:r>
              <a:rPr lang="en-US" sz="1000" dirty="0"/>
              <a:t>—the same high-performance networking technology used in Azure—to </a:t>
            </a:r>
            <a:r>
              <a:rPr lang="en-US" sz="1000" b="1" dirty="0"/>
              <a:t>Windows Server 2025 Datacenter</a:t>
            </a:r>
            <a:r>
              <a:rPr lang="en-US" sz="1000" dirty="0"/>
              <a:t>.</a:t>
            </a:r>
          </a:p>
          <a:p>
            <a:pPr algn="just"/>
            <a:r>
              <a:rPr lang="en-US" sz="1000" dirty="0" err="1"/>
              <a:t>AccelNet</a:t>
            </a:r>
            <a:r>
              <a:rPr lang="en-US" sz="1000" dirty="0"/>
              <a:t> uses </a:t>
            </a:r>
            <a:r>
              <a:rPr lang="en-US" sz="1000" b="1" dirty="0"/>
              <a:t>SR-IOV</a:t>
            </a:r>
            <a:r>
              <a:rPr lang="en-US" sz="1000" dirty="0"/>
              <a:t> to bypass the virtual switch for data-plane traffic, delivering key advantages:</a:t>
            </a:r>
          </a:p>
          <a:p>
            <a:pPr marL="171450" indent="-171450" algn="just">
              <a:buFont typeface="Arial" panose="020B0604020202020204" pitchFamily="34" charset="0"/>
              <a:buChar char="•"/>
            </a:pPr>
            <a:r>
              <a:rPr lang="en-US" sz="1000" b="1" dirty="0"/>
              <a:t>Reduced CPU overhead</a:t>
            </a:r>
            <a:r>
              <a:rPr lang="en-US" sz="1000" dirty="0"/>
              <a:t> by offloading networking work</a:t>
            </a:r>
          </a:p>
          <a:p>
            <a:pPr marL="171450" indent="-171450" algn="just">
              <a:buFont typeface="Arial" panose="020B0604020202020204" pitchFamily="34" charset="0"/>
              <a:buChar char="•"/>
            </a:pPr>
            <a:r>
              <a:rPr lang="en-US" sz="1000" b="1" dirty="0"/>
              <a:t>Lower latency and jitter</a:t>
            </a:r>
            <a:r>
              <a:rPr lang="en-US" sz="1000" dirty="0"/>
              <a:t>, ensuring more predictable performance</a:t>
            </a:r>
          </a:p>
          <a:p>
            <a:pPr marL="171450" indent="-171450" algn="just">
              <a:buFont typeface="Arial" panose="020B0604020202020204" pitchFamily="34" charset="0"/>
              <a:buChar char="•"/>
            </a:pPr>
            <a:r>
              <a:rPr lang="en-US" sz="1000" b="1" dirty="0"/>
              <a:t>Higher VM density per host</a:t>
            </a:r>
            <a:r>
              <a:rPr lang="en-US" sz="1000" dirty="0"/>
              <a:t>, freeing CPU cycles for workloads rather than networking</a:t>
            </a:r>
          </a:p>
          <a:p>
            <a:pPr algn="just"/>
            <a:r>
              <a:rPr lang="en-US" sz="1000" dirty="0"/>
              <a:t>With Accelerated Networking, Windows Server 2025 provides more consistent, efficient performance for mission-critical and latency-sensitive applications.</a:t>
            </a:r>
          </a:p>
          <a:p>
            <a:pPr algn="just"/>
            <a:endParaRPr lang="en-US" sz="1000" dirty="0"/>
          </a:p>
        </p:txBody>
      </p:sp>
      <p:sp>
        <p:nvSpPr>
          <p:cNvPr id="3" name="Title 2">
            <a:extLst>
              <a:ext uri="{FF2B5EF4-FFF2-40B4-BE49-F238E27FC236}">
                <a16:creationId xmlns:a16="http://schemas.microsoft.com/office/drawing/2014/main" id="{8E9D9837-F3E8-F4EE-1BC0-B628200745DF}"/>
              </a:ext>
            </a:extLst>
          </p:cNvPr>
          <p:cNvSpPr>
            <a:spLocks noGrp="1"/>
          </p:cNvSpPr>
          <p:nvPr>
            <p:ph type="title"/>
          </p:nvPr>
        </p:nvSpPr>
        <p:spPr/>
        <p:txBody>
          <a:bodyPr/>
          <a:lstStyle/>
          <a:p>
            <a:r>
              <a:rPr lang="en-US" sz="1600" dirty="0"/>
              <a:t>Miscellaneous Updates 4/6</a:t>
            </a:r>
            <a:endParaRPr lang="en-US" dirty="0"/>
          </a:p>
        </p:txBody>
      </p:sp>
      <p:sp>
        <p:nvSpPr>
          <p:cNvPr id="4" name="Text Placeholder 3">
            <a:extLst>
              <a:ext uri="{FF2B5EF4-FFF2-40B4-BE49-F238E27FC236}">
                <a16:creationId xmlns:a16="http://schemas.microsoft.com/office/drawing/2014/main" id="{1D8F1D39-F2AF-3EB1-6DE1-FA48591A2792}"/>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DEDD6421-6FA6-3C9F-0C62-DEEC2AFF38E1}"/>
              </a:ext>
            </a:extLst>
          </p:cNvPr>
          <p:cNvSpPr>
            <a:spLocks noGrp="1"/>
          </p:cNvSpPr>
          <p:nvPr>
            <p:ph type="body" sz="quarter" idx="16"/>
          </p:nvPr>
        </p:nvSpPr>
        <p:spPr/>
        <p:txBody>
          <a:bodyPr/>
          <a:lstStyle/>
          <a:p>
            <a:pPr algn="just"/>
            <a:r>
              <a:rPr lang="en-US" dirty="0">
                <a:hlinkClick r:id="rId3"/>
              </a:rPr>
              <a:t>Microsoft Foundry on Windows Server</a:t>
            </a:r>
            <a:endParaRPr lang="en-US" dirty="0"/>
          </a:p>
          <a:p>
            <a:pPr algn="just"/>
            <a:r>
              <a:rPr lang="en-US" b="1" dirty="0"/>
              <a:t>AI on Windows Server</a:t>
            </a:r>
            <a:r>
              <a:rPr lang="en-US" dirty="0"/>
              <a:t> unlocks new opportunities for organizations that need on-premises AI due to data residency, compliance, or low-latency requirements—common in industries such as healthcare, finance, manufacturing, and retail. While Azure remains the best destination for advanced models and large-scale inference, many customers want to enhance existing workloads with local AI.</a:t>
            </a:r>
          </a:p>
          <a:p>
            <a:pPr algn="just"/>
            <a:r>
              <a:rPr lang="en-US" b="1" dirty="0"/>
              <a:t>Microsoft Foundry on Windows</a:t>
            </a:r>
            <a:r>
              <a:rPr lang="en-US" dirty="0"/>
              <a:t> brings these capabilities to on-premises server environments. It includes </a:t>
            </a:r>
            <a:r>
              <a:rPr lang="en-US" b="1" dirty="0"/>
              <a:t>Foundry Local</a:t>
            </a:r>
            <a:r>
              <a:rPr lang="en-US" dirty="0"/>
              <a:t> and </a:t>
            </a:r>
            <a:r>
              <a:rPr lang="en-US" b="1" dirty="0"/>
              <a:t>Windows ML</a:t>
            </a:r>
            <a:r>
              <a:rPr lang="en-US" dirty="0"/>
              <a:t>, enabling organizations to build and run local generative AI and real-time inference workloads on their own infrastructure while maintaining full control over data.</a:t>
            </a:r>
          </a:p>
          <a:p>
            <a:pPr algn="just"/>
            <a:r>
              <a:rPr lang="en-US" dirty="0"/>
              <a:t>Windows Server 2025, now generally available, strengthens this platform with features designed for AI workloads—including advanced storage improvements, GPU partitioning (GPU-P), Discrete Device Assignment (DDA), and expanded Hyper-V scalability supporting up to </a:t>
            </a:r>
            <a:r>
              <a:rPr lang="en-US" b="1" dirty="0"/>
              <a:t>2,048 vCPUs per Gen2 VM</a:t>
            </a:r>
            <a:r>
              <a:rPr lang="en-US" dirty="0"/>
              <a:t>. This makes Windows Server an enterprise-grade foundation for mission-critical, on-premises AI processing without leaving the datacenter.</a:t>
            </a:r>
          </a:p>
          <a:p>
            <a:pPr algn="just"/>
            <a:endParaRPr lang="en-US" dirty="0"/>
          </a:p>
        </p:txBody>
      </p:sp>
      <p:pic>
        <p:nvPicPr>
          <p:cNvPr id="7" name="Picture 6">
            <a:extLst>
              <a:ext uri="{FF2B5EF4-FFF2-40B4-BE49-F238E27FC236}">
                <a16:creationId xmlns:a16="http://schemas.microsoft.com/office/drawing/2014/main" id="{17DCF6BB-C257-A323-2788-97C697AA99DE}"/>
              </a:ext>
            </a:extLst>
          </p:cNvPr>
          <p:cNvPicPr>
            <a:picLocks noChangeAspect="1"/>
          </p:cNvPicPr>
          <p:nvPr/>
        </p:nvPicPr>
        <p:blipFill>
          <a:blip r:embed="rId4"/>
          <a:stretch>
            <a:fillRect/>
          </a:stretch>
        </p:blipFill>
        <p:spPr>
          <a:xfrm>
            <a:off x="5939153" y="3647689"/>
            <a:ext cx="1161815" cy="1281460"/>
          </a:xfrm>
          <a:prstGeom prst="rect">
            <a:avLst/>
          </a:prstGeom>
        </p:spPr>
      </p:pic>
    </p:spTree>
    <p:extLst>
      <p:ext uri="{BB962C8B-B14F-4D97-AF65-F5344CB8AC3E}">
        <p14:creationId xmlns:p14="http://schemas.microsoft.com/office/powerpoint/2010/main" val="3545874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8FE485B-82BF-8332-9514-D16FEC1667F5}"/>
              </a:ext>
            </a:extLst>
          </p:cNvPr>
          <p:cNvSpPr>
            <a:spLocks noGrp="1"/>
          </p:cNvSpPr>
          <p:nvPr>
            <p:ph type="title"/>
          </p:nvPr>
        </p:nvSpPr>
        <p:spPr/>
        <p:txBody>
          <a:bodyPr/>
          <a:lstStyle/>
          <a:p>
            <a:r>
              <a:rPr lang="en-US" sz="1600" dirty="0"/>
              <a:t>Miscellaneous Updates 5/6</a:t>
            </a:r>
            <a:endParaRPr lang="en-US" dirty="0"/>
          </a:p>
        </p:txBody>
      </p:sp>
      <p:sp>
        <p:nvSpPr>
          <p:cNvPr id="4" name="Text Placeholder 3">
            <a:extLst>
              <a:ext uri="{FF2B5EF4-FFF2-40B4-BE49-F238E27FC236}">
                <a16:creationId xmlns:a16="http://schemas.microsoft.com/office/drawing/2014/main" id="{B04C9730-DA0E-9529-7CA9-508AEABC613E}"/>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3380DB4F-6455-56C7-59BA-B4ECEE6F7CE5}"/>
              </a:ext>
            </a:extLst>
          </p:cNvPr>
          <p:cNvSpPr>
            <a:spLocks noGrp="1"/>
          </p:cNvSpPr>
          <p:nvPr>
            <p:ph type="body" sz="quarter" idx="16"/>
          </p:nvPr>
        </p:nvSpPr>
        <p:spPr/>
        <p:txBody>
          <a:bodyPr/>
          <a:lstStyle/>
          <a:p>
            <a:r>
              <a:rPr lang="en-US" dirty="0">
                <a:hlinkClick r:id="rId2"/>
              </a:rPr>
              <a:t>Windows Admin Center version 2511 is now in public preview!</a:t>
            </a:r>
            <a:endParaRPr lang="en-US" dirty="0"/>
          </a:p>
          <a:p>
            <a:r>
              <a:rPr lang="en-US" dirty="0"/>
              <a:t>Windows Admin Center 2511 is now available, bringing key improvements to installation, core tools, and overall reliability. This release addresses customer feedback from versions 2410 and 2410.1 and introduces several enhancements:</a:t>
            </a:r>
          </a:p>
          <a:p>
            <a:pPr marL="171450" indent="-171450">
              <a:buFont typeface="Arial" panose="020B0604020202020204" pitchFamily="34" charset="0"/>
              <a:buChar char="•"/>
            </a:pPr>
            <a:r>
              <a:rPr lang="en-US" b="1" dirty="0"/>
              <a:t>Platform &amp; Installer Updates</a:t>
            </a:r>
          </a:p>
          <a:p>
            <a:pPr marL="171450" indent="-171450">
              <a:buFont typeface="Arial" panose="020B0604020202020204" pitchFamily="34" charset="0"/>
              <a:buChar char="•"/>
            </a:pPr>
            <a:r>
              <a:rPr lang="en-US" b="1" dirty="0"/>
              <a:t>Virtual Machines tool</a:t>
            </a:r>
            <a:endParaRPr lang="en-US" dirty="0"/>
          </a:p>
          <a:p>
            <a:pPr marL="171450" indent="-171450">
              <a:buFont typeface="Arial" panose="020B0604020202020204" pitchFamily="34" charset="0"/>
              <a:buChar char="•"/>
            </a:pPr>
            <a:r>
              <a:rPr lang="en-US" b="1" dirty="0"/>
              <a:t>VM Conversion tool</a:t>
            </a:r>
          </a:p>
          <a:p>
            <a:pPr marL="171450" indent="-171450">
              <a:buFont typeface="Arial" panose="020B0604020202020204" pitchFamily="34" charset="0"/>
              <a:buChar char="•"/>
            </a:pPr>
            <a:r>
              <a:rPr lang="en-US" b="1" dirty="0"/>
              <a:t>Remote Desktop tool</a:t>
            </a:r>
          </a:p>
          <a:p>
            <a:pPr marL="171450" indent="-171450">
              <a:buFont typeface="Arial" panose="020B0604020202020204" pitchFamily="34" charset="0"/>
              <a:buChar char="•"/>
            </a:pPr>
            <a:r>
              <a:rPr lang="en-US" b="1" dirty="0"/>
              <a:t>Security tools</a:t>
            </a:r>
          </a:p>
          <a:p>
            <a:pPr marL="171450" indent="-171450">
              <a:buFont typeface="Arial" panose="020B0604020202020204" pitchFamily="34" charset="0"/>
              <a:buChar char="•"/>
            </a:pPr>
            <a:r>
              <a:rPr lang="en-US" b="1" dirty="0"/>
              <a:t>SDN management</a:t>
            </a:r>
          </a:p>
          <a:p>
            <a:r>
              <a:rPr lang="en-US" b="1" dirty="0"/>
              <a:t>Known Issues</a:t>
            </a:r>
          </a:p>
          <a:p>
            <a:pPr marL="171450" indent="-171450">
              <a:buFont typeface="Arial" panose="020B0604020202020204" pitchFamily="34" charset="0"/>
              <a:buChar char="•"/>
            </a:pPr>
            <a:r>
              <a:rPr lang="en-US" dirty="0"/>
              <a:t>Registration in </a:t>
            </a:r>
            <a:r>
              <a:rPr lang="en-US" b="1" dirty="0"/>
              <a:t>Azure Government</a:t>
            </a:r>
            <a:r>
              <a:rPr lang="en-US" dirty="0"/>
              <a:t> is not supported.</a:t>
            </a:r>
          </a:p>
          <a:p>
            <a:pPr marL="171450" indent="-171450">
              <a:buFont typeface="Arial" panose="020B0604020202020204" pitchFamily="34" charset="0"/>
              <a:buChar char="•"/>
            </a:pPr>
            <a:r>
              <a:rPr lang="en-US" b="1" dirty="0"/>
              <a:t>High Availability</a:t>
            </a:r>
            <a:r>
              <a:rPr lang="en-US" dirty="0"/>
              <a:t> deployments are not yet supported with the .NET 8 backend; support will return in GA 2511.</a:t>
            </a:r>
          </a:p>
          <a:p>
            <a:pPr marL="171450" indent="-171450">
              <a:buFont typeface="Arial" panose="020B0604020202020204" pitchFamily="34" charset="0"/>
              <a:buChar char="•"/>
            </a:pPr>
            <a:r>
              <a:rPr lang="en-US" dirty="0"/>
              <a:t>A new private </a:t>
            </a:r>
            <a:r>
              <a:rPr lang="en-US" b="1" dirty="0"/>
              <a:t>GitHub NDA group</a:t>
            </a:r>
            <a:r>
              <a:rPr lang="en-US" dirty="0"/>
              <a:t> is replacing the previous Viva Engage group, and customers or MVPs with an NDA can request access.</a:t>
            </a:r>
          </a:p>
          <a:p>
            <a:endParaRPr lang="en-US" dirty="0"/>
          </a:p>
        </p:txBody>
      </p:sp>
      <p:sp>
        <p:nvSpPr>
          <p:cNvPr id="6" name="Text Placeholder 4">
            <a:extLst>
              <a:ext uri="{FF2B5EF4-FFF2-40B4-BE49-F238E27FC236}">
                <a16:creationId xmlns:a16="http://schemas.microsoft.com/office/drawing/2014/main" id="{295E3D38-D7B5-24F0-9A13-3DFF9FCD85AE}"/>
              </a:ext>
            </a:extLst>
          </p:cNvPr>
          <p:cNvSpPr txBox="1">
            <a:spLocks/>
          </p:cNvSpPr>
          <p:nvPr/>
        </p:nvSpPr>
        <p:spPr>
          <a:xfrm>
            <a:off x="4648846" y="855080"/>
            <a:ext cx="3955312"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dirty="0">
                <a:hlinkClick r:id="rId3"/>
              </a:rPr>
              <a:t>Announcing Network HUD: Operational Network Monitoring for Windows Server 2025</a:t>
            </a:r>
            <a:endParaRPr lang="en-US" dirty="0"/>
          </a:p>
          <a:p>
            <a:pPr algn="just"/>
            <a:r>
              <a:rPr lang="en-US" dirty="0"/>
              <a:t>Networking issues can cause outages, degraded performance, and costly downtime. </a:t>
            </a:r>
            <a:r>
              <a:rPr lang="en-US" b="1" dirty="0"/>
              <a:t>Network HUD</a:t>
            </a:r>
            <a:r>
              <a:rPr lang="en-US" dirty="0"/>
              <a:t> brings real-time network health monitoring to Windows Server clusters, helping operators detect misconfigurations and drift before they impact workloads. It ensures networking remains aligned with best practices so teams can operate with confidence.</a:t>
            </a:r>
          </a:p>
          <a:p>
            <a:pPr algn="just"/>
            <a:r>
              <a:rPr lang="en-US" b="1" dirty="0"/>
              <a:t>Why Network HUD?</a:t>
            </a:r>
          </a:p>
          <a:p>
            <a:pPr algn="just"/>
            <a:r>
              <a:rPr lang="en-US" dirty="0"/>
              <a:t>Managing host networking is complex—small errors, outdated drivers, or bandwidth oversubscription can quickly lead to instability. Network HUD continuously monitors cluster networking and provides actionable insights, helping teams:</a:t>
            </a:r>
          </a:p>
          <a:p>
            <a:pPr marL="171450" indent="-171450" algn="just">
              <a:buFont typeface="Arial" panose="020B0604020202020204" pitchFamily="34" charset="0"/>
              <a:buChar char="•"/>
            </a:pPr>
            <a:r>
              <a:rPr lang="en-US" dirty="0"/>
              <a:t>Detect unstable adapters and PCIe oversubscription</a:t>
            </a:r>
          </a:p>
          <a:p>
            <a:pPr marL="171450" indent="-171450" algn="just">
              <a:buFont typeface="Arial" panose="020B0604020202020204" pitchFamily="34" charset="0"/>
              <a:buChar char="•"/>
            </a:pPr>
            <a:r>
              <a:rPr lang="en-US" dirty="0"/>
              <a:t>Identify outdated or incompatible drivers</a:t>
            </a:r>
          </a:p>
          <a:p>
            <a:pPr marL="171450" indent="-171450" algn="just">
              <a:buFont typeface="Arial" panose="020B0604020202020204" pitchFamily="34" charset="0"/>
              <a:buChar char="•"/>
            </a:pPr>
            <a:r>
              <a:rPr lang="en-US" dirty="0"/>
              <a:t>Spot storage networking issues related to PFC/ETS</a:t>
            </a:r>
          </a:p>
          <a:p>
            <a:pPr marL="171450" indent="-171450" algn="just">
              <a:buFont typeface="Arial" panose="020B0604020202020204" pitchFamily="34" charset="0"/>
              <a:buChar char="•"/>
            </a:pPr>
            <a:r>
              <a:rPr lang="en-US" dirty="0"/>
              <a:t>Catch VLAN misconfigurations</a:t>
            </a:r>
          </a:p>
          <a:p>
            <a:pPr marL="171450" indent="-171450" algn="just">
              <a:buFont typeface="Arial" panose="020B0604020202020204" pitchFamily="34" charset="0"/>
              <a:buChar char="•"/>
            </a:pPr>
            <a:r>
              <a:rPr lang="en-US" dirty="0"/>
              <a:t>Maintain consistent checks across all nodes</a:t>
            </a:r>
          </a:p>
          <a:p>
            <a:pPr marL="171450" indent="-171450" algn="just">
              <a:buFont typeface="Arial" panose="020B0604020202020204" pitchFamily="34" charset="0"/>
              <a:buChar char="•"/>
            </a:pPr>
            <a:r>
              <a:rPr lang="en-US" dirty="0"/>
              <a:t>Reduce troubleshooting time and support incidents</a:t>
            </a:r>
          </a:p>
          <a:p>
            <a:pPr algn="just"/>
            <a:endParaRPr lang="en-US" dirty="0"/>
          </a:p>
        </p:txBody>
      </p:sp>
    </p:spTree>
    <p:extLst>
      <p:ext uri="{BB962C8B-B14F-4D97-AF65-F5344CB8AC3E}">
        <p14:creationId xmlns:p14="http://schemas.microsoft.com/office/powerpoint/2010/main" val="2903840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0" end="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
                                            <p:txEl>
                                              <p:pRg st="2" end="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
                                            <p:txEl>
                                              <p:pRg st="3" end="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
                                            <p:txEl>
                                              <p:pRg st="4" end="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
                                            <p:txEl>
                                              <p:pRg st="5" end="5"/>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
                                            <p:txEl>
                                              <p:pRg st="6" end="6"/>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
                                            <p:txEl>
                                              <p:pRg st="7" end="7"/>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
                                            <p:txEl>
                                              <p:pRg st="8" end="8"/>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2917B00-1715-2378-C80F-5D336ED767F5}"/>
              </a:ext>
            </a:extLst>
          </p:cNvPr>
          <p:cNvSpPr>
            <a:spLocks noGrp="1"/>
          </p:cNvSpPr>
          <p:nvPr>
            <p:ph type="title"/>
          </p:nvPr>
        </p:nvSpPr>
        <p:spPr/>
        <p:txBody>
          <a:bodyPr/>
          <a:lstStyle/>
          <a:p>
            <a:r>
              <a:rPr lang="en-US" sz="1600" dirty="0"/>
              <a:t>Miscellaneous Updates 6/6</a:t>
            </a:r>
            <a:endParaRPr lang="en-US" dirty="0"/>
          </a:p>
        </p:txBody>
      </p:sp>
      <p:sp>
        <p:nvSpPr>
          <p:cNvPr id="4" name="Text Placeholder 3">
            <a:extLst>
              <a:ext uri="{FF2B5EF4-FFF2-40B4-BE49-F238E27FC236}">
                <a16:creationId xmlns:a16="http://schemas.microsoft.com/office/drawing/2014/main" id="{65674509-8322-72D2-9216-8AD4F77E5D4D}"/>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4B669BAF-75B0-A114-FA62-CDB2D2E82799}"/>
              </a:ext>
            </a:extLst>
          </p:cNvPr>
          <p:cNvSpPr>
            <a:spLocks noGrp="1"/>
          </p:cNvSpPr>
          <p:nvPr>
            <p:ph type="body" sz="quarter" idx="16"/>
          </p:nvPr>
        </p:nvSpPr>
        <p:spPr>
          <a:xfrm>
            <a:off x="342900" y="855081"/>
            <a:ext cx="3955312" cy="1922756"/>
          </a:xfrm>
        </p:spPr>
        <p:txBody>
          <a:bodyPr/>
          <a:lstStyle/>
          <a:p>
            <a:pPr algn="just"/>
            <a:r>
              <a:rPr lang="en-US" dirty="0">
                <a:hlinkClick r:id="rId2"/>
              </a:rPr>
              <a:t>Generally Available: Microsoft Marketplace</a:t>
            </a:r>
            <a:endParaRPr lang="en-US" dirty="0"/>
          </a:p>
          <a:p>
            <a:pPr algn="just"/>
            <a:r>
              <a:rPr lang="en-US" dirty="0"/>
              <a:t>Microsoft Marketplace —trusted source for cloud solutions, AI apps, and agents — is now globally available following its launch in the United States in September.</a:t>
            </a:r>
          </a:p>
          <a:p>
            <a:pPr algn="just"/>
            <a:r>
              <a:rPr lang="en-US" dirty="0"/>
              <a:t>All traffic from legacy storefronts (Azure Marketplace and AppSource) is now redirected to Marketplace.Microsoft.com Featuring the industry’s largest catalog of AI apps and agents, Marketplace extends the Microsoft Cloud, helping customers accelerate their AI-first transformation with tens of thousands of vetted solutions from our partner ecosystem. These solutions integrate easily with Microsoft products, delivering faster time-to-value.</a:t>
            </a:r>
          </a:p>
        </p:txBody>
      </p:sp>
      <p:pic>
        <p:nvPicPr>
          <p:cNvPr id="7" name="Picture 6">
            <a:extLst>
              <a:ext uri="{FF2B5EF4-FFF2-40B4-BE49-F238E27FC236}">
                <a16:creationId xmlns:a16="http://schemas.microsoft.com/office/drawing/2014/main" id="{1E5DCB20-A89D-5ADF-64D0-5166B6A8D557}"/>
              </a:ext>
            </a:extLst>
          </p:cNvPr>
          <p:cNvPicPr>
            <a:picLocks noChangeAspect="1"/>
          </p:cNvPicPr>
          <p:nvPr/>
        </p:nvPicPr>
        <p:blipFill>
          <a:blip r:embed="rId3"/>
          <a:stretch>
            <a:fillRect/>
          </a:stretch>
        </p:blipFill>
        <p:spPr>
          <a:xfrm>
            <a:off x="547310" y="2687781"/>
            <a:ext cx="3818684" cy="2365663"/>
          </a:xfrm>
          <a:prstGeom prst="rect">
            <a:avLst/>
          </a:prstGeom>
        </p:spPr>
      </p:pic>
      <p:sp>
        <p:nvSpPr>
          <p:cNvPr id="8" name="Text Placeholder 7">
            <a:extLst>
              <a:ext uri="{FF2B5EF4-FFF2-40B4-BE49-F238E27FC236}">
                <a16:creationId xmlns:a16="http://schemas.microsoft.com/office/drawing/2014/main" id="{47A751EB-7B13-83E0-6E3D-D6C8092E75C4}"/>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772698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customXml/itemProps2.xml><?xml version="1.0" encoding="utf-8"?>
<ds:datastoreItem xmlns:ds="http://schemas.openxmlformats.org/officeDocument/2006/customXml" ds:itemID="{EE04B39D-0CBA-4F8F-8809-785207E87965}">
  <ds:schemaRefs>
    <ds:schemaRef ds:uri="http://schemas.microsoft.com/sharepoint/v3/contenttype/forms"/>
  </ds:schemaRefs>
</ds:datastoreItem>
</file>

<file path=customXml/itemProps3.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6180</TotalTime>
  <Words>26182</Words>
  <Application>Microsoft Office PowerPoint</Application>
  <PresentationFormat>On-screen Show (16:9)</PresentationFormat>
  <Paragraphs>1218</Paragraphs>
  <Slides>128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128</vt:i4>
      </vt:variant>
    </vt:vector>
  </HeadingPairs>
  <TitlesOfParts>
    <vt:vector size="133" baseType="lpstr">
      <vt:lpstr>Arial</vt:lpstr>
      <vt:lpstr>Calibri</vt:lpstr>
      <vt:lpstr>Human Sans</vt:lpstr>
      <vt:lpstr>Human Sans Regular</vt:lpstr>
      <vt:lpstr>Continuum Theme</vt:lpstr>
      <vt:lpstr>Azure Times #185</vt:lpstr>
      <vt:lpstr>PowerPoint Presentation</vt:lpstr>
      <vt:lpstr>Networking Updates (Application Gateway) 1/4</vt:lpstr>
      <vt:lpstr>Networking Updates (Application Gateway) 2/4</vt:lpstr>
      <vt:lpstr>Networking Updates (Application Gateway) 3/4</vt:lpstr>
      <vt:lpstr>Networking Updates (Application Gateway) 4/4</vt:lpstr>
      <vt:lpstr>Networking Updates (Network Watcher) 1/1</vt:lpstr>
      <vt:lpstr>Networking Updates (Standard NAT) 1/1</vt:lpstr>
      <vt:lpstr>Networking Updates 1/3</vt:lpstr>
      <vt:lpstr>Networking Updates 2/3</vt:lpstr>
      <vt:lpstr>Networking Updates 3/3</vt:lpstr>
      <vt:lpstr>PowerPoint Presentation</vt:lpstr>
      <vt:lpstr>Security &amp; Identity Updates 1/1</vt:lpstr>
      <vt:lpstr>PowerPoint Presentation</vt:lpstr>
      <vt:lpstr>Management &amp; Governance Updates (Azure Site Recovery) 1/2</vt:lpstr>
      <vt:lpstr>Management &amp; Governance Updates (Azure Site Recovery) 2/2</vt:lpstr>
      <vt:lpstr>Management &amp; Governance Updates (Azure Monitor) 1/9</vt:lpstr>
      <vt:lpstr>Management &amp; Governance Updates (Azure Monitor) 2/9</vt:lpstr>
      <vt:lpstr>Management &amp; Governance Updates (Azure Monitor) 3/9</vt:lpstr>
      <vt:lpstr>Management &amp; Governance Updates (Azure Monitor) 4/9</vt:lpstr>
      <vt:lpstr>Management &amp; Governance Updates (Azure Monitor) 5/9</vt:lpstr>
      <vt:lpstr>Management &amp; Governance Updates (Azure Monitor) 6/9</vt:lpstr>
      <vt:lpstr>Management &amp; Governance Updates (Azure Monitor) 7/9</vt:lpstr>
      <vt:lpstr>Management &amp; Governance Updates (Azure Monitor) 8/9</vt:lpstr>
      <vt:lpstr>Management &amp; Governance Updates (Azure Monitor) 9/9</vt:lpstr>
      <vt:lpstr>Management &amp; Governance Updates (Azure ARC) 1/3</vt:lpstr>
      <vt:lpstr>Management &amp; Governance Updates (Azure ARC) 2/3</vt:lpstr>
      <vt:lpstr>Management &amp; Governance Updates (Azure ARC) 3/3</vt:lpstr>
      <vt:lpstr>Management &amp; Governance Updates (Azure Local) 1/1</vt:lpstr>
      <vt:lpstr>Management &amp; Governance Updates (Azure Migration) 1/1</vt:lpstr>
      <vt:lpstr>PowerPoint Presentation</vt:lpstr>
      <vt:lpstr>Compute Updates (Azure Functions) 1/4</vt:lpstr>
      <vt:lpstr>Compute Updates (Azure Functions) 2/4</vt:lpstr>
      <vt:lpstr>Compute Updates (Azure Functions) 3/4</vt:lpstr>
      <vt:lpstr>Compute Updates (Azure Functions) 4/4</vt:lpstr>
      <vt:lpstr>Compute Updates (Azure Logical Apps)</vt:lpstr>
      <vt:lpstr>Compute Updates (Azure Logical Apps) 1/2</vt:lpstr>
      <vt:lpstr>Compute Updates (Azure Logical Apps) 2/2</vt:lpstr>
      <vt:lpstr>Compute Updates (Azure Red Hat OpenShift) 1/1</vt:lpstr>
      <vt:lpstr>Compute Updates (Azure Container Apps) 1/4</vt:lpstr>
      <vt:lpstr>Compute Updates (Azure Container Apps) 2/4</vt:lpstr>
      <vt:lpstr>Compute Updates (Azure Container Apps) 3/4</vt:lpstr>
      <vt:lpstr>Compute Updates (Azure Container Apps) 4/4</vt:lpstr>
      <vt:lpstr>Compute Updates (K8S Updates) 1/7</vt:lpstr>
      <vt:lpstr>Compute Updates (K8S Updates) 2/7</vt:lpstr>
      <vt:lpstr>Compute Updates (K8S Updates) 3/7</vt:lpstr>
      <vt:lpstr>Compute Updates (K8S Updates) 4/7</vt:lpstr>
      <vt:lpstr>Compute Updates (K8S Updates) 5/7</vt:lpstr>
      <vt:lpstr>Compute Updates (K8S Updates) 6/7</vt:lpstr>
      <vt:lpstr>Compute Updates (K8S Updates) 7/7</vt:lpstr>
      <vt:lpstr>Compute Updates (Azure App Service) 1/2</vt:lpstr>
      <vt:lpstr>Compute Updates (Azure App Service) 2/2</vt:lpstr>
      <vt:lpstr>Compute Updates (Azure Boost) 1/1</vt:lpstr>
      <vt:lpstr>Compute Updates 1/6</vt:lpstr>
      <vt:lpstr>Compute Updates 2/6</vt:lpstr>
      <vt:lpstr>Compute Updates 3/6</vt:lpstr>
      <vt:lpstr>Compute Updates 4/6</vt:lpstr>
      <vt:lpstr>Compute Updates 5/6</vt:lpstr>
      <vt:lpstr>Compute Updates 6/6</vt:lpstr>
      <vt:lpstr>PowerPoint Presentation</vt:lpstr>
      <vt:lpstr>Storage &amp; Data Updates (Azure NetApp Files) 1/4</vt:lpstr>
      <vt:lpstr>Storage &amp; Data Updates (Azure NetApp Files) 2/4</vt:lpstr>
      <vt:lpstr>Storage &amp; Data Updates (Azure NetApp Files) 3/4</vt:lpstr>
      <vt:lpstr>Storage &amp; Data Updates (Azure NetApp Files) 4/4</vt:lpstr>
      <vt:lpstr>Storage &amp; Data Updates (Azure Files) 1/2</vt:lpstr>
      <vt:lpstr>Storage &amp; Data Updates (Azure Files) 2/2</vt:lpstr>
      <vt:lpstr>Storage &amp; Data Updates (Azure Managed Luster) 1/2</vt:lpstr>
      <vt:lpstr>Storage &amp; Data Updates (Azure Managed Luster) 2/2</vt:lpstr>
      <vt:lpstr>Storage &amp; Data Updates (Azure Storage Blob) 1/1</vt:lpstr>
      <vt:lpstr>PowerPoint Presentation</vt:lpstr>
      <vt:lpstr>Databases Updates (Azure DocumentDB) 1/2</vt:lpstr>
      <vt:lpstr>Databases Updates (Azure DocumentDB) 2/2</vt:lpstr>
      <vt:lpstr>Databases Updates (Azure Cosmos DB) 1/6 </vt:lpstr>
      <vt:lpstr>Databases Updates (Azure Cosmos DB) 2/6 </vt:lpstr>
      <vt:lpstr>Databases Updates (Azure Cosmos DB) 3/6 </vt:lpstr>
      <vt:lpstr>Databases Updates (Azure Cosmos DB) 4/6 </vt:lpstr>
      <vt:lpstr>Databases Updates (Azure Cosmos DB) 5/6 </vt:lpstr>
      <vt:lpstr>Databases Updates (Azure Cosmos DB) 6/6 </vt:lpstr>
      <vt:lpstr>Databases Updates (Azure Database for PostgreSQL) 1/5 </vt:lpstr>
      <vt:lpstr>Databases Updates (Azure Database for PostgreSQL) 2/5 </vt:lpstr>
      <vt:lpstr>Databases Updates (Azure Database for PostgreSQL) 3/5 </vt:lpstr>
      <vt:lpstr>Databases Updates (Azure Database for PostgreSQL) 4/5 </vt:lpstr>
      <vt:lpstr>Databases Updates (Azure Database for PostgreSQL) 5/5 </vt:lpstr>
      <vt:lpstr>Databases Updates (Azure SQL) 1/5 </vt:lpstr>
      <vt:lpstr>Databases Updates (Azure SQL) 2/5 </vt:lpstr>
      <vt:lpstr>Databases Updates (Azure SQL) 3/5 </vt:lpstr>
      <vt:lpstr>Databases Updates (Azure SQL) 4/5 </vt:lpstr>
      <vt:lpstr>Databases Updates (Azure SQL) 5/5 </vt:lpstr>
      <vt:lpstr>Databases Updates (Azure SQL) 1/1 </vt:lpstr>
      <vt:lpstr>PowerPoint Presentation</vt:lpstr>
      <vt:lpstr>Integration Updates (Azure API Management) 1/2</vt:lpstr>
      <vt:lpstr>Integration Updates (Azure API Management) 2/2</vt:lpstr>
      <vt:lpstr>Azure Integration Updates 1/1</vt:lpstr>
      <vt:lpstr>PowerPoint Presentation</vt:lpstr>
      <vt:lpstr>ML &amp; AI &amp; IOT Updates (Azure Foundry) 1/14 </vt:lpstr>
      <vt:lpstr>ML &amp; AI &amp; IOT Updates (Azure Foundry) 2/14 </vt:lpstr>
      <vt:lpstr>ML &amp; AI &amp; IOT Updates (Azure Foundry) 3/14 </vt:lpstr>
      <vt:lpstr>ML &amp; AI &amp; IOT Updates (Azure Foundry) 4/14 </vt:lpstr>
      <vt:lpstr>ML &amp; AI &amp; IOT Updates (Azure Foundry) 5/14 </vt:lpstr>
      <vt:lpstr>ML &amp; AI &amp; IOT Updates (Azure Foundry) 6/14 </vt:lpstr>
      <vt:lpstr>ML &amp; AI &amp; IOT Updates (Azure Foundry) 7/14 </vt:lpstr>
      <vt:lpstr>ML &amp; AI &amp; IOT Updates (Azure Foundry) 8/14 </vt:lpstr>
      <vt:lpstr>ML &amp; AI &amp; IOT Updates (Azure Foundry) 9/14 </vt:lpstr>
      <vt:lpstr>ML &amp; AI &amp; IOT Updates (Azure Foundry) 10/14 </vt:lpstr>
      <vt:lpstr>ML &amp; AI &amp; IOT Updates (Azure Foundry) 11/14 </vt:lpstr>
      <vt:lpstr>ML &amp; AI &amp; IOT Updates (Azure Foundry) 12/14 </vt:lpstr>
      <vt:lpstr>ML &amp; AI &amp; IOT Updates (Azure Foundry) 13/14 </vt:lpstr>
      <vt:lpstr>ML &amp; AI &amp; IOT Updates (Azure Foundry) 14/14 </vt:lpstr>
      <vt:lpstr>ML &amp; AI &amp; IOT Updates (Azure Copilot) 1/2</vt:lpstr>
      <vt:lpstr>ML &amp; AI &amp; IOT Updates (Azure Copilot) 2/2</vt:lpstr>
      <vt:lpstr>ML &amp; AI &amp; IOT Updates 1/3</vt:lpstr>
      <vt:lpstr>ML &amp; AI &amp; IOT Updates 2/3</vt:lpstr>
      <vt:lpstr>ML &amp; AI &amp; IOT Updates 3/3</vt:lpstr>
      <vt:lpstr>PowerPoint Presentation</vt:lpstr>
      <vt:lpstr>DevOps &amp; IaC &amp; Automation</vt:lpstr>
      <vt:lpstr>DevOps &amp; IaC &amp; Automation</vt:lpstr>
      <vt:lpstr>DevOps &amp; IaC &amp; Automation</vt:lpstr>
      <vt:lpstr>DevOps &amp; IaC &amp; Automation</vt:lpstr>
      <vt:lpstr>PowerPoint Presentation</vt:lpstr>
      <vt:lpstr>Miscellaneous Updates 1/6</vt:lpstr>
      <vt:lpstr>Miscellaneous Updates 2/6</vt:lpstr>
      <vt:lpstr>Miscellaneous Updates 3/6</vt:lpstr>
      <vt:lpstr>Miscellaneous Updates 4/6</vt:lpstr>
      <vt:lpstr>Miscellaneous Updates 5/6</vt:lpstr>
      <vt:lpstr>Miscellaneous Updates 6/6</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1154</cp:revision>
  <dcterms:created xsi:type="dcterms:W3CDTF">2018-01-26T19:23:30Z</dcterms:created>
  <dcterms:modified xsi:type="dcterms:W3CDTF">2025-11-23T13:46:12Z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