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9"/>
  </p:notesMasterIdLst>
  <p:handoutMasterIdLst>
    <p:handoutMasterId r:id="rId30"/>
  </p:handoutMasterIdLst>
  <p:sldIdLst>
    <p:sldId id="2142532340" r:id="rId5"/>
    <p:sldId id="2146847045" r:id="rId6"/>
    <p:sldId id="10657" r:id="rId7"/>
    <p:sldId id="2146847127" r:id="rId8"/>
    <p:sldId id="2146847046" r:id="rId9"/>
    <p:sldId id="2146847089" r:id="rId10"/>
    <p:sldId id="2146847050" r:id="rId11"/>
    <p:sldId id="2146847096" r:id="rId12"/>
    <p:sldId id="2146847134" r:id="rId13"/>
    <p:sldId id="2146847052" r:id="rId14"/>
    <p:sldId id="2146847137" r:id="rId15"/>
    <p:sldId id="2146847054" r:id="rId16"/>
    <p:sldId id="2146847142" r:id="rId17"/>
    <p:sldId id="2146847056" r:id="rId18"/>
    <p:sldId id="2146847143" r:id="rId19"/>
    <p:sldId id="2146847058" r:id="rId20"/>
    <p:sldId id="2146847111" r:id="rId21"/>
    <p:sldId id="2146847119" r:id="rId22"/>
    <p:sldId id="2146847150" r:id="rId23"/>
    <p:sldId id="2146847062" r:id="rId24"/>
    <p:sldId id="2146847115" r:id="rId25"/>
    <p:sldId id="2146847085" r:id="rId26"/>
    <p:sldId id="2146847084" r:id="rId27"/>
    <p:sldId id="2146847064" r:id="rId2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7"/>
          </p14:sldIdLst>
        </p14:section>
        <p14:section name="Security &amp; Identity" id="{1AA42572-B3BD-44F7-813B-C2C647DDBB3C}">
          <p14:sldIdLst>
            <p14:sldId id="2146847046"/>
            <p14:sldId id="2146847089"/>
          </p14:sldIdLst>
        </p14:section>
        <p14:section name="Management &amp; Governance" id="{34181601-6D48-4406-A525-C7B5A12C6C5B}">
          <p14:sldIdLst/>
        </p14:section>
        <p14:section name="Compute" id="{05AA80BB-8802-49AB-8336-A884227CE2F7}">
          <p14:sldIdLst>
            <p14:sldId id="2146847050"/>
            <p14:sldId id="2146847096"/>
            <p14:sldId id="2146847134"/>
          </p14:sldIdLst>
        </p14:section>
        <p14:section name="Storage &amp; Data" id="{1F159046-CE0A-45BC-9D5B-6E6C95980F78}">
          <p14:sldIdLst>
            <p14:sldId id="2146847052"/>
            <p14:sldId id="2146847137"/>
          </p14:sldIdLst>
        </p14:section>
        <p14:section name="Databases" id="{AEAFAE72-AD56-48F3-926B-38BAE269038F}">
          <p14:sldIdLst>
            <p14:sldId id="2146847054"/>
            <p14:sldId id="2146847142"/>
          </p14:sldIdLst>
        </p14:section>
        <p14:section name="Integration" id="{ACBD46A3-6F1C-451B-A154-0A056E0DEFF6}">
          <p14:sldIdLst>
            <p14:sldId id="2146847056"/>
            <p14:sldId id="2146847143"/>
          </p14:sldIdLst>
        </p14:section>
        <p14:section name="ML &amp; AI &amp; IOT" id="{F4E1EAF1-55E9-4CA4-8ADC-28B69C1D66D2}">
          <p14:sldIdLst>
            <p14:sldId id="2146847058"/>
            <p14:sldId id="2146847111"/>
            <p14:sldId id="2146847119"/>
            <p14:sldId id="2146847150"/>
          </p14:sldIdLst>
        </p14:section>
        <p14:section name="Miscellaneous" id="{A1456D7A-93BE-4023-90AA-7269D2F177BA}">
          <p14:sldIdLst>
            <p14:sldId id="2146847062"/>
            <p14:sldId id="2146847115"/>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12/1/2025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zure.microsoft.com/ru-ru/updates?id=526018"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azure.microsoft.com/ru-ru/updates?id=534482"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techcommunity.microsoft.com/blog/microsoft-entra-blog/enhance-protection-of-microsoft-entra-id-authentication-by-blocking-external-scr/4435200"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techcommunity.microsoft.com/blog/azurehighperformancecomputingblog/azure-ncv6-public-preview-the-new-unified-platform-for-converged-ai-and-visual-c/4472704"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techcommunity.microsoft.com/blog/azurearcblog/azure-local-22h2-clusters-end-of-service-and-feature-degradation/4470129" TargetMode="External"/><Relationship Id="rId2" Type="http://schemas.openxmlformats.org/officeDocument/2006/relationships/hyperlink" Target="https://techcommunity.microsoft.com/blog/integrationsonazureblog/%F0%9F%8E%99%EF%B8%8Fpublic-preview-azure-logic-apps-connectors-as-mcp-tools-in-microsoft-foundry/4473062" TargetMode="External"/><Relationship Id="rId1" Type="http://schemas.openxmlformats.org/officeDocument/2006/relationships/slideLayout" Target="../slideLayouts/slideLayout7.xml"/><Relationship Id="rId4" Type="http://schemas.openxmlformats.org/officeDocument/2006/relationships/hyperlink" Target="https://learn.microsoft.com/en-us/lifecycle/policies/moder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azure.microsoft.com/ru-ru/updates?id=533437"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32207" TargetMode="External"/><Relationship Id="rId2" Type="http://schemas.openxmlformats.org/officeDocument/2006/relationships/hyperlink" Target="https://azure.microsoft.com/ru-ru/updates?id=532197"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azure.microsoft.com/ru-ru/updates?id=491990"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azure.microsoft.com/ru-ru/updates?id=534541" TargetMode="External"/><Relationship Id="rId2" Type="http://schemas.openxmlformats.org/officeDocument/2006/relationships/hyperlink" Target="https://techcommunity.microsoft.com/blog/integrationsonazureblog/%F0%9F%93%A2announcing-ai-foundry-agent-service-connector-v2-preview/4471082"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azure.microsoft.com/ru-ru/updates?id=532481"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ignite.microsoft.com/en-US/sessions/BRK148?source=sessions" TargetMode="External"/><Relationship Id="rId2" Type="http://schemas.openxmlformats.org/officeDocument/2006/relationships/hyperlink" Target="https://ignite.microsoft.com/en-US/sessions/BRK178?source=sessions" TargetMode="External"/><Relationship Id="rId1" Type="http://schemas.openxmlformats.org/officeDocument/2006/relationships/slideLayout" Target="../slideLayouts/slideLayout7.xml"/><Relationship Id="rId5" Type="http://schemas.openxmlformats.org/officeDocument/2006/relationships/hyperlink" Target="https://www.youtube.com/watch?v=CmihM2eVtlQ" TargetMode="External"/><Relationship Id="rId4" Type="http://schemas.openxmlformats.org/officeDocument/2006/relationships/hyperlink" Target="https://ignite.microsoft.com/en-US/sessions/BRK431?source=session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#186</a:t>
            </a:r>
          </a:p>
        </p:txBody>
      </p:sp>
      <p:sp>
        <p:nvSpPr>
          <p:cNvPr id="4" name="Text Placeholder 3"/>
          <p:cNvSpPr>
            <a:spLocks noGrp="1"/>
          </p:cNvSpPr>
          <p:nvPr>
            <p:ph type="body" sz="quarter" idx="11"/>
          </p:nvPr>
        </p:nvSpPr>
        <p:spPr/>
        <p:txBody>
          <a:bodyPr/>
          <a:lstStyle/>
          <a:p>
            <a:r>
              <a:rPr lang="en-US" spc="300" dirty="0"/>
              <a:t>December 1, 2025</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t>Prerequisites:</a:t>
            </a:r>
          </a:p>
          <a:p>
            <a:pPr marL="171450" indent="-171450" algn="just">
              <a:buFont typeface="Arial" panose="020B0604020202020204" pitchFamily="34" charset="0"/>
              <a:buChar char="•"/>
            </a:pPr>
            <a:r>
              <a:rPr lang="en-US" sz="1000" b="1" dirty="0" err="1"/>
              <a:t>AADLoginForWindows</a:t>
            </a:r>
            <a:r>
              <a:rPr lang="en-US" sz="1000" dirty="0"/>
              <a:t> extension should be enabled on the VM. Microsoft Entra ID Login can be enabled during VM creation by checking the box for Login with Microsoft Entra ID or by adding the </a:t>
            </a:r>
            <a:r>
              <a:rPr lang="en-US" sz="1000" dirty="0" err="1"/>
              <a:t>AADLogin</a:t>
            </a:r>
            <a:r>
              <a:rPr lang="en-US" sz="1000" dirty="0"/>
              <a:t> extension to a pre-existing VM.</a:t>
            </a:r>
          </a:p>
          <a:p>
            <a:pPr marL="171450" indent="-171450" algn="just">
              <a:buFont typeface="Arial" panose="020B0604020202020204" pitchFamily="34" charset="0"/>
              <a:buChar char="•"/>
            </a:pPr>
            <a:r>
              <a:rPr lang="en-US" sz="1000" dirty="0"/>
              <a:t>One of the following required roles should be configured on the VM for the user:</a:t>
            </a:r>
          </a:p>
          <a:p>
            <a:pPr marL="514350" lvl="1" indent="-171450" algn="just">
              <a:buFont typeface="Arial" panose="020B0604020202020204" pitchFamily="34" charset="0"/>
              <a:buChar char="•"/>
            </a:pPr>
            <a:r>
              <a:rPr lang="en-US" sz="1000" b="1" dirty="0">
                <a:latin typeface="+mj-lt"/>
              </a:rPr>
              <a:t>Virtual Machine Administrator Login: </a:t>
            </a:r>
            <a:r>
              <a:rPr lang="en-US" sz="1000" dirty="0">
                <a:latin typeface="+mj-lt"/>
              </a:rPr>
              <a:t>This role is necessary if you want to sign in with administrator privileges.</a:t>
            </a:r>
          </a:p>
          <a:p>
            <a:pPr marL="514350" lvl="1" indent="-171450" algn="just">
              <a:buFont typeface="Arial" panose="020B0604020202020204" pitchFamily="34" charset="0"/>
              <a:buChar char="•"/>
            </a:pPr>
            <a:r>
              <a:rPr lang="en-US" sz="1000" b="1" dirty="0">
                <a:latin typeface="+mj-lt"/>
              </a:rPr>
              <a:t>Virtual Machine User Login: </a:t>
            </a:r>
            <a:r>
              <a:rPr lang="en-US" sz="1000" dirty="0">
                <a:latin typeface="+mj-lt"/>
              </a:rPr>
              <a:t>This role is necessary if you want to sign in with regular user privileges.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2082084"/>
          </a:xfrm>
        </p:spPr>
        <p:txBody>
          <a:bodyPr/>
          <a:lstStyle/>
          <a:p>
            <a:pPr algn="just"/>
            <a:r>
              <a:rPr lang="en-US" dirty="0">
                <a:hlinkClick r:id="rId2"/>
              </a:rPr>
              <a:t>Public Preview: Entra ID support for RDP connections</a:t>
            </a:r>
            <a:endParaRPr lang="en-US" dirty="0"/>
          </a:p>
          <a:p>
            <a:pPr algn="just"/>
            <a:r>
              <a:rPr lang="en-US" dirty="0"/>
              <a:t>When Bastion users connect to Windows VMs through the portal, they authenticate using either a VM password or a password stored in Azure Key Vault. By leveraging </a:t>
            </a:r>
            <a:r>
              <a:rPr lang="en-US" b="1" dirty="0"/>
              <a:t>Microsoft Entra ID</a:t>
            </a:r>
            <a:r>
              <a:rPr lang="en-US" dirty="0"/>
              <a:t>, authentication becomes identity-based, eliminating the need for local credentials and reducing complexity. This approach provides a seamless, one-click sign-in experience, making it easier for users to access their Windows VMs without managing separate passwords. Beyond convenience, Entra ID strengthens organizational security by centralizing identity management and enforcing robust access controls. The result is a simplified, secure, and user-friendly way to connect to virtual machines while improving the overall security posture.</a:t>
            </a:r>
          </a:p>
        </p:txBody>
      </p:sp>
      <p:pic>
        <p:nvPicPr>
          <p:cNvPr id="3" name="Picture 2">
            <a:extLst>
              <a:ext uri="{FF2B5EF4-FFF2-40B4-BE49-F238E27FC236}">
                <a16:creationId xmlns:a16="http://schemas.microsoft.com/office/drawing/2014/main" id="{DFB0529F-B56E-06CF-A6DE-6D2B940A88DF}"/>
              </a:ext>
            </a:extLst>
          </p:cNvPr>
          <p:cNvPicPr>
            <a:picLocks noChangeAspect="1"/>
          </p:cNvPicPr>
          <p:nvPr/>
        </p:nvPicPr>
        <p:blipFill>
          <a:blip r:embed="rId3"/>
          <a:stretch>
            <a:fillRect/>
          </a:stretch>
        </p:blipFill>
        <p:spPr>
          <a:xfrm>
            <a:off x="342900" y="2860965"/>
            <a:ext cx="3883066" cy="1939635"/>
          </a:xfrm>
          <a:prstGeom prst="rect">
            <a:avLst/>
          </a:prstGeom>
        </p:spPr>
      </p:pic>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EE44-A3A9-5916-28C3-73C176E34A5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735E067-643C-4669-293E-B1878549EE12}"/>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BC16BD-C9C7-ACBB-576D-EBDB3A535BE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6D884AE-3074-77B9-2821-DC774A2B2C02}"/>
              </a:ext>
            </a:extLst>
          </p:cNvPr>
          <p:cNvSpPr>
            <a:spLocks noGrp="1"/>
          </p:cNvSpPr>
          <p:nvPr>
            <p:ph type="body" sz="quarter" idx="16"/>
          </p:nvPr>
        </p:nvSpPr>
        <p:spPr/>
        <p:txBody>
          <a:bodyPr/>
          <a:lstStyle/>
          <a:p>
            <a:pPr algn="just"/>
            <a:r>
              <a:rPr lang="en-US" dirty="0">
                <a:hlinkClick r:id="rId2"/>
              </a:rPr>
              <a:t>Public Preview: Managed Identity support in Network Watcher VNET flow log, traffic analytics and packet capture</a:t>
            </a:r>
            <a:endParaRPr lang="en-US" dirty="0"/>
          </a:p>
          <a:p>
            <a:pPr algn="just"/>
            <a:r>
              <a:rPr lang="en-US" dirty="0"/>
              <a:t>Azure Network Watcher now supports </a:t>
            </a:r>
            <a:r>
              <a:rPr lang="en-US" b="1" dirty="0"/>
              <a:t>managed identities</a:t>
            </a:r>
            <a:r>
              <a:rPr lang="en-US" dirty="0"/>
              <a:t> for VNET flow logs, Traffic Analytics, and packet capture—eliminating the need to manage credentials manually.</a:t>
            </a:r>
          </a:p>
          <a:p>
            <a:pPr algn="just"/>
            <a:r>
              <a:rPr lang="en-US" b="1" dirty="0"/>
              <a:t>VNET Flow Logs</a:t>
            </a:r>
            <a:r>
              <a:rPr lang="en-US" dirty="0"/>
              <a:t> capture IP traffic flowing through </a:t>
            </a:r>
            <a:r>
              <a:rPr lang="en-US" dirty="0" err="1"/>
              <a:t>VNets</a:t>
            </a:r>
            <a:r>
              <a:rPr lang="en-US" dirty="0"/>
              <a:t>, subnets, and NICs and store the data in Azure Storage for monitoring, troubleshooting, security, and compliance.</a:t>
            </a:r>
          </a:p>
          <a:p>
            <a:pPr algn="just"/>
            <a:r>
              <a:rPr lang="en-US" b="1" dirty="0"/>
              <a:t>Traffic Analytics</a:t>
            </a:r>
            <a:r>
              <a:rPr lang="en-US" dirty="0"/>
              <a:t> processes and enriches flow logs to deliver insights into network activity, performance, visualization, and security patterns.</a:t>
            </a:r>
          </a:p>
          <a:p>
            <a:pPr algn="just"/>
            <a:r>
              <a:rPr lang="en-US" b="1" dirty="0"/>
              <a:t>Packet Capture</a:t>
            </a:r>
            <a:r>
              <a:rPr lang="en-US" dirty="0"/>
              <a:t> enables capturing packets directly from virtual machines for deep diagnostics and network analysis.</a:t>
            </a:r>
          </a:p>
          <a:p>
            <a:pPr algn="just"/>
            <a:r>
              <a:rPr lang="en-US" dirty="0"/>
              <a:t>With </a:t>
            </a:r>
            <a:r>
              <a:rPr lang="en-US" b="1" dirty="0"/>
              <a:t>Microsoft Entra ID managed identities</a:t>
            </a:r>
            <a:r>
              <a:rPr lang="en-US" dirty="0"/>
              <a:t>, these features can securely access Azure Blob Storage or Log Analytics workspaces without storing secrets. After assigning the required permissions, Network Watcher components automatically use the managed identity to request access tokens and interact with the target resources securely.</a:t>
            </a:r>
          </a:p>
        </p:txBody>
      </p:sp>
    </p:spTree>
    <p:extLst>
      <p:ext uri="{BB962C8B-B14F-4D97-AF65-F5344CB8AC3E}">
        <p14:creationId xmlns:p14="http://schemas.microsoft.com/office/powerpoint/2010/main" val="289062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2116720"/>
          </a:xfrm>
        </p:spPr>
        <p:txBody>
          <a:bodyPr/>
          <a:lstStyle/>
          <a:p>
            <a:pPr algn="just"/>
            <a:r>
              <a:rPr lang="en-US" dirty="0">
                <a:hlinkClick r:id="rId2"/>
              </a:rPr>
              <a:t>Enhance protection of Microsoft Entra ID authentication by blocking external script injection</a:t>
            </a:r>
            <a:endParaRPr lang="en-US" dirty="0"/>
          </a:p>
          <a:p>
            <a:pPr algn="just"/>
            <a:r>
              <a:rPr lang="en-US" dirty="0"/>
              <a:t>MS added a new </a:t>
            </a:r>
            <a:r>
              <a:rPr lang="en-US" b="1" dirty="0"/>
              <a:t>Content Security Policy header </a:t>
            </a:r>
            <a:r>
              <a:rPr lang="en-US" dirty="0"/>
              <a:t>to the Microsoft Entra sign-in experience to enhance security and harden against unauthorized script injection.</a:t>
            </a:r>
          </a:p>
          <a:p>
            <a:pPr marL="171450" indent="-171450" algn="just">
              <a:buFont typeface="Arial" panose="020B0604020202020204" pitchFamily="34" charset="0"/>
              <a:buChar char="•"/>
            </a:pPr>
            <a:r>
              <a:rPr lang="en-US" dirty="0"/>
              <a:t>Only allow script downloads from </a:t>
            </a:r>
            <a:r>
              <a:rPr lang="en-US" b="1" dirty="0"/>
              <a:t>Microsoft trusted CDN domains. </a:t>
            </a:r>
            <a:endParaRPr lang="en-US" dirty="0"/>
          </a:p>
          <a:p>
            <a:pPr marL="171450" indent="-171450" algn="just">
              <a:buFont typeface="Arial" panose="020B0604020202020204" pitchFamily="34" charset="0"/>
              <a:buChar char="•"/>
            </a:pPr>
            <a:r>
              <a:rPr lang="en-US" dirty="0"/>
              <a:t>Only </a:t>
            </a:r>
            <a:r>
              <a:rPr lang="en-US" b="1" dirty="0"/>
              <a:t>allow inline script execution </a:t>
            </a:r>
            <a:r>
              <a:rPr lang="en-US" dirty="0"/>
              <a:t>from Microsoft trusted source. </a:t>
            </a:r>
          </a:p>
          <a:p>
            <a:pPr algn="just"/>
            <a:r>
              <a:rPr lang="en-US" dirty="0"/>
              <a:t>Note that the updated Content Security Policy will only apply to browser-based sign-in experiences, only for URLs that start with login.microsoftonline.com. </a:t>
            </a:r>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Public Preview of the latest Azure NCv6 GPU Virtual Machine Platform</a:t>
            </a:r>
            <a:endParaRPr lang="en-US" dirty="0"/>
          </a:p>
          <a:p>
            <a:pPr algn="just"/>
            <a:r>
              <a:rPr lang="en-US" dirty="0"/>
              <a:t>The NCv6 series represents a generational leap in Azure’s visual compute portfolio, designed to be the dual engine for both Industrial Digitalization and cost-effective LLM inference. </a:t>
            </a:r>
          </a:p>
          <a:p>
            <a:pPr algn="just"/>
            <a:r>
              <a:rPr lang="en-US" dirty="0"/>
              <a:t>By leveraging </a:t>
            </a:r>
            <a:r>
              <a:rPr lang="en-US" b="1" dirty="0"/>
              <a:t>NVIDIA Multi-Instance GPU (MIG) capabilities</a:t>
            </a:r>
            <a:r>
              <a:rPr lang="en-US" dirty="0"/>
              <a:t>, the NCv6 platform offers affordable sizing options similar to legacy NCv3 and NVv5 series. This provides a seamless upgrade path to Blackwell performance, enabling customers to run complex NVIDIA Omniverse simulations and multimodal AI agents with greater efficiency.</a:t>
            </a:r>
          </a:p>
          <a:p>
            <a:pPr marL="171450" indent="-171450" algn="just">
              <a:buFont typeface="Arial" panose="020B0604020202020204" pitchFamily="34" charset="0"/>
              <a:buChar char="•"/>
            </a:pPr>
            <a:r>
              <a:rPr lang="en-US" dirty="0"/>
              <a:t>The Power of  </a:t>
            </a:r>
            <a:r>
              <a:rPr lang="en-US" b="1" dirty="0"/>
              <a:t>NVIDIA RTX PRO 6000 Blackwell Server Edition GPU</a:t>
            </a:r>
          </a:p>
          <a:p>
            <a:pPr marL="171450" indent="-171450" algn="just">
              <a:buFont typeface="Arial" panose="020B0604020202020204" pitchFamily="34" charset="0"/>
              <a:buChar char="•"/>
            </a:pPr>
            <a:r>
              <a:rPr lang="en-US" dirty="0"/>
              <a:t>Host Performance: Intel Granite Rapids</a:t>
            </a:r>
          </a:p>
          <a:p>
            <a:pPr marL="171450" indent="-171450" algn="just">
              <a:buFont typeface="Arial" panose="020B0604020202020204" pitchFamily="34" charset="0"/>
              <a:buChar char="•"/>
            </a:pPr>
            <a:r>
              <a:rPr lang="en-US" dirty="0"/>
              <a:t>Optimized Sizing for Every Workflow</a:t>
            </a:r>
          </a:p>
          <a:p>
            <a:pPr algn="just"/>
            <a:endParaRPr lang="en-US" dirty="0"/>
          </a:p>
          <a:p>
            <a:pPr algn="just"/>
            <a:endParaRPr lang="en-US" dirty="0"/>
          </a:p>
        </p:txBody>
      </p:sp>
      <p:graphicFrame>
        <p:nvGraphicFramePr>
          <p:cNvPr id="3" name="Table 2">
            <a:extLst>
              <a:ext uri="{FF2B5EF4-FFF2-40B4-BE49-F238E27FC236}">
                <a16:creationId xmlns:a16="http://schemas.microsoft.com/office/drawing/2014/main" id="{C02245E0-D75F-63F7-365B-92E7DCFB55CE}"/>
              </a:ext>
            </a:extLst>
          </p:cNvPr>
          <p:cNvGraphicFramePr>
            <a:graphicFrameLocks noGrp="1"/>
          </p:cNvGraphicFramePr>
          <p:nvPr>
            <p:extLst>
              <p:ext uri="{D42A27DB-BD31-4B8C-83A1-F6EECF244321}">
                <p14:modId xmlns:p14="http://schemas.microsoft.com/office/powerpoint/2010/main" val="1249970173"/>
              </p:ext>
            </p:extLst>
          </p:nvPr>
        </p:nvGraphicFramePr>
        <p:xfrm>
          <a:off x="4759036" y="920663"/>
          <a:ext cx="3799898" cy="2800350"/>
        </p:xfrm>
        <a:graphic>
          <a:graphicData uri="http://schemas.openxmlformats.org/drawingml/2006/table">
            <a:tbl>
              <a:tblPr/>
              <a:tblGrid>
                <a:gridCol w="1899949">
                  <a:extLst>
                    <a:ext uri="{9D8B030D-6E8A-4147-A177-3AD203B41FA5}">
                      <a16:colId xmlns:a16="http://schemas.microsoft.com/office/drawing/2014/main" val="4167892919"/>
                    </a:ext>
                  </a:extLst>
                </a:gridCol>
                <a:gridCol w="1899949">
                  <a:extLst>
                    <a:ext uri="{9D8B030D-6E8A-4147-A177-3AD203B41FA5}">
                      <a16:colId xmlns:a16="http://schemas.microsoft.com/office/drawing/2014/main" val="3994407009"/>
                    </a:ext>
                  </a:extLst>
                </a:gridCol>
              </a:tblGrid>
              <a:tr h="0">
                <a:tc>
                  <a:txBody>
                    <a:bodyPr/>
                    <a:lstStyle/>
                    <a:p>
                      <a:pPr fontAlgn="ctr">
                        <a:buNone/>
                      </a:pPr>
                      <a:r>
                        <a:rPr lang="en-US" sz="1000" b="1" i="0">
                          <a:solidFill>
                            <a:srgbClr val="000000"/>
                          </a:solidFill>
                          <a:effectLst/>
                          <a:latin typeface="+mj-lt"/>
                        </a:rPr>
                        <a:t>Specification</a:t>
                      </a:r>
                      <a:endParaRPr lang="en-US" sz="1000" b="0" i="0">
                        <a:effectLst/>
                        <a:latin typeface="+mj-lt"/>
                      </a:endParaRP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1000" b="1" i="0">
                          <a:solidFill>
                            <a:srgbClr val="000000"/>
                          </a:solidFill>
                          <a:effectLst/>
                          <a:latin typeface="+mj-lt"/>
                        </a:rPr>
                        <a:t>Details</a:t>
                      </a:r>
                      <a:endParaRPr lang="en-US" sz="1000" b="0" i="0">
                        <a:effectLst/>
                        <a:latin typeface="+mj-lt"/>
                      </a:endParaRP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3386365532"/>
                  </a:ext>
                </a:extLst>
              </a:tr>
              <a:tr h="0">
                <a:tc>
                  <a:txBody>
                    <a:bodyPr/>
                    <a:lstStyle/>
                    <a:p>
                      <a:pPr fontAlgn="ctr">
                        <a:buNone/>
                      </a:pPr>
                      <a:r>
                        <a:rPr lang="en-US" sz="1000" b="1" i="0">
                          <a:effectLst/>
                          <a:latin typeface="+mj-lt"/>
                        </a:rPr>
                        <a:t>GPU</a:t>
                      </a:r>
                      <a:endParaRPr lang="en-US" sz="1000" b="0" i="0">
                        <a:effectLst/>
                        <a:latin typeface="+mj-lt"/>
                      </a:endParaRP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1000" b="0" i="0" dirty="0">
                          <a:effectLst/>
                          <a:latin typeface="+mj-lt"/>
                        </a:rPr>
                        <a:t>NVIDIA RTX PRO 6000 Blackwell Server Edition (96 GB GDDR7)</a:t>
                      </a: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3535960500"/>
                  </a:ext>
                </a:extLst>
              </a:tr>
              <a:tr h="0">
                <a:tc>
                  <a:txBody>
                    <a:bodyPr/>
                    <a:lstStyle/>
                    <a:p>
                      <a:pPr fontAlgn="ctr">
                        <a:buNone/>
                      </a:pPr>
                      <a:r>
                        <a:rPr lang="en-US" sz="1000" b="1" i="0">
                          <a:effectLst/>
                          <a:latin typeface="+mj-lt"/>
                        </a:rPr>
                        <a:t>Processor</a:t>
                      </a:r>
                      <a:endParaRPr lang="en-US" sz="1000" b="0" i="0">
                        <a:effectLst/>
                        <a:latin typeface="+mj-lt"/>
                      </a:endParaRP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1000" b="0" i="0">
                          <a:effectLst/>
                          <a:latin typeface="+mj-lt"/>
                        </a:rPr>
                        <a:t>Intel Xeon Granite Rapids (up to 4.2 GHz Turbo)</a:t>
                      </a: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754034427"/>
                  </a:ext>
                </a:extLst>
              </a:tr>
              <a:tr h="0">
                <a:tc>
                  <a:txBody>
                    <a:bodyPr/>
                    <a:lstStyle/>
                    <a:p>
                      <a:pPr fontAlgn="ctr">
                        <a:buNone/>
                      </a:pPr>
                      <a:r>
                        <a:rPr lang="en-US" sz="1000" b="1" i="0">
                          <a:effectLst/>
                          <a:latin typeface="+mj-lt"/>
                        </a:rPr>
                        <a:t>vCPUs</a:t>
                      </a:r>
                      <a:endParaRPr lang="en-US" sz="1000" b="0" i="0">
                        <a:effectLst/>
                        <a:latin typeface="+mj-lt"/>
                      </a:endParaRP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1000" b="0" i="0" dirty="0">
                          <a:effectLst/>
                          <a:latin typeface="+mj-lt"/>
                        </a:rPr>
                        <a:t>16 – 320 vCPUs (Scalable across GP, Compute, and Memory optimized sizes)</a:t>
                      </a: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3481788989"/>
                  </a:ext>
                </a:extLst>
              </a:tr>
              <a:tr h="0">
                <a:tc>
                  <a:txBody>
                    <a:bodyPr/>
                    <a:lstStyle/>
                    <a:p>
                      <a:pPr fontAlgn="ctr">
                        <a:buNone/>
                      </a:pPr>
                      <a:r>
                        <a:rPr lang="en-US" sz="1000" b="1" i="0">
                          <a:effectLst/>
                          <a:latin typeface="+mj-lt"/>
                        </a:rPr>
                        <a:t>System Memory</a:t>
                      </a:r>
                      <a:endParaRPr lang="en-US" sz="1000" b="0" i="0">
                        <a:effectLst/>
                        <a:latin typeface="+mj-lt"/>
                      </a:endParaRP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1000" b="0" i="0">
                          <a:effectLst/>
                          <a:latin typeface="+mj-lt"/>
                        </a:rPr>
                        <a:t>64 GB – 1,280 GB DDR5</a:t>
                      </a: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3368546763"/>
                  </a:ext>
                </a:extLst>
              </a:tr>
              <a:tr h="0">
                <a:tc>
                  <a:txBody>
                    <a:bodyPr/>
                    <a:lstStyle/>
                    <a:p>
                      <a:pPr fontAlgn="ctr">
                        <a:buNone/>
                      </a:pPr>
                      <a:r>
                        <a:rPr lang="en-US" sz="1000" b="1" i="0" dirty="0">
                          <a:effectLst/>
                          <a:latin typeface="+mj-lt"/>
                        </a:rPr>
                        <a:t>Network</a:t>
                      </a:r>
                      <a:endParaRPr lang="en-US" sz="1000" b="0" i="0" dirty="0">
                        <a:effectLst/>
                        <a:latin typeface="+mj-lt"/>
                      </a:endParaRP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1000" b="0" i="0">
                          <a:effectLst/>
                          <a:latin typeface="+mj-lt"/>
                        </a:rPr>
                        <a:t>Up to 200,000 Mbps (200 Gbps) Azure Accelerated Networking</a:t>
                      </a: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2104349730"/>
                  </a:ext>
                </a:extLst>
              </a:tr>
              <a:tr h="0">
                <a:tc>
                  <a:txBody>
                    <a:bodyPr/>
                    <a:lstStyle/>
                    <a:p>
                      <a:pPr fontAlgn="ctr">
                        <a:buNone/>
                      </a:pPr>
                      <a:r>
                        <a:rPr lang="en-US" sz="1000" b="1" i="0">
                          <a:effectLst/>
                          <a:latin typeface="+mj-lt"/>
                        </a:rPr>
                        <a:t>Storage</a:t>
                      </a:r>
                      <a:endParaRPr lang="en-US" sz="1000" b="0" i="0">
                        <a:effectLst/>
                        <a:latin typeface="+mj-lt"/>
                      </a:endParaRP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1000" b="0" i="0" dirty="0">
                          <a:effectLst/>
                          <a:latin typeface="+mj-lt"/>
                        </a:rPr>
                        <a:t>Up to 2TB local temp storage; Support for Premium SSD v2 &amp; Ultra Disk</a:t>
                      </a:r>
                    </a:p>
                  </a:txBody>
                  <a:tcPr marL="47625" marR="47625" marT="47625" marB="47625" anchor="ctr">
                    <a:lnL w="9525" cap="flat" cmpd="sng" algn="ctr">
                      <a:solidFill>
                        <a:srgbClr val="707070"/>
                      </a:solidFill>
                      <a:prstDash val="solid"/>
                      <a:round/>
                      <a:headEnd type="none" w="med" len="med"/>
                      <a:tailEnd type="none" w="med" len="med"/>
                    </a:lnL>
                    <a:lnR w="9525" cap="flat" cmpd="sng" algn="ctr">
                      <a:solidFill>
                        <a:srgbClr val="707070"/>
                      </a:solidFill>
                      <a:prstDash val="solid"/>
                      <a:round/>
                      <a:headEnd type="none" w="med" len="med"/>
                      <a:tailEnd type="none" w="med" len="med"/>
                    </a:lnR>
                    <a:lnT w="9525" cap="flat" cmpd="sng" algn="ctr">
                      <a:solidFill>
                        <a:srgbClr val="707070"/>
                      </a:solidFill>
                      <a:prstDash val="solid"/>
                      <a:round/>
                      <a:headEnd type="none" w="med" len="med"/>
                      <a:tailEnd type="none" w="med" len="med"/>
                    </a:lnT>
                    <a:lnB w="9525"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4182142855"/>
                  </a:ext>
                </a:extLst>
              </a:tr>
            </a:tbl>
          </a:graphicData>
        </a:graphic>
      </p:graphicFrame>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a:xfrm>
            <a:off x="342900" y="855080"/>
            <a:ext cx="3955312" cy="2102865"/>
          </a:xfrm>
        </p:spPr>
        <p:txBody>
          <a:bodyPr/>
          <a:lstStyle/>
          <a:p>
            <a:pPr algn="just"/>
            <a:r>
              <a:rPr lang="en-US" dirty="0">
                <a:hlinkClick r:id="rId2"/>
              </a:rPr>
              <a:t>Public Preview: Azure Logic Apps Connectors as MCP Tools in Microsoft Foundry</a:t>
            </a:r>
            <a:endParaRPr lang="en-US" dirty="0"/>
          </a:p>
          <a:p>
            <a:pPr algn="just"/>
            <a:r>
              <a:rPr lang="en-US" dirty="0"/>
              <a:t>This unlocks a seamless way for developers to give agents secure, governed access to the systems they rely on—without writing boilerplate authentication code or managing API plumbing.</a:t>
            </a:r>
          </a:p>
          <a:p>
            <a:pPr algn="just"/>
            <a:r>
              <a:rPr lang="en-US" dirty="0"/>
              <a:t>With this feature, agents can now use any Logic Apps connector—</a:t>
            </a:r>
            <a:r>
              <a:rPr lang="en-US" b="1" dirty="0"/>
              <a:t>including SAP, ServiceNow, Dynamics, Salesforce, SQL, GitHub, and hundreds more—as a first-class MCP tool inside Foundry</a:t>
            </a:r>
            <a:r>
              <a:rPr lang="en-US" dirty="0"/>
              <a:t>. This builds on our recent Public Preview of Logic Apps MCP Servers, which enable both connectors and workflows to be exposed as MCP tools.</a:t>
            </a:r>
          </a:p>
        </p:txBody>
      </p:sp>
      <p:sp>
        <p:nvSpPr>
          <p:cNvPr id="2" name="Text Placeholder 13">
            <a:extLst>
              <a:ext uri="{FF2B5EF4-FFF2-40B4-BE49-F238E27FC236}">
                <a16:creationId xmlns:a16="http://schemas.microsoft.com/office/drawing/2014/main" id="{9AC89A86-0455-61DD-7A55-DACDA81B83B1}"/>
              </a:ext>
            </a:extLst>
          </p:cNvPr>
          <p:cNvSpPr txBox="1">
            <a:spLocks/>
          </p:cNvSpPr>
          <p:nvPr/>
        </p:nvSpPr>
        <p:spPr>
          <a:xfrm>
            <a:off x="4644736" y="855080"/>
            <a:ext cx="3955312" cy="3128102"/>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Azure Local 22H2 Clusters: End of Service and Feature Degradation</a:t>
            </a:r>
            <a:endParaRPr lang="en-US" dirty="0"/>
          </a:p>
          <a:p>
            <a:pPr algn="just"/>
            <a:r>
              <a:rPr lang="en-US" dirty="0"/>
              <a:t>Azure Local (formerly Azure Stack HCI) version 22H2 reached End of Service (EOS) on May 31, 2025. As communicated earlier, this means:</a:t>
            </a:r>
          </a:p>
          <a:p>
            <a:pPr marL="171450" indent="-171450" algn="just">
              <a:buFont typeface="Arial" panose="020B0604020202020204" pitchFamily="34" charset="0"/>
              <a:buChar char="•"/>
            </a:pPr>
            <a:r>
              <a:rPr lang="en-US" dirty="0"/>
              <a:t>No further security updates or bug fixes will be provided.</a:t>
            </a:r>
          </a:p>
          <a:p>
            <a:pPr marL="171450" indent="-171450" algn="just">
              <a:buFont typeface="Arial" panose="020B0604020202020204" pitchFamily="34" charset="0"/>
              <a:buChar char="•"/>
            </a:pPr>
            <a:r>
              <a:rPr lang="en-US" dirty="0"/>
              <a:t>CSS support is limited to upgrade assistance of the existing environment only.</a:t>
            </a:r>
          </a:p>
          <a:p>
            <a:pPr algn="just"/>
            <a:r>
              <a:rPr lang="en-US" dirty="0"/>
              <a:t>Around </a:t>
            </a:r>
            <a:r>
              <a:rPr lang="en-US" b="1" dirty="0"/>
              <a:t>February 23, 2026</a:t>
            </a:r>
            <a:r>
              <a:rPr lang="en-US" dirty="0"/>
              <a:t>, Microsoft will begin </a:t>
            </a:r>
            <a:r>
              <a:rPr lang="en-US" b="1" dirty="0"/>
              <a:t>degrading features on 22H2 clusters. </a:t>
            </a:r>
            <a:r>
              <a:rPr lang="en-US" dirty="0"/>
              <a:t>These changes align with Microsoft’s </a:t>
            </a:r>
            <a:r>
              <a:rPr lang="en-US" dirty="0">
                <a:hlinkClick r:id="rId4"/>
              </a:rPr>
              <a:t>Modern Lifecycle Policy</a:t>
            </a:r>
            <a:r>
              <a:rPr lang="en-US" dirty="0"/>
              <a:t>, which requires customers to stay current with servicing and system requirements to maintain support. Under this policy, failure to upgrade can lead to significant degradation of product functionality, starting with:</a:t>
            </a:r>
          </a:p>
          <a:p>
            <a:pPr marL="171450" indent="-171450" algn="just">
              <a:buFont typeface="Arial" panose="020B0604020202020204" pitchFamily="34" charset="0"/>
              <a:buChar char="•"/>
            </a:pPr>
            <a:r>
              <a:rPr lang="en-US" b="1" dirty="0"/>
              <a:t>Disabling ESU</a:t>
            </a:r>
            <a:r>
              <a:rPr lang="en-US" dirty="0"/>
              <a:t>: Extended Security Updates will no longer be available.</a:t>
            </a:r>
          </a:p>
          <a:p>
            <a:pPr marL="171450" indent="-171450" algn="just">
              <a:buFont typeface="Arial" panose="020B0604020202020204" pitchFamily="34" charset="0"/>
              <a:buChar char="•"/>
            </a:pPr>
            <a:r>
              <a:rPr lang="en-US" b="1" dirty="0"/>
              <a:t>Disabling WSS</a:t>
            </a:r>
            <a:r>
              <a:rPr lang="en-US" dirty="0"/>
              <a:t>: Windows Server Subscription benefits will be removed.</a:t>
            </a:r>
          </a:p>
          <a:p>
            <a:pPr algn="just"/>
            <a:endParaRPr lang="en-US"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a:xfrm>
            <a:off x="342900" y="855080"/>
            <a:ext cx="3955312" cy="1901975"/>
          </a:xfrm>
        </p:spPr>
        <p:txBody>
          <a:bodyPr/>
          <a:lstStyle/>
          <a:p>
            <a:pPr algn="just"/>
            <a:r>
              <a:rPr lang="en-US" dirty="0">
                <a:hlinkClick r:id="rId2"/>
              </a:rPr>
              <a:t>Generally Available: Azure File Sync in New Zealand North</a:t>
            </a:r>
            <a:endParaRPr lang="en-US" dirty="0"/>
          </a:p>
          <a:p>
            <a:pPr algn="just"/>
            <a:r>
              <a:rPr lang="en-US" dirty="0"/>
              <a:t>Azure File Sync enables seamless tiering of data from on-premises Windows Servers to Azure Files for hybrid use cases and simplified migration. It also enables you to leverage the performance, flexibility and compatibility of your on-premises File Server while leveraging the scale and cost effectiveness of Azure Files.</a:t>
            </a:r>
          </a:p>
          <a:p>
            <a:pPr algn="just"/>
            <a:r>
              <a:rPr lang="en-US" dirty="0"/>
              <a:t>The expansion into New Zealand North brings the service closer to organizations in these regions, offering lower latency, better performance, and support for local data residency requirements.</a:t>
            </a:r>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pPr algn="just"/>
            <a:r>
              <a:rPr lang="en-US" sz="1000" dirty="0">
                <a:hlinkClick r:id="rId2"/>
              </a:rPr>
              <a:t>Generally Available: Azure MCP Server for Azure Database for MySQL</a:t>
            </a:r>
            <a:endParaRPr lang="en-US" sz="1000" dirty="0"/>
          </a:p>
          <a:p>
            <a:pPr algn="just"/>
            <a:r>
              <a:rPr lang="en-US" sz="1000" dirty="0"/>
              <a:t>Azure MCP Server now integrates natively with </a:t>
            </a:r>
            <a:r>
              <a:rPr lang="en-US" sz="1000" b="1" dirty="0"/>
              <a:t>Azure Database for MySQL</a:t>
            </a:r>
            <a:r>
              <a:rPr lang="en-US" sz="1000" dirty="0"/>
              <a:t>, enabling AI agents and applications to interact with MySQL data through natural language using the </a:t>
            </a:r>
            <a:r>
              <a:rPr lang="en-US" sz="1000" b="1" dirty="0"/>
              <a:t>Model Context Protocol (MCP)</a:t>
            </a:r>
            <a:r>
              <a:rPr lang="en-US" sz="1000" dirty="0"/>
              <a:t>.</a:t>
            </a:r>
          </a:p>
          <a:p>
            <a:pPr algn="just"/>
            <a:r>
              <a:rPr lang="en-US" sz="1000" dirty="0"/>
              <a:t>With this capability, developers can ask questions like:</a:t>
            </a:r>
          </a:p>
          <a:p>
            <a:pPr marL="171450" indent="-171450" algn="just">
              <a:buFont typeface="Arial" panose="020B0604020202020204" pitchFamily="34" charset="0"/>
              <a:buChar char="•"/>
            </a:pPr>
            <a:r>
              <a:rPr lang="en-US" sz="1000" dirty="0"/>
              <a:t>“Retrieve schema details for the </a:t>
            </a:r>
            <a:r>
              <a:rPr lang="en-US" sz="1000" i="1" dirty="0"/>
              <a:t>customers</a:t>
            </a:r>
            <a:r>
              <a:rPr lang="en-US" sz="1000" dirty="0"/>
              <a:t> table.”</a:t>
            </a:r>
          </a:p>
          <a:p>
            <a:pPr marL="171450" indent="-171450" algn="just">
              <a:buFont typeface="Arial" panose="020B0604020202020204" pitchFamily="34" charset="0"/>
              <a:buChar char="•"/>
            </a:pPr>
            <a:r>
              <a:rPr lang="en-US" sz="1000" dirty="0"/>
              <a:t>“Show the last 7 days of failed orders.”</a:t>
            </a:r>
          </a:p>
          <a:p>
            <a:pPr marL="171450" indent="-171450" algn="just">
              <a:buFont typeface="Arial" panose="020B0604020202020204" pitchFamily="34" charset="0"/>
              <a:buChar char="•"/>
            </a:pPr>
            <a:r>
              <a:rPr lang="en-US" sz="1000" dirty="0"/>
              <a:t>“Summarize anomalies by region.”</a:t>
            </a:r>
          </a:p>
          <a:p>
            <a:pPr algn="just"/>
            <a:r>
              <a:rPr lang="en-US" sz="1000" dirty="0"/>
              <a:t>All interactions use </a:t>
            </a:r>
            <a:r>
              <a:rPr lang="en-US" sz="1000" b="1" dirty="0"/>
              <a:t>Microsoft Entra authentication</a:t>
            </a:r>
            <a:r>
              <a:rPr lang="en-US" sz="1000" dirty="0"/>
              <a:t>, removing the need for password management and providing enterprise-grade security.</a:t>
            </a:r>
          </a:p>
          <a:p>
            <a:pPr algn="just"/>
            <a:r>
              <a:rPr lang="en-US" sz="1000" dirty="0"/>
              <a:t>By adding MySQL to the existing Azure MCP Server ecosystem—which already includes Azure AI Search, Azure Cosmos DB, Azure Storage, and more—organizations gain:</a:t>
            </a:r>
          </a:p>
          <a:p>
            <a:pPr marL="171450" indent="-171450" algn="just">
              <a:buFont typeface="Arial" panose="020B0604020202020204" pitchFamily="34" charset="0"/>
              <a:buChar char="•"/>
            </a:pPr>
            <a:r>
              <a:rPr lang="en-US" sz="1000" dirty="0"/>
              <a:t>A </a:t>
            </a:r>
            <a:r>
              <a:rPr lang="en-US" sz="1000" b="1" dirty="0"/>
              <a:t>unified interface</a:t>
            </a:r>
            <a:r>
              <a:rPr lang="en-US" sz="1000" dirty="0"/>
              <a:t> for agentic, context-aware workflows</a:t>
            </a:r>
          </a:p>
          <a:p>
            <a:pPr marL="171450" indent="-171450" algn="just">
              <a:buFont typeface="Arial" panose="020B0604020202020204" pitchFamily="34" charset="0"/>
              <a:buChar char="•"/>
            </a:pPr>
            <a:r>
              <a:rPr lang="en-US" sz="1000" b="1" dirty="0"/>
              <a:t>Simplified integration</a:t>
            </a:r>
            <a:r>
              <a:rPr lang="en-US" sz="1000" dirty="0"/>
              <a:t> and reduced development overhead</a:t>
            </a:r>
          </a:p>
          <a:p>
            <a:pPr marL="171450" indent="-171450" algn="just">
              <a:buFont typeface="Arial" panose="020B0604020202020204" pitchFamily="34" charset="0"/>
              <a:buChar char="•"/>
            </a:pPr>
            <a:r>
              <a:rPr lang="en-US" sz="1000" dirty="0"/>
              <a:t>Faster schema exploration and MySQL-driven insights</a:t>
            </a:r>
          </a:p>
          <a:p>
            <a:pPr marL="171450" indent="-171450" algn="just">
              <a:buFont typeface="Arial" panose="020B0604020202020204" pitchFamily="34" charset="0"/>
              <a:buChar char="•"/>
            </a:pPr>
            <a:r>
              <a:rPr lang="en-US" sz="1000" dirty="0"/>
              <a:t>The ability to automate MySQL business logic directly from familiar tools</a:t>
            </a:r>
          </a:p>
          <a:p>
            <a:pPr algn="just"/>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a:xfrm>
            <a:off x="342900" y="855080"/>
            <a:ext cx="3955312" cy="1209247"/>
          </a:xfrm>
        </p:spPr>
        <p:txBody>
          <a:bodyPr/>
          <a:lstStyle/>
          <a:p>
            <a:pPr algn="just"/>
            <a:r>
              <a:rPr lang="en-US" dirty="0">
                <a:hlinkClick r:id="rId3"/>
              </a:rPr>
              <a:t>Generally Available: Regex support in T-SQL</a:t>
            </a:r>
            <a:endParaRPr lang="en-US" dirty="0"/>
          </a:p>
          <a:p>
            <a:pPr algn="just"/>
            <a:r>
              <a:rPr lang="en-US" dirty="0"/>
              <a:t>Azure SQL and SQL Server 2025 now support native regular expressions (regex) in T-SQL, enabling advanced pattern matching directly within queries. This enhancement simplifies code, improves maintainability, and removes the need for external processing or custom scripts—making complex data validation, extraction, and text processing easier and more efficient.</a:t>
            </a:r>
          </a:p>
          <a:p>
            <a:pPr algn="just"/>
            <a:endParaRPr lang="en-US" dirty="0"/>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78F22-A9E3-2B6E-58E1-F0D0E1E104E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0409C6D-0E1D-A764-A4B4-2D3FADB4EE0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A1E796A-EE79-410E-046D-1D63E445E96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ED4F9DC-B482-0291-E516-FC62C0D1927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C3960749-A6C0-6C05-2CF4-B9E16BFA36F2}"/>
              </a:ext>
            </a:extLst>
          </p:cNvPr>
          <p:cNvSpPr>
            <a:spLocks noGrp="1"/>
          </p:cNvSpPr>
          <p:nvPr>
            <p:ph type="body" sz="quarter" idx="16"/>
          </p:nvPr>
        </p:nvSpPr>
        <p:spPr>
          <a:xfrm>
            <a:off x="342900" y="778880"/>
            <a:ext cx="3955312" cy="3774069"/>
          </a:xfrm>
        </p:spPr>
        <p:txBody>
          <a:bodyPr/>
          <a:lstStyle/>
          <a:p>
            <a:pPr algn="just"/>
            <a:r>
              <a:rPr lang="en-US" dirty="0">
                <a:hlinkClick r:id="rId2"/>
              </a:rPr>
              <a:t>Generally Available: Model Context Protocol support in Azure API Management and Azure API </a:t>
            </a:r>
            <a:r>
              <a:rPr lang="en-US" dirty="0" err="1">
                <a:hlinkClick r:id="rId2"/>
              </a:rPr>
              <a:t>Centera</a:t>
            </a:r>
            <a:endParaRPr lang="en-US" dirty="0"/>
          </a:p>
          <a:p>
            <a:pPr algn="just"/>
            <a:r>
              <a:rPr lang="en-US" dirty="0"/>
              <a:t>Announcing the public preview of Model Context Protocol (MCP) support in Azure API Management and Azure API Center. With this new capability, enterprises can transform their existing APIs into dynamic, agent-ready tools, while improving security and simplifying management.  </a:t>
            </a:r>
          </a:p>
          <a:p>
            <a:pPr marL="171450" indent="-171450" algn="just">
              <a:buFont typeface="Arial" panose="020B0604020202020204" pitchFamily="34" charset="0"/>
              <a:buChar char="•"/>
            </a:pPr>
            <a:r>
              <a:rPr lang="en-US" dirty="0"/>
              <a:t>Enhanced Security for MCP Servers:  </a:t>
            </a:r>
          </a:p>
          <a:p>
            <a:pPr marL="514350" lvl="1" indent="-171450" algn="just">
              <a:buFont typeface="Arial" panose="020B0604020202020204" pitchFamily="34" charset="0"/>
              <a:buChar char="•"/>
            </a:pPr>
            <a:r>
              <a:rPr lang="en-US" sz="1000" dirty="0">
                <a:latin typeface="+mj-lt"/>
              </a:rPr>
              <a:t>Apply gateway policies to protect MCP servers by enforcing authentication, authorization, rate limiting, and other security measures.  </a:t>
            </a:r>
          </a:p>
          <a:p>
            <a:pPr marL="171450" indent="-171450" algn="just">
              <a:buFont typeface="Arial" panose="020B0604020202020204" pitchFamily="34" charset="0"/>
              <a:buChar char="•"/>
            </a:pPr>
            <a:r>
              <a:rPr lang="en-US" dirty="0"/>
              <a:t>Transform Existing APIs into MCP Servers:  </a:t>
            </a:r>
          </a:p>
          <a:p>
            <a:pPr marL="514350" lvl="1" indent="-171450" algn="just">
              <a:buFont typeface="Arial" panose="020B0604020202020204" pitchFamily="34" charset="0"/>
              <a:buChar char="•"/>
            </a:pPr>
            <a:r>
              <a:rPr lang="en-US" sz="1000" dirty="0">
                <a:latin typeface="+mj-lt"/>
              </a:rPr>
              <a:t>Easily expose any APIM-managed API as an MCP server, transforming your existing APIs into dynamic, agent-ready tools with minimal effort.  </a:t>
            </a:r>
          </a:p>
          <a:p>
            <a:pPr marL="171450" indent="-171450" algn="just">
              <a:buFont typeface="Arial" panose="020B0604020202020204" pitchFamily="34" charset="0"/>
              <a:buChar char="•"/>
            </a:pPr>
            <a:r>
              <a:rPr lang="en-US" dirty="0"/>
              <a:t>Private MCP Registry for Enterprise Organizations:  </a:t>
            </a:r>
          </a:p>
          <a:p>
            <a:pPr marL="514350" lvl="1" indent="-171450" algn="just">
              <a:buFont typeface="Arial" panose="020B0604020202020204" pitchFamily="34" charset="0"/>
              <a:buChar char="•"/>
            </a:pPr>
            <a:r>
              <a:rPr lang="en-US" sz="1000" dirty="0">
                <a:latin typeface="+mj-lt"/>
              </a:rPr>
              <a:t>Use Azure API Center as a private remote MCP registry for your organization, giving you full control over what services are exposed.  </a:t>
            </a:r>
          </a:p>
          <a:p>
            <a:pPr marL="171450" indent="-171450" algn="just">
              <a:buFont typeface="Arial" panose="020B0604020202020204" pitchFamily="34" charset="0"/>
              <a:buChar char="•"/>
            </a:pPr>
            <a:r>
              <a:rPr lang="en-US" dirty="0"/>
              <a:t>Streamlined MCP Discovery and Consumption:  </a:t>
            </a:r>
          </a:p>
          <a:p>
            <a:pPr marL="514350" lvl="1" indent="-171450" algn="just">
              <a:buFont typeface="Arial" panose="020B0604020202020204" pitchFamily="34" charset="0"/>
              <a:buChar char="•"/>
            </a:pPr>
            <a:r>
              <a:rPr lang="en-US" sz="1000" dirty="0">
                <a:latin typeface="+mj-lt"/>
              </a:rPr>
              <a:t>Expose APIs as MCP servers in Azure API Center (APIC) for a better developer experience and smoother API consumption.  </a:t>
            </a:r>
          </a:p>
          <a:p>
            <a:pPr algn="just"/>
            <a:endParaRPr lang="en-US" dirty="0"/>
          </a:p>
        </p:txBody>
      </p:sp>
    </p:spTree>
    <p:extLst>
      <p:ext uri="{BB962C8B-B14F-4D97-AF65-F5344CB8AC3E}">
        <p14:creationId xmlns:p14="http://schemas.microsoft.com/office/powerpoint/2010/main" val="58293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AI Foundry Agent Service Connector v2 (Preview)</a:t>
            </a:r>
            <a:endParaRPr lang="en-US" dirty="0"/>
          </a:p>
          <a:p>
            <a:pPr algn="just"/>
            <a:r>
              <a:rPr lang="en-US" dirty="0"/>
              <a:t>MS introduced major enhancements to the </a:t>
            </a:r>
            <a:r>
              <a:rPr lang="en-US" b="1" dirty="0"/>
              <a:t>AI Foundry Agent Service connector</a:t>
            </a:r>
            <a:r>
              <a:rPr lang="en-US" dirty="0"/>
              <a:t> for Azure Logic Apps, enabling seamless integration with the latest AI Foundry Agent API. These improvements provide secure, governed connectivity, accelerate deployment through low-code workflows, and scale reliably across global environments. With this update, enterprises can embed advanced AI directly into their business processes </a:t>
            </a:r>
            <a:r>
              <a:rPr lang="en-US" i="1" dirty="0"/>
              <a:t>without custom code</a:t>
            </a:r>
            <a:r>
              <a:rPr lang="en-US" dirty="0"/>
              <a:t>, reducing integration complexity and speeding time-to-value.</a:t>
            </a:r>
          </a:p>
          <a:p>
            <a:pPr algn="just"/>
            <a:r>
              <a:rPr lang="en-US" dirty="0"/>
              <a:t>The new capabilities unlock several high-impact use cases:</a:t>
            </a:r>
          </a:p>
          <a:p>
            <a:pPr marL="171450" indent="-171450" algn="just">
              <a:buFont typeface="Arial" panose="020B0604020202020204" pitchFamily="34" charset="0"/>
              <a:buChar char="•"/>
            </a:pPr>
            <a:r>
              <a:rPr lang="en-US" b="1" dirty="0"/>
              <a:t>Event-driven AI workflows</a:t>
            </a:r>
            <a:r>
              <a:rPr lang="en-US" dirty="0"/>
              <a:t> — Leverage Logic Apps’ extensive connector library and triggers to subscribe to enterprise events and pass relevant content to a Foundry-hosted agent. </a:t>
            </a:r>
          </a:p>
          <a:p>
            <a:pPr marL="171450" indent="-171450" algn="just">
              <a:buFont typeface="Arial" panose="020B0604020202020204" pitchFamily="34" charset="0"/>
              <a:buChar char="•"/>
            </a:pPr>
            <a:r>
              <a:rPr lang="en-US" b="1" dirty="0"/>
              <a:t>Intelligent email automation</a:t>
            </a:r>
            <a:r>
              <a:rPr lang="en-US" dirty="0"/>
              <a:t> — Logic Apps can poll mailboxes for new messages that meet specified criteria, retrieve the message body and attachments, and hand them off to the Foundry agent for classification, summarization, routing, or other AI-driven actions.</a:t>
            </a:r>
          </a:p>
          <a:p>
            <a:pPr marL="171450" indent="-171450" algn="just">
              <a:buFont typeface="Arial" panose="020B0604020202020204" pitchFamily="34" charset="0"/>
              <a:buChar char="•"/>
            </a:pPr>
            <a:r>
              <a:rPr lang="en-US" b="1" dirty="0"/>
              <a:t>Multi-agent, agentic business processes</a:t>
            </a:r>
            <a:r>
              <a:rPr lang="en-US" dirty="0"/>
              <a:t> — Combine Logic Apps with </a:t>
            </a:r>
            <a:r>
              <a:rPr lang="en-US" b="1" dirty="0"/>
              <a:t>Agent Loop</a:t>
            </a:r>
            <a:r>
              <a:rPr lang="en-US" dirty="0"/>
              <a:t> and Foundry agents to build coordinated, multi-agent workflows where Logic Apps acts as both an orchestrator and participant in the broader agent ecosystem.</a:t>
            </a:r>
          </a:p>
          <a:p>
            <a:pPr algn="just"/>
            <a:endParaRPr lang="en-US" dirty="0"/>
          </a:p>
        </p:txBody>
      </p:sp>
      <p:sp>
        <p:nvSpPr>
          <p:cNvPr id="2" name="Text Placeholder 13">
            <a:extLst>
              <a:ext uri="{FF2B5EF4-FFF2-40B4-BE49-F238E27FC236}">
                <a16:creationId xmlns:a16="http://schemas.microsoft.com/office/drawing/2014/main" id="{0B331A00-CF62-F468-BCCC-F6840B7358F5}"/>
              </a:ext>
            </a:extLst>
          </p:cNvPr>
          <p:cNvSpPr txBox="1">
            <a:spLocks/>
          </p:cNvSpPr>
          <p:nvPr/>
        </p:nvSpPr>
        <p:spPr>
          <a:xfrm>
            <a:off x="4570857"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Public Preview: Claude Opus 4.5 Available in Microsoft Foundry</a:t>
            </a:r>
            <a:endParaRPr lang="en-US" dirty="0"/>
          </a:p>
          <a:p>
            <a:pPr algn="just"/>
            <a:r>
              <a:rPr lang="en-US" dirty="0"/>
              <a:t>Claude </a:t>
            </a:r>
            <a:r>
              <a:rPr lang="en-US" b="1" dirty="0"/>
              <a:t>Opus 4.5</a:t>
            </a:r>
            <a:r>
              <a:rPr lang="en-US" dirty="0"/>
              <a:t> is now available in public preview on </a:t>
            </a:r>
            <a:r>
              <a:rPr lang="en-US" b="1" dirty="0"/>
              <a:t>Microsoft Foundry</a:t>
            </a:r>
            <a:r>
              <a:rPr lang="en-US" dirty="0"/>
              <a:t>, delivering next-generation intelligence for advanced coding, agentic workflows, and enterprise productivity. This latest frontier-class model offers major improvements in reasoning, accuracy, and versatility—surpassing previous Claude releases while providing a more accessible price point.</a:t>
            </a:r>
          </a:p>
          <a:p>
            <a:pPr algn="just"/>
            <a:r>
              <a:rPr lang="en-US" dirty="0"/>
              <a:t>Fully integrated with </a:t>
            </a:r>
            <a:r>
              <a:rPr lang="en-US" b="1" dirty="0"/>
              <a:t>Foundry Models, Playground, and Agent Service</a:t>
            </a:r>
            <a:r>
              <a:rPr lang="en-US" dirty="0"/>
              <a:t>, Opus 4.5 enables organizations to build and scale secure AI solutions across scenarios such as:</a:t>
            </a:r>
          </a:p>
          <a:p>
            <a:pPr marL="171450" indent="-171450" algn="just">
              <a:buFont typeface="Arial" panose="020B0604020202020204" pitchFamily="34" charset="0"/>
              <a:buChar char="•"/>
            </a:pPr>
            <a:r>
              <a:rPr lang="en-US" dirty="0"/>
              <a:t>Software development and code generation</a:t>
            </a:r>
          </a:p>
          <a:p>
            <a:pPr marL="171450" indent="-171450" algn="just">
              <a:buFont typeface="Arial" panose="020B0604020202020204" pitchFamily="34" charset="0"/>
              <a:buChar char="•"/>
            </a:pPr>
            <a:r>
              <a:rPr lang="en-US" dirty="0"/>
              <a:t>Enterprise analytics and financial modelling</a:t>
            </a:r>
          </a:p>
          <a:p>
            <a:pPr marL="171450" indent="-171450" algn="just">
              <a:buFont typeface="Arial" panose="020B0604020202020204" pitchFamily="34" charset="0"/>
              <a:buChar char="•"/>
            </a:pPr>
            <a:r>
              <a:rPr lang="en-US" dirty="0"/>
              <a:t>Cybersecurity workflows and threat analysis</a:t>
            </a:r>
          </a:p>
          <a:p>
            <a:pPr marL="171450" indent="-171450" algn="just">
              <a:buFont typeface="Arial" panose="020B0604020202020204" pitchFamily="34" charset="0"/>
              <a:buChar char="•"/>
            </a:pPr>
            <a:r>
              <a:rPr lang="en-US" dirty="0"/>
              <a:t>Complex, multi-step agentic automation</a:t>
            </a:r>
          </a:p>
          <a:p>
            <a:pPr algn="just"/>
            <a:r>
              <a:rPr lang="en-US" dirty="0"/>
              <a:t>Running on Azure, the model benefits from </a:t>
            </a:r>
            <a:r>
              <a:rPr lang="en-US" b="1" dirty="0"/>
              <a:t>enterprise-grade security, compliance, and reliability</a:t>
            </a:r>
            <a:r>
              <a:rPr lang="en-US" dirty="0"/>
              <a:t>.</a:t>
            </a:r>
          </a:p>
          <a:p>
            <a:pPr algn="just"/>
            <a:r>
              <a:rPr lang="en-US" b="1" dirty="0"/>
              <a:t>Pricing:</a:t>
            </a:r>
            <a:endParaRPr lang="en-US" dirty="0"/>
          </a:p>
          <a:p>
            <a:pPr marL="171450" indent="-171450" algn="just">
              <a:buFont typeface="Arial" panose="020B0604020202020204" pitchFamily="34" charset="0"/>
              <a:buChar char="•"/>
            </a:pPr>
            <a:r>
              <a:rPr lang="en-US" b="1" dirty="0"/>
              <a:t>$5</a:t>
            </a:r>
            <a:r>
              <a:rPr lang="en-US" dirty="0"/>
              <a:t> per million input tokens</a:t>
            </a:r>
          </a:p>
          <a:p>
            <a:pPr marL="171450" indent="-171450" algn="just">
              <a:buFont typeface="Arial" panose="020B0604020202020204" pitchFamily="34" charset="0"/>
              <a:buChar char="•"/>
            </a:pPr>
            <a:r>
              <a:rPr lang="en-US" b="1" dirty="0"/>
              <a:t>$25</a:t>
            </a:r>
            <a:r>
              <a:rPr lang="en-US" dirty="0"/>
              <a:t> per million output tokens</a:t>
            </a:r>
          </a:p>
          <a:p>
            <a:pPr algn="just"/>
            <a:r>
              <a:rPr lang="en-US" b="1" dirty="0"/>
              <a:t>Regions:</a:t>
            </a:r>
            <a:r>
              <a:rPr lang="en-US" dirty="0"/>
              <a:t> Available now in </a:t>
            </a:r>
            <a:r>
              <a:rPr lang="en-US" b="1" dirty="0"/>
              <a:t>East US 2</a:t>
            </a:r>
            <a:r>
              <a:rPr lang="en-US" dirty="0"/>
              <a:t> and </a:t>
            </a:r>
            <a:r>
              <a:rPr lang="en-US" b="1" dirty="0"/>
              <a:t>Sweden Central</a:t>
            </a:r>
            <a:r>
              <a:rPr lang="en-US" dirty="0"/>
              <a:t>.</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10" end="1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E166B-5F98-EE8E-5B62-AEAB3F55337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6AAAE0B-0E99-B9BA-C719-42AF0D574738}"/>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E12F1E69-46C9-B918-9382-5DFF0FC578B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B295C0-8FE1-D74E-47AD-C2C789F6372C}"/>
              </a:ext>
            </a:extLst>
          </p:cNvPr>
          <p:cNvSpPr>
            <a:spLocks noGrp="1"/>
          </p:cNvSpPr>
          <p:nvPr>
            <p:ph type="body" sz="quarter" idx="16"/>
          </p:nvPr>
        </p:nvSpPr>
        <p:spPr>
          <a:xfrm>
            <a:off x="342900" y="855080"/>
            <a:ext cx="3955312" cy="2109793"/>
          </a:xfrm>
        </p:spPr>
        <p:txBody>
          <a:bodyPr/>
          <a:lstStyle/>
          <a:p>
            <a:pPr algn="just"/>
            <a:r>
              <a:rPr lang="en-US" dirty="0">
                <a:hlinkClick r:id="rId2"/>
              </a:rPr>
              <a:t>Generally Available: Azure Load Testing in Italy North</a:t>
            </a:r>
            <a:endParaRPr lang="en-US" dirty="0"/>
          </a:p>
          <a:p>
            <a:pPr algn="just"/>
            <a:r>
              <a:rPr lang="en-US" dirty="0"/>
              <a:t>Azure Load Testing capability in Azure App Testing is now generally available in Italy North.</a:t>
            </a:r>
          </a:p>
          <a:p>
            <a:pPr algn="just"/>
            <a:r>
              <a:rPr lang="en-US" dirty="0"/>
              <a:t>Customers can now use Azure Load Testing, a fully managed load-testing service to generate high scale load and run simulations, easily identify performance bottlenecks through a rich dashboard of client-side and server-side metrics, get AI powered actionable insights, and integrate load tests into their CI/CD workflows.</a:t>
            </a:r>
          </a:p>
          <a:p>
            <a:pPr algn="just"/>
            <a:r>
              <a:rPr lang="en-US" dirty="0"/>
              <a:t>Customers can get started without any knowledge of load-testing tools, or use their existing Apache JMeter or Locust scripts.</a:t>
            </a:r>
          </a:p>
          <a:p>
            <a:pPr algn="just"/>
            <a:endParaRPr lang="en-US" dirty="0"/>
          </a:p>
        </p:txBody>
      </p:sp>
    </p:spTree>
    <p:extLst>
      <p:ext uri="{BB962C8B-B14F-4D97-AF65-F5344CB8AC3E}">
        <p14:creationId xmlns:p14="http://schemas.microsoft.com/office/powerpoint/2010/main" val="135991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Miscellaneous</a:t>
            </a:r>
          </a:p>
        </p:txBody>
      </p:sp>
    </p:spTree>
    <p:extLst>
      <p:ext uri="{BB962C8B-B14F-4D97-AF65-F5344CB8AC3E}">
        <p14:creationId xmlns:p14="http://schemas.microsoft.com/office/powerpoint/2010/main" val="1588418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Miscellaneous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0"/>
            <a:ext cx="8607136" cy="3774069"/>
          </a:xfrm>
        </p:spPr>
        <p:txBody>
          <a:bodyPr/>
          <a:lstStyle/>
          <a:p>
            <a:pPr marL="171450" indent="-171450">
              <a:buFont typeface="Arial" panose="020B0604020202020204" pitchFamily="34" charset="0"/>
              <a:buChar char="•"/>
            </a:pPr>
            <a:r>
              <a:rPr lang="en-US" b="1" dirty="0"/>
              <a:t>Architecting for resiliency on Azure Infrastructure – </a:t>
            </a:r>
            <a:r>
              <a:rPr lang="en-US" b="1" dirty="0">
                <a:hlinkClick r:id="rId2"/>
              </a:rPr>
              <a:t>https://ignite.microsoft.com/en-US/sessions/BRK178?source=sessions.</a:t>
            </a:r>
            <a:endParaRPr lang="en-US" b="1" dirty="0"/>
          </a:p>
          <a:p>
            <a:pPr marL="171450" indent="-171450">
              <a:buFont typeface="Arial" panose="020B0604020202020204" pitchFamily="34" charset="0"/>
              <a:buChar char="•"/>
            </a:pPr>
            <a:r>
              <a:rPr lang="en-US" b="1" dirty="0"/>
              <a:t>Architect resilient apps with Azure backup and reliability features – </a:t>
            </a:r>
            <a:r>
              <a:rPr lang="en-US" b="1" dirty="0">
                <a:hlinkClick r:id="rId3"/>
              </a:rPr>
              <a:t>https://ignite.microsoft.com/en-US/sessions/BRK148?source=sessions</a:t>
            </a:r>
            <a:endParaRPr lang="en-US" b="1" dirty="0"/>
          </a:p>
          <a:p>
            <a:pPr marL="171450" indent="-171450">
              <a:buFont typeface="Arial" panose="020B0604020202020204" pitchFamily="34" charset="0"/>
              <a:buChar char="•"/>
            </a:pPr>
            <a:r>
              <a:rPr lang="en-US" b="1" dirty="0"/>
              <a:t>Cloud Native Innovations with Mark Russinovich – </a:t>
            </a:r>
            <a:r>
              <a:rPr lang="en-US" b="1" dirty="0">
                <a:hlinkClick r:id="rId4"/>
              </a:rPr>
              <a:t>https://ignite.microsoft.com/en-US/sessions/BRK431?source=sessions</a:t>
            </a:r>
            <a:endParaRPr lang="en-US" b="1" dirty="0"/>
          </a:p>
          <a:p>
            <a:pPr marL="171450" indent="-171450">
              <a:buFont typeface="Arial" panose="020B0604020202020204" pitchFamily="34" charset="0"/>
              <a:buChar char="•"/>
            </a:pPr>
            <a:r>
              <a:rPr lang="en-US" b="1" dirty="0"/>
              <a:t>Inside Azure Innovations with Mark Russinovich - </a:t>
            </a:r>
            <a:r>
              <a:rPr lang="en-US" b="1" dirty="0">
                <a:hlinkClick r:id="rId5"/>
              </a:rPr>
              <a:t>https://www.youtube.com/watch?v=CmihM2eVtlQ</a:t>
            </a:r>
            <a:endParaRPr lang="en-US" b="1" dirty="0"/>
          </a:p>
          <a:p>
            <a:pPr marL="171450" indent="-171450">
              <a:buFont typeface="Arial" panose="020B0604020202020204" pitchFamily="34" charset="0"/>
              <a:buChar char="•"/>
            </a:pPr>
            <a:r>
              <a:rPr lang="en-US" b="1" dirty="0"/>
              <a:t>What’s new in Azure innovations - https://www.youtube.com/watch?v=mNKH7RfCbzg</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95402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2.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3.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5519</TotalTime>
  <Words>2044</Words>
  <Application>Microsoft Office PowerPoint</Application>
  <PresentationFormat>On-screen Show (16:9)</PresentationFormat>
  <Paragraphs>129</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Human Sans</vt:lpstr>
      <vt:lpstr>Human Sans Regular</vt:lpstr>
      <vt:lpstr>Continuum Theme</vt:lpstr>
      <vt:lpstr>Azure Times #186</vt:lpstr>
      <vt:lpstr>PowerPoint Presentation</vt:lpstr>
      <vt:lpstr>Networking Updates</vt:lpstr>
      <vt:lpstr>Networking Updates</vt:lpstr>
      <vt:lpstr>PowerPoint Presentation</vt:lpstr>
      <vt:lpstr>Security &amp; Identity Updates</vt:lpstr>
      <vt:lpstr>PowerPoint Presentation</vt:lpstr>
      <vt:lpstr>Compute Updates</vt:lpstr>
      <vt:lpstr>Compute Updates</vt:lpstr>
      <vt:lpstr>PowerPoint Presentation</vt:lpstr>
      <vt:lpstr>Storage &amp; Data Updates</vt:lpstr>
      <vt:lpstr>PowerPoint Presentation</vt:lpstr>
      <vt:lpstr>Databases Updates</vt:lpstr>
      <vt:lpstr>PowerPoint Presentation</vt:lpstr>
      <vt:lpstr>Integration Updates</vt:lpstr>
      <vt:lpstr>PowerPoint Presentation</vt:lpstr>
      <vt:lpstr>ML &amp; AI &amp; IOT Updates</vt:lpstr>
      <vt:lpstr>PowerPoint Presentation</vt:lpstr>
      <vt:lpstr>DevOps &amp; IaC &amp; Automation</vt:lpstr>
      <vt:lpstr>PowerPoint Presentation</vt:lpstr>
      <vt:lpstr>Miscellaneous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132</cp:revision>
  <dcterms:created xsi:type="dcterms:W3CDTF">2018-01-26T19:23:30Z</dcterms:created>
  <dcterms:modified xsi:type="dcterms:W3CDTF">2025-12-01T05:54:19Z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