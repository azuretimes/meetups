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0"/>
  </p:notesMasterIdLst>
  <p:handoutMasterIdLst>
    <p:handoutMasterId r:id="rId31"/>
  </p:handoutMasterIdLst>
  <p:sldIdLst>
    <p:sldId id="2142532340" r:id="rId5"/>
    <p:sldId id="2146847045" r:id="rId6"/>
    <p:sldId id="2146847126" r:id="rId7"/>
    <p:sldId id="2146847048" r:id="rId8"/>
    <p:sldId id="2146847049" r:id="rId9"/>
    <p:sldId id="2146847131" r:id="rId10"/>
    <p:sldId id="2146847132" r:id="rId11"/>
    <p:sldId id="2146847156" r:id="rId12"/>
    <p:sldId id="2146847133" r:id="rId13"/>
    <p:sldId id="2146847050" r:id="rId14"/>
    <p:sldId id="2146847134" r:id="rId15"/>
    <p:sldId id="2146847135" r:id="rId16"/>
    <p:sldId id="2146847052" r:id="rId17"/>
    <p:sldId id="2146847138" r:id="rId18"/>
    <p:sldId id="2146847139" r:id="rId19"/>
    <p:sldId id="2146847054" r:id="rId20"/>
    <p:sldId id="2146847141" r:id="rId21"/>
    <p:sldId id="2146847142" r:id="rId22"/>
    <p:sldId id="2146847058" r:id="rId23"/>
    <p:sldId id="2146847148" r:id="rId24"/>
    <p:sldId id="2146847119" r:id="rId25"/>
    <p:sldId id="2146847120" r:id="rId26"/>
    <p:sldId id="2146847085" r:id="rId27"/>
    <p:sldId id="2146847084" r:id="rId28"/>
    <p:sldId id="2146847064" r:id="rId29"/>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2146847126"/>
          </p14:sldIdLst>
        </p14:section>
        <p14:section name="Security &amp; Identity" id="{1AA42572-B3BD-44F7-813B-C2C647DDBB3C}">
          <p14:sldIdLst/>
        </p14:section>
        <p14:section name="Management &amp; Governance" id="{34181601-6D48-4406-A525-C7B5A12C6C5B}">
          <p14:sldIdLst>
            <p14:sldId id="2146847048"/>
            <p14:sldId id="2146847049"/>
            <p14:sldId id="2146847131"/>
            <p14:sldId id="2146847132"/>
            <p14:sldId id="2146847156"/>
            <p14:sldId id="2146847133"/>
          </p14:sldIdLst>
        </p14:section>
        <p14:section name="Compute" id="{05AA80BB-8802-49AB-8336-A884227CE2F7}">
          <p14:sldIdLst>
            <p14:sldId id="2146847050"/>
            <p14:sldId id="2146847134"/>
            <p14:sldId id="2146847135"/>
          </p14:sldIdLst>
        </p14:section>
        <p14:section name="Storage &amp; Data" id="{1F159046-CE0A-45BC-9D5B-6E6C95980F78}">
          <p14:sldIdLst>
            <p14:sldId id="2146847052"/>
            <p14:sldId id="2146847138"/>
            <p14:sldId id="2146847139"/>
          </p14:sldIdLst>
        </p14:section>
        <p14:section name="Databases" id="{AEAFAE72-AD56-48F3-926B-38BAE269038F}">
          <p14:sldIdLst>
            <p14:sldId id="2146847054"/>
            <p14:sldId id="2146847141"/>
            <p14:sldId id="2146847142"/>
          </p14:sldIdLst>
        </p14:section>
        <p14:section name="Integration" id="{ACBD46A3-6F1C-451B-A154-0A056E0DEFF6}">
          <p14:sldIdLst/>
        </p14:section>
        <p14:section name="ML &amp; AI &amp; IOT" id="{F4E1EAF1-55E9-4CA4-8ADC-28B69C1D66D2}">
          <p14:sldIdLst>
            <p14:sldId id="2146847058"/>
            <p14:sldId id="2146847148"/>
            <p14:sldId id="2146847119"/>
            <p14:sldId id="2146847120"/>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10/13/2025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10/13/2025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512875" TargetMode="External"/><Relationship Id="rId2" Type="http://schemas.openxmlformats.org/officeDocument/2006/relationships/hyperlink" Target="https://azure.microsoft.com/ru-ru/updates?id=511722"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learn.microsoft.com/en-us/azure/backup/azure-data-lake-storage-backup-overview"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techcommunity.microsoft.com/blog/azuremigrationblog/empower-your-migration-decisions-with-negotiated-agreements-eamca-in-azure-migra/4459425" TargetMode="External"/><Relationship Id="rId2" Type="http://schemas.openxmlformats.org/officeDocument/2006/relationships/hyperlink" Target="https://techcommunity.microsoft.com/blog/azuremigrationblog/cut-migration-costs-with-b-series-and-cobalt-100-vm-support-in-azure-migrate/4460285"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azure.microsoft.com/ru-ru/updates?id=512201"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techcommunity.microsoft.com/blog/azurestorageblog/introducing-cross-resource-metrics-and-alerts-support-for-azure-storage/4459193"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azure.microsoft.com/ru-ru/updates?id=500853"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azure.microsoft.com/ru-ru/updates?id=503263"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azure.microsoft.com/ru-ru/updates?id=500273"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zure.microsoft.com/ru-ru/updates?id=503836" TargetMode="External"/><Relationship Id="rId2" Type="http://schemas.openxmlformats.org/officeDocument/2006/relationships/hyperlink" Target="https://azure.microsoft.com/ru-ru/updates?id=503627"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azure-unmanaged-disks-will-be-retired-on-30-september-2025"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azure.microsoft.com/ru-ru/updates?id=503636"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499577" TargetMode="External"/><Relationship Id="rId2" Type="http://schemas.openxmlformats.org/officeDocument/2006/relationships/hyperlink" Target="https://azure.microsoft.com/ru-ru/updates?id=499606"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azure.microsoft.com/ru-ru/updates?id=502049"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devblogs.microsoft.com/devops/announcing-the-new-azure-devops-server-rc-release/"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#182</a:t>
            </a:r>
          </a:p>
        </p:txBody>
      </p:sp>
      <p:sp>
        <p:nvSpPr>
          <p:cNvPr id="4" name="Text Placeholder 3"/>
          <p:cNvSpPr>
            <a:spLocks noGrp="1"/>
          </p:cNvSpPr>
          <p:nvPr>
            <p:ph type="body" sz="quarter" idx="11"/>
          </p:nvPr>
        </p:nvSpPr>
        <p:spPr/>
        <p:txBody>
          <a:bodyPr/>
          <a:lstStyle/>
          <a:p>
            <a:r>
              <a:rPr lang="en-US" spc="300" dirty="0"/>
              <a:t>October 13, 2025</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DD891-4CE7-3684-E998-D623020E5F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226539-98A3-C40F-4648-61D3893ECB98}"/>
              </a:ext>
            </a:extLst>
          </p:cNvPr>
          <p:cNvSpPr>
            <a:spLocks noGrp="1"/>
          </p:cNvSpPr>
          <p:nvPr>
            <p:ph type="body" sz="quarter" idx="10"/>
          </p:nvPr>
        </p:nvSpPr>
        <p:spPr/>
        <p:txBody>
          <a:bodyPr/>
          <a:lstStyle/>
          <a:p>
            <a:pPr algn="just"/>
            <a:r>
              <a:rPr lang="en-US" sz="1000" dirty="0">
                <a:hlinkClick r:id="rId2"/>
              </a:rPr>
              <a:t>Generally Available: Azure Firewall Updates - IP Group limit increased to 600 per Firewall Policy</a:t>
            </a:r>
            <a:endParaRPr lang="en-US" sz="1000" dirty="0"/>
          </a:p>
          <a:p>
            <a:pPr algn="just"/>
            <a:r>
              <a:rPr lang="en-US" sz="1000" dirty="0"/>
              <a:t>Azure Firewall Policy now supports </a:t>
            </a:r>
            <a:r>
              <a:rPr lang="en-US" sz="1000" b="1" dirty="0"/>
              <a:t>up to 600 IP Groups per policy</a:t>
            </a:r>
            <a:r>
              <a:rPr lang="en-US" sz="1000" dirty="0"/>
              <a:t>, up from the </a:t>
            </a:r>
            <a:r>
              <a:rPr lang="en-US" sz="1000" b="1" dirty="0"/>
              <a:t>previous limit of 200</a:t>
            </a:r>
            <a:r>
              <a:rPr lang="en-US" sz="1000" dirty="0"/>
              <a:t>. This enhancement enables to: </a:t>
            </a:r>
          </a:p>
          <a:p>
            <a:pPr marL="171450" indent="-171450" algn="just">
              <a:buFont typeface="Arial" panose="020B0604020202020204" pitchFamily="34" charset="0"/>
              <a:buChar char="•"/>
            </a:pPr>
            <a:r>
              <a:rPr lang="en-US" sz="1000" b="1" dirty="0"/>
              <a:t>Reduce rule complexity by replacing long lists of IPs </a:t>
            </a:r>
            <a:r>
              <a:rPr lang="en-US" sz="1000" dirty="0"/>
              <a:t>with more well-organized IP Groups, making rule sets easier to manage and audit. </a:t>
            </a:r>
          </a:p>
          <a:p>
            <a:pPr marL="171450" indent="-171450" algn="just">
              <a:buFont typeface="Arial" panose="020B0604020202020204" pitchFamily="34" charset="0"/>
              <a:buChar char="•"/>
            </a:pPr>
            <a:r>
              <a:rPr lang="en-US" sz="1000" dirty="0"/>
              <a:t>Supports </a:t>
            </a:r>
            <a:r>
              <a:rPr lang="en-US" sz="1000" b="1" dirty="0"/>
              <a:t>large-scale architectures and </a:t>
            </a:r>
            <a:r>
              <a:rPr lang="en-US" sz="1000" b="1" dirty="0" err="1"/>
              <a:t>microsegmentation</a:t>
            </a:r>
            <a:r>
              <a:rPr lang="en-US" sz="1000" dirty="0"/>
              <a:t>: Enterprises often manage hundreds of app tiers, networks, and subnets. </a:t>
            </a:r>
          </a:p>
          <a:p>
            <a:pPr marL="171450" indent="-171450" algn="just">
              <a:buFont typeface="Arial" panose="020B0604020202020204" pitchFamily="34" charset="0"/>
              <a:buChar char="•"/>
            </a:pPr>
            <a:r>
              <a:rPr lang="en-US" sz="1000" b="1" dirty="0"/>
              <a:t>Improves troubleshooting</a:t>
            </a:r>
            <a:r>
              <a:rPr lang="en-US" sz="1000" dirty="0"/>
              <a:t>: Named groups make it easier to understand rule intent (e.g., HR-Network, IT-Network, etc.) in logging during debugging or reviews. </a:t>
            </a:r>
          </a:p>
        </p:txBody>
      </p:sp>
      <p:sp>
        <p:nvSpPr>
          <p:cNvPr id="11" name="Title 10">
            <a:extLst>
              <a:ext uri="{FF2B5EF4-FFF2-40B4-BE49-F238E27FC236}">
                <a16:creationId xmlns:a16="http://schemas.microsoft.com/office/drawing/2014/main" id="{498EDA87-FEEC-7025-3A81-E2B223F8F83C}"/>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842EA0-D1D6-E5CA-35A9-265810B8410B}"/>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72E1AC-FDA0-FB61-4BF0-E75C2B8A1664}"/>
              </a:ext>
            </a:extLst>
          </p:cNvPr>
          <p:cNvSpPr>
            <a:spLocks noGrp="1"/>
          </p:cNvSpPr>
          <p:nvPr>
            <p:ph type="body" sz="quarter" idx="16"/>
          </p:nvPr>
        </p:nvSpPr>
        <p:spPr/>
        <p:txBody>
          <a:bodyPr/>
          <a:lstStyle/>
          <a:p>
            <a:pPr algn="just"/>
            <a:r>
              <a:rPr lang="en-US" dirty="0">
                <a:hlinkClick r:id="rId3"/>
              </a:rPr>
              <a:t>Generally Available: Azure Firewall updates - Customer provided public IP address support in secured hubs</a:t>
            </a:r>
            <a:endParaRPr lang="en-US" dirty="0"/>
          </a:p>
          <a:p>
            <a:pPr algn="just"/>
            <a:r>
              <a:rPr lang="en-US" dirty="0"/>
              <a:t>Azure Firewall in Virtual WAN secured hubs now supports the u</a:t>
            </a:r>
            <a:r>
              <a:rPr lang="en-US" b="1" dirty="0"/>
              <a:t>se of customer-provided public IP addresses. </a:t>
            </a:r>
            <a:r>
              <a:rPr lang="en-US" dirty="0"/>
              <a:t>This capability enables organizations to </a:t>
            </a:r>
            <a:r>
              <a:rPr lang="en-US" b="1" dirty="0"/>
              <a:t>bring their own public IP addresses </a:t>
            </a:r>
            <a:r>
              <a:rPr lang="en-US" dirty="0"/>
              <a:t>when deploying Azure Firewall in a </a:t>
            </a:r>
            <a:r>
              <a:rPr lang="en-US" b="1" dirty="0"/>
              <a:t>secured Virtual WAN hub</a:t>
            </a:r>
            <a:r>
              <a:rPr lang="en-US" dirty="0"/>
              <a:t>, providing greater flexibility and control over network infrastructure. </a:t>
            </a:r>
          </a:p>
          <a:p>
            <a:pPr algn="just"/>
            <a:r>
              <a:rPr lang="en-US" dirty="0"/>
              <a:t>With this feature, instead of relying on Azure-managed public IP addresses, it is possible to set own public IP addresses that are already allocated in Azure subscription. </a:t>
            </a:r>
          </a:p>
          <a:p>
            <a:pPr algn="just"/>
            <a:r>
              <a:rPr lang="en-US" dirty="0"/>
              <a:t>NOTE: For existing secured virtual WAN hubs, remove all the public IPs assigned to the Hub, stop/deallocate the hub firewall, and allocate the Firewall with a public IP during scheduled maintenance hours.</a:t>
            </a:r>
          </a:p>
        </p:txBody>
      </p:sp>
    </p:spTree>
    <p:extLst>
      <p:ext uri="{BB962C8B-B14F-4D97-AF65-F5344CB8AC3E}">
        <p14:creationId xmlns:p14="http://schemas.microsoft.com/office/powerpoint/2010/main" val="91133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2"/>
              </a:rPr>
              <a:t>Public Preview: Introducing Vaulted Backup for Azure Data Lake Storage</a:t>
            </a:r>
            <a:endParaRPr lang="en-US" dirty="0"/>
          </a:p>
          <a:p>
            <a:r>
              <a:rPr lang="en-US" dirty="0"/>
              <a:t>Azure Backup now supports vaulted protection for ADLS, delivering secure, off-site backups that ensure business continuity and compliance—even in cases of accidental deletion, malicious activity, or ransomware. Vaulted backups maintain an independent copy of your data, isolated from the source account.</a:t>
            </a:r>
          </a:p>
          <a:p>
            <a:r>
              <a:rPr lang="en-US" dirty="0"/>
              <a:t>Key Capabilities:</a:t>
            </a:r>
          </a:p>
          <a:p>
            <a:pPr marL="171450" indent="-171450">
              <a:buFont typeface="Arial" panose="020B0604020202020204" pitchFamily="34" charset="0"/>
              <a:buChar char="•"/>
            </a:pPr>
            <a:r>
              <a:rPr lang="en-US" dirty="0"/>
              <a:t>Off-site protection: Recover data even if the source account is compromised. Restore to original or alternate accounts.</a:t>
            </a:r>
          </a:p>
          <a:p>
            <a:pPr marL="171450" indent="-171450">
              <a:buFont typeface="Arial" panose="020B0604020202020204" pitchFamily="34" charset="0"/>
              <a:buChar char="•"/>
            </a:pPr>
            <a:r>
              <a:rPr lang="en-US" dirty="0"/>
              <a:t>Resilience against deletion and attacks: Isolated backups protect against insider threats and ransomware.</a:t>
            </a:r>
          </a:p>
          <a:p>
            <a:pPr marL="171450" indent="-171450">
              <a:buFont typeface="Arial" panose="020B0604020202020204" pitchFamily="34" charset="0"/>
              <a:buChar char="•"/>
            </a:pPr>
            <a:r>
              <a:rPr lang="en-US" dirty="0"/>
              <a:t>Automated &amp; flexible scheduling: Configure daily/weekly schedules or trigger on-demand backups.</a:t>
            </a:r>
          </a:p>
          <a:p>
            <a:pPr marL="171450" indent="-171450">
              <a:buFont typeface="Arial" panose="020B0604020202020204" pitchFamily="34" charset="0"/>
              <a:buChar char="•"/>
            </a:pPr>
            <a:r>
              <a:rPr lang="en-US" dirty="0"/>
              <a:t>Long-term retention: Store backups for up to 10 years to meet compliance and archival needs.</a:t>
            </a:r>
          </a:p>
          <a:p>
            <a:pPr marL="171450" indent="-171450">
              <a:buFont typeface="Arial" panose="020B0604020202020204" pitchFamily="34" charset="0"/>
              <a:buChar char="•"/>
            </a:pPr>
            <a:r>
              <a:rPr lang="en-US" dirty="0"/>
              <a:t>Security-first design: Features like soft-delete, immutability, encryption, and multi-user authorization safeguard vault data.</a:t>
            </a:r>
          </a:p>
        </p:txBody>
      </p:sp>
      <p:pic>
        <p:nvPicPr>
          <p:cNvPr id="1026" name="Picture 2" descr="Diagram shows the recovery point creation process in the backup flow.">
            <a:extLst>
              <a:ext uri="{FF2B5EF4-FFF2-40B4-BE49-F238E27FC236}">
                <a16:creationId xmlns:a16="http://schemas.microsoft.com/office/drawing/2014/main" id="{45FC334B-EDBB-6133-34B9-EC6FE5AD6B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8186" y="936237"/>
            <a:ext cx="4272677" cy="1732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0E0244-34EC-E9DD-ACD9-50A13C40D4E3}"/>
              </a:ext>
            </a:extLst>
          </p:cNvPr>
          <p:cNvSpPr>
            <a:spLocks noGrp="1"/>
          </p:cNvSpPr>
          <p:nvPr>
            <p:ph type="body" sz="quarter" idx="10"/>
          </p:nvPr>
        </p:nvSpPr>
        <p:spPr>
          <a:xfrm>
            <a:off x="4433776" y="855080"/>
            <a:ext cx="4365038" cy="906813"/>
          </a:xfrm>
        </p:spPr>
        <p:txBody>
          <a:bodyPr/>
          <a:lstStyle/>
          <a:p>
            <a:r>
              <a:rPr lang="en-US" sz="1000" dirty="0">
                <a:hlinkClick r:id="rId2"/>
              </a:rPr>
              <a:t>Cut migration costs with B-Series and Cobalt 100 VM support in Azure Migrate</a:t>
            </a:r>
            <a:endParaRPr lang="en-US" sz="1000" dirty="0"/>
          </a:p>
          <a:p>
            <a:r>
              <a:rPr lang="en-US" sz="1000" dirty="0"/>
              <a:t>Azure Migrate now supports </a:t>
            </a:r>
            <a:r>
              <a:rPr lang="en-US" sz="1000" b="1" dirty="0"/>
              <a:t>B-Series and Cobalt 100 VMs</a:t>
            </a:r>
            <a:r>
              <a:rPr lang="en-US" sz="1000" dirty="0"/>
              <a:t>, empowering you to plan migrations smarter, optimize costs, and get the right performance fit for every workload.</a:t>
            </a:r>
          </a:p>
        </p:txBody>
      </p:sp>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a:xfrm>
            <a:off x="342900" y="855080"/>
            <a:ext cx="3955312" cy="2126013"/>
          </a:xfrm>
        </p:spPr>
        <p:txBody>
          <a:bodyPr/>
          <a:lstStyle/>
          <a:p>
            <a:pPr algn="just"/>
            <a:r>
              <a:rPr lang="en-US" dirty="0">
                <a:hlinkClick r:id="rId3"/>
              </a:rPr>
              <a:t>Empower your migration decisions with negotiated agreements (EA/MCA) in Azure Migrat</a:t>
            </a:r>
            <a:r>
              <a:rPr lang="en-US" dirty="0"/>
              <a:t>e</a:t>
            </a:r>
          </a:p>
          <a:p>
            <a:pPr algn="just"/>
            <a:r>
              <a:rPr lang="en-US" dirty="0"/>
              <a:t>Previously, Azure Migrate assessments </a:t>
            </a:r>
            <a:r>
              <a:rPr lang="en-US" b="1" dirty="0"/>
              <a:t>used standard retail pricing</a:t>
            </a:r>
            <a:r>
              <a:rPr lang="en-US" dirty="0"/>
              <a:t>, which often didn’t reflect </a:t>
            </a:r>
            <a:r>
              <a:rPr lang="en-US" b="1" dirty="0"/>
              <a:t>negotiated terms. </a:t>
            </a:r>
            <a:r>
              <a:rPr lang="en-US" dirty="0"/>
              <a:t>This created uncertainty and slowed decision-making. Now, by integrating MCA pricing:</a:t>
            </a:r>
          </a:p>
          <a:p>
            <a:pPr marL="171450" indent="-171450" algn="just">
              <a:buFont typeface="Arial" panose="020B0604020202020204" pitchFamily="34" charset="0"/>
              <a:buChar char="•"/>
            </a:pPr>
            <a:r>
              <a:rPr lang="en-US" b="1" dirty="0"/>
              <a:t>No More Guesswork</a:t>
            </a:r>
            <a:r>
              <a:rPr lang="en-US" dirty="0"/>
              <a:t>: Assessments reflect your actual negotiated rates.</a:t>
            </a:r>
          </a:p>
          <a:p>
            <a:pPr marL="171450" indent="-171450" algn="just">
              <a:buFont typeface="Arial" panose="020B0604020202020204" pitchFamily="34" charset="0"/>
              <a:buChar char="•"/>
            </a:pPr>
            <a:r>
              <a:rPr lang="en-US" b="1" dirty="0"/>
              <a:t>True Cost Visibility: </a:t>
            </a:r>
            <a:r>
              <a:rPr lang="en-US" dirty="0"/>
              <a:t>Understand the real financial impact of your migration strategy.</a:t>
            </a:r>
          </a:p>
          <a:p>
            <a:pPr marL="171450" indent="-171450" algn="just">
              <a:buFont typeface="Arial" panose="020B0604020202020204" pitchFamily="34" charset="0"/>
              <a:buChar char="•"/>
            </a:pPr>
            <a:r>
              <a:rPr lang="en-US" b="1" dirty="0"/>
              <a:t>Better Planning: </a:t>
            </a:r>
            <a:r>
              <a:rPr lang="en-US" dirty="0"/>
              <a:t>Prioritize workloads and optimize budgets with confidence.</a:t>
            </a:r>
          </a:p>
        </p:txBody>
      </p:sp>
      <p:pic>
        <p:nvPicPr>
          <p:cNvPr id="3" name="Picture 2">
            <a:extLst>
              <a:ext uri="{FF2B5EF4-FFF2-40B4-BE49-F238E27FC236}">
                <a16:creationId xmlns:a16="http://schemas.microsoft.com/office/drawing/2014/main" id="{131F38B1-FD30-A4F7-D1EF-4DD89B90EAAD}"/>
              </a:ext>
            </a:extLst>
          </p:cNvPr>
          <p:cNvPicPr>
            <a:picLocks noChangeAspect="1"/>
          </p:cNvPicPr>
          <p:nvPr/>
        </p:nvPicPr>
        <p:blipFill>
          <a:blip r:embed="rId4"/>
          <a:stretch>
            <a:fillRect/>
          </a:stretch>
        </p:blipFill>
        <p:spPr>
          <a:xfrm>
            <a:off x="887401" y="2824976"/>
            <a:ext cx="2866309" cy="2042131"/>
          </a:xfrm>
          <a:prstGeom prst="rect">
            <a:avLst/>
          </a:prstGeom>
        </p:spPr>
      </p:pic>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a:xfrm>
            <a:off x="4433776" y="855081"/>
            <a:ext cx="4365038" cy="1575886"/>
          </a:xfrm>
        </p:spPr>
        <p:txBody>
          <a:bodyPr/>
          <a:lstStyle/>
          <a:p>
            <a:pPr marL="171450" indent="-171450" algn="just">
              <a:buFont typeface="Arial" panose="020B0604020202020204" pitchFamily="34" charset="0"/>
              <a:buChar char="•"/>
            </a:pPr>
            <a:r>
              <a:rPr lang="en-US" sz="1000" dirty="0"/>
              <a:t>Software inventory &amp; vulnerability scanning</a:t>
            </a:r>
          </a:p>
          <a:p>
            <a:pPr marL="171450" indent="-171450" algn="just">
              <a:buFont typeface="Arial" panose="020B0604020202020204" pitchFamily="34" charset="0"/>
              <a:buChar char="•"/>
            </a:pPr>
            <a:r>
              <a:rPr lang="en-US" sz="1000" dirty="0"/>
              <a:t>Security configuration and hardening check</a:t>
            </a:r>
          </a:p>
          <a:p>
            <a:pPr marL="171450" indent="-171450" algn="just">
              <a:buFont typeface="Arial" panose="020B0604020202020204" pitchFamily="34" charset="0"/>
              <a:buChar char="•"/>
            </a:pPr>
            <a:r>
              <a:rPr lang="en-US" sz="1000" dirty="0"/>
              <a:t>Credential and secrets discovery</a:t>
            </a:r>
          </a:p>
          <a:p>
            <a:pPr marL="171450" indent="-171450" algn="just">
              <a:buFont typeface="Arial" panose="020B0604020202020204" pitchFamily="34" charset="0"/>
              <a:buChar char="•"/>
            </a:pPr>
            <a:r>
              <a:rPr lang="en-US" sz="1000" dirty="0"/>
              <a:t>Comprehensive report</a:t>
            </a:r>
          </a:p>
          <a:p>
            <a:pPr algn="just"/>
            <a:r>
              <a:rPr lang="en-US" sz="1000" dirty="0"/>
              <a:t>Firmware analysis workspaces are currently available as a Free Firmware Analysis Workspace SKU with capacity limits.</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a:xfrm>
            <a:off x="342900" y="855081"/>
            <a:ext cx="3955312" cy="1575886"/>
          </a:xfrm>
        </p:spPr>
        <p:txBody>
          <a:bodyPr/>
          <a:lstStyle/>
          <a:p>
            <a:pPr algn="just"/>
            <a:r>
              <a:rPr lang="en-US" dirty="0">
                <a:hlinkClick r:id="rId2"/>
              </a:rPr>
              <a:t>Generally Available: Firmware analysis enabled by Azure Arc</a:t>
            </a:r>
            <a:endParaRPr lang="en-US" dirty="0"/>
          </a:p>
          <a:p>
            <a:pPr algn="just"/>
            <a:r>
              <a:rPr lang="en-US" dirty="0"/>
              <a:t>Firmware analysis brings deep visibility into the software that powers IoT/OT and network devices—systems that often operate as “black boxes” with limited insight into their security posture. </a:t>
            </a:r>
          </a:p>
          <a:p>
            <a:pPr algn="just"/>
            <a:r>
              <a:rPr lang="en-US" dirty="0"/>
              <a:t>Firmware analysis examines the low-level software (firmware) that powers IoT, OT and network devices, with no agent required on the device. Upload a firmware image (for example, an extracted embedded Linux image), and the cloud service performs an automated security inspection.</a:t>
            </a:r>
          </a:p>
        </p:txBody>
      </p:sp>
      <p:pic>
        <p:nvPicPr>
          <p:cNvPr id="3" name="Picture 2">
            <a:extLst>
              <a:ext uri="{FF2B5EF4-FFF2-40B4-BE49-F238E27FC236}">
                <a16:creationId xmlns:a16="http://schemas.microsoft.com/office/drawing/2014/main" id="{324C680F-4852-39C9-09FD-AEC657112CFE}"/>
              </a:ext>
            </a:extLst>
          </p:cNvPr>
          <p:cNvPicPr>
            <a:picLocks noChangeAspect="1"/>
          </p:cNvPicPr>
          <p:nvPr/>
        </p:nvPicPr>
        <p:blipFill>
          <a:blip r:embed="rId3"/>
          <a:stretch>
            <a:fillRect/>
          </a:stretch>
        </p:blipFill>
        <p:spPr>
          <a:xfrm>
            <a:off x="455688" y="2571750"/>
            <a:ext cx="3842524" cy="1882803"/>
          </a:xfrm>
          <a:prstGeom prst="rect">
            <a:avLst/>
          </a:prstGeom>
        </p:spPr>
      </p:pic>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228FE5-2D77-13BF-2464-32009957A2EE}"/>
              </a:ext>
            </a:extLst>
          </p:cNvPr>
          <p:cNvSpPr>
            <a:spLocks noGrp="1"/>
          </p:cNvSpPr>
          <p:nvPr>
            <p:ph type="title"/>
          </p:nvPr>
        </p:nvSpPr>
        <p:spPr/>
        <p:txBody>
          <a:bodyPr/>
          <a:lstStyle/>
          <a:p>
            <a:r>
              <a:rPr lang="en-US" sz="1600" dirty="0"/>
              <a:t>Management &amp; Governance Updates</a:t>
            </a:r>
            <a:endParaRPr lang="en-US" dirty="0"/>
          </a:p>
        </p:txBody>
      </p:sp>
      <p:sp>
        <p:nvSpPr>
          <p:cNvPr id="4" name="Text Placeholder 3">
            <a:extLst>
              <a:ext uri="{FF2B5EF4-FFF2-40B4-BE49-F238E27FC236}">
                <a16:creationId xmlns:a16="http://schemas.microsoft.com/office/drawing/2014/main" id="{B2064E99-8F8B-057B-64CF-E3AAF13B8CE1}"/>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97F09CF-9754-4741-D182-BF3A1A25A202}"/>
              </a:ext>
            </a:extLst>
          </p:cNvPr>
          <p:cNvSpPr>
            <a:spLocks noGrp="1"/>
          </p:cNvSpPr>
          <p:nvPr>
            <p:ph type="body" sz="quarter" idx="16"/>
          </p:nvPr>
        </p:nvSpPr>
        <p:spPr/>
        <p:txBody>
          <a:bodyPr/>
          <a:lstStyle/>
          <a:p>
            <a:pPr algn="just"/>
            <a:r>
              <a:rPr lang="en-US" dirty="0">
                <a:hlinkClick r:id="rId2"/>
              </a:rPr>
              <a:t>Introducing Cross-Resource Metrics and Alerts Support for Azure Storage</a:t>
            </a:r>
            <a:endParaRPr lang="en-US" dirty="0"/>
          </a:p>
          <a:p>
            <a:pPr algn="just"/>
            <a:r>
              <a:rPr lang="en-US" dirty="0"/>
              <a:t>With this new capability, it is now possible to monitor and visualize metrics across multiple storage accounts in a single chart and configure alerts across multiple accounts — within the same subscription and region. This makes managing large fleets of storage accounts significantly easier and more powerful.</a:t>
            </a:r>
          </a:p>
          <a:p>
            <a:pPr algn="just"/>
            <a:r>
              <a:rPr lang="en-US" dirty="0"/>
              <a:t>Cross Resource Metrics Support</a:t>
            </a:r>
          </a:p>
          <a:p>
            <a:pPr marL="171450" indent="-171450" algn="just">
              <a:buFont typeface="Arial" panose="020B0604020202020204" pitchFamily="34" charset="0"/>
              <a:buChar char="•"/>
            </a:pPr>
            <a:r>
              <a:rPr lang="en-US" dirty="0"/>
              <a:t>Visualize aggregated metric data </a:t>
            </a:r>
            <a:r>
              <a:rPr lang="en-US" b="1" dirty="0"/>
              <a:t>across multiple storage accounts.</a:t>
            </a:r>
          </a:p>
          <a:p>
            <a:pPr marL="171450" indent="-171450" algn="just">
              <a:buFont typeface="Arial" panose="020B0604020202020204" pitchFamily="34" charset="0"/>
              <a:buChar char="•"/>
            </a:pPr>
            <a:r>
              <a:rPr lang="en-US" dirty="0"/>
              <a:t>Break down metrics by </a:t>
            </a:r>
            <a:r>
              <a:rPr lang="en-US" b="1" dirty="0"/>
              <a:t>individual resources in a sorted and ordered way.</a:t>
            </a:r>
          </a:p>
          <a:p>
            <a:pPr algn="just"/>
            <a:r>
              <a:rPr lang="en-US" dirty="0"/>
              <a:t>Cross Resource Alerting Support</a:t>
            </a:r>
          </a:p>
          <a:p>
            <a:pPr marL="171450" indent="-171450" algn="just">
              <a:buFont typeface="Arial" panose="020B0604020202020204" pitchFamily="34" charset="0"/>
              <a:buChar char="•"/>
            </a:pPr>
            <a:r>
              <a:rPr lang="en-US" dirty="0"/>
              <a:t>Create a single alert rule that monitors a metric across many storage accounts and triggers an action when thresholds are crossed on any resource.</a:t>
            </a:r>
          </a:p>
          <a:p>
            <a:pPr algn="just"/>
            <a:r>
              <a:rPr lang="en-US" dirty="0"/>
              <a:t>Full Metric Namespace Support</a:t>
            </a:r>
          </a:p>
          <a:p>
            <a:pPr marL="171450" indent="-171450" algn="just">
              <a:buFont typeface="Arial" panose="020B0604020202020204" pitchFamily="34" charset="0"/>
              <a:buChar char="•"/>
            </a:pPr>
            <a:r>
              <a:rPr lang="en-US" dirty="0"/>
              <a:t>Works across Blob, File, Table, and Queue metric namespaces.</a:t>
            </a:r>
          </a:p>
          <a:p>
            <a:pPr marL="171450" indent="-171450" algn="just">
              <a:buFont typeface="Arial" panose="020B0604020202020204" pitchFamily="34" charset="0"/>
              <a:buChar char="•"/>
            </a:pPr>
            <a:r>
              <a:rPr lang="en-US" dirty="0"/>
              <a:t>All existing storage metrics </a:t>
            </a:r>
            <a:r>
              <a:rPr lang="en-US" b="1" dirty="0"/>
              <a:t>are supported for cross resource visualization </a:t>
            </a:r>
            <a:r>
              <a:rPr lang="en-US" dirty="0"/>
              <a:t>and alerting.</a:t>
            </a:r>
          </a:p>
          <a:p>
            <a:pPr algn="just"/>
            <a:endParaRPr lang="en-US" dirty="0"/>
          </a:p>
        </p:txBody>
      </p:sp>
      <p:pic>
        <p:nvPicPr>
          <p:cNvPr id="7" name="Picture 6">
            <a:extLst>
              <a:ext uri="{FF2B5EF4-FFF2-40B4-BE49-F238E27FC236}">
                <a16:creationId xmlns:a16="http://schemas.microsoft.com/office/drawing/2014/main" id="{F1A5CA89-ED67-80F8-EF13-01E17302FBE1}"/>
              </a:ext>
            </a:extLst>
          </p:cNvPr>
          <p:cNvPicPr>
            <a:picLocks noChangeAspect="1"/>
          </p:cNvPicPr>
          <p:nvPr/>
        </p:nvPicPr>
        <p:blipFill>
          <a:blip r:embed="rId3"/>
          <a:stretch>
            <a:fillRect/>
          </a:stretch>
        </p:blipFill>
        <p:spPr>
          <a:xfrm>
            <a:off x="4378036" y="855080"/>
            <a:ext cx="4571999" cy="2084089"/>
          </a:xfrm>
          <a:prstGeom prst="rect">
            <a:avLst/>
          </a:prstGeom>
        </p:spPr>
      </p:pic>
    </p:spTree>
    <p:extLst>
      <p:ext uri="{BB962C8B-B14F-4D97-AF65-F5344CB8AC3E}">
        <p14:creationId xmlns:p14="http://schemas.microsoft.com/office/powerpoint/2010/main" val="3499684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2"/>
              </a:rPr>
              <a:t>Retirement: Legacy Authentication in Azure Monitor - Container Insights will be retired on September 30, 2026.</a:t>
            </a:r>
            <a:endParaRPr lang="en-US" dirty="0"/>
          </a:p>
          <a:p>
            <a:pPr algn="just"/>
            <a:r>
              <a:rPr lang="en-US" dirty="0"/>
              <a:t>Legacy Authentication in Azure Monitor - Container Insights will be retired on </a:t>
            </a:r>
            <a:r>
              <a:rPr lang="en-US" b="1" dirty="0"/>
              <a:t>September 30, 2026.  </a:t>
            </a:r>
            <a:r>
              <a:rPr lang="en-US" dirty="0"/>
              <a:t>Legacy authentication has been replaced by the more </a:t>
            </a:r>
            <a:r>
              <a:rPr lang="en-US" b="1" dirty="0"/>
              <a:t>secure Managed Identity authentication method</a:t>
            </a:r>
            <a:r>
              <a:rPr lang="en-US" dirty="0"/>
              <a:t>. Migrating to Managed Identity also gives customers access to newer Container Insights features like </a:t>
            </a:r>
            <a:r>
              <a:rPr lang="en-US" b="1" dirty="0"/>
              <a:t>Syslog collection and High Scale mode which </a:t>
            </a:r>
            <a:r>
              <a:rPr lang="en-US" dirty="0"/>
              <a:t>are available only with Managed Identity.  </a:t>
            </a:r>
          </a:p>
          <a:p>
            <a:pPr algn="just"/>
            <a:r>
              <a:rPr lang="en-US" dirty="0"/>
              <a:t>Customers </a:t>
            </a:r>
            <a:r>
              <a:rPr lang="en-US" b="1" dirty="0"/>
              <a:t>must migrate to the new Managed Identity authentication before September 30, 2026</a:t>
            </a:r>
            <a:r>
              <a:rPr lang="en-US" dirty="0"/>
              <a:t>. Customers can migrate their clusters with a single click from the Azure portal. Azure Monitor documentation also has command line options and a bulk migration script.</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2"/>
              </a:rPr>
              <a:t>Generally Available: AI toolchain operator add-on (KAITO) for AKS</a:t>
            </a:r>
            <a:endParaRPr lang="en-US" dirty="0"/>
          </a:p>
          <a:p>
            <a:pPr algn="just"/>
            <a:r>
              <a:rPr lang="en-US" dirty="0"/>
              <a:t>The AI toolchain operator add-on (KAITO) is now generally available on AKS, streamlining the </a:t>
            </a:r>
            <a:r>
              <a:rPr lang="en-US" b="1" dirty="0"/>
              <a:t>deployment of AI inference and fine-tuning workflows using popular open-source frameworks.</a:t>
            </a:r>
            <a:r>
              <a:rPr lang="en-US" dirty="0"/>
              <a:t> With </a:t>
            </a:r>
            <a:r>
              <a:rPr lang="en-US" b="1" dirty="0" err="1"/>
              <a:t>vLLM</a:t>
            </a:r>
            <a:r>
              <a:rPr lang="en-US" b="1" dirty="0"/>
              <a:t> as the default inference engine, this addon reduces management overhead for both AI app </a:t>
            </a:r>
            <a:r>
              <a:rPr lang="en-US" dirty="0"/>
              <a:t>developers and cluster operators by automating the setup and lifecycle of key AI/ML components, accelerating development and simplifying operations. </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a:xfrm>
            <a:off x="342900" y="855081"/>
            <a:ext cx="3955312" cy="1865818"/>
          </a:xfrm>
        </p:spPr>
        <p:txBody>
          <a:bodyPr/>
          <a:lstStyle/>
          <a:p>
            <a:pPr algn="just"/>
            <a:r>
              <a:rPr lang="en-US" dirty="0">
                <a:hlinkClick r:id="rId2"/>
              </a:rPr>
              <a:t>Retirement: Azure Network Policy Manager (NPM) for Windows nodes on AKS to Be Retired by September 30, 2026</a:t>
            </a:r>
            <a:endParaRPr lang="en-US" dirty="0"/>
          </a:p>
          <a:p>
            <a:pPr algn="just"/>
            <a:r>
              <a:rPr lang="en-US" dirty="0"/>
              <a:t>On September 30, 2026, MS will end support for Azure Network Policy Manager (NPM) on Windows nodes in AKS. To ensure setup continues to receive support, security updates, and deployment compatibility, please explore alternative options, such as using </a:t>
            </a:r>
            <a:r>
              <a:rPr lang="en-US" b="1" dirty="0"/>
              <a:t>Network Security Groups (NSGs) </a:t>
            </a:r>
            <a:r>
              <a:rPr lang="en-US" dirty="0"/>
              <a:t>on the node level or open-source tools like Project Calico by that date. </a:t>
            </a:r>
          </a:p>
          <a:p>
            <a:pPr algn="just"/>
            <a:r>
              <a:rPr lang="en-US" dirty="0"/>
              <a:t>The existing experience that Azure Network Policy Manager for Windows nodes offers will no longer be supported starting September 30, 2026.   </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r>
              <a:rPr lang="en-US" dirty="0">
                <a:hlinkClick r:id="rId2"/>
              </a:rPr>
              <a:t>Generally Available: Custom port support for Azure Database for MySQL – Flexible Server</a:t>
            </a:r>
            <a:endParaRPr lang="en-US" dirty="0"/>
          </a:p>
          <a:p>
            <a:r>
              <a:rPr lang="en-US" dirty="0"/>
              <a:t>It is now possible to use custom ports (25001–26000) during server creation for both public and private access-enabled servers.</a:t>
            </a:r>
          </a:p>
          <a:p>
            <a:r>
              <a:rPr lang="en-US" dirty="0"/>
              <a:t>Feature highlights: </a:t>
            </a:r>
          </a:p>
          <a:p>
            <a:pPr marL="171450" indent="-171450">
              <a:buFont typeface="Arial" panose="020B0604020202020204" pitchFamily="34" charset="0"/>
              <a:buChar char="•"/>
            </a:pPr>
            <a:r>
              <a:rPr lang="en-US" b="1" dirty="0"/>
              <a:t>Custom port configuration (25001–26000)</a:t>
            </a:r>
          </a:p>
          <a:p>
            <a:pPr marL="171450" indent="-171450">
              <a:buFont typeface="Arial" panose="020B0604020202020204" pitchFamily="34" charset="0"/>
              <a:buChar char="•"/>
            </a:pPr>
            <a:r>
              <a:rPr lang="en-US" b="1" dirty="0"/>
              <a:t>One port per server</a:t>
            </a:r>
          </a:p>
          <a:p>
            <a:pPr marL="171450" indent="-171450">
              <a:buFont typeface="Arial" panose="020B0604020202020204" pitchFamily="34" charset="0"/>
              <a:buChar char="•"/>
            </a:pPr>
            <a:r>
              <a:rPr lang="en-US" dirty="0"/>
              <a:t>Supported scenarios for custom port: server creation, restore (cross-port restore supported), read replica creation, high availability enablement.</a:t>
            </a:r>
          </a:p>
          <a:p>
            <a:r>
              <a:rPr lang="en-US" dirty="0"/>
              <a:t>Current limitations: </a:t>
            </a:r>
          </a:p>
          <a:p>
            <a:pPr marL="171450" indent="-171450">
              <a:buFont typeface="Arial" panose="020B0604020202020204" pitchFamily="34" charset="0"/>
              <a:buChar char="•"/>
            </a:pPr>
            <a:r>
              <a:rPr lang="en-US" dirty="0"/>
              <a:t>Custom ports can’t be changed after they’re created. </a:t>
            </a:r>
          </a:p>
          <a:p>
            <a:pPr marL="171450" indent="-171450">
              <a:buFont typeface="Arial" panose="020B0604020202020204" pitchFamily="34" charset="0"/>
              <a:buChar char="•"/>
            </a:pPr>
            <a:r>
              <a:rPr lang="en-US" dirty="0"/>
              <a:t>Geo-restore and geo-replication aren’t yet supported. </a:t>
            </a:r>
          </a:p>
        </p:txBody>
      </p:sp>
      <p:sp>
        <p:nvSpPr>
          <p:cNvPr id="2" name="Text Placeholder 13">
            <a:extLst>
              <a:ext uri="{FF2B5EF4-FFF2-40B4-BE49-F238E27FC236}">
                <a16:creationId xmlns:a16="http://schemas.microsoft.com/office/drawing/2014/main" id="{B6F37A70-680F-B50D-A1A9-E9D2AE2C922F}"/>
              </a:ext>
            </a:extLst>
          </p:cNvPr>
          <p:cNvSpPr txBox="1">
            <a:spLocks/>
          </p:cNvSpPr>
          <p:nvPr/>
        </p:nvSpPr>
        <p:spPr>
          <a:xfrm>
            <a:off x="4570857" y="855080"/>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3"/>
              </a:rPr>
              <a:t>Generally </a:t>
            </a:r>
            <a:r>
              <a:rPr lang="en-US" dirty="0" err="1">
                <a:hlinkClick r:id="rId3"/>
              </a:rPr>
              <a:t>Avaialbe</a:t>
            </a:r>
            <a:r>
              <a:rPr lang="en-US" dirty="0">
                <a:hlinkClick r:id="rId3"/>
              </a:rPr>
              <a:t>: Azure NetApp Files short-term clones</a:t>
            </a:r>
            <a:endParaRPr lang="en-US" dirty="0"/>
          </a:p>
          <a:p>
            <a:pPr algn="just"/>
            <a:r>
              <a:rPr lang="en-US" dirty="0"/>
              <a:t>Azure NetApp Files short-term clones enable space-efficient, instant read/write access to data by creating temporary thin clones from existing volume snapshots, eliminating the need for full data copies and enabling capacity savings. </a:t>
            </a:r>
          </a:p>
          <a:p>
            <a:pPr algn="just"/>
            <a:r>
              <a:rPr lang="en-US" dirty="0"/>
              <a:t>Ideal for software development, analytics, disaster recovery and testing, short-term clones support large datasets and allow quick refreshes from the latest snapshots.</a:t>
            </a:r>
          </a:p>
          <a:p>
            <a:pPr algn="just"/>
            <a:r>
              <a:rPr lang="en-US" dirty="0"/>
              <a:t>Short-term clones remain temporary and space-efficient for up to 32 days, consuming capacity only for incremental changes. This capability accelerates development and analytics workflows, improves quality and resilience, and reduces costs by avoiding full copy storage and minimizing operational overhead. This capability is now generally available in all Azure NetApp Files supported regions. </a:t>
            </a:r>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7A46-37FC-DE37-B781-F6CD941A9DA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3F52A13-614F-F618-4B9C-591B009977B2}"/>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95405789-54A1-B49A-B9F4-2BC26AD8154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84D6F84-88AB-C63B-5FD4-B461BDD233D2}"/>
              </a:ext>
            </a:extLst>
          </p:cNvPr>
          <p:cNvSpPr>
            <a:spLocks noGrp="1"/>
          </p:cNvSpPr>
          <p:nvPr>
            <p:ph type="body" sz="quarter" idx="16"/>
          </p:nvPr>
        </p:nvSpPr>
        <p:spPr/>
        <p:txBody>
          <a:bodyPr/>
          <a:lstStyle/>
          <a:p>
            <a:r>
              <a:rPr lang="en-US" dirty="0">
                <a:hlinkClick r:id="rId2"/>
              </a:rPr>
              <a:t>Azure unmanaged disks will be retired on 31 March 2026 (formerly 30 September 2025)</a:t>
            </a:r>
            <a:endParaRPr lang="en-US" dirty="0"/>
          </a:p>
          <a:p>
            <a:r>
              <a:rPr lang="en-US" dirty="0"/>
              <a:t>This functionality will be completely retired on March 31, 2026 (extended from September 30, 2025). </a:t>
            </a:r>
          </a:p>
          <a:p>
            <a:r>
              <a:rPr lang="en-US" dirty="0"/>
              <a:t>If you use unmanaged disks, you should start planning your migration now. Migrate your data from Azure unmanaged disk storage to managed disks before March 31, 2026.</a:t>
            </a:r>
          </a:p>
        </p:txBody>
      </p:sp>
    </p:spTree>
    <p:extLst>
      <p:ext uri="{BB962C8B-B14F-4D97-AF65-F5344CB8AC3E}">
        <p14:creationId xmlns:p14="http://schemas.microsoft.com/office/powerpoint/2010/main" val="22816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a:xfrm>
            <a:off x="342900" y="855081"/>
            <a:ext cx="3955312" cy="1716670"/>
          </a:xfrm>
        </p:spPr>
        <p:txBody>
          <a:bodyPr/>
          <a:lstStyle/>
          <a:p>
            <a:pPr algn="just"/>
            <a:r>
              <a:rPr lang="en-US" dirty="0">
                <a:hlinkClick r:id="rId2"/>
              </a:rPr>
              <a:t>Generally Available: Latest PostgreSQL minor versions supported by Azure Database for PostgreSQL – Flexible Server </a:t>
            </a:r>
            <a:endParaRPr lang="en-US" dirty="0"/>
          </a:p>
          <a:p>
            <a:pPr algn="just"/>
            <a:r>
              <a:rPr lang="en-US" dirty="0"/>
              <a:t>PostgreSQL </a:t>
            </a:r>
            <a:r>
              <a:rPr lang="en-US" b="1" dirty="0"/>
              <a:t>minor versions 17.6, 16.10, 15.14, 14.19, 13.22, and 18 Beta 3 are now supported by Azure Database for PostgreSQL </a:t>
            </a:r>
            <a:r>
              <a:rPr lang="en-US" dirty="0"/>
              <a:t>– Flexible Server.     </a:t>
            </a:r>
          </a:p>
          <a:p>
            <a:pPr algn="just"/>
            <a:r>
              <a:rPr lang="en-US" dirty="0"/>
              <a:t>These minor version upgrades </a:t>
            </a:r>
            <a:r>
              <a:rPr lang="en-US" b="1" dirty="0"/>
              <a:t>are automatically performed as part of the monthly planned maintenance in Azure Database for PostgreSQL </a:t>
            </a:r>
            <a:r>
              <a:rPr lang="en-US" dirty="0"/>
              <a:t>– Flexible Server. This upgrade automation ensures that databases are always running the latest optimized versions without requiring manual intervention. </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a:xfrm>
            <a:off x="4433776" y="855081"/>
            <a:ext cx="4365038" cy="1404900"/>
          </a:xfrm>
        </p:spPr>
        <p:txBody>
          <a:bodyPr/>
          <a:lstStyle/>
          <a:p>
            <a:pPr algn="just"/>
            <a:r>
              <a:rPr lang="en-US" sz="1000" dirty="0">
                <a:hlinkClick r:id="rId2"/>
              </a:rPr>
              <a:t>Retirement: Azure Cache for Redis Enterprise is retiring on March 30, 2027</a:t>
            </a:r>
            <a:endParaRPr lang="en-US" sz="1000" dirty="0"/>
          </a:p>
          <a:p>
            <a:pPr algn="just"/>
            <a:r>
              <a:rPr lang="en-US" sz="1000" dirty="0"/>
              <a:t>Azure Cache for Redis Enterprise and Enterprise Flash tiers is retiring on </a:t>
            </a:r>
            <a:r>
              <a:rPr lang="en-US" sz="1000" b="1" dirty="0"/>
              <a:t>March 31, 2027 </a:t>
            </a:r>
            <a:r>
              <a:rPr lang="en-US" sz="1000" dirty="0"/>
              <a:t>and MS recommend migrate workloads to use Azure Managed Redis by that date. Starting April 1, 2026, users will not be able to create new instances of Azure Cache for Redis Enterprise. All remaining Azure Cache for Redis Enterprise and Enterprise Flash instances will be migrated to Azure Managed Redis automatically after April 1, 2027</a:t>
            </a:r>
          </a:p>
          <a:p>
            <a:pPr algn="just"/>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Retirement: Azure Cache for Redis is retiring on September 30, 2028</a:t>
            </a:r>
            <a:endParaRPr lang="en-US" dirty="0"/>
          </a:p>
          <a:p>
            <a:pPr algn="just"/>
            <a:r>
              <a:rPr lang="en-US" dirty="0"/>
              <a:t>Azure Cache for Redis (Basic, Standard and Premium) will be retired on </a:t>
            </a:r>
            <a:r>
              <a:rPr lang="en-US" b="1" dirty="0"/>
              <a:t>September 30, 2028 </a:t>
            </a:r>
            <a:r>
              <a:rPr lang="en-US" dirty="0"/>
              <a:t>and MS recommend migrate workloads to use Azure Managed Redis before September 30, 2028. Azure Cache for Redis instances that are not </a:t>
            </a:r>
            <a:r>
              <a:rPr lang="en-US" b="1" dirty="0"/>
              <a:t>migrated by September 30, 2028 </a:t>
            </a:r>
            <a:r>
              <a:rPr lang="en-US" dirty="0"/>
              <a:t>will be shut down. </a:t>
            </a:r>
          </a:p>
          <a:p>
            <a:pPr algn="just"/>
            <a:r>
              <a:rPr lang="en-US" dirty="0"/>
              <a:t>Azure Cache for Redis is built on </a:t>
            </a:r>
            <a:r>
              <a:rPr lang="en-US" b="1" dirty="0"/>
              <a:t>a fork of the Redis open source software (OSS).</a:t>
            </a:r>
            <a:r>
              <a:rPr lang="en-US" dirty="0"/>
              <a:t> Azure Managed Redis uses </a:t>
            </a:r>
            <a:r>
              <a:rPr lang="en-US" b="1" dirty="0"/>
              <a:t>the Redis Enterprise software. </a:t>
            </a:r>
            <a:r>
              <a:rPr lang="en-US" dirty="0"/>
              <a:t>Redis Enterprise essentially builds on Redis OSS with advanced features designed for scalability, reliability, and enterprise-grade security.</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51C19-26D9-F0EC-D258-E03F4480B96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17E32E8D-64A0-E920-A41E-F85F4412591D}"/>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3A7A328E-9FAE-90A5-47FC-D76F4B57B99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605F26D-C766-BADD-96A7-69DE7AF10B9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E6A30BB-2292-9F3C-31D8-001F91B8B143}"/>
              </a:ext>
            </a:extLst>
          </p:cNvPr>
          <p:cNvSpPr>
            <a:spLocks noGrp="1"/>
          </p:cNvSpPr>
          <p:nvPr>
            <p:ph type="body" sz="quarter" idx="16"/>
          </p:nvPr>
        </p:nvSpPr>
        <p:spPr>
          <a:xfrm>
            <a:off x="342900" y="855080"/>
            <a:ext cx="3955312" cy="2587775"/>
          </a:xfrm>
        </p:spPr>
        <p:txBody>
          <a:bodyPr/>
          <a:lstStyle/>
          <a:p>
            <a:pPr algn="just"/>
            <a:r>
              <a:rPr lang="en-US" dirty="0">
                <a:hlinkClick r:id="rId2"/>
              </a:rPr>
              <a:t>Retirement: Azure AI Health Insights and related models</a:t>
            </a:r>
            <a:endParaRPr lang="en-US" dirty="0"/>
          </a:p>
          <a:p>
            <a:pPr algn="just"/>
            <a:r>
              <a:rPr lang="en-US" dirty="0"/>
              <a:t> As part of a strategic review of AI portfolio</a:t>
            </a:r>
            <a:r>
              <a:rPr lang="en-US" b="1" dirty="0"/>
              <a:t>, Azure AI Health Insights service and the Clinical Trials Matcher and Radiology Insights </a:t>
            </a:r>
            <a:r>
              <a:rPr lang="en-US" dirty="0"/>
              <a:t>models will be retired on </a:t>
            </a:r>
            <a:r>
              <a:rPr lang="en-US" b="1" dirty="0"/>
              <a:t>December 31, 2025, </a:t>
            </a:r>
            <a:r>
              <a:rPr lang="en-US" dirty="0"/>
              <a:t>and will no longer be available for use or integration. </a:t>
            </a:r>
          </a:p>
          <a:p>
            <a:pPr algn="just"/>
            <a:r>
              <a:rPr lang="en-US" dirty="0"/>
              <a:t>As a result, effective December 31, 2025: </a:t>
            </a:r>
          </a:p>
          <a:p>
            <a:pPr marL="171450" indent="-171450" algn="just">
              <a:buFont typeface="Arial" panose="020B0604020202020204" pitchFamily="34" charset="0"/>
              <a:buChar char="•"/>
            </a:pPr>
            <a:r>
              <a:rPr lang="en-US" dirty="0"/>
              <a:t>All endpoints and container images for these models will be removed from the Microsoft Artifact Registry. </a:t>
            </a:r>
          </a:p>
          <a:p>
            <a:pPr marL="171450" indent="-171450" algn="just">
              <a:buFont typeface="Arial" panose="020B0604020202020204" pitchFamily="34" charset="0"/>
              <a:buChar char="•"/>
            </a:pPr>
            <a:r>
              <a:rPr lang="en-US" dirty="0"/>
              <a:t>Any deployments of the models in your own hosting environment will cease to function. </a:t>
            </a:r>
          </a:p>
          <a:p>
            <a:pPr marL="171450" indent="-171450" algn="just">
              <a:buFont typeface="Arial" panose="020B0604020202020204" pitchFamily="34" charset="0"/>
              <a:buChar char="•"/>
            </a:pPr>
            <a:r>
              <a:rPr lang="en-US" dirty="0"/>
              <a:t>Endpoints for the service and models will no longer be available via the Azure Portal. </a:t>
            </a:r>
          </a:p>
          <a:p>
            <a:pPr marL="171450" indent="-171450" algn="just">
              <a:buFont typeface="Arial" panose="020B0604020202020204" pitchFamily="34" charset="0"/>
              <a:buChar char="•"/>
            </a:pPr>
            <a:r>
              <a:rPr lang="en-US" dirty="0"/>
              <a:t>API calls to these models will no longer return results. </a:t>
            </a:r>
          </a:p>
        </p:txBody>
      </p:sp>
    </p:spTree>
    <p:extLst>
      <p:ext uri="{BB962C8B-B14F-4D97-AF65-F5344CB8AC3E}">
        <p14:creationId xmlns:p14="http://schemas.microsoft.com/office/powerpoint/2010/main" val="365619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DevOps &amp; IaC &amp; Automation</a:t>
            </a:r>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691222"/>
          </a:xfrm>
        </p:spPr>
        <p:txBody>
          <a:bodyPr/>
          <a:lstStyle/>
          <a:p>
            <a:r>
              <a:rPr lang="en-US" dirty="0">
                <a:hlinkClick r:id="rId2"/>
              </a:rPr>
              <a:t>Announcing the new Azure DevOps Server RC Release</a:t>
            </a:r>
            <a:endParaRPr lang="en-US" dirty="0"/>
          </a:p>
          <a:p>
            <a:r>
              <a:rPr lang="en-US" dirty="0"/>
              <a:t>MS announced the release candidate (RC) of Azure DevOps Server, bringing new features previously available in the hosted version.</a:t>
            </a:r>
          </a:p>
          <a:p>
            <a:endParaRPr lang="en-US" dirty="0"/>
          </a:p>
        </p:txBody>
      </p:sp>
    </p:spTree>
    <p:extLst>
      <p:ext uri="{BB962C8B-B14F-4D97-AF65-F5344CB8AC3E}">
        <p14:creationId xmlns:p14="http://schemas.microsoft.com/office/powerpoint/2010/main" val="1921881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1052</TotalTime>
  <Words>1920</Words>
  <Application>Microsoft Office PowerPoint</Application>
  <PresentationFormat>On-screen Show (16:9)</PresentationFormat>
  <Paragraphs>111</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Human Sans</vt:lpstr>
      <vt:lpstr>Human Sans Regular</vt:lpstr>
      <vt:lpstr>Continuum Theme</vt:lpstr>
      <vt:lpstr>Azure Times #182</vt:lpstr>
      <vt:lpstr>PowerPoint Presentation</vt:lpstr>
      <vt:lpstr>Networking Updates</vt:lpstr>
      <vt:lpstr>PowerPoint Presentation</vt:lpstr>
      <vt:lpstr>Management &amp; Governance Updates</vt:lpstr>
      <vt:lpstr>Management &amp; Governance Updates</vt:lpstr>
      <vt:lpstr>Management &amp; Governance Updates</vt:lpstr>
      <vt:lpstr>Management &amp; Governance Updates</vt:lpstr>
      <vt:lpstr>Management &amp; Governance Updates</vt:lpstr>
      <vt:lpstr>PowerPoint Presentation</vt:lpstr>
      <vt:lpstr>Compute Updates</vt:lpstr>
      <vt:lpstr>Compute Updates</vt:lpstr>
      <vt:lpstr>PowerPoint Presentation</vt:lpstr>
      <vt:lpstr>Storage &amp; Data Updates</vt:lpstr>
      <vt:lpstr>Storage &amp; Data Updates</vt:lpstr>
      <vt:lpstr>PowerPoint Presentation</vt:lpstr>
      <vt:lpstr>Databases Updates</vt:lpstr>
      <vt:lpstr>Databases Updates</vt:lpstr>
      <vt:lpstr>PowerPoint Presentation</vt:lpstr>
      <vt:lpstr>ML &amp; AI &amp; IOT Updates</vt:lpstr>
      <vt:lpstr>PowerPoint Presentation</vt:lpstr>
      <vt:lpstr>DevOps &amp; IaC &amp; Automation</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154</cp:revision>
  <dcterms:created xsi:type="dcterms:W3CDTF">2018-01-26T19:23:30Z</dcterms:created>
  <dcterms:modified xsi:type="dcterms:W3CDTF">2025-10-13T07:28:38Z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