
<file path=[Content_Types].xml><?xml version="1.0" encoding="utf-8"?>
<Types xmlns="http://schemas.openxmlformats.org/package/2006/content-types">
  <Default Extension="png" ContentType="image/png"/>
  <Default Extension="rels" ContentType="application/vnd.openxmlformats-package.relationships+xml"/>
  <Default Extension="xml" ContentType="application/xml"/>
  <Override PartName="/ppt/presentation.xml" ContentType="application/vnd.openxmlformats-officedocument.presentationml.presentation.main+xml"/>
  <Override PartName="/customXml/itemProps1.xml" ContentType="application/vnd.openxmlformats-officedocument.customXmlProperties+xml"/>
  <Override PartName="/customXml/itemProps2.xml" ContentType="application/vnd.openxmlformats-officedocument.customXmlProperties+xml"/>
  <Override PartName="/customXml/itemProps3.xml" ContentType="application/vnd.openxmlformats-officedocument.customXmlProperties+xml"/>
  <Override PartName="/ppt/slideMasters/slideMaster1.xml" ContentType="application/vnd.openxmlformats-officedocument.presentationml.slideMaster+xml"/>
  <Override PartName="/ppt/slides/slide1.xml" ContentType="application/vnd.openxmlformats-officedocument.presentationml.slide+xml"/>
  <Override PartName="/ppt/slides/slide2.xml" ContentType="application/vnd.openxmlformats-officedocument.presentationml.slide+xml"/>
  <Override PartName="/ppt/slides/slide3.xml" ContentType="application/vnd.openxmlformats-officedocument.presentationml.slide+xml"/>
  <Override PartName="/ppt/slides/slide4.xml" ContentType="application/vnd.openxmlformats-officedocument.presentationml.slide+xml"/>
  <Override PartName="/ppt/slides/slide5.xml" ContentType="application/vnd.openxmlformats-officedocument.presentationml.slide+xml"/>
  <Override PartName="/ppt/slides/slide6.xml" ContentType="application/vnd.openxmlformats-officedocument.presentationml.slide+xml"/>
  <Override PartName="/ppt/slides/slide7.xml" ContentType="application/vnd.openxmlformats-officedocument.presentationml.slide+xml"/>
  <Override PartName="/ppt/slides/slide8.xml" ContentType="application/vnd.openxmlformats-officedocument.presentationml.slide+xml"/>
  <Override PartName="/ppt/slides/slide9.xml" ContentType="application/vnd.openxmlformats-officedocument.presentationml.slide+xml"/>
  <Override PartName="/ppt/slides/slide10.xml" ContentType="application/vnd.openxmlformats-officedocument.presentationml.slide+xml"/>
  <Override PartName="/ppt/slides/slide11.xml" ContentType="application/vnd.openxmlformats-officedocument.presentationml.slide+xml"/>
  <Override PartName="/ppt/slides/slide12.xml" ContentType="application/vnd.openxmlformats-officedocument.presentationml.slide+xml"/>
  <Override PartName="/ppt/slides/slide13.xml" ContentType="application/vnd.openxmlformats-officedocument.presentationml.slide+xml"/>
  <Override PartName="/ppt/slides/slide14.xml" ContentType="application/vnd.openxmlformats-officedocument.presentationml.slide+xml"/>
  <Override PartName="/ppt/slides/slide15.xml" ContentType="application/vnd.openxmlformats-officedocument.presentationml.slide+xml"/>
  <Override PartName="/ppt/slides/slide16.xml" ContentType="application/vnd.openxmlformats-officedocument.presentationml.slide+xml"/>
  <Override PartName="/ppt/slides/slide17.xml" ContentType="application/vnd.openxmlformats-officedocument.presentationml.slide+xml"/>
  <Override PartName="/ppt/slides/slide18.xml" ContentType="application/vnd.openxmlformats-officedocument.presentationml.slide+xml"/>
  <Override PartName="/ppt/slides/slide19.xml" ContentType="application/vnd.openxmlformats-officedocument.presentationml.slide+xml"/>
  <Override PartName="/ppt/slides/slide20.xml" ContentType="application/vnd.openxmlformats-officedocument.presentationml.slide+xml"/>
  <Override PartName="/ppt/slides/slide21.xml" ContentType="application/vnd.openxmlformats-officedocument.presentationml.slide+xml"/>
  <Override PartName="/ppt/slides/slide22.xml" ContentType="application/vnd.openxmlformats-officedocument.presentationml.slide+xml"/>
  <Override PartName="/ppt/slides/slide23.xml" ContentType="application/vnd.openxmlformats-officedocument.presentationml.slide+xml"/>
  <Override PartName="/ppt/slides/slide24.xml" ContentType="application/vnd.openxmlformats-officedocument.presentationml.slide+xml"/>
  <Override PartName="/ppt/slides/slide25.xml" ContentType="application/vnd.openxmlformats-officedocument.presentationml.slide+xml"/>
  <Override PartName="/ppt/slides/slide26.xml" ContentType="application/vnd.openxmlformats-officedocument.presentationml.slide+xml"/>
  <Override PartName="/ppt/slides/slide27.xml" ContentType="application/vnd.openxmlformats-officedocument.presentationml.slide+xml"/>
  <Override PartName="/ppt/slides/slide28.xml" ContentType="application/vnd.openxmlformats-officedocument.presentationml.slide+xml"/>
  <Override PartName="/ppt/slides/slide29.xml" ContentType="application/vnd.openxmlformats-officedocument.presentationml.slide+xml"/>
  <Override PartName="/ppt/slides/slide30.xml" ContentType="application/vnd.openxmlformats-officedocument.presentationml.slide+xml"/>
  <Override PartName="/ppt/slides/slide31.xml" ContentType="application/vnd.openxmlformats-officedocument.presentationml.slide+xml"/>
  <Override PartName="/ppt/slides/slide32.xml" ContentType="application/vnd.openxmlformats-officedocument.presentationml.slide+xml"/>
  <Override PartName="/ppt/slides/slide33.xml" ContentType="application/vnd.openxmlformats-officedocument.presentationml.slide+xml"/>
  <Override PartName="/ppt/slides/slide34.xml" ContentType="application/vnd.openxmlformats-officedocument.presentationml.slide+xml"/>
  <Override PartName="/ppt/slides/slide35.xml" ContentType="application/vnd.openxmlformats-officedocument.presentationml.slide+xml"/>
  <Override PartName="/ppt/slides/slide36.xml" ContentType="application/vnd.openxmlformats-officedocument.presentationml.slide+xml"/>
  <Override PartName="/ppt/notesMasters/notesMaster1.xml" ContentType="application/vnd.openxmlformats-officedocument.presentationml.notesMaster+xml"/>
  <Override PartName="/ppt/handoutMasters/handoutMaster1.xml" ContentType="application/vnd.openxmlformats-officedocument.presentationml.handoutMaster+xml"/>
  <Override PartName="/ppt/commentAuthors.xml" ContentType="application/vnd.openxmlformats-officedocument.presentationml.commentAuthors+xml"/>
  <Override PartName="/ppt/presProps.xml" ContentType="application/vnd.openxmlformats-officedocument.presentationml.presProps+xml"/>
  <Override PartName="/ppt/viewProps.xml" ContentType="application/vnd.openxmlformats-officedocument.presentationml.viewProps+xml"/>
  <Override PartName="/ppt/theme/theme1.xml" ContentType="application/vnd.openxmlformats-officedocument.theme+xml"/>
  <Override PartName="/ppt/tableStyles.xml" ContentType="application/vnd.openxmlformats-officedocument.presentationml.tableStyles+xml"/>
  <Override PartName="/ppt/slideLayouts/slideLayout1.xml" ContentType="application/vnd.openxmlformats-officedocument.presentationml.slideLayout+xml"/>
  <Override PartName="/ppt/slideLayouts/slideLayout2.xml" ContentType="application/vnd.openxmlformats-officedocument.presentationml.slideLayout+xml"/>
  <Override PartName="/ppt/slideLayouts/slideLayout3.xml" ContentType="application/vnd.openxmlformats-officedocument.presentationml.slideLayout+xml"/>
  <Override PartName="/ppt/slideLayouts/slideLayout4.xml" ContentType="application/vnd.openxmlformats-officedocument.presentationml.slideLayout+xml"/>
  <Override PartName="/ppt/slideLayouts/slideLayout5.xml" ContentType="application/vnd.openxmlformats-officedocument.presentationml.slideLayout+xml"/>
  <Override PartName="/ppt/slideLayouts/slideLayout6.xml" ContentType="application/vnd.openxmlformats-officedocument.presentationml.slideLayout+xml"/>
  <Override PartName="/ppt/slideLayouts/slideLayout7.xml" ContentType="application/vnd.openxmlformats-officedocument.presentationml.slideLayout+xml"/>
  <Override PartName="/ppt/slideLayouts/slideLayout8.xml" ContentType="application/vnd.openxmlformats-officedocument.presentationml.slideLayout+xml"/>
  <Override PartName="/ppt/slideLayouts/slideLayout9.xml" ContentType="application/vnd.openxmlformats-officedocument.presentationml.slideLayout+xml"/>
  <Override PartName="/ppt/theme/theme2.xml" ContentType="application/vnd.openxmlformats-officedocument.theme+xml"/>
  <Override PartName="/ppt/theme/theme3.xml" ContentType="application/vnd.openxmlformats-officedocument.theme+xml"/>
  <Override PartName="/ppt/notesSlides/notesSlide1.xml" ContentType="application/vnd.openxmlformats-officedocument.presentationml.notesSlide+xml"/>
  <Override PartName="/ppt/revisionInfo.xml" ContentType="application/vnd.ms-powerpoint.revisioninfo+xml"/>
  <Override PartName="/docProps/core.xml" ContentType="application/vnd.openxmlformats-package.core-properties+xml"/>
  <Override PartName="/docProps/app.xml" ContentType="application/vnd.openxmlformats-officedocument.extended-properties+xml"/>
  <Override PartName="/docProps/custom.xml" ContentType="application/vnd.openxmlformats-officedocument.custom-properties+xml"/>
  <Override PartName="/docMetadata/LabelInfo.xml" ContentType="application/vnd.ms-office.classificationlabels+xml"/>
</Types>
</file>

<file path=_rels/.rels><?xml version="1.0" encoding="UTF-8" standalone="yes"?>
<Relationships xmlns="http://schemas.openxmlformats.org/package/2006/relationships"><Relationship Id="rId3" Type="http://schemas.openxmlformats.org/officeDocument/2006/relationships/extended-properties" Target="docProps/app.xml"/><Relationship Id="rId2" Type="http://schemas.openxmlformats.org/package/2006/relationships/metadata/core-properties" Target="docProps/core.xml"/><Relationship Id="rId1" Type="http://schemas.openxmlformats.org/officeDocument/2006/relationships/officeDocument" Target="ppt/presentation.xml"/><Relationship Id="rId5" Type="http://schemas.microsoft.com/office/2020/02/relationships/classificationlabels" Target="docMetadata/LabelInfo.xml"/><Relationship Id="rId4" Type="http://schemas.openxmlformats.org/officeDocument/2006/relationships/custom-properties" Target="docProps/custom.xml"/></Relationships>
</file>

<file path=ppt/presentation.xml><?xml version="1.0" encoding="utf-8"?>
<p:presentation xmlns:a="http://schemas.openxmlformats.org/drawingml/2006/main" xmlns:r="http://schemas.openxmlformats.org/officeDocument/2006/relationships" xmlns:p="http://schemas.openxmlformats.org/presentationml/2006/main" saveSubsetFonts="1">
  <p:sldMasterIdLst>
    <p:sldMasterId id="2147483812" r:id="rId4"/>
  </p:sldMasterIdLst>
  <p:notesMasterIdLst>
    <p:notesMasterId r:id="rId41"/>
  </p:notesMasterIdLst>
  <p:handoutMasterIdLst>
    <p:handoutMasterId r:id="rId42"/>
  </p:handoutMasterIdLst>
  <p:sldIdLst>
    <p:sldId id="2142532340" r:id="rId5"/>
    <p:sldId id="2146847045" r:id="rId6"/>
    <p:sldId id="10657" r:id="rId7"/>
    <p:sldId id="2146847046" r:id="rId8"/>
    <p:sldId id="2146847089" r:id="rId9"/>
    <p:sldId id="2146847130" r:id="rId10"/>
    <p:sldId id="2146847158" r:id="rId11"/>
    <p:sldId id="2146847159" r:id="rId12"/>
    <p:sldId id="2146847129" r:id="rId13"/>
    <p:sldId id="2146847128" r:id="rId14"/>
    <p:sldId id="2146847157" r:id="rId15"/>
    <p:sldId id="2146847160" r:id="rId16"/>
    <p:sldId id="2146847161" r:id="rId17"/>
    <p:sldId id="2146847162" r:id="rId18"/>
    <p:sldId id="2146847163" r:id="rId19"/>
    <p:sldId id="2146847164" r:id="rId20"/>
    <p:sldId id="2146847048" r:id="rId21"/>
    <p:sldId id="2146847132" r:id="rId22"/>
    <p:sldId id="2146847050" r:id="rId23"/>
    <p:sldId id="2146847156" r:id="rId24"/>
    <p:sldId id="2146847096" r:id="rId25"/>
    <p:sldId id="2146847135" r:id="rId26"/>
    <p:sldId id="2146847134" r:id="rId27"/>
    <p:sldId id="2146847052" r:id="rId28"/>
    <p:sldId id="2146847137" r:id="rId29"/>
    <p:sldId id="2146847054" r:id="rId30"/>
    <p:sldId id="2146847142" r:id="rId31"/>
    <p:sldId id="2146847140" r:id="rId32"/>
    <p:sldId id="2146847141" r:id="rId33"/>
    <p:sldId id="2146847058" r:id="rId34"/>
    <p:sldId id="2146847111" r:id="rId35"/>
    <p:sldId id="2146847146" r:id="rId36"/>
    <p:sldId id="2146847147" r:id="rId37"/>
    <p:sldId id="2146847085" r:id="rId38"/>
    <p:sldId id="2146847084" r:id="rId39"/>
    <p:sldId id="2146847064" r:id="rId40"/>
  </p:sldIdLst>
  <p:sldSz cx="9144000" cy="5143500" type="screen16x9"/>
  <p:notesSz cx="6858000" cy="9144000"/>
  <p:defaultTextStyle>
    <a:defPPr>
      <a:defRPr lang="en-US"/>
    </a:defPPr>
    <a:lvl1pPr marL="0" algn="l" defTabSz="685800" rtl="0" eaLnBrk="1" latinLnBrk="0" hangingPunct="1">
      <a:defRPr sz="1350" kern="1200">
        <a:solidFill>
          <a:schemeClr val="tx1"/>
        </a:solidFill>
        <a:latin typeface="+mn-lt"/>
        <a:ea typeface="+mn-ea"/>
        <a:cs typeface="+mn-cs"/>
      </a:defRPr>
    </a:lvl1pPr>
    <a:lvl2pPr marL="342900" algn="l" defTabSz="685800" rtl="0" eaLnBrk="1" latinLnBrk="0" hangingPunct="1">
      <a:defRPr sz="1350" kern="1200">
        <a:solidFill>
          <a:schemeClr val="tx1"/>
        </a:solidFill>
        <a:latin typeface="+mn-lt"/>
        <a:ea typeface="+mn-ea"/>
        <a:cs typeface="+mn-cs"/>
      </a:defRPr>
    </a:lvl2pPr>
    <a:lvl3pPr marL="685800" algn="l" defTabSz="685800" rtl="0" eaLnBrk="1" latinLnBrk="0" hangingPunct="1">
      <a:defRPr sz="1350" kern="1200">
        <a:solidFill>
          <a:schemeClr val="tx1"/>
        </a:solidFill>
        <a:latin typeface="+mn-lt"/>
        <a:ea typeface="+mn-ea"/>
        <a:cs typeface="+mn-cs"/>
      </a:defRPr>
    </a:lvl3pPr>
    <a:lvl4pPr marL="1028700" algn="l" defTabSz="685800" rtl="0" eaLnBrk="1" latinLnBrk="0" hangingPunct="1">
      <a:defRPr sz="1350" kern="1200">
        <a:solidFill>
          <a:schemeClr val="tx1"/>
        </a:solidFill>
        <a:latin typeface="+mn-lt"/>
        <a:ea typeface="+mn-ea"/>
        <a:cs typeface="+mn-cs"/>
      </a:defRPr>
    </a:lvl4pPr>
    <a:lvl5pPr marL="1371600" algn="l" defTabSz="685800" rtl="0" eaLnBrk="1" latinLnBrk="0" hangingPunct="1">
      <a:defRPr sz="1350" kern="1200">
        <a:solidFill>
          <a:schemeClr val="tx1"/>
        </a:solidFill>
        <a:latin typeface="+mn-lt"/>
        <a:ea typeface="+mn-ea"/>
        <a:cs typeface="+mn-cs"/>
      </a:defRPr>
    </a:lvl5pPr>
    <a:lvl6pPr marL="1714500" algn="l" defTabSz="685800" rtl="0" eaLnBrk="1" latinLnBrk="0" hangingPunct="1">
      <a:defRPr sz="1350" kern="1200">
        <a:solidFill>
          <a:schemeClr val="tx1"/>
        </a:solidFill>
        <a:latin typeface="+mn-lt"/>
        <a:ea typeface="+mn-ea"/>
        <a:cs typeface="+mn-cs"/>
      </a:defRPr>
    </a:lvl6pPr>
    <a:lvl7pPr marL="2057400" algn="l" defTabSz="685800" rtl="0" eaLnBrk="1" latinLnBrk="0" hangingPunct="1">
      <a:defRPr sz="1350" kern="1200">
        <a:solidFill>
          <a:schemeClr val="tx1"/>
        </a:solidFill>
        <a:latin typeface="+mn-lt"/>
        <a:ea typeface="+mn-ea"/>
        <a:cs typeface="+mn-cs"/>
      </a:defRPr>
    </a:lvl7pPr>
    <a:lvl8pPr marL="2400300" algn="l" defTabSz="685800" rtl="0" eaLnBrk="1" latinLnBrk="0" hangingPunct="1">
      <a:defRPr sz="1350" kern="1200">
        <a:solidFill>
          <a:schemeClr val="tx1"/>
        </a:solidFill>
        <a:latin typeface="+mn-lt"/>
        <a:ea typeface="+mn-ea"/>
        <a:cs typeface="+mn-cs"/>
      </a:defRPr>
    </a:lvl8pPr>
    <a:lvl9pPr marL="2743200" algn="l" defTabSz="685800" rtl="0" eaLnBrk="1" latinLnBrk="0" hangingPunct="1">
      <a:defRPr sz="1350" kern="1200">
        <a:solidFill>
          <a:schemeClr val="tx1"/>
        </a:solidFill>
        <a:latin typeface="+mn-lt"/>
        <a:ea typeface="+mn-ea"/>
        <a:cs typeface="+mn-cs"/>
      </a:defRPr>
    </a:lvl9pPr>
  </p:defaultTextStyle>
  <p:extLst>
    <p:ext uri="{521415D9-36F7-43E2-AB2F-B90AF26B5E84}">
      <p14:sectionLst xmlns:p14="http://schemas.microsoft.com/office/powerpoint/2010/main">
        <p14:section name="Intro" id="{A752CF65-4D58-4370-B229-5F4CB000B44D}">
          <p14:sldIdLst>
            <p14:sldId id="2142532340"/>
          </p14:sldIdLst>
        </p14:section>
        <p14:section name="Networking" id="{8B3AEA99-85F7-477B-B976-48DC47AA1A88}">
          <p14:sldIdLst>
            <p14:sldId id="2146847045"/>
            <p14:sldId id="10657"/>
          </p14:sldIdLst>
        </p14:section>
        <p14:section name="Security &amp; Identity" id="{1AA42572-B3BD-44F7-813B-C2C647DDBB3C}">
          <p14:sldIdLst>
            <p14:sldId id="2146847046"/>
            <p14:sldId id="2146847089"/>
            <p14:sldId id="2146847130"/>
            <p14:sldId id="2146847158"/>
            <p14:sldId id="2146847159"/>
            <p14:sldId id="2146847129"/>
            <p14:sldId id="2146847128"/>
            <p14:sldId id="2146847157"/>
            <p14:sldId id="2146847160"/>
            <p14:sldId id="2146847161"/>
            <p14:sldId id="2146847162"/>
            <p14:sldId id="2146847163"/>
            <p14:sldId id="2146847164"/>
          </p14:sldIdLst>
        </p14:section>
        <p14:section name="Management &amp; Governance" id="{34181601-6D48-4406-A525-C7B5A12C6C5B}">
          <p14:sldIdLst>
            <p14:sldId id="2146847048"/>
            <p14:sldId id="2146847132"/>
          </p14:sldIdLst>
        </p14:section>
        <p14:section name="Compute" id="{05AA80BB-8802-49AB-8336-A884227CE2F7}">
          <p14:sldIdLst>
            <p14:sldId id="2146847050"/>
            <p14:sldId id="2146847156"/>
            <p14:sldId id="2146847096"/>
            <p14:sldId id="2146847135"/>
            <p14:sldId id="2146847134"/>
          </p14:sldIdLst>
        </p14:section>
        <p14:section name="Storage &amp; Data" id="{1F159046-CE0A-45BC-9D5B-6E6C95980F78}">
          <p14:sldIdLst>
            <p14:sldId id="2146847052"/>
            <p14:sldId id="2146847137"/>
          </p14:sldIdLst>
        </p14:section>
        <p14:section name="Databases" id="{AEAFAE72-AD56-48F3-926B-38BAE269038F}">
          <p14:sldIdLst>
            <p14:sldId id="2146847054"/>
            <p14:sldId id="2146847142"/>
            <p14:sldId id="2146847140"/>
            <p14:sldId id="2146847141"/>
          </p14:sldIdLst>
        </p14:section>
        <p14:section name="Integration" id="{ACBD46A3-6F1C-451B-A154-0A056E0DEFF6}">
          <p14:sldIdLst/>
        </p14:section>
        <p14:section name="ML &amp; AI &amp; IOT" id="{F4E1EAF1-55E9-4CA4-8ADC-28B69C1D66D2}">
          <p14:sldIdLst>
            <p14:sldId id="2146847058"/>
            <p14:sldId id="2146847111"/>
            <p14:sldId id="2146847146"/>
            <p14:sldId id="2146847147"/>
          </p14:sldIdLst>
        </p14:section>
        <p14:section name="Miscellaneous" id="{A1456D7A-93BE-4023-90AA-7269D2F177BA}">
          <p14:sldIdLst/>
        </p14:section>
        <p14:section name="End" id="{82899442-2AC4-4699-95EB-48D45B913575}">
          <p14:sldIdLst>
            <p14:sldId id="2146847085"/>
            <p14:sldId id="2146847084"/>
            <p14:sldId id="2146847064"/>
          </p14:sldIdLst>
        </p14:section>
      </p14:sectionLst>
    </p:ext>
    <p:ext uri="{EFAFB233-063F-42B5-8137-9DF3F51BA10A}">
      <p15:sldGuideLst xmlns:p15="http://schemas.microsoft.com/office/powerpoint/2012/main"/>
    </p:ext>
    <p:ext uri="{2D200454-40CA-4A62-9FC3-DE9A4176ACB9}">
      <p15:notesGuideLst xmlns:p15="http://schemas.microsoft.com/office/powerpoint/2012/main">
        <p15:guide id="1" orient="horz" pos="2736" userDrawn="1">
          <p15:clr>
            <a:srgbClr val="A4A3A4"/>
          </p15:clr>
        </p15:guide>
        <p15:guide id="2" pos="1477" userDrawn="1">
          <p15:clr>
            <a:srgbClr val="A4A3A4"/>
          </p15:clr>
        </p15:guide>
      </p15:notesGuideLst>
    </p:ext>
  </p:extLst>
</p:presentation>
</file>

<file path=ppt/commentAuthors.xml><?xml version="1.0" encoding="utf-8"?>
<p:cmAuthorLst xmlns:a="http://schemas.openxmlformats.org/drawingml/2006/main" xmlns:r="http://schemas.openxmlformats.org/officeDocument/2006/relationships" xmlns:p="http://schemas.openxmlformats.org/presentationml/2006/main">
  <p:cmAuthor id="7" name="Emily Catuzzi" initials="EC" lastIdx="19" clrIdx="9">
    <p:extLst>
      <p:ext uri="{19B8F6BF-5375-455C-9EA6-DF929625EA0E}">
        <p15:presenceInfo xmlns:p15="http://schemas.microsoft.com/office/powerpoint/2012/main" userId="S::Emily_Catuzzi@epam.com::b46d6ad4-ac70-4125-82a7-0ece5134c360" providerId="AD"/>
      </p:ext>
    </p:extLst>
  </p:cmAuthor>
  <p:cmAuthor id="1" name="Laura Brady" initials="LB" lastIdx="52" clrIdx="3">
    <p:extLst>
      <p:ext uri="{19B8F6BF-5375-455C-9EA6-DF929625EA0E}">
        <p15:presenceInfo xmlns:p15="http://schemas.microsoft.com/office/powerpoint/2012/main" userId="S::Laura_Brady@epam.com::b18c91b0-83fb-4c27-875b-18626d50463b" providerId="AD"/>
      </p:ext>
    </p:extLst>
  </p:cmAuthor>
  <p:cmAuthor id="8" name="Gretchen Rice" initials="GR" lastIdx="4" clrIdx="10">
    <p:extLst>
      <p:ext uri="{19B8F6BF-5375-455C-9EA6-DF929625EA0E}">
        <p15:presenceInfo xmlns:p15="http://schemas.microsoft.com/office/powerpoint/2012/main" userId="S::gretchen_rice@epam.com::e279efbb-a837-440d-b0bd-684dd084c605" providerId="AD"/>
      </p:ext>
    </p:extLst>
  </p:cmAuthor>
  <p:cmAuthor id="2" name="Amy Legere" initials="AL" lastIdx="5" clrIdx="5">
    <p:extLst>
      <p:ext uri="{19B8F6BF-5375-455C-9EA6-DF929625EA0E}">
        <p15:presenceInfo xmlns:p15="http://schemas.microsoft.com/office/powerpoint/2012/main" userId="S::Amy_Legere@epam.com::36c3e91a-2059-4c30-8d42-5285dd7a2555" providerId="AD"/>
      </p:ext>
    </p:extLst>
  </p:cmAuthor>
  <p:cmAuthor id="9" name="Jennifer Markowitz" initials="JM" lastIdx="1" clrIdx="11">
    <p:extLst>
      <p:ext uri="{19B8F6BF-5375-455C-9EA6-DF929625EA0E}">
        <p15:presenceInfo xmlns:p15="http://schemas.microsoft.com/office/powerpoint/2012/main" userId="S::jennifer_markowitz@epam.com::f9148081-3671-49e1-8328-0a911bc72bfd" providerId="AD"/>
      </p:ext>
    </p:extLst>
  </p:cmAuthor>
  <p:cmAuthor id="3" name="John Hatz" initials="JH" lastIdx="1" clrIdx="4">
    <p:extLst>
      <p:ext uri="{19B8F6BF-5375-455C-9EA6-DF929625EA0E}">
        <p15:presenceInfo xmlns:p15="http://schemas.microsoft.com/office/powerpoint/2012/main" userId="S-1-5-21-2676001572-3131771074-2776907194-23347" providerId="AD"/>
      </p:ext>
    </p:extLst>
  </p:cmAuthor>
  <p:cmAuthor id="10" name="Nastassia Smolskaya" initials="NS" lastIdx="11" clrIdx="12">
    <p:extLst>
      <p:ext uri="{19B8F6BF-5375-455C-9EA6-DF929625EA0E}">
        <p15:presenceInfo xmlns:p15="http://schemas.microsoft.com/office/powerpoint/2012/main" userId="S::Nastassia_Smolskaya@epam.com::8ff1f7bc-3066-491e-a683-ea021ab0c825" providerId="AD"/>
      </p:ext>
    </p:extLst>
  </p:cmAuthor>
  <p:cmAuthor id="4" name="John Hatz" initials="JH [2]" lastIdx="3" clrIdx="6">
    <p:extLst>
      <p:ext uri="{19B8F6BF-5375-455C-9EA6-DF929625EA0E}">
        <p15:presenceInfo xmlns:p15="http://schemas.microsoft.com/office/powerpoint/2012/main" userId="S::john_hatz@epam.com::7f3a8b4b-4b1e-493d-b3f9-196adf0a1de0" providerId="AD"/>
      </p:ext>
    </p:extLst>
  </p:cmAuthor>
  <p:cmAuthor id="5" name="Mariette Kouwenberg-Mooney" initials="MK" lastIdx="19" clrIdx="7">
    <p:extLst>
      <p:ext uri="{19B8F6BF-5375-455C-9EA6-DF929625EA0E}">
        <p15:presenceInfo xmlns:p15="http://schemas.microsoft.com/office/powerpoint/2012/main" userId="S::Mariette_Kouwenberg-Mooney@epam.com::e2a13c51-a5c6-436b-ad7f-addd34212f51" providerId="AD"/>
      </p:ext>
    </p:extLst>
  </p:cmAuthor>
  <p:cmAuthor id="6" name="Julie Hansberry" initials="JH" lastIdx="13" clrIdx="8">
    <p:extLst>
      <p:ext uri="{19B8F6BF-5375-455C-9EA6-DF929625EA0E}">
        <p15:presenceInfo xmlns:p15="http://schemas.microsoft.com/office/powerpoint/2012/main" userId="S::julie_hansberry@epam.com::6cd6a8f9-b761-4260-92e9-1b9e97578688" providerId="AD"/>
      </p:ext>
    </p:extLst>
  </p:cmAuthor>
</p:cmAuthorLst>
</file>

<file path=ppt/presProps.xml><?xml version="1.0" encoding="utf-8"?>
<p:presentationPr xmlns:a="http://schemas.openxmlformats.org/drawingml/2006/main" xmlns:r="http://schemas.openxmlformats.org/officeDocument/2006/relationships" xmlns:p="http://schemas.openxmlformats.org/presentationml/2006/main">
  <p:showPr showNarration="1">
    <p:present/>
    <p:sldAll/>
    <p:penClr>
      <a:prstClr val="red"/>
    </p:penClr>
    <p:extLst>
      <p:ext uri="{EC167BDD-8182-4AB7-AECC-EB403E3ABB37}">
        <p14:laserClr xmlns:p14="http://schemas.microsoft.com/office/powerpoint/2010/main">
          <a:srgbClr val="FF0000"/>
        </p14:laserClr>
      </p:ext>
      <p:ext uri="{2FDB2607-1784-4EEB-B798-7EB5836EED8A}">
        <p14:showMediaCtrls xmlns:p14="http://schemas.microsoft.com/office/powerpoint/2010/main" val="1"/>
      </p:ext>
    </p:extLst>
  </p:showPr>
  <p:clrMru>
    <a:srgbClr val="F25D43"/>
    <a:srgbClr val="CADC49"/>
    <a:srgbClr val="E53B2E"/>
    <a:srgbClr val="FFC000"/>
    <a:srgbClr val="D35D47"/>
    <a:srgbClr val="008ACF"/>
    <a:srgbClr val="76CDD8"/>
    <a:srgbClr val="75A0A6"/>
    <a:srgbClr val="569BA5"/>
    <a:srgbClr val="EDC134"/>
  </p:clrMru>
  <p:extLst>
    <p:ext uri="{E76CE94A-603C-4142-B9EB-6D1370010A27}">
      <p14:discardImageEditData xmlns:p14="http://schemas.microsoft.com/office/powerpoint/2010/main" val="0"/>
    </p:ext>
    <p:ext uri="{D31A062A-798A-4329-ABDD-BBA856620510}">
      <p14:defaultImageDpi xmlns:p14="http://schemas.microsoft.com/office/powerpoint/2010/main" val="220"/>
    </p:ext>
    <p:ext uri="{FD5EFAAD-0ECE-453E-9831-46B23BE46B34}">
      <p15:chartTrackingRefBased xmlns:p15="http://schemas.microsoft.com/office/powerpoint/2012/main" val="1"/>
    </p:ext>
  </p:extLst>
</p:presentationPr>
</file>

<file path=ppt/revisionInfo.xml><?xml version="1.0" encoding="utf-8"?>
<p1510:revInfo xmlns:a="http://schemas.openxmlformats.org/drawingml/2006/main" xmlns:r="http://schemas.openxmlformats.org/officeDocument/2006/relationships" xmlns:p1510="http://schemas.microsoft.com/office/powerpoint/2015/10/main">
  <p1510:revLst>
    <p1510:client id="{30B79132-3F09-4EB7-9156-AFD2ABE5B897}" v="37" dt="2021-04-12T18:27:46.962"/>
  </p1510:revLst>
</p1510:revInfo>
</file>

<file path=ppt/tableStyles.xml><?xml version="1.0" encoding="utf-8"?>
<a:tblStyleLst xmlns:a="http://schemas.openxmlformats.org/drawingml/2006/main" def="{5C22544A-7EE6-4342-B048-85BDC9FD1C3A}">
  <a:tblStyle styleId="{5C22544A-7EE6-4342-B048-85BDC9FD1C3A}" styleName="Medium Style 2 - Accent 1">
    <a:wholeTbl>
      <a:tcTxStyle>
        <a:fontRef idx="minor">
          <a:prstClr val="black"/>
        </a:fontRef>
        <a:schemeClr val="dk1"/>
      </a:tcTxStyle>
      <a:tcStyle>
        <a:tcBdr>
          <a:left>
            <a:ln w="12700" cmpd="sng">
              <a:solidFill>
                <a:schemeClr val="lt1"/>
              </a:solidFill>
            </a:ln>
          </a:left>
          <a:right>
            <a:ln w="12700" cmpd="sng">
              <a:solidFill>
                <a:schemeClr val="lt1"/>
              </a:solidFill>
            </a:ln>
          </a:right>
          <a:top>
            <a:ln w="12700" cmpd="sng">
              <a:solidFill>
                <a:schemeClr val="lt1"/>
              </a:solidFill>
            </a:ln>
          </a:top>
          <a:bottom>
            <a:ln w="12700" cmpd="sng">
              <a:solidFill>
                <a:schemeClr val="lt1"/>
              </a:solidFill>
            </a:ln>
          </a:bottom>
          <a:insideH>
            <a:ln w="12700" cmpd="sng">
              <a:solidFill>
                <a:schemeClr val="lt1"/>
              </a:solidFill>
            </a:ln>
          </a:insideH>
          <a:insideV>
            <a:ln w="12700" cmpd="sng">
              <a:solidFill>
                <a:schemeClr val="lt1"/>
              </a:solidFill>
            </a:ln>
          </a:insideV>
        </a:tcBdr>
        <a:fill>
          <a:solidFill>
            <a:schemeClr val="accent1">
              <a:tint val="20000"/>
            </a:schemeClr>
          </a:solidFill>
        </a:fill>
      </a:tcStyle>
    </a:wholeTbl>
    <a:band1H>
      <a:tcStyle>
        <a:tcBdr/>
        <a:fill>
          <a:solidFill>
            <a:schemeClr val="accent1">
              <a:tint val="40000"/>
            </a:schemeClr>
          </a:solidFill>
        </a:fill>
      </a:tcStyle>
    </a:band1H>
    <a:band2H>
      <a:tcStyle>
        <a:tcBdr/>
      </a:tcStyle>
    </a:band2H>
    <a:band1V>
      <a:tcStyle>
        <a:tcBdr/>
        <a:fill>
          <a:solidFill>
            <a:schemeClr val="accent1">
              <a:tint val="40000"/>
            </a:schemeClr>
          </a:solidFill>
        </a:fill>
      </a:tcStyle>
    </a:band1V>
    <a:band2V>
      <a:tcStyle>
        <a:tcBdr/>
      </a:tcStyle>
    </a:band2V>
    <a:lastCol>
      <a:tcTxStyle b="on">
        <a:fontRef idx="minor">
          <a:prstClr val="black"/>
        </a:fontRef>
        <a:schemeClr val="lt1"/>
      </a:tcTxStyle>
      <a:tcStyle>
        <a:tcBdr/>
        <a:fill>
          <a:solidFill>
            <a:schemeClr val="accent1"/>
          </a:solidFill>
        </a:fill>
      </a:tcStyle>
    </a:lastCol>
    <a:firstCol>
      <a:tcTxStyle b="on">
        <a:fontRef idx="minor">
          <a:prstClr val="black"/>
        </a:fontRef>
        <a:schemeClr val="lt1"/>
      </a:tcTxStyle>
      <a:tcStyle>
        <a:tcBdr/>
        <a:fill>
          <a:solidFill>
            <a:schemeClr val="accent1"/>
          </a:solidFill>
        </a:fill>
      </a:tcStyle>
    </a:firstCol>
    <a:lastRow>
      <a:tcTxStyle b="on">
        <a:fontRef idx="minor">
          <a:prstClr val="black"/>
        </a:fontRef>
        <a:schemeClr val="lt1"/>
      </a:tcTxStyle>
      <a:tcStyle>
        <a:tcBdr>
          <a:top>
            <a:ln w="38100" cmpd="sng">
              <a:solidFill>
                <a:schemeClr val="lt1"/>
              </a:solidFill>
            </a:ln>
          </a:top>
        </a:tcBdr>
        <a:fill>
          <a:solidFill>
            <a:schemeClr val="accent1"/>
          </a:solidFill>
        </a:fill>
      </a:tcStyle>
    </a:lastRow>
    <a:firstRow>
      <a:tcTxStyle b="on">
        <a:fontRef idx="minor">
          <a:prstClr val="black"/>
        </a:fontRef>
        <a:schemeClr val="lt1"/>
      </a:tcTxStyle>
      <a:tcStyle>
        <a:tcBdr>
          <a:bottom>
            <a:ln w="38100" cmpd="sng">
              <a:solidFill>
                <a:schemeClr val="lt1"/>
              </a:solidFill>
            </a:ln>
          </a:bottom>
        </a:tcBdr>
        <a:fill>
          <a:solidFill>
            <a:schemeClr val="accent1"/>
          </a:solidFill>
        </a:fill>
      </a:tcStyle>
    </a:firstRow>
  </a:tblStyle>
</a:tblStyleLst>
</file>

<file path=ppt/viewProps.xml><?xml version="1.0" encoding="utf-8"?>
<p:viewPr xmlns:a="http://schemas.openxmlformats.org/drawingml/2006/main" xmlns:r="http://schemas.openxmlformats.org/officeDocument/2006/relationships" xmlns:p="http://schemas.openxmlformats.org/presentationml/2006/main">
  <p:normalViewPr>
    <p:restoredLeft sz="12591" autoAdjust="0"/>
    <p:restoredTop sz="94694"/>
  </p:normalViewPr>
  <p:slideViewPr>
    <p:cSldViewPr snapToGrid="0">
      <p:cViewPr varScale="1">
        <p:scale>
          <a:sx n="138" d="100"/>
          <a:sy n="138" d="100"/>
        </p:scale>
        <p:origin x="2688" y="120"/>
      </p:cViewPr>
      <p:guideLst/>
    </p:cSldViewPr>
  </p:slideViewPr>
  <p:notesTextViewPr>
    <p:cViewPr>
      <p:scale>
        <a:sx n="1" d="1"/>
        <a:sy n="1" d="1"/>
      </p:scale>
      <p:origin x="0" y="0"/>
    </p:cViewPr>
  </p:notesTextViewPr>
  <p:notesViewPr>
    <p:cSldViewPr snapToGrid="0">
      <p:cViewPr varScale="1">
        <p:scale>
          <a:sx n="121" d="100"/>
          <a:sy n="121" d="100"/>
        </p:scale>
        <p:origin x="7662" y="90"/>
      </p:cViewPr>
      <p:guideLst>
        <p:guide orient="horz" pos="2736"/>
        <p:guide pos="1477"/>
      </p:guideLst>
    </p:cSldViewPr>
  </p:notesViewPr>
  <p:gridSpacing cx="76200" cy="76200"/>
</p:viewPr>
</file>

<file path=ppt/_rels/presentation.xml.rels><?xml version="1.0" encoding="UTF-8" standalone="yes"?>
<Relationships xmlns="http://schemas.openxmlformats.org/package/2006/relationships"><Relationship Id="rId13" Type="http://schemas.openxmlformats.org/officeDocument/2006/relationships/slide" Target="slides/slide9.xml"/><Relationship Id="rId18" Type="http://schemas.openxmlformats.org/officeDocument/2006/relationships/slide" Target="slides/slide14.xml"/><Relationship Id="rId26" Type="http://schemas.openxmlformats.org/officeDocument/2006/relationships/slide" Target="slides/slide22.xml"/><Relationship Id="rId39" Type="http://schemas.openxmlformats.org/officeDocument/2006/relationships/slide" Target="slides/slide35.xml"/><Relationship Id="rId21" Type="http://schemas.openxmlformats.org/officeDocument/2006/relationships/slide" Target="slides/slide17.xml"/><Relationship Id="rId34" Type="http://schemas.openxmlformats.org/officeDocument/2006/relationships/slide" Target="slides/slide30.xml"/><Relationship Id="rId42" Type="http://schemas.openxmlformats.org/officeDocument/2006/relationships/handoutMaster" Target="handoutMasters/handoutMaster1.xml"/><Relationship Id="rId47" Type="http://schemas.openxmlformats.org/officeDocument/2006/relationships/tableStyles" Target="tableStyles.xml"/><Relationship Id="rId7" Type="http://schemas.openxmlformats.org/officeDocument/2006/relationships/slide" Target="slides/slide3.xml"/><Relationship Id="rId2" Type="http://schemas.openxmlformats.org/officeDocument/2006/relationships/customXml" Target="../customXml/item2.xml"/><Relationship Id="rId16" Type="http://schemas.openxmlformats.org/officeDocument/2006/relationships/slide" Target="slides/slide12.xml"/><Relationship Id="rId29" Type="http://schemas.openxmlformats.org/officeDocument/2006/relationships/slide" Target="slides/slide25.xml"/><Relationship Id="rId1" Type="http://schemas.openxmlformats.org/officeDocument/2006/relationships/customXml" Target="../customXml/item1.xml"/><Relationship Id="rId6" Type="http://schemas.openxmlformats.org/officeDocument/2006/relationships/slide" Target="slides/slide2.xml"/><Relationship Id="rId11" Type="http://schemas.openxmlformats.org/officeDocument/2006/relationships/slide" Target="slides/slide7.xml"/><Relationship Id="rId24" Type="http://schemas.openxmlformats.org/officeDocument/2006/relationships/slide" Target="slides/slide20.xml"/><Relationship Id="rId32" Type="http://schemas.openxmlformats.org/officeDocument/2006/relationships/slide" Target="slides/slide28.xml"/><Relationship Id="rId37" Type="http://schemas.openxmlformats.org/officeDocument/2006/relationships/slide" Target="slides/slide33.xml"/><Relationship Id="rId40" Type="http://schemas.openxmlformats.org/officeDocument/2006/relationships/slide" Target="slides/slide36.xml"/><Relationship Id="rId45" Type="http://schemas.openxmlformats.org/officeDocument/2006/relationships/viewProps" Target="viewProps.xml"/><Relationship Id="rId5" Type="http://schemas.openxmlformats.org/officeDocument/2006/relationships/slide" Target="slides/slide1.xml"/><Relationship Id="rId15" Type="http://schemas.openxmlformats.org/officeDocument/2006/relationships/slide" Target="slides/slide11.xml"/><Relationship Id="rId23" Type="http://schemas.openxmlformats.org/officeDocument/2006/relationships/slide" Target="slides/slide19.xml"/><Relationship Id="rId28" Type="http://schemas.openxmlformats.org/officeDocument/2006/relationships/slide" Target="slides/slide24.xml"/><Relationship Id="rId36" Type="http://schemas.openxmlformats.org/officeDocument/2006/relationships/slide" Target="slides/slide32.xml"/><Relationship Id="rId10" Type="http://schemas.openxmlformats.org/officeDocument/2006/relationships/slide" Target="slides/slide6.xml"/><Relationship Id="rId19" Type="http://schemas.openxmlformats.org/officeDocument/2006/relationships/slide" Target="slides/slide15.xml"/><Relationship Id="rId31" Type="http://schemas.openxmlformats.org/officeDocument/2006/relationships/slide" Target="slides/slide27.xml"/><Relationship Id="rId44" Type="http://schemas.openxmlformats.org/officeDocument/2006/relationships/presProps" Target="presProps.xml"/><Relationship Id="rId4" Type="http://schemas.openxmlformats.org/officeDocument/2006/relationships/slideMaster" Target="slideMasters/slideMaster1.xml"/><Relationship Id="rId9" Type="http://schemas.openxmlformats.org/officeDocument/2006/relationships/slide" Target="slides/slide5.xml"/><Relationship Id="rId14" Type="http://schemas.openxmlformats.org/officeDocument/2006/relationships/slide" Target="slides/slide10.xml"/><Relationship Id="rId22" Type="http://schemas.openxmlformats.org/officeDocument/2006/relationships/slide" Target="slides/slide18.xml"/><Relationship Id="rId27" Type="http://schemas.openxmlformats.org/officeDocument/2006/relationships/slide" Target="slides/slide23.xml"/><Relationship Id="rId30" Type="http://schemas.openxmlformats.org/officeDocument/2006/relationships/slide" Target="slides/slide26.xml"/><Relationship Id="rId35" Type="http://schemas.openxmlformats.org/officeDocument/2006/relationships/slide" Target="slides/slide31.xml"/><Relationship Id="rId43" Type="http://schemas.openxmlformats.org/officeDocument/2006/relationships/commentAuthors" Target="commentAuthors.xml"/><Relationship Id="rId48" Type="http://schemas.microsoft.com/office/2015/10/relationships/revisionInfo" Target="revisionInfo.xml"/><Relationship Id="rId8" Type="http://schemas.openxmlformats.org/officeDocument/2006/relationships/slide" Target="slides/slide4.xml"/><Relationship Id="rId3" Type="http://schemas.openxmlformats.org/officeDocument/2006/relationships/customXml" Target="../customXml/item3.xml"/><Relationship Id="rId12" Type="http://schemas.openxmlformats.org/officeDocument/2006/relationships/slide" Target="slides/slide8.xml"/><Relationship Id="rId17" Type="http://schemas.openxmlformats.org/officeDocument/2006/relationships/slide" Target="slides/slide13.xml"/><Relationship Id="rId25" Type="http://schemas.openxmlformats.org/officeDocument/2006/relationships/slide" Target="slides/slide21.xml"/><Relationship Id="rId33" Type="http://schemas.openxmlformats.org/officeDocument/2006/relationships/slide" Target="slides/slide29.xml"/><Relationship Id="rId38" Type="http://schemas.openxmlformats.org/officeDocument/2006/relationships/slide" Target="slides/slide34.xml"/><Relationship Id="rId46" Type="http://schemas.openxmlformats.org/officeDocument/2006/relationships/theme" Target="theme/theme1.xml"/><Relationship Id="rId20" Type="http://schemas.openxmlformats.org/officeDocument/2006/relationships/slide" Target="slides/slide16.xml"/><Relationship Id="rId41" Type="http://schemas.openxmlformats.org/officeDocument/2006/relationships/notesMaster" Target="notesMasters/notesMaster1.xml"/></Relationships>
</file>

<file path=ppt/handoutMasters/_rels/handoutMaster1.xml.rels><?xml version="1.0" encoding="UTF-8" standalone="yes"?>
<Relationships xmlns="http://schemas.openxmlformats.org/package/2006/relationships"><Relationship Id="rId1" Type="http://schemas.openxmlformats.org/officeDocument/2006/relationships/theme" Target="../theme/theme3.xml"/></Relationships>
</file>

<file path=ppt/handoutMasters/handoutMaster1.xml><?xml version="1.0" encoding="utf-8"?>
<p:handoutMaster xmlns:a="http://schemas.openxmlformats.org/drawingml/2006/main" xmlns:r="http://schemas.openxmlformats.org/officeDocument/2006/relationships" xmlns:p="http://schemas.openxmlformats.org/presentationml/2006/main">
  <p:cSld>
    <p:bg>
      <p:bgRef idx="1001">
        <a:schemeClr val="bg1"/>
      </p:bgRef>
    </p:bg>
    <p:spTree>
      <p:nvGrpSpPr>
        <p:cNvPr id="1" name=""/>
        <p:cNvGrpSpPr/>
        <p:nvPr/>
      </p:nvGrpSpPr>
      <p:grpSpPr>
        <a:xfrm>
          <a:off x="0" y="0"/>
          <a:ext cx="0" cy="0"/>
          <a:chOff x="0" y="0"/>
          <a:chExt cx="0" cy="0"/>
        </a:xfrm>
      </p:grpSpPr>
      <p:sp>
        <p:nvSpPr>
          <p:cNvPr id="2" name="Header Placeholder 1"/>
          <p:cNvSpPr>
            <a:spLocks noGrp="1"/>
          </p:cNvSpPr>
          <p:nvPr>
            <p:ph type="hdr" sz="quarter"/>
          </p:nvPr>
        </p:nvSpPr>
        <p:spPr>
          <a:xfrm>
            <a:off x="0" y="0"/>
            <a:ext cx="2971800" cy="458788"/>
          </a:xfrm>
          <a:prstGeom prst="rect">
            <a:avLst/>
          </a:prstGeom>
        </p:spPr>
        <p:txBody>
          <a:bodyPr vert="horz" lIns="91440" tIns="45720" rIns="91440" bIns="45720" rtlCol="0"/>
          <a:lstStyle>
            <a:lvl1pPr algn="l">
              <a:defRPr sz="1200"/>
            </a:lvl1pPr>
          </a:lstStyle>
          <a:p>
            <a:endParaRPr lang="en-US"/>
          </a:p>
        </p:txBody>
      </p:sp>
      <p:sp>
        <p:nvSpPr>
          <p:cNvPr id="3" name="Date Placeholder 2"/>
          <p:cNvSpPr>
            <a:spLocks noGrp="1"/>
          </p:cNvSpPr>
          <p:nvPr>
            <p:ph type="dt" sz="quarter" idx="1"/>
          </p:nvPr>
        </p:nvSpPr>
        <p:spPr>
          <a:xfrm>
            <a:off x="3884613" y="0"/>
            <a:ext cx="2971800" cy="458788"/>
          </a:xfrm>
          <a:prstGeom prst="rect">
            <a:avLst/>
          </a:prstGeom>
        </p:spPr>
        <p:txBody>
          <a:bodyPr vert="horz" lIns="91440" tIns="45720" rIns="91440" bIns="45720" rtlCol="0"/>
          <a:lstStyle>
            <a:lvl1pPr algn="r">
              <a:defRPr sz="1200"/>
            </a:lvl1pPr>
          </a:lstStyle>
          <a:p>
            <a:fld id="{3FDC14FC-A894-4869-A797-1EC82735D106}" type="datetimeFigureOut">
              <a:rPr lang="en-US" smtClean="0"/>
              <a:t>12/8/2025</a:t>
            </a:fld>
            <a:endParaRPr lang="en-US"/>
          </a:p>
        </p:txBody>
      </p:sp>
      <p:sp>
        <p:nvSpPr>
          <p:cNvPr id="4" name="Footer Placeholder 3"/>
          <p:cNvSpPr>
            <a:spLocks noGrp="1"/>
          </p:cNvSpPr>
          <p:nvPr>
            <p:ph type="ftr" sz="quarter" idx="2"/>
          </p:nvPr>
        </p:nvSpPr>
        <p:spPr>
          <a:xfrm>
            <a:off x="0" y="8685213"/>
            <a:ext cx="2971800" cy="458787"/>
          </a:xfrm>
          <a:prstGeom prst="rect">
            <a:avLst/>
          </a:prstGeom>
        </p:spPr>
        <p:txBody>
          <a:bodyPr vert="horz" lIns="91440" tIns="45720" rIns="91440" bIns="45720" rtlCol="0" anchor="b"/>
          <a:lstStyle>
            <a:lvl1pPr algn="l">
              <a:defRPr sz="1200"/>
            </a:lvl1pPr>
          </a:lstStyle>
          <a:p>
            <a:endParaRPr lang="en-US"/>
          </a:p>
        </p:txBody>
      </p:sp>
      <p:sp>
        <p:nvSpPr>
          <p:cNvPr id="5" name="Slide Number Placeholder 4"/>
          <p:cNvSpPr>
            <a:spLocks noGrp="1"/>
          </p:cNvSpPr>
          <p:nvPr>
            <p:ph type="sldNum" sz="quarter" idx="3"/>
          </p:nvPr>
        </p:nvSpPr>
        <p:spPr>
          <a:xfrm>
            <a:off x="3884613" y="8685213"/>
            <a:ext cx="2971800" cy="458787"/>
          </a:xfrm>
          <a:prstGeom prst="rect">
            <a:avLst/>
          </a:prstGeom>
        </p:spPr>
        <p:txBody>
          <a:bodyPr vert="horz" lIns="91440" tIns="45720" rIns="91440" bIns="45720" rtlCol="0" anchor="b"/>
          <a:lstStyle>
            <a:lvl1pPr algn="r">
              <a:defRPr sz="1200"/>
            </a:lvl1pPr>
          </a:lstStyle>
          <a:p>
            <a:fld id="{5CD33E97-F2BE-44DB-A57D-0C85E2CBF508}" type="slidenum">
              <a:rPr lang="en-US" smtClean="0"/>
              <a:t>‹#›</a:t>
            </a:fld>
            <a:endParaRPr lang="en-US"/>
          </a:p>
        </p:txBody>
      </p:sp>
    </p:spTree>
    <p:extLst>
      <p:ext uri="{BB962C8B-B14F-4D97-AF65-F5344CB8AC3E}">
        <p14:creationId xmlns:p14="http://schemas.microsoft.com/office/powerpoint/2010/main" val="2967778149"/>
      </p:ext>
    </p:extLst>
  </p:cSld>
  <p:clrMap bg1="lt1" tx1="dk1" bg2="lt2" tx2="dk2" accent1="accent1" accent2="accent2" accent3="accent3" accent4="accent4" accent5="accent5" accent6="accent6" hlink="hlink" folHlink="folHlink"/>
</p:handoutMaster>
</file>

<file path=ppt/notesMasters/_rels/notesMaster1.xml.rels><?xml version="1.0" encoding="UTF-8" standalone="yes"?>
<Relationships xmlns="http://schemas.openxmlformats.org/package/2006/relationships"><Relationship Id="rId1" Type="http://schemas.openxmlformats.org/officeDocument/2006/relationships/theme" Target="../theme/theme2.xml"/></Relationships>
</file>

<file path=ppt/notesMasters/notesMaster1.xml><?xml version="1.0" encoding="utf-8"?>
<p:notesMaster xmlns:a="http://schemas.openxmlformats.org/drawingml/2006/main" xmlns:r="http://schemas.openxmlformats.org/officeDocument/2006/relationships" xmlns:p="http://schemas.openxmlformats.org/presentationml/2006/main">
  <p:cSld>
    <p:bg>
      <p:bgRef idx="1001">
        <a:schemeClr val="bg1"/>
      </p:bgRef>
    </p:bg>
    <p:spTree>
      <p:nvGrpSpPr>
        <p:cNvPr id="1" name=""/>
        <p:cNvGrpSpPr/>
        <p:nvPr/>
      </p:nvGrpSpPr>
      <p:grpSpPr>
        <a:xfrm>
          <a:off x="0" y="0"/>
          <a:ext cx="0" cy="0"/>
          <a:chOff x="0" y="0"/>
          <a:chExt cx="0" cy="0"/>
        </a:xfrm>
      </p:grpSpPr>
      <p:sp>
        <p:nvSpPr>
          <p:cNvPr id="2" name="Header Placeholder 1"/>
          <p:cNvSpPr>
            <a:spLocks noGrp="1"/>
          </p:cNvSpPr>
          <p:nvPr>
            <p:ph type="hdr" sz="quarter"/>
          </p:nvPr>
        </p:nvSpPr>
        <p:spPr>
          <a:xfrm>
            <a:off x="0" y="0"/>
            <a:ext cx="2971800" cy="458788"/>
          </a:xfrm>
          <a:prstGeom prst="rect">
            <a:avLst/>
          </a:prstGeom>
        </p:spPr>
        <p:txBody>
          <a:bodyPr vert="horz" lIns="91440" tIns="45720" rIns="91440" bIns="45720" rtlCol="0"/>
          <a:lstStyle>
            <a:lvl1pPr algn="l">
              <a:defRPr sz="1200"/>
            </a:lvl1pPr>
          </a:lstStyle>
          <a:p>
            <a:endParaRPr lang="en-US"/>
          </a:p>
        </p:txBody>
      </p:sp>
      <p:sp>
        <p:nvSpPr>
          <p:cNvPr id="3" name="Date Placeholder 2"/>
          <p:cNvSpPr>
            <a:spLocks noGrp="1"/>
          </p:cNvSpPr>
          <p:nvPr>
            <p:ph type="dt" idx="1"/>
          </p:nvPr>
        </p:nvSpPr>
        <p:spPr>
          <a:xfrm>
            <a:off x="3884613" y="0"/>
            <a:ext cx="2971800" cy="458788"/>
          </a:xfrm>
          <a:prstGeom prst="rect">
            <a:avLst/>
          </a:prstGeom>
        </p:spPr>
        <p:txBody>
          <a:bodyPr vert="horz" lIns="91440" tIns="45720" rIns="91440" bIns="45720" rtlCol="0"/>
          <a:lstStyle>
            <a:lvl1pPr algn="r">
              <a:defRPr sz="1200"/>
            </a:lvl1pPr>
          </a:lstStyle>
          <a:p>
            <a:fld id="{B4F99C05-63F9-4248-8E20-3ACD9DF9DE7F}" type="datetimeFigureOut">
              <a:rPr lang="en-US" smtClean="0"/>
              <a:t>12/8/2025</a:t>
            </a:fld>
            <a:endParaRPr lang="en-US"/>
          </a:p>
        </p:txBody>
      </p:sp>
      <p:sp>
        <p:nvSpPr>
          <p:cNvPr id="4" name="Slide Image Placeholder 3"/>
          <p:cNvSpPr>
            <a:spLocks noGrp="1" noRot="1" noChangeAspect="1"/>
          </p:cNvSpPr>
          <p:nvPr>
            <p:ph type="sldImg" idx="2"/>
          </p:nvPr>
        </p:nvSpPr>
        <p:spPr>
          <a:xfrm>
            <a:off x="685800" y="1143000"/>
            <a:ext cx="5486400" cy="3086100"/>
          </a:xfrm>
          <a:prstGeom prst="rect">
            <a:avLst/>
          </a:prstGeom>
          <a:noFill/>
          <a:ln w="12700">
            <a:solidFill>
              <a:prstClr val="black"/>
            </a:solidFill>
          </a:ln>
        </p:spPr>
        <p:txBody>
          <a:bodyPr vert="horz" lIns="91440" tIns="45720" rIns="91440" bIns="45720" rtlCol="0" anchor="ctr"/>
          <a:lstStyle/>
          <a:p>
            <a:endParaRPr lang="en-US"/>
          </a:p>
        </p:txBody>
      </p:sp>
      <p:sp>
        <p:nvSpPr>
          <p:cNvPr id="5" name="Notes Placeholder 4"/>
          <p:cNvSpPr>
            <a:spLocks noGrp="1"/>
          </p:cNvSpPr>
          <p:nvPr>
            <p:ph type="body" sz="quarter" idx="3"/>
          </p:nvPr>
        </p:nvSpPr>
        <p:spPr>
          <a:xfrm>
            <a:off x="685800" y="4400550"/>
            <a:ext cx="5486400" cy="3600450"/>
          </a:xfrm>
          <a:prstGeom prst="rect">
            <a:avLst/>
          </a:prstGeom>
        </p:spPr>
        <p:txBody>
          <a:bodyPr vert="horz" lIns="91440" tIns="45720" rIns="91440" bIns="45720" rtlCol="0"/>
          <a:lstStyle/>
          <a:p>
            <a:pPr lvl="0"/>
            <a:r>
              <a:rPr lang="en-US"/>
              <a:t>Edit Master text styles</a:t>
            </a:r>
          </a:p>
          <a:p>
            <a:pPr lvl="1"/>
            <a:r>
              <a:rPr lang="en-US"/>
              <a:t>Second level</a:t>
            </a:r>
          </a:p>
          <a:p>
            <a:pPr lvl="2"/>
            <a:r>
              <a:rPr lang="en-US"/>
              <a:t>Third level</a:t>
            </a:r>
          </a:p>
          <a:p>
            <a:pPr lvl="3"/>
            <a:r>
              <a:rPr lang="en-US"/>
              <a:t>Fourth level</a:t>
            </a:r>
          </a:p>
          <a:p>
            <a:pPr lvl="4"/>
            <a:r>
              <a:rPr lang="en-US"/>
              <a:t>Fifth level</a:t>
            </a:r>
          </a:p>
        </p:txBody>
      </p:sp>
      <p:sp>
        <p:nvSpPr>
          <p:cNvPr id="6" name="Footer Placeholder 5"/>
          <p:cNvSpPr>
            <a:spLocks noGrp="1"/>
          </p:cNvSpPr>
          <p:nvPr>
            <p:ph type="ftr" sz="quarter" idx="4"/>
          </p:nvPr>
        </p:nvSpPr>
        <p:spPr>
          <a:xfrm>
            <a:off x="0" y="8685213"/>
            <a:ext cx="2971800" cy="458787"/>
          </a:xfrm>
          <a:prstGeom prst="rect">
            <a:avLst/>
          </a:prstGeom>
        </p:spPr>
        <p:txBody>
          <a:bodyPr vert="horz" lIns="91440" tIns="45720" rIns="91440" bIns="45720" rtlCol="0" anchor="b"/>
          <a:lstStyle>
            <a:lvl1pPr algn="l">
              <a:defRPr sz="1200"/>
            </a:lvl1pPr>
          </a:lstStyle>
          <a:p>
            <a:endParaRPr lang="en-US"/>
          </a:p>
        </p:txBody>
      </p:sp>
      <p:sp>
        <p:nvSpPr>
          <p:cNvPr id="7" name="Slide Number Placeholder 6"/>
          <p:cNvSpPr>
            <a:spLocks noGrp="1"/>
          </p:cNvSpPr>
          <p:nvPr>
            <p:ph type="sldNum" sz="quarter" idx="5"/>
          </p:nvPr>
        </p:nvSpPr>
        <p:spPr>
          <a:xfrm>
            <a:off x="3884613" y="8685213"/>
            <a:ext cx="2971800" cy="458787"/>
          </a:xfrm>
          <a:prstGeom prst="rect">
            <a:avLst/>
          </a:prstGeom>
        </p:spPr>
        <p:txBody>
          <a:bodyPr vert="horz" lIns="91440" tIns="45720" rIns="91440" bIns="45720" rtlCol="0" anchor="b"/>
          <a:lstStyle>
            <a:lvl1pPr algn="r">
              <a:defRPr sz="1200"/>
            </a:lvl1pPr>
          </a:lstStyle>
          <a:p>
            <a:fld id="{A874FABB-6DBE-47C4-B626-20167906F475}" type="slidenum">
              <a:rPr lang="en-US" smtClean="0"/>
              <a:t>‹#›</a:t>
            </a:fld>
            <a:endParaRPr lang="en-US"/>
          </a:p>
        </p:txBody>
      </p:sp>
    </p:spTree>
    <p:extLst>
      <p:ext uri="{BB962C8B-B14F-4D97-AF65-F5344CB8AC3E}">
        <p14:creationId xmlns:p14="http://schemas.microsoft.com/office/powerpoint/2010/main" val="4274864021"/>
      </p:ext>
    </p:extLst>
  </p:cSld>
  <p:clrMap bg1="lt1" tx1="dk1" bg2="lt2" tx2="dk2" accent1="accent1" accent2="accent2" accent3="accent3" accent4="accent4" accent5="accent5" accent6="accent6" hlink="hlink" folHlink="folHlink"/>
  <p:notesStyle>
    <a:lvl1pPr marL="0" algn="l" defTabSz="685800" rtl="0" eaLnBrk="1" latinLnBrk="0" hangingPunct="1">
      <a:defRPr sz="900" kern="1200">
        <a:solidFill>
          <a:schemeClr val="tx1"/>
        </a:solidFill>
        <a:latin typeface="+mn-lt"/>
        <a:ea typeface="+mn-ea"/>
        <a:cs typeface="+mn-cs"/>
      </a:defRPr>
    </a:lvl1pPr>
    <a:lvl2pPr marL="342900" algn="l" defTabSz="685800" rtl="0" eaLnBrk="1" latinLnBrk="0" hangingPunct="1">
      <a:defRPr sz="900" kern="1200">
        <a:solidFill>
          <a:schemeClr val="tx1"/>
        </a:solidFill>
        <a:latin typeface="+mn-lt"/>
        <a:ea typeface="+mn-ea"/>
        <a:cs typeface="+mn-cs"/>
      </a:defRPr>
    </a:lvl2pPr>
    <a:lvl3pPr marL="685800" algn="l" defTabSz="685800" rtl="0" eaLnBrk="1" latinLnBrk="0" hangingPunct="1">
      <a:defRPr sz="900" kern="1200">
        <a:solidFill>
          <a:schemeClr val="tx1"/>
        </a:solidFill>
        <a:latin typeface="+mn-lt"/>
        <a:ea typeface="+mn-ea"/>
        <a:cs typeface="+mn-cs"/>
      </a:defRPr>
    </a:lvl3pPr>
    <a:lvl4pPr marL="1028700" algn="l" defTabSz="685800" rtl="0" eaLnBrk="1" latinLnBrk="0" hangingPunct="1">
      <a:defRPr sz="900" kern="1200">
        <a:solidFill>
          <a:schemeClr val="tx1"/>
        </a:solidFill>
        <a:latin typeface="+mn-lt"/>
        <a:ea typeface="+mn-ea"/>
        <a:cs typeface="+mn-cs"/>
      </a:defRPr>
    </a:lvl4pPr>
    <a:lvl5pPr marL="1371600" algn="l" defTabSz="685800" rtl="0" eaLnBrk="1" latinLnBrk="0" hangingPunct="1">
      <a:defRPr sz="900" kern="1200">
        <a:solidFill>
          <a:schemeClr val="tx1"/>
        </a:solidFill>
        <a:latin typeface="+mn-lt"/>
        <a:ea typeface="+mn-ea"/>
        <a:cs typeface="+mn-cs"/>
      </a:defRPr>
    </a:lvl5pPr>
    <a:lvl6pPr marL="1714500" algn="l" defTabSz="685800" rtl="0" eaLnBrk="1" latinLnBrk="0" hangingPunct="1">
      <a:defRPr sz="900" kern="1200">
        <a:solidFill>
          <a:schemeClr val="tx1"/>
        </a:solidFill>
        <a:latin typeface="+mn-lt"/>
        <a:ea typeface="+mn-ea"/>
        <a:cs typeface="+mn-cs"/>
      </a:defRPr>
    </a:lvl6pPr>
    <a:lvl7pPr marL="2057400" algn="l" defTabSz="685800" rtl="0" eaLnBrk="1" latinLnBrk="0" hangingPunct="1">
      <a:defRPr sz="900" kern="1200">
        <a:solidFill>
          <a:schemeClr val="tx1"/>
        </a:solidFill>
        <a:latin typeface="+mn-lt"/>
        <a:ea typeface="+mn-ea"/>
        <a:cs typeface="+mn-cs"/>
      </a:defRPr>
    </a:lvl7pPr>
    <a:lvl8pPr marL="2400300" algn="l" defTabSz="685800" rtl="0" eaLnBrk="1" latinLnBrk="0" hangingPunct="1">
      <a:defRPr sz="900" kern="1200">
        <a:solidFill>
          <a:schemeClr val="tx1"/>
        </a:solidFill>
        <a:latin typeface="+mn-lt"/>
        <a:ea typeface="+mn-ea"/>
        <a:cs typeface="+mn-cs"/>
      </a:defRPr>
    </a:lvl8pPr>
    <a:lvl9pPr marL="2743200" algn="l" defTabSz="685800" rtl="0" eaLnBrk="1" latinLnBrk="0" hangingPunct="1">
      <a:defRPr sz="900" kern="1200">
        <a:solidFill>
          <a:schemeClr val="tx1"/>
        </a:solidFill>
        <a:latin typeface="+mn-lt"/>
        <a:ea typeface="+mn-ea"/>
        <a:cs typeface="+mn-cs"/>
      </a:defRPr>
    </a:lvl9pPr>
  </p:notesStyle>
</p:notesMaster>
</file>

<file path=ppt/notesSlides/_rels/notesSlide1.xml.rels><?xml version="1.0" encoding="UTF-8" standalone="yes"?>
<Relationships xmlns="http://schemas.openxmlformats.org/package/2006/relationships"><Relationship Id="rId2" Type="http://schemas.openxmlformats.org/officeDocument/2006/relationships/slide" Target="../slides/slide1.xml"/><Relationship Id="rId1" Type="http://schemas.openxmlformats.org/officeDocument/2006/relationships/notesMaster" Target="../notesMasters/notesMaster1.xml"/></Relationships>
</file>

<file path=ppt/notesSlides/notesSlide1.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endParaRPr lang="en-US" dirty="0"/>
          </a:p>
        </p:txBody>
      </p:sp>
      <p:sp>
        <p:nvSpPr>
          <p:cNvPr id="4" name="Slide Number Placeholder 3"/>
          <p:cNvSpPr>
            <a:spLocks noGrp="1"/>
          </p:cNvSpPr>
          <p:nvPr>
            <p:ph type="sldNum" sz="quarter" idx="5"/>
          </p:nvPr>
        </p:nvSpPr>
        <p:spPr/>
        <p:txBody>
          <a:bodyPr/>
          <a:lstStyle/>
          <a:p>
            <a:fld id="{A874FABB-6DBE-47C4-B626-20167906F475}" type="slidenum">
              <a:rPr lang="en-US" smtClean="0"/>
              <a:t>1</a:t>
            </a:fld>
            <a:endParaRPr lang="en-US"/>
          </a:p>
        </p:txBody>
      </p:sp>
    </p:spTree>
    <p:extLst>
      <p:ext uri="{BB962C8B-B14F-4D97-AF65-F5344CB8AC3E}">
        <p14:creationId xmlns:p14="http://schemas.microsoft.com/office/powerpoint/2010/main" val="4144144876"/>
      </p:ext>
    </p:extLst>
  </p:cSld>
  <p:clrMapOvr>
    <a:masterClrMapping/>
  </p:clrMapOvr>
</p:notes>
</file>

<file path=ppt/slideLayouts/_rels/slideLayout1.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2.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3.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4.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5.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6.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7.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8.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9.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slideLayout1.xml><?xml version="1.0" encoding="utf-8"?>
<p:sldLayout xmlns:a="http://schemas.openxmlformats.org/drawingml/2006/main" xmlns:r="http://schemas.openxmlformats.org/officeDocument/2006/relationships" xmlns:p="http://schemas.openxmlformats.org/presentationml/2006/main" showMasterSp="0" userDrawn="1">
  <p:cSld name="Cover Text">
    <p:bg>
      <p:bgPr>
        <a:solidFill>
          <a:schemeClr val="tx1"/>
        </a:solidFill>
        <a:effectLst/>
      </p:bgPr>
    </p:bg>
    <p:spTree>
      <p:nvGrpSpPr>
        <p:cNvPr id="1" name=""/>
        <p:cNvGrpSpPr/>
        <p:nvPr/>
      </p:nvGrpSpPr>
      <p:grpSpPr>
        <a:xfrm>
          <a:off x="0" y="0"/>
          <a:ext cx="0" cy="0"/>
          <a:chOff x="0" y="0"/>
          <a:chExt cx="0" cy="0"/>
        </a:xfrm>
      </p:grpSpPr>
      <p:sp>
        <p:nvSpPr>
          <p:cNvPr id="2" name="Title 1"/>
          <p:cNvSpPr>
            <a:spLocks noGrp="1"/>
          </p:cNvSpPr>
          <p:nvPr>
            <p:ph type="ctrTitle" hasCustomPrompt="1"/>
          </p:nvPr>
        </p:nvSpPr>
        <p:spPr>
          <a:xfrm>
            <a:off x="342900" y="1200151"/>
            <a:ext cx="8458200" cy="2228850"/>
          </a:xfrm>
        </p:spPr>
        <p:txBody>
          <a:bodyPr lIns="0" tIns="0" rIns="0" bIns="0" anchor="b">
            <a:noAutofit/>
          </a:bodyPr>
          <a:lstStyle>
            <a:lvl1pPr algn="l">
              <a:lnSpc>
                <a:spcPct val="85000"/>
              </a:lnSpc>
              <a:defRPr sz="9000" b="0" i="0">
                <a:solidFill>
                  <a:schemeClr val="accent3"/>
                </a:solidFill>
                <a:latin typeface="+mj-lt"/>
                <a:ea typeface="Human Sans Thin" pitchFamily="2" charset="77"/>
                <a:cs typeface="Human Sans Thin" pitchFamily="2" charset="77"/>
              </a:defRPr>
            </a:lvl1pPr>
          </a:lstStyle>
          <a:p>
            <a:r>
              <a:rPr lang="en-US"/>
              <a:t>Proposal</a:t>
            </a:r>
            <a:br>
              <a:rPr lang="en-US"/>
            </a:br>
            <a:r>
              <a:rPr lang="en-US"/>
              <a:t>Title</a:t>
            </a:r>
          </a:p>
        </p:txBody>
      </p:sp>
      <p:sp>
        <p:nvSpPr>
          <p:cNvPr id="8" name="Text Placeholder 7"/>
          <p:cNvSpPr>
            <a:spLocks noGrp="1"/>
          </p:cNvSpPr>
          <p:nvPr>
            <p:ph type="body" sz="quarter" idx="11" hasCustomPrompt="1"/>
          </p:nvPr>
        </p:nvSpPr>
        <p:spPr>
          <a:xfrm>
            <a:off x="342900" y="3600450"/>
            <a:ext cx="8455914" cy="171450"/>
          </a:xfrm>
        </p:spPr>
        <p:txBody>
          <a:bodyPr lIns="0" tIns="0" rIns="0" bIns="0" anchor="t">
            <a:noAutofit/>
          </a:bodyPr>
          <a:lstStyle>
            <a:lvl1pPr marL="0" indent="0">
              <a:lnSpc>
                <a:spcPct val="100000"/>
              </a:lnSpc>
              <a:spcBef>
                <a:spcPts val="0"/>
              </a:spcBef>
              <a:spcAft>
                <a:spcPts val="0"/>
              </a:spcAft>
              <a:buNone/>
              <a:defRPr sz="1200" b="0" i="0" baseline="0">
                <a:solidFill>
                  <a:schemeClr val="bg1"/>
                </a:solidFill>
                <a:latin typeface="+mn-lt"/>
                <a:ea typeface="Calibri" panose="020F0502020204030204" pitchFamily="34" charset="0"/>
                <a:cs typeface="Calibri" panose="020F0502020204030204" pitchFamily="34" charset="0"/>
              </a:defRPr>
            </a:lvl1pPr>
            <a:lvl2pPr>
              <a:defRPr sz="1200">
                <a:solidFill>
                  <a:schemeClr val="bg1"/>
                </a:solidFill>
              </a:defRPr>
            </a:lvl2pPr>
            <a:lvl3pPr>
              <a:defRPr sz="1200">
                <a:solidFill>
                  <a:schemeClr val="bg1"/>
                </a:solidFill>
              </a:defRPr>
            </a:lvl3pPr>
            <a:lvl4pPr>
              <a:defRPr sz="1200">
                <a:solidFill>
                  <a:schemeClr val="bg1"/>
                </a:solidFill>
              </a:defRPr>
            </a:lvl4pPr>
            <a:lvl5pPr>
              <a:defRPr sz="1200">
                <a:solidFill>
                  <a:schemeClr val="bg1"/>
                </a:solidFill>
              </a:defRPr>
            </a:lvl5pPr>
          </a:lstStyle>
          <a:p>
            <a:r>
              <a:rPr lang="en-US"/>
              <a:t>Subtitle description</a:t>
            </a:r>
          </a:p>
        </p:txBody>
      </p:sp>
      <p:sp>
        <p:nvSpPr>
          <p:cNvPr id="5" name="Text Placeholder 4"/>
          <p:cNvSpPr>
            <a:spLocks noGrp="1"/>
          </p:cNvSpPr>
          <p:nvPr>
            <p:ph type="body" sz="quarter" idx="12" hasCustomPrompt="1"/>
          </p:nvPr>
        </p:nvSpPr>
        <p:spPr>
          <a:xfrm>
            <a:off x="342900" y="3864095"/>
            <a:ext cx="1988344" cy="171450"/>
          </a:xfrm>
        </p:spPr>
        <p:txBody>
          <a:bodyPr/>
          <a:lstStyle>
            <a:lvl1pPr>
              <a:lnSpc>
                <a:spcPct val="100000"/>
              </a:lnSpc>
              <a:spcBef>
                <a:spcPts val="0"/>
              </a:spcBef>
              <a:defRPr sz="900" b="0" i="0" cap="all" baseline="0">
                <a:solidFill>
                  <a:schemeClr val="bg1"/>
                </a:solidFill>
                <a:latin typeface="+mn-lt"/>
              </a:defRPr>
            </a:lvl1pPr>
          </a:lstStyle>
          <a:p>
            <a:pPr lvl="0"/>
            <a:r>
              <a:rPr lang="en-US"/>
              <a:t>Date</a:t>
            </a:r>
          </a:p>
        </p:txBody>
      </p:sp>
    </p:spTree>
    <p:extLst>
      <p:ext uri="{BB962C8B-B14F-4D97-AF65-F5344CB8AC3E}">
        <p14:creationId xmlns:p14="http://schemas.microsoft.com/office/powerpoint/2010/main" val="3037779421"/>
      </p:ext>
    </p:extLst>
  </p:cSld>
  <p:clrMapOvr>
    <a:masterClrMapping/>
  </p:clrMapOvr>
  <p:extLst>
    <p:ext uri="{DCECCB84-F9BA-43D5-87BE-67443E8EF086}">
      <p15:sldGuideLst xmlns:p15="http://schemas.microsoft.com/office/powerpoint/2012/main"/>
    </p:ext>
  </p:extLst>
</p:sldLayout>
</file>

<file path=ppt/slideLayouts/slideLayout2.xml><?xml version="1.0" encoding="utf-8"?>
<p:sldLayout xmlns:a="http://schemas.openxmlformats.org/drawingml/2006/main" xmlns:r="http://schemas.openxmlformats.org/officeDocument/2006/relationships" xmlns:p="http://schemas.openxmlformats.org/presentationml/2006/main" preserve="1" userDrawn="1">
  <p:cSld name="Section">
    <p:bg>
      <p:bgPr>
        <a:solidFill>
          <a:schemeClr val="tx1"/>
        </a:solidFill>
        <a:effectLst/>
      </p:bgPr>
    </p:bg>
    <p:spTree>
      <p:nvGrpSpPr>
        <p:cNvPr id="1" name=""/>
        <p:cNvGrpSpPr/>
        <p:nvPr/>
      </p:nvGrpSpPr>
      <p:grpSpPr>
        <a:xfrm>
          <a:off x="0" y="0"/>
          <a:ext cx="0" cy="0"/>
          <a:chOff x="0" y="0"/>
          <a:chExt cx="0" cy="0"/>
        </a:xfrm>
      </p:grpSpPr>
      <p:sp>
        <p:nvSpPr>
          <p:cNvPr id="3" name="Subtitle 2"/>
          <p:cNvSpPr>
            <a:spLocks noGrp="1"/>
          </p:cNvSpPr>
          <p:nvPr>
            <p:ph type="subTitle" idx="1" hasCustomPrompt="1"/>
          </p:nvPr>
        </p:nvSpPr>
        <p:spPr>
          <a:xfrm>
            <a:off x="342901" y="3429000"/>
            <a:ext cx="4148137" cy="1200150"/>
          </a:xfrm>
        </p:spPr>
        <p:txBody>
          <a:bodyPr lIns="0" tIns="0" rIns="0" bIns="0" anchor="t">
            <a:normAutofit/>
          </a:bodyPr>
          <a:lstStyle>
            <a:lvl1pPr marL="0" indent="0" algn="l">
              <a:lnSpc>
                <a:spcPct val="110000"/>
              </a:lnSpc>
              <a:spcBef>
                <a:spcPts val="450"/>
              </a:spcBef>
              <a:spcAft>
                <a:spcPts val="0"/>
              </a:spcAft>
              <a:buNone/>
              <a:defRPr sz="900" b="0" i="0" baseline="0">
                <a:solidFill>
                  <a:schemeClr val="bg1"/>
                </a:solidFill>
                <a:latin typeface="+mn-lt"/>
                <a:ea typeface="Calibri" panose="020F0502020204030204" pitchFamily="34" charset="0"/>
                <a:cs typeface="Calibri" panose="020F0502020204030204" pitchFamily="34" charset="0"/>
              </a:defRPr>
            </a:lvl1pPr>
            <a:lvl2pPr marL="342900" indent="0" algn="ctr">
              <a:buNone/>
              <a:defRPr sz="1500"/>
            </a:lvl2pPr>
            <a:lvl3pPr marL="685800" indent="0" algn="ctr">
              <a:buNone/>
              <a:defRPr sz="1350"/>
            </a:lvl3pPr>
            <a:lvl4pPr marL="1028700" indent="0" algn="ctr">
              <a:buNone/>
              <a:defRPr sz="1200"/>
            </a:lvl4pPr>
            <a:lvl5pPr marL="1371600" indent="0" algn="ctr">
              <a:buNone/>
              <a:defRPr sz="1200"/>
            </a:lvl5pPr>
            <a:lvl6pPr marL="1714500" indent="0" algn="ctr">
              <a:buNone/>
              <a:defRPr sz="1200"/>
            </a:lvl6pPr>
            <a:lvl7pPr marL="2057400" indent="0" algn="ctr">
              <a:buNone/>
              <a:defRPr sz="1200"/>
            </a:lvl7pPr>
            <a:lvl8pPr marL="2400300" indent="0" algn="ctr">
              <a:buNone/>
              <a:defRPr sz="1200"/>
            </a:lvl8pPr>
            <a:lvl9pPr marL="2743200" indent="0" algn="ctr">
              <a:buNone/>
              <a:defRPr sz="1200"/>
            </a:lvl9pPr>
          </a:lstStyle>
          <a:p>
            <a:r>
              <a:rPr lang="en-US"/>
              <a:t>Click to type section description</a:t>
            </a:r>
          </a:p>
        </p:txBody>
      </p:sp>
      <p:sp>
        <p:nvSpPr>
          <p:cNvPr id="8" name="Text Placeholder 7"/>
          <p:cNvSpPr>
            <a:spLocks noGrp="1"/>
          </p:cNvSpPr>
          <p:nvPr>
            <p:ph type="body" sz="quarter" idx="12" hasCustomPrompt="1"/>
          </p:nvPr>
        </p:nvSpPr>
        <p:spPr>
          <a:xfrm>
            <a:off x="342901" y="2743200"/>
            <a:ext cx="6299597" cy="514350"/>
          </a:xfrm>
        </p:spPr>
        <p:txBody>
          <a:bodyPr/>
          <a:lstStyle>
            <a:lvl1pPr marL="0" indent="0">
              <a:lnSpc>
                <a:spcPct val="100000"/>
              </a:lnSpc>
              <a:spcBef>
                <a:spcPts val="0"/>
              </a:spcBef>
              <a:spcAft>
                <a:spcPts val="0"/>
              </a:spcAft>
              <a:buNone/>
              <a:defRPr sz="3600" b="0" i="0" baseline="0">
                <a:solidFill>
                  <a:schemeClr val="accent3"/>
                </a:solidFill>
                <a:latin typeface="+mj-lt"/>
                <a:ea typeface="Calibri Light" charset="0"/>
                <a:cs typeface="Calibri Light" charset="0"/>
              </a:defRPr>
            </a:lvl1pPr>
          </a:lstStyle>
          <a:p>
            <a:pPr lvl="0"/>
            <a:r>
              <a:rPr lang="en-US"/>
              <a:t>Section Header</a:t>
            </a:r>
          </a:p>
        </p:txBody>
      </p:sp>
      <p:sp>
        <p:nvSpPr>
          <p:cNvPr id="11" name="Text Placeholder 10"/>
          <p:cNvSpPr>
            <a:spLocks noGrp="1"/>
          </p:cNvSpPr>
          <p:nvPr>
            <p:ph type="body" sz="quarter" idx="13" hasCustomPrompt="1"/>
          </p:nvPr>
        </p:nvSpPr>
        <p:spPr>
          <a:xfrm>
            <a:off x="252845" y="1285875"/>
            <a:ext cx="4148138" cy="1714500"/>
          </a:xfrm>
        </p:spPr>
        <p:txBody>
          <a:bodyPr wrap="square" anchor="b"/>
          <a:lstStyle>
            <a:lvl1pPr>
              <a:lnSpc>
                <a:spcPct val="100000"/>
              </a:lnSpc>
              <a:spcBef>
                <a:spcPts val="0"/>
              </a:spcBef>
              <a:spcAft>
                <a:spcPts val="0"/>
              </a:spcAft>
              <a:defRPr sz="16500" b="0" i="0">
                <a:solidFill>
                  <a:schemeClr val="accent3"/>
                </a:solidFill>
                <a:latin typeface="+mj-lt"/>
                <a:ea typeface="Human Sans Thin" pitchFamily="2" charset="77"/>
                <a:cs typeface="Human Sans Thin" pitchFamily="2" charset="77"/>
              </a:defRPr>
            </a:lvl1pPr>
          </a:lstStyle>
          <a:p>
            <a:pPr lvl="0"/>
            <a:r>
              <a:rPr lang="en-US"/>
              <a:t>0</a:t>
            </a:r>
          </a:p>
        </p:txBody>
      </p:sp>
      <p:sp>
        <p:nvSpPr>
          <p:cNvPr id="7" name="Slide Number Placeholder 13"/>
          <p:cNvSpPr txBox="1">
            <a:spLocks/>
          </p:cNvSpPr>
          <p:nvPr userDrawn="1"/>
        </p:nvSpPr>
        <p:spPr>
          <a:xfrm>
            <a:off x="8522494" y="4800599"/>
            <a:ext cx="276320" cy="171450"/>
          </a:xfrm>
          <a:prstGeom prst="rect">
            <a:avLst/>
          </a:prstGeom>
        </p:spPr>
        <p:txBody>
          <a:bodyPr vert="horz" lIns="0" tIns="0" rIns="0" bIns="0" rtlCol="0" anchor="ctr"/>
          <a:lstStyle>
            <a:defPPr>
              <a:defRPr lang="en-US"/>
            </a:defPPr>
            <a:lvl1pPr marL="0" algn="r" defTabSz="914400" rtl="0" eaLnBrk="1" latinLnBrk="0" hangingPunct="1">
              <a:defRPr sz="800" b="0" i="0" kern="1200">
                <a:solidFill>
                  <a:schemeClr val="tx1"/>
                </a:solidFill>
                <a:latin typeface="+mn-lt"/>
                <a:ea typeface="Calibri" panose="020F0502020204030204" pitchFamily="34" charset="0"/>
                <a:cs typeface="Calibri" panose="020F0502020204030204" pitchFamily="34" charset="0"/>
              </a:defRPr>
            </a:lvl1pPr>
            <a:lvl2pPr marL="457200" algn="l" defTabSz="914400" rtl="0" eaLnBrk="1" latinLnBrk="0" hangingPunct="1">
              <a:defRPr sz="1800" kern="1200">
                <a:solidFill>
                  <a:schemeClr val="tx1"/>
                </a:solidFill>
                <a:latin typeface="+mn-lt"/>
                <a:ea typeface="+mn-ea"/>
                <a:cs typeface="+mn-cs"/>
              </a:defRPr>
            </a:lvl2pPr>
            <a:lvl3pPr marL="914400" algn="l" defTabSz="914400" rtl="0" eaLnBrk="1" latinLnBrk="0" hangingPunct="1">
              <a:defRPr sz="1800" kern="1200">
                <a:solidFill>
                  <a:schemeClr val="tx1"/>
                </a:solidFill>
                <a:latin typeface="+mn-lt"/>
                <a:ea typeface="+mn-ea"/>
                <a:cs typeface="+mn-cs"/>
              </a:defRPr>
            </a:lvl3pPr>
            <a:lvl4pPr marL="1371600" algn="l" defTabSz="914400" rtl="0" eaLnBrk="1" latinLnBrk="0" hangingPunct="1">
              <a:defRPr sz="1800" kern="1200">
                <a:solidFill>
                  <a:schemeClr val="tx1"/>
                </a:solidFill>
                <a:latin typeface="+mn-lt"/>
                <a:ea typeface="+mn-ea"/>
                <a:cs typeface="+mn-cs"/>
              </a:defRPr>
            </a:lvl4pPr>
            <a:lvl5pPr marL="1828800" algn="l" defTabSz="914400" rtl="0" eaLnBrk="1" latinLnBrk="0" hangingPunct="1">
              <a:defRPr sz="1800" kern="1200">
                <a:solidFill>
                  <a:schemeClr val="tx1"/>
                </a:solidFill>
                <a:latin typeface="+mn-lt"/>
                <a:ea typeface="+mn-ea"/>
                <a:cs typeface="+mn-cs"/>
              </a:defRPr>
            </a:lvl5pPr>
            <a:lvl6pPr marL="2286000" algn="l" defTabSz="914400" rtl="0" eaLnBrk="1" latinLnBrk="0" hangingPunct="1">
              <a:defRPr sz="1800" kern="1200">
                <a:solidFill>
                  <a:schemeClr val="tx1"/>
                </a:solidFill>
                <a:latin typeface="+mn-lt"/>
                <a:ea typeface="+mn-ea"/>
                <a:cs typeface="+mn-cs"/>
              </a:defRPr>
            </a:lvl6pPr>
            <a:lvl7pPr marL="2743200" algn="l" defTabSz="914400" rtl="0" eaLnBrk="1" latinLnBrk="0" hangingPunct="1">
              <a:defRPr sz="1800" kern="1200">
                <a:solidFill>
                  <a:schemeClr val="tx1"/>
                </a:solidFill>
                <a:latin typeface="+mn-lt"/>
                <a:ea typeface="+mn-ea"/>
                <a:cs typeface="+mn-cs"/>
              </a:defRPr>
            </a:lvl7pPr>
            <a:lvl8pPr marL="3200400" algn="l" defTabSz="914400" rtl="0" eaLnBrk="1" latinLnBrk="0" hangingPunct="1">
              <a:defRPr sz="1800" kern="1200">
                <a:solidFill>
                  <a:schemeClr val="tx1"/>
                </a:solidFill>
                <a:latin typeface="+mn-lt"/>
                <a:ea typeface="+mn-ea"/>
                <a:cs typeface="+mn-cs"/>
              </a:defRPr>
            </a:lvl8pPr>
            <a:lvl9pPr marL="3657600" algn="l" defTabSz="914400" rtl="0" eaLnBrk="1" latinLnBrk="0" hangingPunct="1">
              <a:defRPr sz="1800" kern="1200">
                <a:solidFill>
                  <a:schemeClr val="tx1"/>
                </a:solidFill>
                <a:latin typeface="+mn-lt"/>
                <a:ea typeface="+mn-ea"/>
                <a:cs typeface="+mn-cs"/>
              </a:defRPr>
            </a:lvl9pPr>
          </a:lstStyle>
          <a:p>
            <a:fld id="{315F3C1C-9817-214B-A493-8D89031D0F96}" type="slidenum">
              <a:rPr lang="en-US" sz="600" b="0" i="0" smtClean="0">
                <a:solidFill>
                  <a:schemeClr val="bg1"/>
                </a:solidFill>
                <a:latin typeface="+mn-lt"/>
              </a:rPr>
              <a:pPr/>
              <a:t>‹#›</a:t>
            </a:fld>
            <a:endParaRPr lang="en-US" sz="600" b="0" i="0">
              <a:solidFill>
                <a:schemeClr val="bg1"/>
              </a:solidFill>
              <a:latin typeface="+mn-lt"/>
            </a:endParaRPr>
          </a:p>
        </p:txBody>
      </p:sp>
    </p:spTree>
    <p:extLst>
      <p:ext uri="{BB962C8B-B14F-4D97-AF65-F5344CB8AC3E}">
        <p14:creationId xmlns:p14="http://schemas.microsoft.com/office/powerpoint/2010/main" val="2513291986"/>
      </p:ext>
    </p:extLst>
  </p:cSld>
  <p:clrMapOvr>
    <a:masterClrMapping/>
  </p:clrMapOvr>
  <p:extLst>
    <p:ext uri="{DCECCB84-F9BA-43D5-87BE-67443E8EF086}">
      <p15:sldGuideLst xmlns:p15="http://schemas.microsoft.com/office/powerpoint/2012/main"/>
    </p:ext>
  </p:extLst>
</p:sldLayout>
</file>

<file path=ppt/slideLayouts/slideLayout3.xml><?xml version="1.0" encoding="utf-8"?>
<p:sldLayout xmlns:a="http://schemas.openxmlformats.org/drawingml/2006/main" xmlns:r="http://schemas.openxmlformats.org/officeDocument/2006/relationships" xmlns:p="http://schemas.openxmlformats.org/presentationml/2006/main" preserve="1" userDrawn="1">
  <p:cSld name="1_Blank">
    <p:spTree>
      <p:nvGrpSpPr>
        <p:cNvPr id="1" name=""/>
        <p:cNvGrpSpPr/>
        <p:nvPr/>
      </p:nvGrpSpPr>
      <p:grpSpPr>
        <a:xfrm>
          <a:off x="0" y="0"/>
          <a:ext cx="0" cy="0"/>
          <a:chOff x="0" y="0"/>
          <a:chExt cx="0" cy="0"/>
        </a:xfrm>
      </p:grpSpPr>
    </p:spTree>
    <p:extLst>
      <p:ext uri="{BB962C8B-B14F-4D97-AF65-F5344CB8AC3E}">
        <p14:creationId xmlns:p14="http://schemas.microsoft.com/office/powerpoint/2010/main" val="252358360"/>
      </p:ext>
    </p:extLst>
  </p:cSld>
  <p:clrMapOvr>
    <a:masterClrMapping/>
  </p:clrMapOvr>
</p:sldLayout>
</file>

<file path=ppt/slideLayouts/slideLayout4.xml><?xml version="1.0" encoding="utf-8"?>
<p:sldLayout xmlns:a="http://schemas.openxmlformats.org/drawingml/2006/main" xmlns:r="http://schemas.openxmlformats.org/officeDocument/2006/relationships" xmlns:p="http://schemas.openxmlformats.org/presentationml/2006/main" preserve="1" userDrawn="1">
  <p:cSld name="Title">
    <p:spTree>
      <p:nvGrpSpPr>
        <p:cNvPr id="1" name=""/>
        <p:cNvGrpSpPr/>
        <p:nvPr/>
      </p:nvGrpSpPr>
      <p:grpSpPr>
        <a:xfrm>
          <a:off x="0" y="0"/>
          <a:ext cx="0" cy="0"/>
          <a:chOff x="0" y="0"/>
          <a:chExt cx="0" cy="0"/>
        </a:xfrm>
      </p:grpSpPr>
      <p:sp>
        <p:nvSpPr>
          <p:cNvPr id="2" name="Title 1"/>
          <p:cNvSpPr>
            <a:spLocks noGrp="1"/>
          </p:cNvSpPr>
          <p:nvPr>
            <p:ph type="title"/>
          </p:nvPr>
        </p:nvSpPr>
        <p:spPr>
          <a:xfrm>
            <a:off x="342900" y="342900"/>
            <a:ext cx="8455914" cy="342900"/>
          </a:xfrm>
        </p:spPr>
        <p:txBody>
          <a:bodyPr/>
          <a:lstStyle>
            <a:lvl1pPr>
              <a:defRPr b="1">
                <a:latin typeface="+mn-lt"/>
              </a:defRPr>
            </a:lvl1pPr>
          </a:lstStyle>
          <a:p>
            <a:r>
              <a:rPr lang="en-US"/>
              <a:t>Click to edit Master title style</a:t>
            </a:r>
          </a:p>
        </p:txBody>
      </p:sp>
      <p:sp>
        <p:nvSpPr>
          <p:cNvPr id="8" name="Text Placeholder 10"/>
          <p:cNvSpPr>
            <a:spLocks noGrp="1"/>
          </p:cNvSpPr>
          <p:nvPr>
            <p:ph type="body" sz="quarter" idx="15" hasCustomPrompt="1"/>
          </p:nvPr>
        </p:nvSpPr>
        <p:spPr>
          <a:xfrm>
            <a:off x="342900" y="173620"/>
            <a:ext cx="2708910" cy="169280"/>
          </a:xfrm>
        </p:spPr>
        <p:txBody>
          <a:bodyPr/>
          <a:lstStyle>
            <a:lvl1pPr>
              <a:defRPr sz="675" b="1" cap="all" baseline="0">
                <a:solidFill>
                  <a:schemeClr val="accent3"/>
                </a:solidFill>
                <a:latin typeface="+mn-lt"/>
              </a:defRPr>
            </a:lvl1pPr>
          </a:lstStyle>
          <a:p>
            <a:pPr lvl="0"/>
            <a:r>
              <a:rPr lang="en-US"/>
              <a:t>Click to add section title</a:t>
            </a:r>
          </a:p>
        </p:txBody>
      </p:sp>
    </p:spTree>
    <p:extLst>
      <p:ext uri="{BB962C8B-B14F-4D97-AF65-F5344CB8AC3E}">
        <p14:creationId xmlns:p14="http://schemas.microsoft.com/office/powerpoint/2010/main" val="3330546232"/>
      </p:ext>
    </p:extLst>
  </p:cSld>
  <p:clrMapOvr>
    <a:masterClrMapping/>
  </p:clrMapOvr>
</p:sldLayout>
</file>

<file path=ppt/slideLayouts/slideLayout5.xml><?xml version="1.0" encoding="utf-8"?>
<p:sldLayout xmlns:a="http://schemas.openxmlformats.org/drawingml/2006/main" xmlns:r="http://schemas.openxmlformats.org/officeDocument/2006/relationships" xmlns:p="http://schemas.openxmlformats.org/presentationml/2006/main" preserve="1" userDrawn="1">
  <p:cSld name="1_Title">
    <p:spTree>
      <p:nvGrpSpPr>
        <p:cNvPr id="1" name=""/>
        <p:cNvGrpSpPr/>
        <p:nvPr/>
      </p:nvGrpSpPr>
      <p:grpSpPr>
        <a:xfrm>
          <a:off x="0" y="0"/>
          <a:ext cx="0" cy="0"/>
          <a:chOff x="0" y="0"/>
          <a:chExt cx="0" cy="0"/>
        </a:xfrm>
      </p:grpSpPr>
      <p:sp>
        <p:nvSpPr>
          <p:cNvPr id="8" name="Text Placeholder 10"/>
          <p:cNvSpPr>
            <a:spLocks noGrp="1"/>
          </p:cNvSpPr>
          <p:nvPr>
            <p:ph type="body" sz="quarter" idx="15" hasCustomPrompt="1"/>
          </p:nvPr>
        </p:nvSpPr>
        <p:spPr>
          <a:xfrm>
            <a:off x="342900" y="173620"/>
            <a:ext cx="2708910" cy="169280"/>
          </a:xfrm>
        </p:spPr>
        <p:txBody>
          <a:bodyPr/>
          <a:lstStyle>
            <a:lvl1pPr>
              <a:defRPr sz="675" b="1" cap="all" baseline="0">
                <a:solidFill>
                  <a:schemeClr val="accent3"/>
                </a:solidFill>
                <a:latin typeface="+mn-lt"/>
              </a:defRPr>
            </a:lvl1pPr>
          </a:lstStyle>
          <a:p>
            <a:pPr lvl="0"/>
            <a:r>
              <a:rPr lang="en-US"/>
              <a:t>Click to add section title</a:t>
            </a:r>
          </a:p>
        </p:txBody>
      </p:sp>
    </p:spTree>
    <p:extLst>
      <p:ext uri="{BB962C8B-B14F-4D97-AF65-F5344CB8AC3E}">
        <p14:creationId xmlns:p14="http://schemas.microsoft.com/office/powerpoint/2010/main" val="3321397323"/>
      </p:ext>
    </p:extLst>
  </p:cSld>
  <p:clrMapOvr>
    <a:masterClrMapping/>
  </p:clrMapOvr>
</p:sldLayout>
</file>

<file path=ppt/slideLayouts/slideLayout6.xml><?xml version="1.0" encoding="utf-8"?>
<p:sldLayout xmlns:a="http://schemas.openxmlformats.org/drawingml/2006/main" xmlns:r="http://schemas.openxmlformats.org/officeDocument/2006/relationships" xmlns:p="http://schemas.openxmlformats.org/presentationml/2006/main" preserve="1" userDrawn="1">
  <p:cSld name="Title + Text">
    <p:spTree>
      <p:nvGrpSpPr>
        <p:cNvPr id="1" name=""/>
        <p:cNvGrpSpPr/>
        <p:nvPr/>
      </p:nvGrpSpPr>
      <p:grpSpPr>
        <a:xfrm>
          <a:off x="0" y="0"/>
          <a:ext cx="0" cy="0"/>
          <a:chOff x="0" y="0"/>
          <a:chExt cx="0" cy="0"/>
        </a:xfrm>
      </p:grpSpPr>
      <p:sp>
        <p:nvSpPr>
          <p:cNvPr id="10" name="Text Placeholder 9"/>
          <p:cNvSpPr>
            <a:spLocks noGrp="1"/>
          </p:cNvSpPr>
          <p:nvPr>
            <p:ph type="body" sz="quarter" idx="10"/>
          </p:nvPr>
        </p:nvSpPr>
        <p:spPr>
          <a:xfrm>
            <a:off x="342900" y="855080"/>
            <a:ext cx="7022306" cy="3774069"/>
          </a:xfrm>
        </p:spPr>
        <p:txBody>
          <a:bodyPr lIns="0" tIns="0" rIns="0" bIns="0"/>
          <a:lstStyle>
            <a:lvl1pPr marL="0" indent="0">
              <a:lnSpc>
                <a:spcPct val="110000"/>
              </a:lnSpc>
              <a:spcAft>
                <a:spcPts val="0"/>
              </a:spcAft>
              <a:buNone/>
              <a:tabLst>
                <a:tab pos="2438400" algn="l"/>
              </a:tabLst>
              <a:defRPr sz="1200" b="0" i="0" baseline="0">
                <a:latin typeface="+mn-lt"/>
              </a:defRPr>
            </a:lvl1pPr>
            <a:lvl2pPr marL="342900" indent="0">
              <a:buNone/>
              <a:defRPr/>
            </a:lvl2pPr>
            <a:lvl3pPr marL="685800" indent="0">
              <a:buNone/>
              <a:defRPr/>
            </a:lvl3pPr>
            <a:lvl4pPr marL="1028700" indent="0">
              <a:buNone/>
              <a:defRPr/>
            </a:lvl4pPr>
            <a:lvl5pPr marL="1371600" indent="0">
              <a:buNone/>
              <a:defRPr/>
            </a:lvl5pPr>
          </a:lstStyle>
          <a:p>
            <a:pPr lvl="0"/>
            <a:r>
              <a:rPr lang="en-US"/>
              <a:t>Edit Master text styles</a:t>
            </a:r>
          </a:p>
        </p:txBody>
      </p:sp>
      <p:sp>
        <p:nvSpPr>
          <p:cNvPr id="11" name="Title 1"/>
          <p:cNvSpPr>
            <a:spLocks noGrp="1"/>
          </p:cNvSpPr>
          <p:nvPr>
            <p:ph type="title"/>
          </p:nvPr>
        </p:nvSpPr>
        <p:spPr>
          <a:xfrm>
            <a:off x="342900" y="342900"/>
            <a:ext cx="8455914" cy="342900"/>
          </a:xfrm>
        </p:spPr>
        <p:txBody>
          <a:bodyPr/>
          <a:lstStyle>
            <a:lvl1pPr>
              <a:defRPr b="1">
                <a:latin typeface="+mn-lt"/>
              </a:defRPr>
            </a:lvl1pPr>
          </a:lstStyle>
          <a:p>
            <a:r>
              <a:rPr lang="en-US"/>
              <a:t>Click to edit Master title style</a:t>
            </a:r>
          </a:p>
        </p:txBody>
      </p:sp>
      <p:sp>
        <p:nvSpPr>
          <p:cNvPr id="12" name="Text Placeholder 10"/>
          <p:cNvSpPr>
            <a:spLocks noGrp="1"/>
          </p:cNvSpPr>
          <p:nvPr>
            <p:ph type="body" sz="quarter" idx="15" hasCustomPrompt="1"/>
          </p:nvPr>
        </p:nvSpPr>
        <p:spPr>
          <a:xfrm>
            <a:off x="342900" y="173620"/>
            <a:ext cx="2708910" cy="169280"/>
          </a:xfrm>
        </p:spPr>
        <p:txBody>
          <a:bodyPr/>
          <a:lstStyle>
            <a:lvl1pPr>
              <a:defRPr sz="675" b="1" cap="all" baseline="0">
                <a:solidFill>
                  <a:schemeClr val="accent3"/>
                </a:solidFill>
                <a:latin typeface="+mn-lt"/>
              </a:defRPr>
            </a:lvl1pPr>
          </a:lstStyle>
          <a:p>
            <a:pPr lvl="0"/>
            <a:r>
              <a:rPr lang="en-US"/>
              <a:t>Click to add section title</a:t>
            </a:r>
          </a:p>
        </p:txBody>
      </p:sp>
    </p:spTree>
    <p:extLst>
      <p:ext uri="{BB962C8B-B14F-4D97-AF65-F5344CB8AC3E}">
        <p14:creationId xmlns:p14="http://schemas.microsoft.com/office/powerpoint/2010/main" val="2402786929"/>
      </p:ext>
    </p:extLst>
  </p:cSld>
  <p:clrMapOvr>
    <a:masterClrMapping/>
  </p:clrMapOvr>
  <p:extLst>
    <p:ext uri="{DCECCB84-F9BA-43D5-87BE-67443E8EF086}">
      <p15:sldGuideLst xmlns:p15="http://schemas.microsoft.com/office/powerpoint/2012/main"/>
    </p:ext>
  </p:extLst>
</p:sldLayout>
</file>

<file path=ppt/slideLayouts/slideLayout7.xml><?xml version="1.0" encoding="utf-8"?>
<p:sldLayout xmlns:a="http://schemas.openxmlformats.org/drawingml/2006/main" xmlns:r="http://schemas.openxmlformats.org/officeDocument/2006/relationships" xmlns:p="http://schemas.openxmlformats.org/presentationml/2006/main" preserve="1" userDrawn="1">
  <p:cSld name="3_Title + Text">
    <p:spTree>
      <p:nvGrpSpPr>
        <p:cNvPr id="1" name=""/>
        <p:cNvGrpSpPr/>
        <p:nvPr/>
      </p:nvGrpSpPr>
      <p:grpSpPr>
        <a:xfrm>
          <a:off x="0" y="0"/>
          <a:ext cx="0" cy="0"/>
          <a:chOff x="0" y="0"/>
          <a:chExt cx="0" cy="0"/>
        </a:xfrm>
      </p:grpSpPr>
      <p:sp>
        <p:nvSpPr>
          <p:cNvPr id="10" name="Text Placeholder 9"/>
          <p:cNvSpPr>
            <a:spLocks noGrp="1"/>
          </p:cNvSpPr>
          <p:nvPr>
            <p:ph type="body" sz="quarter" idx="10"/>
          </p:nvPr>
        </p:nvSpPr>
        <p:spPr>
          <a:xfrm>
            <a:off x="4433776" y="855080"/>
            <a:ext cx="4365038" cy="3774069"/>
          </a:xfrm>
        </p:spPr>
        <p:txBody>
          <a:bodyPr lIns="0" tIns="0" rIns="0" bIns="0"/>
          <a:lstStyle>
            <a:lvl1pPr marL="0" indent="0">
              <a:lnSpc>
                <a:spcPct val="110000"/>
              </a:lnSpc>
              <a:spcAft>
                <a:spcPts val="0"/>
              </a:spcAft>
              <a:buNone/>
              <a:tabLst>
                <a:tab pos="2438400" algn="l"/>
              </a:tabLst>
              <a:defRPr sz="1200" b="0" i="0" baseline="0">
                <a:latin typeface="+mj-lt"/>
              </a:defRPr>
            </a:lvl1pPr>
            <a:lvl2pPr marL="342900" indent="0">
              <a:buNone/>
              <a:defRPr/>
            </a:lvl2pPr>
            <a:lvl3pPr marL="685800" indent="0">
              <a:buNone/>
              <a:defRPr/>
            </a:lvl3pPr>
            <a:lvl4pPr marL="1028700" indent="0">
              <a:buNone/>
              <a:defRPr/>
            </a:lvl4pPr>
            <a:lvl5pPr marL="1371600" indent="0">
              <a:buNone/>
              <a:defRPr/>
            </a:lvl5pPr>
          </a:lstStyle>
          <a:p>
            <a:pPr lvl="0"/>
            <a:r>
              <a:rPr lang="en-US" dirty="0"/>
              <a:t>Edit Master text styles</a:t>
            </a:r>
          </a:p>
        </p:txBody>
      </p:sp>
      <p:sp>
        <p:nvSpPr>
          <p:cNvPr id="11" name="Title 1"/>
          <p:cNvSpPr>
            <a:spLocks noGrp="1"/>
          </p:cNvSpPr>
          <p:nvPr>
            <p:ph type="title"/>
          </p:nvPr>
        </p:nvSpPr>
        <p:spPr>
          <a:xfrm>
            <a:off x="342900" y="342900"/>
            <a:ext cx="8455914" cy="342900"/>
          </a:xfrm>
        </p:spPr>
        <p:txBody>
          <a:bodyPr/>
          <a:lstStyle>
            <a:lvl1pPr>
              <a:defRPr b="1">
                <a:latin typeface="+mj-lt"/>
              </a:defRPr>
            </a:lvl1pPr>
          </a:lstStyle>
          <a:p>
            <a:r>
              <a:rPr lang="en-US" dirty="0"/>
              <a:t>Click to edit Master title style</a:t>
            </a:r>
          </a:p>
        </p:txBody>
      </p:sp>
      <p:sp>
        <p:nvSpPr>
          <p:cNvPr id="12" name="Text Placeholder 10"/>
          <p:cNvSpPr>
            <a:spLocks noGrp="1"/>
          </p:cNvSpPr>
          <p:nvPr>
            <p:ph type="body" sz="quarter" idx="15" hasCustomPrompt="1"/>
          </p:nvPr>
        </p:nvSpPr>
        <p:spPr>
          <a:xfrm>
            <a:off x="342900" y="173620"/>
            <a:ext cx="2708910" cy="169280"/>
          </a:xfrm>
        </p:spPr>
        <p:txBody>
          <a:bodyPr/>
          <a:lstStyle>
            <a:lvl1pPr>
              <a:defRPr sz="675" b="1" cap="all" baseline="0">
                <a:solidFill>
                  <a:schemeClr val="accent3"/>
                </a:solidFill>
                <a:latin typeface="+mj-lt"/>
              </a:defRPr>
            </a:lvl1pPr>
          </a:lstStyle>
          <a:p>
            <a:pPr lvl="0"/>
            <a:r>
              <a:rPr lang="en-US"/>
              <a:t>Click to add section title</a:t>
            </a:r>
          </a:p>
        </p:txBody>
      </p:sp>
      <p:sp>
        <p:nvSpPr>
          <p:cNvPr id="6" name="Text Placeholder 9">
            <a:extLst>
              <a:ext uri="{FF2B5EF4-FFF2-40B4-BE49-F238E27FC236}">
                <a16:creationId xmlns:a16="http://schemas.microsoft.com/office/drawing/2014/main" id="{47BF3F39-D94F-BC48-8482-2214B9D8033C}"/>
              </a:ext>
            </a:extLst>
          </p:cNvPr>
          <p:cNvSpPr>
            <a:spLocks noGrp="1"/>
          </p:cNvSpPr>
          <p:nvPr>
            <p:ph type="body" sz="quarter" idx="16"/>
          </p:nvPr>
        </p:nvSpPr>
        <p:spPr>
          <a:xfrm>
            <a:off x="342900" y="855080"/>
            <a:ext cx="3955312" cy="3774069"/>
          </a:xfrm>
        </p:spPr>
        <p:txBody>
          <a:bodyPr lIns="0" tIns="0" rIns="0" bIns="0"/>
          <a:lstStyle>
            <a:lvl1pPr marL="0" indent="0">
              <a:lnSpc>
                <a:spcPct val="110000"/>
              </a:lnSpc>
              <a:spcAft>
                <a:spcPts val="0"/>
              </a:spcAft>
              <a:buNone/>
              <a:tabLst>
                <a:tab pos="2438400" algn="l"/>
              </a:tabLst>
              <a:defRPr sz="1000" b="0" i="0" baseline="0">
                <a:latin typeface="+mj-lt"/>
              </a:defRPr>
            </a:lvl1pPr>
            <a:lvl2pPr marL="342900" indent="0">
              <a:buNone/>
              <a:defRPr/>
            </a:lvl2pPr>
            <a:lvl3pPr marL="685800" indent="0">
              <a:buNone/>
              <a:defRPr/>
            </a:lvl3pPr>
            <a:lvl4pPr marL="1028700" indent="0">
              <a:buNone/>
              <a:defRPr/>
            </a:lvl4pPr>
            <a:lvl5pPr marL="1371600" indent="0">
              <a:buNone/>
              <a:defRPr/>
            </a:lvl5pPr>
          </a:lstStyle>
          <a:p>
            <a:pPr lvl="0"/>
            <a:r>
              <a:rPr lang="en-US" dirty="0"/>
              <a:t>Edit Master text styles</a:t>
            </a:r>
          </a:p>
        </p:txBody>
      </p:sp>
    </p:spTree>
    <p:extLst>
      <p:ext uri="{BB962C8B-B14F-4D97-AF65-F5344CB8AC3E}">
        <p14:creationId xmlns:p14="http://schemas.microsoft.com/office/powerpoint/2010/main" val="2291217687"/>
      </p:ext>
    </p:extLst>
  </p:cSld>
  <p:clrMapOvr>
    <a:masterClrMapping/>
  </p:clrMapOvr>
  <p:extLst>
    <p:ext uri="{DCECCB84-F9BA-43D5-87BE-67443E8EF086}">
      <p15:sldGuideLst xmlns:p15="http://schemas.microsoft.com/office/powerpoint/2012/main"/>
    </p:ext>
  </p:extLst>
</p:sldLayout>
</file>

<file path=ppt/slideLayouts/slideLayout8.xml><?xml version="1.0" encoding="utf-8"?>
<p:sldLayout xmlns:a="http://schemas.openxmlformats.org/drawingml/2006/main" xmlns:r="http://schemas.openxmlformats.org/officeDocument/2006/relationships" xmlns:p="http://schemas.openxmlformats.org/presentationml/2006/main" preserve="1" userDrawn="1">
  <p:cSld name="1_Title + Text">
    <p:spTree>
      <p:nvGrpSpPr>
        <p:cNvPr id="1" name=""/>
        <p:cNvGrpSpPr/>
        <p:nvPr/>
      </p:nvGrpSpPr>
      <p:grpSpPr>
        <a:xfrm>
          <a:off x="0" y="0"/>
          <a:ext cx="0" cy="0"/>
          <a:chOff x="0" y="0"/>
          <a:chExt cx="0" cy="0"/>
        </a:xfrm>
      </p:grpSpPr>
      <p:sp>
        <p:nvSpPr>
          <p:cNvPr id="10" name="Text Placeholder 9"/>
          <p:cNvSpPr>
            <a:spLocks noGrp="1"/>
          </p:cNvSpPr>
          <p:nvPr>
            <p:ph type="body" sz="quarter" idx="10"/>
          </p:nvPr>
        </p:nvSpPr>
        <p:spPr>
          <a:xfrm>
            <a:off x="342900" y="855080"/>
            <a:ext cx="8455914" cy="3774069"/>
          </a:xfrm>
        </p:spPr>
        <p:txBody>
          <a:bodyPr lIns="0" tIns="0" rIns="0" bIns="0"/>
          <a:lstStyle>
            <a:lvl1pPr marL="0" indent="0">
              <a:lnSpc>
                <a:spcPct val="110000"/>
              </a:lnSpc>
              <a:spcAft>
                <a:spcPts val="0"/>
              </a:spcAft>
              <a:buNone/>
              <a:tabLst>
                <a:tab pos="2438400" algn="l"/>
              </a:tabLst>
              <a:defRPr sz="1000" b="0" i="0" baseline="0">
                <a:latin typeface="+mj-lt"/>
              </a:defRPr>
            </a:lvl1pPr>
            <a:lvl2pPr marL="342900" indent="0">
              <a:buNone/>
              <a:defRPr/>
            </a:lvl2pPr>
            <a:lvl3pPr marL="685800" indent="0">
              <a:buNone/>
              <a:defRPr/>
            </a:lvl3pPr>
            <a:lvl4pPr marL="1028700" indent="0">
              <a:buNone/>
              <a:defRPr/>
            </a:lvl4pPr>
            <a:lvl5pPr marL="1371600" indent="0">
              <a:buNone/>
              <a:defRPr/>
            </a:lvl5pPr>
          </a:lstStyle>
          <a:p>
            <a:pPr lvl="0"/>
            <a:r>
              <a:rPr lang="en-US" dirty="0"/>
              <a:t>Edit Master text styles</a:t>
            </a:r>
          </a:p>
        </p:txBody>
      </p:sp>
      <p:sp>
        <p:nvSpPr>
          <p:cNvPr id="11" name="Title 1"/>
          <p:cNvSpPr>
            <a:spLocks noGrp="1"/>
          </p:cNvSpPr>
          <p:nvPr>
            <p:ph type="title"/>
          </p:nvPr>
        </p:nvSpPr>
        <p:spPr>
          <a:xfrm>
            <a:off x="342900" y="342900"/>
            <a:ext cx="8455914" cy="342900"/>
          </a:xfrm>
        </p:spPr>
        <p:txBody>
          <a:bodyPr/>
          <a:lstStyle>
            <a:lvl1pPr>
              <a:defRPr b="1">
                <a:latin typeface="+mn-lt"/>
              </a:defRPr>
            </a:lvl1pPr>
          </a:lstStyle>
          <a:p>
            <a:r>
              <a:rPr lang="en-US"/>
              <a:t>Click to edit Master title style</a:t>
            </a:r>
          </a:p>
        </p:txBody>
      </p:sp>
      <p:sp>
        <p:nvSpPr>
          <p:cNvPr id="12" name="Text Placeholder 10"/>
          <p:cNvSpPr>
            <a:spLocks noGrp="1"/>
          </p:cNvSpPr>
          <p:nvPr>
            <p:ph type="body" sz="quarter" idx="15" hasCustomPrompt="1"/>
          </p:nvPr>
        </p:nvSpPr>
        <p:spPr>
          <a:xfrm>
            <a:off x="342900" y="173620"/>
            <a:ext cx="2708910" cy="169280"/>
          </a:xfrm>
        </p:spPr>
        <p:txBody>
          <a:bodyPr/>
          <a:lstStyle>
            <a:lvl1pPr>
              <a:defRPr sz="675" b="1" cap="all" baseline="0">
                <a:solidFill>
                  <a:schemeClr val="accent3"/>
                </a:solidFill>
                <a:latin typeface="+mn-lt"/>
              </a:defRPr>
            </a:lvl1pPr>
          </a:lstStyle>
          <a:p>
            <a:pPr lvl="0"/>
            <a:r>
              <a:rPr lang="en-US"/>
              <a:t>Click to add section title</a:t>
            </a:r>
          </a:p>
        </p:txBody>
      </p:sp>
    </p:spTree>
    <p:extLst>
      <p:ext uri="{BB962C8B-B14F-4D97-AF65-F5344CB8AC3E}">
        <p14:creationId xmlns:p14="http://schemas.microsoft.com/office/powerpoint/2010/main" val="2858222598"/>
      </p:ext>
    </p:extLst>
  </p:cSld>
  <p:clrMapOvr>
    <a:masterClrMapping/>
  </p:clrMapOvr>
  <p:extLst>
    <p:ext uri="{DCECCB84-F9BA-43D5-87BE-67443E8EF086}">
      <p15:sldGuideLst xmlns:p15="http://schemas.microsoft.com/office/powerpoint/2012/main"/>
    </p:ext>
  </p:extLst>
</p:sldLayout>
</file>

<file path=ppt/slideLayouts/slideLayout9.xml><?xml version="1.0" encoding="utf-8"?>
<p:sldLayout xmlns:a="http://schemas.openxmlformats.org/drawingml/2006/main" xmlns:r="http://schemas.openxmlformats.org/officeDocument/2006/relationships" xmlns:p="http://schemas.openxmlformats.org/presentationml/2006/main" preserve="1" userDrawn="1">
  <p:cSld name="2_Title + Text">
    <p:bg>
      <p:bgPr>
        <a:solidFill>
          <a:schemeClr val="tx1"/>
        </a:solidFill>
        <a:effectLst/>
      </p:bgPr>
    </p:bg>
    <p:spTree>
      <p:nvGrpSpPr>
        <p:cNvPr id="1" name=""/>
        <p:cNvGrpSpPr/>
        <p:nvPr/>
      </p:nvGrpSpPr>
      <p:grpSpPr>
        <a:xfrm>
          <a:off x="0" y="0"/>
          <a:ext cx="0" cy="0"/>
          <a:chOff x="0" y="0"/>
          <a:chExt cx="0" cy="0"/>
        </a:xfrm>
      </p:grpSpPr>
      <p:sp>
        <p:nvSpPr>
          <p:cNvPr id="10" name="Text Placeholder 9"/>
          <p:cNvSpPr>
            <a:spLocks noGrp="1"/>
          </p:cNvSpPr>
          <p:nvPr>
            <p:ph type="body" sz="quarter" idx="10"/>
          </p:nvPr>
        </p:nvSpPr>
        <p:spPr>
          <a:xfrm>
            <a:off x="342900" y="855080"/>
            <a:ext cx="8455914" cy="3774069"/>
          </a:xfrm>
        </p:spPr>
        <p:txBody>
          <a:bodyPr lIns="0" tIns="0" rIns="0" bIns="0"/>
          <a:lstStyle>
            <a:lvl1pPr marL="0" indent="0">
              <a:lnSpc>
                <a:spcPct val="110000"/>
              </a:lnSpc>
              <a:spcAft>
                <a:spcPts val="0"/>
              </a:spcAft>
              <a:buNone/>
              <a:tabLst>
                <a:tab pos="2438400" algn="l"/>
              </a:tabLst>
              <a:defRPr sz="6600" b="0" i="0" baseline="0">
                <a:solidFill>
                  <a:schemeClr val="bg1"/>
                </a:solidFill>
                <a:latin typeface="+mj-lt"/>
              </a:defRPr>
            </a:lvl1pPr>
            <a:lvl2pPr marL="342900" indent="0">
              <a:buNone/>
              <a:defRPr/>
            </a:lvl2pPr>
            <a:lvl3pPr marL="685800" indent="0">
              <a:buNone/>
              <a:defRPr/>
            </a:lvl3pPr>
            <a:lvl4pPr marL="1028700" indent="0">
              <a:buNone/>
              <a:defRPr/>
            </a:lvl4pPr>
            <a:lvl5pPr marL="1371600" indent="0">
              <a:buNone/>
              <a:defRPr/>
            </a:lvl5pPr>
          </a:lstStyle>
          <a:p>
            <a:pPr lvl="0"/>
            <a:r>
              <a:rPr lang="en-US"/>
              <a:t>Edit Master text styles</a:t>
            </a:r>
          </a:p>
        </p:txBody>
      </p:sp>
      <p:sp>
        <p:nvSpPr>
          <p:cNvPr id="11" name="Title 1"/>
          <p:cNvSpPr>
            <a:spLocks noGrp="1"/>
          </p:cNvSpPr>
          <p:nvPr>
            <p:ph type="title"/>
          </p:nvPr>
        </p:nvSpPr>
        <p:spPr>
          <a:xfrm>
            <a:off x="342900" y="342900"/>
            <a:ext cx="8455914" cy="342900"/>
          </a:xfrm>
        </p:spPr>
        <p:txBody>
          <a:bodyPr/>
          <a:lstStyle>
            <a:lvl1pPr>
              <a:defRPr b="1">
                <a:solidFill>
                  <a:schemeClr val="bg1"/>
                </a:solidFill>
                <a:latin typeface="+mn-lt"/>
              </a:defRPr>
            </a:lvl1pPr>
          </a:lstStyle>
          <a:p>
            <a:r>
              <a:rPr lang="en-US"/>
              <a:t>Click to edit Master title style</a:t>
            </a:r>
          </a:p>
        </p:txBody>
      </p:sp>
      <p:sp>
        <p:nvSpPr>
          <p:cNvPr id="12" name="Text Placeholder 10"/>
          <p:cNvSpPr>
            <a:spLocks noGrp="1"/>
          </p:cNvSpPr>
          <p:nvPr>
            <p:ph type="body" sz="quarter" idx="15" hasCustomPrompt="1"/>
          </p:nvPr>
        </p:nvSpPr>
        <p:spPr>
          <a:xfrm>
            <a:off x="342900" y="173620"/>
            <a:ext cx="2708910" cy="169280"/>
          </a:xfrm>
        </p:spPr>
        <p:txBody>
          <a:bodyPr/>
          <a:lstStyle>
            <a:lvl1pPr>
              <a:defRPr sz="675" b="1" cap="all" baseline="0">
                <a:solidFill>
                  <a:schemeClr val="accent3"/>
                </a:solidFill>
                <a:latin typeface="+mn-lt"/>
              </a:defRPr>
            </a:lvl1pPr>
          </a:lstStyle>
          <a:p>
            <a:pPr lvl="0"/>
            <a:r>
              <a:rPr lang="en-US"/>
              <a:t>Click to add section title</a:t>
            </a:r>
          </a:p>
        </p:txBody>
      </p:sp>
      <p:sp>
        <p:nvSpPr>
          <p:cNvPr id="8" name="Slide Number Placeholder 13">
            <a:extLst>
              <a:ext uri="{FF2B5EF4-FFF2-40B4-BE49-F238E27FC236}">
                <a16:creationId xmlns:a16="http://schemas.microsoft.com/office/drawing/2014/main" id="{841CA2A1-3D39-2344-A5FA-9709C1FE6425}"/>
              </a:ext>
            </a:extLst>
          </p:cNvPr>
          <p:cNvSpPr txBox="1">
            <a:spLocks/>
          </p:cNvSpPr>
          <p:nvPr userDrawn="1"/>
        </p:nvSpPr>
        <p:spPr>
          <a:xfrm>
            <a:off x="8522494" y="4800599"/>
            <a:ext cx="276320" cy="171450"/>
          </a:xfrm>
          <a:prstGeom prst="rect">
            <a:avLst/>
          </a:prstGeom>
        </p:spPr>
        <p:txBody>
          <a:bodyPr vert="horz" lIns="0" tIns="0" rIns="0" bIns="0" rtlCol="0" anchor="ctr"/>
          <a:lstStyle>
            <a:defPPr>
              <a:defRPr lang="en-US"/>
            </a:defPPr>
            <a:lvl1pPr marL="0" algn="r" defTabSz="914400" rtl="0" eaLnBrk="1" latinLnBrk="0" hangingPunct="1">
              <a:defRPr sz="800" b="0" i="0" kern="1200">
                <a:solidFill>
                  <a:schemeClr val="tx1"/>
                </a:solidFill>
                <a:latin typeface="+mn-lt"/>
                <a:ea typeface="Calibri" panose="020F0502020204030204" pitchFamily="34" charset="0"/>
                <a:cs typeface="Calibri" panose="020F0502020204030204" pitchFamily="34" charset="0"/>
              </a:defRPr>
            </a:lvl1pPr>
            <a:lvl2pPr marL="457200" algn="l" defTabSz="914400" rtl="0" eaLnBrk="1" latinLnBrk="0" hangingPunct="1">
              <a:defRPr sz="1800" kern="1200">
                <a:solidFill>
                  <a:schemeClr val="tx1"/>
                </a:solidFill>
                <a:latin typeface="+mn-lt"/>
                <a:ea typeface="+mn-ea"/>
                <a:cs typeface="+mn-cs"/>
              </a:defRPr>
            </a:lvl2pPr>
            <a:lvl3pPr marL="914400" algn="l" defTabSz="914400" rtl="0" eaLnBrk="1" latinLnBrk="0" hangingPunct="1">
              <a:defRPr sz="1800" kern="1200">
                <a:solidFill>
                  <a:schemeClr val="tx1"/>
                </a:solidFill>
                <a:latin typeface="+mn-lt"/>
                <a:ea typeface="+mn-ea"/>
                <a:cs typeface="+mn-cs"/>
              </a:defRPr>
            </a:lvl3pPr>
            <a:lvl4pPr marL="1371600" algn="l" defTabSz="914400" rtl="0" eaLnBrk="1" latinLnBrk="0" hangingPunct="1">
              <a:defRPr sz="1800" kern="1200">
                <a:solidFill>
                  <a:schemeClr val="tx1"/>
                </a:solidFill>
                <a:latin typeface="+mn-lt"/>
                <a:ea typeface="+mn-ea"/>
                <a:cs typeface="+mn-cs"/>
              </a:defRPr>
            </a:lvl4pPr>
            <a:lvl5pPr marL="1828800" algn="l" defTabSz="914400" rtl="0" eaLnBrk="1" latinLnBrk="0" hangingPunct="1">
              <a:defRPr sz="1800" kern="1200">
                <a:solidFill>
                  <a:schemeClr val="tx1"/>
                </a:solidFill>
                <a:latin typeface="+mn-lt"/>
                <a:ea typeface="+mn-ea"/>
                <a:cs typeface="+mn-cs"/>
              </a:defRPr>
            </a:lvl5pPr>
            <a:lvl6pPr marL="2286000" algn="l" defTabSz="914400" rtl="0" eaLnBrk="1" latinLnBrk="0" hangingPunct="1">
              <a:defRPr sz="1800" kern="1200">
                <a:solidFill>
                  <a:schemeClr val="tx1"/>
                </a:solidFill>
                <a:latin typeface="+mn-lt"/>
                <a:ea typeface="+mn-ea"/>
                <a:cs typeface="+mn-cs"/>
              </a:defRPr>
            </a:lvl6pPr>
            <a:lvl7pPr marL="2743200" algn="l" defTabSz="914400" rtl="0" eaLnBrk="1" latinLnBrk="0" hangingPunct="1">
              <a:defRPr sz="1800" kern="1200">
                <a:solidFill>
                  <a:schemeClr val="tx1"/>
                </a:solidFill>
                <a:latin typeface="+mn-lt"/>
                <a:ea typeface="+mn-ea"/>
                <a:cs typeface="+mn-cs"/>
              </a:defRPr>
            </a:lvl7pPr>
            <a:lvl8pPr marL="3200400" algn="l" defTabSz="914400" rtl="0" eaLnBrk="1" latinLnBrk="0" hangingPunct="1">
              <a:defRPr sz="1800" kern="1200">
                <a:solidFill>
                  <a:schemeClr val="tx1"/>
                </a:solidFill>
                <a:latin typeface="+mn-lt"/>
                <a:ea typeface="+mn-ea"/>
                <a:cs typeface="+mn-cs"/>
              </a:defRPr>
            </a:lvl8pPr>
            <a:lvl9pPr marL="3657600" algn="l" defTabSz="914400" rtl="0" eaLnBrk="1" latinLnBrk="0" hangingPunct="1">
              <a:defRPr sz="1800" kern="1200">
                <a:solidFill>
                  <a:schemeClr val="tx1"/>
                </a:solidFill>
                <a:latin typeface="+mn-lt"/>
                <a:ea typeface="+mn-ea"/>
                <a:cs typeface="+mn-cs"/>
              </a:defRPr>
            </a:lvl9pPr>
          </a:lstStyle>
          <a:p>
            <a:fld id="{315F3C1C-9817-214B-A493-8D89031D0F96}" type="slidenum">
              <a:rPr lang="en-US" sz="600" b="0" i="0" smtClean="0">
                <a:solidFill>
                  <a:schemeClr val="bg1"/>
                </a:solidFill>
                <a:latin typeface="Human Sans Regular" pitchFamily="2" charset="77"/>
              </a:rPr>
              <a:pPr/>
              <a:t>‹#›</a:t>
            </a:fld>
            <a:endParaRPr lang="en-US" sz="600" b="0" i="0">
              <a:solidFill>
                <a:schemeClr val="bg1"/>
              </a:solidFill>
              <a:latin typeface="Human Sans Regular" pitchFamily="2" charset="77"/>
            </a:endParaRPr>
          </a:p>
        </p:txBody>
      </p:sp>
    </p:spTree>
    <p:extLst>
      <p:ext uri="{BB962C8B-B14F-4D97-AF65-F5344CB8AC3E}">
        <p14:creationId xmlns:p14="http://schemas.microsoft.com/office/powerpoint/2010/main" val="1481691825"/>
      </p:ext>
    </p:extLst>
  </p:cSld>
  <p:clrMapOvr>
    <a:masterClrMapping/>
  </p:clrMapOvr>
  <p:extLst>
    <p:ext uri="{DCECCB84-F9BA-43D5-87BE-67443E8EF086}">
      <p15:sldGuideLst xmlns:p15="http://schemas.microsoft.com/office/powerpoint/2012/main"/>
    </p:ext>
  </p:extLst>
</p:sldLayout>
</file>

<file path=ppt/slideMasters/_rels/slideMaster1.xml.rels><?xml version="1.0" encoding="UTF-8" standalone="yes"?>
<Relationships xmlns="http://schemas.openxmlformats.org/package/2006/relationships"><Relationship Id="rId8" Type="http://schemas.openxmlformats.org/officeDocument/2006/relationships/slideLayout" Target="../slideLayouts/slideLayout8.xml"/><Relationship Id="rId3" Type="http://schemas.openxmlformats.org/officeDocument/2006/relationships/slideLayout" Target="../slideLayouts/slideLayout3.xml"/><Relationship Id="rId7" Type="http://schemas.openxmlformats.org/officeDocument/2006/relationships/slideLayout" Target="../slideLayouts/slideLayout7.xml"/><Relationship Id="rId2" Type="http://schemas.openxmlformats.org/officeDocument/2006/relationships/slideLayout" Target="../slideLayouts/slideLayout2.xml"/><Relationship Id="rId1" Type="http://schemas.openxmlformats.org/officeDocument/2006/relationships/slideLayout" Target="../slideLayouts/slideLayout1.xml"/><Relationship Id="rId6" Type="http://schemas.openxmlformats.org/officeDocument/2006/relationships/slideLayout" Target="../slideLayouts/slideLayout6.xml"/><Relationship Id="rId5" Type="http://schemas.openxmlformats.org/officeDocument/2006/relationships/slideLayout" Target="../slideLayouts/slideLayout5.xml"/><Relationship Id="rId10" Type="http://schemas.openxmlformats.org/officeDocument/2006/relationships/theme" Target="../theme/theme1.xml"/><Relationship Id="rId4" Type="http://schemas.openxmlformats.org/officeDocument/2006/relationships/slideLayout" Target="../slideLayouts/slideLayout4.xml"/><Relationship Id="rId9" Type="http://schemas.openxmlformats.org/officeDocument/2006/relationships/slideLayout" Target="../slideLayouts/slideLayout9.xml"/></Relationships>
</file>

<file path=ppt/slideMasters/slideMaster1.xml><?xml version="1.0" encoding="utf-8"?>
<p:sldMaster xmlns:a="http://schemas.openxmlformats.org/drawingml/2006/main" xmlns:r="http://schemas.openxmlformats.org/officeDocument/2006/relationships" xmlns:p="http://schemas.openxmlformats.org/presentationml/2006/main">
  <p:cSld>
    <p:bg>
      <p:bgRef idx="1001">
        <a:schemeClr val="bg1"/>
      </p:bgRef>
    </p:bg>
    <p:spTree>
      <p:nvGrpSpPr>
        <p:cNvPr id="1" name=""/>
        <p:cNvGrpSpPr/>
        <p:nvPr/>
      </p:nvGrpSpPr>
      <p:grpSpPr>
        <a:xfrm>
          <a:off x="0" y="0"/>
          <a:ext cx="0" cy="0"/>
          <a:chOff x="0" y="0"/>
          <a:chExt cx="0" cy="0"/>
        </a:xfrm>
      </p:grpSpPr>
      <p:sp>
        <p:nvSpPr>
          <p:cNvPr id="2" name="Title Placeholder 1"/>
          <p:cNvSpPr>
            <a:spLocks noGrp="1"/>
          </p:cNvSpPr>
          <p:nvPr>
            <p:ph type="title"/>
          </p:nvPr>
        </p:nvSpPr>
        <p:spPr>
          <a:xfrm>
            <a:off x="342901" y="342900"/>
            <a:ext cx="7020408" cy="342900"/>
          </a:xfrm>
          <a:prstGeom prst="rect">
            <a:avLst/>
          </a:prstGeom>
        </p:spPr>
        <p:txBody>
          <a:bodyPr vert="horz" lIns="0" tIns="0" rIns="0" bIns="0" rtlCol="0" anchor="t">
            <a:noAutofit/>
          </a:bodyPr>
          <a:lstStyle/>
          <a:p>
            <a:r>
              <a:rPr lang="en-US"/>
              <a:t>Click to edit Master title style</a:t>
            </a:r>
          </a:p>
        </p:txBody>
      </p:sp>
      <p:sp>
        <p:nvSpPr>
          <p:cNvPr id="3" name="Text Placeholder 2"/>
          <p:cNvSpPr>
            <a:spLocks noGrp="1"/>
          </p:cNvSpPr>
          <p:nvPr>
            <p:ph type="body" idx="1"/>
          </p:nvPr>
        </p:nvSpPr>
        <p:spPr>
          <a:xfrm>
            <a:off x="342901" y="859971"/>
            <a:ext cx="7022306" cy="3769178"/>
          </a:xfrm>
          <a:prstGeom prst="rect">
            <a:avLst/>
          </a:prstGeom>
        </p:spPr>
        <p:txBody>
          <a:bodyPr vert="horz" lIns="0" tIns="0" rIns="0" bIns="0" rtlCol="0">
            <a:noAutofit/>
          </a:bodyPr>
          <a:lstStyle/>
          <a:p>
            <a:pPr lvl="0"/>
            <a:r>
              <a:rPr lang="en-US"/>
              <a:t>Edit Master text styles</a:t>
            </a:r>
          </a:p>
          <a:p>
            <a:pPr lvl="1"/>
            <a:r>
              <a:rPr lang="en-US"/>
              <a:t>Second level</a:t>
            </a:r>
          </a:p>
          <a:p>
            <a:pPr lvl="2"/>
            <a:r>
              <a:rPr lang="en-US"/>
              <a:t>Third level</a:t>
            </a:r>
          </a:p>
          <a:p>
            <a:pPr lvl="3"/>
            <a:r>
              <a:rPr lang="en-US"/>
              <a:t>Fourth level</a:t>
            </a:r>
          </a:p>
          <a:p>
            <a:pPr lvl="4"/>
            <a:r>
              <a:rPr lang="en-US"/>
              <a:t>Fifth level</a:t>
            </a:r>
          </a:p>
        </p:txBody>
      </p:sp>
      <p:sp>
        <p:nvSpPr>
          <p:cNvPr id="7" name="Slide Number Placeholder 13"/>
          <p:cNvSpPr txBox="1">
            <a:spLocks/>
          </p:cNvSpPr>
          <p:nvPr userDrawn="1"/>
        </p:nvSpPr>
        <p:spPr>
          <a:xfrm>
            <a:off x="8522494" y="4800599"/>
            <a:ext cx="276320" cy="171450"/>
          </a:xfrm>
          <a:prstGeom prst="rect">
            <a:avLst/>
          </a:prstGeom>
        </p:spPr>
        <p:txBody>
          <a:bodyPr vert="horz" lIns="0" tIns="0" rIns="0" bIns="0" rtlCol="0" anchor="ctr"/>
          <a:lstStyle>
            <a:defPPr>
              <a:defRPr lang="en-US"/>
            </a:defPPr>
            <a:lvl1pPr marL="0" algn="r" defTabSz="914400" rtl="0" eaLnBrk="1" latinLnBrk="0" hangingPunct="1">
              <a:defRPr sz="800" b="0" i="0" kern="1200">
                <a:solidFill>
                  <a:schemeClr val="tx1"/>
                </a:solidFill>
                <a:latin typeface="+mn-lt"/>
                <a:ea typeface="Calibri" panose="020F0502020204030204" pitchFamily="34" charset="0"/>
                <a:cs typeface="Calibri" panose="020F0502020204030204" pitchFamily="34" charset="0"/>
              </a:defRPr>
            </a:lvl1pPr>
            <a:lvl2pPr marL="457200" algn="l" defTabSz="914400" rtl="0" eaLnBrk="1" latinLnBrk="0" hangingPunct="1">
              <a:defRPr sz="1800" kern="1200">
                <a:solidFill>
                  <a:schemeClr val="tx1"/>
                </a:solidFill>
                <a:latin typeface="+mn-lt"/>
                <a:ea typeface="+mn-ea"/>
                <a:cs typeface="+mn-cs"/>
              </a:defRPr>
            </a:lvl2pPr>
            <a:lvl3pPr marL="914400" algn="l" defTabSz="914400" rtl="0" eaLnBrk="1" latinLnBrk="0" hangingPunct="1">
              <a:defRPr sz="1800" kern="1200">
                <a:solidFill>
                  <a:schemeClr val="tx1"/>
                </a:solidFill>
                <a:latin typeface="+mn-lt"/>
                <a:ea typeface="+mn-ea"/>
                <a:cs typeface="+mn-cs"/>
              </a:defRPr>
            </a:lvl3pPr>
            <a:lvl4pPr marL="1371600" algn="l" defTabSz="914400" rtl="0" eaLnBrk="1" latinLnBrk="0" hangingPunct="1">
              <a:defRPr sz="1800" kern="1200">
                <a:solidFill>
                  <a:schemeClr val="tx1"/>
                </a:solidFill>
                <a:latin typeface="+mn-lt"/>
                <a:ea typeface="+mn-ea"/>
                <a:cs typeface="+mn-cs"/>
              </a:defRPr>
            </a:lvl4pPr>
            <a:lvl5pPr marL="1828800" algn="l" defTabSz="914400" rtl="0" eaLnBrk="1" latinLnBrk="0" hangingPunct="1">
              <a:defRPr sz="1800" kern="1200">
                <a:solidFill>
                  <a:schemeClr val="tx1"/>
                </a:solidFill>
                <a:latin typeface="+mn-lt"/>
                <a:ea typeface="+mn-ea"/>
                <a:cs typeface="+mn-cs"/>
              </a:defRPr>
            </a:lvl5pPr>
            <a:lvl6pPr marL="2286000" algn="l" defTabSz="914400" rtl="0" eaLnBrk="1" latinLnBrk="0" hangingPunct="1">
              <a:defRPr sz="1800" kern="1200">
                <a:solidFill>
                  <a:schemeClr val="tx1"/>
                </a:solidFill>
                <a:latin typeface="+mn-lt"/>
                <a:ea typeface="+mn-ea"/>
                <a:cs typeface="+mn-cs"/>
              </a:defRPr>
            </a:lvl6pPr>
            <a:lvl7pPr marL="2743200" algn="l" defTabSz="914400" rtl="0" eaLnBrk="1" latinLnBrk="0" hangingPunct="1">
              <a:defRPr sz="1800" kern="1200">
                <a:solidFill>
                  <a:schemeClr val="tx1"/>
                </a:solidFill>
                <a:latin typeface="+mn-lt"/>
                <a:ea typeface="+mn-ea"/>
                <a:cs typeface="+mn-cs"/>
              </a:defRPr>
            </a:lvl7pPr>
            <a:lvl8pPr marL="3200400" algn="l" defTabSz="914400" rtl="0" eaLnBrk="1" latinLnBrk="0" hangingPunct="1">
              <a:defRPr sz="1800" kern="1200">
                <a:solidFill>
                  <a:schemeClr val="tx1"/>
                </a:solidFill>
                <a:latin typeface="+mn-lt"/>
                <a:ea typeface="+mn-ea"/>
                <a:cs typeface="+mn-cs"/>
              </a:defRPr>
            </a:lvl8pPr>
            <a:lvl9pPr marL="3657600" algn="l" defTabSz="914400" rtl="0" eaLnBrk="1" latinLnBrk="0" hangingPunct="1">
              <a:defRPr sz="1800" kern="1200">
                <a:solidFill>
                  <a:schemeClr val="tx1"/>
                </a:solidFill>
                <a:latin typeface="+mn-lt"/>
                <a:ea typeface="+mn-ea"/>
                <a:cs typeface="+mn-cs"/>
              </a:defRPr>
            </a:lvl9pPr>
          </a:lstStyle>
          <a:p>
            <a:fld id="{315F3C1C-9817-214B-A493-8D89031D0F96}" type="slidenum">
              <a:rPr lang="en-US" sz="600" b="0" i="0" smtClean="0">
                <a:latin typeface="Calibri" panose="020F0502020204030204" pitchFamily="34" charset="0"/>
                <a:cs typeface="Calibri" panose="020F0502020204030204" pitchFamily="34" charset="0"/>
              </a:rPr>
              <a:pPr/>
              <a:t>‹#›</a:t>
            </a:fld>
            <a:endParaRPr lang="en-US" sz="600" b="0" i="0">
              <a:latin typeface="Calibri" panose="020F0502020204030204" pitchFamily="34" charset="0"/>
              <a:cs typeface="Calibri" panose="020F0502020204030204" pitchFamily="34" charset="0"/>
            </a:endParaRPr>
          </a:p>
        </p:txBody>
      </p:sp>
    </p:spTree>
    <p:extLst>
      <p:ext uri="{BB962C8B-B14F-4D97-AF65-F5344CB8AC3E}">
        <p14:creationId xmlns:p14="http://schemas.microsoft.com/office/powerpoint/2010/main" val="1127938063"/>
      </p:ext>
    </p:extLst>
  </p:cSld>
  <p:clrMap bg1="lt1" tx1="dk1" bg2="lt2" tx2="dk2" accent1="accent1" accent2="accent2" accent3="accent3" accent4="accent4" accent5="accent5" accent6="accent6" hlink="hlink" folHlink="folHlink"/>
  <p:sldLayoutIdLst>
    <p:sldLayoutId id="2147483863" r:id="rId1"/>
    <p:sldLayoutId id="2147483816" r:id="rId2"/>
    <p:sldLayoutId id="2147483822" r:id="rId3"/>
    <p:sldLayoutId id="2147483823" r:id="rId4"/>
    <p:sldLayoutId id="2147483824" r:id="rId5"/>
    <p:sldLayoutId id="2147483825" r:id="rId6"/>
    <p:sldLayoutId id="2147483826" r:id="rId7"/>
    <p:sldLayoutId id="2147483828" r:id="rId8"/>
    <p:sldLayoutId id="2147483829" r:id="rId9"/>
  </p:sldLayoutIdLst>
  <p:hf hdr="0" dt="0"/>
  <p:txStyles>
    <p:titleStyle>
      <a:lvl1pPr algn="l" defTabSz="685800" rtl="0" eaLnBrk="1" latinLnBrk="0" hangingPunct="1">
        <a:lnSpc>
          <a:spcPct val="100000"/>
        </a:lnSpc>
        <a:spcBef>
          <a:spcPct val="0"/>
        </a:spcBef>
        <a:buNone/>
        <a:defRPr sz="1650" b="0" i="0" kern="1200">
          <a:solidFill>
            <a:schemeClr val="tx1"/>
          </a:solidFill>
          <a:latin typeface="+mn-lt"/>
          <a:ea typeface="Calibri" panose="020F0502020204030204" pitchFamily="34" charset="0"/>
          <a:cs typeface="Calibri" panose="020F0502020204030204" pitchFamily="34" charset="0"/>
        </a:defRPr>
      </a:lvl1pPr>
    </p:titleStyle>
    <p:bodyStyle>
      <a:lvl1pPr marL="0" indent="0" algn="l" defTabSz="685800" rtl="0" eaLnBrk="1" latinLnBrk="0" hangingPunct="1">
        <a:lnSpc>
          <a:spcPct val="110000"/>
        </a:lnSpc>
        <a:spcBef>
          <a:spcPts val="450"/>
        </a:spcBef>
        <a:spcAft>
          <a:spcPts val="0"/>
        </a:spcAft>
        <a:buFont typeface="Arial" panose="020B0604020202020204" pitchFamily="34" charset="0"/>
        <a:buNone/>
        <a:defRPr sz="750" b="0" i="0" kern="1200">
          <a:solidFill>
            <a:schemeClr val="tx1"/>
          </a:solidFill>
          <a:latin typeface="+mn-lt"/>
          <a:ea typeface="Calibri" panose="020F0502020204030204" pitchFamily="34" charset="0"/>
          <a:cs typeface="Calibri" panose="020F0502020204030204" pitchFamily="34" charset="0"/>
        </a:defRPr>
      </a:lvl1pPr>
      <a:lvl2pPr marL="514350" indent="-171450" algn="l" defTabSz="685800" rtl="0" eaLnBrk="1" latinLnBrk="0" hangingPunct="1">
        <a:lnSpc>
          <a:spcPct val="110000"/>
        </a:lnSpc>
        <a:spcBef>
          <a:spcPts val="450"/>
        </a:spcBef>
        <a:spcAft>
          <a:spcPts val="0"/>
        </a:spcAft>
        <a:buFont typeface="Arial" panose="020B0604020202020204" pitchFamily="34" charset="0"/>
        <a:buChar char="•"/>
        <a:defRPr sz="750" b="0" i="0" kern="1200">
          <a:solidFill>
            <a:schemeClr val="tx1"/>
          </a:solidFill>
          <a:latin typeface="+mn-lt"/>
          <a:ea typeface="Calibri" panose="020F0502020204030204" pitchFamily="34" charset="0"/>
          <a:cs typeface="Calibri" panose="020F0502020204030204" pitchFamily="34" charset="0"/>
        </a:defRPr>
      </a:lvl2pPr>
      <a:lvl3pPr marL="857250" indent="-171450" algn="l" defTabSz="685800" rtl="0" eaLnBrk="1" latinLnBrk="0" hangingPunct="1">
        <a:lnSpc>
          <a:spcPct val="110000"/>
        </a:lnSpc>
        <a:spcBef>
          <a:spcPts val="450"/>
        </a:spcBef>
        <a:spcAft>
          <a:spcPts val="0"/>
        </a:spcAft>
        <a:buFont typeface="Arial" panose="020B0604020202020204" pitchFamily="34" charset="0"/>
        <a:buChar char="•"/>
        <a:defRPr sz="750" b="0" i="0" kern="1200">
          <a:solidFill>
            <a:schemeClr val="tx1"/>
          </a:solidFill>
          <a:latin typeface="+mn-lt"/>
          <a:ea typeface="Calibri" panose="020F0502020204030204" pitchFamily="34" charset="0"/>
          <a:cs typeface="Calibri" panose="020F0502020204030204" pitchFamily="34" charset="0"/>
        </a:defRPr>
      </a:lvl3pPr>
      <a:lvl4pPr marL="1200150" indent="-171450" algn="l" defTabSz="685800" rtl="0" eaLnBrk="1" latinLnBrk="0" hangingPunct="1">
        <a:lnSpc>
          <a:spcPct val="110000"/>
        </a:lnSpc>
        <a:spcBef>
          <a:spcPts val="450"/>
        </a:spcBef>
        <a:spcAft>
          <a:spcPts val="0"/>
        </a:spcAft>
        <a:buFont typeface="Arial" panose="020B0604020202020204" pitchFamily="34" charset="0"/>
        <a:buChar char="•"/>
        <a:defRPr sz="750" b="0" i="0" kern="1200">
          <a:solidFill>
            <a:schemeClr val="tx1"/>
          </a:solidFill>
          <a:latin typeface="+mn-lt"/>
          <a:ea typeface="Calibri" panose="020F0502020204030204" pitchFamily="34" charset="0"/>
          <a:cs typeface="Calibri" panose="020F0502020204030204" pitchFamily="34" charset="0"/>
        </a:defRPr>
      </a:lvl4pPr>
      <a:lvl5pPr marL="1543050" indent="-171450" algn="l" defTabSz="685800" rtl="0" eaLnBrk="1" latinLnBrk="0" hangingPunct="1">
        <a:lnSpc>
          <a:spcPct val="110000"/>
        </a:lnSpc>
        <a:spcBef>
          <a:spcPts val="450"/>
        </a:spcBef>
        <a:spcAft>
          <a:spcPts val="0"/>
        </a:spcAft>
        <a:buFont typeface="Arial" panose="020B0604020202020204" pitchFamily="34" charset="0"/>
        <a:buChar char="•"/>
        <a:defRPr sz="750" b="0" i="0" kern="1200">
          <a:solidFill>
            <a:schemeClr val="tx1"/>
          </a:solidFill>
          <a:latin typeface="+mn-lt"/>
          <a:ea typeface="Calibri" panose="020F0502020204030204" pitchFamily="34" charset="0"/>
          <a:cs typeface="Calibri" panose="020F0502020204030204" pitchFamily="34" charset="0"/>
        </a:defRPr>
      </a:lvl5pPr>
      <a:lvl6pPr marL="1885950" indent="-171450" algn="l" defTabSz="685800" rtl="0" eaLnBrk="1" latinLnBrk="0" hangingPunct="1">
        <a:lnSpc>
          <a:spcPct val="90000"/>
        </a:lnSpc>
        <a:spcBef>
          <a:spcPts val="375"/>
        </a:spcBef>
        <a:buFont typeface="Arial" panose="020B0604020202020204" pitchFamily="34" charset="0"/>
        <a:buChar char="•"/>
        <a:defRPr sz="1350" kern="1200">
          <a:solidFill>
            <a:schemeClr val="tx1"/>
          </a:solidFill>
          <a:latin typeface="+mn-lt"/>
          <a:ea typeface="+mn-ea"/>
          <a:cs typeface="+mn-cs"/>
        </a:defRPr>
      </a:lvl6pPr>
      <a:lvl7pPr marL="2228850" indent="-171450" algn="l" defTabSz="685800" rtl="0" eaLnBrk="1" latinLnBrk="0" hangingPunct="1">
        <a:lnSpc>
          <a:spcPct val="90000"/>
        </a:lnSpc>
        <a:spcBef>
          <a:spcPts val="375"/>
        </a:spcBef>
        <a:buFont typeface="Arial" panose="020B0604020202020204" pitchFamily="34" charset="0"/>
        <a:buChar char="•"/>
        <a:defRPr sz="1350" kern="1200">
          <a:solidFill>
            <a:schemeClr val="tx1"/>
          </a:solidFill>
          <a:latin typeface="+mn-lt"/>
          <a:ea typeface="+mn-ea"/>
          <a:cs typeface="+mn-cs"/>
        </a:defRPr>
      </a:lvl7pPr>
      <a:lvl8pPr marL="2571750" indent="-171450" algn="l" defTabSz="685800" rtl="0" eaLnBrk="1" latinLnBrk="0" hangingPunct="1">
        <a:lnSpc>
          <a:spcPct val="90000"/>
        </a:lnSpc>
        <a:spcBef>
          <a:spcPts val="375"/>
        </a:spcBef>
        <a:buFont typeface="Arial" panose="020B0604020202020204" pitchFamily="34" charset="0"/>
        <a:buChar char="•"/>
        <a:defRPr sz="1350" kern="1200">
          <a:solidFill>
            <a:schemeClr val="tx1"/>
          </a:solidFill>
          <a:latin typeface="+mn-lt"/>
          <a:ea typeface="+mn-ea"/>
          <a:cs typeface="+mn-cs"/>
        </a:defRPr>
      </a:lvl8pPr>
      <a:lvl9pPr marL="2914650" indent="-171450" algn="l" defTabSz="685800" rtl="0" eaLnBrk="1" latinLnBrk="0" hangingPunct="1">
        <a:lnSpc>
          <a:spcPct val="90000"/>
        </a:lnSpc>
        <a:spcBef>
          <a:spcPts val="375"/>
        </a:spcBef>
        <a:buFont typeface="Arial" panose="020B0604020202020204" pitchFamily="34" charset="0"/>
        <a:buChar char="•"/>
        <a:defRPr sz="1350" kern="1200">
          <a:solidFill>
            <a:schemeClr val="tx1"/>
          </a:solidFill>
          <a:latin typeface="+mn-lt"/>
          <a:ea typeface="+mn-ea"/>
          <a:cs typeface="+mn-cs"/>
        </a:defRPr>
      </a:lvl9pPr>
    </p:bodyStyle>
    <p:otherStyle>
      <a:defPPr>
        <a:defRPr lang="en-US"/>
      </a:defPPr>
      <a:lvl1pPr marL="0" algn="l" defTabSz="685800" rtl="0" eaLnBrk="1" latinLnBrk="0" hangingPunct="1">
        <a:defRPr sz="1350" kern="1200">
          <a:solidFill>
            <a:schemeClr val="tx1"/>
          </a:solidFill>
          <a:latin typeface="+mn-lt"/>
          <a:ea typeface="+mn-ea"/>
          <a:cs typeface="+mn-cs"/>
        </a:defRPr>
      </a:lvl1pPr>
      <a:lvl2pPr marL="342900" algn="l" defTabSz="685800" rtl="0" eaLnBrk="1" latinLnBrk="0" hangingPunct="1">
        <a:defRPr sz="1350" kern="1200">
          <a:solidFill>
            <a:schemeClr val="tx1"/>
          </a:solidFill>
          <a:latin typeface="+mn-lt"/>
          <a:ea typeface="+mn-ea"/>
          <a:cs typeface="+mn-cs"/>
        </a:defRPr>
      </a:lvl2pPr>
      <a:lvl3pPr marL="685800" algn="l" defTabSz="685800" rtl="0" eaLnBrk="1" latinLnBrk="0" hangingPunct="1">
        <a:defRPr sz="1350" kern="1200">
          <a:solidFill>
            <a:schemeClr val="tx1"/>
          </a:solidFill>
          <a:latin typeface="+mn-lt"/>
          <a:ea typeface="+mn-ea"/>
          <a:cs typeface="+mn-cs"/>
        </a:defRPr>
      </a:lvl3pPr>
      <a:lvl4pPr marL="1028700" algn="l" defTabSz="685800" rtl="0" eaLnBrk="1" latinLnBrk="0" hangingPunct="1">
        <a:defRPr sz="1350" kern="1200">
          <a:solidFill>
            <a:schemeClr val="tx1"/>
          </a:solidFill>
          <a:latin typeface="+mn-lt"/>
          <a:ea typeface="+mn-ea"/>
          <a:cs typeface="+mn-cs"/>
        </a:defRPr>
      </a:lvl4pPr>
      <a:lvl5pPr marL="1371600" algn="l" defTabSz="685800" rtl="0" eaLnBrk="1" latinLnBrk="0" hangingPunct="1">
        <a:defRPr sz="1350" kern="1200">
          <a:solidFill>
            <a:schemeClr val="tx1"/>
          </a:solidFill>
          <a:latin typeface="+mn-lt"/>
          <a:ea typeface="+mn-ea"/>
          <a:cs typeface="+mn-cs"/>
        </a:defRPr>
      </a:lvl5pPr>
      <a:lvl6pPr marL="1714500" algn="l" defTabSz="685800" rtl="0" eaLnBrk="1" latinLnBrk="0" hangingPunct="1">
        <a:defRPr sz="1350" kern="1200">
          <a:solidFill>
            <a:schemeClr val="tx1"/>
          </a:solidFill>
          <a:latin typeface="+mn-lt"/>
          <a:ea typeface="+mn-ea"/>
          <a:cs typeface="+mn-cs"/>
        </a:defRPr>
      </a:lvl6pPr>
      <a:lvl7pPr marL="2057400" algn="l" defTabSz="685800" rtl="0" eaLnBrk="1" latinLnBrk="0" hangingPunct="1">
        <a:defRPr sz="1350" kern="1200">
          <a:solidFill>
            <a:schemeClr val="tx1"/>
          </a:solidFill>
          <a:latin typeface="+mn-lt"/>
          <a:ea typeface="+mn-ea"/>
          <a:cs typeface="+mn-cs"/>
        </a:defRPr>
      </a:lvl7pPr>
      <a:lvl8pPr marL="2400300" algn="l" defTabSz="685800" rtl="0" eaLnBrk="1" latinLnBrk="0" hangingPunct="1">
        <a:defRPr sz="1350" kern="1200">
          <a:solidFill>
            <a:schemeClr val="tx1"/>
          </a:solidFill>
          <a:latin typeface="+mn-lt"/>
          <a:ea typeface="+mn-ea"/>
          <a:cs typeface="+mn-cs"/>
        </a:defRPr>
      </a:lvl8pPr>
      <a:lvl9pPr marL="2743200" algn="l" defTabSz="685800" rtl="0" eaLnBrk="1" latinLnBrk="0" hangingPunct="1">
        <a:defRPr sz="1350" kern="1200">
          <a:solidFill>
            <a:schemeClr val="tx1"/>
          </a:solidFill>
          <a:latin typeface="+mn-lt"/>
          <a:ea typeface="+mn-ea"/>
          <a:cs typeface="+mn-cs"/>
        </a:defRPr>
      </a:lvl9pPr>
    </p:otherStyle>
  </p:txStyles>
  <p:extLst>
    <p:ext uri="{27BBF7A9-308A-43DC-89C8-2F10F3537804}">
      <p15:sldGuideLst xmlns:p15="http://schemas.microsoft.com/office/powerpoint/2012/main">
        <p15:guide id="1" orient="horz" pos="2160">
          <p15:clr>
            <a:srgbClr val="F26B43"/>
          </p15:clr>
        </p15:guide>
        <p15:guide id="16" orient="horz" pos="144">
          <p15:clr>
            <a:srgbClr val="F26B43"/>
          </p15:clr>
        </p15:guide>
        <p15:guide id="17" orient="horz" pos="288">
          <p15:clr>
            <a:srgbClr val="F26B43"/>
          </p15:clr>
        </p15:guide>
        <p15:guide id="18" orient="horz" pos="432">
          <p15:clr>
            <a:srgbClr val="F26B43"/>
          </p15:clr>
        </p15:guide>
        <p15:guide id="19" orient="horz" pos="576">
          <p15:clr>
            <a:srgbClr val="F26B43"/>
          </p15:clr>
        </p15:guide>
        <p15:guide id="20" orient="horz" pos="720">
          <p15:clr>
            <a:srgbClr val="F26B43"/>
          </p15:clr>
        </p15:guide>
        <p15:guide id="21" orient="horz" pos="864">
          <p15:clr>
            <a:srgbClr val="F26B43"/>
          </p15:clr>
        </p15:guide>
        <p15:guide id="22" orient="horz" pos="1008">
          <p15:clr>
            <a:srgbClr val="F26B43"/>
          </p15:clr>
        </p15:guide>
        <p15:guide id="23" orient="horz" pos="1152">
          <p15:clr>
            <a:srgbClr val="F26B43"/>
          </p15:clr>
        </p15:guide>
        <p15:guide id="24" orient="horz" pos="1296">
          <p15:clr>
            <a:srgbClr val="F26B43"/>
          </p15:clr>
        </p15:guide>
        <p15:guide id="25" orient="horz" pos="1440">
          <p15:clr>
            <a:srgbClr val="F26B43"/>
          </p15:clr>
        </p15:guide>
        <p15:guide id="26" orient="horz" pos="1584">
          <p15:clr>
            <a:srgbClr val="F26B43"/>
          </p15:clr>
        </p15:guide>
        <p15:guide id="27" orient="horz" pos="1728">
          <p15:clr>
            <a:srgbClr val="F26B43"/>
          </p15:clr>
        </p15:guide>
        <p15:guide id="28" orient="horz" pos="1872">
          <p15:clr>
            <a:srgbClr val="F26B43"/>
          </p15:clr>
        </p15:guide>
        <p15:guide id="29" orient="horz" pos="2016">
          <p15:clr>
            <a:srgbClr val="F26B43"/>
          </p15:clr>
        </p15:guide>
        <p15:guide id="30" orient="horz" pos="2304">
          <p15:clr>
            <a:srgbClr val="F26B43"/>
          </p15:clr>
        </p15:guide>
        <p15:guide id="31" orient="horz" pos="2448">
          <p15:clr>
            <a:srgbClr val="F26B43"/>
          </p15:clr>
        </p15:guide>
        <p15:guide id="32" orient="horz" pos="2592">
          <p15:clr>
            <a:srgbClr val="F26B43"/>
          </p15:clr>
        </p15:guide>
        <p15:guide id="33" orient="horz" pos="2736">
          <p15:clr>
            <a:srgbClr val="F26B43"/>
          </p15:clr>
        </p15:guide>
        <p15:guide id="34" orient="horz" pos="2880">
          <p15:clr>
            <a:srgbClr val="F26B43"/>
          </p15:clr>
        </p15:guide>
        <p15:guide id="35" orient="horz" pos="3024">
          <p15:clr>
            <a:srgbClr val="F26B43"/>
          </p15:clr>
        </p15:guide>
        <p15:guide id="36" orient="horz" pos="3168">
          <p15:clr>
            <a:srgbClr val="F26B43"/>
          </p15:clr>
        </p15:guide>
        <p15:guide id="37" orient="horz" pos="3312">
          <p15:clr>
            <a:srgbClr val="F26B43"/>
          </p15:clr>
        </p15:guide>
        <p15:guide id="38" orient="horz" pos="3456">
          <p15:clr>
            <a:srgbClr val="F26B43"/>
          </p15:clr>
        </p15:guide>
        <p15:guide id="39" orient="horz" pos="3600">
          <p15:clr>
            <a:srgbClr val="F26B43"/>
          </p15:clr>
        </p15:guide>
        <p15:guide id="40" orient="horz" pos="3744">
          <p15:clr>
            <a:srgbClr val="F26B43"/>
          </p15:clr>
        </p15:guide>
        <p15:guide id="41" orient="horz" pos="3888">
          <p15:clr>
            <a:srgbClr val="F26B43"/>
          </p15:clr>
        </p15:guide>
        <p15:guide id="43" orient="horz" pos="4176">
          <p15:clr>
            <a:srgbClr val="F26B43"/>
          </p15:clr>
        </p15:guide>
        <p15:guide id="56" orient="horz">
          <p15:clr>
            <a:srgbClr val="F26B43"/>
          </p15:clr>
        </p15:guide>
        <p15:guide id="57" orient="horz" pos="4320">
          <p15:clr>
            <a:srgbClr val="F26B43"/>
          </p15:clr>
        </p15:guide>
        <p15:guide id="58" orient="horz" pos="4032">
          <p15:clr>
            <a:srgbClr val="F26B43"/>
          </p15:clr>
        </p15:guide>
        <p15:guide id="59" pos="288">
          <p15:clr>
            <a:srgbClr val="F26B43"/>
          </p15:clr>
        </p15:guide>
        <p15:guide id="61" pos="7392">
          <p15:clr>
            <a:srgbClr val="F26B43"/>
          </p15:clr>
        </p15:guide>
        <p15:guide id="62" pos="894">
          <p15:clr>
            <a:srgbClr val="F26B43"/>
          </p15:clr>
        </p15:guide>
        <p15:guide id="63" pos="750">
          <p15:clr>
            <a:srgbClr val="F26B43"/>
          </p15:clr>
        </p15:guide>
        <p15:guide id="64" pos="1354">
          <p15:clr>
            <a:srgbClr val="F26B43"/>
          </p15:clr>
        </p15:guide>
        <p15:guide id="65" pos="1498">
          <p15:clr>
            <a:srgbClr val="F26B43"/>
          </p15:clr>
        </p15:guide>
        <p15:guide id="66" pos="1958">
          <p15:clr>
            <a:srgbClr val="F26B43"/>
          </p15:clr>
        </p15:guide>
        <p15:guide id="67" pos="2104">
          <p15:clr>
            <a:srgbClr val="F26B43"/>
          </p15:clr>
        </p15:guide>
        <p15:guide id="68" pos="2710">
          <p15:clr>
            <a:srgbClr val="F26B43"/>
          </p15:clr>
        </p15:guide>
        <p15:guide id="69" pos="2565">
          <p15:clr>
            <a:srgbClr val="F26B43"/>
          </p15:clr>
        </p15:guide>
        <p15:guide id="70" pos="3310">
          <p15:clr>
            <a:srgbClr val="F26B43"/>
          </p15:clr>
        </p15:guide>
        <p15:guide id="71" pos="3168">
          <p15:clr>
            <a:srgbClr val="F26B43"/>
          </p15:clr>
        </p15:guide>
        <p15:guide id="72" pos="3772">
          <p15:clr>
            <a:srgbClr val="F26B43"/>
          </p15:clr>
        </p15:guide>
        <p15:guide id="73" pos="3919">
          <p15:clr>
            <a:srgbClr val="F26B43"/>
          </p15:clr>
        </p15:guide>
        <p15:guide id="74" pos="4376">
          <p15:clr>
            <a:srgbClr val="F26B43"/>
          </p15:clr>
        </p15:guide>
        <p15:guide id="75" pos="4523">
          <p15:clr>
            <a:srgbClr val="F26B43"/>
          </p15:clr>
        </p15:guide>
        <p15:guide id="76" pos="5128">
          <p15:clr>
            <a:srgbClr val="F26B43"/>
          </p15:clr>
        </p15:guide>
        <p15:guide id="77" pos="4981">
          <p15:clr>
            <a:srgbClr val="F26B43"/>
          </p15:clr>
        </p15:guide>
        <p15:guide id="78" pos="5579">
          <p15:clr>
            <a:srgbClr val="F26B43"/>
          </p15:clr>
        </p15:guide>
        <p15:guide id="79" pos="5726">
          <p15:clr>
            <a:srgbClr val="F26B43"/>
          </p15:clr>
        </p15:guide>
        <p15:guide id="80" pos="6186">
          <p15:clr>
            <a:srgbClr val="F26B43"/>
          </p15:clr>
        </p15:guide>
        <p15:guide id="81" pos="6330">
          <p15:clr>
            <a:srgbClr val="F26B43"/>
          </p15:clr>
        </p15:guide>
        <p15:guide id="82" pos="6793">
          <p15:clr>
            <a:srgbClr val="F26B43"/>
          </p15:clr>
        </p15:guide>
        <p15:guide id="83" pos="6933">
          <p15:clr>
            <a:srgbClr val="F26B43"/>
          </p15:clr>
        </p15:guide>
      </p15:sldGuideLst>
    </p:ext>
  </p:extLst>
</p:sldMaster>
</file>

<file path=ppt/slides/_rels/slide1.xml.rels><?xml version="1.0" encoding="UTF-8" standalone="yes"?>
<Relationships xmlns="http://schemas.openxmlformats.org/package/2006/relationships"><Relationship Id="rId2" Type="http://schemas.openxmlformats.org/officeDocument/2006/relationships/notesSlide" Target="../notesSlides/notesSlide1.xml"/><Relationship Id="rId1" Type="http://schemas.openxmlformats.org/officeDocument/2006/relationships/slideLayout" Target="../slideLayouts/slideLayout1.xml"/></Relationships>
</file>

<file path=ppt/slides/_rels/slide2.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3.xml.rels><?xml version="1.0" encoding="UTF-8" standalone="yes"?>
<Relationships xmlns="http://schemas.openxmlformats.org/package/2006/relationships"><Relationship Id="rId2" Type="http://schemas.openxmlformats.org/officeDocument/2006/relationships/hyperlink" Target="https://azure.microsoft.com/ru-ru/updates?id=536747" TargetMode="External"/><Relationship Id="rId1" Type="http://schemas.openxmlformats.org/officeDocument/2006/relationships/slideLayout" Target="../slideLayouts/slideLayout7.xml"/></Relationships>
</file>

<file path=ppt/slides/_rels/slide4.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5.xml.rels><?xml version="1.0" encoding="UTF-8" standalone="yes"?>
<Relationships xmlns="http://schemas.openxmlformats.org/package/2006/relationships"><Relationship Id="rId3" Type="http://schemas.openxmlformats.org/officeDocument/2006/relationships/hyperlink" Target="https://learn.microsoft.com/en-us/entra/fundamentals/whats-new#november-2025" TargetMode="External"/><Relationship Id="rId2" Type="http://schemas.openxmlformats.org/officeDocument/2006/relationships/hyperlink" Target="https://learn.microsoft.com/en-us/entra/fundamentals/whats-new#public-preview---self-remediation-for-passwordless-users" TargetMode="External"/><Relationship Id="rId1" Type="http://schemas.openxmlformats.org/officeDocument/2006/relationships/slideLayout" Target="../slideLayouts/slideLayout7.xml"/><Relationship Id="rId4" Type="http://schemas.openxmlformats.org/officeDocument/2006/relationships/image" Target="../media/image1.png"/></Relationships>
</file>

<file path=ppt/slides/_rels/slide6.xml.rels><?xml version="1.0" encoding="UTF-8" standalone="yes"?>
<Relationships xmlns="http://schemas.openxmlformats.org/package/2006/relationships"><Relationship Id="rId3" Type="http://schemas.openxmlformats.org/officeDocument/2006/relationships/hyperlink" Target="https://learn.microsoft.com/en-us/entra/fundamentals/whats-new#public-preview---externally-determine-the-approval-requirements-for-an-access-package-using-custom-extensions" TargetMode="External"/><Relationship Id="rId2" Type="http://schemas.openxmlformats.org/officeDocument/2006/relationships/hyperlink" Target="https://learn.microsoft.com/en-us/entra/fundamentals/whats-new#public-preview---passkey-profiles-in-microsoft-entra-id" TargetMode="External"/><Relationship Id="rId1" Type="http://schemas.openxmlformats.org/officeDocument/2006/relationships/slideLayout" Target="../slideLayouts/slideLayout7.xml"/><Relationship Id="rId4" Type="http://schemas.openxmlformats.org/officeDocument/2006/relationships/image" Target="../media/image2.png"/></Relationships>
</file>

<file path=ppt/slides/_rels/slide7.xml.rels><?xml version="1.0" encoding="UTF-8" standalone="yes"?>
<Relationships xmlns="http://schemas.openxmlformats.org/package/2006/relationships"><Relationship Id="rId3" Type="http://schemas.openxmlformats.org/officeDocument/2006/relationships/hyperlink" Target="https://learn.microsoft.com/en-us/entra/fundamentals/whats-new#public-preview---soft-deletion-for-cloud-security-groups" TargetMode="External"/><Relationship Id="rId2" Type="http://schemas.openxmlformats.org/officeDocument/2006/relationships/hyperlink" Target="https://learn.microsoft.com/en-us/entra/fundamentals/whats-new#public-preview---end-user-experience-for-managing-agent-identities" TargetMode="External"/><Relationship Id="rId1" Type="http://schemas.openxmlformats.org/officeDocument/2006/relationships/slideLayout" Target="../slideLayouts/slideLayout7.xml"/></Relationships>
</file>

<file path=ppt/slides/_rels/slide8.xml.rels><?xml version="1.0" encoding="UTF-8" standalone="yes"?>
<Relationships xmlns="http://schemas.openxmlformats.org/package/2006/relationships"><Relationship Id="rId3" Type="http://schemas.openxmlformats.org/officeDocument/2006/relationships/hyperlink" Target="https://learn.microsoft.com/en-us/entra/fundamentals/whats-new#public-preview---conditional-access-for-agents" TargetMode="External"/><Relationship Id="rId2" Type="http://schemas.openxmlformats.org/officeDocument/2006/relationships/hyperlink" Target="https://learn.microsoft.com/en-us/entra/fundamentals/whats-new#public-preview---user-centric-access-reviews-including-disconnected-applications" TargetMode="External"/><Relationship Id="rId1" Type="http://schemas.openxmlformats.org/officeDocument/2006/relationships/slideLayout" Target="../slideLayouts/slideLayout7.xml"/></Relationships>
</file>

<file path=ppt/slides/_rels/slide9.xml.rels><?xml version="1.0" encoding="UTF-8" standalone="yes"?>
<Relationships xmlns="http://schemas.openxmlformats.org/package/2006/relationships"><Relationship Id="rId3" Type="http://schemas.openxmlformats.org/officeDocument/2006/relationships/hyperlink" Target="https://learn.microsoft.com/en-us/entra/fundamentals/whats-new#general-availability---external-id-regional-expansion-to-australia-and-japan" TargetMode="External"/><Relationship Id="rId2" Type="http://schemas.openxmlformats.org/officeDocument/2006/relationships/hyperlink" Target="https://learn.microsoft.com/en-us/entra/fundamentals/whats-new#general-availability---new-scim-20-sap-cis-connector-available-with-support-for-group-provisioning" TargetMode="External"/><Relationship Id="rId1" Type="http://schemas.openxmlformats.org/officeDocument/2006/relationships/slideLayout" Target="../slideLayouts/slideLayout7.xml"/></Relationships>
</file>

<file path=ppt/slides/_rels/slide10.xml.rels><?xml version="1.0" encoding="UTF-8" standalone="yes"?>
<Relationships xmlns="http://schemas.openxmlformats.org/package/2006/relationships"><Relationship Id="rId3" Type="http://schemas.openxmlformats.org/officeDocument/2006/relationships/hyperlink" Target="https://learn.microsoft.com/en-us/entra/fundamentals/whats-new#general-availability---support-for-eligible-group-memberships-and-ownerships-in-entitlement-management-access-packages" TargetMode="External"/><Relationship Id="rId2" Type="http://schemas.openxmlformats.org/officeDocument/2006/relationships/hyperlink" Target="https://learn.microsoft.com/en-us/entra/fundamentals/whats-new#general-availability---reprocess-failed-users-and-workflows-in-lifecycle-workflows" TargetMode="External"/><Relationship Id="rId1" Type="http://schemas.openxmlformats.org/officeDocument/2006/relationships/slideLayout" Target="../slideLayouts/slideLayout7.xml"/></Relationships>
</file>

<file path=ppt/slides/_rels/slide11.xml.rels><?xml version="1.0" encoding="UTF-8" standalone="yes"?>
<Relationships xmlns="http://schemas.openxmlformats.org/package/2006/relationships"><Relationship Id="rId3" Type="http://schemas.openxmlformats.org/officeDocument/2006/relationships/hyperlink" Target="https://learn.microsoft.com/en-us/entra/fundamentals/whats-new#general-availability---groups-purview-sensitivity-label-support-in-lifecycle-workflows" TargetMode="External"/><Relationship Id="rId2" Type="http://schemas.openxmlformats.org/officeDocument/2006/relationships/hyperlink" Target="https://learn.microsoft.com/en-us/entra/fundamentals/whats-new#general-availability---trigger-workflows-for-inactive-employees-and-guests-in-lifecycle-workflows" TargetMode="External"/><Relationship Id="rId1" Type="http://schemas.openxmlformats.org/officeDocument/2006/relationships/slideLayout" Target="../slideLayouts/slideLayout7.xml"/></Relationships>
</file>

<file path=ppt/slides/_rels/slide12.xml.rels><?xml version="1.0" encoding="UTF-8" standalone="yes"?>
<Relationships xmlns="http://schemas.openxmlformats.org/package/2006/relationships"><Relationship Id="rId3" Type="http://schemas.openxmlformats.org/officeDocument/2006/relationships/hyperlink" Target="https://learn.microsoft.com/en-us/azure/defender-for-cloud/release-notes#discover-azure-ai-foundry-agents-in-your-environment-preview" TargetMode="External"/><Relationship Id="rId2" Type="http://schemas.openxmlformats.org/officeDocument/2006/relationships/hyperlink" Target="https://learn.microsoft.com/en-us/azure/defender-for-cloud/release-notes#in-pipeline-container-vulnerability-scanning-preview" TargetMode="External"/><Relationship Id="rId1" Type="http://schemas.openxmlformats.org/officeDocument/2006/relationships/slideLayout" Target="../slideLayouts/slideLayout7.xml"/></Relationships>
</file>

<file path=ppt/slides/_rels/slide13.xml.rels><?xml version="1.0" encoding="UTF-8" standalone="yes"?>
<Relationships xmlns="http://schemas.openxmlformats.org/package/2006/relationships"><Relationship Id="rId2" Type="http://schemas.openxmlformats.org/officeDocument/2006/relationships/hyperlink" Target="https://learn.microsoft.com/en-us/azure/defender-for-cloud/release-notes#advanced-security-posture-for-api-discovery-preview" TargetMode="External"/><Relationship Id="rId1" Type="http://schemas.openxmlformats.org/officeDocument/2006/relationships/slideLayout" Target="../slideLayouts/slideLayout7.xml"/></Relationships>
</file>

<file path=ppt/slides/_rels/slide14.xml.rels><?xml version="1.0" encoding="UTF-8" standalone="yes"?>
<Relationships xmlns="http://schemas.openxmlformats.org/package/2006/relationships"><Relationship Id="rId2" Type="http://schemas.openxmlformats.org/officeDocument/2006/relationships/hyperlink" Target="https://learn.microsoft.com/en-us/azure/defender-for-cloud/release-notes#restrict-pod-access-response-action-preview" TargetMode="External"/><Relationship Id="rId1" Type="http://schemas.openxmlformats.org/officeDocument/2006/relationships/slideLayout" Target="../slideLayouts/slideLayout7.xml"/></Relationships>
</file>

<file path=ppt/slides/_rels/slide15.xml.rels><?xml version="1.0" encoding="UTF-8" standalone="yes"?>
<Relationships xmlns="http://schemas.openxmlformats.org/package/2006/relationships"><Relationship Id="rId3" Type="http://schemas.openxmlformats.org/officeDocument/2006/relationships/hyperlink" Target="https://learn.microsoft.com/en-us/azure/defender-for-cloud/release-notes#kubernetes-gated-deployment-ga" TargetMode="External"/><Relationship Id="rId2" Type="http://schemas.openxmlformats.org/officeDocument/2006/relationships/hyperlink" Target="https://learn.microsoft.com/en-us/azure/defender-for-cloud/release-notes#general-availability-of-ai-security-posture-management-in-gcp-vertex" TargetMode="External"/><Relationship Id="rId1" Type="http://schemas.openxmlformats.org/officeDocument/2006/relationships/slideLayout" Target="../slideLayouts/slideLayout7.xml"/></Relationships>
</file>

<file path=ppt/slides/_rels/slide16.xml.rels><?xml version="1.0" encoding="UTF-8" standalone="yes"?>
<Relationships xmlns="http://schemas.openxmlformats.org/package/2006/relationships"><Relationship Id="rId2" Type="http://schemas.openxmlformats.org/officeDocument/2006/relationships/hyperlink" Target="https://learn.microsoft.com/en-us/azure/defender-for-cloud/release-notes#general-availability-of-agentless-vulnerability-assessment-for-aks-runtime-containers" TargetMode="External"/><Relationship Id="rId1" Type="http://schemas.openxmlformats.org/officeDocument/2006/relationships/slideLayout" Target="../slideLayouts/slideLayout7.xml"/></Relationships>
</file>

<file path=ppt/slides/_rels/slide17.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18.xml.rels><?xml version="1.0" encoding="UTF-8" standalone="yes"?>
<Relationships xmlns="http://schemas.openxmlformats.org/package/2006/relationships"><Relationship Id="rId3" Type="http://schemas.openxmlformats.org/officeDocument/2006/relationships/hyperlink" Target="https://azure.microsoft.com/ru-ru/updates?id=535363" TargetMode="External"/><Relationship Id="rId2" Type="http://schemas.openxmlformats.org/officeDocument/2006/relationships/hyperlink" Target="https://techcommunity.microsoft.com/blog/azuregovernanceandmanagementblog/announcing-general-availability-for-azure-resource-graph-arg-getlist-api/4474188" TargetMode="External"/><Relationship Id="rId1" Type="http://schemas.openxmlformats.org/officeDocument/2006/relationships/slideLayout" Target="../slideLayouts/slideLayout7.xml"/></Relationships>
</file>

<file path=ppt/slides/_rels/slide19.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20.xml.rels><?xml version="1.0" encoding="UTF-8" standalone="yes"?>
<Relationships xmlns="http://schemas.openxmlformats.org/package/2006/relationships"><Relationship Id="rId3" Type="http://schemas.openxmlformats.org/officeDocument/2006/relationships/hyperlink" Target="https://learn.microsoft.com/en-us/azure/virtual-desktop/whats-new#enhancements-to-remoteapps-preview" TargetMode="External"/><Relationship Id="rId2" Type="http://schemas.openxmlformats.org/officeDocument/2006/relationships/hyperlink" Target="https://learn.microsoft.com/en-us/azure/virtual-desktop/whats-new#windows-cloud-keyboard-input-protection-preview" TargetMode="External"/><Relationship Id="rId1" Type="http://schemas.openxmlformats.org/officeDocument/2006/relationships/slideLayout" Target="../slideLayouts/slideLayout7.xml"/></Relationships>
</file>

<file path=ppt/slides/_rels/slide21.xml.rels><?xml version="1.0" encoding="UTF-8" standalone="yes"?>
<Relationships xmlns="http://schemas.openxmlformats.org/package/2006/relationships"><Relationship Id="rId2" Type="http://schemas.openxmlformats.org/officeDocument/2006/relationships/hyperlink" Target="https://azure.microsoft.com/ru-ru/updates?id=536721" TargetMode="External"/><Relationship Id="rId1" Type="http://schemas.openxmlformats.org/officeDocument/2006/relationships/slideLayout" Target="../slideLayouts/slideLayout7.xml"/></Relationships>
</file>

<file path=ppt/slides/_rels/slide22.xml.rels><?xml version="1.0" encoding="UTF-8" standalone="yes"?>
<Relationships xmlns="http://schemas.openxmlformats.org/package/2006/relationships"><Relationship Id="rId3" Type="http://schemas.openxmlformats.org/officeDocument/2006/relationships/hyperlink" Target="https://learn.microsoft.com/en-us/azure/virtual-desktop/whats-new#rdp-multipath-is-now-fully-rolled-out" TargetMode="External"/><Relationship Id="rId2" Type="http://schemas.openxmlformats.org/officeDocument/2006/relationships/hyperlink" Target="https://learn.microsoft.com/en-us/azure/virtual-desktop/whats-new#azure-virtual-desktop-support-for-external-identities-is-now-generally-available" TargetMode="External"/><Relationship Id="rId1" Type="http://schemas.openxmlformats.org/officeDocument/2006/relationships/slideLayout" Target="../slideLayouts/slideLayout7.xml"/></Relationships>
</file>

<file path=ppt/slides/_rels/slide23.xml.rels><?xml version="1.0" encoding="UTF-8" standalone="yes"?>
<Relationships xmlns="http://schemas.openxmlformats.org/package/2006/relationships"><Relationship Id="rId2" Type="http://schemas.openxmlformats.org/officeDocument/2006/relationships/hyperlink" Target="https://techcommunity.microsoft.com/blog/integrationsonazureblog/%F0%9F%8E%89-announcing-general-availability-of-ai--rag-connectors-in-logic-apps-standard/4474337" TargetMode="External"/><Relationship Id="rId1" Type="http://schemas.openxmlformats.org/officeDocument/2006/relationships/slideLayout" Target="../slideLayouts/slideLayout7.xml"/></Relationships>
</file>

<file path=ppt/slides/_rels/slide24.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25.xml.rels><?xml version="1.0" encoding="UTF-8" standalone="yes"?>
<Relationships xmlns="http://schemas.openxmlformats.org/package/2006/relationships"><Relationship Id="rId3" Type="http://schemas.openxmlformats.org/officeDocument/2006/relationships/hyperlink" Target="https://azure.microsoft.com/ru-ru/updates?id=499438" TargetMode="External"/><Relationship Id="rId2" Type="http://schemas.openxmlformats.org/officeDocument/2006/relationships/hyperlink" Target="https://azure.microsoft.com/ru-ru/updates?id=541410" TargetMode="External"/><Relationship Id="rId1" Type="http://schemas.openxmlformats.org/officeDocument/2006/relationships/slideLayout" Target="../slideLayouts/slideLayout7.xml"/></Relationships>
</file>

<file path=ppt/slides/_rels/slide26.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27.xml.rels><?xml version="1.0" encoding="UTF-8" standalone="yes"?>
<Relationships xmlns="http://schemas.openxmlformats.org/package/2006/relationships"><Relationship Id="rId3" Type="http://schemas.openxmlformats.org/officeDocument/2006/relationships/hyperlink" Target="https://azure.microsoft.com/ru-ru/updates?id=534523" TargetMode="External"/><Relationship Id="rId2" Type="http://schemas.openxmlformats.org/officeDocument/2006/relationships/hyperlink" Target="https://azure.microsoft.com/ru-ru/updates?id=534504" TargetMode="External"/><Relationship Id="rId1" Type="http://schemas.openxmlformats.org/officeDocument/2006/relationships/slideLayout" Target="../slideLayouts/slideLayout7.xml"/></Relationships>
</file>

<file path=ppt/slides/_rels/slide28.xml.rels><?xml version="1.0" encoding="UTF-8" standalone="yes"?>
<Relationships xmlns="http://schemas.openxmlformats.org/package/2006/relationships"><Relationship Id="rId3" Type="http://schemas.openxmlformats.org/officeDocument/2006/relationships/hyperlink" Target="https://azure.microsoft.com/ru-ru/updates?id=534518" TargetMode="External"/><Relationship Id="rId2" Type="http://schemas.openxmlformats.org/officeDocument/2006/relationships/hyperlink" Target="https://azure.microsoft.com/ru-ru/updates?id=534509" TargetMode="External"/><Relationship Id="rId1" Type="http://schemas.openxmlformats.org/officeDocument/2006/relationships/slideLayout" Target="../slideLayouts/slideLayout7.xml"/></Relationships>
</file>

<file path=ppt/slides/_rels/slide29.xml.rels><?xml version="1.0" encoding="UTF-8" standalone="yes"?>
<Relationships xmlns="http://schemas.openxmlformats.org/package/2006/relationships"><Relationship Id="rId2" Type="http://schemas.openxmlformats.org/officeDocument/2006/relationships/hyperlink" Target="https://techcommunity.microsoft.com/blog/adforpostgresql/postgresql-18-now-ga-on-azure-postgres-flexible-server/4469802" TargetMode="External"/><Relationship Id="rId1" Type="http://schemas.openxmlformats.org/officeDocument/2006/relationships/slideLayout" Target="../slideLayouts/slideLayout7.xml"/></Relationships>
</file>

<file path=ppt/slides/_rels/slide30.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31.xml.rels><?xml version="1.0" encoding="UTF-8" standalone="yes"?>
<Relationships xmlns="http://schemas.openxmlformats.org/package/2006/relationships"><Relationship Id="rId2" Type="http://schemas.openxmlformats.org/officeDocument/2006/relationships/hyperlink" Target="https://azure.microsoft.com/ru-ru/updates?id=536937" TargetMode="External"/><Relationship Id="rId1" Type="http://schemas.openxmlformats.org/officeDocument/2006/relationships/slideLayout" Target="../slideLayouts/slideLayout7.xml"/></Relationships>
</file>

<file path=ppt/slides/_rels/slide32.xml.rels><?xml version="1.0" encoding="UTF-8" standalone="yes"?>
<Relationships xmlns="http://schemas.openxmlformats.org/package/2006/relationships"><Relationship Id="rId2" Type="http://schemas.openxmlformats.org/officeDocument/2006/relationships/hyperlink" Target="https://azure.microsoft.com/ru-ru/updates?id=531889" TargetMode="External"/><Relationship Id="rId1" Type="http://schemas.openxmlformats.org/officeDocument/2006/relationships/slideLayout" Target="../slideLayouts/slideLayout7.xml"/></Relationships>
</file>

<file path=ppt/slides/_rels/slide33.xml.rels><?xml version="1.0" encoding="UTF-8" standalone="yes"?>
<Relationships xmlns="http://schemas.openxmlformats.org/package/2006/relationships"><Relationship Id="rId2" Type="http://schemas.openxmlformats.org/officeDocument/2006/relationships/hyperlink" Target="https://azure.microsoft.com/ru-ru/updates?id=501668" TargetMode="External"/><Relationship Id="rId1" Type="http://schemas.openxmlformats.org/officeDocument/2006/relationships/slideLayout" Target="../slideLayouts/slideLayout7.xml"/></Relationships>
</file>

<file path=ppt/slides/_rels/slide34.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35.xml.rels><?xml version="1.0" encoding="UTF-8" standalone="yes"?>
<Relationships xmlns="http://schemas.openxmlformats.org/package/2006/relationships"><Relationship Id="rId2" Type="http://schemas.openxmlformats.org/officeDocument/2006/relationships/hyperlink" Target="https://github.com/azureTimes" TargetMode="External"/><Relationship Id="rId1" Type="http://schemas.openxmlformats.org/officeDocument/2006/relationships/slideLayout" Target="../slideLayouts/slideLayout7.xml"/></Relationships>
</file>

<file path=ppt/slides/_rels/slide36.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slide1.xml><?xml version="1.0" encoding="utf-8"?>
<p:sld xmlns:a="http://schemas.openxmlformats.org/drawingml/2006/main" xmlns:r="http://schemas.openxmlformats.org/officeDocument/2006/relationships" xmlns:p="http://schemas.openxmlformats.org/presentationml/2006/main" showMasterSp="0">
  <p:cSld>
    <p:bg>
      <p:bgPr>
        <a:solidFill>
          <a:schemeClr val="tx1"/>
        </a:solidFill>
        <a:effectLst/>
      </p:bgPr>
    </p:bg>
    <p:spTree>
      <p:nvGrpSpPr>
        <p:cNvPr id="1" name=""/>
        <p:cNvGrpSpPr/>
        <p:nvPr/>
      </p:nvGrpSpPr>
      <p:grpSpPr>
        <a:xfrm>
          <a:off x="0" y="0"/>
          <a:ext cx="0" cy="0"/>
          <a:chOff x="0" y="0"/>
          <a:chExt cx="0" cy="0"/>
        </a:xfrm>
      </p:grpSpPr>
      <p:sp>
        <p:nvSpPr>
          <p:cNvPr id="2" name="Title 1"/>
          <p:cNvSpPr>
            <a:spLocks noGrp="1"/>
          </p:cNvSpPr>
          <p:nvPr>
            <p:ph type="ctrTitle"/>
          </p:nvPr>
        </p:nvSpPr>
        <p:spPr>
          <a:xfrm>
            <a:off x="281666" y="1200151"/>
            <a:ext cx="8458200" cy="2228850"/>
          </a:xfrm>
        </p:spPr>
        <p:txBody>
          <a:bodyPr/>
          <a:lstStyle/>
          <a:p>
            <a:r>
              <a:rPr lang="en-US" sz="5400" dirty="0"/>
              <a:t>Azure Times #187</a:t>
            </a:r>
          </a:p>
        </p:txBody>
      </p:sp>
      <p:sp>
        <p:nvSpPr>
          <p:cNvPr id="4" name="Text Placeholder 3"/>
          <p:cNvSpPr>
            <a:spLocks noGrp="1"/>
          </p:cNvSpPr>
          <p:nvPr>
            <p:ph type="body" sz="quarter" idx="11"/>
          </p:nvPr>
        </p:nvSpPr>
        <p:spPr/>
        <p:txBody>
          <a:bodyPr/>
          <a:lstStyle/>
          <a:p>
            <a:r>
              <a:rPr lang="en-US" spc="300"/>
              <a:t>December </a:t>
            </a:r>
            <a:r>
              <a:rPr lang="en-US" spc="300" dirty="0"/>
              <a:t>8</a:t>
            </a:r>
            <a:r>
              <a:rPr lang="en-US" spc="300"/>
              <a:t>, 2025</a:t>
            </a:r>
            <a:endParaRPr lang="en-US" spc="300" dirty="0"/>
          </a:p>
        </p:txBody>
      </p:sp>
      <p:sp>
        <p:nvSpPr>
          <p:cNvPr id="3" name="TextBox 2">
            <a:extLst>
              <a:ext uri="{FF2B5EF4-FFF2-40B4-BE49-F238E27FC236}">
                <a16:creationId xmlns:a16="http://schemas.microsoft.com/office/drawing/2014/main" id="{ED924944-231A-274C-AB8B-3C574947B123}"/>
              </a:ext>
            </a:extLst>
          </p:cNvPr>
          <p:cNvSpPr txBox="1"/>
          <p:nvPr/>
        </p:nvSpPr>
        <p:spPr>
          <a:xfrm>
            <a:off x="539318" y="4887158"/>
            <a:ext cx="0" cy="0"/>
          </a:xfrm>
          <a:prstGeom prst="rect">
            <a:avLst/>
          </a:prstGeom>
          <a:noFill/>
        </p:spPr>
        <p:txBody>
          <a:bodyPr wrap="none" lIns="0" tIns="0" rIns="0" bIns="0" rtlCol="0">
            <a:noAutofit/>
          </a:bodyPr>
          <a:lstStyle/>
          <a:p>
            <a:pPr>
              <a:lnSpc>
                <a:spcPct val="110000"/>
              </a:lnSpc>
              <a:spcBef>
                <a:spcPts val="450"/>
              </a:spcBef>
            </a:pPr>
            <a:endParaRPr lang="en-US" sz="900" err="1">
              <a:ea typeface="Human Sans" charset="0"/>
              <a:cs typeface="Human Sans" charset="0"/>
            </a:endParaRPr>
          </a:p>
        </p:txBody>
      </p:sp>
    </p:spTree>
    <p:extLst>
      <p:ext uri="{BB962C8B-B14F-4D97-AF65-F5344CB8AC3E}">
        <p14:creationId xmlns:p14="http://schemas.microsoft.com/office/powerpoint/2010/main" val="44755204"/>
      </p:ext>
    </p:extLst>
  </p:cSld>
  <p:clrMapOvr>
    <a:masterClrMapping/>
  </p:clrMapOvr>
</p:sld>
</file>

<file path=ppt/slides/slide2.xml><?xml version="1.0" encoding="utf-8"?>
<p:sld xmlns:a="http://schemas.openxmlformats.org/drawingml/2006/main" xmlns:r="http://schemas.openxmlformats.org/officeDocument/2006/relationships" xmlns:p="http://schemas.openxmlformats.org/presentationml/2006/main" showMasterSp="0">
  <p:cSld>
    <p:spTree>
      <p:nvGrpSpPr>
        <p:cNvPr id="1" name=""/>
        <p:cNvGrpSpPr/>
        <p:nvPr/>
      </p:nvGrpSpPr>
      <p:grpSpPr>
        <a:xfrm>
          <a:off x="0" y="0"/>
          <a:ext cx="0" cy="0"/>
          <a:chOff x="0" y="0"/>
          <a:chExt cx="0" cy="0"/>
        </a:xfrm>
      </p:grpSpPr>
      <p:sp>
        <p:nvSpPr>
          <p:cNvPr id="4" name="Text Placeholder 3">
            <a:extLst>
              <a:ext uri="{FF2B5EF4-FFF2-40B4-BE49-F238E27FC236}">
                <a16:creationId xmlns:a16="http://schemas.microsoft.com/office/drawing/2014/main" id="{17F39168-7046-60A5-1EEA-8D2B5EAAE24F}"/>
              </a:ext>
            </a:extLst>
          </p:cNvPr>
          <p:cNvSpPr>
            <a:spLocks noGrp="1"/>
          </p:cNvSpPr>
          <p:nvPr>
            <p:ph type="body" sz="quarter" idx="13"/>
          </p:nvPr>
        </p:nvSpPr>
        <p:spPr/>
        <p:txBody>
          <a:bodyPr/>
          <a:lstStyle/>
          <a:p>
            <a:r>
              <a:rPr lang="en-US" sz="4000" dirty="0"/>
              <a:t>Networking </a:t>
            </a:r>
          </a:p>
        </p:txBody>
      </p:sp>
    </p:spTree>
    <p:extLst>
      <p:ext uri="{BB962C8B-B14F-4D97-AF65-F5344CB8AC3E}">
        <p14:creationId xmlns:p14="http://schemas.microsoft.com/office/powerpoint/2010/main" val="4021054514"/>
      </p:ext>
    </p:extLst>
  </p:cSld>
  <p:clrMapOvr>
    <a:masterClrMapping/>
  </p:clrMapOvr>
</p:sld>
</file>

<file path=ppt/slides/slide3.xml><?xml version="1.0" encoding="utf-8"?>
<p:sld xmlns:a="http://schemas.openxmlformats.org/drawingml/2006/main" xmlns:r="http://schemas.openxmlformats.org/officeDocument/2006/relationships" xmlns:p="http://schemas.openxmlformats.org/presentationml/2006/main" showMasterSp="0">
  <p:cSld>
    <p:spTree>
      <p:nvGrpSpPr>
        <p:cNvPr id="1" name=""/>
        <p:cNvGrpSpPr/>
        <p:nvPr/>
      </p:nvGrpSpPr>
      <p:grpSpPr>
        <a:xfrm>
          <a:off x="0" y="0"/>
          <a:ext cx="0" cy="0"/>
          <a:chOff x="0" y="0"/>
          <a:chExt cx="0" cy="0"/>
        </a:xfrm>
      </p:grpSpPr>
      <p:sp>
        <p:nvSpPr>
          <p:cNvPr id="12" name="Text Placeholder 11">
            <a:extLst>
              <a:ext uri="{FF2B5EF4-FFF2-40B4-BE49-F238E27FC236}">
                <a16:creationId xmlns:a16="http://schemas.microsoft.com/office/drawing/2014/main" id="{F5D0A865-EAC9-D4DF-765C-2BBCA9EC1F5C}"/>
              </a:ext>
            </a:extLst>
          </p:cNvPr>
          <p:cNvSpPr>
            <a:spLocks noGrp="1"/>
          </p:cNvSpPr>
          <p:nvPr>
            <p:ph type="body" sz="quarter" idx="10"/>
          </p:nvPr>
        </p:nvSpPr>
        <p:spPr/>
        <p:txBody>
          <a:bodyPr/>
          <a:lstStyle/>
          <a:p>
            <a:endParaRPr lang="en-US" sz="1000" dirty="0"/>
          </a:p>
        </p:txBody>
      </p:sp>
      <p:sp>
        <p:nvSpPr>
          <p:cNvPr id="11" name="Title 10">
            <a:extLst>
              <a:ext uri="{FF2B5EF4-FFF2-40B4-BE49-F238E27FC236}">
                <a16:creationId xmlns:a16="http://schemas.microsoft.com/office/drawing/2014/main" id="{0A19052D-1C06-3BF6-CD73-31098A5519FB}"/>
              </a:ext>
            </a:extLst>
          </p:cNvPr>
          <p:cNvSpPr>
            <a:spLocks noGrp="1"/>
          </p:cNvSpPr>
          <p:nvPr>
            <p:ph type="title"/>
          </p:nvPr>
        </p:nvSpPr>
        <p:spPr/>
        <p:txBody>
          <a:bodyPr/>
          <a:lstStyle/>
          <a:p>
            <a:r>
              <a:rPr lang="en-US" sz="1800" dirty="0"/>
              <a:t>Networking Updates</a:t>
            </a:r>
            <a:endParaRPr lang="en-US" dirty="0"/>
          </a:p>
        </p:txBody>
      </p:sp>
      <p:sp>
        <p:nvSpPr>
          <p:cNvPr id="13" name="Text Placeholder 12">
            <a:extLst>
              <a:ext uri="{FF2B5EF4-FFF2-40B4-BE49-F238E27FC236}">
                <a16:creationId xmlns:a16="http://schemas.microsoft.com/office/drawing/2014/main" id="{AB83368C-23D2-63DD-1F2B-65AB8A48B236}"/>
              </a:ext>
            </a:extLst>
          </p:cNvPr>
          <p:cNvSpPr>
            <a:spLocks noGrp="1"/>
          </p:cNvSpPr>
          <p:nvPr>
            <p:ph type="body" sz="quarter" idx="15"/>
          </p:nvPr>
        </p:nvSpPr>
        <p:spPr/>
        <p:txBody>
          <a:bodyPr/>
          <a:lstStyle/>
          <a:p>
            <a:endParaRPr lang="en-US"/>
          </a:p>
        </p:txBody>
      </p:sp>
      <p:sp>
        <p:nvSpPr>
          <p:cNvPr id="14" name="Text Placeholder 13">
            <a:extLst>
              <a:ext uri="{FF2B5EF4-FFF2-40B4-BE49-F238E27FC236}">
                <a16:creationId xmlns:a16="http://schemas.microsoft.com/office/drawing/2014/main" id="{1DF1A36F-4250-259D-24AE-F82FE69A7F7E}"/>
              </a:ext>
            </a:extLst>
          </p:cNvPr>
          <p:cNvSpPr>
            <a:spLocks noGrp="1"/>
          </p:cNvSpPr>
          <p:nvPr>
            <p:ph type="body" sz="quarter" idx="16"/>
          </p:nvPr>
        </p:nvSpPr>
        <p:spPr/>
        <p:txBody>
          <a:bodyPr/>
          <a:lstStyle/>
          <a:p>
            <a:pPr algn="just"/>
            <a:r>
              <a:rPr lang="en-US" dirty="0">
                <a:hlinkClick r:id="rId2"/>
              </a:rPr>
              <a:t>Generally Available: Azure Load Balancer bandwidth metrics now support Protocol dimension</a:t>
            </a:r>
            <a:endParaRPr lang="en-US" dirty="0"/>
          </a:p>
          <a:p>
            <a:pPr algn="just"/>
            <a:r>
              <a:rPr lang="en-US" dirty="0"/>
              <a:t>Azure Load Balancer now publishes bandwidth metrics with a new </a:t>
            </a:r>
            <a:r>
              <a:rPr lang="en-US" b="1" dirty="0"/>
              <a:t>Protocol</a:t>
            </a:r>
            <a:r>
              <a:rPr lang="en-US" dirty="0"/>
              <a:t> dimension, enabling deeper insight into traffic patterns. When viewing </a:t>
            </a:r>
            <a:r>
              <a:rPr lang="en-US" b="1" dirty="0"/>
              <a:t>Byte</a:t>
            </a:r>
            <a:r>
              <a:rPr lang="en-US" dirty="0"/>
              <a:t>, </a:t>
            </a:r>
            <a:r>
              <a:rPr lang="en-US" b="1" dirty="0"/>
              <a:t>Packet</a:t>
            </a:r>
            <a:r>
              <a:rPr lang="en-US" dirty="0"/>
              <a:t>, and </a:t>
            </a:r>
            <a:r>
              <a:rPr lang="en-US" b="1" dirty="0"/>
              <a:t>SYN Count</a:t>
            </a:r>
            <a:r>
              <a:rPr lang="en-US" dirty="0"/>
              <a:t> metrics, you will now see traffic broken out by protocol:</a:t>
            </a:r>
          </a:p>
          <a:p>
            <a:pPr marL="171450" indent="-171450" algn="just">
              <a:buFont typeface="Arial" panose="020B0604020202020204" pitchFamily="34" charset="0"/>
              <a:buChar char="•"/>
            </a:pPr>
            <a:r>
              <a:rPr lang="en-US" b="1" dirty="0"/>
              <a:t>Protocol = 6</a:t>
            </a:r>
            <a:r>
              <a:rPr lang="en-US" dirty="0"/>
              <a:t> → TCP</a:t>
            </a:r>
          </a:p>
          <a:p>
            <a:pPr marL="171450" indent="-171450" algn="just">
              <a:buFont typeface="Arial" panose="020B0604020202020204" pitchFamily="34" charset="0"/>
              <a:buChar char="•"/>
            </a:pPr>
            <a:r>
              <a:rPr lang="en-US" b="1" dirty="0"/>
              <a:t>Protocol = 17</a:t>
            </a:r>
            <a:r>
              <a:rPr lang="en-US" dirty="0"/>
              <a:t> → UDP</a:t>
            </a:r>
          </a:p>
          <a:p>
            <a:pPr algn="just"/>
            <a:r>
              <a:rPr lang="en-US" dirty="0"/>
              <a:t>This added granularity helps improve alerting, monitoring, and troubleshooting by allowing you to distinguish TCP and UDP traffic patterns.</a:t>
            </a:r>
          </a:p>
          <a:p>
            <a:pPr algn="just"/>
            <a:r>
              <a:rPr lang="en-US" dirty="0"/>
              <a:t>The Protocol dimension is available for Byte, Packet, and SYN Count metrics across </a:t>
            </a:r>
            <a:r>
              <a:rPr lang="en-US" b="1" dirty="0"/>
              <a:t>all Azure public, China, and Government cloud regions</a:t>
            </a:r>
            <a:r>
              <a:rPr lang="en-US" dirty="0"/>
              <a:t>.</a:t>
            </a:r>
          </a:p>
          <a:p>
            <a:pPr algn="just"/>
            <a:endParaRPr lang="en-US" dirty="0"/>
          </a:p>
        </p:txBody>
      </p:sp>
    </p:spTree>
    <p:extLst>
      <p:ext uri="{BB962C8B-B14F-4D97-AF65-F5344CB8AC3E}">
        <p14:creationId xmlns:p14="http://schemas.microsoft.com/office/powerpoint/2010/main" val="3658580122"/>
      </p:ext>
    </p:extLst>
  </p:cSld>
  <p:clrMapOvr>
    <a:masterClrMapping/>
  </p:clrMapOvr>
  <mc:AlternateContent xmlns:mc="http://schemas.openxmlformats.org/markup-compatibility/2006" xmlns:p14="http://schemas.microsoft.com/office/powerpoint/2010/main">
    <mc:Choice Requires="p14">
      <p:transition spd="med" p14:dur="700">
        <p:fade/>
      </p:transition>
    </mc:Choice>
    <mc:Fallback xmlns="">
      <p:transition spd="med">
        <p:fade/>
      </p:transition>
    </mc:Fallback>
  </mc:AlternateContent>
  <p:timing>
    <p:tnLst>
      <p:par>
        <p:cTn id="1" dur="indefinite" restart="never" nodeType="tmRoot">
          <p:childTnLst>
            <p:seq concurrent="1" nextAc="seek">
              <p:cTn id="2" dur="indefinite" nodeType="mainSeq">
                <p:childTnLst>
                  <p:par>
                    <p:cTn id="3" fill="hold">
                      <p:stCondLst>
                        <p:cond delay="indefinite"/>
                      </p:stCondLst>
                      <p:childTnLst>
                        <p:par>
                          <p:cTn id="4" fill="hold">
                            <p:stCondLst>
                              <p:cond delay="0"/>
                            </p:stCondLst>
                            <p:childTnLst>
                              <p:par>
                                <p:cTn id="5" presetID="1" presetClass="entr" presetSubtype="0" fill="hold" nodeType="clickEffect">
                                  <p:stCondLst>
                                    <p:cond delay="0"/>
                                  </p:stCondLst>
                                  <p:childTnLst>
                                    <p:set>
                                      <p:cBhvr>
                                        <p:cTn id="6" dur="1" fill="hold">
                                          <p:stCondLst>
                                            <p:cond delay="0"/>
                                          </p:stCondLst>
                                        </p:cTn>
                                        <p:tgtEl>
                                          <p:spTgt spid="14">
                                            <p:txEl>
                                              <p:pRg st="0" end="0"/>
                                            </p:txEl>
                                          </p:spTgt>
                                        </p:tgtEl>
                                        <p:attrNameLst>
                                          <p:attrName>style.visibility</p:attrName>
                                        </p:attrNameLst>
                                      </p:cBhvr>
                                      <p:to>
                                        <p:strVal val="visible"/>
                                      </p:to>
                                    </p:set>
                                  </p:childTnLst>
                                </p:cTn>
                              </p:par>
                              <p:par>
                                <p:cTn id="7" presetID="1" presetClass="entr" presetSubtype="0" fill="hold" nodeType="withEffect">
                                  <p:stCondLst>
                                    <p:cond delay="0"/>
                                  </p:stCondLst>
                                  <p:childTnLst>
                                    <p:set>
                                      <p:cBhvr>
                                        <p:cTn id="8" dur="1" fill="hold">
                                          <p:stCondLst>
                                            <p:cond delay="0"/>
                                          </p:stCondLst>
                                        </p:cTn>
                                        <p:tgtEl>
                                          <p:spTgt spid="14">
                                            <p:txEl>
                                              <p:pRg st="1" end="1"/>
                                            </p:txEl>
                                          </p:spTgt>
                                        </p:tgtEl>
                                        <p:attrNameLst>
                                          <p:attrName>style.visibility</p:attrName>
                                        </p:attrNameLst>
                                      </p:cBhvr>
                                      <p:to>
                                        <p:strVal val="visible"/>
                                      </p:to>
                                    </p:set>
                                  </p:childTnLst>
                                </p:cTn>
                              </p:par>
                              <p:par>
                                <p:cTn id="9" presetID="1" presetClass="entr" presetSubtype="0" fill="hold" nodeType="withEffect">
                                  <p:stCondLst>
                                    <p:cond delay="0"/>
                                  </p:stCondLst>
                                  <p:childTnLst>
                                    <p:set>
                                      <p:cBhvr>
                                        <p:cTn id="10" dur="1" fill="hold">
                                          <p:stCondLst>
                                            <p:cond delay="0"/>
                                          </p:stCondLst>
                                        </p:cTn>
                                        <p:tgtEl>
                                          <p:spTgt spid="14">
                                            <p:txEl>
                                              <p:pRg st="2" end="2"/>
                                            </p:txEl>
                                          </p:spTgt>
                                        </p:tgtEl>
                                        <p:attrNameLst>
                                          <p:attrName>style.visibility</p:attrName>
                                        </p:attrNameLst>
                                      </p:cBhvr>
                                      <p:to>
                                        <p:strVal val="visible"/>
                                      </p:to>
                                    </p:set>
                                  </p:childTnLst>
                                </p:cTn>
                              </p:par>
                              <p:par>
                                <p:cTn id="11" presetID="1" presetClass="entr" presetSubtype="0" fill="hold" nodeType="withEffect">
                                  <p:stCondLst>
                                    <p:cond delay="0"/>
                                  </p:stCondLst>
                                  <p:childTnLst>
                                    <p:set>
                                      <p:cBhvr>
                                        <p:cTn id="12" dur="1" fill="hold">
                                          <p:stCondLst>
                                            <p:cond delay="0"/>
                                          </p:stCondLst>
                                        </p:cTn>
                                        <p:tgtEl>
                                          <p:spTgt spid="14">
                                            <p:txEl>
                                              <p:pRg st="3" end="3"/>
                                            </p:txEl>
                                          </p:spTgt>
                                        </p:tgtEl>
                                        <p:attrNameLst>
                                          <p:attrName>style.visibility</p:attrName>
                                        </p:attrNameLst>
                                      </p:cBhvr>
                                      <p:to>
                                        <p:strVal val="visible"/>
                                      </p:to>
                                    </p:set>
                                  </p:childTnLst>
                                </p:cTn>
                              </p:par>
                              <p:par>
                                <p:cTn id="13" presetID="1" presetClass="entr" presetSubtype="0" fill="hold" nodeType="withEffect">
                                  <p:stCondLst>
                                    <p:cond delay="0"/>
                                  </p:stCondLst>
                                  <p:childTnLst>
                                    <p:set>
                                      <p:cBhvr>
                                        <p:cTn id="14" dur="1" fill="hold">
                                          <p:stCondLst>
                                            <p:cond delay="0"/>
                                          </p:stCondLst>
                                        </p:cTn>
                                        <p:tgtEl>
                                          <p:spTgt spid="14">
                                            <p:txEl>
                                              <p:pRg st="4" end="4"/>
                                            </p:txEl>
                                          </p:spTgt>
                                        </p:tgtEl>
                                        <p:attrNameLst>
                                          <p:attrName>style.visibility</p:attrName>
                                        </p:attrNameLst>
                                      </p:cBhvr>
                                      <p:to>
                                        <p:strVal val="visible"/>
                                      </p:to>
                                    </p:set>
                                  </p:childTnLst>
                                </p:cTn>
                              </p:par>
                              <p:par>
                                <p:cTn id="15" presetID="1" presetClass="entr" presetSubtype="0" fill="hold" nodeType="withEffect">
                                  <p:stCondLst>
                                    <p:cond delay="0"/>
                                  </p:stCondLst>
                                  <p:childTnLst>
                                    <p:set>
                                      <p:cBhvr>
                                        <p:cTn id="16" dur="1" fill="hold">
                                          <p:stCondLst>
                                            <p:cond delay="0"/>
                                          </p:stCondLst>
                                        </p:cTn>
                                        <p:tgtEl>
                                          <p:spTgt spid="14">
                                            <p:txEl>
                                              <p:pRg st="5" end="5"/>
                                            </p:txEl>
                                          </p:spTgt>
                                        </p:tgtEl>
                                        <p:attrNameLst>
                                          <p:attrName>style.visibility</p:attrName>
                                        </p:attrNameLst>
                                      </p:cBhvr>
                                      <p:to>
                                        <p:strVal val="visible"/>
                                      </p:to>
                                    </p:set>
                                  </p:childTnLst>
                                </p:cTn>
                              </p:par>
                            </p:childTnLst>
                          </p:cTn>
                        </p:par>
                      </p:childTnLst>
                    </p:cTn>
                  </p:par>
                </p:childTnLst>
              </p:cTn>
              <p:prevCondLst>
                <p:cond evt="onPrev" delay="0">
                  <p:tgtEl>
                    <p:sldTgt/>
                  </p:tgtEl>
                </p:cond>
              </p:prevCondLst>
              <p:nextCondLst>
                <p:cond evt="onNext" delay="0">
                  <p:tgtEl>
                    <p:sldTgt/>
                  </p:tgtEl>
                </p:cond>
              </p:nextCondLst>
            </p:seq>
          </p:childTnLst>
        </p:cTn>
      </p:par>
    </p:tnLst>
  </p:timing>
</p:sld>
</file>

<file path=ppt/slides/slide4.xml><?xml version="1.0" encoding="utf-8"?>
<p:sld xmlns:a="http://schemas.openxmlformats.org/drawingml/2006/main" xmlns:r="http://schemas.openxmlformats.org/officeDocument/2006/relationships" xmlns:p="http://schemas.openxmlformats.org/presentationml/2006/main" showMasterSp="0">
  <p:cSld>
    <p:spTree>
      <p:nvGrpSpPr>
        <p:cNvPr id="1" name=""/>
        <p:cNvGrpSpPr/>
        <p:nvPr/>
      </p:nvGrpSpPr>
      <p:grpSpPr>
        <a:xfrm>
          <a:off x="0" y="0"/>
          <a:ext cx="0" cy="0"/>
          <a:chOff x="0" y="0"/>
          <a:chExt cx="0" cy="0"/>
        </a:xfrm>
      </p:grpSpPr>
      <p:sp>
        <p:nvSpPr>
          <p:cNvPr id="4" name="Text Placeholder 3">
            <a:extLst>
              <a:ext uri="{FF2B5EF4-FFF2-40B4-BE49-F238E27FC236}">
                <a16:creationId xmlns:a16="http://schemas.microsoft.com/office/drawing/2014/main" id="{17F39168-7046-60A5-1EEA-8D2B5EAAE24F}"/>
              </a:ext>
            </a:extLst>
          </p:cNvPr>
          <p:cNvSpPr>
            <a:spLocks noGrp="1"/>
          </p:cNvSpPr>
          <p:nvPr>
            <p:ph type="body" sz="quarter" idx="13"/>
          </p:nvPr>
        </p:nvSpPr>
        <p:spPr>
          <a:xfrm>
            <a:off x="252845" y="1285875"/>
            <a:ext cx="6271326" cy="1714500"/>
          </a:xfrm>
        </p:spPr>
        <p:txBody>
          <a:bodyPr/>
          <a:lstStyle/>
          <a:p>
            <a:r>
              <a:rPr lang="en-US" sz="4000" dirty="0"/>
              <a:t>Security &amp; Identity</a:t>
            </a:r>
          </a:p>
        </p:txBody>
      </p:sp>
    </p:spTree>
    <p:extLst>
      <p:ext uri="{BB962C8B-B14F-4D97-AF65-F5344CB8AC3E}">
        <p14:creationId xmlns:p14="http://schemas.microsoft.com/office/powerpoint/2010/main" val="3117920021"/>
      </p:ext>
    </p:extLst>
  </p:cSld>
  <p:clrMapOvr>
    <a:masterClrMapping/>
  </p:clrMapOvr>
</p:sld>
</file>

<file path=ppt/slides/slide5.xml><?xml version="1.0" encoding="utf-8"?>
<p:sld xmlns:a="http://schemas.openxmlformats.org/drawingml/2006/main" xmlns:r="http://schemas.openxmlformats.org/officeDocument/2006/relationships" xmlns:p="http://schemas.openxmlformats.org/presentationml/2006/main" showMasterSp="0">
  <p:cSld>
    <p:spTree>
      <p:nvGrpSpPr>
        <p:cNvPr id="1" name=""/>
        <p:cNvGrpSpPr/>
        <p:nvPr/>
      </p:nvGrpSpPr>
      <p:grpSpPr>
        <a:xfrm>
          <a:off x="0" y="0"/>
          <a:ext cx="0" cy="0"/>
          <a:chOff x="0" y="0"/>
          <a:chExt cx="0" cy="0"/>
        </a:xfrm>
      </p:grpSpPr>
      <p:sp>
        <p:nvSpPr>
          <p:cNvPr id="12" name="Text Placeholder 11">
            <a:extLst>
              <a:ext uri="{FF2B5EF4-FFF2-40B4-BE49-F238E27FC236}">
                <a16:creationId xmlns:a16="http://schemas.microsoft.com/office/drawing/2014/main" id="{F5D0A865-EAC9-D4DF-765C-2BBCA9EC1F5C}"/>
              </a:ext>
            </a:extLst>
          </p:cNvPr>
          <p:cNvSpPr>
            <a:spLocks noGrp="1"/>
          </p:cNvSpPr>
          <p:nvPr>
            <p:ph type="body" sz="quarter" idx="10"/>
          </p:nvPr>
        </p:nvSpPr>
        <p:spPr/>
        <p:txBody>
          <a:bodyPr/>
          <a:lstStyle/>
          <a:p>
            <a:pPr algn="just"/>
            <a:r>
              <a:rPr lang="en-US" sz="1000" dirty="0">
                <a:hlinkClick r:id="rId2"/>
              </a:rPr>
              <a:t>Public preview - Self-remediation for passwordless users</a:t>
            </a:r>
            <a:endParaRPr lang="en-US" sz="1000" dirty="0"/>
          </a:p>
          <a:p>
            <a:pPr algn="just"/>
            <a:r>
              <a:rPr lang="en-US" sz="1000" b="1" dirty="0"/>
              <a:t>Self-remediation</a:t>
            </a:r>
            <a:r>
              <a:rPr lang="en-US" sz="1000" dirty="0"/>
              <a:t> for </a:t>
            </a:r>
            <a:r>
              <a:rPr lang="en-US" sz="1000" b="1" dirty="0"/>
              <a:t>passwordless users</a:t>
            </a:r>
            <a:r>
              <a:rPr lang="en-US" sz="1000" dirty="0"/>
              <a:t>: Risk-based access policies in Microsoft Entra Conditional Access now support self-remediation of risks across all authentication methods, including passwordless ones. This new control revokes compromised sessions in real-time, enables frictionless self-service, and reduces help-desk load. </a:t>
            </a:r>
          </a:p>
          <a:p>
            <a:pPr algn="just"/>
            <a:r>
              <a:rPr lang="en-US" sz="1000" dirty="0"/>
              <a:t>Possible risk detections include anomalous token, impossible travel, or unfamiliar sign-in properties.</a:t>
            </a:r>
          </a:p>
        </p:txBody>
      </p:sp>
      <p:sp>
        <p:nvSpPr>
          <p:cNvPr id="11" name="Title 10">
            <a:extLst>
              <a:ext uri="{FF2B5EF4-FFF2-40B4-BE49-F238E27FC236}">
                <a16:creationId xmlns:a16="http://schemas.microsoft.com/office/drawing/2014/main" id="{0A19052D-1C06-3BF6-CD73-31098A5519FB}"/>
              </a:ext>
            </a:extLst>
          </p:cNvPr>
          <p:cNvSpPr>
            <a:spLocks noGrp="1"/>
          </p:cNvSpPr>
          <p:nvPr>
            <p:ph type="title"/>
          </p:nvPr>
        </p:nvSpPr>
        <p:spPr/>
        <p:txBody>
          <a:bodyPr/>
          <a:lstStyle/>
          <a:p>
            <a:r>
              <a:rPr lang="en-US" sz="1800" dirty="0"/>
              <a:t>Security &amp; Identity Updates (Entra ID Updates) - 1/7</a:t>
            </a:r>
            <a:endParaRPr lang="en-US" dirty="0"/>
          </a:p>
        </p:txBody>
      </p:sp>
      <p:sp>
        <p:nvSpPr>
          <p:cNvPr id="13" name="Text Placeholder 12">
            <a:extLst>
              <a:ext uri="{FF2B5EF4-FFF2-40B4-BE49-F238E27FC236}">
                <a16:creationId xmlns:a16="http://schemas.microsoft.com/office/drawing/2014/main" id="{AB83368C-23D2-63DD-1F2B-65AB8A48B236}"/>
              </a:ext>
            </a:extLst>
          </p:cNvPr>
          <p:cNvSpPr>
            <a:spLocks noGrp="1"/>
          </p:cNvSpPr>
          <p:nvPr>
            <p:ph type="body" sz="quarter" idx="15"/>
          </p:nvPr>
        </p:nvSpPr>
        <p:spPr/>
        <p:txBody>
          <a:bodyPr/>
          <a:lstStyle/>
          <a:p>
            <a:endParaRPr lang="en-US"/>
          </a:p>
        </p:txBody>
      </p:sp>
      <p:sp>
        <p:nvSpPr>
          <p:cNvPr id="14" name="Text Placeholder 13">
            <a:extLst>
              <a:ext uri="{FF2B5EF4-FFF2-40B4-BE49-F238E27FC236}">
                <a16:creationId xmlns:a16="http://schemas.microsoft.com/office/drawing/2014/main" id="{1DF1A36F-4250-259D-24AE-F82FE69A7F7E}"/>
              </a:ext>
            </a:extLst>
          </p:cNvPr>
          <p:cNvSpPr>
            <a:spLocks noGrp="1"/>
          </p:cNvSpPr>
          <p:nvPr>
            <p:ph type="body" sz="quarter" idx="16"/>
          </p:nvPr>
        </p:nvSpPr>
        <p:spPr>
          <a:xfrm>
            <a:off x="342900" y="855080"/>
            <a:ext cx="3955312" cy="1330559"/>
          </a:xfrm>
        </p:spPr>
        <p:txBody>
          <a:bodyPr/>
          <a:lstStyle/>
          <a:p>
            <a:pPr algn="just"/>
            <a:r>
              <a:rPr lang="en-US" dirty="0">
                <a:hlinkClick r:id="rId3"/>
              </a:rPr>
              <a:t>Public Preview - Entra ID Account Recovery</a:t>
            </a:r>
            <a:endParaRPr lang="en-US" dirty="0"/>
          </a:p>
          <a:p>
            <a:pPr algn="just"/>
            <a:r>
              <a:rPr lang="en-US" dirty="0"/>
              <a:t>Microsoft </a:t>
            </a:r>
            <a:r>
              <a:rPr lang="en-US" b="1" dirty="0"/>
              <a:t>Entra ID Account Recovery </a:t>
            </a:r>
            <a:r>
              <a:rPr lang="en-US" dirty="0"/>
              <a:t>is an advanced authentication recovery mechanism that enables users to regain access to their organizational accounts when they've lost access to all registered authentication methods. Unlike traditional password reset capabilities, account recovery focuses on identity verification and trust re-establishment prior to replacement of authentication methods rather than simple credential recovery.</a:t>
            </a:r>
          </a:p>
        </p:txBody>
      </p:sp>
      <p:pic>
        <p:nvPicPr>
          <p:cNvPr id="3" name="Picture 2" descr="A black background with text and blue and white text&#10;&#10;AI-generated content may be incorrect.">
            <a:extLst>
              <a:ext uri="{FF2B5EF4-FFF2-40B4-BE49-F238E27FC236}">
                <a16:creationId xmlns:a16="http://schemas.microsoft.com/office/drawing/2014/main" id="{D5DDF69A-3D34-D32F-EF68-9FBE948A8820}"/>
              </a:ext>
            </a:extLst>
          </p:cNvPr>
          <p:cNvPicPr>
            <a:picLocks noChangeAspect="1"/>
          </p:cNvPicPr>
          <p:nvPr/>
        </p:nvPicPr>
        <p:blipFill>
          <a:blip r:embed="rId4"/>
          <a:stretch>
            <a:fillRect/>
          </a:stretch>
        </p:blipFill>
        <p:spPr>
          <a:xfrm>
            <a:off x="455486" y="2185639"/>
            <a:ext cx="3737374" cy="2058759"/>
          </a:xfrm>
          <a:prstGeom prst="rect">
            <a:avLst/>
          </a:prstGeom>
        </p:spPr>
      </p:pic>
    </p:spTree>
    <p:extLst>
      <p:ext uri="{BB962C8B-B14F-4D97-AF65-F5344CB8AC3E}">
        <p14:creationId xmlns:p14="http://schemas.microsoft.com/office/powerpoint/2010/main" val="493310561"/>
      </p:ext>
    </p:extLst>
  </p:cSld>
  <p:clrMapOvr>
    <a:masterClrMapping/>
  </p:clrMapOvr>
  <mc:AlternateContent xmlns:mc="http://schemas.openxmlformats.org/markup-compatibility/2006" xmlns:p14="http://schemas.microsoft.com/office/powerpoint/2010/main">
    <mc:Choice Requires="p14">
      <p:transition spd="med" p14:dur="700">
        <p:fade/>
      </p:transition>
    </mc:Choice>
    <mc:Fallback xmlns="">
      <p:transition spd="med">
        <p:fade/>
      </p:transition>
    </mc:Fallback>
  </mc:AlternateContent>
  <p:timing>
    <p:tnLst>
      <p:par>
        <p:cTn id="1" dur="indefinite" restart="never" nodeType="tmRoot">
          <p:childTnLst>
            <p:seq concurrent="1" nextAc="seek">
              <p:cTn id="2" dur="indefinite" nodeType="mainSeq">
                <p:childTnLst>
                  <p:par>
                    <p:cTn id="3" fill="hold">
                      <p:stCondLst>
                        <p:cond delay="indefinite"/>
                      </p:stCondLst>
                      <p:childTnLst>
                        <p:par>
                          <p:cTn id="4" fill="hold">
                            <p:stCondLst>
                              <p:cond delay="0"/>
                            </p:stCondLst>
                            <p:childTnLst>
                              <p:par>
                                <p:cTn id="5" presetID="1" presetClass="entr" presetSubtype="0" fill="hold" grpId="0" nodeType="clickEffect">
                                  <p:stCondLst>
                                    <p:cond delay="0"/>
                                  </p:stCondLst>
                                  <p:childTnLst>
                                    <p:set>
                                      <p:cBhvr>
                                        <p:cTn id="6" dur="1" fill="hold">
                                          <p:stCondLst>
                                            <p:cond delay="0"/>
                                          </p:stCondLst>
                                        </p:cTn>
                                        <p:tgtEl>
                                          <p:spTgt spid="14">
                                            <p:txEl>
                                              <p:pRg st="0" end="0"/>
                                            </p:txEl>
                                          </p:spTgt>
                                        </p:tgtEl>
                                        <p:attrNameLst>
                                          <p:attrName>style.visibility</p:attrName>
                                        </p:attrNameLst>
                                      </p:cBhvr>
                                      <p:to>
                                        <p:strVal val="visible"/>
                                      </p:to>
                                    </p:set>
                                  </p:childTnLst>
                                </p:cTn>
                              </p:par>
                              <p:par>
                                <p:cTn id="7" presetID="1" presetClass="entr" presetSubtype="0" fill="hold" grpId="0" nodeType="withEffect">
                                  <p:stCondLst>
                                    <p:cond delay="0"/>
                                  </p:stCondLst>
                                  <p:childTnLst>
                                    <p:set>
                                      <p:cBhvr>
                                        <p:cTn id="8" dur="1" fill="hold">
                                          <p:stCondLst>
                                            <p:cond delay="0"/>
                                          </p:stCondLst>
                                        </p:cTn>
                                        <p:tgtEl>
                                          <p:spTgt spid="14">
                                            <p:txEl>
                                              <p:pRg st="1" end="1"/>
                                            </p:txEl>
                                          </p:spTgt>
                                        </p:tgtEl>
                                        <p:attrNameLst>
                                          <p:attrName>style.visibility</p:attrName>
                                        </p:attrNameLst>
                                      </p:cBhvr>
                                      <p:to>
                                        <p:strVal val="visible"/>
                                      </p:to>
                                    </p:set>
                                  </p:childTnLst>
                                </p:cTn>
                              </p:par>
                              <p:par>
                                <p:cTn id="9" presetID="1" presetClass="entr" presetSubtype="0" fill="hold" nodeType="withEffect">
                                  <p:stCondLst>
                                    <p:cond delay="0"/>
                                  </p:stCondLst>
                                  <p:childTnLst>
                                    <p:set>
                                      <p:cBhvr>
                                        <p:cTn id="10" dur="1" fill="hold">
                                          <p:stCondLst>
                                            <p:cond delay="0"/>
                                          </p:stCondLst>
                                        </p:cTn>
                                        <p:tgtEl>
                                          <p:spTgt spid="3"/>
                                        </p:tgtEl>
                                        <p:attrNameLst>
                                          <p:attrName>style.visibility</p:attrName>
                                        </p:attrNameLst>
                                      </p:cBhvr>
                                      <p:to>
                                        <p:strVal val="visible"/>
                                      </p:to>
                                    </p:set>
                                  </p:childTnLst>
                                </p:cTn>
                              </p:par>
                            </p:childTnLst>
                          </p:cTn>
                        </p:par>
                      </p:childTnLst>
                    </p:cTn>
                  </p:par>
                  <p:par>
                    <p:cTn id="11" fill="hold">
                      <p:stCondLst>
                        <p:cond delay="indefinite"/>
                      </p:stCondLst>
                      <p:childTnLst>
                        <p:par>
                          <p:cTn id="12" fill="hold">
                            <p:stCondLst>
                              <p:cond delay="0"/>
                            </p:stCondLst>
                            <p:childTnLst>
                              <p:par>
                                <p:cTn id="13" presetID="1" presetClass="entr" presetSubtype="0" fill="hold" nodeType="clickEffect">
                                  <p:stCondLst>
                                    <p:cond delay="0"/>
                                  </p:stCondLst>
                                  <p:childTnLst>
                                    <p:set>
                                      <p:cBhvr>
                                        <p:cTn id="14" dur="1" fill="hold">
                                          <p:stCondLst>
                                            <p:cond delay="0"/>
                                          </p:stCondLst>
                                        </p:cTn>
                                        <p:tgtEl>
                                          <p:spTgt spid="12">
                                            <p:txEl>
                                              <p:pRg st="0" end="0"/>
                                            </p:txEl>
                                          </p:spTgt>
                                        </p:tgtEl>
                                        <p:attrNameLst>
                                          <p:attrName>style.visibility</p:attrName>
                                        </p:attrNameLst>
                                      </p:cBhvr>
                                      <p:to>
                                        <p:strVal val="visible"/>
                                      </p:to>
                                    </p:set>
                                  </p:childTnLst>
                                </p:cTn>
                              </p:par>
                              <p:par>
                                <p:cTn id="15" presetID="1" presetClass="entr" presetSubtype="0" fill="hold" nodeType="withEffect">
                                  <p:stCondLst>
                                    <p:cond delay="0"/>
                                  </p:stCondLst>
                                  <p:childTnLst>
                                    <p:set>
                                      <p:cBhvr>
                                        <p:cTn id="16" dur="1" fill="hold">
                                          <p:stCondLst>
                                            <p:cond delay="0"/>
                                          </p:stCondLst>
                                        </p:cTn>
                                        <p:tgtEl>
                                          <p:spTgt spid="12">
                                            <p:txEl>
                                              <p:pRg st="1" end="1"/>
                                            </p:txEl>
                                          </p:spTgt>
                                        </p:tgtEl>
                                        <p:attrNameLst>
                                          <p:attrName>style.visibility</p:attrName>
                                        </p:attrNameLst>
                                      </p:cBhvr>
                                      <p:to>
                                        <p:strVal val="visible"/>
                                      </p:to>
                                    </p:set>
                                  </p:childTnLst>
                                </p:cTn>
                              </p:par>
                              <p:par>
                                <p:cTn id="17" presetID="1" presetClass="entr" presetSubtype="0" fill="hold" nodeType="withEffect">
                                  <p:stCondLst>
                                    <p:cond delay="0"/>
                                  </p:stCondLst>
                                  <p:childTnLst>
                                    <p:set>
                                      <p:cBhvr>
                                        <p:cTn id="18" dur="1" fill="hold">
                                          <p:stCondLst>
                                            <p:cond delay="0"/>
                                          </p:stCondLst>
                                        </p:cTn>
                                        <p:tgtEl>
                                          <p:spTgt spid="12">
                                            <p:txEl>
                                              <p:pRg st="2" end="2"/>
                                            </p:txEl>
                                          </p:spTgt>
                                        </p:tgtEl>
                                        <p:attrNameLst>
                                          <p:attrName>style.visibility</p:attrName>
                                        </p:attrNameLst>
                                      </p:cBhvr>
                                      <p:to>
                                        <p:strVal val="visible"/>
                                      </p:to>
                                    </p:set>
                                  </p:childTnLst>
                                </p:cTn>
                              </p:par>
                            </p:childTnLst>
                          </p:cTn>
                        </p:par>
                      </p:childTnLst>
                    </p:cTn>
                  </p:par>
                </p:childTnLst>
              </p:cTn>
              <p:prevCondLst>
                <p:cond evt="onPrev" delay="0">
                  <p:tgtEl>
                    <p:sldTgt/>
                  </p:tgtEl>
                </p:cond>
              </p:prevCondLst>
              <p:nextCondLst>
                <p:cond evt="onNext" delay="0">
                  <p:tgtEl>
                    <p:sldTgt/>
                  </p:tgtEl>
                </p:cond>
              </p:nextCondLst>
            </p:seq>
          </p:childTnLst>
        </p:cTn>
      </p:par>
    </p:tnLst>
    <p:bldLst>
      <p:bldP spid="14" grpId="0" build="p"/>
    </p:bldLst>
  </p:timing>
</p:sld>
</file>

<file path=ppt/slides/slide6.xml><?xml version="1.0" encoding="utf-8"?>
<p:sld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4254E758-0E9C-1A59-D8C1-58D462C9879C}"/>
            </a:ext>
          </a:extLst>
        </p:cNvPr>
        <p:cNvGrpSpPr/>
        <p:nvPr/>
      </p:nvGrpSpPr>
      <p:grpSpPr>
        <a:xfrm>
          <a:off x="0" y="0"/>
          <a:ext cx="0" cy="0"/>
          <a:chOff x="0" y="0"/>
          <a:chExt cx="0" cy="0"/>
        </a:xfrm>
      </p:grpSpPr>
      <p:sp>
        <p:nvSpPr>
          <p:cNvPr id="12" name="Text Placeholder 11">
            <a:extLst>
              <a:ext uri="{FF2B5EF4-FFF2-40B4-BE49-F238E27FC236}">
                <a16:creationId xmlns:a16="http://schemas.microsoft.com/office/drawing/2014/main" id="{F4EFDCEC-74D7-CC9F-3A0E-1009C7BB635B}"/>
              </a:ext>
            </a:extLst>
          </p:cNvPr>
          <p:cNvSpPr>
            <a:spLocks noGrp="1"/>
          </p:cNvSpPr>
          <p:nvPr>
            <p:ph type="body" sz="quarter" idx="10"/>
          </p:nvPr>
        </p:nvSpPr>
        <p:spPr/>
        <p:txBody>
          <a:bodyPr/>
          <a:lstStyle/>
          <a:p>
            <a:pPr algn="just"/>
            <a:r>
              <a:rPr lang="en-US" sz="1000" dirty="0">
                <a:hlinkClick r:id="rId2"/>
              </a:rPr>
              <a:t>Public Preview - Passkey profiles in Microsoft Entra ID</a:t>
            </a:r>
            <a:endParaRPr lang="en-US" sz="1000" dirty="0"/>
          </a:p>
          <a:p>
            <a:pPr algn="just"/>
            <a:r>
              <a:rPr lang="en-US" sz="1000" dirty="0"/>
              <a:t>Microsoft Entra ID now supports group‑based passkey (FIDO2) configurations, enabling separate rollouts of different types of passkeys to different sets of users.</a:t>
            </a:r>
          </a:p>
        </p:txBody>
      </p:sp>
      <p:sp>
        <p:nvSpPr>
          <p:cNvPr id="11" name="Title 10">
            <a:extLst>
              <a:ext uri="{FF2B5EF4-FFF2-40B4-BE49-F238E27FC236}">
                <a16:creationId xmlns:a16="http://schemas.microsoft.com/office/drawing/2014/main" id="{108EB9BC-7C8E-C179-D7B3-FA8C3832EAD4}"/>
              </a:ext>
            </a:extLst>
          </p:cNvPr>
          <p:cNvSpPr>
            <a:spLocks noGrp="1"/>
          </p:cNvSpPr>
          <p:nvPr>
            <p:ph type="title"/>
          </p:nvPr>
        </p:nvSpPr>
        <p:spPr/>
        <p:txBody>
          <a:bodyPr/>
          <a:lstStyle/>
          <a:p>
            <a:r>
              <a:rPr lang="en-US" sz="1800" dirty="0"/>
              <a:t>Security &amp; Identity Updates (Entra ID Updates) - 2/7</a:t>
            </a:r>
            <a:endParaRPr lang="en-US" dirty="0"/>
          </a:p>
        </p:txBody>
      </p:sp>
      <p:sp>
        <p:nvSpPr>
          <p:cNvPr id="13" name="Text Placeholder 12">
            <a:extLst>
              <a:ext uri="{FF2B5EF4-FFF2-40B4-BE49-F238E27FC236}">
                <a16:creationId xmlns:a16="http://schemas.microsoft.com/office/drawing/2014/main" id="{5B52A8BE-107A-17D0-9868-4A2D8C2F4337}"/>
              </a:ext>
            </a:extLst>
          </p:cNvPr>
          <p:cNvSpPr>
            <a:spLocks noGrp="1"/>
          </p:cNvSpPr>
          <p:nvPr>
            <p:ph type="body" sz="quarter" idx="15"/>
          </p:nvPr>
        </p:nvSpPr>
        <p:spPr/>
        <p:txBody>
          <a:bodyPr/>
          <a:lstStyle/>
          <a:p>
            <a:endParaRPr lang="en-US"/>
          </a:p>
        </p:txBody>
      </p:sp>
      <p:sp>
        <p:nvSpPr>
          <p:cNvPr id="14" name="Text Placeholder 13">
            <a:extLst>
              <a:ext uri="{FF2B5EF4-FFF2-40B4-BE49-F238E27FC236}">
                <a16:creationId xmlns:a16="http://schemas.microsoft.com/office/drawing/2014/main" id="{6125CF61-DD31-42B7-98F6-ACEF3D4AB8DC}"/>
              </a:ext>
            </a:extLst>
          </p:cNvPr>
          <p:cNvSpPr>
            <a:spLocks noGrp="1"/>
          </p:cNvSpPr>
          <p:nvPr>
            <p:ph type="body" sz="quarter" idx="16"/>
          </p:nvPr>
        </p:nvSpPr>
        <p:spPr>
          <a:xfrm>
            <a:off x="342900" y="855080"/>
            <a:ext cx="3955312" cy="2349037"/>
          </a:xfrm>
        </p:spPr>
        <p:txBody>
          <a:bodyPr/>
          <a:lstStyle/>
          <a:p>
            <a:pPr algn="just"/>
            <a:r>
              <a:rPr lang="en-US" dirty="0">
                <a:hlinkClick r:id="rId3"/>
              </a:rPr>
              <a:t>Public Preview - Externally determine the approval requirements for an access package using custom extensions</a:t>
            </a:r>
            <a:endParaRPr lang="en-US" dirty="0"/>
          </a:p>
          <a:p>
            <a:pPr algn="just"/>
            <a:r>
              <a:rPr lang="en-US" dirty="0"/>
              <a:t>In Entitlement Management, approvers for access package assignment requests can either be </a:t>
            </a:r>
            <a:r>
              <a:rPr lang="en-US" b="1" dirty="0"/>
              <a:t>directly assigned or determined dynamically. Entitlement management natively supports dynamically determining approvers such as the requestors manager</a:t>
            </a:r>
            <a:r>
              <a:rPr lang="en-US" dirty="0"/>
              <a:t>, their second-level manager, or a sponsor from a connected organization. With the introduction of this feature you can now use custom extensions for callouts to Azure Logic Apps and dynamically determine approval requirements for each access package assignment request based on your organizations specific business logic. The access package assignment request process will pause until your business logic hosted in Azure Logic Apps returns an approval stage which will then be leveraged in the subsequent approval process via the My Access portal. </a:t>
            </a:r>
          </a:p>
        </p:txBody>
      </p:sp>
      <p:pic>
        <p:nvPicPr>
          <p:cNvPr id="1026" name="Picture 2" descr="Screenshot of the custom extension approval stage option.">
            <a:extLst>
              <a:ext uri="{FF2B5EF4-FFF2-40B4-BE49-F238E27FC236}">
                <a16:creationId xmlns:a16="http://schemas.microsoft.com/office/drawing/2014/main" id="{2DD8BF7F-42CD-BBBA-DFDD-E44585E9A88E}"/>
              </a:ext>
            </a:extLst>
          </p:cNvPr>
          <p:cNvPicPr>
            <a:picLocks noChangeAspect="1" noChangeArrowheads="1"/>
          </p:cNvPicPr>
          <p:nvPr/>
        </p:nvPicPr>
        <p:blipFill>
          <a:blip r:embed="rId4" cstate="print">
            <a:extLst>
              <a:ext uri="{28A0092B-C50C-407E-A947-70E740481C1C}">
                <a14:useLocalDpi xmlns:a14="http://schemas.microsoft.com/office/drawing/2010/main" val="0"/>
              </a:ext>
            </a:extLst>
          </a:blip>
          <a:srcRect/>
          <a:stretch>
            <a:fillRect/>
          </a:stretch>
        </p:blipFill>
        <p:spPr bwMode="auto">
          <a:xfrm>
            <a:off x="739286" y="3151825"/>
            <a:ext cx="3163640" cy="1818055"/>
          </a:xfrm>
          <a:prstGeom prst="rect">
            <a:avLst/>
          </a:prstGeom>
          <a:noFill/>
          <a:extLst>
            <a:ext uri="{909E8E84-426E-40DD-AFC4-6F175D3DCCD1}">
              <a14:hiddenFill xmlns:a14="http://schemas.microsoft.com/office/drawing/2010/main">
                <a:solidFill>
                  <a:srgbClr val="FFFFFF"/>
                </a:solidFill>
              </a14:hiddenFill>
            </a:ext>
          </a:extLst>
        </p:spPr>
      </p:pic>
    </p:spTree>
    <p:extLst>
      <p:ext uri="{BB962C8B-B14F-4D97-AF65-F5344CB8AC3E}">
        <p14:creationId xmlns:p14="http://schemas.microsoft.com/office/powerpoint/2010/main" val="2813364561"/>
      </p:ext>
    </p:extLst>
  </p:cSld>
  <p:clrMapOvr>
    <a:masterClrMapping/>
  </p:clrMapOvr>
  <mc:AlternateContent xmlns:mc="http://schemas.openxmlformats.org/markup-compatibility/2006" xmlns:p14="http://schemas.microsoft.com/office/powerpoint/2010/main">
    <mc:Choice Requires="p14">
      <p:transition spd="med" p14:dur="700">
        <p:fade/>
      </p:transition>
    </mc:Choice>
    <mc:Fallback xmlns="">
      <p:transition spd="med">
        <p:fade/>
      </p:transition>
    </mc:Fallback>
  </mc:AlternateContent>
  <p:timing>
    <p:tnLst>
      <p:par>
        <p:cTn id="1" dur="indefinite" restart="never" nodeType="tmRoot">
          <p:childTnLst>
            <p:seq concurrent="1" nextAc="seek">
              <p:cTn id="2" dur="indefinite" nodeType="mainSeq">
                <p:childTnLst>
                  <p:par>
                    <p:cTn id="3" fill="hold">
                      <p:stCondLst>
                        <p:cond delay="indefinite"/>
                      </p:stCondLst>
                      <p:childTnLst>
                        <p:par>
                          <p:cTn id="4" fill="hold">
                            <p:stCondLst>
                              <p:cond delay="0"/>
                            </p:stCondLst>
                            <p:childTnLst>
                              <p:par>
                                <p:cTn id="5" presetID="1" presetClass="entr" presetSubtype="0" fill="hold" grpId="0" nodeType="clickEffect">
                                  <p:stCondLst>
                                    <p:cond delay="0"/>
                                  </p:stCondLst>
                                  <p:childTnLst>
                                    <p:set>
                                      <p:cBhvr>
                                        <p:cTn id="6" dur="1" fill="hold">
                                          <p:stCondLst>
                                            <p:cond delay="0"/>
                                          </p:stCondLst>
                                        </p:cTn>
                                        <p:tgtEl>
                                          <p:spTgt spid="14">
                                            <p:txEl>
                                              <p:pRg st="0" end="0"/>
                                            </p:txEl>
                                          </p:spTgt>
                                        </p:tgtEl>
                                        <p:attrNameLst>
                                          <p:attrName>style.visibility</p:attrName>
                                        </p:attrNameLst>
                                      </p:cBhvr>
                                      <p:to>
                                        <p:strVal val="visible"/>
                                      </p:to>
                                    </p:set>
                                  </p:childTnLst>
                                </p:cTn>
                              </p:par>
                              <p:par>
                                <p:cTn id="7" presetID="1" presetClass="entr" presetSubtype="0" fill="hold" grpId="0" nodeType="withEffect">
                                  <p:stCondLst>
                                    <p:cond delay="0"/>
                                  </p:stCondLst>
                                  <p:childTnLst>
                                    <p:set>
                                      <p:cBhvr>
                                        <p:cTn id="8" dur="1" fill="hold">
                                          <p:stCondLst>
                                            <p:cond delay="0"/>
                                          </p:stCondLst>
                                        </p:cTn>
                                        <p:tgtEl>
                                          <p:spTgt spid="14">
                                            <p:txEl>
                                              <p:pRg st="1" end="1"/>
                                            </p:txEl>
                                          </p:spTgt>
                                        </p:tgtEl>
                                        <p:attrNameLst>
                                          <p:attrName>style.visibility</p:attrName>
                                        </p:attrNameLst>
                                      </p:cBhvr>
                                      <p:to>
                                        <p:strVal val="visible"/>
                                      </p:to>
                                    </p:set>
                                  </p:childTnLst>
                                </p:cTn>
                              </p:par>
                              <p:par>
                                <p:cTn id="9" presetID="1" presetClass="entr" presetSubtype="0" fill="hold" nodeType="withEffect">
                                  <p:stCondLst>
                                    <p:cond delay="0"/>
                                  </p:stCondLst>
                                  <p:childTnLst>
                                    <p:set>
                                      <p:cBhvr>
                                        <p:cTn id="10" dur="1" fill="hold">
                                          <p:stCondLst>
                                            <p:cond delay="0"/>
                                          </p:stCondLst>
                                        </p:cTn>
                                        <p:tgtEl>
                                          <p:spTgt spid="1026"/>
                                        </p:tgtEl>
                                        <p:attrNameLst>
                                          <p:attrName>style.visibility</p:attrName>
                                        </p:attrNameLst>
                                      </p:cBhvr>
                                      <p:to>
                                        <p:strVal val="visible"/>
                                      </p:to>
                                    </p:set>
                                  </p:childTnLst>
                                </p:cTn>
                              </p:par>
                            </p:childTnLst>
                          </p:cTn>
                        </p:par>
                      </p:childTnLst>
                    </p:cTn>
                  </p:par>
                  <p:par>
                    <p:cTn id="11" fill="hold">
                      <p:stCondLst>
                        <p:cond delay="indefinite"/>
                      </p:stCondLst>
                      <p:childTnLst>
                        <p:par>
                          <p:cTn id="12" fill="hold">
                            <p:stCondLst>
                              <p:cond delay="0"/>
                            </p:stCondLst>
                            <p:childTnLst>
                              <p:par>
                                <p:cTn id="13" presetID="1" presetClass="entr" presetSubtype="0" fill="hold" nodeType="clickEffect">
                                  <p:stCondLst>
                                    <p:cond delay="0"/>
                                  </p:stCondLst>
                                  <p:childTnLst>
                                    <p:set>
                                      <p:cBhvr>
                                        <p:cTn id="14" dur="1" fill="hold">
                                          <p:stCondLst>
                                            <p:cond delay="0"/>
                                          </p:stCondLst>
                                        </p:cTn>
                                        <p:tgtEl>
                                          <p:spTgt spid="12">
                                            <p:txEl>
                                              <p:pRg st="0" end="0"/>
                                            </p:txEl>
                                          </p:spTgt>
                                        </p:tgtEl>
                                        <p:attrNameLst>
                                          <p:attrName>style.visibility</p:attrName>
                                        </p:attrNameLst>
                                      </p:cBhvr>
                                      <p:to>
                                        <p:strVal val="visible"/>
                                      </p:to>
                                    </p:set>
                                  </p:childTnLst>
                                </p:cTn>
                              </p:par>
                              <p:par>
                                <p:cTn id="15" presetID="1" presetClass="entr" presetSubtype="0" fill="hold" nodeType="withEffect">
                                  <p:stCondLst>
                                    <p:cond delay="0"/>
                                  </p:stCondLst>
                                  <p:childTnLst>
                                    <p:set>
                                      <p:cBhvr>
                                        <p:cTn id="16" dur="1" fill="hold">
                                          <p:stCondLst>
                                            <p:cond delay="0"/>
                                          </p:stCondLst>
                                        </p:cTn>
                                        <p:tgtEl>
                                          <p:spTgt spid="12">
                                            <p:txEl>
                                              <p:pRg st="1" end="1"/>
                                            </p:txEl>
                                          </p:spTgt>
                                        </p:tgtEl>
                                        <p:attrNameLst>
                                          <p:attrName>style.visibility</p:attrName>
                                        </p:attrNameLst>
                                      </p:cBhvr>
                                      <p:to>
                                        <p:strVal val="visible"/>
                                      </p:to>
                                    </p:set>
                                  </p:childTnLst>
                                </p:cTn>
                              </p:par>
                            </p:childTnLst>
                          </p:cTn>
                        </p:par>
                      </p:childTnLst>
                    </p:cTn>
                  </p:par>
                </p:childTnLst>
              </p:cTn>
              <p:prevCondLst>
                <p:cond evt="onPrev" delay="0">
                  <p:tgtEl>
                    <p:sldTgt/>
                  </p:tgtEl>
                </p:cond>
              </p:prevCondLst>
              <p:nextCondLst>
                <p:cond evt="onNext" delay="0">
                  <p:tgtEl>
                    <p:sldTgt/>
                  </p:tgtEl>
                </p:cond>
              </p:nextCondLst>
            </p:seq>
          </p:childTnLst>
        </p:cTn>
      </p:par>
    </p:tnLst>
    <p:bldLst>
      <p:bldP spid="14" grpId="0" build="p"/>
    </p:bldLst>
  </p:timing>
</p:sld>
</file>

<file path=ppt/slides/slide7.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ext Placeholder 1">
            <a:extLst>
              <a:ext uri="{FF2B5EF4-FFF2-40B4-BE49-F238E27FC236}">
                <a16:creationId xmlns:a16="http://schemas.microsoft.com/office/drawing/2014/main" id="{B0DB0CA7-D389-BAF0-A20E-49B5AEEE9898}"/>
              </a:ext>
            </a:extLst>
          </p:cNvPr>
          <p:cNvSpPr>
            <a:spLocks noGrp="1"/>
          </p:cNvSpPr>
          <p:nvPr>
            <p:ph type="body" sz="quarter" idx="10"/>
          </p:nvPr>
        </p:nvSpPr>
        <p:spPr/>
        <p:txBody>
          <a:bodyPr/>
          <a:lstStyle/>
          <a:p>
            <a:pPr algn="just"/>
            <a:r>
              <a:rPr lang="en-US" sz="1000" dirty="0">
                <a:hlinkClick r:id="rId2"/>
              </a:rPr>
              <a:t>Public Preview - End user experience for managing agent identities</a:t>
            </a:r>
            <a:endParaRPr lang="en-US" sz="1000" dirty="0"/>
          </a:p>
          <a:p>
            <a:pPr algn="just"/>
            <a:r>
              <a:rPr lang="en-US" sz="1000" dirty="0"/>
              <a:t>The Manage agents end user experiences lets view, and control, agent identities own or sponsor. With the manage agents feature, it is possible to easily see which agents you’re responsible for, review their details, and take action to enable, disable, or request access for them. </a:t>
            </a:r>
          </a:p>
        </p:txBody>
      </p:sp>
      <p:sp>
        <p:nvSpPr>
          <p:cNvPr id="3" name="Title 2">
            <a:extLst>
              <a:ext uri="{FF2B5EF4-FFF2-40B4-BE49-F238E27FC236}">
                <a16:creationId xmlns:a16="http://schemas.microsoft.com/office/drawing/2014/main" id="{7DF9573D-1A0A-BC7C-71A9-798354E8630D}"/>
              </a:ext>
            </a:extLst>
          </p:cNvPr>
          <p:cNvSpPr>
            <a:spLocks noGrp="1"/>
          </p:cNvSpPr>
          <p:nvPr>
            <p:ph type="title"/>
          </p:nvPr>
        </p:nvSpPr>
        <p:spPr/>
        <p:txBody>
          <a:bodyPr/>
          <a:lstStyle/>
          <a:p>
            <a:r>
              <a:rPr lang="en-US" sz="1600" dirty="0"/>
              <a:t>Security &amp; Identity Updates (Entra ID Updates) - 3/7</a:t>
            </a:r>
            <a:endParaRPr lang="en-US" dirty="0"/>
          </a:p>
        </p:txBody>
      </p:sp>
      <p:sp>
        <p:nvSpPr>
          <p:cNvPr id="4" name="Text Placeholder 3">
            <a:extLst>
              <a:ext uri="{FF2B5EF4-FFF2-40B4-BE49-F238E27FC236}">
                <a16:creationId xmlns:a16="http://schemas.microsoft.com/office/drawing/2014/main" id="{D9B4AC27-8BED-DB39-1F4E-D77453B0AD8E}"/>
              </a:ext>
            </a:extLst>
          </p:cNvPr>
          <p:cNvSpPr>
            <a:spLocks noGrp="1"/>
          </p:cNvSpPr>
          <p:nvPr>
            <p:ph type="body" sz="quarter" idx="15"/>
          </p:nvPr>
        </p:nvSpPr>
        <p:spPr/>
        <p:txBody>
          <a:bodyPr/>
          <a:lstStyle/>
          <a:p>
            <a:endParaRPr lang="en-US"/>
          </a:p>
        </p:txBody>
      </p:sp>
      <p:sp>
        <p:nvSpPr>
          <p:cNvPr id="5" name="Text Placeholder 4">
            <a:extLst>
              <a:ext uri="{FF2B5EF4-FFF2-40B4-BE49-F238E27FC236}">
                <a16:creationId xmlns:a16="http://schemas.microsoft.com/office/drawing/2014/main" id="{05DE6E23-C279-A329-1191-9EDDE6BF84A0}"/>
              </a:ext>
            </a:extLst>
          </p:cNvPr>
          <p:cNvSpPr>
            <a:spLocks noGrp="1"/>
          </p:cNvSpPr>
          <p:nvPr>
            <p:ph type="body" sz="quarter" idx="16"/>
          </p:nvPr>
        </p:nvSpPr>
        <p:spPr/>
        <p:txBody>
          <a:bodyPr/>
          <a:lstStyle/>
          <a:p>
            <a:pPr algn="just"/>
            <a:r>
              <a:rPr lang="en-US" dirty="0">
                <a:hlinkClick r:id="rId3"/>
              </a:rPr>
              <a:t>Public Preview - Soft Deletion for Cloud Security Groups</a:t>
            </a:r>
            <a:endParaRPr lang="en-US" dirty="0"/>
          </a:p>
          <a:p>
            <a:pPr algn="just"/>
            <a:r>
              <a:rPr lang="en-US" dirty="0"/>
              <a:t>Soft deletion for cloud security groups introduces a safety mechanism that allows administrators to recover deleted groups within a </a:t>
            </a:r>
            <a:r>
              <a:rPr lang="en-US" b="1" dirty="0"/>
              <a:t>30‑day retention period</a:t>
            </a:r>
            <a:r>
              <a:rPr lang="en-US" dirty="0"/>
              <a:t>. When a cloud security group is deleted, it is not immediately removed from the directory; instead, it enters a soft‑deleted state, preserving its membership and configuration. This feature helps prevent accidental data loss and supports business continuity by enabling quick restoration of groups without requiring manual recreation. Administrators can restore soft‑deleted groups through the Microsoft Entra admin center or Microsoft Graph API during the retention window.</a:t>
            </a:r>
          </a:p>
        </p:txBody>
      </p:sp>
    </p:spTree>
    <p:extLst>
      <p:ext uri="{BB962C8B-B14F-4D97-AF65-F5344CB8AC3E}">
        <p14:creationId xmlns:p14="http://schemas.microsoft.com/office/powerpoint/2010/main" val="954625188"/>
      </p:ext>
    </p:extLst>
  </p:cSld>
  <p:clrMapOvr>
    <a:masterClrMapping/>
  </p:clrMapOvr>
  <p:timing>
    <p:tnLst>
      <p:par>
        <p:cTn id="1" dur="indefinite" restart="never" nodeType="tmRoot">
          <p:childTnLst>
            <p:seq concurrent="1" nextAc="seek">
              <p:cTn id="2" dur="indefinite" nodeType="mainSeq">
                <p:childTnLst>
                  <p:par>
                    <p:cTn id="3" fill="hold">
                      <p:stCondLst>
                        <p:cond delay="indefinite"/>
                      </p:stCondLst>
                      <p:childTnLst>
                        <p:par>
                          <p:cTn id="4" fill="hold">
                            <p:stCondLst>
                              <p:cond delay="0"/>
                            </p:stCondLst>
                            <p:childTnLst>
                              <p:par>
                                <p:cTn id="5" presetID="1" presetClass="entr" presetSubtype="0" fill="hold" nodeType="clickEffect">
                                  <p:stCondLst>
                                    <p:cond delay="0"/>
                                  </p:stCondLst>
                                  <p:childTnLst>
                                    <p:set>
                                      <p:cBhvr>
                                        <p:cTn id="6" dur="1" fill="hold">
                                          <p:stCondLst>
                                            <p:cond delay="0"/>
                                          </p:stCondLst>
                                        </p:cTn>
                                        <p:tgtEl>
                                          <p:spTgt spid="5">
                                            <p:txEl>
                                              <p:pRg st="0" end="0"/>
                                            </p:txEl>
                                          </p:spTgt>
                                        </p:tgtEl>
                                        <p:attrNameLst>
                                          <p:attrName>style.visibility</p:attrName>
                                        </p:attrNameLst>
                                      </p:cBhvr>
                                      <p:to>
                                        <p:strVal val="visible"/>
                                      </p:to>
                                    </p:set>
                                  </p:childTnLst>
                                </p:cTn>
                              </p:par>
                              <p:par>
                                <p:cTn id="7" presetID="1" presetClass="entr" presetSubtype="0" fill="hold" nodeType="withEffect">
                                  <p:stCondLst>
                                    <p:cond delay="0"/>
                                  </p:stCondLst>
                                  <p:childTnLst>
                                    <p:set>
                                      <p:cBhvr>
                                        <p:cTn id="8" dur="1" fill="hold">
                                          <p:stCondLst>
                                            <p:cond delay="0"/>
                                          </p:stCondLst>
                                        </p:cTn>
                                        <p:tgtEl>
                                          <p:spTgt spid="5">
                                            <p:txEl>
                                              <p:pRg st="1" end="1"/>
                                            </p:txEl>
                                          </p:spTgt>
                                        </p:tgtEl>
                                        <p:attrNameLst>
                                          <p:attrName>style.visibility</p:attrName>
                                        </p:attrNameLst>
                                      </p:cBhvr>
                                      <p:to>
                                        <p:strVal val="visible"/>
                                      </p:to>
                                    </p:set>
                                  </p:childTnLst>
                                </p:cTn>
                              </p:par>
                            </p:childTnLst>
                          </p:cTn>
                        </p:par>
                      </p:childTnLst>
                    </p:cTn>
                  </p:par>
                  <p:par>
                    <p:cTn id="9" fill="hold">
                      <p:stCondLst>
                        <p:cond delay="indefinite"/>
                      </p:stCondLst>
                      <p:childTnLst>
                        <p:par>
                          <p:cTn id="10" fill="hold">
                            <p:stCondLst>
                              <p:cond delay="0"/>
                            </p:stCondLst>
                            <p:childTnLst>
                              <p:par>
                                <p:cTn id="11" presetID="1" presetClass="entr" presetSubtype="0" fill="hold" nodeType="clickEffect">
                                  <p:stCondLst>
                                    <p:cond delay="0"/>
                                  </p:stCondLst>
                                  <p:childTnLst>
                                    <p:set>
                                      <p:cBhvr>
                                        <p:cTn id="12" dur="1" fill="hold">
                                          <p:stCondLst>
                                            <p:cond delay="0"/>
                                          </p:stCondLst>
                                        </p:cTn>
                                        <p:tgtEl>
                                          <p:spTgt spid="2">
                                            <p:txEl>
                                              <p:pRg st="0" end="0"/>
                                            </p:txEl>
                                          </p:spTgt>
                                        </p:tgtEl>
                                        <p:attrNameLst>
                                          <p:attrName>style.visibility</p:attrName>
                                        </p:attrNameLst>
                                      </p:cBhvr>
                                      <p:to>
                                        <p:strVal val="visible"/>
                                      </p:to>
                                    </p:set>
                                  </p:childTnLst>
                                </p:cTn>
                              </p:par>
                              <p:par>
                                <p:cTn id="13" presetID="1" presetClass="entr" presetSubtype="0" fill="hold" nodeType="withEffect">
                                  <p:stCondLst>
                                    <p:cond delay="0"/>
                                  </p:stCondLst>
                                  <p:childTnLst>
                                    <p:set>
                                      <p:cBhvr>
                                        <p:cTn id="14" dur="1" fill="hold">
                                          <p:stCondLst>
                                            <p:cond delay="0"/>
                                          </p:stCondLst>
                                        </p:cTn>
                                        <p:tgtEl>
                                          <p:spTgt spid="2">
                                            <p:txEl>
                                              <p:pRg st="1" end="1"/>
                                            </p:txEl>
                                          </p:spTgt>
                                        </p:tgtEl>
                                        <p:attrNameLst>
                                          <p:attrName>style.visibility</p:attrName>
                                        </p:attrNameLst>
                                      </p:cBhvr>
                                      <p:to>
                                        <p:strVal val="visible"/>
                                      </p:to>
                                    </p:set>
                                  </p:childTnLst>
                                </p:cTn>
                              </p:par>
                            </p:childTnLst>
                          </p:cTn>
                        </p:par>
                      </p:childTnLst>
                    </p:cTn>
                  </p:par>
                </p:childTnLst>
              </p:cTn>
              <p:prevCondLst>
                <p:cond evt="onPrev" delay="0">
                  <p:tgtEl>
                    <p:sldTgt/>
                  </p:tgtEl>
                </p:cond>
              </p:prevCondLst>
              <p:nextCondLst>
                <p:cond evt="onNext" delay="0">
                  <p:tgtEl>
                    <p:sldTgt/>
                  </p:tgtEl>
                </p:cond>
              </p:nextCondLst>
            </p:seq>
          </p:childTnLst>
        </p:cTn>
      </p:par>
    </p:tnLst>
  </p:timing>
</p:sld>
</file>

<file path=ppt/slides/slide8.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ext Placeholder 1">
            <a:extLst>
              <a:ext uri="{FF2B5EF4-FFF2-40B4-BE49-F238E27FC236}">
                <a16:creationId xmlns:a16="http://schemas.microsoft.com/office/drawing/2014/main" id="{3369C9AD-FC70-EE02-14EB-83A1C8AF25C3}"/>
              </a:ext>
            </a:extLst>
          </p:cNvPr>
          <p:cNvSpPr>
            <a:spLocks noGrp="1"/>
          </p:cNvSpPr>
          <p:nvPr>
            <p:ph type="body" sz="quarter" idx="10"/>
          </p:nvPr>
        </p:nvSpPr>
        <p:spPr/>
        <p:txBody>
          <a:bodyPr/>
          <a:lstStyle/>
          <a:p>
            <a:r>
              <a:rPr lang="en-US" sz="1000" dirty="0">
                <a:hlinkClick r:id="rId2"/>
              </a:rPr>
              <a:t>Public Preview - User centric access reviews including disconnected applications</a:t>
            </a:r>
            <a:endParaRPr lang="en-US" sz="1000" dirty="0"/>
          </a:p>
          <a:p>
            <a:r>
              <a:rPr lang="en-US" sz="1000" dirty="0"/>
              <a:t>This capability enables organizations to manage access reviews for applications that are not yet integrated with </a:t>
            </a:r>
            <a:r>
              <a:rPr lang="en-US" sz="1000" b="1" dirty="0"/>
              <a:t>Microsoft Entra ID. </a:t>
            </a:r>
          </a:p>
        </p:txBody>
      </p:sp>
      <p:sp>
        <p:nvSpPr>
          <p:cNvPr id="3" name="Title 2">
            <a:extLst>
              <a:ext uri="{FF2B5EF4-FFF2-40B4-BE49-F238E27FC236}">
                <a16:creationId xmlns:a16="http://schemas.microsoft.com/office/drawing/2014/main" id="{346360C8-2A55-80CB-6981-99EE5D5CE4D9}"/>
              </a:ext>
            </a:extLst>
          </p:cNvPr>
          <p:cNvSpPr>
            <a:spLocks noGrp="1"/>
          </p:cNvSpPr>
          <p:nvPr>
            <p:ph type="title"/>
          </p:nvPr>
        </p:nvSpPr>
        <p:spPr/>
        <p:txBody>
          <a:bodyPr/>
          <a:lstStyle/>
          <a:p>
            <a:r>
              <a:rPr lang="en-US" sz="1600" dirty="0"/>
              <a:t>Security &amp; Identity Updates (Entra ID Updates) - 4/7</a:t>
            </a:r>
            <a:endParaRPr lang="en-US" dirty="0"/>
          </a:p>
        </p:txBody>
      </p:sp>
      <p:sp>
        <p:nvSpPr>
          <p:cNvPr id="4" name="Text Placeholder 3">
            <a:extLst>
              <a:ext uri="{FF2B5EF4-FFF2-40B4-BE49-F238E27FC236}">
                <a16:creationId xmlns:a16="http://schemas.microsoft.com/office/drawing/2014/main" id="{AF8311EB-BC73-CB3E-2064-D303BD1EEF1F}"/>
              </a:ext>
            </a:extLst>
          </p:cNvPr>
          <p:cNvSpPr>
            <a:spLocks noGrp="1"/>
          </p:cNvSpPr>
          <p:nvPr>
            <p:ph type="body" sz="quarter" idx="15"/>
          </p:nvPr>
        </p:nvSpPr>
        <p:spPr/>
        <p:txBody>
          <a:bodyPr/>
          <a:lstStyle/>
          <a:p>
            <a:endParaRPr lang="en-US"/>
          </a:p>
        </p:txBody>
      </p:sp>
      <p:sp>
        <p:nvSpPr>
          <p:cNvPr id="5" name="Text Placeholder 4">
            <a:extLst>
              <a:ext uri="{FF2B5EF4-FFF2-40B4-BE49-F238E27FC236}">
                <a16:creationId xmlns:a16="http://schemas.microsoft.com/office/drawing/2014/main" id="{A9F5A9BC-C092-33F9-F222-D53504630AEF}"/>
              </a:ext>
            </a:extLst>
          </p:cNvPr>
          <p:cNvSpPr>
            <a:spLocks noGrp="1"/>
          </p:cNvSpPr>
          <p:nvPr>
            <p:ph type="body" sz="quarter" idx="16"/>
          </p:nvPr>
        </p:nvSpPr>
        <p:spPr/>
        <p:txBody>
          <a:bodyPr/>
          <a:lstStyle/>
          <a:p>
            <a:pPr algn="just"/>
            <a:r>
              <a:rPr lang="en-US" dirty="0">
                <a:hlinkClick r:id="rId3"/>
              </a:rPr>
              <a:t>Public Preview - Conditional Access for Agents</a:t>
            </a:r>
            <a:endParaRPr lang="en-US" dirty="0"/>
          </a:p>
          <a:p>
            <a:pPr algn="just"/>
            <a:r>
              <a:rPr lang="en-US" dirty="0"/>
              <a:t>Conditional Access for Agent ID is a new capability in Microsoft Entra ID that </a:t>
            </a:r>
            <a:r>
              <a:rPr lang="en-US" b="1" dirty="0"/>
              <a:t>brings Conditional Access evaluation and </a:t>
            </a:r>
            <a:r>
              <a:rPr lang="en-US" dirty="0"/>
              <a:t>enforcement to AI agents. This capability extends the same Zero Trust controls that already protect human users and apps to agents. Conditional Access treats agents as first‑class identities and evaluates their access requests the same way it evaluates requests for human users or workload identities, but with agent‑specific logic.</a:t>
            </a:r>
          </a:p>
        </p:txBody>
      </p:sp>
    </p:spTree>
    <p:extLst>
      <p:ext uri="{BB962C8B-B14F-4D97-AF65-F5344CB8AC3E}">
        <p14:creationId xmlns:p14="http://schemas.microsoft.com/office/powerpoint/2010/main" val="606975364"/>
      </p:ext>
    </p:extLst>
  </p:cSld>
  <p:clrMapOvr>
    <a:masterClrMapping/>
  </p:clrMapOvr>
  <p:timing>
    <p:tnLst>
      <p:par>
        <p:cTn id="1" dur="indefinite" restart="never" nodeType="tmRoot">
          <p:childTnLst>
            <p:seq concurrent="1" nextAc="seek">
              <p:cTn id="2" dur="indefinite" nodeType="mainSeq">
                <p:childTnLst>
                  <p:par>
                    <p:cTn id="3" fill="hold">
                      <p:stCondLst>
                        <p:cond delay="indefinite"/>
                      </p:stCondLst>
                      <p:childTnLst>
                        <p:par>
                          <p:cTn id="4" fill="hold">
                            <p:stCondLst>
                              <p:cond delay="0"/>
                            </p:stCondLst>
                            <p:childTnLst>
                              <p:par>
                                <p:cTn id="5" presetID="1" presetClass="entr" presetSubtype="0" fill="hold" nodeType="clickEffect">
                                  <p:stCondLst>
                                    <p:cond delay="0"/>
                                  </p:stCondLst>
                                  <p:childTnLst>
                                    <p:set>
                                      <p:cBhvr>
                                        <p:cTn id="6" dur="1" fill="hold">
                                          <p:stCondLst>
                                            <p:cond delay="0"/>
                                          </p:stCondLst>
                                        </p:cTn>
                                        <p:tgtEl>
                                          <p:spTgt spid="5">
                                            <p:txEl>
                                              <p:pRg st="0" end="0"/>
                                            </p:txEl>
                                          </p:spTgt>
                                        </p:tgtEl>
                                        <p:attrNameLst>
                                          <p:attrName>style.visibility</p:attrName>
                                        </p:attrNameLst>
                                      </p:cBhvr>
                                      <p:to>
                                        <p:strVal val="visible"/>
                                      </p:to>
                                    </p:set>
                                  </p:childTnLst>
                                </p:cTn>
                              </p:par>
                              <p:par>
                                <p:cTn id="7" presetID="1" presetClass="entr" presetSubtype="0" fill="hold" nodeType="withEffect">
                                  <p:stCondLst>
                                    <p:cond delay="0"/>
                                  </p:stCondLst>
                                  <p:childTnLst>
                                    <p:set>
                                      <p:cBhvr>
                                        <p:cTn id="8" dur="1" fill="hold">
                                          <p:stCondLst>
                                            <p:cond delay="0"/>
                                          </p:stCondLst>
                                        </p:cTn>
                                        <p:tgtEl>
                                          <p:spTgt spid="5">
                                            <p:txEl>
                                              <p:pRg st="1" end="1"/>
                                            </p:txEl>
                                          </p:spTgt>
                                        </p:tgtEl>
                                        <p:attrNameLst>
                                          <p:attrName>style.visibility</p:attrName>
                                        </p:attrNameLst>
                                      </p:cBhvr>
                                      <p:to>
                                        <p:strVal val="visible"/>
                                      </p:to>
                                    </p:set>
                                  </p:childTnLst>
                                </p:cTn>
                              </p:par>
                            </p:childTnLst>
                          </p:cTn>
                        </p:par>
                      </p:childTnLst>
                    </p:cTn>
                  </p:par>
                  <p:par>
                    <p:cTn id="9" fill="hold">
                      <p:stCondLst>
                        <p:cond delay="indefinite"/>
                      </p:stCondLst>
                      <p:childTnLst>
                        <p:par>
                          <p:cTn id="10" fill="hold">
                            <p:stCondLst>
                              <p:cond delay="0"/>
                            </p:stCondLst>
                            <p:childTnLst>
                              <p:par>
                                <p:cTn id="11" presetID="1" presetClass="entr" presetSubtype="0" fill="hold" nodeType="clickEffect">
                                  <p:stCondLst>
                                    <p:cond delay="0"/>
                                  </p:stCondLst>
                                  <p:childTnLst>
                                    <p:set>
                                      <p:cBhvr>
                                        <p:cTn id="12" dur="1" fill="hold">
                                          <p:stCondLst>
                                            <p:cond delay="0"/>
                                          </p:stCondLst>
                                        </p:cTn>
                                        <p:tgtEl>
                                          <p:spTgt spid="2">
                                            <p:txEl>
                                              <p:pRg st="0" end="0"/>
                                            </p:txEl>
                                          </p:spTgt>
                                        </p:tgtEl>
                                        <p:attrNameLst>
                                          <p:attrName>style.visibility</p:attrName>
                                        </p:attrNameLst>
                                      </p:cBhvr>
                                      <p:to>
                                        <p:strVal val="visible"/>
                                      </p:to>
                                    </p:set>
                                  </p:childTnLst>
                                </p:cTn>
                              </p:par>
                              <p:par>
                                <p:cTn id="13" presetID="1" presetClass="entr" presetSubtype="0" fill="hold" nodeType="withEffect">
                                  <p:stCondLst>
                                    <p:cond delay="0"/>
                                  </p:stCondLst>
                                  <p:childTnLst>
                                    <p:set>
                                      <p:cBhvr>
                                        <p:cTn id="14" dur="1" fill="hold">
                                          <p:stCondLst>
                                            <p:cond delay="0"/>
                                          </p:stCondLst>
                                        </p:cTn>
                                        <p:tgtEl>
                                          <p:spTgt spid="2">
                                            <p:txEl>
                                              <p:pRg st="1" end="1"/>
                                            </p:txEl>
                                          </p:spTgt>
                                        </p:tgtEl>
                                        <p:attrNameLst>
                                          <p:attrName>style.visibility</p:attrName>
                                        </p:attrNameLst>
                                      </p:cBhvr>
                                      <p:to>
                                        <p:strVal val="visible"/>
                                      </p:to>
                                    </p:set>
                                  </p:childTnLst>
                                </p:cTn>
                              </p:par>
                            </p:childTnLst>
                          </p:cTn>
                        </p:par>
                      </p:childTnLst>
                    </p:cTn>
                  </p:par>
                </p:childTnLst>
              </p:cTn>
              <p:prevCondLst>
                <p:cond evt="onPrev" delay="0">
                  <p:tgtEl>
                    <p:sldTgt/>
                  </p:tgtEl>
                </p:cond>
              </p:prevCondLst>
              <p:nextCondLst>
                <p:cond evt="onNext" delay="0">
                  <p:tgtEl>
                    <p:sldTgt/>
                  </p:tgtEl>
                </p:cond>
              </p:nextCondLst>
            </p:seq>
          </p:childTnLst>
        </p:cTn>
      </p:par>
    </p:tnLst>
  </p:timing>
</p:sld>
</file>

<file path=ppt/slides/slide9.xml><?xml version="1.0" encoding="utf-8"?>
<p:sld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206DF80C-C4B2-CA2E-DC53-D014432A0FBB}"/>
            </a:ext>
          </a:extLst>
        </p:cNvPr>
        <p:cNvGrpSpPr/>
        <p:nvPr/>
      </p:nvGrpSpPr>
      <p:grpSpPr>
        <a:xfrm>
          <a:off x="0" y="0"/>
          <a:ext cx="0" cy="0"/>
          <a:chOff x="0" y="0"/>
          <a:chExt cx="0" cy="0"/>
        </a:xfrm>
      </p:grpSpPr>
      <p:sp>
        <p:nvSpPr>
          <p:cNvPr id="12" name="Text Placeholder 11">
            <a:extLst>
              <a:ext uri="{FF2B5EF4-FFF2-40B4-BE49-F238E27FC236}">
                <a16:creationId xmlns:a16="http://schemas.microsoft.com/office/drawing/2014/main" id="{53E3FAB3-0EAA-3876-F96C-F85CCCDCCDD7}"/>
              </a:ext>
            </a:extLst>
          </p:cNvPr>
          <p:cNvSpPr>
            <a:spLocks noGrp="1"/>
          </p:cNvSpPr>
          <p:nvPr>
            <p:ph type="body" sz="quarter" idx="10"/>
          </p:nvPr>
        </p:nvSpPr>
        <p:spPr/>
        <p:txBody>
          <a:bodyPr/>
          <a:lstStyle/>
          <a:p>
            <a:pPr algn="just"/>
            <a:r>
              <a:rPr lang="en-US" sz="1000" dirty="0">
                <a:hlinkClick r:id="rId2"/>
              </a:rPr>
              <a:t>General Availability - New SCIM 2.0 SAP CIS connector available, with support for group provisioning</a:t>
            </a:r>
            <a:endParaRPr lang="en-US" sz="1000" dirty="0"/>
          </a:p>
          <a:p>
            <a:pPr algn="just"/>
            <a:r>
              <a:rPr lang="en-US" sz="1000" dirty="0"/>
              <a:t>An updated SCIM 2.0 SAP Cloud Identity Services (CIS) connector was released to the Microsoft Entra app gallery on September 30, 2025. It </a:t>
            </a:r>
            <a:r>
              <a:rPr lang="en-US" sz="1000" b="1" dirty="0"/>
              <a:t>replaces previous SAP CIS provisioning integration and now provides support </a:t>
            </a:r>
            <a:r>
              <a:rPr lang="en-US" sz="1000" dirty="0"/>
              <a:t>for provisioning and deprovisioning groups to SAP CIS, custom extension attributes, and the OAuth 2.0 Client Credentials grant.</a:t>
            </a:r>
          </a:p>
        </p:txBody>
      </p:sp>
      <p:sp>
        <p:nvSpPr>
          <p:cNvPr id="11" name="Title 10">
            <a:extLst>
              <a:ext uri="{FF2B5EF4-FFF2-40B4-BE49-F238E27FC236}">
                <a16:creationId xmlns:a16="http://schemas.microsoft.com/office/drawing/2014/main" id="{F0B3E087-D7E0-A826-1AA8-170A462C1EA4}"/>
              </a:ext>
            </a:extLst>
          </p:cNvPr>
          <p:cNvSpPr>
            <a:spLocks noGrp="1"/>
          </p:cNvSpPr>
          <p:nvPr>
            <p:ph type="title"/>
          </p:nvPr>
        </p:nvSpPr>
        <p:spPr/>
        <p:txBody>
          <a:bodyPr/>
          <a:lstStyle/>
          <a:p>
            <a:r>
              <a:rPr lang="en-US" sz="1800" dirty="0"/>
              <a:t>Security &amp; Identity Updates (Entra ID Updates) - 5/7</a:t>
            </a:r>
            <a:endParaRPr lang="en-US" dirty="0"/>
          </a:p>
        </p:txBody>
      </p:sp>
      <p:sp>
        <p:nvSpPr>
          <p:cNvPr id="13" name="Text Placeholder 12">
            <a:extLst>
              <a:ext uri="{FF2B5EF4-FFF2-40B4-BE49-F238E27FC236}">
                <a16:creationId xmlns:a16="http://schemas.microsoft.com/office/drawing/2014/main" id="{7848980B-3A78-D666-3450-DFE397878148}"/>
              </a:ext>
            </a:extLst>
          </p:cNvPr>
          <p:cNvSpPr>
            <a:spLocks noGrp="1"/>
          </p:cNvSpPr>
          <p:nvPr>
            <p:ph type="body" sz="quarter" idx="15"/>
          </p:nvPr>
        </p:nvSpPr>
        <p:spPr/>
        <p:txBody>
          <a:bodyPr/>
          <a:lstStyle/>
          <a:p>
            <a:endParaRPr lang="en-US"/>
          </a:p>
        </p:txBody>
      </p:sp>
      <p:sp>
        <p:nvSpPr>
          <p:cNvPr id="14" name="Text Placeholder 13">
            <a:extLst>
              <a:ext uri="{FF2B5EF4-FFF2-40B4-BE49-F238E27FC236}">
                <a16:creationId xmlns:a16="http://schemas.microsoft.com/office/drawing/2014/main" id="{53B30361-210F-0C86-1A80-ECA062F48EE8}"/>
              </a:ext>
            </a:extLst>
          </p:cNvPr>
          <p:cNvSpPr>
            <a:spLocks noGrp="1"/>
          </p:cNvSpPr>
          <p:nvPr>
            <p:ph type="body" sz="quarter" idx="16"/>
          </p:nvPr>
        </p:nvSpPr>
        <p:spPr/>
        <p:txBody>
          <a:bodyPr/>
          <a:lstStyle/>
          <a:p>
            <a:pPr algn="just"/>
            <a:r>
              <a:rPr lang="en-US" dirty="0">
                <a:hlinkClick r:id="rId3"/>
              </a:rPr>
              <a:t>General Availability - External ID regional expansion to Australia and Japan</a:t>
            </a:r>
            <a:endParaRPr lang="en-US" dirty="0"/>
          </a:p>
          <a:p>
            <a:pPr algn="just"/>
            <a:r>
              <a:rPr lang="en-US" dirty="0"/>
              <a:t>MS extended Microsoft Entra External ID to </a:t>
            </a:r>
            <a:r>
              <a:rPr lang="en-US" b="1" dirty="0"/>
              <a:t>Australia</a:t>
            </a:r>
            <a:r>
              <a:rPr lang="en-US" dirty="0"/>
              <a:t> and </a:t>
            </a:r>
            <a:r>
              <a:rPr lang="en-US" b="1" dirty="0"/>
              <a:t>Japan</a:t>
            </a:r>
            <a:r>
              <a:rPr lang="en-US" dirty="0"/>
              <a:t> with </a:t>
            </a:r>
            <a:r>
              <a:rPr lang="en-US" b="1" dirty="0"/>
              <a:t>Go‑Local add‑on</a:t>
            </a:r>
            <a:r>
              <a:rPr lang="en-US" dirty="0"/>
              <a:t> that keeps External ID data </a:t>
            </a:r>
            <a:r>
              <a:rPr lang="en-US" b="1" dirty="0"/>
              <a:t>stored and processed in location</a:t>
            </a:r>
            <a:r>
              <a:rPr lang="en-US" dirty="0"/>
              <a:t>. This premium add‑on is selectable when you create a new External ID tenant and is designed for organizations with strict </a:t>
            </a:r>
            <a:r>
              <a:rPr lang="en-US" b="1" dirty="0"/>
              <a:t>data residency</a:t>
            </a:r>
            <a:r>
              <a:rPr lang="en-US" dirty="0"/>
              <a:t> requirements. A small set of centralized platform services remains global (e.g., some MFA/RBAC functions), with no change to security or compliance posture</a:t>
            </a:r>
          </a:p>
        </p:txBody>
      </p:sp>
    </p:spTree>
    <p:extLst>
      <p:ext uri="{BB962C8B-B14F-4D97-AF65-F5344CB8AC3E}">
        <p14:creationId xmlns:p14="http://schemas.microsoft.com/office/powerpoint/2010/main" val="1996926435"/>
      </p:ext>
    </p:extLst>
  </p:cSld>
  <p:clrMapOvr>
    <a:masterClrMapping/>
  </p:clrMapOvr>
  <mc:AlternateContent xmlns:mc="http://schemas.openxmlformats.org/markup-compatibility/2006" xmlns:p14="http://schemas.microsoft.com/office/powerpoint/2010/main">
    <mc:Choice Requires="p14">
      <p:transition spd="med" p14:dur="700">
        <p:fade/>
      </p:transition>
    </mc:Choice>
    <mc:Fallback xmlns="">
      <p:transition spd="med">
        <p:fade/>
      </p:transition>
    </mc:Fallback>
  </mc:AlternateContent>
  <p:timing>
    <p:tnLst>
      <p:par>
        <p:cTn id="1" dur="indefinite" restart="never" nodeType="tmRoot">
          <p:childTnLst>
            <p:seq concurrent="1" nextAc="seek">
              <p:cTn id="2" dur="indefinite" nodeType="mainSeq">
                <p:childTnLst>
                  <p:par>
                    <p:cTn id="3" fill="hold">
                      <p:stCondLst>
                        <p:cond delay="indefinite"/>
                      </p:stCondLst>
                      <p:childTnLst>
                        <p:par>
                          <p:cTn id="4" fill="hold">
                            <p:stCondLst>
                              <p:cond delay="0"/>
                            </p:stCondLst>
                            <p:childTnLst>
                              <p:par>
                                <p:cTn id="5" presetID="1" presetClass="entr" presetSubtype="0" fill="hold" nodeType="clickEffect">
                                  <p:stCondLst>
                                    <p:cond delay="0"/>
                                  </p:stCondLst>
                                  <p:childTnLst>
                                    <p:set>
                                      <p:cBhvr>
                                        <p:cTn id="6" dur="1" fill="hold">
                                          <p:stCondLst>
                                            <p:cond delay="0"/>
                                          </p:stCondLst>
                                        </p:cTn>
                                        <p:tgtEl>
                                          <p:spTgt spid="14">
                                            <p:txEl>
                                              <p:pRg st="0" end="0"/>
                                            </p:txEl>
                                          </p:spTgt>
                                        </p:tgtEl>
                                        <p:attrNameLst>
                                          <p:attrName>style.visibility</p:attrName>
                                        </p:attrNameLst>
                                      </p:cBhvr>
                                      <p:to>
                                        <p:strVal val="visible"/>
                                      </p:to>
                                    </p:set>
                                  </p:childTnLst>
                                </p:cTn>
                              </p:par>
                              <p:par>
                                <p:cTn id="7" presetID="1" presetClass="entr" presetSubtype="0" fill="hold" nodeType="withEffect">
                                  <p:stCondLst>
                                    <p:cond delay="0"/>
                                  </p:stCondLst>
                                  <p:childTnLst>
                                    <p:set>
                                      <p:cBhvr>
                                        <p:cTn id="8" dur="1" fill="hold">
                                          <p:stCondLst>
                                            <p:cond delay="0"/>
                                          </p:stCondLst>
                                        </p:cTn>
                                        <p:tgtEl>
                                          <p:spTgt spid="14">
                                            <p:txEl>
                                              <p:pRg st="1" end="1"/>
                                            </p:txEl>
                                          </p:spTgt>
                                        </p:tgtEl>
                                        <p:attrNameLst>
                                          <p:attrName>style.visibility</p:attrName>
                                        </p:attrNameLst>
                                      </p:cBhvr>
                                      <p:to>
                                        <p:strVal val="visible"/>
                                      </p:to>
                                    </p:set>
                                  </p:childTnLst>
                                </p:cTn>
                              </p:par>
                            </p:childTnLst>
                          </p:cTn>
                        </p:par>
                      </p:childTnLst>
                    </p:cTn>
                  </p:par>
                  <p:par>
                    <p:cTn id="9" fill="hold">
                      <p:stCondLst>
                        <p:cond delay="indefinite"/>
                      </p:stCondLst>
                      <p:childTnLst>
                        <p:par>
                          <p:cTn id="10" fill="hold">
                            <p:stCondLst>
                              <p:cond delay="0"/>
                            </p:stCondLst>
                            <p:childTnLst>
                              <p:par>
                                <p:cTn id="11" presetID="1" presetClass="entr" presetSubtype="0" fill="hold" nodeType="clickEffect">
                                  <p:stCondLst>
                                    <p:cond delay="0"/>
                                  </p:stCondLst>
                                  <p:childTnLst>
                                    <p:set>
                                      <p:cBhvr>
                                        <p:cTn id="12" dur="1" fill="hold">
                                          <p:stCondLst>
                                            <p:cond delay="0"/>
                                          </p:stCondLst>
                                        </p:cTn>
                                        <p:tgtEl>
                                          <p:spTgt spid="12">
                                            <p:txEl>
                                              <p:pRg st="0" end="0"/>
                                            </p:txEl>
                                          </p:spTgt>
                                        </p:tgtEl>
                                        <p:attrNameLst>
                                          <p:attrName>style.visibility</p:attrName>
                                        </p:attrNameLst>
                                      </p:cBhvr>
                                      <p:to>
                                        <p:strVal val="visible"/>
                                      </p:to>
                                    </p:set>
                                  </p:childTnLst>
                                </p:cTn>
                              </p:par>
                              <p:par>
                                <p:cTn id="13" presetID="1" presetClass="entr" presetSubtype="0" fill="hold" nodeType="withEffect">
                                  <p:stCondLst>
                                    <p:cond delay="0"/>
                                  </p:stCondLst>
                                  <p:childTnLst>
                                    <p:set>
                                      <p:cBhvr>
                                        <p:cTn id="14" dur="1" fill="hold">
                                          <p:stCondLst>
                                            <p:cond delay="0"/>
                                          </p:stCondLst>
                                        </p:cTn>
                                        <p:tgtEl>
                                          <p:spTgt spid="12">
                                            <p:txEl>
                                              <p:pRg st="1" end="1"/>
                                            </p:txEl>
                                          </p:spTgt>
                                        </p:tgtEl>
                                        <p:attrNameLst>
                                          <p:attrName>style.visibility</p:attrName>
                                        </p:attrNameLst>
                                      </p:cBhvr>
                                      <p:to>
                                        <p:strVal val="visible"/>
                                      </p:to>
                                    </p:set>
                                  </p:childTnLst>
                                </p:cTn>
                              </p:par>
                            </p:childTnLst>
                          </p:cTn>
                        </p:par>
                      </p:childTnLst>
                    </p:cTn>
                  </p:par>
                </p:childTnLst>
              </p:cTn>
              <p:prevCondLst>
                <p:cond evt="onPrev" delay="0">
                  <p:tgtEl>
                    <p:sldTgt/>
                  </p:tgtEl>
                </p:cond>
              </p:prevCondLst>
              <p:nextCondLst>
                <p:cond evt="onNext" delay="0">
                  <p:tgtEl>
                    <p:sldTgt/>
                  </p:tgtEl>
                </p:cond>
              </p:nextCondLst>
            </p:seq>
          </p:childTnLst>
        </p:cTn>
      </p:par>
    </p:tnLst>
  </p:timing>
</p:sld>
</file>

<file path=ppt/slides/slide10.xml><?xml version="1.0" encoding="utf-8"?>
<p:sld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F1CEDDB4-7621-798A-090B-3F48CD980D51}"/>
            </a:ext>
          </a:extLst>
        </p:cNvPr>
        <p:cNvGrpSpPr/>
        <p:nvPr/>
      </p:nvGrpSpPr>
      <p:grpSpPr>
        <a:xfrm>
          <a:off x="0" y="0"/>
          <a:ext cx="0" cy="0"/>
          <a:chOff x="0" y="0"/>
          <a:chExt cx="0" cy="0"/>
        </a:xfrm>
      </p:grpSpPr>
      <p:sp>
        <p:nvSpPr>
          <p:cNvPr id="12" name="Text Placeholder 11">
            <a:extLst>
              <a:ext uri="{FF2B5EF4-FFF2-40B4-BE49-F238E27FC236}">
                <a16:creationId xmlns:a16="http://schemas.microsoft.com/office/drawing/2014/main" id="{2EA49D73-280D-0307-3C1A-932883BD3815}"/>
              </a:ext>
            </a:extLst>
          </p:cNvPr>
          <p:cNvSpPr>
            <a:spLocks noGrp="1"/>
          </p:cNvSpPr>
          <p:nvPr>
            <p:ph type="body" sz="quarter" idx="10"/>
          </p:nvPr>
        </p:nvSpPr>
        <p:spPr/>
        <p:txBody>
          <a:bodyPr/>
          <a:lstStyle/>
          <a:p>
            <a:pPr algn="just"/>
            <a:r>
              <a:rPr lang="en-US" sz="1000" dirty="0">
                <a:hlinkClick r:id="rId2"/>
              </a:rPr>
              <a:t>General Availability - Reprocess failed users and workflows in Lifecycle Workflows</a:t>
            </a:r>
            <a:endParaRPr lang="en-US" sz="1000" dirty="0"/>
          </a:p>
          <a:p>
            <a:pPr algn="just"/>
            <a:r>
              <a:rPr lang="en-US" sz="1000" dirty="0"/>
              <a:t>Lifecycle Workflows now supports </a:t>
            </a:r>
            <a:r>
              <a:rPr lang="en-US" sz="1000" b="1" dirty="0"/>
              <a:t>reprocessing</a:t>
            </a:r>
            <a:r>
              <a:rPr lang="en-US" sz="1000" dirty="0"/>
              <a:t> of workflows to help organizations streamline the reprocessing of workflows when errors or failures are discovered. This feature includes the ability to reprocess previous runs of workflows including failed runs or just runs that you may want to process again. Customers can choose from the following options to fit their needs:</a:t>
            </a:r>
          </a:p>
          <a:p>
            <a:pPr marL="171450" indent="-171450" algn="just">
              <a:buFont typeface="Arial" panose="020B0604020202020204" pitchFamily="34" charset="0"/>
              <a:buChar char="•"/>
            </a:pPr>
            <a:r>
              <a:rPr lang="en-US" sz="1000" dirty="0"/>
              <a:t>Select specific workflow run to be reprocessed</a:t>
            </a:r>
          </a:p>
          <a:p>
            <a:pPr marL="171450" indent="-171450" algn="just">
              <a:buFont typeface="Arial" panose="020B0604020202020204" pitchFamily="34" charset="0"/>
              <a:buChar char="•"/>
            </a:pPr>
            <a:r>
              <a:rPr lang="en-US" sz="1000" dirty="0"/>
              <a:t>Select which users from the workflow run to be reprocessed e.g. failed users or all users from the run</a:t>
            </a:r>
          </a:p>
        </p:txBody>
      </p:sp>
      <p:sp>
        <p:nvSpPr>
          <p:cNvPr id="11" name="Title 10">
            <a:extLst>
              <a:ext uri="{FF2B5EF4-FFF2-40B4-BE49-F238E27FC236}">
                <a16:creationId xmlns:a16="http://schemas.microsoft.com/office/drawing/2014/main" id="{9812FFA8-51B7-6884-CF0E-C93CC8AFDF47}"/>
              </a:ext>
            </a:extLst>
          </p:cNvPr>
          <p:cNvSpPr>
            <a:spLocks noGrp="1"/>
          </p:cNvSpPr>
          <p:nvPr>
            <p:ph type="title"/>
          </p:nvPr>
        </p:nvSpPr>
        <p:spPr/>
        <p:txBody>
          <a:bodyPr/>
          <a:lstStyle/>
          <a:p>
            <a:r>
              <a:rPr lang="en-US" sz="1800" dirty="0"/>
              <a:t>Security &amp; Identity Updates (Entra ID Updates) - 6/7</a:t>
            </a:r>
            <a:endParaRPr lang="en-US" dirty="0"/>
          </a:p>
        </p:txBody>
      </p:sp>
      <p:sp>
        <p:nvSpPr>
          <p:cNvPr id="13" name="Text Placeholder 12">
            <a:extLst>
              <a:ext uri="{FF2B5EF4-FFF2-40B4-BE49-F238E27FC236}">
                <a16:creationId xmlns:a16="http://schemas.microsoft.com/office/drawing/2014/main" id="{181E9D90-FC8D-4BB4-1192-06287944D69A}"/>
              </a:ext>
            </a:extLst>
          </p:cNvPr>
          <p:cNvSpPr>
            <a:spLocks noGrp="1"/>
          </p:cNvSpPr>
          <p:nvPr>
            <p:ph type="body" sz="quarter" idx="15"/>
          </p:nvPr>
        </p:nvSpPr>
        <p:spPr/>
        <p:txBody>
          <a:bodyPr/>
          <a:lstStyle/>
          <a:p>
            <a:endParaRPr lang="en-US"/>
          </a:p>
        </p:txBody>
      </p:sp>
      <p:sp>
        <p:nvSpPr>
          <p:cNvPr id="14" name="Text Placeholder 13">
            <a:extLst>
              <a:ext uri="{FF2B5EF4-FFF2-40B4-BE49-F238E27FC236}">
                <a16:creationId xmlns:a16="http://schemas.microsoft.com/office/drawing/2014/main" id="{57653CBA-7798-1DDA-935D-84A87F7469B1}"/>
              </a:ext>
            </a:extLst>
          </p:cNvPr>
          <p:cNvSpPr>
            <a:spLocks noGrp="1"/>
          </p:cNvSpPr>
          <p:nvPr>
            <p:ph type="body" sz="quarter" idx="16"/>
          </p:nvPr>
        </p:nvSpPr>
        <p:spPr/>
        <p:txBody>
          <a:bodyPr/>
          <a:lstStyle/>
          <a:p>
            <a:pPr algn="just"/>
            <a:r>
              <a:rPr lang="en-US" dirty="0">
                <a:hlinkClick r:id="rId3"/>
              </a:rPr>
              <a:t>General Availability - Support for eligible group memberships and ownerships in Entitlement Management access packages</a:t>
            </a:r>
            <a:endParaRPr lang="en-US" dirty="0"/>
          </a:p>
          <a:p>
            <a:pPr algn="just"/>
            <a:r>
              <a:rPr lang="en-US" dirty="0"/>
              <a:t>This integration between </a:t>
            </a:r>
            <a:r>
              <a:rPr lang="en-US" b="1" dirty="0"/>
              <a:t>Entitlement Management and Privileged Identity Management (PIM) for Groups </a:t>
            </a:r>
            <a:r>
              <a:rPr lang="en-US" dirty="0"/>
              <a:t>adds support for assigning eligible group memberships and ownerships via access packages. You are now able to govern these just-in-time access assignments at scale by offering a self-service access request &amp; extension process and integrate them into your organization's role model. </a:t>
            </a:r>
          </a:p>
        </p:txBody>
      </p:sp>
    </p:spTree>
    <p:extLst>
      <p:ext uri="{BB962C8B-B14F-4D97-AF65-F5344CB8AC3E}">
        <p14:creationId xmlns:p14="http://schemas.microsoft.com/office/powerpoint/2010/main" val="3107719677"/>
      </p:ext>
    </p:extLst>
  </p:cSld>
  <p:clrMapOvr>
    <a:masterClrMapping/>
  </p:clrMapOvr>
  <mc:AlternateContent xmlns:mc="http://schemas.openxmlformats.org/markup-compatibility/2006" xmlns:p14="http://schemas.microsoft.com/office/powerpoint/2010/main">
    <mc:Choice Requires="p14">
      <p:transition spd="med" p14:dur="700">
        <p:fade/>
      </p:transition>
    </mc:Choice>
    <mc:Fallback xmlns="">
      <p:transition spd="med">
        <p:fade/>
      </p:transition>
    </mc:Fallback>
  </mc:AlternateContent>
  <p:timing>
    <p:tnLst>
      <p:par>
        <p:cTn id="1" dur="indefinite" restart="never" nodeType="tmRoot">
          <p:childTnLst>
            <p:seq concurrent="1" nextAc="seek">
              <p:cTn id="2" dur="indefinite" nodeType="mainSeq">
                <p:childTnLst>
                  <p:par>
                    <p:cTn id="3" fill="hold">
                      <p:stCondLst>
                        <p:cond delay="indefinite"/>
                      </p:stCondLst>
                      <p:childTnLst>
                        <p:par>
                          <p:cTn id="4" fill="hold">
                            <p:stCondLst>
                              <p:cond delay="0"/>
                            </p:stCondLst>
                            <p:childTnLst>
                              <p:par>
                                <p:cTn id="5" presetID="1" presetClass="entr" presetSubtype="0" fill="hold" nodeType="clickEffect">
                                  <p:stCondLst>
                                    <p:cond delay="0"/>
                                  </p:stCondLst>
                                  <p:childTnLst>
                                    <p:set>
                                      <p:cBhvr>
                                        <p:cTn id="6" dur="1" fill="hold">
                                          <p:stCondLst>
                                            <p:cond delay="0"/>
                                          </p:stCondLst>
                                        </p:cTn>
                                        <p:tgtEl>
                                          <p:spTgt spid="14">
                                            <p:txEl>
                                              <p:pRg st="0" end="0"/>
                                            </p:txEl>
                                          </p:spTgt>
                                        </p:tgtEl>
                                        <p:attrNameLst>
                                          <p:attrName>style.visibility</p:attrName>
                                        </p:attrNameLst>
                                      </p:cBhvr>
                                      <p:to>
                                        <p:strVal val="visible"/>
                                      </p:to>
                                    </p:set>
                                  </p:childTnLst>
                                </p:cTn>
                              </p:par>
                              <p:par>
                                <p:cTn id="7" presetID="1" presetClass="entr" presetSubtype="0" fill="hold" nodeType="withEffect">
                                  <p:stCondLst>
                                    <p:cond delay="0"/>
                                  </p:stCondLst>
                                  <p:childTnLst>
                                    <p:set>
                                      <p:cBhvr>
                                        <p:cTn id="8" dur="1" fill="hold">
                                          <p:stCondLst>
                                            <p:cond delay="0"/>
                                          </p:stCondLst>
                                        </p:cTn>
                                        <p:tgtEl>
                                          <p:spTgt spid="14">
                                            <p:txEl>
                                              <p:pRg st="1" end="1"/>
                                            </p:txEl>
                                          </p:spTgt>
                                        </p:tgtEl>
                                        <p:attrNameLst>
                                          <p:attrName>style.visibility</p:attrName>
                                        </p:attrNameLst>
                                      </p:cBhvr>
                                      <p:to>
                                        <p:strVal val="visible"/>
                                      </p:to>
                                    </p:set>
                                  </p:childTnLst>
                                </p:cTn>
                              </p:par>
                            </p:childTnLst>
                          </p:cTn>
                        </p:par>
                      </p:childTnLst>
                    </p:cTn>
                  </p:par>
                  <p:par>
                    <p:cTn id="9" fill="hold">
                      <p:stCondLst>
                        <p:cond delay="indefinite"/>
                      </p:stCondLst>
                      <p:childTnLst>
                        <p:par>
                          <p:cTn id="10" fill="hold">
                            <p:stCondLst>
                              <p:cond delay="0"/>
                            </p:stCondLst>
                            <p:childTnLst>
                              <p:par>
                                <p:cTn id="11" presetID="1" presetClass="entr" presetSubtype="0" fill="hold" nodeType="clickEffect">
                                  <p:stCondLst>
                                    <p:cond delay="0"/>
                                  </p:stCondLst>
                                  <p:childTnLst>
                                    <p:set>
                                      <p:cBhvr>
                                        <p:cTn id="12" dur="1" fill="hold">
                                          <p:stCondLst>
                                            <p:cond delay="0"/>
                                          </p:stCondLst>
                                        </p:cTn>
                                        <p:tgtEl>
                                          <p:spTgt spid="12">
                                            <p:txEl>
                                              <p:pRg st="0" end="0"/>
                                            </p:txEl>
                                          </p:spTgt>
                                        </p:tgtEl>
                                        <p:attrNameLst>
                                          <p:attrName>style.visibility</p:attrName>
                                        </p:attrNameLst>
                                      </p:cBhvr>
                                      <p:to>
                                        <p:strVal val="visible"/>
                                      </p:to>
                                    </p:set>
                                  </p:childTnLst>
                                </p:cTn>
                              </p:par>
                              <p:par>
                                <p:cTn id="13" presetID="1" presetClass="entr" presetSubtype="0" fill="hold" nodeType="withEffect">
                                  <p:stCondLst>
                                    <p:cond delay="0"/>
                                  </p:stCondLst>
                                  <p:childTnLst>
                                    <p:set>
                                      <p:cBhvr>
                                        <p:cTn id="14" dur="1" fill="hold">
                                          <p:stCondLst>
                                            <p:cond delay="0"/>
                                          </p:stCondLst>
                                        </p:cTn>
                                        <p:tgtEl>
                                          <p:spTgt spid="12">
                                            <p:txEl>
                                              <p:pRg st="1" end="1"/>
                                            </p:txEl>
                                          </p:spTgt>
                                        </p:tgtEl>
                                        <p:attrNameLst>
                                          <p:attrName>style.visibility</p:attrName>
                                        </p:attrNameLst>
                                      </p:cBhvr>
                                      <p:to>
                                        <p:strVal val="visible"/>
                                      </p:to>
                                    </p:set>
                                  </p:childTnLst>
                                </p:cTn>
                              </p:par>
                              <p:par>
                                <p:cTn id="15" presetID="1" presetClass="entr" presetSubtype="0" fill="hold" nodeType="withEffect">
                                  <p:stCondLst>
                                    <p:cond delay="0"/>
                                  </p:stCondLst>
                                  <p:childTnLst>
                                    <p:set>
                                      <p:cBhvr>
                                        <p:cTn id="16" dur="1" fill="hold">
                                          <p:stCondLst>
                                            <p:cond delay="0"/>
                                          </p:stCondLst>
                                        </p:cTn>
                                        <p:tgtEl>
                                          <p:spTgt spid="12">
                                            <p:txEl>
                                              <p:pRg st="2" end="2"/>
                                            </p:txEl>
                                          </p:spTgt>
                                        </p:tgtEl>
                                        <p:attrNameLst>
                                          <p:attrName>style.visibility</p:attrName>
                                        </p:attrNameLst>
                                      </p:cBhvr>
                                      <p:to>
                                        <p:strVal val="visible"/>
                                      </p:to>
                                    </p:set>
                                  </p:childTnLst>
                                </p:cTn>
                              </p:par>
                              <p:par>
                                <p:cTn id="17" presetID="1" presetClass="entr" presetSubtype="0" fill="hold" nodeType="withEffect">
                                  <p:stCondLst>
                                    <p:cond delay="0"/>
                                  </p:stCondLst>
                                  <p:childTnLst>
                                    <p:set>
                                      <p:cBhvr>
                                        <p:cTn id="18" dur="1" fill="hold">
                                          <p:stCondLst>
                                            <p:cond delay="0"/>
                                          </p:stCondLst>
                                        </p:cTn>
                                        <p:tgtEl>
                                          <p:spTgt spid="12">
                                            <p:txEl>
                                              <p:pRg st="3" end="3"/>
                                            </p:txEl>
                                          </p:spTgt>
                                        </p:tgtEl>
                                        <p:attrNameLst>
                                          <p:attrName>style.visibility</p:attrName>
                                        </p:attrNameLst>
                                      </p:cBhvr>
                                      <p:to>
                                        <p:strVal val="visible"/>
                                      </p:to>
                                    </p:set>
                                  </p:childTnLst>
                                </p:cTn>
                              </p:par>
                            </p:childTnLst>
                          </p:cTn>
                        </p:par>
                      </p:childTnLst>
                    </p:cTn>
                  </p:par>
                </p:childTnLst>
              </p:cTn>
              <p:prevCondLst>
                <p:cond evt="onPrev" delay="0">
                  <p:tgtEl>
                    <p:sldTgt/>
                  </p:tgtEl>
                </p:cond>
              </p:prevCondLst>
              <p:nextCondLst>
                <p:cond evt="onNext" delay="0">
                  <p:tgtEl>
                    <p:sldTgt/>
                  </p:tgtEl>
                </p:cond>
              </p:nextCondLst>
            </p:seq>
          </p:childTnLst>
        </p:cTn>
      </p:par>
    </p:tnLst>
  </p:timing>
</p:sld>
</file>

<file path=ppt/slides/slide11.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ext Placeholder 1">
            <a:extLst>
              <a:ext uri="{FF2B5EF4-FFF2-40B4-BE49-F238E27FC236}">
                <a16:creationId xmlns:a16="http://schemas.microsoft.com/office/drawing/2014/main" id="{6B403F52-11C1-4CAC-30C6-9FA9F7EF2EC4}"/>
              </a:ext>
            </a:extLst>
          </p:cNvPr>
          <p:cNvSpPr>
            <a:spLocks noGrp="1"/>
          </p:cNvSpPr>
          <p:nvPr>
            <p:ph type="body" sz="quarter" idx="10"/>
          </p:nvPr>
        </p:nvSpPr>
        <p:spPr/>
        <p:txBody>
          <a:bodyPr/>
          <a:lstStyle/>
          <a:p>
            <a:pPr algn="just"/>
            <a:r>
              <a:rPr lang="en-US" sz="1000" dirty="0">
                <a:hlinkClick r:id="rId2"/>
              </a:rPr>
              <a:t>General Availability - Trigger workflows for inactive employees and guests in Lifecycle Workflows</a:t>
            </a:r>
            <a:endParaRPr lang="en-US" sz="1000" dirty="0"/>
          </a:p>
          <a:p>
            <a:pPr algn="just"/>
            <a:r>
              <a:rPr lang="en-US" sz="1000" dirty="0"/>
              <a:t>Lifecycle Workflows now enables customers to configure custom workflows to proactively manage dormant user accounts by automating </a:t>
            </a:r>
            <a:r>
              <a:rPr lang="en-US" sz="1000" b="1" dirty="0"/>
              <a:t>identity lifecycle actions based on sign‑in inactivity. By detecting inactivity, the </a:t>
            </a:r>
            <a:r>
              <a:rPr lang="en-US" sz="1000" dirty="0"/>
              <a:t>workflow automatically executes predefined tasks—such as sending notifications, disabling accounts, or initiating offboarding—when users exceed the inactivity threshold. Admins can configure the inactivity threshold and scope, ensuring dormant accounts are handled efficiently and consistently — reducing security exposure, reducing license waste, and enforcing governance policies at scale.</a:t>
            </a:r>
          </a:p>
        </p:txBody>
      </p:sp>
      <p:sp>
        <p:nvSpPr>
          <p:cNvPr id="3" name="Title 2">
            <a:extLst>
              <a:ext uri="{FF2B5EF4-FFF2-40B4-BE49-F238E27FC236}">
                <a16:creationId xmlns:a16="http://schemas.microsoft.com/office/drawing/2014/main" id="{6B536DDF-2802-660F-B5CD-53A48944B375}"/>
              </a:ext>
            </a:extLst>
          </p:cNvPr>
          <p:cNvSpPr>
            <a:spLocks noGrp="1"/>
          </p:cNvSpPr>
          <p:nvPr>
            <p:ph type="title"/>
          </p:nvPr>
        </p:nvSpPr>
        <p:spPr/>
        <p:txBody>
          <a:bodyPr/>
          <a:lstStyle/>
          <a:p>
            <a:r>
              <a:rPr lang="en-US" sz="1600" dirty="0"/>
              <a:t>Security &amp; Identity Updates (Entra ID Updates) - 7/7</a:t>
            </a:r>
            <a:endParaRPr lang="en-US" dirty="0"/>
          </a:p>
        </p:txBody>
      </p:sp>
      <p:sp>
        <p:nvSpPr>
          <p:cNvPr id="4" name="Text Placeholder 3">
            <a:extLst>
              <a:ext uri="{FF2B5EF4-FFF2-40B4-BE49-F238E27FC236}">
                <a16:creationId xmlns:a16="http://schemas.microsoft.com/office/drawing/2014/main" id="{5006E63A-714E-7FBF-98A3-004027AEEDE0}"/>
              </a:ext>
            </a:extLst>
          </p:cNvPr>
          <p:cNvSpPr>
            <a:spLocks noGrp="1"/>
          </p:cNvSpPr>
          <p:nvPr>
            <p:ph type="body" sz="quarter" idx="15"/>
          </p:nvPr>
        </p:nvSpPr>
        <p:spPr/>
        <p:txBody>
          <a:bodyPr/>
          <a:lstStyle/>
          <a:p>
            <a:endParaRPr lang="en-US"/>
          </a:p>
        </p:txBody>
      </p:sp>
      <p:sp>
        <p:nvSpPr>
          <p:cNvPr id="5" name="Text Placeholder 4">
            <a:extLst>
              <a:ext uri="{FF2B5EF4-FFF2-40B4-BE49-F238E27FC236}">
                <a16:creationId xmlns:a16="http://schemas.microsoft.com/office/drawing/2014/main" id="{6E67A4DC-8852-FC09-B5BE-BDF4DF298EDC}"/>
              </a:ext>
            </a:extLst>
          </p:cNvPr>
          <p:cNvSpPr>
            <a:spLocks noGrp="1"/>
          </p:cNvSpPr>
          <p:nvPr>
            <p:ph type="body" sz="quarter" idx="16"/>
          </p:nvPr>
        </p:nvSpPr>
        <p:spPr/>
        <p:txBody>
          <a:bodyPr/>
          <a:lstStyle/>
          <a:p>
            <a:pPr algn="just"/>
            <a:r>
              <a:rPr lang="en-US" dirty="0">
                <a:hlinkClick r:id="rId3"/>
              </a:rPr>
              <a:t>General Availability - Groups Purview sensitivity label support in Lifecycle Workflows</a:t>
            </a:r>
            <a:endParaRPr lang="en-US" dirty="0"/>
          </a:p>
          <a:p>
            <a:pPr algn="just"/>
            <a:r>
              <a:rPr lang="en-US" dirty="0"/>
              <a:t>Customers can now view </a:t>
            </a:r>
            <a:r>
              <a:rPr lang="en-US" b="1" dirty="0"/>
              <a:t>Purview sensitivity labels </a:t>
            </a:r>
            <a:r>
              <a:rPr lang="en-US" dirty="0"/>
              <a:t>assigned to groups and Teams in Lifecycle Workflows. When configuring workflow tasks for managing group or Teams assignments, admins will now see actively assigned sensitivity labels to support informed group selection decisions. This helps customer achieve stronger organizational compliance</a:t>
            </a:r>
          </a:p>
        </p:txBody>
      </p:sp>
    </p:spTree>
    <p:extLst>
      <p:ext uri="{BB962C8B-B14F-4D97-AF65-F5344CB8AC3E}">
        <p14:creationId xmlns:p14="http://schemas.microsoft.com/office/powerpoint/2010/main" val="2632311441"/>
      </p:ext>
    </p:extLst>
  </p:cSld>
  <p:clrMapOvr>
    <a:masterClrMapping/>
  </p:clrMapOvr>
  <p:timing>
    <p:tnLst>
      <p:par>
        <p:cTn id="1" dur="indefinite" restart="never" nodeType="tmRoot">
          <p:childTnLst>
            <p:seq concurrent="1" nextAc="seek">
              <p:cTn id="2" dur="indefinite" nodeType="mainSeq">
                <p:childTnLst>
                  <p:par>
                    <p:cTn id="3" fill="hold">
                      <p:stCondLst>
                        <p:cond delay="indefinite"/>
                      </p:stCondLst>
                      <p:childTnLst>
                        <p:par>
                          <p:cTn id="4" fill="hold">
                            <p:stCondLst>
                              <p:cond delay="0"/>
                            </p:stCondLst>
                            <p:childTnLst>
                              <p:par>
                                <p:cTn id="5" presetID="1" presetClass="entr" presetSubtype="0" fill="hold" nodeType="clickEffect">
                                  <p:stCondLst>
                                    <p:cond delay="0"/>
                                  </p:stCondLst>
                                  <p:childTnLst>
                                    <p:set>
                                      <p:cBhvr>
                                        <p:cTn id="6" dur="1" fill="hold">
                                          <p:stCondLst>
                                            <p:cond delay="0"/>
                                          </p:stCondLst>
                                        </p:cTn>
                                        <p:tgtEl>
                                          <p:spTgt spid="5">
                                            <p:txEl>
                                              <p:pRg st="0" end="0"/>
                                            </p:txEl>
                                          </p:spTgt>
                                        </p:tgtEl>
                                        <p:attrNameLst>
                                          <p:attrName>style.visibility</p:attrName>
                                        </p:attrNameLst>
                                      </p:cBhvr>
                                      <p:to>
                                        <p:strVal val="visible"/>
                                      </p:to>
                                    </p:set>
                                  </p:childTnLst>
                                </p:cTn>
                              </p:par>
                              <p:par>
                                <p:cTn id="7" presetID="1" presetClass="entr" presetSubtype="0" fill="hold" nodeType="withEffect">
                                  <p:stCondLst>
                                    <p:cond delay="0"/>
                                  </p:stCondLst>
                                  <p:childTnLst>
                                    <p:set>
                                      <p:cBhvr>
                                        <p:cTn id="8" dur="1" fill="hold">
                                          <p:stCondLst>
                                            <p:cond delay="0"/>
                                          </p:stCondLst>
                                        </p:cTn>
                                        <p:tgtEl>
                                          <p:spTgt spid="5">
                                            <p:txEl>
                                              <p:pRg st="1" end="1"/>
                                            </p:txEl>
                                          </p:spTgt>
                                        </p:tgtEl>
                                        <p:attrNameLst>
                                          <p:attrName>style.visibility</p:attrName>
                                        </p:attrNameLst>
                                      </p:cBhvr>
                                      <p:to>
                                        <p:strVal val="visible"/>
                                      </p:to>
                                    </p:set>
                                  </p:childTnLst>
                                </p:cTn>
                              </p:par>
                            </p:childTnLst>
                          </p:cTn>
                        </p:par>
                      </p:childTnLst>
                    </p:cTn>
                  </p:par>
                  <p:par>
                    <p:cTn id="9" fill="hold">
                      <p:stCondLst>
                        <p:cond delay="indefinite"/>
                      </p:stCondLst>
                      <p:childTnLst>
                        <p:par>
                          <p:cTn id="10" fill="hold">
                            <p:stCondLst>
                              <p:cond delay="0"/>
                            </p:stCondLst>
                            <p:childTnLst>
                              <p:par>
                                <p:cTn id="11" presetID="1" presetClass="entr" presetSubtype="0" fill="hold" nodeType="clickEffect">
                                  <p:stCondLst>
                                    <p:cond delay="0"/>
                                  </p:stCondLst>
                                  <p:childTnLst>
                                    <p:set>
                                      <p:cBhvr>
                                        <p:cTn id="12" dur="1" fill="hold">
                                          <p:stCondLst>
                                            <p:cond delay="0"/>
                                          </p:stCondLst>
                                        </p:cTn>
                                        <p:tgtEl>
                                          <p:spTgt spid="2">
                                            <p:txEl>
                                              <p:pRg st="0" end="0"/>
                                            </p:txEl>
                                          </p:spTgt>
                                        </p:tgtEl>
                                        <p:attrNameLst>
                                          <p:attrName>style.visibility</p:attrName>
                                        </p:attrNameLst>
                                      </p:cBhvr>
                                      <p:to>
                                        <p:strVal val="visible"/>
                                      </p:to>
                                    </p:set>
                                  </p:childTnLst>
                                </p:cTn>
                              </p:par>
                              <p:par>
                                <p:cTn id="13" presetID="1" presetClass="entr" presetSubtype="0" fill="hold" nodeType="withEffect">
                                  <p:stCondLst>
                                    <p:cond delay="0"/>
                                  </p:stCondLst>
                                  <p:childTnLst>
                                    <p:set>
                                      <p:cBhvr>
                                        <p:cTn id="14" dur="1" fill="hold">
                                          <p:stCondLst>
                                            <p:cond delay="0"/>
                                          </p:stCondLst>
                                        </p:cTn>
                                        <p:tgtEl>
                                          <p:spTgt spid="2">
                                            <p:txEl>
                                              <p:pRg st="1" end="1"/>
                                            </p:txEl>
                                          </p:spTgt>
                                        </p:tgtEl>
                                        <p:attrNameLst>
                                          <p:attrName>style.visibility</p:attrName>
                                        </p:attrNameLst>
                                      </p:cBhvr>
                                      <p:to>
                                        <p:strVal val="visible"/>
                                      </p:to>
                                    </p:set>
                                  </p:childTnLst>
                                </p:cTn>
                              </p:par>
                            </p:childTnLst>
                          </p:cTn>
                        </p:par>
                      </p:childTnLst>
                    </p:cTn>
                  </p:par>
                </p:childTnLst>
              </p:cTn>
              <p:prevCondLst>
                <p:cond evt="onPrev" delay="0">
                  <p:tgtEl>
                    <p:sldTgt/>
                  </p:tgtEl>
                </p:cond>
              </p:prevCondLst>
              <p:nextCondLst>
                <p:cond evt="onNext" delay="0">
                  <p:tgtEl>
                    <p:sldTgt/>
                  </p:tgtEl>
                </p:cond>
              </p:nextCondLst>
            </p:seq>
          </p:childTnLst>
        </p:cTn>
      </p:par>
    </p:tnLst>
  </p:timing>
</p:sld>
</file>

<file path=ppt/slides/slide12.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ext Placeholder 1">
            <a:extLst>
              <a:ext uri="{FF2B5EF4-FFF2-40B4-BE49-F238E27FC236}">
                <a16:creationId xmlns:a16="http://schemas.microsoft.com/office/drawing/2014/main" id="{8D4D1ABF-C1D8-98C7-6B1C-3E26D73C1C81}"/>
              </a:ext>
            </a:extLst>
          </p:cNvPr>
          <p:cNvSpPr>
            <a:spLocks noGrp="1"/>
          </p:cNvSpPr>
          <p:nvPr>
            <p:ph type="body" sz="quarter" idx="10"/>
          </p:nvPr>
        </p:nvSpPr>
        <p:spPr/>
        <p:txBody>
          <a:bodyPr/>
          <a:lstStyle/>
          <a:p>
            <a:pPr algn="just"/>
            <a:r>
              <a:rPr lang="en-US" sz="1000" dirty="0">
                <a:hlinkClick r:id="rId2"/>
              </a:rPr>
              <a:t>In-pipeline container vulnerability scanning (preview)</a:t>
            </a:r>
            <a:endParaRPr lang="en-US" sz="1000" dirty="0"/>
          </a:p>
          <a:p>
            <a:pPr algn="just"/>
            <a:r>
              <a:rPr lang="en-US" sz="1000" dirty="0"/>
              <a:t>In-pipeline container vulnerability scanning for Defender for DevOps Security is now available in preview through the Defender for Cloud CLI.</a:t>
            </a:r>
          </a:p>
          <a:p>
            <a:pPr algn="just"/>
            <a:r>
              <a:rPr lang="en-US" sz="1000" dirty="0"/>
              <a:t>Scanning built container images directly within CI/CD workflows provides real-time feedback before they're pushed to registries or deployed. This feature helps you detect vulnerabilities earlier, accelerate remediation, and align security gates with DevOps practices.</a:t>
            </a:r>
          </a:p>
        </p:txBody>
      </p:sp>
      <p:sp>
        <p:nvSpPr>
          <p:cNvPr id="3" name="Title 2">
            <a:extLst>
              <a:ext uri="{FF2B5EF4-FFF2-40B4-BE49-F238E27FC236}">
                <a16:creationId xmlns:a16="http://schemas.microsoft.com/office/drawing/2014/main" id="{8AF517E3-20D8-A0D8-5B9F-1433DBD96233}"/>
              </a:ext>
            </a:extLst>
          </p:cNvPr>
          <p:cNvSpPr>
            <a:spLocks noGrp="1"/>
          </p:cNvSpPr>
          <p:nvPr>
            <p:ph type="title"/>
          </p:nvPr>
        </p:nvSpPr>
        <p:spPr/>
        <p:txBody>
          <a:bodyPr/>
          <a:lstStyle/>
          <a:p>
            <a:r>
              <a:rPr lang="en-US" sz="1800" dirty="0"/>
              <a:t>Security &amp; Identity Updates (Defender for Cloud) – 1/5</a:t>
            </a:r>
            <a:endParaRPr lang="en-US" dirty="0"/>
          </a:p>
        </p:txBody>
      </p:sp>
      <p:sp>
        <p:nvSpPr>
          <p:cNvPr id="4" name="Text Placeholder 3">
            <a:extLst>
              <a:ext uri="{FF2B5EF4-FFF2-40B4-BE49-F238E27FC236}">
                <a16:creationId xmlns:a16="http://schemas.microsoft.com/office/drawing/2014/main" id="{1EFF4E29-3538-F522-EE95-AF99E0BB5106}"/>
              </a:ext>
            </a:extLst>
          </p:cNvPr>
          <p:cNvSpPr>
            <a:spLocks noGrp="1"/>
          </p:cNvSpPr>
          <p:nvPr>
            <p:ph type="body" sz="quarter" idx="15"/>
          </p:nvPr>
        </p:nvSpPr>
        <p:spPr/>
        <p:txBody>
          <a:bodyPr/>
          <a:lstStyle/>
          <a:p>
            <a:endParaRPr lang="en-US"/>
          </a:p>
        </p:txBody>
      </p:sp>
      <p:sp>
        <p:nvSpPr>
          <p:cNvPr id="5" name="Text Placeholder 4">
            <a:extLst>
              <a:ext uri="{FF2B5EF4-FFF2-40B4-BE49-F238E27FC236}">
                <a16:creationId xmlns:a16="http://schemas.microsoft.com/office/drawing/2014/main" id="{6983899F-CE8E-5BA9-FACD-F069BC6C8535}"/>
              </a:ext>
            </a:extLst>
          </p:cNvPr>
          <p:cNvSpPr>
            <a:spLocks noGrp="1"/>
          </p:cNvSpPr>
          <p:nvPr>
            <p:ph type="body" sz="quarter" idx="16"/>
          </p:nvPr>
        </p:nvSpPr>
        <p:spPr/>
        <p:txBody>
          <a:bodyPr/>
          <a:lstStyle/>
          <a:p>
            <a:pPr algn="just"/>
            <a:r>
              <a:rPr lang="en-US" dirty="0">
                <a:hlinkClick r:id="rId3"/>
              </a:rPr>
              <a:t>Discover Azure AI Foundry agents in your environment (Preview)</a:t>
            </a:r>
            <a:endParaRPr lang="en-US" dirty="0"/>
          </a:p>
          <a:p>
            <a:pPr algn="just"/>
            <a:r>
              <a:rPr lang="en-US" dirty="0"/>
              <a:t>It is now possible to discover </a:t>
            </a:r>
            <a:r>
              <a:rPr lang="en-US" b="1" dirty="0"/>
              <a:t>Azure AI Foundry </a:t>
            </a:r>
            <a:r>
              <a:rPr lang="en-US" dirty="0"/>
              <a:t>agents in environment using Defender for Cloud. This new preview feature helps you identify and monitor AI Foundry agents deployed across your resources, providing insights into their security posture and risks.</a:t>
            </a:r>
          </a:p>
        </p:txBody>
      </p:sp>
    </p:spTree>
    <p:extLst>
      <p:ext uri="{BB962C8B-B14F-4D97-AF65-F5344CB8AC3E}">
        <p14:creationId xmlns:p14="http://schemas.microsoft.com/office/powerpoint/2010/main" val="3584016271"/>
      </p:ext>
    </p:extLst>
  </p:cSld>
  <p:clrMapOvr>
    <a:masterClrMapping/>
  </p:clrMapOvr>
  <p:timing>
    <p:tnLst>
      <p:par>
        <p:cTn id="1" dur="indefinite" restart="never" nodeType="tmRoot">
          <p:childTnLst>
            <p:seq concurrent="1" nextAc="seek">
              <p:cTn id="2" dur="indefinite" nodeType="mainSeq">
                <p:childTnLst>
                  <p:par>
                    <p:cTn id="3" fill="hold">
                      <p:stCondLst>
                        <p:cond delay="indefinite"/>
                      </p:stCondLst>
                      <p:childTnLst>
                        <p:par>
                          <p:cTn id="4" fill="hold">
                            <p:stCondLst>
                              <p:cond delay="0"/>
                            </p:stCondLst>
                            <p:childTnLst>
                              <p:par>
                                <p:cTn id="5" presetID="1" presetClass="entr" presetSubtype="0" fill="hold" nodeType="clickEffect">
                                  <p:stCondLst>
                                    <p:cond delay="0"/>
                                  </p:stCondLst>
                                  <p:childTnLst>
                                    <p:set>
                                      <p:cBhvr>
                                        <p:cTn id="6" dur="1" fill="hold">
                                          <p:stCondLst>
                                            <p:cond delay="0"/>
                                          </p:stCondLst>
                                        </p:cTn>
                                        <p:tgtEl>
                                          <p:spTgt spid="5">
                                            <p:txEl>
                                              <p:pRg st="0" end="0"/>
                                            </p:txEl>
                                          </p:spTgt>
                                        </p:tgtEl>
                                        <p:attrNameLst>
                                          <p:attrName>style.visibility</p:attrName>
                                        </p:attrNameLst>
                                      </p:cBhvr>
                                      <p:to>
                                        <p:strVal val="visible"/>
                                      </p:to>
                                    </p:set>
                                  </p:childTnLst>
                                </p:cTn>
                              </p:par>
                              <p:par>
                                <p:cTn id="7" presetID="1" presetClass="entr" presetSubtype="0" fill="hold" nodeType="withEffect">
                                  <p:stCondLst>
                                    <p:cond delay="0"/>
                                  </p:stCondLst>
                                  <p:childTnLst>
                                    <p:set>
                                      <p:cBhvr>
                                        <p:cTn id="8" dur="1" fill="hold">
                                          <p:stCondLst>
                                            <p:cond delay="0"/>
                                          </p:stCondLst>
                                        </p:cTn>
                                        <p:tgtEl>
                                          <p:spTgt spid="5">
                                            <p:txEl>
                                              <p:pRg st="1" end="1"/>
                                            </p:txEl>
                                          </p:spTgt>
                                        </p:tgtEl>
                                        <p:attrNameLst>
                                          <p:attrName>style.visibility</p:attrName>
                                        </p:attrNameLst>
                                      </p:cBhvr>
                                      <p:to>
                                        <p:strVal val="visible"/>
                                      </p:to>
                                    </p:set>
                                  </p:childTnLst>
                                </p:cTn>
                              </p:par>
                            </p:childTnLst>
                          </p:cTn>
                        </p:par>
                      </p:childTnLst>
                    </p:cTn>
                  </p:par>
                  <p:par>
                    <p:cTn id="9" fill="hold">
                      <p:stCondLst>
                        <p:cond delay="indefinite"/>
                      </p:stCondLst>
                      <p:childTnLst>
                        <p:par>
                          <p:cTn id="10" fill="hold">
                            <p:stCondLst>
                              <p:cond delay="0"/>
                            </p:stCondLst>
                            <p:childTnLst>
                              <p:par>
                                <p:cTn id="11" presetID="1" presetClass="entr" presetSubtype="0" fill="hold" nodeType="clickEffect">
                                  <p:stCondLst>
                                    <p:cond delay="0"/>
                                  </p:stCondLst>
                                  <p:childTnLst>
                                    <p:set>
                                      <p:cBhvr>
                                        <p:cTn id="12" dur="1" fill="hold">
                                          <p:stCondLst>
                                            <p:cond delay="0"/>
                                          </p:stCondLst>
                                        </p:cTn>
                                        <p:tgtEl>
                                          <p:spTgt spid="2">
                                            <p:txEl>
                                              <p:pRg st="0" end="0"/>
                                            </p:txEl>
                                          </p:spTgt>
                                        </p:tgtEl>
                                        <p:attrNameLst>
                                          <p:attrName>style.visibility</p:attrName>
                                        </p:attrNameLst>
                                      </p:cBhvr>
                                      <p:to>
                                        <p:strVal val="visible"/>
                                      </p:to>
                                    </p:set>
                                  </p:childTnLst>
                                </p:cTn>
                              </p:par>
                              <p:par>
                                <p:cTn id="13" presetID="1" presetClass="entr" presetSubtype="0" fill="hold" nodeType="withEffect">
                                  <p:stCondLst>
                                    <p:cond delay="0"/>
                                  </p:stCondLst>
                                  <p:childTnLst>
                                    <p:set>
                                      <p:cBhvr>
                                        <p:cTn id="14" dur="1" fill="hold">
                                          <p:stCondLst>
                                            <p:cond delay="0"/>
                                          </p:stCondLst>
                                        </p:cTn>
                                        <p:tgtEl>
                                          <p:spTgt spid="2">
                                            <p:txEl>
                                              <p:pRg st="1" end="1"/>
                                            </p:txEl>
                                          </p:spTgt>
                                        </p:tgtEl>
                                        <p:attrNameLst>
                                          <p:attrName>style.visibility</p:attrName>
                                        </p:attrNameLst>
                                      </p:cBhvr>
                                      <p:to>
                                        <p:strVal val="visible"/>
                                      </p:to>
                                    </p:set>
                                  </p:childTnLst>
                                </p:cTn>
                              </p:par>
                              <p:par>
                                <p:cTn id="15" presetID="1" presetClass="entr" presetSubtype="0" fill="hold" nodeType="withEffect">
                                  <p:stCondLst>
                                    <p:cond delay="0"/>
                                  </p:stCondLst>
                                  <p:childTnLst>
                                    <p:set>
                                      <p:cBhvr>
                                        <p:cTn id="16" dur="1" fill="hold">
                                          <p:stCondLst>
                                            <p:cond delay="0"/>
                                          </p:stCondLst>
                                        </p:cTn>
                                        <p:tgtEl>
                                          <p:spTgt spid="2">
                                            <p:txEl>
                                              <p:pRg st="2" end="2"/>
                                            </p:txEl>
                                          </p:spTgt>
                                        </p:tgtEl>
                                        <p:attrNameLst>
                                          <p:attrName>style.visibility</p:attrName>
                                        </p:attrNameLst>
                                      </p:cBhvr>
                                      <p:to>
                                        <p:strVal val="visible"/>
                                      </p:to>
                                    </p:set>
                                  </p:childTnLst>
                                </p:cTn>
                              </p:par>
                            </p:childTnLst>
                          </p:cTn>
                        </p:par>
                      </p:childTnLst>
                    </p:cTn>
                  </p:par>
                </p:childTnLst>
              </p:cTn>
              <p:prevCondLst>
                <p:cond evt="onPrev" delay="0">
                  <p:tgtEl>
                    <p:sldTgt/>
                  </p:tgtEl>
                </p:cond>
              </p:prevCondLst>
              <p:nextCondLst>
                <p:cond evt="onNext" delay="0">
                  <p:tgtEl>
                    <p:sldTgt/>
                  </p:tgtEl>
                </p:cond>
              </p:nextCondLst>
            </p:seq>
          </p:childTnLst>
        </p:cTn>
      </p:par>
    </p:tnLst>
  </p:timing>
</p:sld>
</file>

<file path=ppt/slides/slide13.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ext Placeholder 1">
            <a:extLst>
              <a:ext uri="{FF2B5EF4-FFF2-40B4-BE49-F238E27FC236}">
                <a16:creationId xmlns:a16="http://schemas.microsoft.com/office/drawing/2014/main" id="{ED267132-6177-EC5D-33D6-686B31298813}"/>
              </a:ext>
            </a:extLst>
          </p:cNvPr>
          <p:cNvSpPr>
            <a:spLocks noGrp="1"/>
          </p:cNvSpPr>
          <p:nvPr>
            <p:ph type="body" sz="quarter" idx="10"/>
          </p:nvPr>
        </p:nvSpPr>
        <p:spPr/>
        <p:txBody>
          <a:bodyPr/>
          <a:lstStyle/>
          <a:p>
            <a:pPr algn="just"/>
            <a:r>
              <a:rPr lang="en-US" sz="1000" dirty="0">
                <a:hlinkClick r:id="rId2"/>
              </a:rPr>
              <a:t>Microsoft Cloud Security Benchmark v2 in Defender for Cloud (Preview)</a:t>
            </a:r>
            <a:endParaRPr lang="en-US" sz="1000" dirty="0"/>
          </a:p>
          <a:p>
            <a:pPr algn="just"/>
            <a:r>
              <a:rPr lang="en-US" sz="1000" dirty="0"/>
              <a:t>Defender for Cloud is announcing the </a:t>
            </a:r>
            <a:r>
              <a:rPr lang="en-US" sz="1000" b="1" dirty="0"/>
              <a:t>Microsoft Cloud Security Benchmark (MCSB) compliance standard v2 in preview.</a:t>
            </a:r>
          </a:p>
          <a:p>
            <a:pPr algn="just"/>
            <a:r>
              <a:rPr lang="en-US" sz="1000" dirty="0"/>
              <a:t>The MCSB provides a collection of high-impact security controls and recommendations to help secure cloud services across single and </a:t>
            </a:r>
            <a:r>
              <a:rPr lang="en-US" sz="1000" dirty="0" err="1"/>
              <a:t>multicloud</a:t>
            </a:r>
            <a:r>
              <a:rPr lang="en-US" sz="1000" dirty="0"/>
              <a:t> environments. MCSB v2 adds expanded risk and threat-based guidance, expanded Azure Policy measurements, and controls for securing AI workloads. The Regulatory compliance dashboard allows you to assess resources against MCSB v2 controls and track compliance posture across cloud environments.</a:t>
            </a:r>
          </a:p>
        </p:txBody>
      </p:sp>
      <p:sp>
        <p:nvSpPr>
          <p:cNvPr id="3" name="Title 2">
            <a:extLst>
              <a:ext uri="{FF2B5EF4-FFF2-40B4-BE49-F238E27FC236}">
                <a16:creationId xmlns:a16="http://schemas.microsoft.com/office/drawing/2014/main" id="{CB39652A-DDCF-0E6A-03DA-FF96ED35E66C}"/>
              </a:ext>
            </a:extLst>
          </p:cNvPr>
          <p:cNvSpPr>
            <a:spLocks noGrp="1"/>
          </p:cNvSpPr>
          <p:nvPr>
            <p:ph type="title"/>
          </p:nvPr>
        </p:nvSpPr>
        <p:spPr/>
        <p:txBody>
          <a:bodyPr/>
          <a:lstStyle/>
          <a:p>
            <a:r>
              <a:rPr lang="en-US" sz="1600" dirty="0"/>
              <a:t>Security &amp; Identity Updates (Defender for Cloud) – 1/5</a:t>
            </a:r>
            <a:endParaRPr lang="en-US" dirty="0"/>
          </a:p>
        </p:txBody>
      </p:sp>
      <p:sp>
        <p:nvSpPr>
          <p:cNvPr id="4" name="Text Placeholder 3">
            <a:extLst>
              <a:ext uri="{FF2B5EF4-FFF2-40B4-BE49-F238E27FC236}">
                <a16:creationId xmlns:a16="http://schemas.microsoft.com/office/drawing/2014/main" id="{395BCF6B-0684-7CA9-A2D7-D16BB866690B}"/>
              </a:ext>
            </a:extLst>
          </p:cNvPr>
          <p:cNvSpPr>
            <a:spLocks noGrp="1"/>
          </p:cNvSpPr>
          <p:nvPr>
            <p:ph type="body" sz="quarter" idx="15"/>
          </p:nvPr>
        </p:nvSpPr>
        <p:spPr/>
        <p:txBody>
          <a:bodyPr/>
          <a:lstStyle/>
          <a:p>
            <a:endParaRPr lang="en-US"/>
          </a:p>
        </p:txBody>
      </p:sp>
      <p:sp>
        <p:nvSpPr>
          <p:cNvPr id="5" name="Text Placeholder 4">
            <a:extLst>
              <a:ext uri="{FF2B5EF4-FFF2-40B4-BE49-F238E27FC236}">
                <a16:creationId xmlns:a16="http://schemas.microsoft.com/office/drawing/2014/main" id="{DD7BEE51-ED4A-7F68-0207-5C92AC02F98C}"/>
              </a:ext>
            </a:extLst>
          </p:cNvPr>
          <p:cNvSpPr>
            <a:spLocks noGrp="1"/>
          </p:cNvSpPr>
          <p:nvPr>
            <p:ph type="body" sz="quarter" idx="16"/>
          </p:nvPr>
        </p:nvSpPr>
        <p:spPr>
          <a:xfrm>
            <a:off x="342900" y="855081"/>
            <a:ext cx="3955312" cy="1716670"/>
          </a:xfrm>
        </p:spPr>
        <p:txBody>
          <a:bodyPr/>
          <a:lstStyle/>
          <a:p>
            <a:pPr algn="just"/>
            <a:r>
              <a:rPr lang="en-US" dirty="0">
                <a:hlinkClick r:id="rId2"/>
              </a:rPr>
              <a:t>Advanced security posture for API discovery (Preview)</a:t>
            </a:r>
            <a:endParaRPr lang="en-US" dirty="0"/>
          </a:p>
          <a:p>
            <a:pPr algn="just"/>
            <a:r>
              <a:rPr lang="en-US" dirty="0"/>
              <a:t>Microsoft Defender for </a:t>
            </a:r>
            <a:r>
              <a:rPr lang="en-US" b="1" dirty="0"/>
              <a:t>Cloud API security posture management </a:t>
            </a:r>
            <a:r>
              <a:rPr lang="en-US" dirty="0"/>
              <a:t>now automatically identifies unauthenticated APIs and APIs exposed to the internet across environment, including APIs discovered on Azure Functions and Logic Apps.</a:t>
            </a:r>
          </a:p>
          <a:p>
            <a:pPr algn="just"/>
            <a:r>
              <a:rPr lang="en-US" dirty="0"/>
              <a:t>With this release, it is possible to uncover high-risk API endpoints earlier, prioritize API risks by using new posture insights and risk factors, and view and analyze discovered API risks across your environment by using security explorer.</a:t>
            </a:r>
          </a:p>
        </p:txBody>
      </p:sp>
    </p:spTree>
    <p:extLst>
      <p:ext uri="{BB962C8B-B14F-4D97-AF65-F5344CB8AC3E}">
        <p14:creationId xmlns:p14="http://schemas.microsoft.com/office/powerpoint/2010/main" val="1752675121"/>
      </p:ext>
    </p:extLst>
  </p:cSld>
  <p:clrMapOvr>
    <a:masterClrMapping/>
  </p:clrMapOvr>
  <p:timing>
    <p:tnLst>
      <p:par>
        <p:cTn id="1" dur="indefinite" restart="never" nodeType="tmRoot">
          <p:childTnLst>
            <p:seq concurrent="1" nextAc="seek">
              <p:cTn id="2" dur="indefinite" nodeType="mainSeq">
                <p:childTnLst>
                  <p:par>
                    <p:cTn id="3" fill="hold">
                      <p:stCondLst>
                        <p:cond delay="indefinite"/>
                      </p:stCondLst>
                      <p:childTnLst>
                        <p:par>
                          <p:cTn id="4" fill="hold">
                            <p:stCondLst>
                              <p:cond delay="0"/>
                            </p:stCondLst>
                            <p:childTnLst>
                              <p:par>
                                <p:cTn id="5" presetID="1" presetClass="entr" presetSubtype="0" fill="hold" nodeType="clickEffect">
                                  <p:stCondLst>
                                    <p:cond delay="0"/>
                                  </p:stCondLst>
                                  <p:childTnLst>
                                    <p:set>
                                      <p:cBhvr>
                                        <p:cTn id="6" dur="1" fill="hold">
                                          <p:stCondLst>
                                            <p:cond delay="0"/>
                                          </p:stCondLst>
                                        </p:cTn>
                                        <p:tgtEl>
                                          <p:spTgt spid="5">
                                            <p:txEl>
                                              <p:pRg st="0" end="0"/>
                                            </p:txEl>
                                          </p:spTgt>
                                        </p:tgtEl>
                                        <p:attrNameLst>
                                          <p:attrName>style.visibility</p:attrName>
                                        </p:attrNameLst>
                                      </p:cBhvr>
                                      <p:to>
                                        <p:strVal val="visible"/>
                                      </p:to>
                                    </p:set>
                                  </p:childTnLst>
                                </p:cTn>
                              </p:par>
                              <p:par>
                                <p:cTn id="7" presetID="1" presetClass="entr" presetSubtype="0" fill="hold" nodeType="withEffect">
                                  <p:stCondLst>
                                    <p:cond delay="0"/>
                                  </p:stCondLst>
                                  <p:childTnLst>
                                    <p:set>
                                      <p:cBhvr>
                                        <p:cTn id="8" dur="1" fill="hold">
                                          <p:stCondLst>
                                            <p:cond delay="0"/>
                                          </p:stCondLst>
                                        </p:cTn>
                                        <p:tgtEl>
                                          <p:spTgt spid="5">
                                            <p:txEl>
                                              <p:pRg st="1" end="1"/>
                                            </p:txEl>
                                          </p:spTgt>
                                        </p:tgtEl>
                                        <p:attrNameLst>
                                          <p:attrName>style.visibility</p:attrName>
                                        </p:attrNameLst>
                                      </p:cBhvr>
                                      <p:to>
                                        <p:strVal val="visible"/>
                                      </p:to>
                                    </p:set>
                                  </p:childTnLst>
                                </p:cTn>
                              </p:par>
                              <p:par>
                                <p:cTn id="9" presetID="1" presetClass="entr" presetSubtype="0" fill="hold" nodeType="withEffect">
                                  <p:stCondLst>
                                    <p:cond delay="0"/>
                                  </p:stCondLst>
                                  <p:childTnLst>
                                    <p:set>
                                      <p:cBhvr>
                                        <p:cTn id="10" dur="1" fill="hold">
                                          <p:stCondLst>
                                            <p:cond delay="0"/>
                                          </p:stCondLst>
                                        </p:cTn>
                                        <p:tgtEl>
                                          <p:spTgt spid="5">
                                            <p:txEl>
                                              <p:pRg st="2" end="2"/>
                                            </p:txEl>
                                          </p:spTgt>
                                        </p:tgtEl>
                                        <p:attrNameLst>
                                          <p:attrName>style.visibility</p:attrName>
                                        </p:attrNameLst>
                                      </p:cBhvr>
                                      <p:to>
                                        <p:strVal val="visible"/>
                                      </p:to>
                                    </p:set>
                                  </p:childTnLst>
                                </p:cTn>
                              </p:par>
                            </p:childTnLst>
                          </p:cTn>
                        </p:par>
                      </p:childTnLst>
                    </p:cTn>
                  </p:par>
                  <p:par>
                    <p:cTn id="11" fill="hold">
                      <p:stCondLst>
                        <p:cond delay="indefinite"/>
                      </p:stCondLst>
                      <p:childTnLst>
                        <p:par>
                          <p:cTn id="12" fill="hold">
                            <p:stCondLst>
                              <p:cond delay="0"/>
                            </p:stCondLst>
                            <p:childTnLst>
                              <p:par>
                                <p:cTn id="13" presetID="1" presetClass="entr" presetSubtype="0" fill="hold" nodeType="clickEffect">
                                  <p:stCondLst>
                                    <p:cond delay="0"/>
                                  </p:stCondLst>
                                  <p:childTnLst>
                                    <p:set>
                                      <p:cBhvr>
                                        <p:cTn id="14" dur="1" fill="hold">
                                          <p:stCondLst>
                                            <p:cond delay="0"/>
                                          </p:stCondLst>
                                        </p:cTn>
                                        <p:tgtEl>
                                          <p:spTgt spid="2">
                                            <p:txEl>
                                              <p:pRg st="0" end="0"/>
                                            </p:txEl>
                                          </p:spTgt>
                                        </p:tgtEl>
                                        <p:attrNameLst>
                                          <p:attrName>style.visibility</p:attrName>
                                        </p:attrNameLst>
                                      </p:cBhvr>
                                      <p:to>
                                        <p:strVal val="visible"/>
                                      </p:to>
                                    </p:set>
                                  </p:childTnLst>
                                </p:cTn>
                              </p:par>
                              <p:par>
                                <p:cTn id="15" presetID="1" presetClass="entr" presetSubtype="0" fill="hold" nodeType="withEffect">
                                  <p:stCondLst>
                                    <p:cond delay="0"/>
                                  </p:stCondLst>
                                  <p:childTnLst>
                                    <p:set>
                                      <p:cBhvr>
                                        <p:cTn id="16" dur="1" fill="hold">
                                          <p:stCondLst>
                                            <p:cond delay="0"/>
                                          </p:stCondLst>
                                        </p:cTn>
                                        <p:tgtEl>
                                          <p:spTgt spid="2">
                                            <p:txEl>
                                              <p:pRg st="1" end="1"/>
                                            </p:txEl>
                                          </p:spTgt>
                                        </p:tgtEl>
                                        <p:attrNameLst>
                                          <p:attrName>style.visibility</p:attrName>
                                        </p:attrNameLst>
                                      </p:cBhvr>
                                      <p:to>
                                        <p:strVal val="visible"/>
                                      </p:to>
                                    </p:set>
                                  </p:childTnLst>
                                </p:cTn>
                              </p:par>
                              <p:par>
                                <p:cTn id="17" presetID="1" presetClass="entr" presetSubtype="0" fill="hold" nodeType="withEffect">
                                  <p:stCondLst>
                                    <p:cond delay="0"/>
                                  </p:stCondLst>
                                  <p:childTnLst>
                                    <p:set>
                                      <p:cBhvr>
                                        <p:cTn id="18" dur="1" fill="hold">
                                          <p:stCondLst>
                                            <p:cond delay="0"/>
                                          </p:stCondLst>
                                        </p:cTn>
                                        <p:tgtEl>
                                          <p:spTgt spid="2">
                                            <p:txEl>
                                              <p:pRg st="2" end="2"/>
                                            </p:txEl>
                                          </p:spTgt>
                                        </p:tgtEl>
                                        <p:attrNameLst>
                                          <p:attrName>style.visibility</p:attrName>
                                        </p:attrNameLst>
                                      </p:cBhvr>
                                      <p:to>
                                        <p:strVal val="visible"/>
                                      </p:to>
                                    </p:set>
                                  </p:childTnLst>
                                </p:cTn>
                              </p:par>
                            </p:childTnLst>
                          </p:cTn>
                        </p:par>
                      </p:childTnLst>
                    </p:cTn>
                  </p:par>
                </p:childTnLst>
              </p:cTn>
              <p:prevCondLst>
                <p:cond evt="onPrev" delay="0">
                  <p:tgtEl>
                    <p:sldTgt/>
                  </p:tgtEl>
                </p:cond>
              </p:prevCondLst>
              <p:nextCondLst>
                <p:cond evt="onNext" delay="0">
                  <p:tgtEl>
                    <p:sldTgt/>
                  </p:tgtEl>
                </p:cond>
              </p:nextCondLst>
            </p:seq>
          </p:childTnLst>
        </p:cTn>
      </p:par>
    </p:tnLst>
  </p:timing>
</p:sld>
</file>

<file path=ppt/slides/slide14.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3" name="Title 2">
            <a:extLst>
              <a:ext uri="{FF2B5EF4-FFF2-40B4-BE49-F238E27FC236}">
                <a16:creationId xmlns:a16="http://schemas.microsoft.com/office/drawing/2014/main" id="{C48A4C13-6A93-781F-FE80-EE18EF86734B}"/>
              </a:ext>
            </a:extLst>
          </p:cNvPr>
          <p:cNvSpPr>
            <a:spLocks noGrp="1"/>
          </p:cNvSpPr>
          <p:nvPr>
            <p:ph type="title"/>
          </p:nvPr>
        </p:nvSpPr>
        <p:spPr/>
        <p:txBody>
          <a:bodyPr/>
          <a:lstStyle/>
          <a:p>
            <a:r>
              <a:rPr lang="en-US" sz="1600" dirty="0"/>
              <a:t>Security &amp; Identity Updates (Defender for Cloud) – 1/5</a:t>
            </a:r>
            <a:endParaRPr lang="en-US" dirty="0"/>
          </a:p>
        </p:txBody>
      </p:sp>
      <p:sp>
        <p:nvSpPr>
          <p:cNvPr id="4" name="Text Placeholder 3">
            <a:extLst>
              <a:ext uri="{FF2B5EF4-FFF2-40B4-BE49-F238E27FC236}">
                <a16:creationId xmlns:a16="http://schemas.microsoft.com/office/drawing/2014/main" id="{D5F8C962-A7C9-F912-E28F-6A823020C095}"/>
              </a:ext>
            </a:extLst>
          </p:cNvPr>
          <p:cNvSpPr>
            <a:spLocks noGrp="1"/>
          </p:cNvSpPr>
          <p:nvPr>
            <p:ph type="body" sz="quarter" idx="15"/>
          </p:nvPr>
        </p:nvSpPr>
        <p:spPr/>
        <p:txBody>
          <a:bodyPr/>
          <a:lstStyle/>
          <a:p>
            <a:endParaRPr lang="en-US"/>
          </a:p>
        </p:txBody>
      </p:sp>
      <p:sp>
        <p:nvSpPr>
          <p:cNvPr id="5" name="Text Placeholder 4">
            <a:extLst>
              <a:ext uri="{FF2B5EF4-FFF2-40B4-BE49-F238E27FC236}">
                <a16:creationId xmlns:a16="http://schemas.microsoft.com/office/drawing/2014/main" id="{A2D652E4-9193-BE9E-A24D-3E78B563E39A}"/>
              </a:ext>
            </a:extLst>
          </p:cNvPr>
          <p:cNvSpPr>
            <a:spLocks noGrp="1"/>
          </p:cNvSpPr>
          <p:nvPr>
            <p:ph type="body" sz="quarter" idx="16"/>
          </p:nvPr>
        </p:nvSpPr>
        <p:spPr/>
        <p:txBody>
          <a:bodyPr/>
          <a:lstStyle/>
          <a:p>
            <a:pPr algn="just"/>
            <a:r>
              <a:rPr lang="en-US" dirty="0">
                <a:hlinkClick r:id="rId2"/>
              </a:rPr>
              <a:t>Restrict Pod Access response action (preview)</a:t>
            </a:r>
            <a:endParaRPr lang="en-US" dirty="0"/>
          </a:p>
          <a:p>
            <a:pPr algn="just"/>
            <a:r>
              <a:rPr lang="en-US" dirty="0"/>
              <a:t>Defender for Containers now includes a new </a:t>
            </a:r>
            <a:r>
              <a:rPr lang="en-US" b="1" dirty="0"/>
              <a:t>Restrict Pod Access </a:t>
            </a:r>
            <a:r>
              <a:rPr lang="en-US" dirty="0"/>
              <a:t>response action, available in preview in Microsoft Defender XDR.</a:t>
            </a:r>
          </a:p>
          <a:p>
            <a:pPr algn="just"/>
            <a:r>
              <a:rPr lang="en-US" dirty="0"/>
              <a:t>The action blocks sensitive interfaces within Kubernetes pods that could enable lateral movement or privilege escalation. Using this control helps contain </a:t>
            </a:r>
            <a:r>
              <a:rPr lang="en-US" dirty="0" err="1"/>
              <a:t>potent</a:t>
            </a:r>
            <a:r>
              <a:rPr lang="en-US" b="1" dirty="0" err="1"/>
              <a:t>Restrict</a:t>
            </a:r>
            <a:r>
              <a:rPr lang="en-US" b="1" dirty="0"/>
              <a:t> Pod Access </a:t>
            </a:r>
            <a:r>
              <a:rPr lang="en-US" dirty="0" err="1"/>
              <a:t>ial</a:t>
            </a:r>
            <a:r>
              <a:rPr lang="en-US" dirty="0"/>
              <a:t> breaches and reduce exposure within your cluster environments.</a:t>
            </a:r>
          </a:p>
        </p:txBody>
      </p:sp>
    </p:spTree>
    <p:extLst>
      <p:ext uri="{BB962C8B-B14F-4D97-AF65-F5344CB8AC3E}">
        <p14:creationId xmlns:p14="http://schemas.microsoft.com/office/powerpoint/2010/main" val="1555737593"/>
      </p:ext>
    </p:extLst>
  </p:cSld>
  <p:clrMapOvr>
    <a:masterClrMapping/>
  </p:clrMapOvr>
  <p:timing>
    <p:tnLst>
      <p:par>
        <p:cTn id="1" dur="indefinite" restart="never" nodeType="tmRoot">
          <p:childTnLst>
            <p:seq concurrent="1" nextAc="seek">
              <p:cTn id="2" dur="indefinite" nodeType="mainSeq">
                <p:childTnLst>
                  <p:par>
                    <p:cTn id="3" fill="hold">
                      <p:stCondLst>
                        <p:cond delay="indefinite"/>
                      </p:stCondLst>
                      <p:childTnLst>
                        <p:par>
                          <p:cTn id="4" fill="hold">
                            <p:stCondLst>
                              <p:cond delay="0"/>
                            </p:stCondLst>
                            <p:childTnLst>
                              <p:par>
                                <p:cTn id="5" presetID="1" presetClass="entr" presetSubtype="0" fill="hold" nodeType="clickEffect">
                                  <p:stCondLst>
                                    <p:cond delay="0"/>
                                  </p:stCondLst>
                                  <p:childTnLst>
                                    <p:set>
                                      <p:cBhvr>
                                        <p:cTn id="6" dur="1" fill="hold">
                                          <p:stCondLst>
                                            <p:cond delay="0"/>
                                          </p:stCondLst>
                                        </p:cTn>
                                        <p:tgtEl>
                                          <p:spTgt spid="5">
                                            <p:txEl>
                                              <p:pRg st="0" end="0"/>
                                            </p:txEl>
                                          </p:spTgt>
                                        </p:tgtEl>
                                        <p:attrNameLst>
                                          <p:attrName>style.visibility</p:attrName>
                                        </p:attrNameLst>
                                      </p:cBhvr>
                                      <p:to>
                                        <p:strVal val="visible"/>
                                      </p:to>
                                    </p:set>
                                  </p:childTnLst>
                                </p:cTn>
                              </p:par>
                              <p:par>
                                <p:cTn id="7" presetID="1" presetClass="entr" presetSubtype="0" fill="hold" nodeType="withEffect">
                                  <p:stCondLst>
                                    <p:cond delay="0"/>
                                  </p:stCondLst>
                                  <p:childTnLst>
                                    <p:set>
                                      <p:cBhvr>
                                        <p:cTn id="8" dur="1" fill="hold">
                                          <p:stCondLst>
                                            <p:cond delay="0"/>
                                          </p:stCondLst>
                                        </p:cTn>
                                        <p:tgtEl>
                                          <p:spTgt spid="5">
                                            <p:txEl>
                                              <p:pRg st="1" end="1"/>
                                            </p:txEl>
                                          </p:spTgt>
                                        </p:tgtEl>
                                        <p:attrNameLst>
                                          <p:attrName>style.visibility</p:attrName>
                                        </p:attrNameLst>
                                      </p:cBhvr>
                                      <p:to>
                                        <p:strVal val="visible"/>
                                      </p:to>
                                    </p:set>
                                  </p:childTnLst>
                                </p:cTn>
                              </p:par>
                              <p:par>
                                <p:cTn id="9" presetID="1" presetClass="entr" presetSubtype="0" fill="hold" nodeType="withEffect">
                                  <p:stCondLst>
                                    <p:cond delay="0"/>
                                  </p:stCondLst>
                                  <p:childTnLst>
                                    <p:set>
                                      <p:cBhvr>
                                        <p:cTn id="10" dur="1" fill="hold">
                                          <p:stCondLst>
                                            <p:cond delay="0"/>
                                          </p:stCondLst>
                                        </p:cTn>
                                        <p:tgtEl>
                                          <p:spTgt spid="5">
                                            <p:txEl>
                                              <p:pRg st="2" end="2"/>
                                            </p:txEl>
                                          </p:spTgt>
                                        </p:tgtEl>
                                        <p:attrNameLst>
                                          <p:attrName>style.visibility</p:attrName>
                                        </p:attrNameLst>
                                      </p:cBhvr>
                                      <p:to>
                                        <p:strVal val="visible"/>
                                      </p:to>
                                    </p:set>
                                  </p:childTnLst>
                                </p:cTn>
                              </p:par>
                            </p:childTnLst>
                          </p:cTn>
                        </p:par>
                      </p:childTnLst>
                    </p:cTn>
                  </p:par>
                </p:childTnLst>
              </p:cTn>
              <p:prevCondLst>
                <p:cond evt="onPrev" delay="0">
                  <p:tgtEl>
                    <p:sldTgt/>
                  </p:tgtEl>
                </p:cond>
              </p:prevCondLst>
              <p:nextCondLst>
                <p:cond evt="onNext" delay="0">
                  <p:tgtEl>
                    <p:sldTgt/>
                  </p:tgtEl>
                </p:cond>
              </p:nextCondLst>
            </p:seq>
          </p:childTnLst>
        </p:cTn>
      </p:par>
    </p:tnLst>
  </p:timing>
</p:sld>
</file>

<file path=ppt/slides/slide15.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ext Placeholder 1">
            <a:extLst>
              <a:ext uri="{FF2B5EF4-FFF2-40B4-BE49-F238E27FC236}">
                <a16:creationId xmlns:a16="http://schemas.microsoft.com/office/drawing/2014/main" id="{6BEE8816-7DD3-4697-7718-A679E75C4831}"/>
              </a:ext>
            </a:extLst>
          </p:cNvPr>
          <p:cNvSpPr>
            <a:spLocks noGrp="1"/>
          </p:cNvSpPr>
          <p:nvPr>
            <p:ph type="body" sz="quarter" idx="10"/>
          </p:nvPr>
        </p:nvSpPr>
        <p:spPr/>
        <p:txBody>
          <a:bodyPr/>
          <a:lstStyle/>
          <a:p>
            <a:pPr algn="just"/>
            <a:r>
              <a:rPr lang="en-US" sz="1000" dirty="0">
                <a:hlinkClick r:id="rId2"/>
              </a:rPr>
              <a:t>General availability of AI security posture management in GCP Vertex</a:t>
            </a:r>
            <a:endParaRPr lang="en-US" sz="1000" dirty="0"/>
          </a:p>
          <a:p>
            <a:pPr algn="just"/>
            <a:r>
              <a:rPr lang="en-US" sz="1000" b="1" dirty="0"/>
              <a:t>Defender for Cloud </a:t>
            </a:r>
            <a:r>
              <a:rPr lang="en-US" sz="1000" dirty="0"/>
              <a:t>is announcing the general availability of AI security posture management for GCP Vertex AI. This new capability helps secure AI workloads on GCP by providing continuous monitoring, risk assessments, and actionable recommendations.</a:t>
            </a:r>
          </a:p>
        </p:txBody>
      </p:sp>
      <p:sp>
        <p:nvSpPr>
          <p:cNvPr id="3" name="Title 2">
            <a:extLst>
              <a:ext uri="{FF2B5EF4-FFF2-40B4-BE49-F238E27FC236}">
                <a16:creationId xmlns:a16="http://schemas.microsoft.com/office/drawing/2014/main" id="{B5D0E9BD-DAD1-4461-C23A-A4737C57449F}"/>
              </a:ext>
            </a:extLst>
          </p:cNvPr>
          <p:cNvSpPr>
            <a:spLocks noGrp="1"/>
          </p:cNvSpPr>
          <p:nvPr>
            <p:ph type="title"/>
          </p:nvPr>
        </p:nvSpPr>
        <p:spPr/>
        <p:txBody>
          <a:bodyPr/>
          <a:lstStyle/>
          <a:p>
            <a:r>
              <a:rPr lang="en-US" sz="1600" dirty="0"/>
              <a:t>Security &amp; Identity Updates (Defender for Cloud) – 1/5</a:t>
            </a:r>
            <a:endParaRPr lang="en-US" dirty="0"/>
          </a:p>
        </p:txBody>
      </p:sp>
      <p:sp>
        <p:nvSpPr>
          <p:cNvPr id="4" name="Text Placeholder 3">
            <a:extLst>
              <a:ext uri="{FF2B5EF4-FFF2-40B4-BE49-F238E27FC236}">
                <a16:creationId xmlns:a16="http://schemas.microsoft.com/office/drawing/2014/main" id="{31A3BD29-2DEA-E253-2744-39F84F1B0717}"/>
              </a:ext>
            </a:extLst>
          </p:cNvPr>
          <p:cNvSpPr>
            <a:spLocks noGrp="1"/>
          </p:cNvSpPr>
          <p:nvPr>
            <p:ph type="body" sz="quarter" idx="15"/>
          </p:nvPr>
        </p:nvSpPr>
        <p:spPr/>
        <p:txBody>
          <a:bodyPr/>
          <a:lstStyle/>
          <a:p>
            <a:endParaRPr lang="en-US"/>
          </a:p>
        </p:txBody>
      </p:sp>
      <p:sp>
        <p:nvSpPr>
          <p:cNvPr id="5" name="Text Placeholder 4">
            <a:extLst>
              <a:ext uri="{FF2B5EF4-FFF2-40B4-BE49-F238E27FC236}">
                <a16:creationId xmlns:a16="http://schemas.microsoft.com/office/drawing/2014/main" id="{635D91FE-56EB-05C7-ACE1-082B1B3D7C44}"/>
              </a:ext>
            </a:extLst>
          </p:cNvPr>
          <p:cNvSpPr>
            <a:spLocks noGrp="1"/>
          </p:cNvSpPr>
          <p:nvPr>
            <p:ph type="body" sz="quarter" idx="16"/>
          </p:nvPr>
        </p:nvSpPr>
        <p:spPr/>
        <p:txBody>
          <a:bodyPr/>
          <a:lstStyle/>
          <a:p>
            <a:pPr algn="just"/>
            <a:r>
              <a:rPr lang="en-US" dirty="0">
                <a:hlinkClick r:id="rId3"/>
              </a:rPr>
              <a:t>Kubernetes gated deployment (GA)</a:t>
            </a:r>
            <a:endParaRPr lang="en-US" dirty="0"/>
          </a:p>
          <a:p>
            <a:pPr algn="just"/>
            <a:r>
              <a:rPr lang="en-US" dirty="0"/>
              <a:t>Kubernetes gated deployment in Microsoft Defender for Containers is now generally available. This feature enforces container image security at deployment time by using Kubernetes admission control.</a:t>
            </a:r>
          </a:p>
          <a:p>
            <a:pPr algn="just"/>
            <a:r>
              <a:rPr lang="en-US" b="1" dirty="0"/>
              <a:t>Key capabilities</a:t>
            </a:r>
            <a:endParaRPr lang="en-US" dirty="0"/>
          </a:p>
          <a:p>
            <a:pPr marL="171450" indent="-171450" algn="just">
              <a:buFont typeface="Arial" panose="020B0604020202020204" pitchFamily="34" charset="0"/>
              <a:buChar char="•"/>
            </a:pPr>
            <a:r>
              <a:rPr lang="en-US" b="1" dirty="0"/>
              <a:t>Admission control for Kubernetes clusters</a:t>
            </a:r>
            <a:r>
              <a:rPr lang="en-US" dirty="0"/>
              <a:t>: Blocks or audits deployments of container images that violate organizational security rules.</a:t>
            </a:r>
          </a:p>
          <a:p>
            <a:pPr marL="171450" indent="-171450" algn="just">
              <a:buFont typeface="Arial" panose="020B0604020202020204" pitchFamily="34" charset="0"/>
              <a:buChar char="•"/>
            </a:pPr>
            <a:r>
              <a:rPr lang="en-US" b="1" dirty="0"/>
              <a:t>Security rules framework</a:t>
            </a:r>
            <a:r>
              <a:rPr lang="en-US" dirty="0"/>
              <a:t>: Define custom rules for AKS, EKS, and GKE clusters based on vulnerability assessment results.</a:t>
            </a:r>
          </a:p>
          <a:p>
            <a:pPr marL="171450" indent="-171450" algn="just">
              <a:buFont typeface="Arial" panose="020B0604020202020204" pitchFamily="34" charset="0"/>
              <a:buChar char="•"/>
            </a:pPr>
            <a:r>
              <a:rPr lang="en-US" b="1" dirty="0"/>
              <a:t>Audit and Deny modes</a:t>
            </a:r>
            <a:r>
              <a:rPr lang="en-US" dirty="0"/>
              <a:t>:</a:t>
            </a:r>
          </a:p>
          <a:p>
            <a:pPr marL="514350" lvl="1" indent="-171450" algn="just">
              <a:buFont typeface="Arial" panose="020B0604020202020204" pitchFamily="34" charset="0"/>
              <a:buChar char="•"/>
            </a:pPr>
            <a:r>
              <a:rPr lang="en-US" sz="1000" i="1" dirty="0">
                <a:latin typeface="+mj-lt"/>
              </a:rPr>
              <a:t>Audit</a:t>
            </a:r>
            <a:r>
              <a:rPr lang="en-US" sz="1000" dirty="0">
                <a:latin typeface="+mj-lt"/>
              </a:rPr>
              <a:t>: Generates recommendations when deployments violate security rules</a:t>
            </a:r>
          </a:p>
          <a:p>
            <a:pPr marL="514350" lvl="1" indent="-171450" algn="just">
              <a:buFont typeface="Arial" panose="020B0604020202020204" pitchFamily="34" charset="0"/>
              <a:buChar char="•"/>
            </a:pPr>
            <a:r>
              <a:rPr lang="en-US" sz="1000" i="1" dirty="0">
                <a:latin typeface="+mj-lt"/>
              </a:rPr>
              <a:t>Deny</a:t>
            </a:r>
            <a:r>
              <a:rPr lang="en-US" sz="1000" dirty="0">
                <a:latin typeface="+mj-lt"/>
              </a:rPr>
              <a:t>: Prevents noncompliant images from being deployed</a:t>
            </a:r>
          </a:p>
          <a:p>
            <a:pPr marL="171450" indent="-171450" algn="just">
              <a:buFont typeface="Arial" panose="020B0604020202020204" pitchFamily="34" charset="0"/>
              <a:buChar char="•"/>
            </a:pPr>
            <a:r>
              <a:rPr lang="en-US" b="1" dirty="0" err="1"/>
              <a:t>Multicloud</a:t>
            </a:r>
            <a:r>
              <a:rPr lang="en-US" b="1" dirty="0"/>
              <a:t> support</a:t>
            </a:r>
            <a:r>
              <a:rPr lang="en-US" dirty="0"/>
              <a:t>: Works with Azure Container Registry (ACR), Amazon Elastic Container Registry (ECR), and Google Artifact Registry.</a:t>
            </a:r>
          </a:p>
          <a:p>
            <a:pPr marL="171450" indent="-171450" algn="just">
              <a:buFont typeface="Arial" panose="020B0604020202020204" pitchFamily="34" charset="0"/>
              <a:buChar char="•"/>
            </a:pPr>
            <a:r>
              <a:rPr lang="en-US" b="1" dirty="0"/>
              <a:t>Integrated monitoring</a:t>
            </a:r>
            <a:r>
              <a:rPr lang="en-US" dirty="0"/>
              <a:t>: View admission monitoring and violation details in the Defender for Cloud portal.</a:t>
            </a:r>
          </a:p>
          <a:p>
            <a:pPr algn="just"/>
            <a:endParaRPr lang="en-US" dirty="0"/>
          </a:p>
        </p:txBody>
      </p:sp>
    </p:spTree>
    <p:extLst>
      <p:ext uri="{BB962C8B-B14F-4D97-AF65-F5344CB8AC3E}">
        <p14:creationId xmlns:p14="http://schemas.microsoft.com/office/powerpoint/2010/main" val="1681489447"/>
      </p:ext>
    </p:extLst>
  </p:cSld>
  <p:clrMapOvr>
    <a:masterClrMapping/>
  </p:clrMapOvr>
  <p:timing>
    <p:tnLst>
      <p:par>
        <p:cTn id="1" dur="indefinite" restart="never" nodeType="tmRoot">
          <p:childTnLst>
            <p:seq concurrent="1" nextAc="seek">
              <p:cTn id="2" dur="indefinite" nodeType="mainSeq">
                <p:childTnLst>
                  <p:par>
                    <p:cTn id="3" fill="hold">
                      <p:stCondLst>
                        <p:cond delay="indefinite"/>
                      </p:stCondLst>
                      <p:childTnLst>
                        <p:par>
                          <p:cTn id="4" fill="hold">
                            <p:stCondLst>
                              <p:cond delay="0"/>
                            </p:stCondLst>
                            <p:childTnLst>
                              <p:par>
                                <p:cTn id="5" presetID="1" presetClass="entr" presetSubtype="0" fill="hold" nodeType="clickEffect">
                                  <p:stCondLst>
                                    <p:cond delay="0"/>
                                  </p:stCondLst>
                                  <p:childTnLst>
                                    <p:set>
                                      <p:cBhvr>
                                        <p:cTn id="6" dur="1" fill="hold">
                                          <p:stCondLst>
                                            <p:cond delay="0"/>
                                          </p:stCondLst>
                                        </p:cTn>
                                        <p:tgtEl>
                                          <p:spTgt spid="5">
                                            <p:txEl>
                                              <p:pRg st="0" end="0"/>
                                            </p:txEl>
                                          </p:spTgt>
                                        </p:tgtEl>
                                        <p:attrNameLst>
                                          <p:attrName>style.visibility</p:attrName>
                                        </p:attrNameLst>
                                      </p:cBhvr>
                                      <p:to>
                                        <p:strVal val="visible"/>
                                      </p:to>
                                    </p:set>
                                  </p:childTnLst>
                                </p:cTn>
                              </p:par>
                              <p:par>
                                <p:cTn id="7" presetID="1" presetClass="entr" presetSubtype="0" fill="hold" nodeType="withEffect">
                                  <p:stCondLst>
                                    <p:cond delay="0"/>
                                  </p:stCondLst>
                                  <p:childTnLst>
                                    <p:set>
                                      <p:cBhvr>
                                        <p:cTn id="8" dur="1" fill="hold">
                                          <p:stCondLst>
                                            <p:cond delay="0"/>
                                          </p:stCondLst>
                                        </p:cTn>
                                        <p:tgtEl>
                                          <p:spTgt spid="5">
                                            <p:txEl>
                                              <p:pRg st="1" end="1"/>
                                            </p:txEl>
                                          </p:spTgt>
                                        </p:tgtEl>
                                        <p:attrNameLst>
                                          <p:attrName>style.visibility</p:attrName>
                                        </p:attrNameLst>
                                      </p:cBhvr>
                                      <p:to>
                                        <p:strVal val="visible"/>
                                      </p:to>
                                    </p:set>
                                  </p:childTnLst>
                                </p:cTn>
                              </p:par>
                              <p:par>
                                <p:cTn id="9" presetID="1" presetClass="entr" presetSubtype="0" fill="hold" nodeType="withEffect">
                                  <p:stCondLst>
                                    <p:cond delay="0"/>
                                  </p:stCondLst>
                                  <p:childTnLst>
                                    <p:set>
                                      <p:cBhvr>
                                        <p:cTn id="10" dur="1" fill="hold">
                                          <p:stCondLst>
                                            <p:cond delay="0"/>
                                          </p:stCondLst>
                                        </p:cTn>
                                        <p:tgtEl>
                                          <p:spTgt spid="5">
                                            <p:txEl>
                                              <p:pRg st="2" end="2"/>
                                            </p:txEl>
                                          </p:spTgt>
                                        </p:tgtEl>
                                        <p:attrNameLst>
                                          <p:attrName>style.visibility</p:attrName>
                                        </p:attrNameLst>
                                      </p:cBhvr>
                                      <p:to>
                                        <p:strVal val="visible"/>
                                      </p:to>
                                    </p:set>
                                  </p:childTnLst>
                                </p:cTn>
                              </p:par>
                              <p:par>
                                <p:cTn id="11" presetID="1" presetClass="entr" presetSubtype="0" fill="hold" nodeType="withEffect">
                                  <p:stCondLst>
                                    <p:cond delay="0"/>
                                  </p:stCondLst>
                                  <p:childTnLst>
                                    <p:set>
                                      <p:cBhvr>
                                        <p:cTn id="12" dur="1" fill="hold">
                                          <p:stCondLst>
                                            <p:cond delay="0"/>
                                          </p:stCondLst>
                                        </p:cTn>
                                        <p:tgtEl>
                                          <p:spTgt spid="5">
                                            <p:txEl>
                                              <p:pRg st="3" end="3"/>
                                            </p:txEl>
                                          </p:spTgt>
                                        </p:tgtEl>
                                        <p:attrNameLst>
                                          <p:attrName>style.visibility</p:attrName>
                                        </p:attrNameLst>
                                      </p:cBhvr>
                                      <p:to>
                                        <p:strVal val="visible"/>
                                      </p:to>
                                    </p:set>
                                  </p:childTnLst>
                                </p:cTn>
                              </p:par>
                              <p:par>
                                <p:cTn id="13" presetID="1" presetClass="entr" presetSubtype="0" fill="hold" nodeType="withEffect">
                                  <p:stCondLst>
                                    <p:cond delay="0"/>
                                  </p:stCondLst>
                                  <p:childTnLst>
                                    <p:set>
                                      <p:cBhvr>
                                        <p:cTn id="14" dur="1" fill="hold">
                                          <p:stCondLst>
                                            <p:cond delay="0"/>
                                          </p:stCondLst>
                                        </p:cTn>
                                        <p:tgtEl>
                                          <p:spTgt spid="5">
                                            <p:txEl>
                                              <p:pRg st="4" end="4"/>
                                            </p:txEl>
                                          </p:spTgt>
                                        </p:tgtEl>
                                        <p:attrNameLst>
                                          <p:attrName>style.visibility</p:attrName>
                                        </p:attrNameLst>
                                      </p:cBhvr>
                                      <p:to>
                                        <p:strVal val="visible"/>
                                      </p:to>
                                    </p:set>
                                  </p:childTnLst>
                                </p:cTn>
                              </p:par>
                              <p:par>
                                <p:cTn id="15" presetID="1" presetClass="entr" presetSubtype="0" fill="hold" nodeType="withEffect">
                                  <p:stCondLst>
                                    <p:cond delay="0"/>
                                  </p:stCondLst>
                                  <p:childTnLst>
                                    <p:set>
                                      <p:cBhvr>
                                        <p:cTn id="16" dur="1" fill="hold">
                                          <p:stCondLst>
                                            <p:cond delay="0"/>
                                          </p:stCondLst>
                                        </p:cTn>
                                        <p:tgtEl>
                                          <p:spTgt spid="5">
                                            <p:txEl>
                                              <p:pRg st="5" end="5"/>
                                            </p:txEl>
                                          </p:spTgt>
                                        </p:tgtEl>
                                        <p:attrNameLst>
                                          <p:attrName>style.visibility</p:attrName>
                                        </p:attrNameLst>
                                      </p:cBhvr>
                                      <p:to>
                                        <p:strVal val="visible"/>
                                      </p:to>
                                    </p:set>
                                  </p:childTnLst>
                                </p:cTn>
                              </p:par>
                              <p:par>
                                <p:cTn id="17" presetID="1" presetClass="entr" presetSubtype="0" fill="hold" nodeType="withEffect">
                                  <p:stCondLst>
                                    <p:cond delay="0"/>
                                  </p:stCondLst>
                                  <p:childTnLst>
                                    <p:set>
                                      <p:cBhvr>
                                        <p:cTn id="18" dur="1" fill="hold">
                                          <p:stCondLst>
                                            <p:cond delay="0"/>
                                          </p:stCondLst>
                                        </p:cTn>
                                        <p:tgtEl>
                                          <p:spTgt spid="5">
                                            <p:txEl>
                                              <p:pRg st="6" end="6"/>
                                            </p:txEl>
                                          </p:spTgt>
                                        </p:tgtEl>
                                        <p:attrNameLst>
                                          <p:attrName>style.visibility</p:attrName>
                                        </p:attrNameLst>
                                      </p:cBhvr>
                                      <p:to>
                                        <p:strVal val="visible"/>
                                      </p:to>
                                    </p:set>
                                  </p:childTnLst>
                                </p:cTn>
                              </p:par>
                              <p:par>
                                <p:cTn id="19" presetID="1" presetClass="entr" presetSubtype="0" fill="hold" nodeType="withEffect">
                                  <p:stCondLst>
                                    <p:cond delay="0"/>
                                  </p:stCondLst>
                                  <p:childTnLst>
                                    <p:set>
                                      <p:cBhvr>
                                        <p:cTn id="20" dur="1" fill="hold">
                                          <p:stCondLst>
                                            <p:cond delay="0"/>
                                          </p:stCondLst>
                                        </p:cTn>
                                        <p:tgtEl>
                                          <p:spTgt spid="5">
                                            <p:txEl>
                                              <p:pRg st="7" end="7"/>
                                            </p:txEl>
                                          </p:spTgt>
                                        </p:tgtEl>
                                        <p:attrNameLst>
                                          <p:attrName>style.visibility</p:attrName>
                                        </p:attrNameLst>
                                      </p:cBhvr>
                                      <p:to>
                                        <p:strVal val="visible"/>
                                      </p:to>
                                    </p:set>
                                  </p:childTnLst>
                                </p:cTn>
                              </p:par>
                              <p:par>
                                <p:cTn id="21" presetID="1" presetClass="entr" presetSubtype="0" fill="hold" nodeType="withEffect">
                                  <p:stCondLst>
                                    <p:cond delay="0"/>
                                  </p:stCondLst>
                                  <p:childTnLst>
                                    <p:set>
                                      <p:cBhvr>
                                        <p:cTn id="22" dur="1" fill="hold">
                                          <p:stCondLst>
                                            <p:cond delay="0"/>
                                          </p:stCondLst>
                                        </p:cTn>
                                        <p:tgtEl>
                                          <p:spTgt spid="5">
                                            <p:txEl>
                                              <p:pRg st="8" end="8"/>
                                            </p:txEl>
                                          </p:spTgt>
                                        </p:tgtEl>
                                        <p:attrNameLst>
                                          <p:attrName>style.visibility</p:attrName>
                                        </p:attrNameLst>
                                      </p:cBhvr>
                                      <p:to>
                                        <p:strVal val="visible"/>
                                      </p:to>
                                    </p:set>
                                  </p:childTnLst>
                                </p:cTn>
                              </p:par>
                              <p:par>
                                <p:cTn id="23" presetID="1" presetClass="entr" presetSubtype="0" fill="hold" nodeType="withEffect">
                                  <p:stCondLst>
                                    <p:cond delay="0"/>
                                  </p:stCondLst>
                                  <p:childTnLst>
                                    <p:set>
                                      <p:cBhvr>
                                        <p:cTn id="24" dur="1" fill="hold">
                                          <p:stCondLst>
                                            <p:cond delay="0"/>
                                          </p:stCondLst>
                                        </p:cTn>
                                        <p:tgtEl>
                                          <p:spTgt spid="5">
                                            <p:txEl>
                                              <p:pRg st="9" end="9"/>
                                            </p:txEl>
                                          </p:spTgt>
                                        </p:tgtEl>
                                        <p:attrNameLst>
                                          <p:attrName>style.visibility</p:attrName>
                                        </p:attrNameLst>
                                      </p:cBhvr>
                                      <p:to>
                                        <p:strVal val="visible"/>
                                      </p:to>
                                    </p:set>
                                  </p:childTnLst>
                                </p:cTn>
                              </p:par>
                            </p:childTnLst>
                          </p:cTn>
                        </p:par>
                      </p:childTnLst>
                    </p:cTn>
                  </p:par>
                  <p:par>
                    <p:cTn id="25" fill="hold">
                      <p:stCondLst>
                        <p:cond delay="indefinite"/>
                      </p:stCondLst>
                      <p:childTnLst>
                        <p:par>
                          <p:cTn id="26" fill="hold">
                            <p:stCondLst>
                              <p:cond delay="0"/>
                            </p:stCondLst>
                            <p:childTnLst>
                              <p:par>
                                <p:cTn id="27" presetID="1" presetClass="entr" presetSubtype="0" fill="hold" nodeType="clickEffect">
                                  <p:stCondLst>
                                    <p:cond delay="0"/>
                                  </p:stCondLst>
                                  <p:childTnLst>
                                    <p:set>
                                      <p:cBhvr>
                                        <p:cTn id="28" dur="1" fill="hold">
                                          <p:stCondLst>
                                            <p:cond delay="0"/>
                                          </p:stCondLst>
                                        </p:cTn>
                                        <p:tgtEl>
                                          <p:spTgt spid="2">
                                            <p:txEl>
                                              <p:pRg st="0" end="0"/>
                                            </p:txEl>
                                          </p:spTgt>
                                        </p:tgtEl>
                                        <p:attrNameLst>
                                          <p:attrName>style.visibility</p:attrName>
                                        </p:attrNameLst>
                                      </p:cBhvr>
                                      <p:to>
                                        <p:strVal val="visible"/>
                                      </p:to>
                                    </p:set>
                                  </p:childTnLst>
                                </p:cTn>
                              </p:par>
                              <p:par>
                                <p:cTn id="29" presetID="1" presetClass="entr" presetSubtype="0" fill="hold" nodeType="withEffect">
                                  <p:stCondLst>
                                    <p:cond delay="0"/>
                                  </p:stCondLst>
                                  <p:childTnLst>
                                    <p:set>
                                      <p:cBhvr>
                                        <p:cTn id="30" dur="1" fill="hold">
                                          <p:stCondLst>
                                            <p:cond delay="0"/>
                                          </p:stCondLst>
                                        </p:cTn>
                                        <p:tgtEl>
                                          <p:spTgt spid="2">
                                            <p:txEl>
                                              <p:pRg st="1" end="1"/>
                                            </p:txEl>
                                          </p:spTgt>
                                        </p:tgtEl>
                                        <p:attrNameLst>
                                          <p:attrName>style.visibility</p:attrName>
                                        </p:attrNameLst>
                                      </p:cBhvr>
                                      <p:to>
                                        <p:strVal val="visible"/>
                                      </p:to>
                                    </p:set>
                                  </p:childTnLst>
                                </p:cTn>
                              </p:par>
                            </p:childTnLst>
                          </p:cTn>
                        </p:par>
                      </p:childTnLst>
                    </p:cTn>
                  </p:par>
                </p:childTnLst>
              </p:cTn>
              <p:prevCondLst>
                <p:cond evt="onPrev" delay="0">
                  <p:tgtEl>
                    <p:sldTgt/>
                  </p:tgtEl>
                </p:cond>
              </p:prevCondLst>
              <p:nextCondLst>
                <p:cond evt="onNext" delay="0">
                  <p:tgtEl>
                    <p:sldTgt/>
                  </p:tgtEl>
                </p:cond>
              </p:nextCondLst>
            </p:seq>
          </p:childTnLst>
        </p:cTn>
      </p:par>
    </p:tnLst>
  </p:timing>
</p:sld>
</file>

<file path=ppt/slides/slide16.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ext Placeholder 1">
            <a:extLst>
              <a:ext uri="{FF2B5EF4-FFF2-40B4-BE49-F238E27FC236}">
                <a16:creationId xmlns:a16="http://schemas.microsoft.com/office/drawing/2014/main" id="{F99D4398-79A2-A3CD-7BC3-82465B833B23}"/>
              </a:ext>
            </a:extLst>
          </p:cNvPr>
          <p:cNvSpPr>
            <a:spLocks noGrp="1"/>
          </p:cNvSpPr>
          <p:nvPr>
            <p:ph type="body" sz="quarter" idx="10"/>
          </p:nvPr>
        </p:nvSpPr>
        <p:spPr/>
        <p:txBody>
          <a:bodyPr/>
          <a:lstStyle/>
          <a:p>
            <a:endParaRPr lang="en-US"/>
          </a:p>
        </p:txBody>
      </p:sp>
      <p:sp>
        <p:nvSpPr>
          <p:cNvPr id="3" name="Title 2">
            <a:extLst>
              <a:ext uri="{FF2B5EF4-FFF2-40B4-BE49-F238E27FC236}">
                <a16:creationId xmlns:a16="http://schemas.microsoft.com/office/drawing/2014/main" id="{C62F39D4-8C75-099C-4E4D-D840425D9F24}"/>
              </a:ext>
            </a:extLst>
          </p:cNvPr>
          <p:cNvSpPr>
            <a:spLocks noGrp="1"/>
          </p:cNvSpPr>
          <p:nvPr>
            <p:ph type="title"/>
          </p:nvPr>
        </p:nvSpPr>
        <p:spPr/>
        <p:txBody>
          <a:bodyPr/>
          <a:lstStyle/>
          <a:p>
            <a:r>
              <a:rPr lang="en-US" sz="1600" dirty="0"/>
              <a:t>Security &amp; Identity Updates (Defender for Cloud) – 1/5</a:t>
            </a:r>
            <a:endParaRPr lang="en-US" dirty="0"/>
          </a:p>
        </p:txBody>
      </p:sp>
      <p:sp>
        <p:nvSpPr>
          <p:cNvPr id="4" name="Text Placeholder 3">
            <a:extLst>
              <a:ext uri="{FF2B5EF4-FFF2-40B4-BE49-F238E27FC236}">
                <a16:creationId xmlns:a16="http://schemas.microsoft.com/office/drawing/2014/main" id="{4E55F7A9-25F3-DDB6-A17A-F92D9B3BD937}"/>
              </a:ext>
            </a:extLst>
          </p:cNvPr>
          <p:cNvSpPr>
            <a:spLocks noGrp="1"/>
          </p:cNvSpPr>
          <p:nvPr>
            <p:ph type="body" sz="quarter" idx="15"/>
          </p:nvPr>
        </p:nvSpPr>
        <p:spPr/>
        <p:txBody>
          <a:bodyPr/>
          <a:lstStyle/>
          <a:p>
            <a:endParaRPr lang="en-US"/>
          </a:p>
        </p:txBody>
      </p:sp>
      <p:sp>
        <p:nvSpPr>
          <p:cNvPr id="5" name="Text Placeholder 4">
            <a:extLst>
              <a:ext uri="{FF2B5EF4-FFF2-40B4-BE49-F238E27FC236}">
                <a16:creationId xmlns:a16="http://schemas.microsoft.com/office/drawing/2014/main" id="{FCAA9A05-A95F-B3FB-D46E-671A6F8E5840}"/>
              </a:ext>
            </a:extLst>
          </p:cNvPr>
          <p:cNvSpPr>
            <a:spLocks noGrp="1"/>
          </p:cNvSpPr>
          <p:nvPr>
            <p:ph type="body" sz="quarter" idx="16"/>
          </p:nvPr>
        </p:nvSpPr>
        <p:spPr/>
        <p:txBody>
          <a:bodyPr/>
          <a:lstStyle/>
          <a:p>
            <a:pPr algn="just"/>
            <a:r>
              <a:rPr lang="en-US" dirty="0">
                <a:hlinkClick r:id="rId2"/>
              </a:rPr>
              <a:t>General availability of agentless vulnerability assessment for AKS runtime containers</a:t>
            </a:r>
            <a:endParaRPr lang="en-US" dirty="0"/>
          </a:p>
          <a:p>
            <a:pPr algn="just"/>
            <a:r>
              <a:rPr lang="en-US" dirty="0"/>
              <a:t>Defender for Containers and Defender for Cloud Security Posture Management (CSPM) plans now include agentless vulnerability assessment for AKS runtime containers. This update extends vulnerability assessment coverage to running containers that use images from any container registry, rather than only supported registries. It also continues to scan Kubernetes add-ons and third-party tooling running in your AKS clusters.</a:t>
            </a:r>
          </a:p>
          <a:p>
            <a:pPr algn="just"/>
            <a:r>
              <a:rPr lang="en-US" dirty="0"/>
              <a:t>To enable this feature, make sure that </a:t>
            </a:r>
            <a:r>
              <a:rPr lang="en-US" b="1" dirty="0"/>
              <a:t>Agentless machine scanning</a:t>
            </a:r>
            <a:r>
              <a:rPr lang="en-US" dirty="0"/>
              <a:t> is turned on for your subscription in Defender for Cloud environment settings.</a:t>
            </a:r>
          </a:p>
          <a:p>
            <a:pPr algn="just"/>
            <a:endParaRPr lang="en-US" dirty="0"/>
          </a:p>
        </p:txBody>
      </p:sp>
    </p:spTree>
    <p:extLst>
      <p:ext uri="{BB962C8B-B14F-4D97-AF65-F5344CB8AC3E}">
        <p14:creationId xmlns:p14="http://schemas.microsoft.com/office/powerpoint/2010/main" val="4025752580"/>
      </p:ext>
    </p:extLst>
  </p:cSld>
  <p:clrMapOvr>
    <a:masterClrMapping/>
  </p:clrMapOvr>
  <p:timing>
    <p:tnLst>
      <p:par>
        <p:cTn id="1" dur="indefinite" restart="never" nodeType="tmRoot">
          <p:childTnLst>
            <p:seq concurrent="1" nextAc="seek">
              <p:cTn id="2" dur="indefinite" nodeType="mainSeq">
                <p:childTnLst>
                  <p:par>
                    <p:cTn id="3" fill="hold">
                      <p:stCondLst>
                        <p:cond delay="indefinite"/>
                      </p:stCondLst>
                      <p:childTnLst>
                        <p:par>
                          <p:cTn id="4" fill="hold">
                            <p:stCondLst>
                              <p:cond delay="0"/>
                            </p:stCondLst>
                            <p:childTnLst>
                              <p:par>
                                <p:cTn id="5" presetID="1" presetClass="entr" presetSubtype="0" fill="hold" nodeType="clickEffect">
                                  <p:stCondLst>
                                    <p:cond delay="0"/>
                                  </p:stCondLst>
                                  <p:childTnLst>
                                    <p:set>
                                      <p:cBhvr>
                                        <p:cTn id="6" dur="1" fill="hold">
                                          <p:stCondLst>
                                            <p:cond delay="0"/>
                                          </p:stCondLst>
                                        </p:cTn>
                                        <p:tgtEl>
                                          <p:spTgt spid="5">
                                            <p:txEl>
                                              <p:pRg st="0" end="0"/>
                                            </p:txEl>
                                          </p:spTgt>
                                        </p:tgtEl>
                                        <p:attrNameLst>
                                          <p:attrName>style.visibility</p:attrName>
                                        </p:attrNameLst>
                                      </p:cBhvr>
                                      <p:to>
                                        <p:strVal val="visible"/>
                                      </p:to>
                                    </p:set>
                                  </p:childTnLst>
                                </p:cTn>
                              </p:par>
                              <p:par>
                                <p:cTn id="7" presetID="1" presetClass="entr" presetSubtype="0" fill="hold" nodeType="withEffect">
                                  <p:stCondLst>
                                    <p:cond delay="0"/>
                                  </p:stCondLst>
                                  <p:childTnLst>
                                    <p:set>
                                      <p:cBhvr>
                                        <p:cTn id="8" dur="1" fill="hold">
                                          <p:stCondLst>
                                            <p:cond delay="0"/>
                                          </p:stCondLst>
                                        </p:cTn>
                                        <p:tgtEl>
                                          <p:spTgt spid="5">
                                            <p:txEl>
                                              <p:pRg st="1" end="1"/>
                                            </p:txEl>
                                          </p:spTgt>
                                        </p:tgtEl>
                                        <p:attrNameLst>
                                          <p:attrName>style.visibility</p:attrName>
                                        </p:attrNameLst>
                                      </p:cBhvr>
                                      <p:to>
                                        <p:strVal val="visible"/>
                                      </p:to>
                                    </p:set>
                                  </p:childTnLst>
                                </p:cTn>
                              </p:par>
                              <p:par>
                                <p:cTn id="9" presetID="1" presetClass="entr" presetSubtype="0" fill="hold" nodeType="withEffect">
                                  <p:stCondLst>
                                    <p:cond delay="0"/>
                                  </p:stCondLst>
                                  <p:childTnLst>
                                    <p:set>
                                      <p:cBhvr>
                                        <p:cTn id="10" dur="1" fill="hold">
                                          <p:stCondLst>
                                            <p:cond delay="0"/>
                                          </p:stCondLst>
                                        </p:cTn>
                                        <p:tgtEl>
                                          <p:spTgt spid="5">
                                            <p:txEl>
                                              <p:pRg st="2" end="2"/>
                                            </p:txEl>
                                          </p:spTgt>
                                        </p:tgtEl>
                                        <p:attrNameLst>
                                          <p:attrName>style.visibility</p:attrName>
                                        </p:attrNameLst>
                                      </p:cBhvr>
                                      <p:to>
                                        <p:strVal val="visible"/>
                                      </p:to>
                                    </p:set>
                                  </p:childTnLst>
                                </p:cTn>
                              </p:par>
                            </p:childTnLst>
                          </p:cTn>
                        </p:par>
                      </p:childTnLst>
                    </p:cTn>
                  </p:par>
                </p:childTnLst>
              </p:cTn>
              <p:prevCondLst>
                <p:cond evt="onPrev" delay="0">
                  <p:tgtEl>
                    <p:sldTgt/>
                  </p:tgtEl>
                </p:cond>
              </p:prevCondLst>
              <p:nextCondLst>
                <p:cond evt="onNext" delay="0">
                  <p:tgtEl>
                    <p:sldTgt/>
                  </p:tgtEl>
                </p:cond>
              </p:nextCondLst>
            </p:seq>
          </p:childTnLst>
        </p:cTn>
      </p:par>
    </p:tnLst>
  </p:timing>
</p:sld>
</file>

<file path=ppt/slides/slide17.xml><?xml version="1.0" encoding="utf-8"?>
<p:sld xmlns:a="http://schemas.openxmlformats.org/drawingml/2006/main" xmlns:r="http://schemas.openxmlformats.org/officeDocument/2006/relationships" xmlns:p="http://schemas.openxmlformats.org/presentationml/2006/main" showMasterSp="0">
  <p:cSld>
    <p:spTree>
      <p:nvGrpSpPr>
        <p:cNvPr id="1" name=""/>
        <p:cNvGrpSpPr/>
        <p:nvPr/>
      </p:nvGrpSpPr>
      <p:grpSpPr>
        <a:xfrm>
          <a:off x="0" y="0"/>
          <a:ext cx="0" cy="0"/>
          <a:chOff x="0" y="0"/>
          <a:chExt cx="0" cy="0"/>
        </a:xfrm>
      </p:grpSpPr>
      <p:sp>
        <p:nvSpPr>
          <p:cNvPr id="4" name="Text Placeholder 3">
            <a:extLst>
              <a:ext uri="{FF2B5EF4-FFF2-40B4-BE49-F238E27FC236}">
                <a16:creationId xmlns:a16="http://schemas.microsoft.com/office/drawing/2014/main" id="{17F39168-7046-60A5-1EEA-8D2B5EAAE24F}"/>
              </a:ext>
            </a:extLst>
          </p:cNvPr>
          <p:cNvSpPr>
            <a:spLocks noGrp="1"/>
          </p:cNvSpPr>
          <p:nvPr>
            <p:ph type="body" sz="quarter" idx="13"/>
          </p:nvPr>
        </p:nvSpPr>
        <p:spPr>
          <a:xfrm>
            <a:off x="252845" y="1285875"/>
            <a:ext cx="8796812" cy="1714500"/>
          </a:xfrm>
        </p:spPr>
        <p:txBody>
          <a:bodyPr/>
          <a:lstStyle/>
          <a:p>
            <a:r>
              <a:rPr lang="en-US" sz="4000" dirty="0"/>
              <a:t>Management &amp; Governance</a:t>
            </a:r>
          </a:p>
        </p:txBody>
      </p:sp>
    </p:spTree>
    <p:extLst>
      <p:ext uri="{BB962C8B-B14F-4D97-AF65-F5344CB8AC3E}">
        <p14:creationId xmlns:p14="http://schemas.microsoft.com/office/powerpoint/2010/main" val="3479183145"/>
      </p:ext>
    </p:extLst>
  </p:cSld>
  <p:clrMapOvr>
    <a:masterClrMapping/>
  </p:clrMapOvr>
</p:sld>
</file>

<file path=ppt/slides/slide18.xml><?xml version="1.0" encoding="utf-8"?>
<p:sld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9D5B2A5C-E35F-E18E-05A4-B6AF8CF698D5}"/>
            </a:ext>
          </a:extLst>
        </p:cNvPr>
        <p:cNvGrpSpPr/>
        <p:nvPr/>
      </p:nvGrpSpPr>
      <p:grpSpPr>
        <a:xfrm>
          <a:off x="0" y="0"/>
          <a:ext cx="0" cy="0"/>
          <a:chOff x="0" y="0"/>
          <a:chExt cx="0" cy="0"/>
        </a:xfrm>
      </p:grpSpPr>
      <p:sp>
        <p:nvSpPr>
          <p:cNvPr id="12" name="Text Placeholder 11">
            <a:extLst>
              <a:ext uri="{FF2B5EF4-FFF2-40B4-BE49-F238E27FC236}">
                <a16:creationId xmlns:a16="http://schemas.microsoft.com/office/drawing/2014/main" id="{921B0A37-B626-6209-EE63-BDBE1E100FF0}"/>
              </a:ext>
            </a:extLst>
          </p:cNvPr>
          <p:cNvSpPr>
            <a:spLocks noGrp="1"/>
          </p:cNvSpPr>
          <p:nvPr>
            <p:ph type="body" sz="quarter" idx="10"/>
          </p:nvPr>
        </p:nvSpPr>
        <p:spPr/>
        <p:txBody>
          <a:bodyPr/>
          <a:lstStyle/>
          <a:p>
            <a:pPr algn="just"/>
            <a:r>
              <a:rPr lang="en-US" sz="1000" dirty="0">
                <a:hlinkClick r:id="rId2"/>
              </a:rPr>
              <a:t>Announcing General Availability for Azure Resource Graph (ARG) GET/LIST API</a:t>
            </a:r>
            <a:endParaRPr lang="en-US" sz="1000" dirty="0"/>
          </a:p>
          <a:p>
            <a:pPr algn="just"/>
            <a:r>
              <a:rPr lang="en-US" sz="1000" dirty="0"/>
              <a:t>ARG GET/LIST API delivers 10X higher throttling quotas to callers compared to ARG query unlocking a more scalable, resilient way to perform resource lookups in Azure. ARG GET/LIST API is a new platform capability within Azure Resource Graph that provides a high-performance experience for both Point GET and collection GET requests. A key advantage of this capability is its ability to significantly reduce READ throttling for high volume calls efficiently. This is made possible through intelligent control plane routing based on a query parameter controlled by the caller. </a:t>
            </a:r>
          </a:p>
        </p:txBody>
      </p:sp>
      <p:sp>
        <p:nvSpPr>
          <p:cNvPr id="11" name="Title 10">
            <a:extLst>
              <a:ext uri="{FF2B5EF4-FFF2-40B4-BE49-F238E27FC236}">
                <a16:creationId xmlns:a16="http://schemas.microsoft.com/office/drawing/2014/main" id="{89DE73F3-4A2F-648B-BD17-44C88CDB5688}"/>
              </a:ext>
            </a:extLst>
          </p:cNvPr>
          <p:cNvSpPr>
            <a:spLocks noGrp="1"/>
          </p:cNvSpPr>
          <p:nvPr>
            <p:ph type="title"/>
          </p:nvPr>
        </p:nvSpPr>
        <p:spPr/>
        <p:txBody>
          <a:bodyPr/>
          <a:lstStyle/>
          <a:p>
            <a:r>
              <a:rPr lang="en-US" sz="1800" dirty="0"/>
              <a:t>Management &amp; Governance Updates</a:t>
            </a:r>
            <a:endParaRPr lang="en-US" dirty="0"/>
          </a:p>
        </p:txBody>
      </p:sp>
      <p:sp>
        <p:nvSpPr>
          <p:cNvPr id="13" name="Text Placeholder 12">
            <a:extLst>
              <a:ext uri="{FF2B5EF4-FFF2-40B4-BE49-F238E27FC236}">
                <a16:creationId xmlns:a16="http://schemas.microsoft.com/office/drawing/2014/main" id="{1A20683A-1573-CC2D-401E-61BAED70A144}"/>
              </a:ext>
            </a:extLst>
          </p:cNvPr>
          <p:cNvSpPr>
            <a:spLocks noGrp="1"/>
          </p:cNvSpPr>
          <p:nvPr>
            <p:ph type="body" sz="quarter" idx="15"/>
          </p:nvPr>
        </p:nvSpPr>
        <p:spPr/>
        <p:txBody>
          <a:bodyPr/>
          <a:lstStyle/>
          <a:p>
            <a:endParaRPr lang="en-US"/>
          </a:p>
        </p:txBody>
      </p:sp>
      <p:sp>
        <p:nvSpPr>
          <p:cNvPr id="14" name="Text Placeholder 13">
            <a:extLst>
              <a:ext uri="{FF2B5EF4-FFF2-40B4-BE49-F238E27FC236}">
                <a16:creationId xmlns:a16="http://schemas.microsoft.com/office/drawing/2014/main" id="{4B5FF973-31C8-BEFD-DC1E-6209231AED94}"/>
              </a:ext>
            </a:extLst>
          </p:cNvPr>
          <p:cNvSpPr>
            <a:spLocks noGrp="1"/>
          </p:cNvSpPr>
          <p:nvPr>
            <p:ph type="body" sz="quarter" idx="16"/>
          </p:nvPr>
        </p:nvSpPr>
        <p:spPr/>
        <p:txBody>
          <a:bodyPr/>
          <a:lstStyle/>
          <a:p>
            <a:pPr algn="just"/>
            <a:r>
              <a:rPr lang="en-US" dirty="0">
                <a:hlinkClick r:id="rId3"/>
              </a:rPr>
              <a:t>Generally Available: Perth - Azure Extended Zones</a:t>
            </a:r>
            <a:endParaRPr lang="en-US" dirty="0"/>
          </a:p>
          <a:p>
            <a:pPr algn="just"/>
            <a:r>
              <a:rPr lang="en-US" dirty="0"/>
              <a:t>Microsoft has announced the </a:t>
            </a:r>
            <a:r>
              <a:rPr lang="en-US" b="1" dirty="0"/>
              <a:t>general availability of the Perth Azure Extended Zone</a:t>
            </a:r>
            <a:r>
              <a:rPr lang="en-US" dirty="0"/>
              <a:t>, expanding Azure’s footprint to better serve regional low-latency and data-residency requirements.</a:t>
            </a:r>
          </a:p>
          <a:p>
            <a:pPr algn="just"/>
            <a:r>
              <a:rPr lang="en-US" dirty="0"/>
              <a:t>Azure Extended Zones are </a:t>
            </a:r>
            <a:r>
              <a:rPr lang="en-US" b="1" dirty="0"/>
              <a:t>small-footprint Azure deployments</a:t>
            </a:r>
            <a:r>
              <a:rPr lang="en-US" dirty="0"/>
              <a:t> placed in key metro areas, industrial hubs, or regulated jurisdictions. They provide access to a curated set of Azure services—including virtual machines, containers, networking, and storage—designed specifically for </a:t>
            </a:r>
            <a:r>
              <a:rPr lang="en-US" b="1" dirty="0"/>
              <a:t>latency-sensitive and throughput-intensive workloads</a:t>
            </a:r>
            <a:r>
              <a:rPr lang="en-US" dirty="0"/>
              <a:t>.</a:t>
            </a:r>
          </a:p>
          <a:p>
            <a:pPr algn="just"/>
            <a:r>
              <a:rPr lang="en-US" dirty="0"/>
              <a:t>With the launch of the Perth zone, customers can now run applications </a:t>
            </a:r>
            <a:r>
              <a:rPr lang="en-US" b="1" dirty="0"/>
              <a:t>closer to end users</a:t>
            </a:r>
            <a:r>
              <a:rPr lang="en-US" dirty="0"/>
              <a:t> while maintaining compliance with local </a:t>
            </a:r>
            <a:r>
              <a:rPr lang="en-US" b="1" dirty="0"/>
              <a:t>data residency mandates</a:t>
            </a:r>
            <a:r>
              <a:rPr lang="en-US" dirty="0"/>
              <a:t>, enabling improved performance for critical and real-time solutions.</a:t>
            </a:r>
          </a:p>
          <a:p>
            <a:pPr algn="just"/>
            <a:endParaRPr lang="en-US" dirty="0"/>
          </a:p>
        </p:txBody>
      </p:sp>
    </p:spTree>
    <p:extLst>
      <p:ext uri="{BB962C8B-B14F-4D97-AF65-F5344CB8AC3E}">
        <p14:creationId xmlns:p14="http://schemas.microsoft.com/office/powerpoint/2010/main" val="2370736212"/>
      </p:ext>
    </p:extLst>
  </p:cSld>
  <p:clrMapOvr>
    <a:masterClrMapping/>
  </p:clrMapOvr>
  <mc:AlternateContent xmlns:mc="http://schemas.openxmlformats.org/markup-compatibility/2006" xmlns:p14="http://schemas.microsoft.com/office/powerpoint/2010/main">
    <mc:Choice Requires="p14">
      <p:transition spd="med" p14:dur="700">
        <p:fade/>
      </p:transition>
    </mc:Choice>
    <mc:Fallback xmlns="">
      <p:transition spd="med">
        <p:fade/>
      </p:transition>
    </mc:Fallback>
  </mc:AlternateContent>
  <p:timing>
    <p:tnLst>
      <p:par>
        <p:cTn id="1" dur="indefinite" restart="never" nodeType="tmRoot">
          <p:childTnLst>
            <p:seq concurrent="1" nextAc="seek">
              <p:cTn id="2" dur="indefinite" nodeType="mainSeq">
                <p:childTnLst>
                  <p:par>
                    <p:cTn id="3" fill="hold">
                      <p:stCondLst>
                        <p:cond delay="indefinite"/>
                      </p:stCondLst>
                      <p:childTnLst>
                        <p:par>
                          <p:cTn id="4" fill="hold">
                            <p:stCondLst>
                              <p:cond delay="0"/>
                            </p:stCondLst>
                            <p:childTnLst>
                              <p:par>
                                <p:cTn id="5" presetID="1" presetClass="entr" presetSubtype="0" fill="hold" nodeType="clickEffect">
                                  <p:stCondLst>
                                    <p:cond delay="0"/>
                                  </p:stCondLst>
                                  <p:childTnLst>
                                    <p:set>
                                      <p:cBhvr>
                                        <p:cTn id="6" dur="1" fill="hold">
                                          <p:stCondLst>
                                            <p:cond delay="0"/>
                                          </p:stCondLst>
                                        </p:cTn>
                                        <p:tgtEl>
                                          <p:spTgt spid="14">
                                            <p:txEl>
                                              <p:pRg st="0" end="0"/>
                                            </p:txEl>
                                          </p:spTgt>
                                        </p:tgtEl>
                                        <p:attrNameLst>
                                          <p:attrName>style.visibility</p:attrName>
                                        </p:attrNameLst>
                                      </p:cBhvr>
                                      <p:to>
                                        <p:strVal val="visible"/>
                                      </p:to>
                                    </p:set>
                                  </p:childTnLst>
                                </p:cTn>
                              </p:par>
                              <p:par>
                                <p:cTn id="7" presetID="1" presetClass="entr" presetSubtype="0" fill="hold" nodeType="withEffect">
                                  <p:stCondLst>
                                    <p:cond delay="0"/>
                                  </p:stCondLst>
                                  <p:childTnLst>
                                    <p:set>
                                      <p:cBhvr>
                                        <p:cTn id="8" dur="1" fill="hold">
                                          <p:stCondLst>
                                            <p:cond delay="0"/>
                                          </p:stCondLst>
                                        </p:cTn>
                                        <p:tgtEl>
                                          <p:spTgt spid="14">
                                            <p:txEl>
                                              <p:pRg st="1" end="1"/>
                                            </p:txEl>
                                          </p:spTgt>
                                        </p:tgtEl>
                                        <p:attrNameLst>
                                          <p:attrName>style.visibility</p:attrName>
                                        </p:attrNameLst>
                                      </p:cBhvr>
                                      <p:to>
                                        <p:strVal val="visible"/>
                                      </p:to>
                                    </p:set>
                                  </p:childTnLst>
                                </p:cTn>
                              </p:par>
                              <p:par>
                                <p:cTn id="9" presetID="1" presetClass="entr" presetSubtype="0" fill="hold" nodeType="withEffect">
                                  <p:stCondLst>
                                    <p:cond delay="0"/>
                                  </p:stCondLst>
                                  <p:childTnLst>
                                    <p:set>
                                      <p:cBhvr>
                                        <p:cTn id="10" dur="1" fill="hold">
                                          <p:stCondLst>
                                            <p:cond delay="0"/>
                                          </p:stCondLst>
                                        </p:cTn>
                                        <p:tgtEl>
                                          <p:spTgt spid="14">
                                            <p:txEl>
                                              <p:pRg st="2" end="2"/>
                                            </p:txEl>
                                          </p:spTgt>
                                        </p:tgtEl>
                                        <p:attrNameLst>
                                          <p:attrName>style.visibility</p:attrName>
                                        </p:attrNameLst>
                                      </p:cBhvr>
                                      <p:to>
                                        <p:strVal val="visible"/>
                                      </p:to>
                                    </p:set>
                                  </p:childTnLst>
                                </p:cTn>
                              </p:par>
                              <p:par>
                                <p:cTn id="11" presetID="1" presetClass="entr" presetSubtype="0" fill="hold" nodeType="withEffect">
                                  <p:stCondLst>
                                    <p:cond delay="0"/>
                                  </p:stCondLst>
                                  <p:childTnLst>
                                    <p:set>
                                      <p:cBhvr>
                                        <p:cTn id="12" dur="1" fill="hold">
                                          <p:stCondLst>
                                            <p:cond delay="0"/>
                                          </p:stCondLst>
                                        </p:cTn>
                                        <p:tgtEl>
                                          <p:spTgt spid="14">
                                            <p:txEl>
                                              <p:pRg st="3" end="3"/>
                                            </p:txEl>
                                          </p:spTgt>
                                        </p:tgtEl>
                                        <p:attrNameLst>
                                          <p:attrName>style.visibility</p:attrName>
                                        </p:attrNameLst>
                                      </p:cBhvr>
                                      <p:to>
                                        <p:strVal val="visible"/>
                                      </p:to>
                                    </p:set>
                                  </p:childTnLst>
                                </p:cTn>
                              </p:par>
                            </p:childTnLst>
                          </p:cTn>
                        </p:par>
                      </p:childTnLst>
                    </p:cTn>
                  </p:par>
                  <p:par>
                    <p:cTn id="13" fill="hold">
                      <p:stCondLst>
                        <p:cond delay="indefinite"/>
                      </p:stCondLst>
                      <p:childTnLst>
                        <p:par>
                          <p:cTn id="14" fill="hold">
                            <p:stCondLst>
                              <p:cond delay="0"/>
                            </p:stCondLst>
                            <p:childTnLst>
                              <p:par>
                                <p:cTn id="15" presetID="1" presetClass="entr" presetSubtype="0" fill="hold" nodeType="clickEffect">
                                  <p:stCondLst>
                                    <p:cond delay="0"/>
                                  </p:stCondLst>
                                  <p:childTnLst>
                                    <p:set>
                                      <p:cBhvr>
                                        <p:cTn id="16" dur="1" fill="hold">
                                          <p:stCondLst>
                                            <p:cond delay="0"/>
                                          </p:stCondLst>
                                        </p:cTn>
                                        <p:tgtEl>
                                          <p:spTgt spid="12">
                                            <p:txEl>
                                              <p:pRg st="0" end="0"/>
                                            </p:txEl>
                                          </p:spTgt>
                                        </p:tgtEl>
                                        <p:attrNameLst>
                                          <p:attrName>style.visibility</p:attrName>
                                        </p:attrNameLst>
                                      </p:cBhvr>
                                      <p:to>
                                        <p:strVal val="visible"/>
                                      </p:to>
                                    </p:set>
                                  </p:childTnLst>
                                </p:cTn>
                              </p:par>
                              <p:par>
                                <p:cTn id="17" presetID="1" presetClass="entr" presetSubtype="0" fill="hold" nodeType="withEffect">
                                  <p:stCondLst>
                                    <p:cond delay="0"/>
                                  </p:stCondLst>
                                  <p:childTnLst>
                                    <p:set>
                                      <p:cBhvr>
                                        <p:cTn id="18" dur="1" fill="hold">
                                          <p:stCondLst>
                                            <p:cond delay="0"/>
                                          </p:stCondLst>
                                        </p:cTn>
                                        <p:tgtEl>
                                          <p:spTgt spid="12">
                                            <p:txEl>
                                              <p:pRg st="1" end="1"/>
                                            </p:txEl>
                                          </p:spTgt>
                                        </p:tgtEl>
                                        <p:attrNameLst>
                                          <p:attrName>style.visibility</p:attrName>
                                        </p:attrNameLst>
                                      </p:cBhvr>
                                      <p:to>
                                        <p:strVal val="visible"/>
                                      </p:to>
                                    </p:set>
                                  </p:childTnLst>
                                </p:cTn>
                              </p:par>
                            </p:childTnLst>
                          </p:cTn>
                        </p:par>
                      </p:childTnLst>
                    </p:cTn>
                  </p:par>
                </p:childTnLst>
              </p:cTn>
              <p:prevCondLst>
                <p:cond evt="onPrev" delay="0">
                  <p:tgtEl>
                    <p:sldTgt/>
                  </p:tgtEl>
                </p:cond>
              </p:prevCondLst>
              <p:nextCondLst>
                <p:cond evt="onNext" delay="0">
                  <p:tgtEl>
                    <p:sldTgt/>
                  </p:tgtEl>
                </p:cond>
              </p:nextCondLst>
            </p:seq>
          </p:childTnLst>
        </p:cTn>
      </p:par>
    </p:tnLst>
  </p:timing>
</p:sld>
</file>

<file path=ppt/slides/slide19.xml><?xml version="1.0" encoding="utf-8"?>
<p:sld xmlns:a="http://schemas.openxmlformats.org/drawingml/2006/main" xmlns:r="http://schemas.openxmlformats.org/officeDocument/2006/relationships" xmlns:p="http://schemas.openxmlformats.org/presentationml/2006/main" showMasterSp="0">
  <p:cSld>
    <p:spTree>
      <p:nvGrpSpPr>
        <p:cNvPr id="1" name=""/>
        <p:cNvGrpSpPr/>
        <p:nvPr/>
      </p:nvGrpSpPr>
      <p:grpSpPr>
        <a:xfrm>
          <a:off x="0" y="0"/>
          <a:ext cx="0" cy="0"/>
          <a:chOff x="0" y="0"/>
          <a:chExt cx="0" cy="0"/>
        </a:xfrm>
      </p:grpSpPr>
      <p:sp>
        <p:nvSpPr>
          <p:cNvPr id="4" name="Text Placeholder 3">
            <a:extLst>
              <a:ext uri="{FF2B5EF4-FFF2-40B4-BE49-F238E27FC236}">
                <a16:creationId xmlns:a16="http://schemas.microsoft.com/office/drawing/2014/main" id="{17F39168-7046-60A5-1EEA-8D2B5EAAE24F}"/>
              </a:ext>
            </a:extLst>
          </p:cNvPr>
          <p:cNvSpPr>
            <a:spLocks noGrp="1"/>
          </p:cNvSpPr>
          <p:nvPr>
            <p:ph type="body" sz="quarter" idx="13"/>
          </p:nvPr>
        </p:nvSpPr>
        <p:spPr/>
        <p:txBody>
          <a:bodyPr/>
          <a:lstStyle/>
          <a:p>
            <a:r>
              <a:rPr lang="en-US" sz="4000" dirty="0"/>
              <a:t>Compute</a:t>
            </a:r>
          </a:p>
        </p:txBody>
      </p:sp>
    </p:spTree>
    <p:extLst>
      <p:ext uri="{BB962C8B-B14F-4D97-AF65-F5344CB8AC3E}">
        <p14:creationId xmlns:p14="http://schemas.microsoft.com/office/powerpoint/2010/main" val="274742856"/>
      </p:ext>
    </p:extLst>
  </p:cSld>
  <p:clrMapOvr>
    <a:masterClrMapping/>
  </p:clrMapOvr>
</p:sld>
</file>

<file path=ppt/slides/slide20.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ext Placeholder 1">
            <a:extLst>
              <a:ext uri="{FF2B5EF4-FFF2-40B4-BE49-F238E27FC236}">
                <a16:creationId xmlns:a16="http://schemas.microsoft.com/office/drawing/2014/main" id="{97933106-C18E-A159-9F44-00A7440C24CB}"/>
              </a:ext>
            </a:extLst>
          </p:cNvPr>
          <p:cNvSpPr>
            <a:spLocks noGrp="1"/>
          </p:cNvSpPr>
          <p:nvPr>
            <p:ph type="body" sz="quarter" idx="10"/>
          </p:nvPr>
        </p:nvSpPr>
        <p:spPr/>
        <p:txBody>
          <a:bodyPr/>
          <a:lstStyle/>
          <a:p>
            <a:pPr algn="just"/>
            <a:r>
              <a:rPr lang="en-US" sz="1000" dirty="0">
                <a:hlinkClick r:id="rId2"/>
              </a:rPr>
              <a:t>Windows Cloud Keyboard Input Protection (preview)</a:t>
            </a:r>
            <a:endParaRPr lang="en-US" sz="1000" dirty="0"/>
          </a:p>
          <a:p>
            <a:pPr algn="just"/>
            <a:r>
              <a:rPr lang="en-US" sz="1000" dirty="0"/>
              <a:t>Windows Cloud Keyboard Input Protection is now in preview - purpose-built to address endpoint security concerns for Windows 365 and Azure Virtual Desktop. This feature encrypts keystrokes at the kernel level, protecting against keylogger malware and other endpoint threats. It marks a major step forward in helping customers secure sensitive input data and strengthen endpoint security in cloud-based workspaces</a:t>
            </a:r>
          </a:p>
        </p:txBody>
      </p:sp>
      <p:sp>
        <p:nvSpPr>
          <p:cNvPr id="3" name="Title 2">
            <a:extLst>
              <a:ext uri="{FF2B5EF4-FFF2-40B4-BE49-F238E27FC236}">
                <a16:creationId xmlns:a16="http://schemas.microsoft.com/office/drawing/2014/main" id="{C6053097-44F3-937D-1D07-1067F30153D8}"/>
              </a:ext>
            </a:extLst>
          </p:cNvPr>
          <p:cNvSpPr>
            <a:spLocks noGrp="1"/>
          </p:cNvSpPr>
          <p:nvPr>
            <p:ph type="title"/>
          </p:nvPr>
        </p:nvSpPr>
        <p:spPr/>
        <p:txBody>
          <a:bodyPr/>
          <a:lstStyle/>
          <a:p>
            <a:r>
              <a:rPr lang="en-US" sz="1600" dirty="0"/>
              <a:t>Compute Updates</a:t>
            </a:r>
            <a:endParaRPr lang="en-US" dirty="0"/>
          </a:p>
        </p:txBody>
      </p:sp>
      <p:sp>
        <p:nvSpPr>
          <p:cNvPr id="4" name="Text Placeholder 3">
            <a:extLst>
              <a:ext uri="{FF2B5EF4-FFF2-40B4-BE49-F238E27FC236}">
                <a16:creationId xmlns:a16="http://schemas.microsoft.com/office/drawing/2014/main" id="{411A5560-4C28-6B94-DD2F-C063A9BFD7C4}"/>
              </a:ext>
            </a:extLst>
          </p:cNvPr>
          <p:cNvSpPr>
            <a:spLocks noGrp="1"/>
          </p:cNvSpPr>
          <p:nvPr>
            <p:ph type="body" sz="quarter" idx="15"/>
          </p:nvPr>
        </p:nvSpPr>
        <p:spPr/>
        <p:txBody>
          <a:bodyPr/>
          <a:lstStyle/>
          <a:p>
            <a:endParaRPr lang="en-US"/>
          </a:p>
        </p:txBody>
      </p:sp>
      <p:sp>
        <p:nvSpPr>
          <p:cNvPr id="5" name="Text Placeholder 4">
            <a:extLst>
              <a:ext uri="{FF2B5EF4-FFF2-40B4-BE49-F238E27FC236}">
                <a16:creationId xmlns:a16="http://schemas.microsoft.com/office/drawing/2014/main" id="{A4D31DAE-6E7D-C319-E6E1-EC1145AA14B8}"/>
              </a:ext>
            </a:extLst>
          </p:cNvPr>
          <p:cNvSpPr>
            <a:spLocks noGrp="1"/>
          </p:cNvSpPr>
          <p:nvPr>
            <p:ph type="body" sz="quarter" idx="16"/>
          </p:nvPr>
        </p:nvSpPr>
        <p:spPr/>
        <p:txBody>
          <a:bodyPr/>
          <a:lstStyle/>
          <a:p>
            <a:pPr algn="just"/>
            <a:r>
              <a:rPr lang="en-US" dirty="0">
                <a:hlinkClick r:id="rId3"/>
              </a:rPr>
              <a:t>Enhancements to </a:t>
            </a:r>
            <a:r>
              <a:rPr lang="en-US" dirty="0" err="1">
                <a:hlinkClick r:id="rId3"/>
              </a:rPr>
              <a:t>RemoteApps</a:t>
            </a:r>
            <a:r>
              <a:rPr lang="en-US" dirty="0">
                <a:hlinkClick r:id="rId3"/>
              </a:rPr>
              <a:t> (preview)</a:t>
            </a:r>
            <a:endParaRPr lang="en-US" dirty="0"/>
          </a:p>
          <a:p>
            <a:pPr algn="just"/>
            <a:r>
              <a:rPr lang="en-US" dirty="0"/>
              <a:t>Enhanced user experiences for </a:t>
            </a:r>
            <a:r>
              <a:rPr lang="en-US" dirty="0" err="1"/>
              <a:t>RemoteApps</a:t>
            </a:r>
            <a:r>
              <a:rPr lang="en-US" dirty="0"/>
              <a:t> are rolling out to public preview. Enhancements include improved support for Windows Snap and full-screen mode, better DPI handling, and refined visuals like borders, shadows, and theme integration in Windows OS</a:t>
            </a:r>
          </a:p>
        </p:txBody>
      </p:sp>
    </p:spTree>
    <p:extLst>
      <p:ext uri="{BB962C8B-B14F-4D97-AF65-F5344CB8AC3E}">
        <p14:creationId xmlns:p14="http://schemas.microsoft.com/office/powerpoint/2010/main" val="2629156891"/>
      </p:ext>
    </p:extLst>
  </p:cSld>
  <p:clrMapOvr>
    <a:masterClrMapping/>
  </p:clrMapOvr>
  <p:timing>
    <p:tnLst>
      <p:par>
        <p:cTn id="1" dur="indefinite" restart="never" nodeType="tmRoot">
          <p:childTnLst>
            <p:seq concurrent="1" nextAc="seek">
              <p:cTn id="2" dur="indefinite" nodeType="mainSeq">
                <p:childTnLst>
                  <p:par>
                    <p:cTn id="3" fill="hold">
                      <p:stCondLst>
                        <p:cond delay="indefinite"/>
                      </p:stCondLst>
                      <p:childTnLst>
                        <p:par>
                          <p:cTn id="4" fill="hold">
                            <p:stCondLst>
                              <p:cond delay="0"/>
                            </p:stCondLst>
                            <p:childTnLst>
                              <p:par>
                                <p:cTn id="5" presetID="1" presetClass="entr" presetSubtype="0" fill="hold" nodeType="clickEffect">
                                  <p:stCondLst>
                                    <p:cond delay="0"/>
                                  </p:stCondLst>
                                  <p:childTnLst>
                                    <p:set>
                                      <p:cBhvr>
                                        <p:cTn id="6" dur="1" fill="hold">
                                          <p:stCondLst>
                                            <p:cond delay="0"/>
                                          </p:stCondLst>
                                        </p:cTn>
                                        <p:tgtEl>
                                          <p:spTgt spid="5">
                                            <p:txEl>
                                              <p:pRg st="0" end="0"/>
                                            </p:txEl>
                                          </p:spTgt>
                                        </p:tgtEl>
                                        <p:attrNameLst>
                                          <p:attrName>style.visibility</p:attrName>
                                        </p:attrNameLst>
                                      </p:cBhvr>
                                      <p:to>
                                        <p:strVal val="visible"/>
                                      </p:to>
                                    </p:set>
                                  </p:childTnLst>
                                </p:cTn>
                              </p:par>
                              <p:par>
                                <p:cTn id="7" presetID="1" presetClass="entr" presetSubtype="0" fill="hold" nodeType="withEffect">
                                  <p:stCondLst>
                                    <p:cond delay="0"/>
                                  </p:stCondLst>
                                  <p:childTnLst>
                                    <p:set>
                                      <p:cBhvr>
                                        <p:cTn id="8" dur="1" fill="hold">
                                          <p:stCondLst>
                                            <p:cond delay="0"/>
                                          </p:stCondLst>
                                        </p:cTn>
                                        <p:tgtEl>
                                          <p:spTgt spid="5">
                                            <p:txEl>
                                              <p:pRg st="1" end="1"/>
                                            </p:txEl>
                                          </p:spTgt>
                                        </p:tgtEl>
                                        <p:attrNameLst>
                                          <p:attrName>style.visibility</p:attrName>
                                        </p:attrNameLst>
                                      </p:cBhvr>
                                      <p:to>
                                        <p:strVal val="visible"/>
                                      </p:to>
                                    </p:set>
                                  </p:childTnLst>
                                </p:cTn>
                              </p:par>
                            </p:childTnLst>
                          </p:cTn>
                        </p:par>
                      </p:childTnLst>
                    </p:cTn>
                  </p:par>
                  <p:par>
                    <p:cTn id="9" fill="hold">
                      <p:stCondLst>
                        <p:cond delay="indefinite"/>
                      </p:stCondLst>
                      <p:childTnLst>
                        <p:par>
                          <p:cTn id="10" fill="hold">
                            <p:stCondLst>
                              <p:cond delay="0"/>
                            </p:stCondLst>
                            <p:childTnLst>
                              <p:par>
                                <p:cTn id="11" presetID="1" presetClass="entr" presetSubtype="0" fill="hold" nodeType="clickEffect">
                                  <p:stCondLst>
                                    <p:cond delay="0"/>
                                  </p:stCondLst>
                                  <p:childTnLst>
                                    <p:set>
                                      <p:cBhvr>
                                        <p:cTn id="12" dur="1" fill="hold">
                                          <p:stCondLst>
                                            <p:cond delay="0"/>
                                          </p:stCondLst>
                                        </p:cTn>
                                        <p:tgtEl>
                                          <p:spTgt spid="2">
                                            <p:txEl>
                                              <p:pRg st="0" end="0"/>
                                            </p:txEl>
                                          </p:spTgt>
                                        </p:tgtEl>
                                        <p:attrNameLst>
                                          <p:attrName>style.visibility</p:attrName>
                                        </p:attrNameLst>
                                      </p:cBhvr>
                                      <p:to>
                                        <p:strVal val="visible"/>
                                      </p:to>
                                    </p:set>
                                  </p:childTnLst>
                                </p:cTn>
                              </p:par>
                              <p:par>
                                <p:cTn id="13" presetID="1" presetClass="entr" presetSubtype="0" fill="hold" nodeType="withEffect">
                                  <p:stCondLst>
                                    <p:cond delay="0"/>
                                  </p:stCondLst>
                                  <p:childTnLst>
                                    <p:set>
                                      <p:cBhvr>
                                        <p:cTn id="14" dur="1" fill="hold">
                                          <p:stCondLst>
                                            <p:cond delay="0"/>
                                          </p:stCondLst>
                                        </p:cTn>
                                        <p:tgtEl>
                                          <p:spTgt spid="2">
                                            <p:txEl>
                                              <p:pRg st="1" end="1"/>
                                            </p:txEl>
                                          </p:spTgt>
                                        </p:tgtEl>
                                        <p:attrNameLst>
                                          <p:attrName>style.visibility</p:attrName>
                                        </p:attrNameLst>
                                      </p:cBhvr>
                                      <p:to>
                                        <p:strVal val="visible"/>
                                      </p:to>
                                    </p:set>
                                  </p:childTnLst>
                                </p:cTn>
                              </p:par>
                            </p:childTnLst>
                          </p:cTn>
                        </p:par>
                      </p:childTnLst>
                    </p:cTn>
                  </p:par>
                </p:childTnLst>
              </p:cTn>
              <p:prevCondLst>
                <p:cond evt="onPrev" delay="0">
                  <p:tgtEl>
                    <p:sldTgt/>
                  </p:tgtEl>
                </p:cond>
              </p:prevCondLst>
              <p:nextCondLst>
                <p:cond evt="onNext" delay="0">
                  <p:tgtEl>
                    <p:sldTgt/>
                  </p:tgtEl>
                </p:cond>
              </p:nextCondLst>
            </p:seq>
          </p:childTnLst>
        </p:cTn>
      </p:par>
    </p:tnLst>
  </p:timing>
</p:sld>
</file>

<file path=ppt/slides/slide21.xml><?xml version="1.0" encoding="utf-8"?>
<p:sld xmlns:a="http://schemas.openxmlformats.org/drawingml/2006/main" xmlns:r="http://schemas.openxmlformats.org/officeDocument/2006/relationships" xmlns:p="http://schemas.openxmlformats.org/presentationml/2006/main" showMasterSp="0">
  <p:cSld>
    <p:spTree>
      <p:nvGrpSpPr>
        <p:cNvPr id="1" name=""/>
        <p:cNvGrpSpPr/>
        <p:nvPr/>
      </p:nvGrpSpPr>
      <p:grpSpPr>
        <a:xfrm>
          <a:off x="0" y="0"/>
          <a:ext cx="0" cy="0"/>
          <a:chOff x="0" y="0"/>
          <a:chExt cx="0" cy="0"/>
        </a:xfrm>
      </p:grpSpPr>
      <p:sp>
        <p:nvSpPr>
          <p:cNvPr id="11" name="Title 10">
            <a:extLst>
              <a:ext uri="{FF2B5EF4-FFF2-40B4-BE49-F238E27FC236}">
                <a16:creationId xmlns:a16="http://schemas.microsoft.com/office/drawing/2014/main" id="{0A19052D-1C06-3BF6-CD73-31098A5519FB}"/>
              </a:ext>
            </a:extLst>
          </p:cNvPr>
          <p:cNvSpPr>
            <a:spLocks noGrp="1"/>
          </p:cNvSpPr>
          <p:nvPr>
            <p:ph type="title"/>
          </p:nvPr>
        </p:nvSpPr>
        <p:spPr/>
        <p:txBody>
          <a:bodyPr/>
          <a:lstStyle/>
          <a:p>
            <a:r>
              <a:rPr lang="en-US" sz="1800" dirty="0"/>
              <a:t>Compute Updates</a:t>
            </a:r>
            <a:endParaRPr lang="en-US" dirty="0"/>
          </a:p>
        </p:txBody>
      </p:sp>
      <p:sp>
        <p:nvSpPr>
          <p:cNvPr id="13" name="Text Placeholder 12">
            <a:extLst>
              <a:ext uri="{FF2B5EF4-FFF2-40B4-BE49-F238E27FC236}">
                <a16:creationId xmlns:a16="http://schemas.microsoft.com/office/drawing/2014/main" id="{AB83368C-23D2-63DD-1F2B-65AB8A48B236}"/>
              </a:ext>
            </a:extLst>
          </p:cNvPr>
          <p:cNvSpPr>
            <a:spLocks noGrp="1"/>
          </p:cNvSpPr>
          <p:nvPr>
            <p:ph type="body" sz="quarter" idx="15"/>
          </p:nvPr>
        </p:nvSpPr>
        <p:spPr/>
        <p:txBody>
          <a:bodyPr/>
          <a:lstStyle/>
          <a:p>
            <a:endParaRPr lang="en-US" dirty="0"/>
          </a:p>
        </p:txBody>
      </p:sp>
      <p:sp>
        <p:nvSpPr>
          <p:cNvPr id="14" name="Text Placeholder 13">
            <a:extLst>
              <a:ext uri="{FF2B5EF4-FFF2-40B4-BE49-F238E27FC236}">
                <a16:creationId xmlns:a16="http://schemas.microsoft.com/office/drawing/2014/main" id="{1DF1A36F-4250-259D-24AE-F82FE69A7F7E}"/>
              </a:ext>
            </a:extLst>
          </p:cNvPr>
          <p:cNvSpPr>
            <a:spLocks noGrp="1"/>
          </p:cNvSpPr>
          <p:nvPr>
            <p:ph type="body" sz="quarter" idx="16"/>
          </p:nvPr>
        </p:nvSpPr>
        <p:spPr/>
        <p:txBody>
          <a:bodyPr/>
          <a:lstStyle/>
          <a:p>
            <a:pPr algn="just"/>
            <a:r>
              <a:rPr lang="en-US" dirty="0">
                <a:hlinkClick r:id="rId2"/>
              </a:rPr>
              <a:t>Public Preview: Serverless workspaces in Azure Databricks</a:t>
            </a:r>
            <a:endParaRPr lang="en-US" dirty="0"/>
          </a:p>
          <a:p>
            <a:pPr algn="just"/>
            <a:r>
              <a:rPr lang="en-US" b="1" dirty="0"/>
              <a:t>Serverless workspaces in Azure Databricks are now in Public Preview</a:t>
            </a:r>
            <a:r>
              <a:rPr lang="en-US" dirty="0"/>
              <a:t>, introducing a fully managed workspace type that provides built-in serverless compute and default storage—delivering an enterprise-grade SaaS experience with virtually zero infrastructure setup.</a:t>
            </a:r>
          </a:p>
          <a:p>
            <a:pPr algn="just"/>
            <a:r>
              <a:rPr lang="en-US" dirty="0"/>
              <a:t>With this capability, customers can:</a:t>
            </a:r>
          </a:p>
          <a:p>
            <a:pPr marL="171450" indent="-171450" algn="just">
              <a:buFont typeface="Arial" panose="020B0604020202020204" pitchFamily="34" charset="0"/>
              <a:buChar char="•"/>
            </a:pPr>
            <a:r>
              <a:rPr lang="en-US" b="1" dirty="0"/>
              <a:t>Create “Serverless” Azure Databricks workspaces directly from the Azure portal</a:t>
            </a:r>
            <a:endParaRPr lang="en-US" dirty="0"/>
          </a:p>
          <a:p>
            <a:pPr marL="171450" indent="-171450" algn="just">
              <a:buFont typeface="Arial" panose="020B0604020202020204" pitchFamily="34" charset="0"/>
              <a:buChar char="•"/>
            </a:pPr>
            <a:r>
              <a:rPr lang="en-US" b="1" dirty="0"/>
              <a:t>Run production workloads entirely on serverless compute</a:t>
            </a:r>
            <a:r>
              <a:rPr lang="en-US" dirty="0"/>
              <a:t>, eliminating cluster management</a:t>
            </a:r>
          </a:p>
          <a:p>
            <a:pPr marL="171450" indent="-171450" algn="just">
              <a:buFont typeface="Arial" panose="020B0604020202020204" pitchFamily="34" charset="0"/>
              <a:buChar char="•"/>
            </a:pPr>
            <a:r>
              <a:rPr lang="en-US" b="1" dirty="0"/>
              <a:t>Spin up short-lived training, testing, or experimentation environments in seconds</a:t>
            </a:r>
            <a:endParaRPr lang="en-US" dirty="0"/>
          </a:p>
          <a:p>
            <a:pPr marL="171450" indent="-171450" algn="just">
              <a:buFont typeface="Arial" panose="020B0604020202020204" pitchFamily="34" charset="0"/>
              <a:buChar char="•"/>
            </a:pPr>
            <a:r>
              <a:rPr lang="en-US" b="1" dirty="0"/>
              <a:t>Enable admins without cloud provisioning permissions</a:t>
            </a:r>
            <a:r>
              <a:rPr lang="en-US" dirty="0"/>
              <a:t> to deploy and operate secure, governed Databricks environments at scale</a:t>
            </a:r>
          </a:p>
          <a:p>
            <a:pPr algn="just"/>
            <a:r>
              <a:rPr lang="en-US" dirty="0"/>
              <a:t>This release simplifies onboarding, accelerates development, and reduces operational overhead while ensuring enterprise-level governance and security.</a:t>
            </a:r>
          </a:p>
          <a:p>
            <a:pPr algn="just"/>
            <a:endParaRPr lang="en-US" dirty="0"/>
          </a:p>
        </p:txBody>
      </p:sp>
      <p:sp>
        <p:nvSpPr>
          <p:cNvPr id="3" name="Text Placeholder 2">
            <a:extLst>
              <a:ext uri="{FF2B5EF4-FFF2-40B4-BE49-F238E27FC236}">
                <a16:creationId xmlns:a16="http://schemas.microsoft.com/office/drawing/2014/main" id="{3A73FEE3-AB74-15BA-F0CB-85881A6A200B}"/>
              </a:ext>
            </a:extLst>
          </p:cNvPr>
          <p:cNvSpPr>
            <a:spLocks noGrp="1"/>
          </p:cNvSpPr>
          <p:nvPr>
            <p:ph type="body" sz="quarter" idx="10"/>
          </p:nvPr>
        </p:nvSpPr>
        <p:spPr/>
        <p:txBody>
          <a:bodyPr/>
          <a:lstStyle/>
          <a:p>
            <a:endParaRPr lang="en-US"/>
          </a:p>
        </p:txBody>
      </p:sp>
    </p:spTree>
    <p:extLst>
      <p:ext uri="{BB962C8B-B14F-4D97-AF65-F5344CB8AC3E}">
        <p14:creationId xmlns:p14="http://schemas.microsoft.com/office/powerpoint/2010/main" val="674135131"/>
      </p:ext>
    </p:extLst>
  </p:cSld>
  <p:clrMapOvr>
    <a:masterClrMapping/>
  </p:clrMapOvr>
  <mc:AlternateContent xmlns:mc="http://schemas.openxmlformats.org/markup-compatibility/2006" xmlns:p14="http://schemas.microsoft.com/office/powerpoint/2010/main">
    <mc:Choice Requires="p14">
      <p:transition spd="med" p14:dur="700">
        <p:fade/>
      </p:transition>
    </mc:Choice>
    <mc:Fallback xmlns="">
      <p:transition spd="med">
        <p:fade/>
      </p:transition>
    </mc:Fallback>
  </mc:AlternateContent>
  <p:timing>
    <p:tnLst>
      <p:par>
        <p:cTn id="1" dur="indefinite" restart="never" nodeType="tmRoot">
          <p:childTnLst>
            <p:seq concurrent="1" nextAc="seek">
              <p:cTn id="2" dur="indefinite" nodeType="mainSeq">
                <p:childTnLst>
                  <p:par>
                    <p:cTn id="3" fill="hold">
                      <p:stCondLst>
                        <p:cond delay="indefinite"/>
                      </p:stCondLst>
                      <p:childTnLst>
                        <p:par>
                          <p:cTn id="4" fill="hold">
                            <p:stCondLst>
                              <p:cond delay="0"/>
                            </p:stCondLst>
                            <p:childTnLst>
                              <p:par>
                                <p:cTn id="5" presetID="1" presetClass="entr" presetSubtype="0" fill="hold" nodeType="clickEffect">
                                  <p:stCondLst>
                                    <p:cond delay="0"/>
                                  </p:stCondLst>
                                  <p:childTnLst>
                                    <p:set>
                                      <p:cBhvr>
                                        <p:cTn id="6" dur="1" fill="hold">
                                          <p:stCondLst>
                                            <p:cond delay="0"/>
                                          </p:stCondLst>
                                        </p:cTn>
                                        <p:tgtEl>
                                          <p:spTgt spid="14">
                                            <p:txEl>
                                              <p:pRg st="0" end="0"/>
                                            </p:txEl>
                                          </p:spTgt>
                                        </p:tgtEl>
                                        <p:attrNameLst>
                                          <p:attrName>style.visibility</p:attrName>
                                        </p:attrNameLst>
                                      </p:cBhvr>
                                      <p:to>
                                        <p:strVal val="visible"/>
                                      </p:to>
                                    </p:set>
                                  </p:childTnLst>
                                </p:cTn>
                              </p:par>
                              <p:par>
                                <p:cTn id="7" presetID="1" presetClass="entr" presetSubtype="0" fill="hold" nodeType="withEffect">
                                  <p:stCondLst>
                                    <p:cond delay="0"/>
                                  </p:stCondLst>
                                  <p:childTnLst>
                                    <p:set>
                                      <p:cBhvr>
                                        <p:cTn id="8" dur="1" fill="hold">
                                          <p:stCondLst>
                                            <p:cond delay="0"/>
                                          </p:stCondLst>
                                        </p:cTn>
                                        <p:tgtEl>
                                          <p:spTgt spid="14">
                                            <p:txEl>
                                              <p:pRg st="1" end="1"/>
                                            </p:txEl>
                                          </p:spTgt>
                                        </p:tgtEl>
                                        <p:attrNameLst>
                                          <p:attrName>style.visibility</p:attrName>
                                        </p:attrNameLst>
                                      </p:cBhvr>
                                      <p:to>
                                        <p:strVal val="visible"/>
                                      </p:to>
                                    </p:set>
                                  </p:childTnLst>
                                </p:cTn>
                              </p:par>
                              <p:par>
                                <p:cTn id="9" presetID="1" presetClass="entr" presetSubtype="0" fill="hold" nodeType="withEffect">
                                  <p:stCondLst>
                                    <p:cond delay="0"/>
                                  </p:stCondLst>
                                  <p:childTnLst>
                                    <p:set>
                                      <p:cBhvr>
                                        <p:cTn id="10" dur="1" fill="hold">
                                          <p:stCondLst>
                                            <p:cond delay="0"/>
                                          </p:stCondLst>
                                        </p:cTn>
                                        <p:tgtEl>
                                          <p:spTgt spid="14">
                                            <p:txEl>
                                              <p:pRg st="2" end="2"/>
                                            </p:txEl>
                                          </p:spTgt>
                                        </p:tgtEl>
                                        <p:attrNameLst>
                                          <p:attrName>style.visibility</p:attrName>
                                        </p:attrNameLst>
                                      </p:cBhvr>
                                      <p:to>
                                        <p:strVal val="visible"/>
                                      </p:to>
                                    </p:set>
                                  </p:childTnLst>
                                </p:cTn>
                              </p:par>
                              <p:par>
                                <p:cTn id="11" presetID="1" presetClass="entr" presetSubtype="0" fill="hold" nodeType="withEffect">
                                  <p:stCondLst>
                                    <p:cond delay="0"/>
                                  </p:stCondLst>
                                  <p:childTnLst>
                                    <p:set>
                                      <p:cBhvr>
                                        <p:cTn id="12" dur="1" fill="hold">
                                          <p:stCondLst>
                                            <p:cond delay="0"/>
                                          </p:stCondLst>
                                        </p:cTn>
                                        <p:tgtEl>
                                          <p:spTgt spid="14">
                                            <p:txEl>
                                              <p:pRg st="3" end="3"/>
                                            </p:txEl>
                                          </p:spTgt>
                                        </p:tgtEl>
                                        <p:attrNameLst>
                                          <p:attrName>style.visibility</p:attrName>
                                        </p:attrNameLst>
                                      </p:cBhvr>
                                      <p:to>
                                        <p:strVal val="visible"/>
                                      </p:to>
                                    </p:set>
                                  </p:childTnLst>
                                </p:cTn>
                              </p:par>
                              <p:par>
                                <p:cTn id="13" presetID="1" presetClass="entr" presetSubtype="0" fill="hold" nodeType="withEffect">
                                  <p:stCondLst>
                                    <p:cond delay="0"/>
                                  </p:stCondLst>
                                  <p:childTnLst>
                                    <p:set>
                                      <p:cBhvr>
                                        <p:cTn id="14" dur="1" fill="hold">
                                          <p:stCondLst>
                                            <p:cond delay="0"/>
                                          </p:stCondLst>
                                        </p:cTn>
                                        <p:tgtEl>
                                          <p:spTgt spid="14">
                                            <p:txEl>
                                              <p:pRg st="4" end="4"/>
                                            </p:txEl>
                                          </p:spTgt>
                                        </p:tgtEl>
                                        <p:attrNameLst>
                                          <p:attrName>style.visibility</p:attrName>
                                        </p:attrNameLst>
                                      </p:cBhvr>
                                      <p:to>
                                        <p:strVal val="visible"/>
                                      </p:to>
                                    </p:set>
                                  </p:childTnLst>
                                </p:cTn>
                              </p:par>
                              <p:par>
                                <p:cTn id="15" presetID="1" presetClass="entr" presetSubtype="0" fill="hold" nodeType="withEffect">
                                  <p:stCondLst>
                                    <p:cond delay="0"/>
                                  </p:stCondLst>
                                  <p:childTnLst>
                                    <p:set>
                                      <p:cBhvr>
                                        <p:cTn id="16" dur="1" fill="hold">
                                          <p:stCondLst>
                                            <p:cond delay="0"/>
                                          </p:stCondLst>
                                        </p:cTn>
                                        <p:tgtEl>
                                          <p:spTgt spid="14">
                                            <p:txEl>
                                              <p:pRg st="5" end="5"/>
                                            </p:txEl>
                                          </p:spTgt>
                                        </p:tgtEl>
                                        <p:attrNameLst>
                                          <p:attrName>style.visibility</p:attrName>
                                        </p:attrNameLst>
                                      </p:cBhvr>
                                      <p:to>
                                        <p:strVal val="visible"/>
                                      </p:to>
                                    </p:set>
                                  </p:childTnLst>
                                </p:cTn>
                              </p:par>
                              <p:par>
                                <p:cTn id="17" presetID="1" presetClass="entr" presetSubtype="0" fill="hold" nodeType="withEffect">
                                  <p:stCondLst>
                                    <p:cond delay="0"/>
                                  </p:stCondLst>
                                  <p:childTnLst>
                                    <p:set>
                                      <p:cBhvr>
                                        <p:cTn id="18" dur="1" fill="hold">
                                          <p:stCondLst>
                                            <p:cond delay="0"/>
                                          </p:stCondLst>
                                        </p:cTn>
                                        <p:tgtEl>
                                          <p:spTgt spid="14">
                                            <p:txEl>
                                              <p:pRg st="6" end="6"/>
                                            </p:txEl>
                                          </p:spTgt>
                                        </p:tgtEl>
                                        <p:attrNameLst>
                                          <p:attrName>style.visibility</p:attrName>
                                        </p:attrNameLst>
                                      </p:cBhvr>
                                      <p:to>
                                        <p:strVal val="visible"/>
                                      </p:to>
                                    </p:set>
                                  </p:childTnLst>
                                </p:cTn>
                              </p:par>
                              <p:par>
                                <p:cTn id="19" presetID="1" presetClass="entr" presetSubtype="0" fill="hold" nodeType="withEffect">
                                  <p:stCondLst>
                                    <p:cond delay="0"/>
                                  </p:stCondLst>
                                  <p:childTnLst>
                                    <p:set>
                                      <p:cBhvr>
                                        <p:cTn id="20" dur="1" fill="hold">
                                          <p:stCondLst>
                                            <p:cond delay="0"/>
                                          </p:stCondLst>
                                        </p:cTn>
                                        <p:tgtEl>
                                          <p:spTgt spid="14">
                                            <p:txEl>
                                              <p:pRg st="7" end="7"/>
                                            </p:txEl>
                                          </p:spTgt>
                                        </p:tgtEl>
                                        <p:attrNameLst>
                                          <p:attrName>style.visibility</p:attrName>
                                        </p:attrNameLst>
                                      </p:cBhvr>
                                      <p:to>
                                        <p:strVal val="visible"/>
                                      </p:to>
                                    </p:set>
                                  </p:childTnLst>
                                </p:cTn>
                              </p:par>
                            </p:childTnLst>
                          </p:cTn>
                        </p:par>
                      </p:childTnLst>
                    </p:cTn>
                  </p:par>
                </p:childTnLst>
              </p:cTn>
              <p:prevCondLst>
                <p:cond evt="onPrev" delay="0">
                  <p:tgtEl>
                    <p:sldTgt/>
                  </p:tgtEl>
                </p:cond>
              </p:prevCondLst>
              <p:nextCondLst>
                <p:cond evt="onNext" delay="0">
                  <p:tgtEl>
                    <p:sldTgt/>
                  </p:tgtEl>
                </p:cond>
              </p:nextCondLst>
            </p:seq>
          </p:childTnLst>
        </p:cTn>
      </p:par>
    </p:tnLst>
  </p:timing>
</p:sld>
</file>

<file path=ppt/slides/slide22.xml><?xml version="1.0" encoding="utf-8"?>
<p:sld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1EF098EE-BBE3-B9BF-C218-E4DEA9A76D9C}"/>
            </a:ext>
          </a:extLst>
        </p:cNvPr>
        <p:cNvGrpSpPr/>
        <p:nvPr/>
      </p:nvGrpSpPr>
      <p:grpSpPr>
        <a:xfrm>
          <a:off x="0" y="0"/>
          <a:ext cx="0" cy="0"/>
          <a:chOff x="0" y="0"/>
          <a:chExt cx="0" cy="0"/>
        </a:xfrm>
      </p:grpSpPr>
      <p:sp>
        <p:nvSpPr>
          <p:cNvPr id="12" name="Text Placeholder 11">
            <a:extLst>
              <a:ext uri="{FF2B5EF4-FFF2-40B4-BE49-F238E27FC236}">
                <a16:creationId xmlns:a16="http://schemas.microsoft.com/office/drawing/2014/main" id="{D082964C-E8A1-73CC-B206-1A488254620C}"/>
              </a:ext>
            </a:extLst>
          </p:cNvPr>
          <p:cNvSpPr>
            <a:spLocks noGrp="1"/>
          </p:cNvSpPr>
          <p:nvPr>
            <p:ph type="body" sz="quarter" idx="10"/>
          </p:nvPr>
        </p:nvSpPr>
        <p:spPr/>
        <p:txBody>
          <a:bodyPr/>
          <a:lstStyle/>
          <a:p>
            <a:pPr algn="just"/>
            <a:r>
              <a:rPr lang="en-US" sz="1000" dirty="0">
                <a:hlinkClick r:id="rId2"/>
              </a:rPr>
              <a:t>Azure Virtual Desktop support for external identities is now generally available.</a:t>
            </a:r>
            <a:endParaRPr lang="en-US" sz="1000" dirty="0"/>
          </a:p>
          <a:p>
            <a:pPr algn="just"/>
            <a:r>
              <a:rPr lang="en-US" sz="1000" dirty="0"/>
              <a:t>It is now possible to provide Azure Virtual Desktop resources for an external identity. There is no change to the administrative flow to assign the resources, as you still assign the user to the app group.</a:t>
            </a:r>
          </a:p>
          <a:p>
            <a:pPr algn="just"/>
            <a:r>
              <a:rPr lang="en-US" sz="1000" dirty="0" err="1"/>
              <a:t>FSLogix</a:t>
            </a:r>
            <a:r>
              <a:rPr lang="en-US" sz="1000" dirty="0"/>
              <a:t> profile container user for external identities is in preview.</a:t>
            </a:r>
          </a:p>
        </p:txBody>
      </p:sp>
      <p:sp>
        <p:nvSpPr>
          <p:cNvPr id="11" name="Title 10">
            <a:extLst>
              <a:ext uri="{FF2B5EF4-FFF2-40B4-BE49-F238E27FC236}">
                <a16:creationId xmlns:a16="http://schemas.microsoft.com/office/drawing/2014/main" id="{DDE59A08-9A25-40C0-DC79-D2FB88CF728E}"/>
              </a:ext>
            </a:extLst>
          </p:cNvPr>
          <p:cNvSpPr>
            <a:spLocks noGrp="1"/>
          </p:cNvSpPr>
          <p:nvPr>
            <p:ph type="title"/>
          </p:nvPr>
        </p:nvSpPr>
        <p:spPr/>
        <p:txBody>
          <a:bodyPr/>
          <a:lstStyle/>
          <a:p>
            <a:r>
              <a:rPr lang="en-US" sz="1800" dirty="0"/>
              <a:t>Compute Updates</a:t>
            </a:r>
            <a:endParaRPr lang="en-US" dirty="0"/>
          </a:p>
        </p:txBody>
      </p:sp>
      <p:sp>
        <p:nvSpPr>
          <p:cNvPr id="13" name="Text Placeholder 12">
            <a:extLst>
              <a:ext uri="{FF2B5EF4-FFF2-40B4-BE49-F238E27FC236}">
                <a16:creationId xmlns:a16="http://schemas.microsoft.com/office/drawing/2014/main" id="{4D7D0670-36E5-9279-0AB3-70FC83D5A9FE}"/>
              </a:ext>
            </a:extLst>
          </p:cNvPr>
          <p:cNvSpPr>
            <a:spLocks noGrp="1"/>
          </p:cNvSpPr>
          <p:nvPr>
            <p:ph type="body" sz="quarter" idx="15"/>
          </p:nvPr>
        </p:nvSpPr>
        <p:spPr/>
        <p:txBody>
          <a:bodyPr/>
          <a:lstStyle/>
          <a:p>
            <a:endParaRPr lang="en-US" dirty="0"/>
          </a:p>
        </p:txBody>
      </p:sp>
      <p:sp>
        <p:nvSpPr>
          <p:cNvPr id="14" name="Text Placeholder 13">
            <a:extLst>
              <a:ext uri="{FF2B5EF4-FFF2-40B4-BE49-F238E27FC236}">
                <a16:creationId xmlns:a16="http://schemas.microsoft.com/office/drawing/2014/main" id="{9AC89A86-0455-61DD-7A55-DACDA81B83B1}"/>
              </a:ext>
            </a:extLst>
          </p:cNvPr>
          <p:cNvSpPr>
            <a:spLocks noGrp="1"/>
          </p:cNvSpPr>
          <p:nvPr>
            <p:ph type="body" sz="quarter" idx="16"/>
          </p:nvPr>
        </p:nvSpPr>
        <p:spPr/>
        <p:txBody>
          <a:bodyPr/>
          <a:lstStyle/>
          <a:p>
            <a:pPr algn="just"/>
            <a:r>
              <a:rPr lang="en-US" dirty="0">
                <a:hlinkClick r:id="rId3"/>
              </a:rPr>
              <a:t>RDP Multipath is now fully rolled out!</a:t>
            </a:r>
            <a:endParaRPr lang="en-US" dirty="0"/>
          </a:p>
          <a:p>
            <a:pPr algn="just"/>
            <a:r>
              <a:rPr lang="en-US" dirty="0"/>
              <a:t>MS completed the phased deployment of RDP Multipath across all eligible connections. This feature enhances reliability and performance by leveraging multiple network paths for your remote sessions, ensuring a more resilient and seamless experience.</a:t>
            </a:r>
          </a:p>
        </p:txBody>
      </p:sp>
    </p:spTree>
    <p:extLst>
      <p:ext uri="{BB962C8B-B14F-4D97-AF65-F5344CB8AC3E}">
        <p14:creationId xmlns:p14="http://schemas.microsoft.com/office/powerpoint/2010/main" val="187353469"/>
      </p:ext>
    </p:extLst>
  </p:cSld>
  <p:clrMapOvr>
    <a:masterClrMapping/>
  </p:clrMapOvr>
  <mc:AlternateContent xmlns:mc="http://schemas.openxmlformats.org/markup-compatibility/2006" xmlns:p14="http://schemas.microsoft.com/office/powerpoint/2010/main">
    <mc:Choice Requires="p14">
      <p:transition spd="med" p14:dur="700">
        <p:fade/>
      </p:transition>
    </mc:Choice>
    <mc:Fallback xmlns="">
      <p:transition spd="med">
        <p:fade/>
      </p:transition>
    </mc:Fallback>
  </mc:AlternateContent>
  <p:timing>
    <p:tnLst>
      <p:par>
        <p:cTn id="1" dur="indefinite" restart="never" nodeType="tmRoot">
          <p:childTnLst>
            <p:seq concurrent="1" nextAc="seek">
              <p:cTn id="2" dur="indefinite" nodeType="mainSeq">
                <p:childTnLst>
                  <p:par>
                    <p:cTn id="3" fill="hold">
                      <p:stCondLst>
                        <p:cond delay="indefinite"/>
                      </p:stCondLst>
                      <p:childTnLst>
                        <p:par>
                          <p:cTn id="4" fill="hold">
                            <p:stCondLst>
                              <p:cond delay="0"/>
                            </p:stCondLst>
                            <p:childTnLst>
                              <p:par>
                                <p:cTn id="5" presetID="1" presetClass="entr" presetSubtype="0" fill="hold" nodeType="clickEffect">
                                  <p:stCondLst>
                                    <p:cond delay="0"/>
                                  </p:stCondLst>
                                  <p:childTnLst>
                                    <p:set>
                                      <p:cBhvr>
                                        <p:cTn id="6" dur="1" fill="hold">
                                          <p:stCondLst>
                                            <p:cond delay="0"/>
                                          </p:stCondLst>
                                        </p:cTn>
                                        <p:tgtEl>
                                          <p:spTgt spid="14">
                                            <p:txEl>
                                              <p:pRg st="0" end="0"/>
                                            </p:txEl>
                                          </p:spTgt>
                                        </p:tgtEl>
                                        <p:attrNameLst>
                                          <p:attrName>style.visibility</p:attrName>
                                        </p:attrNameLst>
                                      </p:cBhvr>
                                      <p:to>
                                        <p:strVal val="visible"/>
                                      </p:to>
                                    </p:set>
                                  </p:childTnLst>
                                </p:cTn>
                              </p:par>
                              <p:par>
                                <p:cTn id="7" presetID="1" presetClass="entr" presetSubtype="0" fill="hold" nodeType="withEffect">
                                  <p:stCondLst>
                                    <p:cond delay="0"/>
                                  </p:stCondLst>
                                  <p:childTnLst>
                                    <p:set>
                                      <p:cBhvr>
                                        <p:cTn id="8" dur="1" fill="hold">
                                          <p:stCondLst>
                                            <p:cond delay="0"/>
                                          </p:stCondLst>
                                        </p:cTn>
                                        <p:tgtEl>
                                          <p:spTgt spid="14">
                                            <p:txEl>
                                              <p:pRg st="1" end="1"/>
                                            </p:txEl>
                                          </p:spTgt>
                                        </p:tgtEl>
                                        <p:attrNameLst>
                                          <p:attrName>style.visibility</p:attrName>
                                        </p:attrNameLst>
                                      </p:cBhvr>
                                      <p:to>
                                        <p:strVal val="visible"/>
                                      </p:to>
                                    </p:set>
                                  </p:childTnLst>
                                </p:cTn>
                              </p:par>
                            </p:childTnLst>
                          </p:cTn>
                        </p:par>
                      </p:childTnLst>
                    </p:cTn>
                  </p:par>
                  <p:par>
                    <p:cTn id="9" fill="hold">
                      <p:stCondLst>
                        <p:cond delay="indefinite"/>
                      </p:stCondLst>
                      <p:childTnLst>
                        <p:par>
                          <p:cTn id="10" fill="hold">
                            <p:stCondLst>
                              <p:cond delay="0"/>
                            </p:stCondLst>
                            <p:childTnLst>
                              <p:par>
                                <p:cTn id="11" presetID="1" presetClass="entr" presetSubtype="0" fill="hold" nodeType="clickEffect">
                                  <p:stCondLst>
                                    <p:cond delay="0"/>
                                  </p:stCondLst>
                                  <p:childTnLst>
                                    <p:set>
                                      <p:cBhvr>
                                        <p:cTn id="12" dur="1" fill="hold">
                                          <p:stCondLst>
                                            <p:cond delay="0"/>
                                          </p:stCondLst>
                                        </p:cTn>
                                        <p:tgtEl>
                                          <p:spTgt spid="12">
                                            <p:txEl>
                                              <p:pRg st="0" end="0"/>
                                            </p:txEl>
                                          </p:spTgt>
                                        </p:tgtEl>
                                        <p:attrNameLst>
                                          <p:attrName>style.visibility</p:attrName>
                                        </p:attrNameLst>
                                      </p:cBhvr>
                                      <p:to>
                                        <p:strVal val="visible"/>
                                      </p:to>
                                    </p:set>
                                  </p:childTnLst>
                                </p:cTn>
                              </p:par>
                              <p:par>
                                <p:cTn id="13" presetID="1" presetClass="entr" presetSubtype="0" fill="hold" nodeType="withEffect">
                                  <p:stCondLst>
                                    <p:cond delay="0"/>
                                  </p:stCondLst>
                                  <p:childTnLst>
                                    <p:set>
                                      <p:cBhvr>
                                        <p:cTn id="14" dur="1" fill="hold">
                                          <p:stCondLst>
                                            <p:cond delay="0"/>
                                          </p:stCondLst>
                                        </p:cTn>
                                        <p:tgtEl>
                                          <p:spTgt spid="12">
                                            <p:txEl>
                                              <p:pRg st="1" end="1"/>
                                            </p:txEl>
                                          </p:spTgt>
                                        </p:tgtEl>
                                        <p:attrNameLst>
                                          <p:attrName>style.visibility</p:attrName>
                                        </p:attrNameLst>
                                      </p:cBhvr>
                                      <p:to>
                                        <p:strVal val="visible"/>
                                      </p:to>
                                    </p:set>
                                  </p:childTnLst>
                                </p:cTn>
                              </p:par>
                              <p:par>
                                <p:cTn id="15" presetID="1" presetClass="entr" presetSubtype="0" fill="hold" nodeType="withEffect">
                                  <p:stCondLst>
                                    <p:cond delay="0"/>
                                  </p:stCondLst>
                                  <p:childTnLst>
                                    <p:set>
                                      <p:cBhvr>
                                        <p:cTn id="16" dur="1" fill="hold">
                                          <p:stCondLst>
                                            <p:cond delay="0"/>
                                          </p:stCondLst>
                                        </p:cTn>
                                        <p:tgtEl>
                                          <p:spTgt spid="12">
                                            <p:txEl>
                                              <p:pRg st="2" end="2"/>
                                            </p:txEl>
                                          </p:spTgt>
                                        </p:tgtEl>
                                        <p:attrNameLst>
                                          <p:attrName>style.visibility</p:attrName>
                                        </p:attrNameLst>
                                      </p:cBhvr>
                                      <p:to>
                                        <p:strVal val="visible"/>
                                      </p:to>
                                    </p:set>
                                  </p:childTnLst>
                                </p:cTn>
                              </p:par>
                            </p:childTnLst>
                          </p:cTn>
                        </p:par>
                      </p:childTnLst>
                    </p:cTn>
                  </p:par>
                </p:childTnLst>
              </p:cTn>
              <p:prevCondLst>
                <p:cond evt="onPrev" delay="0">
                  <p:tgtEl>
                    <p:sldTgt/>
                  </p:tgtEl>
                </p:cond>
              </p:prevCondLst>
              <p:nextCondLst>
                <p:cond evt="onNext" delay="0">
                  <p:tgtEl>
                    <p:sldTgt/>
                  </p:tgtEl>
                </p:cond>
              </p:nextCondLst>
            </p:seq>
          </p:childTnLst>
        </p:cTn>
      </p:par>
    </p:tnLst>
  </p:timing>
</p:sld>
</file>

<file path=ppt/slides/slide23.xml><?xml version="1.0" encoding="utf-8"?>
<p:sld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F5531189-CF39-6970-06DD-2F3E951D8112}"/>
            </a:ext>
          </a:extLst>
        </p:cNvPr>
        <p:cNvGrpSpPr/>
        <p:nvPr/>
      </p:nvGrpSpPr>
      <p:grpSpPr>
        <a:xfrm>
          <a:off x="0" y="0"/>
          <a:ext cx="0" cy="0"/>
          <a:chOff x="0" y="0"/>
          <a:chExt cx="0" cy="0"/>
        </a:xfrm>
      </p:grpSpPr>
      <p:sp>
        <p:nvSpPr>
          <p:cNvPr id="11" name="Title 10">
            <a:extLst>
              <a:ext uri="{FF2B5EF4-FFF2-40B4-BE49-F238E27FC236}">
                <a16:creationId xmlns:a16="http://schemas.microsoft.com/office/drawing/2014/main" id="{55108E1B-188F-34CB-E2F4-B4F546C318BA}"/>
              </a:ext>
            </a:extLst>
          </p:cNvPr>
          <p:cNvSpPr>
            <a:spLocks noGrp="1"/>
          </p:cNvSpPr>
          <p:nvPr>
            <p:ph type="title"/>
          </p:nvPr>
        </p:nvSpPr>
        <p:spPr/>
        <p:txBody>
          <a:bodyPr/>
          <a:lstStyle/>
          <a:p>
            <a:r>
              <a:rPr lang="en-US" sz="1800" dirty="0"/>
              <a:t>Compute Updates</a:t>
            </a:r>
            <a:endParaRPr lang="en-US" dirty="0"/>
          </a:p>
        </p:txBody>
      </p:sp>
      <p:sp>
        <p:nvSpPr>
          <p:cNvPr id="13" name="Text Placeholder 12">
            <a:extLst>
              <a:ext uri="{FF2B5EF4-FFF2-40B4-BE49-F238E27FC236}">
                <a16:creationId xmlns:a16="http://schemas.microsoft.com/office/drawing/2014/main" id="{0AC618DB-0932-277F-3E42-37D002107928}"/>
              </a:ext>
            </a:extLst>
          </p:cNvPr>
          <p:cNvSpPr>
            <a:spLocks noGrp="1"/>
          </p:cNvSpPr>
          <p:nvPr>
            <p:ph type="body" sz="quarter" idx="15"/>
          </p:nvPr>
        </p:nvSpPr>
        <p:spPr/>
        <p:txBody>
          <a:bodyPr/>
          <a:lstStyle/>
          <a:p>
            <a:endParaRPr lang="en-US" dirty="0"/>
          </a:p>
        </p:txBody>
      </p:sp>
      <p:sp>
        <p:nvSpPr>
          <p:cNvPr id="14" name="Text Placeholder 13">
            <a:extLst>
              <a:ext uri="{FF2B5EF4-FFF2-40B4-BE49-F238E27FC236}">
                <a16:creationId xmlns:a16="http://schemas.microsoft.com/office/drawing/2014/main" id="{D5C20627-BF61-394B-61E8-E9F6702CBB52}"/>
              </a:ext>
            </a:extLst>
          </p:cNvPr>
          <p:cNvSpPr>
            <a:spLocks noGrp="1"/>
          </p:cNvSpPr>
          <p:nvPr>
            <p:ph type="body" sz="quarter" idx="16"/>
          </p:nvPr>
        </p:nvSpPr>
        <p:spPr/>
        <p:txBody>
          <a:bodyPr/>
          <a:lstStyle/>
          <a:p>
            <a:pPr algn="just"/>
            <a:r>
              <a:rPr lang="en-US" dirty="0">
                <a:hlinkClick r:id="rId2"/>
              </a:rPr>
              <a:t>General Availability of AI &amp; RAG Connectors in Logic Apps (Standard)</a:t>
            </a:r>
            <a:endParaRPr lang="en-US" dirty="0"/>
          </a:p>
          <a:p>
            <a:pPr algn="just"/>
            <a:r>
              <a:rPr lang="en-US" dirty="0"/>
              <a:t>This release brings native support for document processing, semantic retrieval, embeddings, and grounded reasoning directly into the Logic Apps workflow engine.</a:t>
            </a:r>
          </a:p>
          <a:p>
            <a:pPr algn="just"/>
            <a:r>
              <a:rPr lang="en-US" dirty="0"/>
              <a:t>Logic Apps (Standard) had previously previewed </a:t>
            </a:r>
            <a:r>
              <a:rPr lang="en-US" b="1" dirty="0"/>
              <a:t>four AI-focused connectors</a:t>
            </a:r>
            <a:r>
              <a:rPr lang="en-US" dirty="0"/>
              <a:t> that open the door for a new generation of intelligent automation across the enterprise. Whether you're processing large volumes of documents, enriching operational data with intelligence, or enabling employees to interact with systems using natural language, these connectors provide the foundation for building solutions that are smarter, faster, and more adaptable to business needs. </a:t>
            </a:r>
          </a:p>
        </p:txBody>
      </p:sp>
    </p:spTree>
    <p:extLst>
      <p:ext uri="{BB962C8B-B14F-4D97-AF65-F5344CB8AC3E}">
        <p14:creationId xmlns:p14="http://schemas.microsoft.com/office/powerpoint/2010/main" val="2553819656"/>
      </p:ext>
    </p:extLst>
  </p:cSld>
  <p:clrMapOvr>
    <a:masterClrMapping/>
  </p:clrMapOvr>
  <mc:AlternateContent xmlns:mc="http://schemas.openxmlformats.org/markup-compatibility/2006" xmlns:p14="http://schemas.microsoft.com/office/powerpoint/2010/main">
    <mc:Choice Requires="p14">
      <p:transition spd="med" p14:dur="700">
        <p:fade/>
      </p:transition>
    </mc:Choice>
    <mc:Fallback xmlns="">
      <p:transition spd="med">
        <p:fade/>
      </p:transition>
    </mc:Fallback>
  </mc:AlternateContent>
  <p:timing>
    <p:tnLst>
      <p:par>
        <p:cTn id="1" dur="indefinite" restart="never" nodeType="tmRoot">
          <p:childTnLst>
            <p:seq concurrent="1" nextAc="seek">
              <p:cTn id="2" dur="indefinite" nodeType="mainSeq">
                <p:childTnLst>
                  <p:par>
                    <p:cTn id="3" fill="hold">
                      <p:stCondLst>
                        <p:cond delay="indefinite"/>
                      </p:stCondLst>
                      <p:childTnLst>
                        <p:par>
                          <p:cTn id="4" fill="hold">
                            <p:stCondLst>
                              <p:cond delay="0"/>
                            </p:stCondLst>
                            <p:childTnLst>
                              <p:par>
                                <p:cTn id="5" presetID="1" presetClass="entr" presetSubtype="0" fill="hold" nodeType="clickEffect">
                                  <p:stCondLst>
                                    <p:cond delay="0"/>
                                  </p:stCondLst>
                                  <p:childTnLst>
                                    <p:set>
                                      <p:cBhvr>
                                        <p:cTn id="6" dur="1" fill="hold">
                                          <p:stCondLst>
                                            <p:cond delay="0"/>
                                          </p:stCondLst>
                                        </p:cTn>
                                        <p:tgtEl>
                                          <p:spTgt spid="14">
                                            <p:txEl>
                                              <p:pRg st="0" end="0"/>
                                            </p:txEl>
                                          </p:spTgt>
                                        </p:tgtEl>
                                        <p:attrNameLst>
                                          <p:attrName>style.visibility</p:attrName>
                                        </p:attrNameLst>
                                      </p:cBhvr>
                                      <p:to>
                                        <p:strVal val="visible"/>
                                      </p:to>
                                    </p:set>
                                  </p:childTnLst>
                                </p:cTn>
                              </p:par>
                              <p:par>
                                <p:cTn id="7" presetID="1" presetClass="entr" presetSubtype="0" fill="hold" nodeType="withEffect">
                                  <p:stCondLst>
                                    <p:cond delay="0"/>
                                  </p:stCondLst>
                                  <p:childTnLst>
                                    <p:set>
                                      <p:cBhvr>
                                        <p:cTn id="8" dur="1" fill="hold">
                                          <p:stCondLst>
                                            <p:cond delay="0"/>
                                          </p:stCondLst>
                                        </p:cTn>
                                        <p:tgtEl>
                                          <p:spTgt spid="14">
                                            <p:txEl>
                                              <p:pRg st="1" end="1"/>
                                            </p:txEl>
                                          </p:spTgt>
                                        </p:tgtEl>
                                        <p:attrNameLst>
                                          <p:attrName>style.visibility</p:attrName>
                                        </p:attrNameLst>
                                      </p:cBhvr>
                                      <p:to>
                                        <p:strVal val="visible"/>
                                      </p:to>
                                    </p:set>
                                  </p:childTnLst>
                                </p:cTn>
                              </p:par>
                              <p:par>
                                <p:cTn id="9" presetID="1" presetClass="entr" presetSubtype="0" fill="hold" nodeType="withEffect">
                                  <p:stCondLst>
                                    <p:cond delay="0"/>
                                  </p:stCondLst>
                                  <p:childTnLst>
                                    <p:set>
                                      <p:cBhvr>
                                        <p:cTn id="10" dur="1" fill="hold">
                                          <p:stCondLst>
                                            <p:cond delay="0"/>
                                          </p:stCondLst>
                                        </p:cTn>
                                        <p:tgtEl>
                                          <p:spTgt spid="14">
                                            <p:txEl>
                                              <p:pRg st="2" end="2"/>
                                            </p:txEl>
                                          </p:spTgt>
                                        </p:tgtEl>
                                        <p:attrNameLst>
                                          <p:attrName>style.visibility</p:attrName>
                                        </p:attrNameLst>
                                      </p:cBhvr>
                                      <p:to>
                                        <p:strVal val="visible"/>
                                      </p:to>
                                    </p:set>
                                  </p:childTnLst>
                                </p:cTn>
                              </p:par>
                            </p:childTnLst>
                          </p:cTn>
                        </p:par>
                      </p:childTnLst>
                    </p:cTn>
                  </p:par>
                </p:childTnLst>
              </p:cTn>
              <p:prevCondLst>
                <p:cond evt="onPrev" delay="0">
                  <p:tgtEl>
                    <p:sldTgt/>
                  </p:tgtEl>
                </p:cond>
              </p:prevCondLst>
              <p:nextCondLst>
                <p:cond evt="onNext" delay="0">
                  <p:tgtEl>
                    <p:sldTgt/>
                  </p:tgtEl>
                </p:cond>
              </p:nextCondLst>
            </p:seq>
          </p:childTnLst>
        </p:cTn>
      </p:par>
    </p:tnLst>
  </p:timing>
</p:sld>
</file>

<file path=ppt/slides/slide24.xml><?xml version="1.0" encoding="utf-8"?>
<p:sld xmlns:a="http://schemas.openxmlformats.org/drawingml/2006/main" xmlns:r="http://schemas.openxmlformats.org/officeDocument/2006/relationships" xmlns:p="http://schemas.openxmlformats.org/presentationml/2006/main" showMasterSp="0">
  <p:cSld>
    <p:spTree>
      <p:nvGrpSpPr>
        <p:cNvPr id="1" name=""/>
        <p:cNvGrpSpPr/>
        <p:nvPr/>
      </p:nvGrpSpPr>
      <p:grpSpPr>
        <a:xfrm>
          <a:off x="0" y="0"/>
          <a:ext cx="0" cy="0"/>
          <a:chOff x="0" y="0"/>
          <a:chExt cx="0" cy="0"/>
        </a:xfrm>
      </p:grpSpPr>
      <p:sp>
        <p:nvSpPr>
          <p:cNvPr id="4" name="Text Placeholder 3">
            <a:extLst>
              <a:ext uri="{FF2B5EF4-FFF2-40B4-BE49-F238E27FC236}">
                <a16:creationId xmlns:a16="http://schemas.microsoft.com/office/drawing/2014/main" id="{17F39168-7046-60A5-1EEA-8D2B5EAAE24F}"/>
              </a:ext>
            </a:extLst>
          </p:cNvPr>
          <p:cNvSpPr>
            <a:spLocks noGrp="1"/>
          </p:cNvSpPr>
          <p:nvPr>
            <p:ph type="body" sz="quarter" idx="13"/>
          </p:nvPr>
        </p:nvSpPr>
        <p:spPr/>
        <p:txBody>
          <a:bodyPr/>
          <a:lstStyle/>
          <a:p>
            <a:r>
              <a:rPr lang="en-US" sz="4000" dirty="0"/>
              <a:t>Storage &amp; Data</a:t>
            </a:r>
          </a:p>
        </p:txBody>
      </p:sp>
    </p:spTree>
    <p:extLst>
      <p:ext uri="{BB962C8B-B14F-4D97-AF65-F5344CB8AC3E}">
        <p14:creationId xmlns:p14="http://schemas.microsoft.com/office/powerpoint/2010/main" val="2188140750"/>
      </p:ext>
    </p:extLst>
  </p:cSld>
  <p:clrMapOvr>
    <a:masterClrMapping/>
  </p:clrMapOvr>
</p:sld>
</file>

<file path=ppt/slides/slide25.xml><?xml version="1.0" encoding="utf-8"?>
<p:sld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8C44BC30-BE9D-D666-D8EC-C477902CDD33}"/>
            </a:ext>
          </a:extLst>
        </p:cNvPr>
        <p:cNvGrpSpPr/>
        <p:nvPr/>
      </p:nvGrpSpPr>
      <p:grpSpPr>
        <a:xfrm>
          <a:off x="0" y="0"/>
          <a:ext cx="0" cy="0"/>
          <a:chOff x="0" y="0"/>
          <a:chExt cx="0" cy="0"/>
        </a:xfrm>
      </p:grpSpPr>
      <p:sp>
        <p:nvSpPr>
          <p:cNvPr id="12" name="Text Placeholder 11">
            <a:extLst>
              <a:ext uri="{FF2B5EF4-FFF2-40B4-BE49-F238E27FC236}">
                <a16:creationId xmlns:a16="http://schemas.microsoft.com/office/drawing/2014/main" id="{0089CA58-5DC8-3994-AD5C-78748D2555F0}"/>
              </a:ext>
            </a:extLst>
          </p:cNvPr>
          <p:cNvSpPr>
            <a:spLocks noGrp="1"/>
          </p:cNvSpPr>
          <p:nvPr>
            <p:ph type="body" sz="quarter" idx="10"/>
          </p:nvPr>
        </p:nvSpPr>
        <p:spPr/>
        <p:txBody>
          <a:bodyPr/>
          <a:lstStyle/>
          <a:p>
            <a:pPr algn="just"/>
            <a:r>
              <a:rPr lang="en-US" sz="1000" dirty="0">
                <a:hlinkClick r:id="rId2"/>
              </a:rPr>
              <a:t>Generally Available: Zonal placement for Azure file shares Azure Files Premium LRS in select regions.</a:t>
            </a:r>
            <a:endParaRPr lang="en-US" sz="1000" dirty="0"/>
          </a:p>
          <a:p>
            <a:pPr algn="just"/>
            <a:r>
              <a:rPr lang="en-US" sz="1000" dirty="0"/>
              <a:t>Zonal Placement for Azure Files Premium LRS is now GA in select regions! This capability gives explicit control over zone locality by pinning storage accounts to a specific availability zone, enabling high availability, fault isolation, and predictable low-latency performance for mission-critical workloads.</a:t>
            </a:r>
          </a:p>
          <a:p>
            <a:pPr algn="just"/>
            <a:r>
              <a:rPr lang="en-US" sz="1000" dirty="0"/>
              <a:t>Why it matters: Align compute and storage in the same zone for 10–40% lower latency compared to cross-zone deployments. Design resilient architectures with zone-aware control for better fault isolation.</a:t>
            </a:r>
          </a:p>
        </p:txBody>
      </p:sp>
      <p:sp>
        <p:nvSpPr>
          <p:cNvPr id="11" name="Title 10">
            <a:extLst>
              <a:ext uri="{FF2B5EF4-FFF2-40B4-BE49-F238E27FC236}">
                <a16:creationId xmlns:a16="http://schemas.microsoft.com/office/drawing/2014/main" id="{9338C940-1C5A-F159-79FA-059EBE1E77FE}"/>
              </a:ext>
            </a:extLst>
          </p:cNvPr>
          <p:cNvSpPr>
            <a:spLocks noGrp="1"/>
          </p:cNvSpPr>
          <p:nvPr>
            <p:ph type="title"/>
          </p:nvPr>
        </p:nvSpPr>
        <p:spPr/>
        <p:txBody>
          <a:bodyPr/>
          <a:lstStyle/>
          <a:p>
            <a:r>
              <a:rPr lang="en-US" sz="1800" dirty="0"/>
              <a:t>Storage &amp; Data Updates</a:t>
            </a:r>
            <a:endParaRPr lang="en-US" dirty="0"/>
          </a:p>
        </p:txBody>
      </p:sp>
      <p:sp>
        <p:nvSpPr>
          <p:cNvPr id="13" name="Text Placeholder 12">
            <a:extLst>
              <a:ext uri="{FF2B5EF4-FFF2-40B4-BE49-F238E27FC236}">
                <a16:creationId xmlns:a16="http://schemas.microsoft.com/office/drawing/2014/main" id="{79819030-1C59-2813-CD9C-4D9347E3D500}"/>
              </a:ext>
            </a:extLst>
          </p:cNvPr>
          <p:cNvSpPr>
            <a:spLocks noGrp="1"/>
          </p:cNvSpPr>
          <p:nvPr>
            <p:ph type="body" sz="quarter" idx="15"/>
          </p:nvPr>
        </p:nvSpPr>
        <p:spPr/>
        <p:txBody>
          <a:bodyPr/>
          <a:lstStyle/>
          <a:p>
            <a:endParaRPr lang="en-US"/>
          </a:p>
        </p:txBody>
      </p:sp>
      <p:sp>
        <p:nvSpPr>
          <p:cNvPr id="14" name="Text Placeholder 13">
            <a:extLst>
              <a:ext uri="{FF2B5EF4-FFF2-40B4-BE49-F238E27FC236}">
                <a16:creationId xmlns:a16="http://schemas.microsoft.com/office/drawing/2014/main" id="{B6F37A70-680F-B50D-A1A9-E9D2AE2C922F}"/>
              </a:ext>
            </a:extLst>
          </p:cNvPr>
          <p:cNvSpPr>
            <a:spLocks noGrp="1"/>
          </p:cNvSpPr>
          <p:nvPr>
            <p:ph type="body" sz="quarter" idx="16"/>
          </p:nvPr>
        </p:nvSpPr>
        <p:spPr/>
        <p:txBody>
          <a:bodyPr/>
          <a:lstStyle/>
          <a:p>
            <a:pPr algn="just"/>
            <a:r>
              <a:rPr lang="en-US" dirty="0">
                <a:hlinkClick r:id="rId3"/>
              </a:rPr>
              <a:t>Generally Available: Azure Blob Storage SFTP - Resumable Uploads</a:t>
            </a:r>
            <a:endParaRPr lang="en-US" dirty="0"/>
          </a:p>
          <a:p>
            <a:pPr algn="just"/>
            <a:r>
              <a:rPr lang="en-US" dirty="0"/>
              <a:t>The resumable upload feature for </a:t>
            </a:r>
            <a:r>
              <a:rPr lang="en-US" b="1" dirty="0"/>
              <a:t>Azure Blob Storage SFTP </a:t>
            </a:r>
            <a:r>
              <a:rPr lang="en-US" dirty="0"/>
              <a:t>is now generally available. This feature allows users to resume file uploads from the point of failure in the event of partial transfer failures, thereby saving time and reducing network bandwidth usage. The SFTP transfer modes that Azure Blob Storage SFTP supports are below.</a:t>
            </a:r>
          </a:p>
          <a:p>
            <a:pPr marL="171450" indent="-171450" algn="just">
              <a:buFont typeface="Arial" panose="020B0604020202020204" pitchFamily="34" charset="0"/>
              <a:buChar char="•"/>
            </a:pPr>
            <a:r>
              <a:rPr lang="en-US" b="1" dirty="0"/>
              <a:t>Write</a:t>
            </a:r>
            <a:r>
              <a:rPr lang="en-US" dirty="0"/>
              <a:t>: This mode lets the client continue an upload by adding data to an existing file from a specific point without creating a new file.</a:t>
            </a:r>
          </a:p>
          <a:p>
            <a:pPr marL="171450" indent="-171450" algn="just">
              <a:buFont typeface="Arial" panose="020B0604020202020204" pitchFamily="34" charset="0"/>
              <a:buChar char="•"/>
            </a:pPr>
            <a:r>
              <a:rPr lang="en-US" b="1" dirty="0"/>
              <a:t>Write</a:t>
            </a:r>
            <a:r>
              <a:rPr lang="en-US" dirty="0"/>
              <a:t> + </a:t>
            </a:r>
            <a:r>
              <a:rPr lang="en-US" b="1" dirty="0"/>
              <a:t>Create</a:t>
            </a:r>
            <a:r>
              <a:rPr lang="en-US" dirty="0"/>
              <a:t>: This mode allows the client to resume an upload by either adding to an existing file or creating a new one if it doesn't exist, providing flexibility when the file might not be present initially.</a:t>
            </a:r>
          </a:p>
          <a:p>
            <a:pPr marL="171450" indent="-171450" algn="just">
              <a:buFont typeface="Arial" panose="020B0604020202020204" pitchFamily="34" charset="0"/>
              <a:buChar char="•"/>
            </a:pPr>
            <a:r>
              <a:rPr lang="en-US" b="1" dirty="0"/>
              <a:t>Append</a:t>
            </a:r>
            <a:r>
              <a:rPr lang="en-US" dirty="0"/>
              <a:t>: This mode adds data to the end of an existing file without overwriting its current contents. Previously, this feature only supported append mode in public preview, which limited upload resumption with SFTP clients that lacked append mode support. With general availability, we now support write and write + create modes, which benefits users who use SFTP clients without append mode.</a:t>
            </a:r>
          </a:p>
          <a:p>
            <a:pPr algn="just"/>
            <a:endParaRPr lang="en-US" dirty="0"/>
          </a:p>
        </p:txBody>
      </p:sp>
    </p:spTree>
    <p:extLst>
      <p:ext uri="{BB962C8B-B14F-4D97-AF65-F5344CB8AC3E}">
        <p14:creationId xmlns:p14="http://schemas.microsoft.com/office/powerpoint/2010/main" val="670539256"/>
      </p:ext>
    </p:extLst>
  </p:cSld>
  <p:clrMapOvr>
    <a:masterClrMapping/>
  </p:clrMapOvr>
  <mc:AlternateContent xmlns:mc="http://schemas.openxmlformats.org/markup-compatibility/2006" xmlns:p14="http://schemas.microsoft.com/office/powerpoint/2010/main">
    <mc:Choice Requires="p14">
      <p:transition spd="med" p14:dur="700">
        <p:fade/>
      </p:transition>
    </mc:Choice>
    <mc:Fallback xmlns="">
      <p:transition spd="med">
        <p:fade/>
      </p:transition>
    </mc:Fallback>
  </mc:AlternateContent>
  <p:timing>
    <p:tnLst>
      <p:par>
        <p:cTn id="1" dur="indefinite" restart="never" nodeType="tmRoot">
          <p:childTnLst>
            <p:seq concurrent="1" nextAc="seek">
              <p:cTn id="2" dur="indefinite" nodeType="mainSeq">
                <p:childTnLst>
                  <p:par>
                    <p:cTn id="3" fill="hold">
                      <p:stCondLst>
                        <p:cond delay="indefinite"/>
                      </p:stCondLst>
                      <p:childTnLst>
                        <p:par>
                          <p:cTn id="4" fill="hold">
                            <p:stCondLst>
                              <p:cond delay="0"/>
                            </p:stCondLst>
                            <p:childTnLst>
                              <p:par>
                                <p:cTn id="5" presetID="1" presetClass="entr" presetSubtype="0" fill="hold" nodeType="clickEffect">
                                  <p:stCondLst>
                                    <p:cond delay="0"/>
                                  </p:stCondLst>
                                  <p:childTnLst>
                                    <p:set>
                                      <p:cBhvr>
                                        <p:cTn id="6" dur="1" fill="hold">
                                          <p:stCondLst>
                                            <p:cond delay="0"/>
                                          </p:stCondLst>
                                        </p:cTn>
                                        <p:tgtEl>
                                          <p:spTgt spid="14">
                                            <p:txEl>
                                              <p:pRg st="0" end="0"/>
                                            </p:txEl>
                                          </p:spTgt>
                                        </p:tgtEl>
                                        <p:attrNameLst>
                                          <p:attrName>style.visibility</p:attrName>
                                        </p:attrNameLst>
                                      </p:cBhvr>
                                      <p:to>
                                        <p:strVal val="visible"/>
                                      </p:to>
                                    </p:set>
                                  </p:childTnLst>
                                </p:cTn>
                              </p:par>
                              <p:par>
                                <p:cTn id="7" presetID="1" presetClass="entr" presetSubtype="0" fill="hold" nodeType="withEffect">
                                  <p:stCondLst>
                                    <p:cond delay="0"/>
                                  </p:stCondLst>
                                  <p:childTnLst>
                                    <p:set>
                                      <p:cBhvr>
                                        <p:cTn id="8" dur="1" fill="hold">
                                          <p:stCondLst>
                                            <p:cond delay="0"/>
                                          </p:stCondLst>
                                        </p:cTn>
                                        <p:tgtEl>
                                          <p:spTgt spid="14">
                                            <p:txEl>
                                              <p:pRg st="1" end="1"/>
                                            </p:txEl>
                                          </p:spTgt>
                                        </p:tgtEl>
                                        <p:attrNameLst>
                                          <p:attrName>style.visibility</p:attrName>
                                        </p:attrNameLst>
                                      </p:cBhvr>
                                      <p:to>
                                        <p:strVal val="visible"/>
                                      </p:to>
                                    </p:set>
                                  </p:childTnLst>
                                </p:cTn>
                              </p:par>
                              <p:par>
                                <p:cTn id="9" presetID="1" presetClass="entr" presetSubtype="0" fill="hold" nodeType="withEffect">
                                  <p:stCondLst>
                                    <p:cond delay="0"/>
                                  </p:stCondLst>
                                  <p:childTnLst>
                                    <p:set>
                                      <p:cBhvr>
                                        <p:cTn id="10" dur="1" fill="hold">
                                          <p:stCondLst>
                                            <p:cond delay="0"/>
                                          </p:stCondLst>
                                        </p:cTn>
                                        <p:tgtEl>
                                          <p:spTgt spid="14">
                                            <p:txEl>
                                              <p:pRg st="2" end="2"/>
                                            </p:txEl>
                                          </p:spTgt>
                                        </p:tgtEl>
                                        <p:attrNameLst>
                                          <p:attrName>style.visibility</p:attrName>
                                        </p:attrNameLst>
                                      </p:cBhvr>
                                      <p:to>
                                        <p:strVal val="visible"/>
                                      </p:to>
                                    </p:set>
                                  </p:childTnLst>
                                </p:cTn>
                              </p:par>
                              <p:par>
                                <p:cTn id="11" presetID="1" presetClass="entr" presetSubtype="0" fill="hold" nodeType="withEffect">
                                  <p:stCondLst>
                                    <p:cond delay="0"/>
                                  </p:stCondLst>
                                  <p:childTnLst>
                                    <p:set>
                                      <p:cBhvr>
                                        <p:cTn id="12" dur="1" fill="hold">
                                          <p:stCondLst>
                                            <p:cond delay="0"/>
                                          </p:stCondLst>
                                        </p:cTn>
                                        <p:tgtEl>
                                          <p:spTgt spid="14">
                                            <p:txEl>
                                              <p:pRg st="3" end="3"/>
                                            </p:txEl>
                                          </p:spTgt>
                                        </p:tgtEl>
                                        <p:attrNameLst>
                                          <p:attrName>style.visibility</p:attrName>
                                        </p:attrNameLst>
                                      </p:cBhvr>
                                      <p:to>
                                        <p:strVal val="visible"/>
                                      </p:to>
                                    </p:set>
                                  </p:childTnLst>
                                </p:cTn>
                              </p:par>
                              <p:par>
                                <p:cTn id="13" presetID="1" presetClass="entr" presetSubtype="0" fill="hold" nodeType="withEffect">
                                  <p:stCondLst>
                                    <p:cond delay="0"/>
                                  </p:stCondLst>
                                  <p:childTnLst>
                                    <p:set>
                                      <p:cBhvr>
                                        <p:cTn id="14" dur="1" fill="hold">
                                          <p:stCondLst>
                                            <p:cond delay="0"/>
                                          </p:stCondLst>
                                        </p:cTn>
                                        <p:tgtEl>
                                          <p:spTgt spid="14">
                                            <p:txEl>
                                              <p:pRg st="4" end="4"/>
                                            </p:txEl>
                                          </p:spTgt>
                                        </p:tgtEl>
                                        <p:attrNameLst>
                                          <p:attrName>style.visibility</p:attrName>
                                        </p:attrNameLst>
                                      </p:cBhvr>
                                      <p:to>
                                        <p:strVal val="visible"/>
                                      </p:to>
                                    </p:set>
                                  </p:childTnLst>
                                </p:cTn>
                              </p:par>
                            </p:childTnLst>
                          </p:cTn>
                        </p:par>
                      </p:childTnLst>
                    </p:cTn>
                  </p:par>
                  <p:par>
                    <p:cTn id="15" fill="hold">
                      <p:stCondLst>
                        <p:cond delay="indefinite"/>
                      </p:stCondLst>
                      <p:childTnLst>
                        <p:par>
                          <p:cTn id="16" fill="hold">
                            <p:stCondLst>
                              <p:cond delay="0"/>
                            </p:stCondLst>
                            <p:childTnLst>
                              <p:par>
                                <p:cTn id="17" presetID="1" presetClass="entr" presetSubtype="0" fill="hold" nodeType="clickEffect">
                                  <p:stCondLst>
                                    <p:cond delay="0"/>
                                  </p:stCondLst>
                                  <p:childTnLst>
                                    <p:set>
                                      <p:cBhvr>
                                        <p:cTn id="18" dur="1" fill="hold">
                                          <p:stCondLst>
                                            <p:cond delay="0"/>
                                          </p:stCondLst>
                                        </p:cTn>
                                        <p:tgtEl>
                                          <p:spTgt spid="12">
                                            <p:txEl>
                                              <p:pRg st="0" end="0"/>
                                            </p:txEl>
                                          </p:spTgt>
                                        </p:tgtEl>
                                        <p:attrNameLst>
                                          <p:attrName>style.visibility</p:attrName>
                                        </p:attrNameLst>
                                      </p:cBhvr>
                                      <p:to>
                                        <p:strVal val="visible"/>
                                      </p:to>
                                    </p:set>
                                  </p:childTnLst>
                                </p:cTn>
                              </p:par>
                              <p:par>
                                <p:cTn id="19" presetID="1" presetClass="entr" presetSubtype="0" fill="hold" nodeType="withEffect">
                                  <p:stCondLst>
                                    <p:cond delay="0"/>
                                  </p:stCondLst>
                                  <p:childTnLst>
                                    <p:set>
                                      <p:cBhvr>
                                        <p:cTn id="20" dur="1" fill="hold">
                                          <p:stCondLst>
                                            <p:cond delay="0"/>
                                          </p:stCondLst>
                                        </p:cTn>
                                        <p:tgtEl>
                                          <p:spTgt spid="12">
                                            <p:txEl>
                                              <p:pRg st="1" end="1"/>
                                            </p:txEl>
                                          </p:spTgt>
                                        </p:tgtEl>
                                        <p:attrNameLst>
                                          <p:attrName>style.visibility</p:attrName>
                                        </p:attrNameLst>
                                      </p:cBhvr>
                                      <p:to>
                                        <p:strVal val="visible"/>
                                      </p:to>
                                    </p:set>
                                  </p:childTnLst>
                                </p:cTn>
                              </p:par>
                              <p:par>
                                <p:cTn id="21" presetID="1" presetClass="entr" presetSubtype="0" fill="hold" nodeType="withEffect">
                                  <p:stCondLst>
                                    <p:cond delay="0"/>
                                  </p:stCondLst>
                                  <p:childTnLst>
                                    <p:set>
                                      <p:cBhvr>
                                        <p:cTn id="22" dur="1" fill="hold">
                                          <p:stCondLst>
                                            <p:cond delay="0"/>
                                          </p:stCondLst>
                                        </p:cTn>
                                        <p:tgtEl>
                                          <p:spTgt spid="12">
                                            <p:txEl>
                                              <p:pRg st="2" end="2"/>
                                            </p:txEl>
                                          </p:spTgt>
                                        </p:tgtEl>
                                        <p:attrNameLst>
                                          <p:attrName>style.visibility</p:attrName>
                                        </p:attrNameLst>
                                      </p:cBhvr>
                                      <p:to>
                                        <p:strVal val="visible"/>
                                      </p:to>
                                    </p:set>
                                  </p:childTnLst>
                                </p:cTn>
                              </p:par>
                            </p:childTnLst>
                          </p:cTn>
                        </p:par>
                      </p:childTnLst>
                    </p:cTn>
                  </p:par>
                </p:childTnLst>
              </p:cTn>
              <p:prevCondLst>
                <p:cond evt="onPrev" delay="0">
                  <p:tgtEl>
                    <p:sldTgt/>
                  </p:tgtEl>
                </p:cond>
              </p:prevCondLst>
              <p:nextCondLst>
                <p:cond evt="onNext" delay="0">
                  <p:tgtEl>
                    <p:sldTgt/>
                  </p:tgtEl>
                </p:cond>
              </p:nextCondLst>
            </p:seq>
          </p:childTnLst>
        </p:cTn>
      </p:par>
    </p:tnLst>
  </p:timing>
</p:sld>
</file>

<file path=ppt/slides/slide26.xml><?xml version="1.0" encoding="utf-8"?>
<p:sld xmlns:a="http://schemas.openxmlformats.org/drawingml/2006/main" xmlns:r="http://schemas.openxmlformats.org/officeDocument/2006/relationships" xmlns:p="http://schemas.openxmlformats.org/presentationml/2006/main" showMasterSp="0">
  <p:cSld>
    <p:spTree>
      <p:nvGrpSpPr>
        <p:cNvPr id="1" name=""/>
        <p:cNvGrpSpPr/>
        <p:nvPr/>
      </p:nvGrpSpPr>
      <p:grpSpPr>
        <a:xfrm>
          <a:off x="0" y="0"/>
          <a:ext cx="0" cy="0"/>
          <a:chOff x="0" y="0"/>
          <a:chExt cx="0" cy="0"/>
        </a:xfrm>
      </p:grpSpPr>
      <p:sp>
        <p:nvSpPr>
          <p:cNvPr id="4" name="Text Placeholder 3">
            <a:extLst>
              <a:ext uri="{FF2B5EF4-FFF2-40B4-BE49-F238E27FC236}">
                <a16:creationId xmlns:a16="http://schemas.microsoft.com/office/drawing/2014/main" id="{17F39168-7046-60A5-1EEA-8D2B5EAAE24F}"/>
              </a:ext>
            </a:extLst>
          </p:cNvPr>
          <p:cNvSpPr>
            <a:spLocks noGrp="1"/>
          </p:cNvSpPr>
          <p:nvPr>
            <p:ph type="body" sz="quarter" idx="13"/>
          </p:nvPr>
        </p:nvSpPr>
        <p:spPr/>
        <p:txBody>
          <a:bodyPr/>
          <a:lstStyle/>
          <a:p>
            <a:r>
              <a:rPr lang="en-US" sz="4000" dirty="0"/>
              <a:t>Databases</a:t>
            </a:r>
          </a:p>
        </p:txBody>
      </p:sp>
    </p:spTree>
    <p:extLst>
      <p:ext uri="{BB962C8B-B14F-4D97-AF65-F5344CB8AC3E}">
        <p14:creationId xmlns:p14="http://schemas.microsoft.com/office/powerpoint/2010/main" val="124095989"/>
      </p:ext>
    </p:extLst>
  </p:cSld>
  <p:clrMapOvr>
    <a:masterClrMapping/>
  </p:clrMapOvr>
</p:sld>
</file>

<file path=ppt/slides/slide27.xml><?xml version="1.0" encoding="utf-8"?>
<p:sld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44471DA1-B55D-EF7E-C705-3E2EBD8AB3D2}"/>
            </a:ext>
          </a:extLst>
        </p:cNvPr>
        <p:cNvGrpSpPr/>
        <p:nvPr/>
      </p:nvGrpSpPr>
      <p:grpSpPr>
        <a:xfrm>
          <a:off x="0" y="0"/>
          <a:ext cx="0" cy="0"/>
          <a:chOff x="0" y="0"/>
          <a:chExt cx="0" cy="0"/>
        </a:xfrm>
      </p:grpSpPr>
      <p:sp>
        <p:nvSpPr>
          <p:cNvPr id="12" name="Text Placeholder 11">
            <a:extLst>
              <a:ext uri="{FF2B5EF4-FFF2-40B4-BE49-F238E27FC236}">
                <a16:creationId xmlns:a16="http://schemas.microsoft.com/office/drawing/2014/main" id="{3337F290-7F05-F6C7-FB30-521D100BB24B}"/>
              </a:ext>
            </a:extLst>
          </p:cNvPr>
          <p:cNvSpPr>
            <a:spLocks noGrp="1"/>
          </p:cNvSpPr>
          <p:nvPr>
            <p:ph type="body" sz="quarter" idx="10"/>
          </p:nvPr>
        </p:nvSpPr>
        <p:spPr/>
        <p:txBody>
          <a:bodyPr/>
          <a:lstStyle/>
          <a:p>
            <a:pPr algn="just"/>
            <a:r>
              <a:rPr lang="en-US" sz="1000" dirty="0">
                <a:hlinkClick r:id="rId2"/>
              </a:rPr>
              <a:t>Generally Available: The </a:t>
            </a:r>
            <a:r>
              <a:rPr lang="en-US" sz="1000" dirty="0" err="1">
                <a:hlinkClick r:id="rId2"/>
              </a:rPr>
              <a:t>credcheck</a:t>
            </a:r>
            <a:r>
              <a:rPr lang="en-US" sz="1000" dirty="0">
                <a:hlinkClick r:id="rId2"/>
              </a:rPr>
              <a:t> extension in Azure Database for PostgreSQL Flexible Server</a:t>
            </a:r>
            <a:endParaRPr lang="en-US" sz="1000" dirty="0"/>
          </a:p>
          <a:p>
            <a:pPr algn="just"/>
            <a:r>
              <a:rPr lang="en-US" sz="1000" dirty="0"/>
              <a:t>Microsoft has added support for the </a:t>
            </a:r>
            <a:r>
              <a:rPr lang="en-US" sz="1000" b="1" dirty="0" err="1"/>
              <a:t>credcheck</a:t>
            </a:r>
            <a:r>
              <a:rPr lang="en-US" sz="1000" dirty="0"/>
              <a:t> extension in Azure Database for PostgreSQL Flexible Server.</a:t>
            </a:r>
            <a:br>
              <a:rPr lang="en-US" sz="1000" dirty="0"/>
            </a:br>
            <a:r>
              <a:rPr lang="en-US" sz="1000" dirty="0"/>
              <a:t>This extension allows organizations to enforce </a:t>
            </a:r>
            <a:r>
              <a:rPr lang="en-US" sz="1000" b="1" dirty="0"/>
              <a:t>password and credential validation policies directly inside PostgreSQL</a:t>
            </a:r>
            <a:r>
              <a:rPr lang="en-US" sz="1000" dirty="0"/>
              <a:t>, strengthening database-level security and reducing reliance on external validation mechanisms.</a:t>
            </a:r>
          </a:p>
          <a:p>
            <a:pPr algn="just"/>
            <a:r>
              <a:rPr lang="en-US" sz="1000" dirty="0"/>
              <a:t>With </a:t>
            </a:r>
            <a:r>
              <a:rPr lang="en-US" sz="1000" dirty="0" err="1"/>
              <a:t>credcheck</a:t>
            </a:r>
            <a:r>
              <a:rPr lang="en-US" sz="1000" dirty="0"/>
              <a:t> enabled, administrators can apply rules to ensure stronger password hygiene, prevent weak or reused credentials, and improve overall compliance posture across managed PostgreSQL environments.</a:t>
            </a:r>
          </a:p>
          <a:p>
            <a:pPr algn="just"/>
            <a:endParaRPr lang="en-US" sz="1000" dirty="0"/>
          </a:p>
        </p:txBody>
      </p:sp>
      <p:sp>
        <p:nvSpPr>
          <p:cNvPr id="11" name="Title 10">
            <a:extLst>
              <a:ext uri="{FF2B5EF4-FFF2-40B4-BE49-F238E27FC236}">
                <a16:creationId xmlns:a16="http://schemas.microsoft.com/office/drawing/2014/main" id="{C62E7423-4266-2E57-7ECF-35621C61E139}"/>
              </a:ext>
            </a:extLst>
          </p:cNvPr>
          <p:cNvSpPr>
            <a:spLocks noGrp="1"/>
          </p:cNvSpPr>
          <p:nvPr>
            <p:ph type="title"/>
          </p:nvPr>
        </p:nvSpPr>
        <p:spPr/>
        <p:txBody>
          <a:bodyPr/>
          <a:lstStyle/>
          <a:p>
            <a:r>
              <a:rPr lang="en-US" sz="1800" dirty="0"/>
              <a:t>Databases Updates</a:t>
            </a:r>
            <a:endParaRPr lang="en-US" dirty="0"/>
          </a:p>
        </p:txBody>
      </p:sp>
      <p:sp>
        <p:nvSpPr>
          <p:cNvPr id="13" name="Text Placeholder 12">
            <a:extLst>
              <a:ext uri="{FF2B5EF4-FFF2-40B4-BE49-F238E27FC236}">
                <a16:creationId xmlns:a16="http://schemas.microsoft.com/office/drawing/2014/main" id="{915420FD-81AB-F129-C44C-1ADB2CE5081E}"/>
              </a:ext>
            </a:extLst>
          </p:cNvPr>
          <p:cNvSpPr>
            <a:spLocks noGrp="1"/>
          </p:cNvSpPr>
          <p:nvPr>
            <p:ph type="body" sz="quarter" idx="15"/>
          </p:nvPr>
        </p:nvSpPr>
        <p:spPr/>
        <p:txBody>
          <a:bodyPr/>
          <a:lstStyle/>
          <a:p>
            <a:endParaRPr lang="en-US"/>
          </a:p>
        </p:txBody>
      </p:sp>
      <p:sp>
        <p:nvSpPr>
          <p:cNvPr id="14" name="Text Placeholder 13">
            <a:extLst>
              <a:ext uri="{FF2B5EF4-FFF2-40B4-BE49-F238E27FC236}">
                <a16:creationId xmlns:a16="http://schemas.microsoft.com/office/drawing/2014/main" id="{A99C1840-42CB-2AAA-82F4-807BF7A8EB8F}"/>
              </a:ext>
            </a:extLst>
          </p:cNvPr>
          <p:cNvSpPr>
            <a:spLocks noGrp="1"/>
          </p:cNvSpPr>
          <p:nvPr>
            <p:ph type="body" sz="quarter" idx="16"/>
          </p:nvPr>
        </p:nvSpPr>
        <p:spPr/>
        <p:txBody>
          <a:bodyPr/>
          <a:lstStyle/>
          <a:p>
            <a:pPr algn="just"/>
            <a:r>
              <a:rPr lang="en-US" dirty="0">
                <a:hlinkClick r:id="rId3"/>
              </a:rPr>
              <a:t>Generally Available: Azure Database for PostgreSQL Flexible Server in Belgium Central</a:t>
            </a:r>
            <a:endParaRPr lang="en-US" dirty="0"/>
          </a:p>
          <a:p>
            <a:pPr algn="just"/>
            <a:r>
              <a:rPr lang="en-US" dirty="0"/>
              <a:t>Microsoft has expanded regional availability for Azure Database for PostgreSQL Flexible Server, which can now be deployed in the </a:t>
            </a:r>
            <a:r>
              <a:rPr lang="en-US" b="1" dirty="0"/>
              <a:t>Belgium Central</a:t>
            </a:r>
            <a:r>
              <a:rPr lang="en-US" dirty="0"/>
              <a:t> Azure region.</a:t>
            </a:r>
          </a:p>
          <a:p>
            <a:pPr algn="just"/>
            <a:r>
              <a:rPr lang="en-US" dirty="0"/>
              <a:t>This update gives organizations operating in or near Belgium more options for optimizing </a:t>
            </a:r>
            <a:r>
              <a:rPr lang="en-US" b="1" dirty="0"/>
              <a:t>latency, data residency, and compliance</a:t>
            </a:r>
            <a:r>
              <a:rPr lang="en-US" dirty="0"/>
              <a:t> while benefiting from PostgreSQL Flexible Server’s managed capabilities—including high availability, automated backups, scaling, and advanced performance tuning.</a:t>
            </a:r>
          </a:p>
        </p:txBody>
      </p:sp>
    </p:spTree>
    <p:extLst>
      <p:ext uri="{BB962C8B-B14F-4D97-AF65-F5344CB8AC3E}">
        <p14:creationId xmlns:p14="http://schemas.microsoft.com/office/powerpoint/2010/main" val="724845985"/>
      </p:ext>
    </p:extLst>
  </p:cSld>
  <p:clrMapOvr>
    <a:masterClrMapping/>
  </p:clrMapOvr>
  <mc:AlternateContent xmlns:mc="http://schemas.openxmlformats.org/markup-compatibility/2006" xmlns:p14="http://schemas.microsoft.com/office/powerpoint/2010/main">
    <mc:Choice Requires="p14">
      <p:transition spd="med" p14:dur="700">
        <p:fade/>
      </p:transition>
    </mc:Choice>
    <mc:Fallback xmlns="">
      <p:transition spd="med">
        <p:fade/>
      </p:transition>
    </mc:Fallback>
  </mc:AlternateContent>
  <p:timing>
    <p:tnLst>
      <p:par>
        <p:cTn id="1" dur="indefinite" restart="never" nodeType="tmRoot">
          <p:childTnLst>
            <p:seq concurrent="1" nextAc="seek">
              <p:cTn id="2" dur="indefinite" nodeType="mainSeq">
                <p:childTnLst>
                  <p:par>
                    <p:cTn id="3" fill="hold">
                      <p:stCondLst>
                        <p:cond delay="indefinite"/>
                      </p:stCondLst>
                      <p:childTnLst>
                        <p:par>
                          <p:cTn id="4" fill="hold">
                            <p:stCondLst>
                              <p:cond delay="0"/>
                            </p:stCondLst>
                            <p:childTnLst>
                              <p:par>
                                <p:cTn id="5" presetID="1" presetClass="entr" presetSubtype="0" fill="hold" nodeType="clickEffect">
                                  <p:stCondLst>
                                    <p:cond delay="0"/>
                                  </p:stCondLst>
                                  <p:childTnLst>
                                    <p:set>
                                      <p:cBhvr>
                                        <p:cTn id="6" dur="1" fill="hold">
                                          <p:stCondLst>
                                            <p:cond delay="0"/>
                                          </p:stCondLst>
                                        </p:cTn>
                                        <p:tgtEl>
                                          <p:spTgt spid="14">
                                            <p:txEl>
                                              <p:pRg st="0" end="0"/>
                                            </p:txEl>
                                          </p:spTgt>
                                        </p:tgtEl>
                                        <p:attrNameLst>
                                          <p:attrName>style.visibility</p:attrName>
                                        </p:attrNameLst>
                                      </p:cBhvr>
                                      <p:to>
                                        <p:strVal val="visible"/>
                                      </p:to>
                                    </p:set>
                                  </p:childTnLst>
                                </p:cTn>
                              </p:par>
                              <p:par>
                                <p:cTn id="7" presetID="1" presetClass="entr" presetSubtype="0" fill="hold" nodeType="withEffect">
                                  <p:stCondLst>
                                    <p:cond delay="0"/>
                                  </p:stCondLst>
                                  <p:childTnLst>
                                    <p:set>
                                      <p:cBhvr>
                                        <p:cTn id="8" dur="1" fill="hold">
                                          <p:stCondLst>
                                            <p:cond delay="0"/>
                                          </p:stCondLst>
                                        </p:cTn>
                                        <p:tgtEl>
                                          <p:spTgt spid="14">
                                            <p:txEl>
                                              <p:pRg st="1" end="1"/>
                                            </p:txEl>
                                          </p:spTgt>
                                        </p:tgtEl>
                                        <p:attrNameLst>
                                          <p:attrName>style.visibility</p:attrName>
                                        </p:attrNameLst>
                                      </p:cBhvr>
                                      <p:to>
                                        <p:strVal val="visible"/>
                                      </p:to>
                                    </p:set>
                                  </p:childTnLst>
                                </p:cTn>
                              </p:par>
                              <p:par>
                                <p:cTn id="9" presetID="1" presetClass="entr" presetSubtype="0" fill="hold" nodeType="withEffect">
                                  <p:stCondLst>
                                    <p:cond delay="0"/>
                                  </p:stCondLst>
                                  <p:childTnLst>
                                    <p:set>
                                      <p:cBhvr>
                                        <p:cTn id="10" dur="1" fill="hold">
                                          <p:stCondLst>
                                            <p:cond delay="0"/>
                                          </p:stCondLst>
                                        </p:cTn>
                                        <p:tgtEl>
                                          <p:spTgt spid="14">
                                            <p:txEl>
                                              <p:pRg st="2" end="2"/>
                                            </p:txEl>
                                          </p:spTgt>
                                        </p:tgtEl>
                                        <p:attrNameLst>
                                          <p:attrName>style.visibility</p:attrName>
                                        </p:attrNameLst>
                                      </p:cBhvr>
                                      <p:to>
                                        <p:strVal val="visible"/>
                                      </p:to>
                                    </p:set>
                                  </p:childTnLst>
                                </p:cTn>
                              </p:par>
                            </p:childTnLst>
                          </p:cTn>
                        </p:par>
                      </p:childTnLst>
                    </p:cTn>
                  </p:par>
                  <p:par>
                    <p:cTn id="11" fill="hold">
                      <p:stCondLst>
                        <p:cond delay="indefinite"/>
                      </p:stCondLst>
                      <p:childTnLst>
                        <p:par>
                          <p:cTn id="12" fill="hold">
                            <p:stCondLst>
                              <p:cond delay="0"/>
                            </p:stCondLst>
                            <p:childTnLst>
                              <p:par>
                                <p:cTn id="13" presetID="1" presetClass="entr" presetSubtype="0" fill="hold" nodeType="clickEffect">
                                  <p:stCondLst>
                                    <p:cond delay="0"/>
                                  </p:stCondLst>
                                  <p:childTnLst>
                                    <p:set>
                                      <p:cBhvr>
                                        <p:cTn id="14" dur="1" fill="hold">
                                          <p:stCondLst>
                                            <p:cond delay="0"/>
                                          </p:stCondLst>
                                        </p:cTn>
                                        <p:tgtEl>
                                          <p:spTgt spid="12">
                                            <p:txEl>
                                              <p:pRg st="0" end="0"/>
                                            </p:txEl>
                                          </p:spTgt>
                                        </p:tgtEl>
                                        <p:attrNameLst>
                                          <p:attrName>style.visibility</p:attrName>
                                        </p:attrNameLst>
                                      </p:cBhvr>
                                      <p:to>
                                        <p:strVal val="visible"/>
                                      </p:to>
                                    </p:set>
                                  </p:childTnLst>
                                </p:cTn>
                              </p:par>
                              <p:par>
                                <p:cTn id="15" presetID="1" presetClass="entr" presetSubtype="0" fill="hold" nodeType="withEffect">
                                  <p:stCondLst>
                                    <p:cond delay="0"/>
                                  </p:stCondLst>
                                  <p:childTnLst>
                                    <p:set>
                                      <p:cBhvr>
                                        <p:cTn id="16" dur="1" fill="hold">
                                          <p:stCondLst>
                                            <p:cond delay="0"/>
                                          </p:stCondLst>
                                        </p:cTn>
                                        <p:tgtEl>
                                          <p:spTgt spid="12">
                                            <p:txEl>
                                              <p:pRg st="1" end="1"/>
                                            </p:txEl>
                                          </p:spTgt>
                                        </p:tgtEl>
                                        <p:attrNameLst>
                                          <p:attrName>style.visibility</p:attrName>
                                        </p:attrNameLst>
                                      </p:cBhvr>
                                      <p:to>
                                        <p:strVal val="visible"/>
                                      </p:to>
                                    </p:set>
                                  </p:childTnLst>
                                </p:cTn>
                              </p:par>
                              <p:par>
                                <p:cTn id="17" presetID="1" presetClass="entr" presetSubtype="0" fill="hold" nodeType="withEffect">
                                  <p:stCondLst>
                                    <p:cond delay="0"/>
                                  </p:stCondLst>
                                  <p:childTnLst>
                                    <p:set>
                                      <p:cBhvr>
                                        <p:cTn id="18" dur="1" fill="hold">
                                          <p:stCondLst>
                                            <p:cond delay="0"/>
                                          </p:stCondLst>
                                        </p:cTn>
                                        <p:tgtEl>
                                          <p:spTgt spid="12">
                                            <p:txEl>
                                              <p:pRg st="2" end="2"/>
                                            </p:txEl>
                                          </p:spTgt>
                                        </p:tgtEl>
                                        <p:attrNameLst>
                                          <p:attrName>style.visibility</p:attrName>
                                        </p:attrNameLst>
                                      </p:cBhvr>
                                      <p:to>
                                        <p:strVal val="visible"/>
                                      </p:to>
                                    </p:set>
                                  </p:childTnLst>
                                </p:cTn>
                              </p:par>
                            </p:childTnLst>
                          </p:cTn>
                        </p:par>
                      </p:childTnLst>
                    </p:cTn>
                  </p:par>
                </p:childTnLst>
              </p:cTn>
              <p:prevCondLst>
                <p:cond evt="onPrev" delay="0">
                  <p:tgtEl>
                    <p:sldTgt/>
                  </p:tgtEl>
                </p:cond>
              </p:prevCondLst>
              <p:nextCondLst>
                <p:cond evt="onNext" delay="0">
                  <p:tgtEl>
                    <p:sldTgt/>
                  </p:tgtEl>
                </p:cond>
              </p:nextCondLst>
            </p:seq>
          </p:childTnLst>
        </p:cTn>
      </p:par>
    </p:tnLst>
  </p:timing>
</p:sld>
</file>

<file path=ppt/slides/slide28.xml><?xml version="1.0" encoding="utf-8"?>
<p:sld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F3B30A3B-5B5F-E3BD-A4F6-C2C8DE0B4DB6}"/>
            </a:ext>
          </a:extLst>
        </p:cNvPr>
        <p:cNvGrpSpPr/>
        <p:nvPr/>
      </p:nvGrpSpPr>
      <p:grpSpPr>
        <a:xfrm>
          <a:off x="0" y="0"/>
          <a:ext cx="0" cy="0"/>
          <a:chOff x="0" y="0"/>
          <a:chExt cx="0" cy="0"/>
        </a:xfrm>
      </p:grpSpPr>
      <p:sp>
        <p:nvSpPr>
          <p:cNvPr id="12" name="Text Placeholder 11">
            <a:extLst>
              <a:ext uri="{FF2B5EF4-FFF2-40B4-BE49-F238E27FC236}">
                <a16:creationId xmlns:a16="http://schemas.microsoft.com/office/drawing/2014/main" id="{E1FE15C0-EAEC-E6D4-AEAC-82109CB7780D}"/>
              </a:ext>
            </a:extLst>
          </p:cNvPr>
          <p:cNvSpPr>
            <a:spLocks noGrp="1"/>
          </p:cNvSpPr>
          <p:nvPr>
            <p:ph type="body" sz="quarter" idx="10"/>
          </p:nvPr>
        </p:nvSpPr>
        <p:spPr/>
        <p:txBody>
          <a:bodyPr/>
          <a:lstStyle/>
          <a:p>
            <a:pPr algn="just"/>
            <a:r>
              <a:rPr lang="en-US" sz="1000" dirty="0">
                <a:hlinkClick r:id="rId2"/>
              </a:rPr>
              <a:t>Generally Available: The ip4r extension in Azure Database for PostgreSQL Flexible Server</a:t>
            </a:r>
            <a:endParaRPr lang="en-US" sz="1000" dirty="0"/>
          </a:p>
          <a:p>
            <a:pPr algn="just"/>
            <a:r>
              <a:rPr lang="en-US" sz="1000" dirty="0"/>
              <a:t>Microsoft has added support for the </a:t>
            </a:r>
            <a:r>
              <a:rPr lang="en-US" sz="1000" b="1" dirty="0"/>
              <a:t>ip4r extension</a:t>
            </a:r>
            <a:r>
              <a:rPr lang="en-US" sz="1000" dirty="0"/>
              <a:t> in </a:t>
            </a:r>
            <a:r>
              <a:rPr lang="en-US" sz="1000" b="1" dirty="0"/>
              <a:t>Azure Database for PostgreSQL Flexible Server</a:t>
            </a:r>
            <a:r>
              <a:rPr lang="en-US" sz="1000" dirty="0"/>
              <a:t>.</a:t>
            </a:r>
            <a:br>
              <a:rPr lang="en-US" sz="1000" dirty="0"/>
            </a:br>
            <a:r>
              <a:rPr lang="en-US" sz="1000" dirty="0"/>
              <a:t>The </a:t>
            </a:r>
            <a:r>
              <a:rPr lang="en-US" sz="1000" i="1" dirty="0"/>
              <a:t>ip4r</a:t>
            </a:r>
            <a:r>
              <a:rPr lang="en-US" sz="1000" dirty="0"/>
              <a:t> extension enables efficient storage, querying, and indexing of </a:t>
            </a:r>
            <a:r>
              <a:rPr lang="en-US" sz="1000" b="1" dirty="0"/>
              <a:t>IPv4 and IPv6 addresses and address ranges</a:t>
            </a:r>
            <a:r>
              <a:rPr lang="en-US" sz="1000" dirty="0"/>
              <a:t>, making it especially valuable for applications that manage network metadata, routing information, security rules, or large-scale IP inventories.</a:t>
            </a:r>
          </a:p>
          <a:p>
            <a:pPr algn="just"/>
            <a:r>
              <a:rPr lang="en-US" sz="1000" dirty="0"/>
              <a:t>This enhancement improves performance and simplifies development for workloads that rely on IP-aware data operations within PostgreSQL on Azure.</a:t>
            </a:r>
          </a:p>
          <a:p>
            <a:pPr algn="just"/>
            <a:endParaRPr lang="en-US" sz="1000" dirty="0"/>
          </a:p>
        </p:txBody>
      </p:sp>
      <p:sp>
        <p:nvSpPr>
          <p:cNvPr id="11" name="Title 10">
            <a:extLst>
              <a:ext uri="{FF2B5EF4-FFF2-40B4-BE49-F238E27FC236}">
                <a16:creationId xmlns:a16="http://schemas.microsoft.com/office/drawing/2014/main" id="{96FF38FE-F7F4-39FA-FD76-EE7224F55359}"/>
              </a:ext>
            </a:extLst>
          </p:cNvPr>
          <p:cNvSpPr>
            <a:spLocks noGrp="1"/>
          </p:cNvSpPr>
          <p:nvPr>
            <p:ph type="title"/>
          </p:nvPr>
        </p:nvSpPr>
        <p:spPr/>
        <p:txBody>
          <a:bodyPr/>
          <a:lstStyle/>
          <a:p>
            <a:r>
              <a:rPr lang="en-US" sz="1800" dirty="0"/>
              <a:t>Databases Updates</a:t>
            </a:r>
            <a:endParaRPr lang="en-US" dirty="0"/>
          </a:p>
        </p:txBody>
      </p:sp>
      <p:sp>
        <p:nvSpPr>
          <p:cNvPr id="13" name="Text Placeholder 12">
            <a:extLst>
              <a:ext uri="{FF2B5EF4-FFF2-40B4-BE49-F238E27FC236}">
                <a16:creationId xmlns:a16="http://schemas.microsoft.com/office/drawing/2014/main" id="{7ADF7F88-4577-68E6-C1CF-62135B255195}"/>
              </a:ext>
            </a:extLst>
          </p:cNvPr>
          <p:cNvSpPr>
            <a:spLocks noGrp="1"/>
          </p:cNvSpPr>
          <p:nvPr>
            <p:ph type="body" sz="quarter" idx="15"/>
          </p:nvPr>
        </p:nvSpPr>
        <p:spPr/>
        <p:txBody>
          <a:bodyPr/>
          <a:lstStyle/>
          <a:p>
            <a:endParaRPr lang="en-US"/>
          </a:p>
        </p:txBody>
      </p:sp>
      <p:sp>
        <p:nvSpPr>
          <p:cNvPr id="14" name="Text Placeholder 13">
            <a:extLst>
              <a:ext uri="{FF2B5EF4-FFF2-40B4-BE49-F238E27FC236}">
                <a16:creationId xmlns:a16="http://schemas.microsoft.com/office/drawing/2014/main" id="{AC75C4F3-4834-7F0D-397C-729C14BBA3BD}"/>
              </a:ext>
            </a:extLst>
          </p:cNvPr>
          <p:cNvSpPr>
            <a:spLocks noGrp="1"/>
          </p:cNvSpPr>
          <p:nvPr>
            <p:ph type="body" sz="quarter" idx="16"/>
          </p:nvPr>
        </p:nvSpPr>
        <p:spPr/>
        <p:txBody>
          <a:bodyPr/>
          <a:lstStyle/>
          <a:p>
            <a:pPr algn="just"/>
            <a:r>
              <a:rPr lang="en-US" dirty="0">
                <a:hlinkClick r:id="rId3"/>
              </a:rPr>
              <a:t>Generally Available: Update </a:t>
            </a:r>
            <a:r>
              <a:rPr lang="en-US" dirty="0" err="1">
                <a:hlinkClick r:id="rId3"/>
              </a:rPr>
              <a:t>pg_squeeze</a:t>
            </a:r>
            <a:r>
              <a:rPr lang="en-US" dirty="0">
                <a:hlinkClick r:id="rId3"/>
              </a:rPr>
              <a:t> to version 1.9.1 in Azure Database for PostgreSQL Flexible Server</a:t>
            </a:r>
            <a:endParaRPr lang="en-US" dirty="0"/>
          </a:p>
          <a:p>
            <a:pPr algn="just"/>
            <a:r>
              <a:rPr lang="en-US" dirty="0"/>
              <a:t>Microsoft has added support for upgrading the </a:t>
            </a:r>
            <a:r>
              <a:rPr lang="en-US" b="1" dirty="0" err="1"/>
              <a:t>pg_squeeze</a:t>
            </a:r>
            <a:r>
              <a:rPr lang="en-US" dirty="0"/>
              <a:t> extension to </a:t>
            </a:r>
            <a:r>
              <a:rPr lang="en-US" b="1" dirty="0"/>
              <a:t>version 1.9.1</a:t>
            </a:r>
            <a:r>
              <a:rPr lang="en-US" dirty="0"/>
              <a:t> in Azure Database for PostgreSQL Flexible Server.</a:t>
            </a:r>
            <a:br>
              <a:rPr lang="en-US" dirty="0"/>
            </a:br>
            <a:r>
              <a:rPr lang="en-US" dirty="0"/>
              <a:t>The latest version delivers improved table bloat management, enhanced reliability during online table rewriting, and better performance for routine maintenance operations.</a:t>
            </a:r>
          </a:p>
          <a:p>
            <a:pPr algn="just"/>
            <a:r>
              <a:rPr lang="en-US" dirty="0"/>
              <a:t>This update allows customers to keep their PostgreSQL environments optimized and maintain healthier storage usage with minimal application impact.</a:t>
            </a:r>
          </a:p>
          <a:p>
            <a:pPr algn="just"/>
            <a:endParaRPr lang="en-US" dirty="0"/>
          </a:p>
        </p:txBody>
      </p:sp>
    </p:spTree>
    <p:extLst>
      <p:ext uri="{BB962C8B-B14F-4D97-AF65-F5344CB8AC3E}">
        <p14:creationId xmlns:p14="http://schemas.microsoft.com/office/powerpoint/2010/main" val="2199866197"/>
      </p:ext>
    </p:extLst>
  </p:cSld>
  <p:clrMapOvr>
    <a:masterClrMapping/>
  </p:clrMapOvr>
  <mc:AlternateContent xmlns:mc="http://schemas.openxmlformats.org/markup-compatibility/2006" xmlns:p14="http://schemas.microsoft.com/office/powerpoint/2010/main">
    <mc:Choice Requires="p14">
      <p:transition spd="med" p14:dur="700">
        <p:fade/>
      </p:transition>
    </mc:Choice>
    <mc:Fallback xmlns="">
      <p:transition spd="med">
        <p:fade/>
      </p:transition>
    </mc:Fallback>
  </mc:AlternateContent>
  <p:timing>
    <p:tnLst>
      <p:par>
        <p:cTn id="1" dur="indefinite" restart="never" nodeType="tmRoot">
          <p:childTnLst>
            <p:seq concurrent="1" nextAc="seek">
              <p:cTn id="2" dur="indefinite" nodeType="mainSeq">
                <p:childTnLst>
                  <p:par>
                    <p:cTn id="3" fill="hold">
                      <p:stCondLst>
                        <p:cond delay="indefinite"/>
                      </p:stCondLst>
                      <p:childTnLst>
                        <p:par>
                          <p:cTn id="4" fill="hold">
                            <p:stCondLst>
                              <p:cond delay="0"/>
                            </p:stCondLst>
                            <p:childTnLst>
                              <p:par>
                                <p:cTn id="5" presetID="1" presetClass="entr" presetSubtype="0" fill="hold" nodeType="clickEffect">
                                  <p:stCondLst>
                                    <p:cond delay="0"/>
                                  </p:stCondLst>
                                  <p:childTnLst>
                                    <p:set>
                                      <p:cBhvr>
                                        <p:cTn id="6" dur="1" fill="hold">
                                          <p:stCondLst>
                                            <p:cond delay="0"/>
                                          </p:stCondLst>
                                        </p:cTn>
                                        <p:tgtEl>
                                          <p:spTgt spid="14">
                                            <p:txEl>
                                              <p:pRg st="0" end="0"/>
                                            </p:txEl>
                                          </p:spTgt>
                                        </p:tgtEl>
                                        <p:attrNameLst>
                                          <p:attrName>style.visibility</p:attrName>
                                        </p:attrNameLst>
                                      </p:cBhvr>
                                      <p:to>
                                        <p:strVal val="visible"/>
                                      </p:to>
                                    </p:set>
                                  </p:childTnLst>
                                </p:cTn>
                              </p:par>
                              <p:par>
                                <p:cTn id="7" presetID="1" presetClass="entr" presetSubtype="0" fill="hold" nodeType="withEffect">
                                  <p:stCondLst>
                                    <p:cond delay="0"/>
                                  </p:stCondLst>
                                  <p:childTnLst>
                                    <p:set>
                                      <p:cBhvr>
                                        <p:cTn id="8" dur="1" fill="hold">
                                          <p:stCondLst>
                                            <p:cond delay="0"/>
                                          </p:stCondLst>
                                        </p:cTn>
                                        <p:tgtEl>
                                          <p:spTgt spid="14">
                                            <p:txEl>
                                              <p:pRg st="1" end="1"/>
                                            </p:txEl>
                                          </p:spTgt>
                                        </p:tgtEl>
                                        <p:attrNameLst>
                                          <p:attrName>style.visibility</p:attrName>
                                        </p:attrNameLst>
                                      </p:cBhvr>
                                      <p:to>
                                        <p:strVal val="visible"/>
                                      </p:to>
                                    </p:set>
                                  </p:childTnLst>
                                </p:cTn>
                              </p:par>
                              <p:par>
                                <p:cTn id="9" presetID="1" presetClass="entr" presetSubtype="0" fill="hold" nodeType="withEffect">
                                  <p:stCondLst>
                                    <p:cond delay="0"/>
                                  </p:stCondLst>
                                  <p:childTnLst>
                                    <p:set>
                                      <p:cBhvr>
                                        <p:cTn id="10" dur="1" fill="hold">
                                          <p:stCondLst>
                                            <p:cond delay="0"/>
                                          </p:stCondLst>
                                        </p:cTn>
                                        <p:tgtEl>
                                          <p:spTgt spid="14">
                                            <p:txEl>
                                              <p:pRg st="2" end="2"/>
                                            </p:txEl>
                                          </p:spTgt>
                                        </p:tgtEl>
                                        <p:attrNameLst>
                                          <p:attrName>style.visibility</p:attrName>
                                        </p:attrNameLst>
                                      </p:cBhvr>
                                      <p:to>
                                        <p:strVal val="visible"/>
                                      </p:to>
                                    </p:set>
                                  </p:childTnLst>
                                </p:cTn>
                              </p:par>
                            </p:childTnLst>
                          </p:cTn>
                        </p:par>
                      </p:childTnLst>
                    </p:cTn>
                  </p:par>
                  <p:par>
                    <p:cTn id="11" fill="hold">
                      <p:stCondLst>
                        <p:cond delay="indefinite"/>
                      </p:stCondLst>
                      <p:childTnLst>
                        <p:par>
                          <p:cTn id="12" fill="hold">
                            <p:stCondLst>
                              <p:cond delay="0"/>
                            </p:stCondLst>
                            <p:childTnLst>
                              <p:par>
                                <p:cTn id="13" presetID="1" presetClass="entr" presetSubtype="0" fill="hold" nodeType="clickEffect">
                                  <p:stCondLst>
                                    <p:cond delay="0"/>
                                  </p:stCondLst>
                                  <p:childTnLst>
                                    <p:set>
                                      <p:cBhvr>
                                        <p:cTn id="14" dur="1" fill="hold">
                                          <p:stCondLst>
                                            <p:cond delay="0"/>
                                          </p:stCondLst>
                                        </p:cTn>
                                        <p:tgtEl>
                                          <p:spTgt spid="12">
                                            <p:txEl>
                                              <p:pRg st="0" end="0"/>
                                            </p:txEl>
                                          </p:spTgt>
                                        </p:tgtEl>
                                        <p:attrNameLst>
                                          <p:attrName>style.visibility</p:attrName>
                                        </p:attrNameLst>
                                      </p:cBhvr>
                                      <p:to>
                                        <p:strVal val="visible"/>
                                      </p:to>
                                    </p:set>
                                  </p:childTnLst>
                                </p:cTn>
                              </p:par>
                              <p:par>
                                <p:cTn id="15" presetID="1" presetClass="entr" presetSubtype="0" fill="hold" nodeType="withEffect">
                                  <p:stCondLst>
                                    <p:cond delay="0"/>
                                  </p:stCondLst>
                                  <p:childTnLst>
                                    <p:set>
                                      <p:cBhvr>
                                        <p:cTn id="16" dur="1" fill="hold">
                                          <p:stCondLst>
                                            <p:cond delay="0"/>
                                          </p:stCondLst>
                                        </p:cTn>
                                        <p:tgtEl>
                                          <p:spTgt spid="12">
                                            <p:txEl>
                                              <p:pRg st="1" end="1"/>
                                            </p:txEl>
                                          </p:spTgt>
                                        </p:tgtEl>
                                        <p:attrNameLst>
                                          <p:attrName>style.visibility</p:attrName>
                                        </p:attrNameLst>
                                      </p:cBhvr>
                                      <p:to>
                                        <p:strVal val="visible"/>
                                      </p:to>
                                    </p:set>
                                  </p:childTnLst>
                                </p:cTn>
                              </p:par>
                              <p:par>
                                <p:cTn id="17" presetID="1" presetClass="entr" presetSubtype="0" fill="hold" nodeType="withEffect">
                                  <p:stCondLst>
                                    <p:cond delay="0"/>
                                  </p:stCondLst>
                                  <p:childTnLst>
                                    <p:set>
                                      <p:cBhvr>
                                        <p:cTn id="18" dur="1" fill="hold">
                                          <p:stCondLst>
                                            <p:cond delay="0"/>
                                          </p:stCondLst>
                                        </p:cTn>
                                        <p:tgtEl>
                                          <p:spTgt spid="12">
                                            <p:txEl>
                                              <p:pRg st="2" end="2"/>
                                            </p:txEl>
                                          </p:spTgt>
                                        </p:tgtEl>
                                        <p:attrNameLst>
                                          <p:attrName>style.visibility</p:attrName>
                                        </p:attrNameLst>
                                      </p:cBhvr>
                                      <p:to>
                                        <p:strVal val="visible"/>
                                      </p:to>
                                    </p:set>
                                  </p:childTnLst>
                                </p:cTn>
                              </p:par>
                            </p:childTnLst>
                          </p:cTn>
                        </p:par>
                      </p:childTnLst>
                    </p:cTn>
                  </p:par>
                </p:childTnLst>
              </p:cTn>
              <p:prevCondLst>
                <p:cond evt="onPrev" delay="0">
                  <p:tgtEl>
                    <p:sldTgt/>
                  </p:tgtEl>
                </p:cond>
              </p:prevCondLst>
              <p:nextCondLst>
                <p:cond evt="onNext" delay="0">
                  <p:tgtEl>
                    <p:sldTgt/>
                  </p:tgtEl>
                </p:cond>
              </p:nextCondLst>
            </p:seq>
          </p:childTnLst>
        </p:cTn>
      </p:par>
    </p:tnLst>
  </p:timing>
</p:sld>
</file>

<file path=ppt/slides/slide29.xml><?xml version="1.0" encoding="utf-8"?>
<p:sld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84893715-9869-88DC-2CB8-A7701BFB3325}"/>
            </a:ext>
          </a:extLst>
        </p:cNvPr>
        <p:cNvGrpSpPr/>
        <p:nvPr/>
      </p:nvGrpSpPr>
      <p:grpSpPr>
        <a:xfrm>
          <a:off x="0" y="0"/>
          <a:ext cx="0" cy="0"/>
          <a:chOff x="0" y="0"/>
          <a:chExt cx="0" cy="0"/>
        </a:xfrm>
      </p:grpSpPr>
      <p:sp>
        <p:nvSpPr>
          <p:cNvPr id="12" name="Text Placeholder 11">
            <a:extLst>
              <a:ext uri="{FF2B5EF4-FFF2-40B4-BE49-F238E27FC236}">
                <a16:creationId xmlns:a16="http://schemas.microsoft.com/office/drawing/2014/main" id="{F69D1DAA-5541-5F8D-D325-1706397A6A43}"/>
              </a:ext>
            </a:extLst>
          </p:cNvPr>
          <p:cNvSpPr>
            <a:spLocks noGrp="1"/>
          </p:cNvSpPr>
          <p:nvPr>
            <p:ph type="body" sz="quarter" idx="10"/>
          </p:nvPr>
        </p:nvSpPr>
        <p:spPr/>
        <p:txBody>
          <a:bodyPr/>
          <a:lstStyle/>
          <a:p>
            <a:endParaRPr lang="en-US" sz="1000" dirty="0"/>
          </a:p>
        </p:txBody>
      </p:sp>
      <p:sp>
        <p:nvSpPr>
          <p:cNvPr id="11" name="Title 10">
            <a:extLst>
              <a:ext uri="{FF2B5EF4-FFF2-40B4-BE49-F238E27FC236}">
                <a16:creationId xmlns:a16="http://schemas.microsoft.com/office/drawing/2014/main" id="{B05E9534-3C35-9313-C6E7-9E564BDFC466}"/>
              </a:ext>
            </a:extLst>
          </p:cNvPr>
          <p:cNvSpPr>
            <a:spLocks noGrp="1"/>
          </p:cNvSpPr>
          <p:nvPr>
            <p:ph type="title"/>
          </p:nvPr>
        </p:nvSpPr>
        <p:spPr/>
        <p:txBody>
          <a:bodyPr/>
          <a:lstStyle/>
          <a:p>
            <a:r>
              <a:rPr lang="en-US" sz="1800" dirty="0"/>
              <a:t>Databases Updates</a:t>
            </a:r>
            <a:endParaRPr lang="en-US" dirty="0"/>
          </a:p>
        </p:txBody>
      </p:sp>
      <p:sp>
        <p:nvSpPr>
          <p:cNvPr id="13" name="Text Placeholder 12">
            <a:extLst>
              <a:ext uri="{FF2B5EF4-FFF2-40B4-BE49-F238E27FC236}">
                <a16:creationId xmlns:a16="http://schemas.microsoft.com/office/drawing/2014/main" id="{DE6CD169-A2F9-0F7E-49EE-EC7FAE204B1C}"/>
              </a:ext>
            </a:extLst>
          </p:cNvPr>
          <p:cNvSpPr>
            <a:spLocks noGrp="1"/>
          </p:cNvSpPr>
          <p:nvPr>
            <p:ph type="body" sz="quarter" idx="15"/>
          </p:nvPr>
        </p:nvSpPr>
        <p:spPr/>
        <p:txBody>
          <a:bodyPr/>
          <a:lstStyle/>
          <a:p>
            <a:endParaRPr lang="en-US"/>
          </a:p>
        </p:txBody>
      </p:sp>
      <p:sp>
        <p:nvSpPr>
          <p:cNvPr id="14" name="Text Placeholder 13">
            <a:extLst>
              <a:ext uri="{FF2B5EF4-FFF2-40B4-BE49-F238E27FC236}">
                <a16:creationId xmlns:a16="http://schemas.microsoft.com/office/drawing/2014/main" id="{61510AD9-2A44-5DDF-30FA-DE4500EB2760}"/>
              </a:ext>
            </a:extLst>
          </p:cNvPr>
          <p:cNvSpPr>
            <a:spLocks noGrp="1"/>
          </p:cNvSpPr>
          <p:nvPr>
            <p:ph type="body" sz="quarter" idx="16"/>
          </p:nvPr>
        </p:nvSpPr>
        <p:spPr/>
        <p:txBody>
          <a:bodyPr/>
          <a:lstStyle/>
          <a:p>
            <a:pPr algn="just"/>
            <a:r>
              <a:rPr lang="en-US" dirty="0">
                <a:hlinkClick r:id="rId2"/>
              </a:rPr>
              <a:t>PostgreSQL 18 Now GA on Azure Postgres Flexible Server</a:t>
            </a:r>
            <a:endParaRPr lang="en-US" dirty="0"/>
          </a:p>
          <a:p>
            <a:pPr algn="just"/>
            <a:r>
              <a:rPr lang="en-US" dirty="0"/>
              <a:t>PostgreSQL 18 brings significant under-the-hood improvements such as asynchronous I/O (AIO) for faster read performance, enhanced vacuuming and indexing, OAuth 2.0 support, and more efficient partitioning - all now supported in Azure’s managed environment.</a:t>
            </a:r>
          </a:p>
          <a:p>
            <a:pPr algn="just"/>
            <a:r>
              <a:rPr lang="en-US" dirty="0"/>
              <a:t>Azure Database for PostgreSQL also now supports over 80 extensions for PostgreSQL 18, including </a:t>
            </a:r>
            <a:r>
              <a:rPr lang="en-US" dirty="0" err="1"/>
              <a:t>pgvector</a:t>
            </a:r>
            <a:r>
              <a:rPr lang="en-US" dirty="0"/>
              <a:t>, POSTGIS, </a:t>
            </a:r>
            <a:r>
              <a:rPr lang="en-US" dirty="0" err="1"/>
              <a:t>pg_cron</a:t>
            </a:r>
            <a:r>
              <a:rPr lang="en-US" dirty="0"/>
              <a:t>, and </a:t>
            </a:r>
            <a:r>
              <a:rPr lang="en-US" dirty="0" err="1"/>
              <a:t>pg_stat_statements</a:t>
            </a:r>
            <a:r>
              <a:rPr lang="en-US" dirty="0"/>
              <a:t>. The engineering team continues to expand this list, ensuring customers can use the same ecosystem they rely on in open-source PostgreSQL with enterprise-grade reliability on Azure.</a:t>
            </a:r>
          </a:p>
        </p:txBody>
      </p:sp>
    </p:spTree>
    <p:extLst>
      <p:ext uri="{BB962C8B-B14F-4D97-AF65-F5344CB8AC3E}">
        <p14:creationId xmlns:p14="http://schemas.microsoft.com/office/powerpoint/2010/main" val="580018272"/>
      </p:ext>
    </p:extLst>
  </p:cSld>
  <p:clrMapOvr>
    <a:masterClrMapping/>
  </p:clrMapOvr>
  <mc:AlternateContent xmlns:mc="http://schemas.openxmlformats.org/markup-compatibility/2006" xmlns:p14="http://schemas.microsoft.com/office/powerpoint/2010/main">
    <mc:Choice Requires="p14">
      <p:transition spd="med" p14:dur="700">
        <p:fade/>
      </p:transition>
    </mc:Choice>
    <mc:Fallback xmlns="">
      <p:transition spd="med">
        <p:fade/>
      </p:transition>
    </mc:Fallback>
  </mc:AlternateContent>
  <p:timing>
    <p:tnLst>
      <p:par>
        <p:cTn id="1" dur="indefinite" restart="never" nodeType="tmRoot">
          <p:childTnLst>
            <p:seq concurrent="1" nextAc="seek">
              <p:cTn id="2" dur="indefinite" nodeType="mainSeq">
                <p:childTnLst>
                  <p:par>
                    <p:cTn id="3" fill="hold">
                      <p:stCondLst>
                        <p:cond delay="indefinite"/>
                      </p:stCondLst>
                      <p:childTnLst>
                        <p:par>
                          <p:cTn id="4" fill="hold">
                            <p:stCondLst>
                              <p:cond delay="0"/>
                            </p:stCondLst>
                            <p:childTnLst>
                              <p:par>
                                <p:cTn id="5" presetID="1" presetClass="entr" presetSubtype="0" fill="hold" nodeType="clickEffect">
                                  <p:stCondLst>
                                    <p:cond delay="0"/>
                                  </p:stCondLst>
                                  <p:childTnLst>
                                    <p:set>
                                      <p:cBhvr>
                                        <p:cTn id="6" dur="1" fill="hold">
                                          <p:stCondLst>
                                            <p:cond delay="0"/>
                                          </p:stCondLst>
                                        </p:cTn>
                                        <p:tgtEl>
                                          <p:spTgt spid="14">
                                            <p:txEl>
                                              <p:pRg st="0" end="0"/>
                                            </p:txEl>
                                          </p:spTgt>
                                        </p:tgtEl>
                                        <p:attrNameLst>
                                          <p:attrName>style.visibility</p:attrName>
                                        </p:attrNameLst>
                                      </p:cBhvr>
                                      <p:to>
                                        <p:strVal val="visible"/>
                                      </p:to>
                                    </p:set>
                                  </p:childTnLst>
                                </p:cTn>
                              </p:par>
                              <p:par>
                                <p:cTn id="7" presetID="1" presetClass="entr" presetSubtype="0" fill="hold" nodeType="withEffect">
                                  <p:stCondLst>
                                    <p:cond delay="0"/>
                                  </p:stCondLst>
                                  <p:childTnLst>
                                    <p:set>
                                      <p:cBhvr>
                                        <p:cTn id="8" dur="1" fill="hold">
                                          <p:stCondLst>
                                            <p:cond delay="0"/>
                                          </p:stCondLst>
                                        </p:cTn>
                                        <p:tgtEl>
                                          <p:spTgt spid="14">
                                            <p:txEl>
                                              <p:pRg st="1" end="1"/>
                                            </p:txEl>
                                          </p:spTgt>
                                        </p:tgtEl>
                                        <p:attrNameLst>
                                          <p:attrName>style.visibility</p:attrName>
                                        </p:attrNameLst>
                                      </p:cBhvr>
                                      <p:to>
                                        <p:strVal val="visible"/>
                                      </p:to>
                                    </p:set>
                                  </p:childTnLst>
                                </p:cTn>
                              </p:par>
                              <p:par>
                                <p:cTn id="9" presetID="1" presetClass="entr" presetSubtype="0" fill="hold" nodeType="withEffect">
                                  <p:stCondLst>
                                    <p:cond delay="0"/>
                                  </p:stCondLst>
                                  <p:childTnLst>
                                    <p:set>
                                      <p:cBhvr>
                                        <p:cTn id="10" dur="1" fill="hold">
                                          <p:stCondLst>
                                            <p:cond delay="0"/>
                                          </p:stCondLst>
                                        </p:cTn>
                                        <p:tgtEl>
                                          <p:spTgt spid="14">
                                            <p:txEl>
                                              <p:pRg st="2" end="2"/>
                                            </p:txEl>
                                          </p:spTgt>
                                        </p:tgtEl>
                                        <p:attrNameLst>
                                          <p:attrName>style.visibility</p:attrName>
                                        </p:attrNameLst>
                                      </p:cBhvr>
                                      <p:to>
                                        <p:strVal val="visible"/>
                                      </p:to>
                                    </p:set>
                                  </p:childTnLst>
                                </p:cTn>
                              </p:par>
                            </p:childTnLst>
                          </p:cTn>
                        </p:par>
                      </p:childTnLst>
                    </p:cTn>
                  </p:par>
                </p:childTnLst>
              </p:cTn>
              <p:prevCondLst>
                <p:cond evt="onPrev" delay="0">
                  <p:tgtEl>
                    <p:sldTgt/>
                  </p:tgtEl>
                </p:cond>
              </p:prevCondLst>
              <p:nextCondLst>
                <p:cond evt="onNext" delay="0">
                  <p:tgtEl>
                    <p:sldTgt/>
                  </p:tgtEl>
                </p:cond>
              </p:nextCondLst>
            </p:seq>
          </p:childTnLst>
        </p:cTn>
      </p:par>
    </p:tnLst>
  </p:timing>
</p:sld>
</file>

<file path=ppt/slides/slide30.xml><?xml version="1.0" encoding="utf-8"?>
<p:sld xmlns:a="http://schemas.openxmlformats.org/drawingml/2006/main" xmlns:r="http://schemas.openxmlformats.org/officeDocument/2006/relationships" xmlns:p="http://schemas.openxmlformats.org/presentationml/2006/main" showMasterSp="0">
  <p:cSld>
    <p:spTree>
      <p:nvGrpSpPr>
        <p:cNvPr id="1" name=""/>
        <p:cNvGrpSpPr/>
        <p:nvPr/>
      </p:nvGrpSpPr>
      <p:grpSpPr>
        <a:xfrm>
          <a:off x="0" y="0"/>
          <a:ext cx="0" cy="0"/>
          <a:chOff x="0" y="0"/>
          <a:chExt cx="0" cy="0"/>
        </a:xfrm>
      </p:grpSpPr>
      <p:sp>
        <p:nvSpPr>
          <p:cNvPr id="4" name="Text Placeholder 3">
            <a:extLst>
              <a:ext uri="{FF2B5EF4-FFF2-40B4-BE49-F238E27FC236}">
                <a16:creationId xmlns:a16="http://schemas.microsoft.com/office/drawing/2014/main" id="{17F39168-7046-60A5-1EEA-8D2B5EAAE24F}"/>
              </a:ext>
            </a:extLst>
          </p:cNvPr>
          <p:cNvSpPr>
            <a:spLocks noGrp="1"/>
          </p:cNvSpPr>
          <p:nvPr>
            <p:ph type="body" sz="quarter" idx="13"/>
          </p:nvPr>
        </p:nvSpPr>
        <p:spPr/>
        <p:txBody>
          <a:bodyPr/>
          <a:lstStyle/>
          <a:p>
            <a:r>
              <a:rPr lang="en-US" sz="4000" dirty="0"/>
              <a:t>ML &amp; AI &amp; IOT</a:t>
            </a:r>
          </a:p>
        </p:txBody>
      </p:sp>
    </p:spTree>
    <p:extLst>
      <p:ext uri="{BB962C8B-B14F-4D97-AF65-F5344CB8AC3E}">
        <p14:creationId xmlns:p14="http://schemas.microsoft.com/office/powerpoint/2010/main" val="3514878316"/>
      </p:ext>
    </p:extLst>
  </p:cSld>
  <p:clrMapOvr>
    <a:masterClrMapping/>
  </p:clrMapOvr>
</p:sld>
</file>

<file path=ppt/slides/slide31.xml><?xml version="1.0" encoding="utf-8"?>
<p:sld xmlns:a="http://schemas.openxmlformats.org/drawingml/2006/main" xmlns:r="http://schemas.openxmlformats.org/officeDocument/2006/relationships" xmlns:p="http://schemas.openxmlformats.org/presentationml/2006/main" showMasterSp="0">
  <p:cSld>
    <p:spTree>
      <p:nvGrpSpPr>
        <p:cNvPr id="1" name=""/>
        <p:cNvGrpSpPr/>
        <p:nvPr/>
      </p:nvGrpSpPr>
      <p:grpSpPr>
        <a:xfrm>
          <a:off x="0" y="0"/>
          <a:ext cx="0" cy="0"/>
          <a:chOff x="0" y="0"/>
          <a:chExt cx="0" cy="0"/>
        </a:xfrm>
      </p:grpSpPr>
      <p:sp>
        <p:nvSpPr>
          <p:cNvPr id="12" name="Text Placeholder 11">
            <a:extLst>
              <a:ext uri="{FF2B5EF4-FFF2-40B4-BE49-F238E27FC236}">
                <a16:creationId xmlns:a16="http://schemas.microsoft.com/office/drawing/2014/main" id="{F5D0A865-EAC9-D4DF-765C-2BBCA9EC1F5C}"/>
              </a:ext>
            </a:extLst>
          </p:cNvPr>
          <p:cNvSpPr>
            <a:spLocks noGrp="1"/>
          </p:cNvSpPr>
          <p:nvPr>
            <p:ph type="body" sz="quarter" idx="10"/>
          </p:nvPr>
        </p:nvSpPr>
        <p:spPr/>
        <p:txBody>
          <a:bodyPr/>
          <a:lstStyle/>
          <a:p>
            <a:endParaRPr lang="en-US" sz="1000" dirty="0"/>
          </a:p>
        </p:txBody>
      </p:sp>
      <p:sp>
        <p:nvSpPr>
          <p:cNvPr id="11" name="Title 10">
            <a:extLst>
              <a:ext uri="{FF2B5EF4-FFF2-40B4-BE49-F238E27FC236}">
                <a16:creationId xmlns:a16="http://schemas.microsoft.com/office/drawing/2014/main" id="{0A19052D-1C06-3BF6-CD73-31098A5519FB}"/>
              </a:ext>
            </a:extLst>
          </p:cNvPr>
          <p:cNvSpPr>
            <a:spLocks noGrp="1"/>
          </p:cNvSpPr>
          <p:nvPr>
            <p:ph type="title"/>
          </p:nvPr>
        </p:nvSpPr>
        <p:spPr/>
        <p:txBody>
          <a:bodyPr/>
          <a:lstStyle/>
          <a:p>
            <a:r>
              <a:rPr lang="en-US" sz="1800" dirty="0"/>
              <a:t>ML &amp; AI &amp; IOT Updates</a:t>
            </a:r>
            <a:endParaRPr lang="en-US" dirty="0"/>
          </a:p>
        </p:txBody>
      </p:sp>
      <p:sp>
        <p:nvSpPr>
          <p:cNvPr id="13" name="Text Placeholder 12">
            <a:extLst>
              <a:ext uri="{FF2B5EF4-FFF2-40B4-BE49-F238E27FC236}">
                <a16:creationId xmlns:a16="http://schemas.microsoft.com/office/drawing/2014/main" id="{AB83368C-23D2-63DD-1F2B-65AB8A48B236}"/>
              </a:ext>
            </a:extLst>
          </p:cNvPr>
          <p:cNvSpPr>
            <a:spLocks noGrp="1"/>
          </p:cNvSpPr>
          <p:nvPr>
            <p:ph type="body" sz="quarter" idx="15"/>
          </p:nvPr>
        </p:nvSpPr>
        <p:spPr/>
        <p:txBody>
          <a:bodyPr/>
          <a:lstStyle/>
          <a:p>
            <a:endParaRPr lang="en-US"/>
          </a:p>
        </p:txBody>
      </p:sp>
      <p:sp>
        <p:nvSpPr>
          <p:cNvPr id="14" name="Text Placeholder 13">
            <a:extLst>
              <a:ext uri="{FF2B5EF4-FFF2-40B4-BE49-F238E27FC236}">
                <a16:creationId xmlns:a16="http://schemas.microsoft.com/office/drawing/2014/main" id="{1DF1A36F-4250-259D-24AE-F82FE69A7F7E}"/>
              </a:ext>
            </a:extLst>
          </p:cNvPr>
          <p:cNvSpPr>
            <a:spLocks noGrp="1"/>
          </p:cNvSpPr>
          <p:nvPr>
            <p:ph type="body" sz="quarter" idx="16"/>
          </p:nvPr>
        </p:nvSpPr>
        <p:spPr/>
        <p:txBody>
          <a:bodyPr/>
          <a:lstStyle/>
          <a:p>
            <a:pPr algn="just"/>
            <a:r>
              <a:rPr lang="en-US" dirty="0">
                <a:hlinkClick r:id="rId2"/>
              </a:rPr>
              <a:t>Public Preview: Mistral Large 3 in Foundry</a:t>
            </a:r>
            <a:endParaRPr lang="ru-RU" dirty="0"/>
          </a:p>
          <a:p>
            <a:pPr algn="just"/>
            <a:r>
              <a:rPr lang="en-US" b="1" dirty="0"/>
              <a:t>Mistral Large 3</a:t>
            </a:r>
            <a:r>
              <a:rPr lang="en-US" dirty="0"/>
              <a:t>, a frontier-class </a:t>
            </a:r>
            <a:r>
              <a:rPr lang="en-US" b="1" dirty="0"/>
              <a:t>open-weight model</a:t>
            </a:r>
            <a:r>
              <a:rPr lang="en-US" dirty="0"/>
              <a:t> licensed under </a:t>
            </a:r>
            <a:r>
              <a:rPr lang="en-US" b="1" dirty="0"/>
              <a:t>Apache 2.0</a:t>
            </a:r>
            <a:r>
              <a:rPr lang="en-US" dirty="0"/>
              <a:t>, is now available in </a:t>
            </a:r>
            <a:r>
              <a:rPr lang="en-US" b="1" dirty="0"/>
              <a:t>Microsoft Foundry on Azure</a:t>
            </a:r>
            <a:r>
              <a:rPr lang="en-US" dirty="0"/>
              <a:t>. This model brings enterprise-ready reliability, advanced long-context understanding, and multimodal reasoning capabilities—making it a strong fit for production copilots, RAG solutions, agentic systems, and complex multimodal workflows.</a:t>
            </a:r>
          </a:p>
          <a:p>
            <a:pPr algn="just"/>
            <a:r>
              <a:rPr lang="en-US" b="1" dirty="0"/>
              <a:t>Key capabilities include:</a:t>
            </a:r>
            <a:endParaRPr lang="en-US" dirty="0"/>
          </a:p>
          <a:p>
            <a:pPr marL="171450" indent="-171450" algn="just">
              <a:buFont typeface="Arial" panose="020B0604020202020204" pitchFamily="34" charset="0"/>
              <a:buChar char="•"/>
            </a:pPr>
            <a:r>
              <a:rPr lang="en-US" b="1" dirty="0"/>
              <a:t>Highly reliable instruction following</a:t>
            </a:r>
            <a:r>
              <a:rPr lang="en-US" dirty="0"/>
              <a:t> for consistent, predictable outputs</a:t>
            </a:r>
          </a:p>
          <a:p>
            <a:pPr marL="171450" indent="-171450" algn="just">
              <a:buFont typeface="Arial" panose="020B0604020202020204" pitchFamily="34" charset="0"/>
              <a:buChar char="•"/>
            </a:pPr>
            <a:r>
              <a:rPr lang="en-US" b="1" dirty="0"/>
              <a:t>Extended context windows</a:t>
            </a:r>
            <a:r>
              <a:rPr lang="en-US" dirty="0"/>
              <a:t> supporting long documents and multi-turn interactions</a:t>
            </a:r>
          </a:p>
          <a:p>
            <a:pPr marL="171450" indent="-171450" algn="just">
              <a:buFont typeface="Arial" panose="020B0604020202020204" pitchFamily="34" charset="0"/>
              <a:buChar char="•"/>
            </a:pPr>
            <a:r>
              <a:rPr lang="en-US" b="1" dirty="0"/>
              <a:t>Robust multimodal reasoning</a:t>
            </a:r>
            <a:r>
              <a:rPr lang="en-US" dirty="0"/>
              <a:t> across text, images, and structured diagrams</a:t>
            </a:r>
          </a:p>
          <a:p>
            <a:pPr marL="171450" indent="-171450" algn="just">
              <a:buFont typeface="Arial" panose="020B0604020202020204" pitchFamily="34" charset="0"/>
              <a:buChar char="•"/>
            </a:pPr>
            <a:r>
              <a:rPr lang="en-US" b="1" dirty="0"/>
              <a:t>Stable, deterministic behavior</a:t>
            </a:r>
            <a:r>
              <a:rPr lang="en-US" dirty="0"/>
              <a:t> optimized for enterprise-scale workloads</a:t>
            </a:r>
          </a:p>
          <a:p>
            <a:pPr marL="171450" indent="-171450" algn="just">
              <a:buFont typeface="Arial" panose="020B0604020202020204" pitchFamily="34" charset="0"/>
              <a:buChar char="•"/>
            </a:pPr>
            <a:r>
              <a:rPr lang="en-US" b="1" dirty="0"/>
              <a:t>Fully open and exportable</a:t>
            </a:r>
            <a:r>
              <a:rPr lang="en-US" dirty="0"/>
              <a:t>, enabling hybrid, edge, or on-premises deployment scenarios</a:t>
            </a:r>
          </a:p>
          <a:p>
            <a:pPr algn="just"/>
            <a:endParaRPr lang="en-US" dirty="0"/>
          </a:p>
        </p:txBody>
      </p:sp>
    </p:spTree>
    <p:extLst>
      <p:ext uri="{BB962C8B-B14F-4D97-AF65-F5344CB8AC3E}">
        <p14:creationId xmlns:p14="http://schemas.microsoft.com/office/powerpoint/2010/main" val="3732754406"/>
      </p:ext>
    </p:extLst>
  </p:cSld>
  <p:clrMapOvr>
    <a:masterClrMapping/>
  </p:clrMapOvr>
  <mc:AlternateContent xmlns:mc="http://schemas.openxmlformats.org/markup-compatibility/2006" xmlns:p14="http://schemas.microsoft.com/office/powerpoint/2010/main">
    <mc:Choice Requires="p14">
      <p:transition spd="med" p14:dur="700">
        <p:fade/>
      </p:transition>
    </mc:Choice>
    <mc:Fallback xmlns="">
      <p:transition spd="med">
        <p:fade/>
      </p:transition>
    </mc:Fallback>
  </mc:AlternateContent>
  <p:timing>
    <p:tnLst>
      <p:par>
        <p:cTn id="1" dur="indefinite" restart="never" nodeType="tmRoot">
          <p:childTnLst>
            <p:seq concurrent="1" nextAc="seek">
              <p:cTn id="2" dur="indefinite" nodeType="mainSeq">
                <p:childTnLst>
                  <p:par>
                    <p:cTn id="3" fill="hold">
                      <p:stCondLst>
                        <p:cond delay="indefinite"/>
                      </p:stCondLst>
                      <p:childTnLst>
                        <p:par>
                          <p:cTn id="4" fill="hold">
                            <p:stCondLst>
                              <p:cond delay="0"/>
                            </p:stCondLst>
                            <p:childTnLst>
                              <p:par>
                                <p:cTn id="5" presetID="1" presetClass="entr" presetSubtype="0" fill="hold" nodeType="clickEffect">
                                  <p:stCondLst>
                                    <p:cond delay="0"/>
                                  </p:stCondLst>
                                  <p:childTnLst>
                                    <p:set>
                                      <p:cBhvr>
                                        <p:cTn id="6" dur="1" fill="hold">
                                          <p:stCondLst>
                                            <p:cond delay="0"/>
                                          </p:stCondLst>
                                        </p:cTn>
                                        <p:tgtEl>
                                          <p:spTgt spid="14">
                                            <p:txEl>
                                              <p:pRg st="0" end="0"/>
                                            </p:txEl>
                                          </p:spTgt>
                                        </p:tgtEl>
                                        <p:attrNameLst>
                                          <p:attrName>style.visibility</p:attrName>
                                        </p:attrNameLst>
                                      </p:cBhvr>
                                      <p:to>
                                        <p:strVal val="visible"/>
                                      </p:to>
                                    </p:set>
                                  </p:childTnLst>
                                </p:cTn>
                              </p:par>
                              <p:par>
                                <p:cTn id="7" presetID="1" presetClass="entr" presetSubtype="0" fill="hold" nodeType="withEffect">
                                  <p:stCondLst>
                                    <p:cond delay="0"/>
                                  </p:stCondLst>
                                  <p:childTnLst>
                                    <p:set>
                                      <p:cBhvr>
                                        <p:cTn id="8" dur="1" fill="hold">
                                          <p:stCondLst>
                                            <p:cond delay="0"/>
                                          </p:stCondLst>
                                        </p:cTn>
                                        <p:tgtEl>
                                          <p:spTgt spid="14">
                                            <p:txEl>
                                              <p:pRg st="1" end="1"/>
                                            </p:txEl>
                                          </p:spTgt>
                                        </p:tgtEl>
                                        <p:attrNameLst>
                                          <p:attrName>style.visibility</p:attrName>
                                        </p:attrNameLst>
                                      </p:cBhvr>
                                      <p:to>
                                        <p:strVal val="visible"/>
                                      </p:to>
                                    </p:set>
                                  </p:childTnLst>
                                </p:cTn>
                              </p:par>
                              <p:par>
                                <p:cTn id="9" presetID="1" presetClass="entr" presetSubtype="0" fill="hold" nodeType="withEffect">
                                  <p:stCondLst>
                                    <p:cond delay="0"/>
                                  </p:stCondLst>
                                  <p:childTnLst>
                                    <p:set>
                                      <p:cBhvr>
                                        <p:cTn id="10" dur="1" fill="hold">
                                          <p:stCondLst>
                                            <p:cond delay="0"/>
                                          </p:stCondLst>
                                        </p:cTn>
                                        <p:tgtEl>
                                          <p:spTgt spid="14">
                                            <p:txEl>
                                              <p:pRg st="2" end="2"/>
                                            </p:txEl>
                                          </p:spTgt>
                                        </p:tgtEl>
                                        <p:attrNameLst>
                                          <p:attrName>style.visibility</p:attrName>
                                        </p:attrNameLst>
                                      </p:cBhvr>
                                      <p:to>
                                        <p:strVal val="visible"/>
                                      </p:to>
                                    </p:set>
                                  </p:childTnLst>
                                </p:cTn>
                              </p:par>
                              <p:par>
                                <p:cTn id="11" presetID="1" presetClass="entr" presetSubtype="0" fill="hold" nodeType="withEffect">
                                  <p:stCondLst>
                                    <p:cond delay="0"/>
                                  </p:stCondLst>
                                  <p:childTnLst>
                                    <p:set>
                                      <p:cBhvr>
                                        <p:cTn id="12" dur="1" fill="hold">
                                          <p:stCondLst>
                                            <p:cond delay="0"/>
                                          </p:stCondLst>
                                        </p:cTn>
                                        <p:tgtEl>
                                          <p:spTgt spid="14">
                                            <p:txEl>
                                              <p:pRg st="3" end="3"/>
                                            </p:txEl>
                                          </p:spTgt>
                                        </p:tgtEl>
                                        <p:attrNameLst>
                                          <p:attrName>style.visibility</p:attrName>
                                        </p:attrNameLst>
                                      </p:cBhvr>
                                      <p:to>
                                        <p:strVal val="visible"/>
                                      </p:to>
                                    </p:set>
                                  </p:childTnLst>
                                </p:cTn>
                              </p:par>
                              <p:par>
                                <p:cTn id="13" presetID="1" presetClass="entr" presetSubtype="0" fill="hold" nodeType="withEffect">
                                  <p:stCondLst>
                                    <p:cond delay="0"/>
                                  </p:stCondLst>
                                  <p:childTnLst>
                                    <p:set>
                                      <p:cBhvr>
                                        <p:cTn id="14" dur="1" fill="hold">
                                          <p:stCondLst>
                                            <p:cond delay="0"/>
                                          </p:stCondLst>
                                        </p:cTn>
                                        <p:tgtEl>
                                          <p:spTgt spid="14">
                                            <p:txEl>
                                              <p:pRg st="4" end="4"/>
                                            </p:txEl>
                                          </p:spTgt>
                                        </p:tgtEl>
                                        <p:attrNameLst>
                                          <p:attrName>style.visibility</p:attrName>
                                        </p:attrNameLst>
                                      </p:cBhvr>
                                      <p:to>
                                        <p:strVal val="visible"/>
                                      </p:to>
                                    </p:set>
                                  </p:childTnLst>
                                </p:cTn>
                              </p:par>
                              <p:par>
                                <p:cTn id="15" presetID="1" presetClass="entr" presetSubtype="0" fill="hold" nodeType="withEffect">
                                  <p:stCondLst>
                                    <p:cond delay="0"/>
                                  </p:stCondLst>
                                  <p:childTnLst>
                                    <p:set>
                                      <p:cBhvr>
                                        <p:cTn id="16" dur="1" fill="hold">
                                          <p:stCondLst>
                                            <p:cond delay="0"/>
                                          </p:stCondLst>
                                        </p:cTn>
                                        <p:tgtEl>
                                          <p:spTgt spid="14">
                                            <p:txEl>
                                              <p:pRg st="5" end="5"/>
                                            </p:txEl>
                                          </p:spTgt>
                                        </p:tgtEl>
                                        <p:attrNameLst>
                                          <p:attrName>style.visibility</p:attrName>
                                        </p:attrNameLst>
                                      </p:cBhvr>
                                      <p:to>
                                        <p:strVal val="visible"/>
                                      </p:to>
                                    </p:set>
                                  </p:childTnLst>
                                </p:cTn>
                              </p:par>
                              <p:par>
                                <p:cTn id="17" presetID="1" presetClass="entr" presetSubtype="0" fill="hold" nodeType="withEffect">
                                  <p:stCondLst>
                                    <p:cond delay="0"/>
                                  </p:stCondLst>
                                  <p:childTnLst>
                                    <p:set>
                                      <p:cBhvr>
                                        <p:cTn id="18" dur="1" fill="hold">
                                          <p:stCondLst>
                                            <p:cond delay="0"/>
                                          </p:stCondLst>
                                        </p:cTn>
                                        <p:tgtEl>
                                          <p:spTgt spid="14">
                                            <p:txEl>
                                              <p:pRg st="6" end="6"/>
                                            </p:txEl>
                                          </p:spTgt>
                                        </p:tgtEl>
                                        <p:attrNameLst>
                                          <p:attrName>style.visibility</p:attrName>
                                        </p:attrNameLst>
                                      </p:cBhvr>
                                      <p:to>
                                        <p:strVal val="visible"/>
                                      </p:to>
                                    </p:set>
                                  </p:childTnLst>
                                </p:cTn>
                              </p:par>
                              <p:par>
                                <p:cTn id="19" presetID="1" presetClass="entr" presetSubtype="0" fill="hold" nodeType="withEffect">
                                  <p:stCondLst>
                                    <p:cond delay="0"/>
                                  </p:stCondLst>
                                  <p:childTnLst>
                                    <p:set>
                                      <p:cBhvr>
                                        <p:cTn id="20" dur="1" fill="hold">
                                          <p:stCondLst>
                                            <p:cond delay="0"/>
                                          </p:stCondLst>
                                        </p:cTn>
                                        <p:tgtEl>
                                          <p:spTgt spid="14">
                                            <p:txEl>
                                              <p:pRg st="7" end="7"/>
                                            </p:txEl>
                                          </p:spTgt>
                                        </p:tgtEl>
                                        <p:attrNameLst>
                                          <p:attrName>style.visibility</p:attrName>
                                        </p:attrNameLst>
                                      </p:cBhvr>
                                      <p:to>
                                        <p:strVal val="visible"/>
                                      </p:to>
                                    </p:set>
                                  </p:childTnLst>
                                </p:cTn>
                              </p:par>
                            </p:childTnLst>
                          </p:cTn>
                        </p:par>
                      </p:childTnLst>
                    </p:cTn>
                  </p:par>
                </p:childTnLst>
              </p:cTn>
              <p:prevCondLst>
                <p:cond evt="onPrev" delay="0">
                  <p:tgtEl>
                    <p:sldTgt/>
                  </p:tgtEl>
                </p:cond>
              </p:prevCondLst>
              <p:nextCondLst>
                <p:cond evt="onNext" delay="0">
                  <p:tgtEl>
                    <p:sldTgt/>
                  </p:tgtEl>
                </p:cond>
              </p:nextCondLst>
            </p:seq>
          </p:childTnLst>
        </p:cTn>
      </p:par>
    </p:tnLst>
  </p:timing>
</p:sld>
</file>

<file path=ppt/slides/slide32.xml><?xml version="1.0" encoding="utf-8"?>
<p:sld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AD32ADB6-113C-7F12-FA61-67D8C365299F}"/>
            </a:ext>
          </a:extLst>
        </p:cNvPr>
        <p:cNvGrpSpPr/>
        <p:nvPr/>
      </p:nvGrpSpPr>
      <p:grpSpPr>
        <a:xfrm>
          <a:off x="0" y="0"/>
          <a:ext cx="0" cy="0"/>
          <a:chOff x="0" y="0"/>
          <a:chExt cx="0" cy="0"/>
        </a:xfrm>
      </p:grpSpPr>
      <p:sp>
        <p:nvSpPr>
          <p:cNvPr id="12" name="Text Placeholder 11">
            <a:extLst>
              <a:ext uri="{FF2B5EF4-FFF2-40B4-BE49-F238E27FC236}">
                <a16:creationId xmlns:a16="http://schemas.microsoft.com/office/drawing/2014/main" id="{2028B91B-AE7C-2437-0508-F4249B752765}"/>
              </a:ext>
            </a:extLst>
          </p:cNvPr>
          <p:cNvSpPr>
            <a:spLocks noGrp="1"/>
          </p:cNvSpPr>
          <p:nvPr>
            <p:ph type="body" sz="quarter" idx="10"/>
          </p:nvPr>
        </p:nvSpPr>
        <p:spPr/>
        <p:txBody>
          <a:bodyPr/>
          <a:lstStyle/>
          <a:p>
            <a:endParaRPr lang="en-US" sz="1000" dirty="0"/>
          </a:p>
        </p:txBody>
      </p:sp>
      <p:sp>
        <p:nvSpPr>
          <p:cNvPr id="11" name="Title 10">
            <a:extLst>
              <a:ext uri="{FF2B5EF4-FFF2-40B4-BE49-F238E27FC236}">
                <a16:creationId xmlns:a16="http://schemas.microsoft.com/office/drawing/2014/main" id="{EE84B67F-7026-D091-4F4B-F5819D59C9E7}"/>
              </a:ext>
            </a:extLst>
          </p:cNvPr>
          <p:cNvSpPr>
            <a:spLocks noGrp="1"/>
          </p:cNvSpPr>
          <p:nvPr>
            <p:ph type="title"/>
          </p:nvPr>
        </p:nvSpPr>
        <p:spPr/>
        <p:txBody>
          <a:bodyPr/>
          <a:lstStyle/>
          <a:p>
            <a:r>
              <a:rPr lang="en-US" sz="1800" dirty="0"/>
              <a:t>ML &amp; AI &amp; IOT Updates</a:t>
            </a:r>
            <a:endParaRPr lang="en-US" dirty="0"/>
          </a:p>
        </p:txBody>
      </p:sp>
      <p:sp>
        <p:nvSpPr>
          <p:cNvPr id="13" name="Text Placeholder 12">
            <a:extLst>
              <a:ext uri="{FF2B5EF4-FFF2-40B4-BE49-F238E27FC236}">
                <a16:creationId xmlns:a16="http://schemas.microsoft.com/office/drawing/2014/main" id="{55AD8010-EE62-F57B-5CA1-B8E7B6C0ECD1}"/>
              </a:ext>
            </a:extLst>
          </p:cNvPr>
          <p:cNvSpPr>
            <a:spLocks noGrp="1"/>
          </p:cNvSpPr>
          <p:nvPr>
            <p:ph type="body" sz="quarter" idx="15"/>
          </p:nvPr>
        </p:nvSpPr>
        <p:spPr/>
        <p:txBody>
          <a:bodyPr/>
          <a:lstStyle/>
          <a:p>
            <a:endParaRPr lang="en-US"/>
          </a:p>
        </p:txBody>
      </p:sp>
      <p:sp>
        <p:nvSpPr>
          <p:cNvPr id="14" name="Text Placeholder 13">
            <a:extLst>
              <a:ext uri="{FF2B5EF4-FFF2-40B4-BE49-F238E27FC236}">
                <a16:creationId xmlns:a16="http://schemas.microsoft.com/office/drawing/2014/main" id="{0B331A00-CF62-F468-BCCC-F6840B7358F5}"/>
              </a:ext>
            </a:extLst>
          </p:cNvPr>
          <p:cNvSpPr>
            <a:spLocks noGrp="1"/>
          </p:cNvSpPr>
          <p:nvPr>
            <p:ph type="body" sz="quarter" idx="16"/>
          </p:nvPr>
        </p:nvSpPr>
        <p:spPr/>
        <p:txBody>
          <a:bodyPr/>
          <a:lstStyle/>
          <a:p>
            <a:pPr algn="just"/>
            <a:r>
              <a:rPr lang="en-US" dirty="0">
                <a:hlinkClick r:id="rId2"/>
              </a:rPr>
              <a:t>Generally </a:t>
            </a:r>
            <a:r>
              <a:rPr lang="en-US" dirty="0" err="1">
                <a:hlinkClick r:id="rId2"/>
              </a:rPr>
              <a:t>Availaible</a:t>
            </a:r>
            <a:r>
              <a:rPr lang="en-US" dirty="0">
                <a:hlinkClick r:id="rId2"/>
              </a:rPr>
              <a:t>: Azure MCP Server support for Azure confidential ledger</a:t>
            </a:r>
            <a:endParaRPr lang="en-US" dirty="0"/>
          </a:p>
          <a:p>
            <a:pPr algn="just"/>
            <a:r>
              <a:rPr lang="en-US" dirty="0"/>
              <a:t>The Azure MCP (Model Context Protocol) Server now enables seamless management of </a:t>
            </a:r>
            <a:r>
              <a:rPr lang="en-US" b="1" dirty="0"/>
              <a:t>Azure confidential ledger</a:t>
            </a:r>
            <a:r>
              <a:rPr lang="en-US" dirty="0"/>
              <a:t> using natural language prompts—no command syntax or complex APIs required. With this enhancement, customers can easily:</a:t>
            </a:r>
          </a:p>
          <a:p>
            <a:pPr marL="171450" indent="-171450" algn="just">
              <a:buFont typeface="Arial" panose="020B0604020202020204" pitchFamily="34" charset="0"/>
              <a:buChar char="•"/>
            </a:pPr>
            <a:r>
              <a:rPr lang="en-US" b="1" dirty="0"/>
              <a:t>Create immutable, integrity-protected confidential ledgers</a:t>
            </a:r>
            <a:r>
              <a:rPr lang="en-US" dirty="0"/>
              <a:t> for secure logging.</a:t>
            </a:r>
          </a:p>
          <a:p>
            <a:pPr marL="171450" indent="-171450" algn="just">
              <a:buFont typeface="Arial" panose="020B0604020202020204" pitchFamily="34" charset="0"/>
              <a:buChar char="•"/>
            </a:pPr>
            <a:r>
              <a:rPr lang="en-US" b="1" dirty="0"/>
              <a:t>Write to and read from the ledger using AI</a:t>
            </a:r>
            <a:r>
              <a:rPr lang="en-US" dirty="0"/>
              <a:t>, fully supported and production-ready.</a:t>
            </a:r>
          </a:p>
          <a:p>
            <a:pPr algn="just"/>
            <a:r>
              <a:rPr lang="en-US" dirty="0"/>
              <a:t>Developers can connect to Azure MCP Server through multiple tools and frameworks, including </a:t>
            </a:r>
            <a:r>
              <a:rPr lang="en-US" b="1" dirty="0"/>
              <a:t>Visual Studio Code and GitHub Copilot</a:t>
            </a:r>
            <a:r>
              <a:rPr lang="en-US" dirty="0"/>
              <a:t>, enabling:</a:t>
            </a:r>
          </a:p>
          <a:p>
            <a:pPr marL="171450" indent="-171450" algn="just">
              <a:buFont typeface="Arial" panose="020B0604020202020204" pitchFamily="34" charset="0"/>
              <a:buChar char="•"/>
            </a:pPr>
            <a:r>
              <a:rPr lang="en-US" dirty="0"/>
              <a:t>Natural language–driven resource management</a:t>
            </a:r>
          </a:p>
          <a:p>
            <a:pPr marL="171450" indent="-171450" algn="just">
              <a:buFont typeface="Arial" panose="020B0604020202020204" pitchFamily="34" charset="0"/>
              <a:buChar char="•"/>
            </a:pPr>
            <a:r>
              <a:rPr lang="en-US" dirty="0"/>
              <a:t>Automated script generation</a:t>
            </a:r>
          </a:p>
          <a:p>
            <a:pPr marL="171450" indent="-171450" algn="just">
              <a:buFont typeface="Arial" panose="020B0604020202020204" pitchFamily="34" charset="0"/>
              <a:buChar char="•"/>
            </a:pPr>
            <a:r>
              <a:rPr lang="en-US" dirty="0"/>
              <a:t>Integration of Azure operations directly into applications</a:t>
            </a:r>
          </a:p>
          <a:p>
            <a:pPr algn="just"/>
            <a:r>
              <a:rPr lang="en-US" dirty="0"/>
              <a:t>This update makes secure ledger operations more accessible, intuitive, and automation-friendly.</a:t>
            </a:r>
          </a:p>
          <a:p>
            <a:pPr algn="just"/>
            <a:endParaRPr lang="en-US" dirty="0"/>
          </a:p>
        </p:txBody>
      </p:sp>
    </p:spTree>
    <p:extLst>
      <p:ext uri="{BB962C8B-B14F-4D97-AF65-F5344CB8AC3E}">
        <p14:creationId xmlns:p14="http://schemas.microsoft.com/office/powerpoint/2010/main" val="586386266"/>
      </p:ext>
    </p:extLst>
  </p:cSld>
  <p:clrMapOvr>
    <a:masterClrMapping/>
  </p:clrMapOvr>
  <mc:AlternateContent xmlns:mc="http://schemas.openxmlformats.org/markup-compatibility/2006" xmlns:p14="http://schemas.microsoft.com/office/powerpoint/2010/main">
    <mc:Choice Requires="p14">
      <p:transition spd="med" p14:dur="700">
        <p:fade/>
      </p:transition>
    </mc:Choice>
    <mc:Fallback xmlns="">
      <p:transition spd="med">
        <p:fade/>
      </p:transition>
    </mc:Fallback>
  </mc:AlternateContent>
  <p:timing>
    <p:tnLst>
      <p:par>
        <p:cTn id="1" dur="indefinite" restart="never" nodeType="tmRoot">
          <p:childTnLst>
            <p:seq concurrent="1" nextAc="seek">
              <p:cTn id="2" dur="indefinite" nodeType="mainSeq">
                <p:childTnLst>
                  <p:par>
                    <p:cTn id="3" fill="hold">
                      <p:stCondLst>
                        <p:cond delay="indefinite"/>
                      </p:stCondLst>
                      <p:childTnLst>
                        <p:par>
                          <p:cTn id="4" fill="hold">
                            <p:stCondLst>
                              <p:cond delay="0"/>
                            </p:stCondLst>
                            <p:childTnLst>
                              <p:par>
                                <p:cTn id="5" presetID="1" presetClass="entr" presetSubtype="0" fill="hold" nodeType="clickEffect">
                                  <p:stCondLst>
                                    <p:cond delay="0"/>
                                  </p:stCondLst>
                                  <p:childTnLst>
                                    <p:set>
                                      <p:cBhvr>
                                        <p:cTn id="6" dur="1" fill="hold">
                                          <p:stCondLst>
                                            <p:cond delay="0"/>
                                          </p:stCondLst>
                                        </p:cTn>
                                        <p:tgtEl>
                                          <p:spTgt spid="14">
                                            <p:txEl>
                                              <p:pRg st="0" end="0"/>
                                            </p:txEl>
                                          </p:spTgt>
                                        </p:tgtEl>
                                        <p:attrNameLst>
                                          <p:attrName>style.visibility</p:attrName>
                                        </p:attrNameLst>
                                      </p:cBhvr>
                                      <p:to>
                                        <p:strVal val="visible"/>
                                      </p:to>
                                    </p:set>
                                  </p:childTnLst>
                                </p:cTn>
                              </p:par>
                              <p:par>
                                <p:cTn id="7" presetID="1" presetClass="entr" presetSubtype="0" fill="hold" nodeType="withEffect">
                                  <p:stCondLst>
                                    <p:cond delay="0"/>
                                  </p:stCondLst>
                                  <p:childTnLst>
                                    <p:set>
                                      <p:cBhvr>
                                        <p:cTn id="8" dur="1" fill="hold">
                                          <p:stCondLst>
                                            <p:cond delay="0"/>
                                          </p:stCondLst>
                                        </p:cTn>
                                        <p:tgtEl>
                                          <p:spTgt spid="14">
                                            <p:txEl>
                                              <p:pRg st="1" end="1"/>
                                            </p:txEl>
                                          </p:spTgt>
                                        </p:tgtEl>
                                        <p:attrNameLst>
                                          <p:attrName>style.visibility</p:attrName>
                                        </p:attrNameLst>
                                      </p:cBhvr>
                                      <p:to>
                                        <p:strVal val="visible"/>
                                      </p:to>
                                    </p:set>
                                  </p:childTnLst>
                                </p:cTn>
                              </p:par>
                              <p:par>
                                <p:cTn id="9" presetID="1" presetClass="entr" presetSubtype="0" fill="hold" nodeType="withEffect">
                                  <p:stCondLst>
                                    <p:cond delay="0"/>
                                  </p:stCondLst>
                                  <p:childTnLst>
                                    <p:set>
                                      <p:cBhvr>
                                        <p:cTn id="10" dur="1" fill="hold">
                                          <p:stCondLst>
                                            <p:cond delay="0"/>
                                          </p:stCondLst>
                                        </p:cTn>
                                        <p:tgtEl>
                                          <p:spTgt spid="14">
                                            <p:txEl>
                                              <p:pRg st="2" end="2"/>
                                            </p:txEl>
                                          </p:spTgt>
                                        </p:tgtEl>
                                        <p:attrNameLst>
                                          <p:attrName>style.visibility</p:attrName>
                                        </p:attrNameLst>
                                      </p:cBhvr>
                                      <p:to>
                                        <p:strVal val="visible"/>
                                      </p:to>
                                    </p:set>
                                  </p:childTnLst>
                                </p:cTn>
                              </p:par>
                              <p:par>
                                <p:cTn id="11" presetID="1" presetClass="entr" presetSubtype="0" fill="hold" nodeType="withEffect">
                                  <p:stCondLst>
                                    <p:cond delay="0"/>
                                  </p:stCondLst>
                                  <p:childTnLst>
                                    <p:set>
                                      <p:cBhvr>
                                        <p:cTn id="12" dur="1" fill="hold">
                                          <p:stCondLst>
                                            <p:cond delay="0"/>
                                          </p:stCondLst>
                                        </p:cTn>
                                        <p:tgtEl>
                                          <p:spTgt spid="14">
                                            <p:txEl>
                                              <p:pRg st="3" end="3"/>
                                            </p:txEl>
                                          </p:spTgt>
                                        </p:tgtEl>
                                        <p:attrNameLst>
                                          <p:attrName>style.visibility</p:attrName>
                                        </p:attrNameLst>
                                      </p:cBhvr>
                                      <p:to>
                                        <p:strVal val="visible"/>
                                      </p:to>
                                    </p:set>
                                  </p:childTnLst>
                                </p:cTn>
                              </p:par>
                              <p:par>
                                <p:cTn id="13" presetID="1" presetClass="entr" presetSubtype="0" fill="hold" nodeType="withEffect">
                                  <p:stCondLst>
                                    <p:cond delay="0"/>
                                  </p:stCondLst>
                                  <p:childTnLst>
                                    <p:set>
                                      <p:cBhvr>
                                        <p:cTn id="14" dur="1" fill="hold">
                                          <p:stCondLst>
                                            <p:cond delay="0"/>
                                          </p:stCondLst>
                                        </p:cTn>
                                        <p:tgtEl>
                                          <p:spTgt spid="14">
                                            <p:txEl>
                                              <p:pRg st="4" end="4"/>
                                            </p:txEl>
                                          </p:spTgt>
                                        </p:tgtEl>
                                        <p:attrNameLst>
                                          <p:attrName>style.visibility</p:attrName>
                                        </p:attrNameLst>
                                      </p:cBhvr>
                                      <p:to>
                                        <p:strVal val="visible"/>
                                      </p:to>
                                    </p:set>
                                  </p:childTnLst>
                                </p:cTn>
                              </p:par>
                              <p:par>
                                <p:cTn id="15" presetID="1" presetClass="entr" presetSubtype="0" fill="hold" nodeType="withEffect">
                                  <p:stCondLst>
                                    <p:cond delay="0"/>
                                  </p:stCondLst>
                                  <p:childTnLst>
                                    <p:set>
                                      <p:cBhvr>
                                        <p:cTn id="16" dur="1" fill="hold">
                                          <p:stCondLst>
                                            <p:cond delay="0"/>
                                          </p:stCondLst>
                                        </p:cTn>
                                        <p:tgtEl>
                                          <p:spTgt spid="14">
                                            <p:txEl>
                                              <p:pRg st="5" end="5"/>
                                            </p:txEl>
                                          </p:spTgt>
                                        </p:tgtEl>
                                        <p:attrNameLst>
                                          <p:attrName>style.visibility</p:attrName>
                                        </p:attrNameLst>
                                      </p:cBhvr>
                                      <p:to>
                                        <p:strVal val="visible"/>
                                      </p:to>
                                    </p:set>
                                  </p:childTnLst>
                                </p:cTn>
                              </p:par>
                              <p:par>
                                <p:cTn id="17" presetID="1" presetClass="entr" presetSubtype="0" fill="hold" nodeType="withEffect">
                                  <p:stCondLst>
                                    <p:cond delay="0"/>
                                  </p:stCondLst>
                                  <p:childTnLst>
                                    <p:set>
                                      <p:cBhvr>
                                        <p:cTn id="18" dur="1" fill="hold">
                                          <p:stCondLst>
                                            <p:cond delay="0"/>
                                          </p:stCondLst>
                                        </p:cTn>
                                        <p:tgtEl>
                                          <p:spTgt spid="14">
                                            <p:txEl>
                                              <p:pRg st="6" end="6"/>
                                            </p:txEl>
                                          </p:spTgt>
                                        </p:tgtEl>
                                        <p:attrNameLst>
                                          <p:attrName>style.visibility</p:attrName>
                                        </p:attrNameLst>
                                      </p:cBhvr>
                                      <p:to>
                                        <p:strVal val="visible"/>
                                      </p:to>
                                    </p:set>
                                  </p:childTnLst>
                                </p:cTn>
                              </p:par>
                              <p:par>
                                <p:cTn id="19" presetID="1" presetClass="entr" presetSubtype="0" fill="hold" nodeType="withEffect">
                                  <p:stCondLst>
                                    <p:cond delay="0"/>
                                  </p:stCondLst>
                                  <p:childTnLst>
                                    <p:set>
                                      <p:cBhvr>
                                        <p:cTn id="20" dur="1" fill="hold">
                                          <p:stCondLst>
                                            <p:cond delay="0"/>
                                          </p:stCondLst>
                                        </p:cTn>
                                        <p:tgtEl>
                                          <p:spTgt spid="14">
                                            <p:txEl>
                                              <p:pRg st="7" end="7"/>
                                            </p:txEl>
                                          </p:spTgt>
                                        </p:tgtEl>
                                        <p:attrNameLst>
                                          <p:attrName>style.visibility</p:attrName>
                                        </p:attrNameLst>
                                      </p:cBhvr>
                                      <p:to>
                                        <p:strVal val="visible"/>
                                      </p:to>
                                    </p:set>
                                  </p:childTnLst>
                                </p:cTn>
                              </p:par>
                              <p:par>
                                <p:cTn id="21" presetID="1" presetClass="entr" presetSubtype="0" fill="hold" nodeType="withEffect">
                                  <p:stCondLst>
                                    <p:cond delay="0"/>
                                  </p:stCondLst>
                                  <p:childTnLst>
                                    <p:set>
                                      <p:cBhvr>
                                        <p:cTn id="22" dur="1" fill="hold">
                                          <p:stCondLst>
                                            <p:cond delay="0"/>
                                          </p:stCondLst>
                                        </p:cTn>
                                        <p:tgtEl>
                                          <p:spTgt spid="14">
                                            <p:txEl>
                                              <p:pRg st="8" end="8"/>
                                            </p:txEl>
                                          </p:spTgt>
                                        </p:tgtEl>
                                        <p:attrNameLst>
                                          <p:attrName>style.visibility</p:attrName>
                                        </p:attrNameLst>
                                      </p:cBhvr>
                                      <p:to>
                                        <p:strVal val="visible"/>
                                      </p:to>
                                    </p:set>
                                  </p:childTnLst>
                                </p:cTn>
                              </p:par>
                            </p:childTnLst>
                          </p:cTn>
                        </p:par>
                      </p:childTnLst>
                    </p:cTn>
                  </p:par>
                </p:childTnLst>
              </p:cTn>
              <p:prevCondLst>
                <p:cond evt="onPrev" delay="0">
                  <p:tgtEl>
                    <p:sldTgt/>
                  </p:tgtEl>
                </p:cond>
              </p:prevCondLst>
              <p:nextCondLst>
                <p:cond evt="onNext" delay="0">
                  <p:tgtEl>
                    <p:sldTgt/>
                  </p:tgtEl>
                </p:cond>
              </p:nextCondLst>
            </p:seq>
          </p:childTnLst>
        </p:cTn>
      </p:par>
    </p:tnLst>
  </p:timing>
</p:sld>
</file>

<file path=ppt/slides/slide33.xml><?xml version="1.0" encoding="utf-8"?>
<p:sld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BC591E86-1EBC-4F6B-6E64-6EB5FD91F4AC}"/>
            </a:ext>
          </a:extLst>
        </p:cNvPr>
        <p:cNvGrpSpPr/>
        <p:nvPr/>
      </p:nvGrpSpPr>
      <p:grpSpPr>
        <a:xfrm>
          <a:off x="0" y="0"/>
          <a:ext cx="0" cy="0"/>
          <a:chOff x="0" y="0"/>
          <a:chExt cx="0" cy="0"/>
        </a:xfrm>
      </p:grpSpPr>
      <p:sp>
        <p:nvSpPr>
          <p:cNvPr id="12" name="Text Placeholder 11">
            <a:extLst>
              <a:ext uri="{FF2B5EF4-FFF2-40B4-BE49-F238E27FC236}">
                <a16:creationId xmlns:a16="http://schemas.microsoft.com/office/drawing/2014/main" id="{914285B5-6219-941D-B080-ACB23944E4D0}"/>
              </a:ext>
            </a:extLst>
          </p:cNvPr>
          <p:cNvSpPr>
            <a:spLocks noGrp="1"/>
          </p:cNvSpPr>
          <p:nvPr>
            <p:ph type="body" sz="quarter" idx="10"/>
          </p:nvPr>
        </p:nvSpPr>
        <p:spPr/>
        <p:txBody>
          <a:bodyPr/>
          <a:lstStyle/>
          <a:p>
            <a:endParaRPr lang="en-US" sz="1000" dirty="0"/>
          </a:p>
        </p:txBody>
      </p:sp>
      <p:sp>
        <p:nvSpPr>
          <p:cNvPr id="11" name="Title 10">
            <a:extLst>
              <a:ext uri="{FF2B5EF4-FFF2-40B4-BE49-F238E27FC236}">
                <a16:creationId xmlns:a16="http://schemas.microsoft.com/office/drawing/2014/main" id="{F0107EA6-8DB4-F344-F529-449034C075F0}"/>
              </a:ext>
            </a:extLst>
          </p:cNvPr>
          <p:cNvSpPr>
            <a:spLocks noGrp="1"/>
          </p:cNvSpPr>
          <p:nvPr>
            <p:ph type="title"/>
          </p:nvPr>
        </p:nvSpPr>
        <p:spPr/>
        <p:txBody>
          <a:bodyPr/>
          <a:lstStyle/>
          <a:p>
            <a:r>
              <a:rPr lang="en-US" sz="1800" dirty="0"/>
              <a:t>ML &amp; AI &amp; IOT Updates</a:t>
            </a:r>
            <a:endParaRPr lang="en-US" dirty="0"/>
          </a:p>
        </p:txBody>
      </p:sp>
      <p:sp>
        <p:nvSpPr>
          <p:cNvPr id="13" name="Text Placeholder 12">
            <a:extLst>
              <a:ext uri="{FF2B5EF4-FFF2-40B4-BE49-F238E27FC236}">
                <a16:creationId xmlns:a16="http://schemas.microsoft.com/office/drawing/2014/main" id="{DA4EB956-5F49-48E0-B1D6-AE1A636CECB0}"/>
              </a:ext>
            </a:extLst>
          </p:cNvPr>
          <p:cNvSpPr>
            <a:spLocks noGrp="1"/>
          </p:cNvSpPr>
          <p:nvPr>
            <p:ph type="body" sz="quarter" idx="15"/>
          </p:nvPr>
        </p:nvSpPr>
        <p:spPr/>
        <p:txBody>
          <a:bodyPr/>
          <a:lstStyle/>
          <a:p>
            <a:endParaRPr lang="en-US"/>
          </a:p>
        </p:txBody>
      </p:sp>
      <p:sp>
        <p:nvSpPr>
          <p:cNvPr id="14" name="Text Placeholder 13">
            <a:extLst>
              <a:ext uri="{FF2B5EF4-FFF2-40B4-BE49-F238E27FC236}">
                <a16:creationId xmlns:a16="http://schemas.microsoft.com/office/drawing/2014/main" id="{383DE5A4-66B0-B9DC-0E46-93B58BC9C3FE}"/>
              </a:ext>
            </a:extLst>
          </p:cNvPr>
          <p:cNvSpPr>
            <a:spLocks noGrp="1"/>
          </p:cNvSpPr>
          <p:nvPr>
            <p:ph type="body" sz="quarter" idx="16"/>
          </p:nvPr>
        </p:nvSpPr>
        <p:spPr/>
        <p:txBody>
          <a:bodyPr/>
          <a:lstStyle/>
          <a:p>
            <a:pPr algn="just"/>
            <a:r>
              <a:rPr lang="en-US" dirty="0">
                <a:hlinkClick r:id="rId2"/>
              </a:rPr>
              <a:t>Retirement: Remove dependency on these Azure ML SDKs before June 30, 2026</a:t>
            </a:r>
            <a:endParaRPr lang="en-US" dirty="0"/>
          </a:p>
          <a:p>
            <a:pPr algn="just"/>
            <a:r>
              <a:rPr lang="en-US" dirty="0"/>
              <a:t>Microsoft has announced that </a:t>
            </a:r>
            <a:r>
              <a:rPr lang="en-US" b="1" dirty="0"/>
              <a:t>AzureML SDK V1</a:t>
            </a:r>
            <a:r>
              <a:rPr lang="en-US" dirty="0"/>
              <a:t> will reach </a:t>
            </a:r>
            <a:r>
              <a:rPr lang="en-US" b="1" dirty="0"/>
              <a:t>end of life on June 30, 2026</a:t>
            </a:r>
            <a:r>
              <a:rPr lang="en-US" dirty="0"/>
              <a:t>. Several dependent SDKs will also be retired on the same date, including:</a:t>
            </a:r>
          </a:p>
          <a:p>
            <a:pPr marL="171450" indent="-171450" algn="just">
              <a:buFont typeface="Arial" panose="020B0604020202020204" pitchFamily="34" charset="0"/>
              <a:buChar char="•"/>
            </a:pPr>
            <a:r>
              <a:rPr lang="en-US" b="1" dirty="0" err="1"/>
              <a:t>azureml</a:t>
            </a:r>
            <a:r>
              <a:rPr lang="en-US" b="1" dirty="0"/>
              <a:t>-train-core</a:t>
            </a:r>
            <a:endParaRPr lang="en-US" dirty="0"/>
          </a:p>
          <a:p>
            <a:pPr marL="171450" indent="-171450" algn="just">
              <a:buFont typeface="Arial" panose="020B0604020202020204" pitchFamily="34" charset="0"/>
              <a:buChar char="•"/>
            </a:pPr>
            <a:r>
              <a:rPr lang="en-US" b="1" dirty="0" err="1"/>
              <a:t>azureml</a:t>
            </a:r>
            <a:r>
              <a:rPr lang="en-US" b="1" dirty="0"/>
              <a:t>-pipeline</a:t>
            </a:r>
            <a:endParaRPr lang="en-US" dirty="0"/>
          </a:p>
          <a:p>
            <a:pPr marL="171450" indent="-171450" algn="just">
              <a:buFont typeface="Arial" panose="020B0604020202020204" pitchFamily="34" charset="0"/>
              <a:buChar char="•"/>
            </a:pPr>
            <a:r>
              <a:rPr lang="en-US" b="1" dirty="0" err="1"/>
              <a:t>azureml</a:t>
            </a:r>
            <a:r>
              <a:rPr lang="en-US" b="1" dirty="0"/>
              <a:t>-pipeline-core</a:t>
            </a:r>
            <a:endParaRPr lang="en-US" dirty="0"/>
          </a:p>
          <a:p>
            <a:pPr marL="171450" indent="-171450" algn="just">
              <a:buFont typeface="Arial" panose="020B0604020202020204" pitchFamily="34" charset="0"/>
              <a:buChar char="•"/>
            </a:pPr>
            <a:r>
              <a:rPr lang="en-US" b="1" dirty="0" err="1"/>
              <a:t>azureml</a:t>
            </a:r>
            <a:r>
              <a:rPr lang="en-US" b="1" dirty="0"/>
              <a:t>-pipeline-internal</a:t>
            </a:r>
            <a:endParaRPr lang="en-US" dirty="0"/>
          </a:p>
          <a:p>
            <a:pPr marL="171450" indent="-171450" algn="just">
              <a:buFont typeface="Arial" panose="020B0604020202020204" pitchFamily="34" charset="0"/>
              <a:buChar char="•"/>
            </a:pPr>
            <a:r>
              <a:rPr lang="en-US" b="1" dirty="0" err="1"/>
              <a:t>azureml</a:t>
            </a:r>
            <a:r>
              <a:rPr lang="en-US" b="1" dirty="0"/>
              <a:t>-pipeline-steps</a:t>
            </a:r>
            <a:endParaRPr lang="en-US" dirty="0"/>
          </a:p>
          <a:p>
            <a:pPr algn="just"/>
            <a:r>
              <a:rPr lang="en-US" dirty="0"/>
              <a:t>After June 30, 2026, these SDKs may continue to function but will </a:t>
            </a:r>
            <a:r>
              <a:rPr lang="en-US" b="1" dirty="0"/>
              <a:t>no longer receive support, updates, or fixes</a:t>
            </a:r>
            <a:r>
              <a:rPr lang="en-US" dirty="0"/>
              <a:t>, and they may stop working without notice. Organizations should begin planning their migration to </a:t>
            </a:r>
            <a:r>
              <a:rPr lang="en-US" b="1" dirty="0"/>
              <a:t>AzureML SDK V2</a:t>
            </a:r>
            <a:r>
              <a:rPr lang="en-US" dirty="0"/>
              <a:t> or other supported tooling to ensure continuity and compatibility.</a:t>
            </a:r>
          </a:p>
          <a:p>
            <a:pPr algn="just"/>
            <a:endParaRPr lang="en-US" dirty="0"/>
          </a:p>
        </p:txBody>
      </p:sp>
    </p:spTree>
    <p:extLst>
      <p:ext uri="{BB962C8B-B14F-4D97-AF65-F5344CB8AC3E}">
        <p14:creationId xmlns:p14="http://schemas.microsoft.com/office/powerpoint/2010/main" val="3849961994"/>
      </p:ext>
    </p:extLst>
  </p:cSld>
  <p:clrMapOvr>
    <a:masterClrMapping/>
  </p:clrMapOvr>
  <mc:AlternateContent xmlns:mc="http://schemas.openxmlformats.org/markup-compatibility/2006" xmlns:p14="http://schemas.microsoft.com/office/powerpoint/2010/main">
    <mc:Choice Requires="p14">
      <p:transition spd="med" p14:dur="700">
        <p:fade/>
      </p:transition>
    </mc:Choice>
    <mc:Fallback xmlns="">
      <p:transition spd="med">
        <p:fade/>
      </p:transition>
    </mc:Fallback>
  </mc:AlternateContent>
  <p:timing>
    <p:tnLst>
      <p:par>
        <p:cTn id="1" dur="indefinite" restart="never" nodeType="tmRoot">
          <p:childTnLst>
            <p:seq concurrent="1" nextAc="seek">
              <p:cTn id="2" dur="indefinite" nodeType="mainSeq">
                <p:childTnLst>
                  <p:par>
                    <p:cTn id="3" fill="hold">
                      <p:stCondLst>
                        <p:cond delay="indefinite"/>
                      </p:stCondLst>
                      <p:childTnLst>
                        <p:par>
                          <p:cTn id="4" fill="hold">
                            <p:stCondLst>
                              <p:cond delay="0"/>
                            </p:stCondLst>
                            <p:childTnLst>
                              <p:par>
                                <p:cTn id="5" presetID="1" presetClass="entr" presetSubtype="0" fill="hold" nodeType="clickEffect">
                                  <p:stCondLst>
                                    <p:cond delay="0"/>
                                  </p:stCondLst>
                                  <p:childTnLst>
                                    <p:set>
                                      <p:cBhvr>
                                        <p:cTn id="6" dur="1" fill="hold">
                                          <p:stCondLst>
                                            <p:cond delay="0"/>
                                          </p:stCondLst>
                                        </p:cTn>
                                        <p:tgtEl>
                                          <p:spTgt spid="14">
                                            <p:txEl>
                                              <p:pRg st="0" end="0"/>
                                            </p:txEl>
                                          </p:spTgt>
                                        </p:tgtEl>
                                        <p:attrNameLst>
                                          <p:attrName>style.visibility</p:attrName>
                                        </p:attrNameLst>
                                      </p:cBhvr>
                                      <p:to>
                                        <p:strVal val="visible"/>
                                      </p:to>
                                    </p:set>
                                  </p:childTnLst>
                                </p:cTn>
                              </p:par>
                              <p:par>
                                <p:cTn id="7" presetID="1" presetClass="entr" presetSubtype="0" fill="hold" nodeType="withEffect">
                                  <p:stCondLst>
                                    <p:cond delay="0"/>
                                  </p:stCondLst>
                                  <p:childTnLst>
                                    <p:set>
                                      <p:cBhvr>
                                        <p:cTn id="8" dur="1" fill="hold">
                                          <p:stCondLst>
                                            <p:cond delay="0"/>
                                          </p:stCondLst>
                                        </p:cTn>
                                        <p:tgtEl>
                                          <p:spTgt spid="14">
                                            <p:txEl>
                                              <p:pRg st="1" end="1"/>
                                            </p:txEl>
                                          </p:spTgt>
                                        </p:tgtEl>
                                        <p:attrNameLst>
                                          <p:attrName>style.visibility</p:attrName>
                                        </p:attrNameLst>
                                      </p:cBhvr>
                                      <p:to>
                                        <p:strVal val="visible"/>
                                      </p:to>
                                    </p:set>
                                  </p:childTnLst>
                                </p:cTn>
                              </p:par>
                              <p:par>
                                <p:cTn id="9" presetID="1" presetClass="entr" presetSubtype="0" fill="hold" nodeType="withEffect">
                                  <p:stCondLst>
                                    <p:cond delay="0"/>
                                  </p:stCondLst>
                                  <p:childTnLst>
                                    <p:set>
                                      <p:cBhvr>
                                        <p:cTn id="10" dur="1" fill="hold">
                                          <p:stCondLst>
                                            <p:cond delay="0"/>
                                          </p:stCondLst>
                                        </p:cTn>
                                        <p:tgtEl>
                                          <p:spTgt spid="14">
                                            <p:txEl>
                                              <p:pRg st="2" end="2"/>
                                            </p:txEl>
                                          </p:spTgt>
                                        </p:tgtEl>
                                        <p:attrNameLst>
                                          <p:attrName>style.visibility</p:attrName>
                                        </p:attrNameLst>
                                      </p:cBhvr>
                                      <p:to>
                                        <p:strVal val="visible"/>
                                      </p:to>
                                    </p:set>
                                  </p:childTnLst>
                                </p:cTn>
                              </p:par>
                              <p:par>
                                <p:cTn id="11" presetID="1" presetClass="entr" presetSubtype="0" fill="hold" nodeType="withEffect">
                                  <p:stCondLst>
                                    <p:cond delay="0"/>
                                  </p:stCondLst>
                                  <p:childTnLst>
                                    <p:set>
                                      <p:cBhvr>
                                        <p:cTn id="12" dur="1" fill="hold">
                                          <p:stCondLst>
                                            <p:cond delay="0"/>
                                          </p:stCondLst>
                                        </p:cTn>
                                        <p:tgtEl>
                                          <p:spTgt spid="14">
                                            <p:txEl>
                                              <p:pRg st="3" end="3"/>
                                            </p:txEl>
                                          </p:spTgt>
                                        </p:tgtEl>
                                        <p:attrNameLst>
                                          <p:attrName>style.visibility</p:attrName>
                                        </p:attrNameLst>
                                      </p:cBhvr>
                                      <p:to>
                                        <p:strVal val="visible"/>
                                      </p:to>
                                    </p:set>
                                  </p:childTnLst>
                                </p:cTn>
                              </p:par>
                              <p:par>
                                <p:cTn id="13" presetID="1" presetClass="entr" presetSubtype="0" fill="hold" nodeType="withEffect">
                                  <p:stCondLst>
                                    <p:cond delay="0"/>
                                  </p:stCondLst>
                                  <p:childTnLst>
                                    <p:set>
                                      <p:cBhvr>
                                        <p:cTn id="14" dur="1" fill="hold">
                                          <p:stCondLst>
                                            <p:cond delay="0"/>
                                          </p:stCondLst>
                                        </p:cTn>
                                        <p:tgtEl>
                                          <p:spTgt spid="14">
                                            <p:txEl>
                                              <p:pRg st="4" end="4"/>
                                            </p:txEl>
                                          </p:spTgt>
                                        </p:tgtEl>
                                        <p:attrNameLst>
                                          <p:attrName>style.visibility</p:attrName>
                                        </p:attrNameLst>
                                      </p:cBhvr>
                                      <p:to>
                                        <p:strVal val="visible"/>
                                      </p:to>
                                    </p:set>
                                  </p:childTnLst>
                                </p:cTn>
                              </p:par>
                              <p:par>
                                <p:cTn id="15" presetID="1" presetClass="entr" presetSubtype="0" fill="hold" nodeType="withEffect">
                                  <p:stCondLst>
                                    <p:cond delay="0"/>
                                  </p:stCondLst>
                                  <p:childTnLst>
                                    <p:set>
                                      <p:cBhvr>
                                        <p:cTn id="16" dur="1" fill="hold">
                                          <p:stCondLst>
                                            <p:cond delay="0"/>
                                          </p:stCondLst>
                                        </p:cTn>
                                        <p:tgtEl>
                                          <p:spTgt spid="14">
                                            <p:txEl>
                                              <p:pRg st="5" end="5"/>
                                            </p:txEl>
                                          </p:spTgt>
                                        </p:tgtEl>
                                        <p:attrNameLst>
                                          <p:attrName>style.visibility</p:attrName>
                                        </p:attrNameLst>
                                      </p:cBhvr>
                                      <p:to>
                                        <p:strVal val="visible"/>
                                      </p:to>
                                    </p:set>
                                  </p:childTnLst>
                                </p:cTn>
                              </p:par>
                              <p:par>
                                <p:cTn id="17" presetID="1" presetClass="entr" presetSubtype="0" fill="hold" nodeType="withEffect">
                                  <p:stCondLst>
                                    <p:cond delay="0"/>
                                  </p:stCondLst>
                                  <p:childTnLst>
                                    <p:set>
                                      <p:cBhvr>
                                        <p:cTn id="18" dur="1" fill="hold">
                                          <p:stCondLst>
                                            <p:cond delay="0"/>
                                          </p:stCondLst>
                                        </p:cTn>
                                        <p:tgtEl>
                                          <p:spTgt spid="14">
                                            <p:txEl>
                                              <p:pRg st="6" end="6"/>
                                            </p:txEl>
                                          </p:spTgt>
                                        </p:tgtEl>
                                        <p:attrNameLst>
                                          <p:attrName>style.visibility</p:attrName>
                                        </p:attrNameLst>
                                      </p:cBhvr>
                                      <p:to>
                                        <p:strVal val="visible"/>
                                      </p:to>
                                    </p:set>
                                  </p:childTnLst>
                                </p:cTn>
                              </p:par>
                              <p:par>
                                <p:cTn id="19" presetID="1" presetClass="entr" presetSubtype="0" fill="hold" nodeType="withEffect">
                                  <p:stCondLst>
                                    <p:cond delay="0"/>
                                  </p:stCondLst>
                                  <p:childTnLst>
                                    <p:set>
                                      <p:cBhvr>
                                        <p:cTn id="20" dur="1" fill="hold">
                                          <p:stCondLst>
                                            <p:cond delay="0"/>
                                          </p:stCondLst>
                                        </p:cTn>
                                        <p:tgtEl>
                                          <p:spTgt spid="14">
                                            <p:txEl>
                                              <p:pRg st="7" end="7"/>
                                            </p:txEl>
                                          </p:spTgt>
                                        </p:tgtEl>
                                        <p:attrNameLst>
                                          <p:attrName>style.visibility</p:attrName>
                                        </p:attrNameLst>
                                      </p:cBhvr>
                                      <p:to>
                                        <p:strVal val="visible"/>
                                      </p:to>
                                    </p:set>
                                  </p:childTnLst>
                                </p:cTn>
                              </p:par>
                            </p:childTnLst>
                          </p:cTn>
                        </p:par>
                      </p:childTnLst>
                    </p:cTn>
                  </p:par>
                </p:childTnLst>
              </p:cTn>
              <p:prevCondLst>
                <p:cond evt="onPrev" delay="0">
                  <p:tgtEl>
                    <p:sldTgt/>
                  </p:tgtEl>
                </p:cond>
              </p:prevCondLst>
              <p:nextCondLst>
                <p:cond evt="onNext" delay="0">
                  <p:tgtEl>
                    <p:sldTgt/>
                  </p:tgtEl>
                </p:cond>
              </p:nextCondLst>
            </p:seq>
          </p:childTnLst>
        </p:cTn>
      </p:par>
    </p:tnLst>
  </p:timing>
</p:sld>
</file>

<file path=ppt/slides/slide34.xml><?xml version="1.0" encoding="utf-8"?>
<p:sld xmlns:a="http://schemas.openxmlformats.org/drawingml/2006/main" xmlns:r="http://schemas.openxmlformats.org/officeDocument/2006/relationships" xmlns:p="http://schemas.openxmlformats.org/presentationml/2006/main" showMasterSp="0">
  <p:cSld>
    <p:spTree>
      <p:nvGrpSpPr>
        <p:cNvPr id="1" name=""/>
        <p:cNvGrpSpPr/>
        <p:nvPr/>
      </p:nvGrpSpPr>
      <p:grpSpPr>
        <a:xfrm>
          <a:off x="0" y="0"/>
          <a:ext cx="0" cy="0"/>
          <a:chOff x="0" y="0"/>
          <a:chExt cx="0" cy="0"/>
        </a:xfrm>
      </p:grpSpPr>
      <p:sp>
        <p:nvSpPr>
          <p:cNvPr id="4" name="Text Placeholder 3">
            <a:extLst>
              <a:ext uri="{FF2B5EF4-FFF2-40B4-BE49-F238E27FC236}">
                <a16:creationId xmlns:a16="http://schemas.microsoft.com/office/drawing/2014/main" id="{17F39168-7046-60A5-1EEA-8D2B5EAAE24F}"/>
              </a:ext>
            </a:extLst>
          </p:cNvPr>
          <p:cNvSpPr>
            <a:spLocks noGrp="1"/>
          </p:cNvSpPr>
          <p:nvPr>
            <p:ph type="body" sz="quarter" idx="13"/>
          </p:nvPr>
        </p:nvSpPr>
        <p:spPr/>
        <p:txBody>
          <a:bodyPr/>
          <a:lstStyle/>
          <a:p>
            <a:r>
              <a:rPr lang="en-US" sz="4000" dirty="0"/>
              <a:t>Information</a:t>
            </a:r>
          </a:p>
        </p:txBody>
      </p:sp>
    </p:spTree>
    <p:extLst>
      <p:ext uri="{BB962C8B-B14F-4D97-AF65-F5344CB8AC3E}">
        <p14:creationId xmlns:p14="http://schemas.microsoft.com/office/powerpoint/2010/main" val="1276041622"/>
      </p:ext>
    </p:extLst>
  </p:cSld>
  <p:clrMapOvr>
    <a:masterClrMapping/>
  </p:clrMapOvr>
</p:sld>
</file>

<file path=ppt/slides/slide35.xml><?xml version="1.0" encoding="utf-8"?>
<p:sld xmlns:a="http://schemas.openxmlformats.org/drawingml/2006/main" xmlns:r="http://schemas.openxmlformats.org/officeDocument/2006/relationships" xmlns:p="http://schemas.openxmlformats.org/presentationml/2006/main" showMasterSp="0">
  <p:cSld>
    <p:spTree>
      <p:nvGrpSpPr>
        <p:cNvPr id="1" name=""/>
        <p:cNvGrpSpPr/>
        <p:nvPr/>
      </p:nvGrpSpPr>
      <p:grpSpPr>
        <a:xfrm>
          <a:off x="0" y="0"/>
          <a:ext cx="0" cy="0"/>
          <a:chOff x="0" y="0"/>
          <a:chExt cx="0" cy="0"/>
        </a:xfrm>
      </p:grpSpPr>
      <p:sp>
        <p:nvSpPr>
          <p:cNvPr id="2" name="Text Placeholder 1">
            <a:extLst>
              <a:ext uri="{FF2B5EF4-FFF2-40B4-BE49-F238E27FC236}">
                <a16:creationId xmlns:a16="http://schemas.microsoft.com/office/drawing/2014/main" id="{BD9E4E97-A385-759E-BD70-47D0B91CA39E}"/>
              </a:ext>
            </a:extLst>
          </p:cNvPr>
          <p:cNvSpPr>
            <a:spLocks noGrp="1"/>
          </p:cNvSpPr>
          <p:nvPr>
            <p:ph type="body" sz="quarter" idx="10"/>
          </p:nvPr>
        </p:nvSpPr>
        <p:spPr>
          <a:xfrm>
            <a:off x="342900" y="855080"/>
            <a:ext cx="8455914" cy="3774069"/>
          </a:xfrm>
        </p:spPr>
        <p:txBody>
          <a:bodyPr/>
          <a:lstStyle/>
          <a:p>
            <a:r>
              <a:rPr lang="en-US" dirty="0">
                <a:hlinkClick r:id="rId2"/>
              </a:rPr>
              <a:t>Azure Times GitHub Repo</a:t>
            </a:r>
            <a:endParaRPr lang="en-US" dirty="0"/>
          </a:p>
        </p:txBody>
      </p:sp>
      <p:sp>
        <p:nvSpPr>
          <p:cNvPr id="3" name="Title 2">
            <a:extLst>
              <a:ext uri="{FF2B5EF4-FFF2-40B4-BE49-F238E27FC236}">
                <a16:creationId xmlns:a16="http://schemas.microsoft.com/office/drawing/2014/main" id="{78BEF490-0130-4022-0399-BE422CD7CB94}"/>
              </a:ext>
            </a:extLst>
          </p:cNvPr>
          <p:cNvSpPr>
            <a:spLocks noGrp="1"/>
          </p:cNvSpPr>
          <p:nvPr>
            <p:ph type="title"/>
          </p:nvPr>
        </p:nvSpPr>
        <p:spPr/>
        <p:txBody>
          <a:bodyPr/>
          <a:lstStyle/>
          <a:p>
            <a:r>
              <a:rPr lang="en-US" sz="1800" dirty="0"/>
              <a:t>Information</a:t>
            </a:r>
            <a:br>
              <a:rPr lang="en-US" sz="1800" dirty="0"/>
            </a:br>
            <a:endParaRPr lang="en-US" dirty="0"/>
          </a:p>
        </p:txBody>
      </p:sp>
    </p:spTree>
    <p:extLst>
      <p:ext uri="{BB962C8B-B14F-4D97-AF65-F5344CB8AC3E}">
        <p14:creationId xmlns:p14="http://schemas.microsoft.com/office/powerpoint/2010/main" val="747681537"/>
      </p:ext>
    </p:extLst>
  </p:cSld>
  <p:clrMapOvr>
    <a:masterClrMapping/>
  </p:clrMapOvr>
</p:sld>
</file>

<file path=ppt/slides/slide36.xml><?xml version="1.0" encoding="utf-8"?>
<p:sld xmlns:a="http://schemas.openxmlformats.org/drawingml/2006/main" xmlns:r="http://schemas.openxmlformats.org/officeDocument/2006/relationships" xmlns:p="http://schemas.openxmlformats.org/presentationml/2006/main" showMasterSp="0">
  <p:cSld>
    <p:spTree>
      <p:nvGrpSpPr>
        <p:cNvPr id="1" name=""/>
        <p:cNvGrpSpPr/>
        <p:nvPr/>
      </p:nvGrpSpPr>
      <p:grpSpPr>
        <a:xfrm>
          <a:off x="0" y="0"/>
          <a:ext cx="0" cy="0"/>
          <a:chOff x="0" y="0"/>
          <a:chExt cx="0" cy="0"/>
        </a:xfrm>
      </p:grpSpPr>
      <p:sp>
        <p:nvSpPr>
          <p:cNvPr id="4" name="Text Placeholder 3">
            <a:extLst>
              <a:ext uri="{FF2B5EF4-FFF2-40B4-BE49-F238E27FC236}">
                <a16:creationId xmlns:a16="http://schemas.microsoft.com/office/drawing/2014/main" id="{17F39168-7046-60A5-1EEA-8D2B5EAAE24F}"/>
              </a:ext>
            </a:extLst>
          </p:cNvPr>
          <p:cNvSpPr>
            <a:spLocks noGrp="1"/>
          </p:cNvSpPr>
          <p:nvPr>
            <p:ph type="body" sz="quarter" idx="13"/>
          </p:nvPr>
        </p:nvSpPr>
        <p:spPr/>
        <p:txBody>
          <a:bodyPr/>
          <a:lstStyle/>
          <a:p>
            <a:r>
              <a:rPr lang="en-US" sz="4000" dirty="0"/>
              <a:t>Questions</a:t>
            </a:r>
          </a:p>
        </p:txBody>
      </p:sp>
    </p:spTree>
    <p:extLst>
      <p:ext uri="{BB962C8B-B14F-4D97-AF65-F5344CB8AC3E}">
        <p14:creationId xmlns:p14="http://schemas.microsoft.com/office/powerpoint/2010/main" val="2482707150"/>
      </p:ext>
    </p:extLst>
  </p:cSld>
  <p:clrMapOvr>
    <a:masterClrMapping/>
  </p:clrMapOvr>
</p:sld>
</file>

<file path=ppt/theme/theme1.xml><?xml version="1.0" encoding="utf-8"?>
<a:theme xmlns:a="http://schemas.openxmlformats.org/drawingml/2006/main" name="Continuum Theme">
  <a:themeElements>
    <a:clrScheme name="EPAM Continuum Final">
      <a:dk1>
        <a:srgbClr val="222222"/>
      </a:dk1>
      <a:lt1>
        <a:srgbClr val="FFFFFF"/>
      </a:lt1>
      <a:dk2>
        <a:srgbClr val="A0A0A0"/>
      </a:dk2>
      <a:lt2>
        <a:srgbClr val="DBDAD6"/>
      </a:lt2>
      <a:accent1>
        <a:srgbClr val="545454"/>
      </a:accent1>
      <a:accent2>
        <a:srgbClr val="FFC000"/>
      </a:accent2>
      <a:accent3>
        <a:srgbClr val="38C2D7"/>
      </a:accent3>
      <a:accent4>
        <a:srgbClr val="445464"/>
      </a:accent4>
      <a:accent5>
        <a:srgbClr val="008ACE"/>
      </a:accent5>
      <a:accent6>
        <a:srgbClr val="E53B2E"/>
      </a:accent6>
      <a:hlink>
        <a:srgbClr val="000000"/>
      </a:hlink>
      <a:folHlink>
        <a:srgbClr val="000000"/>
      </a:folHlink>
    </a:clrScheme>
    <a:fontScheme name="Office">
      <a:majorFont>
        <a:latin typeface="Calibri Light" panose="020F0302020204030204"/>
        <a:ea typeface=""/>
        <a:cs typeface=""/>
        <a:font script="Jpan" typeface="游ゴシック Light"/>
        <a:font script="Hang" typeface="맑은 고딕"/>
        <a:font script="Hans" typeface="等线 Light"/>
        <a:font script="Hant" typeface="新細明體"/>
        <a:font script="Arab" typeface="Times New Roman"/>
        <a:font script="Hebr" typeface="Times New Roman"/>
        <a:font script="Thai" typeface="Angsana New"/>
        <a:font script="Ethi" typeface="Nyala"/>
        <a:font script="Beng" typeface="Vrinda"/>
        <a:font script="Gujr" typeface="Shruti"/>
        <a:font script="Khmr" typeface="MoolBoran"/>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Times New Roman"/>
        <a:font script="Uigh" typeface="Microsoft Uighur"/>
        <a:font script="Geor" typeface="Sylfaen"/>
        <a:font script="Armn" typeface="Arial"/>
        <a:font script="Bugi" typeface="Leelawadee UI"/>
        <a:font script="Bopo" typeface="Microsoft JhengHei"/>
        <a:font script="Java" typeface="Javanese Text"/>
        <a:font script="Lisu" typeface="Segoe UI"/>
        <a:font script="Mymr" typeface="Myanmar Text"/>
        <a:font script="Nkoo" typeface="Ebrima"/>
        <a:font script="Olck" typeface="Nirmala UI"/>
        <a:font script="Osma" typeface="Ebrima"/>
        <a:font script="Phag" typeface="Phagspa"/>
        <a:font script="Syrn" typeface="Estrangelo Edessa"/>
        <a:font script="Syrj" typeface="Estrangelo Edessa"/>
        <a:font script="Syre" typeface="Estrangelo Edessa"/>
        <a:font script="Sora" typeface="Nirmala UI"/>
        <a:font script="Tale" typeface="Microsoft Tai Le"/>
        <a:font script="Talu" typeface="Microsoft New Tai Lue"/>
        <a:font script="Tfng" typeface="Ebrima"/>
      </a:majorFont>
      <a:minorFont>
        <a:latin typeface="Calibri" panose="020F0502020204030204"/>
        <a:ea typeface=""/>
        <a:cs typeface=""/>
        <a:font script="Jpan" typeface="游ゴシック"/>
        <a:font script="Hang" typeface="맑은 고딕"/>
        <a:font script="Hans" typeface="等线"/>
        <a:font script="Hant" typeface="新細明體"/>
        <a:font script="Arab" typeface="Arial"/>
        <a:font script="Hebr" typeface="Arial"/>
        <a:font script="Thai" typeface="Cordia New"/>
        <a:font script="Ethi" typeface="Nyala"/>
        <a:font script="Beng" typeface="Vrinda"/>
        <a:font script="Gujr" typeface="Shruti"/>
        <a:font script="Khmr" typeface="DaunPenh"/>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Arial"/>
        <a:font script="Uigh" typeface="Microsoft Uighur"/>
        <a:font script="Geor" typeface="Sylfaen"/>
        <a:font script="Armn" typeface="Arial"/>
        <a:font script="Bugi" typeface="Leelawadee UI"/>
        <a:font script="Bopo" typeface="Microsoft JhengHei"/>
        <a:font script="Java" typeface="Javanese Text"/>
        <a:font script="Lisu" typeface="Segoe UI"/>
        <a:font script="Mymr" typeface="Myanmar Text"/>
        <a:font script="Nkoo" typeface="Ebrima"/>
        <a:font script="Olck" typeface="Nirmala UI"/>
        <a:font script="Osma" typeface="Ebrima"/>
        <a:font script="Phag" typeface="Phagspa"/>
        <a:font script="Syrn" typeface="Estrangelo Edessa"/>
        <a:font script="Syrj" typeface="Estrangelo Edessa"/>
        <a:font script="Syre" typeface="Estrangelo Edessa"/>
        <a:font script="Sora" typeface="Nirmala UI"/>
        <a:font script="Tale" typeface="Microsoft Tai Le"/>
        <a:font script="Talu" typeface="Microsoft New Tai Lue"/>
        <a:font script="Tfng" typeface="Ebrima"/>
      </a:minorFont>
    </a:fontScheme>
    <a:fmtScheme name="Office">
      <a:fillStyleLst>
        <a:solidFill>
          <a:schemeClr val="phClr"/>
        </a:solidFill>
        <a:gradFill rotWithShape="1">
          <a:gsLst>
            <a:gs pos="0">
              <a:schemeClr val="phClr">
                <a:lumMod val="110000"/>
                <a:satMod val="105000"/>
                <a:tint val="67000"/>
              </a:schemeClr>
            </a:gs>
            <a:gs pos="50000">
              <a:schemeClr val="phClr">
                <a:lumMod val="105000"/>
                <a:satMod val="103000"/>
                <a:tint val="73000"/>
              </a:schemeClr>
            </a:gs>
            <a:gs pos="100000">
              <a:schemeClr val="phClr">
                <a:lumMod val="105000"/>
                <a:satMod val="109000"/>
                <a:tint val="81000"/>
              </a:schemeClr>
            </a:gs>
          </a:gsLst>
          <a:lin ang="5400000" scaled="0"/>
        </a:gradFill>
        <a:gradFill rotWithShape="1">
          <a:gsLst>
            <a:gs pos="0">
              <a:schemeClr val="phClr">
                <a:satMod val="103000"/>
                <a:lumMod val="102000"/>
                <a:tint val="94000"/>
              </a:schemeClr>
            </a:gs>
            <a:gs pos="50000">
              <a:schemeClr val="phClr">
                <a:satMod val="110000"/>
                <a:lumMod val="100000"/>
                <a:shade val="100000"/>
              </a:schemeClr>
            </a:gs>
            <a:gs pos="100000">
              <a:schemeClr val="phClr">
                <a:lumMod val="99000"/>
                <a:satMod val="120000"/>
                <a:shade val="78000"/>
              </a:schemeClr>
            </a:gs>
          </a:gsLst>
          <a:lin ang="5400000" scaled="0"/>
        </a:gradFill>
      </a:fillStyleLst>
      <a:lnStyleLst>
        <a:ln w="6350" cap="flat" cmpd="sng" algn="ctr">
          <a:solidFill>
            <a:schemeClr val="phClr"/>
          </a:solidFill>
          <a:prstDash val="solid"/>
          <a:miter lim="800000"/>
        </a:ln>
        <a:ln w="12700" cap="flat" cmpd="sng" algn="ctr">
          <a:solidFill>
            <a:schemeClr val="phClr"/>
          </a:solidFill>
          <a:prstDash val="solid"/>
          <a:miter lim="800000"/>
        </a:ln>
        <a:ln w="19050" cap="flat" cmpd="sng" algn="ctr">
          <a:solidFill>
            <a:schemeClr val="phClr"/>
          </a:solidFill>
          <a:prstDash val="solid"/>
          <a:miter lim="800000"/>
        </a:ln>
      </a:lnStyleLst>
      <a:effectStyleLst>
        <a:effectStyle>
          <a:effectLst/>
        </a:effectStyle>
        <a:effectStyle>
          <a:effectLst/>
        </a:effectStyle>
        <a:effectStyle>
          <a:effectLst>
            <a:outerShdw blurRad="57150" dist="19050" dir="5400000" algn="ctr" rotWithShape="0">
              <a:srgbClr val="000000">
                <a:alpha val="63000"/>
              </a:srgbClr>
            </a:outerShdw>
          </a:effectLst>
        </a:effectStyle>
      </a:effectStyleLst>
      <a:bgFillStyleLst>
        <a:solidFill>
          <a:schemeClr val="phClr"/>
        </a:solidFill>
        <a:solidFill>
          <a:schemeClr val="phClr">
            <a:tint val="95000"/>
            <a:satMod val="170000"/>
          </a:schemeClr>
        </a:solidFill>
        <a:gradFill rotWithShape="1">
          <a:gsLst>
            <a:gs pos="0">
              <a:schemeClr val="phClr">
                <a:tint val="93000"/>
                <a:satMod val="150000"/>
                <a:shade val="98000"/>
                <a:lumMod val="102000"/>
              </a:schemeClr>
            </a:gs>
            <a:gs pos="50000">
              <a:schemeClr val="phClr">
                <a:tint val="98000"/>
                <a:satMod val="130000"/>
                <a:shade val="90000"/>
                <a:lumMod val="103000"/>
              </a:schemeClr>
            </a:gs>
            <a:gs pos="100000">
              <a:schemeClr val="phClr">
                <a:shade val="63000"/>
                <a:satMod val="120000"/>
              </a:schemeClr>
            </a:gs>
          </a:gsLst>
          <a:lin ang="5400000" scaled="0"/>
        </a:gradFill>
      </a:bgFillStyleLst>
    </a:fmtScheme>
  </a:themeElements>
  <a:objectDefaults>
    <a:spDef>
      <a:spPr bwMode="auto">
        <a:solidFill>
          <a:schemeClr val="accent1"/>
        </a:solidFill>
        <a:ln>
          <a:noFill/>
        </a:ln>
        <a:effectLst/>
      </a:spPr>
      <a:bodyPr wrap="none" rtlCol="0" anchor="ctr"/>
      <a:lstStyle>
        <a:defPPr algn="ctr">
          <a:defRPr sz="2400" dirty="0" err="1" smtClean="0">
            <a:solidFill>
              <a:schemeClr val="bg1"/>
            </a:solidFill>
            <a:latin typeface="Calibri Light" panose="020F0302020204030204" pitchFamily="34" charset="0"/>
            <a:ea typeface="Human Sans ExtraLight" charset="0"/>
            <a:cs typeface="Human Sans ExtraLight" charset="0"/>
          </a:defRPr>
        </a:defPPr>
      </a:lstStyle>
    </a:spDef>
    <a:lnDef>
      <a:spPr>
        <a:ln w="6350">
          <a:solidFill>
            <a:schemeClr val="tx2"/>
          </a:solidFill>
        </a:ln>
      </a:spPr>
      <a:bodyPr/>
      <a:lstStyle/>
      <a:style>
        <a:lnRef idx="1">
          <a:schemeClr val="accent1"/>
        </a:lnRef>
        <a:fillRef idx="0">
          <a:schemeClr val="accent1"/>
        </a:fillRef>
        <a:effectRef idx="0">
          <a:schemeClr val="accent1"/>
        </a:effectRef>
        <a:fontRef idx="minor">
          <a:schemeClr val="tx1"/>
        </a:fontRef>
      </a:style>
    </a:lnDef>
    <a:txDef>
      <a:spPr>
        <a:noFill/>
      </a:spPr>
      <a:bodyPr wrap="square" lIns="0" tIns="0" rIns="0" bIns="0" rtlCol="0">
        <a:noAutofit/>
      </a:bodyPr>
      <a:lstStyle>
        <a:defPPr>
          <a:lnSpc>
            <a:spcPct val="110000"/>
          </a:lnSpc>
          <a:spcBef>
            <a:spcPts val="600"/>
          </a:spcBef>
          <a:defRPr sz="1200" dirty="0" err="1" smtClean="0">
            <a:ea typeface="Human Sans" charset="0"/>
            <a:cs typeface="Human Sans" charset="0"/>
          </a:defRPr>
        </a:defPPr>
      </a:lstStyle>
    </a:txDef>
  </a:objectDefaults>
  <a:extraClrSchemeLst/>
  <a:extLst>
    <a:ext uri="{05A4C25C-085E-4340-85A3-A5531E510DB2}">
      <thm15:themeFamily xmlns:thm15="http://schemas.microsoft.com/office/thememl/2012/main" name="Continuum_Master_v1.1" id="{D2F91407-39AD-2344-8F42-01B4155FF2FD}" vid="{09F1F252-BD3A-0A45-9F6B-518524EA322F}"/>
    </a:ext>
  </a:extLst>
</a:theme>
</file>

<file path=ppt/theme/theme2.xml><?xml version="1.0" encoding="utf-8"?>
<a:theme xmlns:a="http://schemas.openxmlformats.org/drawingml/2006/main" name="Office Theme">
  <a:themeElements>
    <a:clrScheme name="Office">
      <a:dk1>
        <a:sysClr val="windowText" lastClr="000000"/>
      </a:dk1>
      <a:lt1>
        <a:sysClr val="window" lastClr="FFFFFF"/>
      </a:lt1>
      <a:dk2>
        <a:srgbClr val="44546A"/>
      </a:dk2>
      <a:lt2>
        <a:srgbClr val="E7E6E6"/>
      </a:lt2>
      <a:accent1>
        <a:srgbClr val="5B9BD5"/>
      </a:accent1>
      <a:accent2>
        <a:srgbClr val="ED7D31"/>
      </a:accent2>
      <a:accent3>
        <a:srgbClr val="A5A5A5"/>
      </a:accent3>
      <a:accent4>
        <a:srgbClr val="FFC000"/>
      </a:accent4>
      <a:accent5>
        <a:srgbClr val="4472C4"/>
      </a:accent5>
      <a:accent6>
        <a:srgbClr val="70AD47"/>
      </a:accent6>
      <a:hlink>
        <a:srgbClr val="0563C1"/>
      </a:hlink>
      <a:folHlink>
        <a:srgbClr val="954F72"/>
      </a:folHlink>
    </a:clrScheme>
    <a:fontScheme name="Office">
      <a:majorFont>
        <a:latin typeface="Calibri Light" panose="020F0302020204030204"/>
        <a:ea typeface=""/>
        <a:cs typeface=""/>
        <a:font script="Jpan" typeface="游ゴシック Light"/>
        <a:font script="Hang" typeface="맑은 고딕"/>
        <a:font script="Hans" typeface="等线 Light"/>
        <a:font script="Hant" typeface="新細明體"/>
        <a:font script="Arab" typeface="Times New Roman"/>
        <a:font script="Hebr" typeface="Times New Roman"/>
        <a:font script="Thai" typeface="Angsana New"/>
        <a:font script="Ethi" typeface="Nyala"/>
        <a:font script="Beng" typeface="Vrinda"/>
        <a:font script="Gujr" typeface="Shruti"/>
        <a:font script="Khmr" typeface="MoolBoran"/>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Times New Roman"/>
        <a:font script="Uigh" typeface="Microsoft Uighur"/>
        <a:font script="Geor" typeface="Sylfaen"/>
      </a:majorFont>
      <a:minorFont>
        <a:latin typeface="Calibri" panose="020F0502020204030204"/>
        <a:ea typeface=""/>
        <a:cs typeface=""/>
        <a:font script="Jpan" typeface="游ゴシック"/>
        <a:font script="Hang" typeface="맑은 고딕"/>
        <a:font script="Hans" typeface="等线"/>
        <a:font script="Hant" typeface="新細明體"/>
        <a:font script="Arab" typeface="Arial"/>
        <a:font script="Hebr" typeface="Arial"/>
        <a:font script="Thai" typeface="Cordia New"/>
        <a:font script="Ethi" typeface="Nyala"/>
        <a:font script="Beng" typeface="Vrinda"/>
        <a:font script="Gujr" typeface="Shruti"/>
        <a:font script="Khmr" typeface="DaunPenh"/>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Arial"/>
        <a:font script="Uigh" typeface="Microsoft Uighur"/>
        <a:font script="Geor" typeface="Sylfaen"/>
      </a:minorFont>
    </a:fontScheme>
    <a:fmtScheme name="Office">
      <a:fillStyleLst>
        <a:solidFill>
          <a:schemeClr val="phClr"/>
        </a:solidFill>
        <a:gradFill rotWithShape="1">
          <a:gsLst>
            <a:gs pos="0">
              <a:schemeClr val="phClr">
                <a:lumMod val="110000"/>
                <a:satMod val="105000"/>
                <a:tint val="67000"/>
              </a:schemeClr>
            </a:gs>
            <a:gs pos="50000">
              <a:schemeClr val="phClr">
                <a:lumMod val="105000"/>
                <a:satMod val="103000"/>
                <a:tint val="73000"/>
              </a:schemeClr>
            </a:gs>
            <a:gs pos="100000">
              <a:schemeClr val="phClr">
                <a:lumMod val="105000"/>
                <a:satMod val="109000"/>
                <a:tint val="81000"/>
              </a:schemeClr>
            </a:gs>
          </a:gsLst>
          <a:lin ang="5400000" scaled="0"/>
        </a:gradFill>
        <a:gradFill rotWithShape="1">
          <a:gsLst>
            <a:gs pos="0">
              <a:schemeClr val="phClr">
                <a:satMod val="103000"/>
                <a:lumMod val="102000"/>
                <a:tint val="94000"/>
              </a:schemeClr>
            </a:gs>
            <a:gs pos="50000">
              <a:schemeClr val="phClr">
                <a:satMod val="110000"/>
                <a:lumMod val="100000"/>
                <a:shade val="100000"/>
              </a:schemeClr>
            </a:gs>
            <a:gs pos="100000">
              <a:schemeClr val="phClr">
                <a:lumMod val="99000"/>
                <a:satMod val="120000"/>
                <a:shade val="78000"/>
              </a:schemeClr>
            </a:gs>
          </a:gsLst>
          <a:lin ang="5400000" scaled="0"/>
        </a:gradFill>
      </a:fillStyleLst>
      <a:lnStyleLst>
        <a:ln w="6350" cap="flat" cmpd="sng" algn="ctr">
          <a:solidFill>
            <a:schemeClr val="phClr"/>
          </a:solidFill>
          <a:prstDash val="solid"/>
          <a:miter lim="800000"/>
        </a:ln>
        <a:ln w="12700" cap="flat" cmpd="sng" algn="ctr">
          <a:solidFill>
            <a:schemeClr val="phClr"/>
          </a:solidFill>
          <a:prstDash val="solid"/>
          <a:miter lim="800000"/>
        </a:ln>
        <a:ln w="19050" cap="flat" cmpd="sng" algn="ctr">
          <a:solidFill>
            <a:schemeClr val="phClr"/>
          </a:solidFill>
          <a:prstDash val="solid"/>
          <a:miter lim="800000"/>
        </a:ln>
      </a:lnStyleLst>
      <a:effectStyleLst>
        <a:effectStyle>
          <a:effectLst/>
        </a:effectStyle>
        <a:effectStyle>
          <a:effectLst/>
        </a:effectStyle>
        <a:effectStyle>
          <a:effectLst>
            <a:outerShdw blurRad="57150" dist="19050" dir="5400000" algn="ctr" rotWithShape="0">
              <a:srgbClr val="000000">
                <a:alpha val="63000"/>
              </a:srgbClr>
            </a:outerShdw>
          </a:effectLst>
        </a:effectStyle>
      </a:effectStyleLst>
      <a:bgFillStyleLst>
        <a:solidFill>
          <a:schemeClr val="phClr"/>
        </a:solidFill>
        <a:solidFill>
          <a:schemeClr val="phClr">
            <a:tint val="95000"/>
            <a:satMod val="170000"/>
          </a:schemeClr>
        </a:solidFill>
        <a:gradFill rotWithShape="1">
          <a:gsLst>
            <a:gs pos="0">
              <a:schemeClr val="phClr">
                <a:tint val="93000"/>
                <a:satMod val="150000"/>
                <a:shade val="98000"/>
                <a:lumMod val="102000"/>
              </a:schemeClr>
            </a:gs>
            <a:gs pos="50000">
              <a:schemeClr val="phClr">
                <a:tint val="98000"/>
                <a:satMod val="130000"/>
                <a:shade val="90000"/>
                <a:lumMod val="103000"/>
              </a:schemeClr>
            </a:gs>
            <a:gs pos="100000">
              <a:schemeClr val="phClr">
                <a:shade val="63000"/>
                <a:satMod val="120000"/>
              </a:schemeClr>
            </a:gs>
          </a:gsLst>
          <a:lin ang="5400000" scaled="0"/>
        </a:gradFill>
      </a:bgFillStyleLst>
    </a:fmtScheme>
  </a:themeElements>
  <a:objectDefaults/>
  <a:extraClrSchemeLst/>
  <a:extLst>
    <a:ext uri="{05A4C25C-085E-4340-85A3-A5531E510DB2}">
      <thm15:themeFamily xmlns:thm15="http://schemas.microsoft.com/office/thememl/2012/main" name="Office Theme" id="{62F939B6-93AF-4DB8-9C6B-D6C7DFDC589F}" vid="{4A3C46E8-61CC-4603-A589-7422A47A8E4A}"/>
    </a:ext>
  </a:extLst>
</a:theme>
</file>

<file path=ppt/theme/theme3.xml><?xml version="1.0" encoding="utf-8"?>
<a:theme xmlns:a="http://schemas.openxmlformats.org/drawingml/2006/main" name="Office Theme">
  <a:themeElements>
    <a:clrScheme name="Office">
      <a:dk1>
        <a:sysClr val="windowText" lastClr="000000"/>
      </a:dk1>
      <a:lt1>
        <a:sysClr val="window" lastClr="FFFFFF"/>
      </a:lt1>
      <a:dk2>
        <a:srgbClr val="44546A"/>
      </a:dk2>
      <a:lt2>
        <a:srgbClr val="E7E6E6"/>
      </a:lt2>
      <a:accent1>
        <a:srgbClr val="5B9BD5"/>
      </a:accent1>
      <a:accent2>
        <a:srgbClr val="ED7D31"/>
      </a:accent2>
      <a:accent3>
        <a:srgbClr val="A5A5A5"/>
      </a:accent3>
      <a:accent4>
        <a:srgbClr val="FFC000"/>
      </a:accent4>
      <a:accent5>
        <a:srgbClr val="4472C4"/>
      </a:accent5>
      <a:accent6>
        <a:srgbClr val="70AD47"/>
      </a:accent6>
      <a:hlink>
        <a:srgbClr val="0563C1"/>
      </a:hlink>
      <a:folHlink>
        <a:srgbClr val="954F72"/>
      </a:folHlink>
    </a:clrScheme>
    <a:fontScheme name="Office">
      <a:majorFont>
        <a:latin typeface="Calibri Light" panose="020F0302020204030204"/>
        <a:ea typeface=""/>
        <a:cs typeface=""/>
        <a:font script="Jpan" typeface="游ゴシック Light"/>
        <a:font script="Hang" typeface="맑은 고딕"/>
        <a:font script="Hans" typeface="等线 Light"/>
        <a:font script="Hant" typeface="新細明體"/>
        <a:font script="Arab" typeface="Times New Roman"/>
        <a:font script="Hebr" typeface="Times New Roman"/>
        <a:font script="Thai" typeface="Angsana New"/>
        <a:font script="Ethi" typeface="Nyala"/>
        <a:font script="Beng" typeface="Vrinda"/>
        <a:font script="Gujr" typeface="Shruti"/>
        <a:font script="Khmr" typeface="MoolBoran"/>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Times New Roman"/>
        <a:font script="Uigh" typeface="Microsoft Uighur"/>
        <a:font script="Geor" typeface="Sylfaen"/>
      </a:majorFont>
      <a:minorFont>
        <a:latin typeface="Calibri" panose="020F0502020204030204"/>
        <a:ea typeface=""/>
        <a:cs typeface=""/>
        <a:font script="Jpan" typeface="游ゴシック"/>
        <a:font script="Hang" typeface="맑은 고딕"/>
        <a:font script="Hans" typeface="等线"/>
        <a:font script="Hant" typeface="新細明體"/>
        <a:font script="Arab" typeface="Arial"/>
        <a:font script="Hebr" typeface="Arial"/>
        <a:font script="Thai" typeface="Cordia New"/>
        <a:font script="Ethi" typeface="Nyala"/>
        <a:font script="Beng" typeface="Vrinda"/>
        <a:font script="Gujr" typeface="Shruti"/>
        <a:font script="Khmr" typeface="DaunPenh"/>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Arial"/>
        <a:font script="Uigh" typeface="Microsoft Uighur"/>
        <a:font script="Geor" typeface="Sylfaen"/>
      </a:minorFont>
    </a:fontScheme>
    <a:fmtScheme name="Office">
      <a:fillStyleLst>
        <a:solidFill>
          <a:schemeClr val="phClr"/>
        </a:solidFill>
        <a:gradFill rotWithShape="1">
          <a:gsLst>
            <a:gs pos="0">
              <a:schemeClr val="phClr">
                <a:lumMod val="110000"/>
                <a:satMod val="105000"/>
                <a:tint val="67000"/>
              </a:schemeClr>
            </a:gs>
            <a:gs pos="50000">
              <a:schemeClr val="phClr">
                <a:lumMod val="105000"/>
                <a:satMod val="103000"/>
                <a:tint val="73000"/>
              </a:schemeClr>
            </a:gs>
            <a:gs pos="100000">
              <a:schemeClr val="phClr">
                <a:lumMod val="105000"/>
                <a:satMod val="109000"/>
                <a:tint val="81000"/>
              </a:schemeClr>
            </a:gs>
          </a:gsLst>
          <a:lin ang="5400000" scaled="0"/>
        </a:gradFill>
        <a:gradFill rotWithShape="1">
          <a:gsLst>
            <a:gs pos="0">
              <a:schemeClr val="phClr">
                <a:satMod val="103000"/>
                <a:lumMod val="102000"/>
                <a:tint val="94000"/>
              </a:schemeClr>
            </a:gs>
            <a:gs pos="50000">
              <a:schemeClr val="phClr">
                <a:satMod val="110000"/>
                <a:lumMod val="100000"/>
                <a:shade val="100000"/>
              </a:schemeClr>
            </a:gs>
            <a:gs pos="100000">
              <a:schemeClr val="phClr">
                <a:lumMod val="99000"/>
                <a:satMod val="120000"/>
                <a:shade val="78000"/>
              </a:schemeClr>
            </a:gs>
          </a:gsLst>
          <a:lin ang="5400000" scaled="0"/>
        </a:gradFill>
      </a:fillStyleLst>
      <a:lnStyleLst>
        <a:ln w="6350" cap="flat" cmpd="sng" algn="ctr">
          <a:solidFill>
            <a:schemeClr val="phClr"/>
          </a:solidFill>
          <a:prstDash val="solid"/>
          <a:miter lim="800000"/>
        </a:ln>
        <a:ln w="12700" cap="flat" cmpd="sng" algn="ctr">
          <a:solidFill>
            <a:schemeClr val="phClr"/>
          </a:solidFill>
          <a:prstDash val="solid"/>
          <a:miter lim="800000"/>
        </a:ln>
        <a:ln w="19050" cap="flat" cmpd="sng" algn="ctr">
          <a:solidFill>
            <a:schemeClr val="phClr"/>
          </a:solidFill>
          <a:prstDash val="solid"/>
          <a:miter lim="800000"/>
        </a:ln>
      </a:lnStyleLst>
      <a:effectStyleLst>
        <a:effectStyle>
          <a:effectLst/>
        </a:effectStyle>
        <a:effectStyle>
          <a:effectLst/>
        </a:effectStyle>
        <a:effectStyle>
          <a:effectLst>
            <a:outerShdw blurRad="57150" dist="19050" dir="5400000" algn="ctr" rotWithShape="0">
              <a:srgbClr val="000000">
                <a:alpha val="63000"/>
              </a:srgbClr>
            </a:outerShdw>
          </a:effectLst>
        </a:effectStyle>
      </a:effectStyleLst>
      <a:bgFillStyleLst>
        <a:solidFill>
          <a:schemeClr val="phClr"/>
        </a:solidFill>
        <a:solidFill>
          <a:schemeClr val="phClr">
            <a:tint val="95000"/>
            <a:satMod val="170000"/>
          </a:schemeClr>
        </a:solidFill>
        <a:gradFill rotWithShape="1">
          <a:gsLst>
            <a:gs pos="0">
              <a:schemeClr val="phClr">
                <a:tint val="93000"/>
                <a:satMod val="150000"/>
                <a:shade val="98000"/>
                <a:lumMod val="102000"/>
              </a:schemeClr>
            </a:gs>
            <a:gs pos="50000">
              <a:schemeClr val="phClr">
                <a:tint val="98000"/>
                <a:satMod val="130000"/>
                <a:shade val="90000"/>
                <a:lumMod val="103000"/>
              </a:schemeClr>
            </a:gs>
            <a:gs pos="100000">
              <a:schemeClr val="phClr">
                <a:shade val="63000"/>
                <a:satMod val="120000"/>
              </a:schemeClr>
            </a:gs>
          </a:gsLst>
          <a:lin ang="5400000" scaled="0"/>
        </a:gradFill>
      </a:bgFillStyleLst>
    </a:fmtScheme>
  </a:themeElements>
  <a:objectDefaults/>
  <a:extraClrSchemeLst/>
  <a:extLst>
    <a:ext uri="{05A4C25C-085E-4340-85A3-A5531E510DB2}">
      <thm15:themeFamily xmlns:thm15="http://schemas.microsoft.com/office/thememl/2012/main" name="Office Theme" id="{62F939B6-93AF-4DB8-9C6B-D6C7DFDC589F}" vid="{4A3C46E8-61CC-4603-A589-7422A47A8E4A}"/>
    </a:ext>
  </a:extLst>
</a:theme>
</file>

<file path=customXml/_rels/item1.xml.rels><?xml version="1.0" encoding="UTF-8" standalone="yes"?>
<Relationships xmlns="http://schemas.openxmlformats.org/package/2006/relationships"><Relationship Id="rId1" Type="http://schemas.openxmlformats.org/officeDocument/2006/relationships/customXmlProps" Target="itemProps1.xml"/></Relationships>
</file>

<file path=customXml/_rels/item2.xml.rels><?xml version="1.0" encoding="UTF-8" standalone="yes"?>
<Relationships xmlns="http://schemas.openxmlformats.org/package/2006/relationships"><Relationship Id="rId1" Type="http://schemas.openxmlformats.org/officeDocument/2006/relationships/customXmlProps" Target="itemProps2.xml"/></Relationships>
</file>

<file path=customXml/_rels/item3.xml.rels><?xml version="1.0" encoding="UTF-8" standalone="yes"?>
<Relationships xmlns="http://schemas.openxmlformats.org/package/2006/relationships"><Relationship Id="rId1" Type="http://schemas.openxmlformats.org/officeDocument/2006/relationships/customXmlProps" Target="itemProps3.xml"/></Relationships>
</file>

<file path=customXml/item1.xml><?xml version="1.0" encoding="utf-8"?>
<ct:contentTypeSchema xmlns:ct="http://schemas.microsoft.com/office/2006/metadata/contentType" xmlns:ma="http://schemas.microsoft.com/office/2006/metadata/properties/metaAttributes" ct:_="" ma:_="" ma:contentTypeName="Document" ma:contentTypeID="0x0101008C3A9FD6A1D2BC41832AF270024651C7" ma:contentTypeVersion="6" ma:contentTypeDescription="Create a new document." ma:contentTypeScope="" ma:versionID="0421700c9180782018be286cde8a21da">
  <xsd:schema xmlns:xsd="http://www.w3.org/2001/XMLSchema" xmlns:xs="http://www.w3.org/2001/XMLSchema" xmlns:p="http://schemas.microsoft.com/office/2006/metadata/properties" xmlns:ns2="2e7e23d5-2c80-4164-89d2-1708db4037b8" xmlns:ns3="4e7ac07f-2cd6-47aa-8863-e3015989625c" targetNamespace="http://schemas.microsoft.com/office/2006/metadata/properties" ma:root="true" ma:fieldsID="541d07e3f89946b63e942fc7370dae48" ns2:_="" ns3:_="">
    <xsd:import namespace="2e7e23d5-2c80-4164-89d2-1708db4037b8"/>
    <xsd:import namespace="4e7ac07f-2cd6-47aa-8863-e3015989625c"/>
    <xsd:element name="properties">
      <xsd:complexType>
        <xsd:sequence>
          <xsd:element name="documentManagement">
            <xsd:complexType>
              <xsd:all>
                <xsd:element ref="ns2:MediaServiceMetadata" minOccurs="0"/>
                <xsd:element ref="ns2:MediaServiceFastMetadata" minOccurs="0"/>
                <xsd:element ref="ns3:SharedWithUsers" minOccurs="0"/>
                <xsd:element ref="ns3:SharedWithDetails" minOccurs="0"/>
                <xsd:element ref="ns2:MediaServiceAutoKeyPoints" minOccurs="0"/>
                <xsd:element ref="ns2:MediaServiceKeyPoints" minOccurs="0"/>
              </xsd:all>
            </xsd:complexType>
          </xsd:element>
        </xsd:sequence>
      </xsd:complexType>
    </xsd:element>
  </xsd:schema>
  <xsd:schema xmlns:xsd="http://www.w3.org/2001/XMLSchema" xmlns:xs="http://www.w3.org/2001/XMLSchema" xmlns:dms="http://schemas.microsoft.com/office/2006/documentManagement/types" xmlns:pc="http://schemas.microsoft.com/office/infopath/2007/PartnerControls" targetNamespace="2e7e23d5-2c80-4164-89d2-1708db4037b8" elementFormDefault="qualified">
    <xsd:import namespace="http://schemas.microsoft.com/office/2006/documentManagement/types"/>
    <xsd:import namespace="http://schemas.microsoft.com/office/infopath/2007/PartnerControls"/>
    <xsd:element name="MediaServiceMetadata" ma:index="8" nillable="true" ma:displayName="MediaServiceMetadata" ma:hidden="true" ma:internalName="MediaServiceMetadata" ma:readOnly="true">
      <xsd:simpleType>
        <xsd:restriction base="dms:Note"/>
      </xsd:simpleType>
    </xsd:element>
    <xsd:element name="MediaServiceFastMetadata" ma:index="9" nillable="true" ma:displayName="MediaServiceFastMetadata" ma:hidden="true" ma:internalName="MediaServiceFastMetadata" ma:readOnly="true">
      <xsd:simpleType>
        <xsd:restriction base="dms:Note"/>
      </xsd:simpleType>
    </xsd:element>
    <xsd:element name="MediaServiceAutoKeyPoints" ma:index="12" nillable="true" ma:displayName="MediaServiceAutoKeyPoints" ma:hidden="true" ma:internalName="MediaServiceAutoKeyPoints" ma:readOnly="true">
      <xsd:simpleType>
        <xsd:restriction base="dms:Note"/>
      </xsd:simpleType>
    </xsd:element>
    <xsd:element name="MediaServiceKeyPoints" ma:index="13" nillable="true" ma:displayName="KeyPoints" ma:internalName="MediaServiceKeyPoints" ma:readOnly="true">
      <xsd:simpleType>
        <xsd:restriction base="dms:Note">
          <xsd:maxLength value="255"/>
        </xsd:restriction>
      </xsd:simpleType>
    </xsd:element>
  </xsd:schema>
  <xsd:schema xmlns:xsd="http://www.w3.org/2001/XMLSchema" xmlns:xs="http://www.w3.org/2001/XMLSchema" xmlns:dms="http://schemas.microsoft.com/office/2006/documentManagement/types" xmlns:pc="http://schemas.microsoft.com/office/infopath/2007/PartnerControls" targetNamespace="4e7ac07f-2cd6-47aa-8863-e3015989625c" elementFormDefault="qualified">
    <xsd:import namespace="http://schemas.microsoft.com/office/2006/documentManagement/types"/>
    <xsd:import namespace="http://schemas.microsoft.com/office/infopath/2007/PartnerControls"/>
    <xsd:element name="SharedWithUsers" ma:index="10" nillable="true" ma:displayName="Shared With" ma:internalName="SharedWithUsers" ma:readOnly="true">
      <xsd:complexType>
        <xsd:complexContent>
          <xsd:extension base="dms:UserMulti">
            <xsd:sequence>
              <xsd:element name="UserInfo" minOccurs="0" maxOccurs="unbounded">
                <xsd:complexType>
                  <xsd:sequence>
                    <xsd:element name="DisplayName" type="xsd:string" minOccurs="0"/>
                    <xsd:element name="AccountId" type="dms:UserId" minOccurs="0" nillable="true"/>
                    <xsd:element name="AccountType" type="xsd:string" minOccurs="0"/>
                  </xsd:sequence>
                </xsd:complexType>
              </xsd:element>
            </xsd:sequence>
          </xsd:extension>
        </xsd:complexContent>
      </xsd:complexType>
    </xsd:element>
    <xsd:element name="SharedWithDetails" ma:index="11" nillable="true" ma:displayName="Shared With Details" ma:internalName="SharedWithDetails" ma:readOnly="true">
      <xsd:simpleType>
        <xsd:restriction base="dms:Note">
          <xsd:maxLength value="255"/>
        </xsd:restriction>
      </xsd:simpleType>
    </xsd:element>
  </xsd:schema>
  <xsd:schema xmlns="http://schemas.openxmlformats.org/package/2006/metadata/core-properties" xmlns:xsd="http://www.w3.org/2001/XMLSchema" xmlns:xsi="http://www.w3.org/2001/XMLSchema-instance" xmlns:dc="http://purl.org/dc/elements/1.1/" xmlns:dcterms="http://purl.org/dc/terms/" xmlns:odoc="http://schemas.microsoft.com/internal/obd" targetNamespace="http://schemas.openxmlformats.org/package/2006/metadata/core-properties" elementFormDefault="qualified" attributeFormDefault="unqualified" blockDefault="#all">
    <xsd:import namespace="http://purl.org/dc/elements/1.1/" schemaLocation="http://dublincore.org/schemas/xmls/qdc/2003/04/02/dc.xsd"/>
    <xsd:import namespace="http://purl.org/dc/terms/" schemaLocation="http://dublincore.org/schemas/xmls/qdc/2003/04/02/dcterms.xsd"/>
    <xsd:element name="coreProperties" type="CT_coreProperties"/>
    <xsd:complexType name="CT_coreProperties">
      <xsd:all>
        <xsd:element ref="dc:creator" minOccurs="0" maxOccurs="1"/>
        <xsd:element ref="dcterms:created" minOccurs="0" maxOccurs="1"/>
        <xsd:element ref="dc:identifier" minOccurs="0" maxOccurs="1"/>
        <xsd:element name="contentType" minOccurs="0" maxOccurs="1" type="xsd:string" ma:index="0" ma:displayName="Content Type"/>
        <xsd:element ref="dc:title" minOccurs="0" maxOccurs="1" ma:index="4" ma:displayName="Title"/>
        <xsd:element ref="dc:subject" minOccurs="0" maxOccurs="1"/>
        <xsd:element ref="dc:description" minOccurs="0" maxOccurs="1"/>
        <xsd:element name="keywords" minOccurs="0" maxOccurs="1" type="xsd:string"/>
        <xsd:element ref="dc:language" minOccurs="0" maxOccurs="1"/>
        <xsd:element name="category" minOccurs="0" maxOccurs="1" type="xsd:string"/>
        <xsd:element name="version" minOccurs="0" maxOccurs="1" type="xsd:string"/>
        <xsd:element name="revision" minOccurs="0" maxOccurs="1" type="xsd:string">
          <xsd:annotation>
            <xsd:documentation>
                        This value indicates the number of saves or revisions. The application is responsible for updating this value after each revision.
                    </xsd:documentation>
          </xsd:annotation>
        </xsd:element>
        <xsd:element name="lastModifiedBy" minOccurs="0" maxOccurs="1" type="xsd:string"/>
        <xsd:element ref="dcterms:modified" minOccurs="0" maxOccurs="1"/>
        <xsd:element name="contentStatus" minOccurs="0" maxOccurs="1" type="xsd:string"/>
      </xsd:all>
    </xsd:complexType>
  </xsd:schema>
  <xs:schema xmlns:pc="http://schemas.microsoft.com/office/infopath/2007/PartnerControls" xmlns:xs="http://www.w3.org/2001/XMLSchema" targetNamespace="http://schemas.microsoft.com/office/infopath/2007/PartnerControls" elementFormDefault="qualified" attributeFormDefault="unqualified">
    <xs:element name="Person">
      <xs:complexType>
        <xs:sequence>
          <xs:element ref="pc:DisplayName" minOccurs="0"/>
          <xs:element ref="pc:AccountId" minOccurs="0"/>
          <xs:element ref="pc:AccountType" minOccurs="0"/>
        </xs:sequence>
      </xs:complexType>
    </xs:element>
    <xs:element name="DisplayName" type="xs:string"/>
    <xs:element name="AccountId" type="xs:string"/>
    <xs:element name="AccountType" type="xs:string"/>
    <xs:element name="BDCAssociatedEntity">
      <xs:complexType>
        <xs:sequence>
          <xs:element ref="pc:BDCEntity" minOccurs="0" maxOccurs="unbounded"/>
        </xs:sequence>
        <xs:attribute ref="pc:EntityNamespace"/>
        <xs:attribute ref="pc:EntityName"/>
        <xs:attribute ref="pc:SystemInstanceName"/>
        <xs:attribute ref="pc:AssociationName"/>
      </xs:complexType>
    </xs:element>
    <xs:attribute name="EntityNamespace" type="xs:string"/>
    <xs:attribute name="EntityName" type="xs:string"/>
    <xs:attribute name="SystemInstanceName" type="xs:string"/>
    <xs:attribute name="AssociationName" type="xs:string"/>
    <xs:element name="BDCEntity">
      <xs:complexType>
        <xs:sequence>
          <xs:element ref="pc:EntityDisplayName" minOccurs="0"/>
          <xs:element ref="pc:EntityInstanceReference" minOccurs="0"/>
          <xs:element ref="pc:EntityId1" minOccurs="0"/>
          <xs:element ref="pc:EntityId2" minOccurs="0"/>
          <xs:element ref="pc:EntityId3" minOccurs="0"/>
          <xs:element ref="pc:EntityId4" minOccurs="0"/>
          <xs:element ref="pc:EntityId5" minOccurs="0"/>
        </xs:sequence>
      </xs:complexType>
    </xs:element>
    <xs:element name="EntityDisplayName" type="xs:string"/>
    <xs:element name="EntityInstanceReference" type="xs:string"/>
    <xs:element name="EntityId1" type="xs:string"/>
    <xs:element name="EntityId2" type="xs:string"/>
    <xs:element name="EntityId3" type="xs:string"/>
    <xs:element name="EntityId4" type="xs:string"/>
    <xs:element name="EntityId5" type="xs:string"/>
    <xs:element name="Terms">
      <xs:complexType>
        <xs:sequence>
          <xs:element ref="pc:TermInfo" minOccurs="0" maxOccurs="unbounded"/>
        </xs:sequence>
      </xs:complexType>
    </xs:element>
    <xs:element name="TermInfo">
      <xs:complexType>
        <xs:sequence>
          <xs:element ref="pc:TermName" minOccurs="0"/>
          <xs:element ref="pc:TermId" minOccurs="0"/>
        </xs:sequence>
      </xs:complexType>
    </xs:element>
    <xs:element name="TermName" type="xs:string"/>
    <xs:element name="TermId" type="xs:string"/>
  </xs:schema>
</ct:contentTypeSchema>
</file>

<file path=customXml/item2.xml><?xml version="1.0" encoding="utf-8"?>
<?mso-contentType ?>
<FormTemplates xmlns="http://schemas.microsoft.com/sharepoint/v3/contenttype/forms">
  <Display>DocumentLibraryForm</Display>
  <Edit>DocumentLibraryForm</Edit>
  <New>DocumentLibraryForm</New>
</FormTemplates>
</file>

<file path=customXml/item3.xml><?xml version="1.0" encoding="utf-8"?>
<p:properties xmlns:p="http://schemas.microsoft.com/office/2006/metadata/properties" xmlns:xsi="http://www.w3.org/2001/XMLSchema-instance" xmlns:pc="http://schemas.microsoft.com/office/infopath/2007/PartnerControls">
  <documentManagement/>
</p:properties>
</file>

<file path=customXml/itemProps1.xml><?xml version="1.0" encoding="utf-8"?>
<ds:datastoreItem xmlns:ds="http://schemas.openxmlformats.org/officeDocument/2006/customXml" ds:itemID="{25D63988-C0DC-4185-91C3-6687DBA2F390}">
  <ds:schemaRefs>
    <ds:schemaRef ds:uri="2e7e23d5-2c80-4164-89d2-1708db4037b8"/>
    <ds:schemaRef ds:uri="4e7ac07f-2cd6-47aa-8863-e3015989625c"/>
    <ds:schemaRef ds:uri="http://purl.org/dc/elements/1.1/"/>
    <ds:schemaRef ds:uri="http://purl.org/dc/terms/"/>
    <ds:schemaRef ds:uri="http://schemas.microsoft.com/internal/obd"/>
    <ds:schemaRef ds:uri="http://schemas.microsoft.com/office/2006/documentManagement/types"/>
    <ds:schemaRef ds:uri="http://schemas.microsoft.com/office/2006/metadata/contentType"/>
    <ds:schemaRef ds:uri="http://schemas.microsoft.com/office/2006/metadata/properties"/>
    <ds:schemaRef ds:uri="http://schemas.microsoft.com/office/2006/metadata/properties/metaAttributes"/>
    <ds:schemaRef ds:uri="http://schemas.microsoft.com/office/infopath/2007/PartnerControls"/>
    <ds:schemaRef ds:uri="http://schemas.openxmlformats.org/package/2006/metadata/core-properties"/>
    <ds:schemaRef ds:uri="http://www.w3.org/2001/XMLSchema"/>
  </ds:schemaRefs>
</ds:datastoreItem>
</file>

<file path=customXml/itemProps2.xml><?xml version="1.0" encoding="utf-8"?>
<ds:datastoreItem xmlns:ds="http://schemas.openxmlformats.org/officeDocument/2006/customXml" ds:itemID="{EE04B39D-0CBA-4F8F-8809-785207E87965}">
  <ds:schemaRefs>
    <ds:schemaRef ds:uri="http://schemas.microsoft.com/sharepoint/v3/contenttype/forms"/>
  </ds:schemaRefs>
</ds:datastoreItem>
</file>

<file path=customXml/itemProps3.xml><?xml version="1.0" encoding="utf-8"?>
<ds:datastoreItem xmlns:ds="http://schemas.openxmlformats.org/officeDocument/2006/customXml" ds:itemID="{4DE7C614-AA74-4D4D-9D2D-D96DA5126C78}">
  <ds:schemaRefs>
    <ds:schemaRef ds:uri="http://schemas.microsoft.com/office/2006/metadata/properties"/>
    <ds:schemaRef ds:uri="http://schemas.microsoft.com/office/2006/documentManagement/types"/>
    <ds:schemaRef ds:uri="http://purl.org/dc/terms/"/>
    <ds:schemaRef ds:uri="http://purl.org/dc/elements/1.1/"/>
    <ds:schemaRef ds:uri="http://schemas.microsoft.com/office/infopath/2007/PartnerControls"/>
    <ds:schemaRef ds:uri="2e7e23d5-2c80-4164-89d2-1708db4037b8"/>
    <ds:schemaRef ds:uri="http://purl.org/dc/dcmitype/"/>
    <ds:schemaRef ds:uri="http://schemas.openxmlformats.org/package/2006/metadata/core-properties"/>
    <ds:schemaRef ds:uri="4e7ac07f-2cd6-47aa-8863-e3015989625c"/>
    <ds:schemaRef ds:uri="http://www.w3.org/XML/1998/namespace"/>
  </ds:schemaRefs>
</ds:datastoreItem>
</file>

<file path=docMetadata/LabelInfo.xml><?xml version="1.0" encoding="utf-8"?>
<clbl:labelList xmlns:clbl="http://schemas.microsoft.com/office/2020/mipLabelMetadata">
  <clbl:label id="{2590e1b2-66ea-4d45-b1aa-185c322e3ba5}" enabled="1" method="Standard" siteId="{40a64d0b-f2f9-4a34-b1b3-0992ac0e5e4e}" contentBits="0" removed="0"/>
</clbl:labelList>
</file>

<file path=docProps/app.xml><?xml version="1.0" encoding="utf-8"?>
<Properties xmlns="http://schemas.openxmlformats.org/officeDocument/2006/extended-properties" xmlns:vt="http://schemas.openxmlformats.org/officeDocument/2006/docPropsVTypes">
  <Template>Covers</Template>
  <TotalTime>1127</TotalTime>
  <Words>3844</Words>
  <Application>Microsoft Office PowerPoint</Application>
  <PresentationFormat>On-screen Show (16:9)</PresentationFormat>
  <Paragraphs>179</Paragraphs>
  <Slides>36</Slides>
  <Notes>1</Notes>
  <HiddenSlides>0</HiddenSlides>
  <MMClips>0</MMClips>
  <ScaleCrop>false</ScaleCrop>
  <HeadingPairs>
    <vt:vector size="6" baseType="variant">
      <vt:variant>
        <vt:lpstr>Fonts Used</vt:lpstr>
      </vt:variant>
      <vt:variant>
        <vt:i4>4</vt:i4>
      </vt:variant>
      <vt:variant>
        <vt:lpstr>Theme</vt:lpstr>
      </vt:variant>
      <vt:variant>
        <vt:i4>1</vt:i4>
      </vt:variant>
      <vt:variant>
        <vt:lpstr>Slide Titles</vt:lpstr>
      </vt:variant>
      <vt:variant>
        <vt:i4>36</vt:i4>
      </vt:variant>
    </vt:vector>
  </HeadingPairs>
  <TitlesOfParts>
    <vt:vector size="41" baseType="lpstr">
      <vt:lpstr>Arial</vt:lpstr>
      <vt:lpstr>Calibri</vt:lpstr>
      <vt:lpstr>Human Sans</vt:lpstr>
      <vt:lpstr>Human Sans Regular</vt:lpstr>
      <vt:lpstr>Continuum Theme</vt:lpstr>
      <vt:lpstr>Azure Times #187</vt:lpstr>
      <vt:lpstr>PowerPoint Presentation</vt:lpstr>
      <vt:lpstr>Networking Updates</vt:lpstr>
      <vt:lpstr>PowerPoint Presentation</vt:lpstr>
      <vt:lpstr>Security &amp; Identity Updates (Entra ID Updates) - 1/7</vt:lpstr>
      <vt:lpstr>Security &amp; Identity Updates (Entra ID Updates) - 2/7</vt:lpstr>
      <vt:lpstr>Security &amp; Identity Updates (Entra ID Updates) - 3/7</vt:lpstr>
      <vt:lpstr>Security &amp; Identity Updates (Entra ID Updates) - 4/7</vt:lpstr>
      <vt:lpstr>Security &amp; Identity Updates (Entra ID Updates) - 5/7</vt:lpstr>
      <vt:lpstr>Security &amp; Identity Updates (Entra ID Updates) - 6/7</vt:lpstr>
      <vt:lpstr>Security &amp; Identity Updates (Entra ID Updates) - 7/7</vt:lpstr>
      <vt:lpstr>Security &amp; Identity Updates (Defender for Cloud) – 1/5</vt:lpstr>
      <vt:lpstr>Security &amp; Identity Updates (Defender for Cloud) – 1/5</vt:lpstr>
      <vt:lpstr>Security &amp; Identity Updates (Defender for Cloud) – 1/5</vt:lpstr>
      <vt:lpstr>Security &amp; Identity Updates (Defender for Cloud) – 1/5</vt:lpstr>
      <vt:lpstr>Security &amp; Identity Updates (Defender for Cloud) – 1/5</vt:lpstr>
      <vt:lpstr>PowerPoint Presentation</vt:lpstr>
      <vt:lpstr>Management &amp; Governance Updates</vt:lpstr>
      <vt:lpstr>PowerPoint Presentation</vt:lpstr>
      <vt:lpstr>Compute Updates</vt:lpstr>
      <vt:lpstr>Compute Updates</vt:lpstr>
      <vt:lpstr>Compute Updates</vt:lpstr>
      <vt:lpstr>Compute Updates</vt:lpstr>
      <vt:lpstr>PowerPoint Presentation</vt:lpstr>
      <vt:lpstr>Storage &amp; Data Updates</vt:lpstr>
      <vt:lpstr>PowerPoint Presentation</vt:lpstr>
      <vt:lpstr>Databases Updates</vt:lpstr>
      <vt:lpstr>Databases Updates</vt:lpstr>
      <vt:lpstr>Databases Updates</vt:lpstr>
      <vt:lpstr>PowerPoint Presentation</vt:lpstr>
      <vt:lpstr>ML &amp; AI &amp; IOT Updates</vt:lpstr>
      <vt:lpstr>ML &amp; AI &amp; IOT Updates</vt:lpstr>
      <vt:lpstr>ML &amp; AI &amp; IOT Updates</vt:lpstr>
      <vt:lpstr>PowerPoint Presentation</vt:lpstr>
      <vt:lpstr>Information </vt:lpstr>
      <vt:lpstr>PowerPoint Presentation</vt:lpstr>
    </vt:vector>
  </TitlesOfParts>
  <Company/>
  <LinksUpToDate>false</LinksUpToDate>
  <SharedDoc>false</SharedDoc>
  <HyperlinksChanged>false</HyperlinksChanged>
  <AppVersion>16.0000</AppVersion>
</Properties>
</file>

<file path=docProps/core.xml><?xml version="1.0" encoding="utf-8"?>
<cp:coreProperties xmlns:cp="http://schemas.openxmlformats.org/package/2006/metadata/core-properties" xmlns:dc="http://purl.org/dc/elements/1.1/" xmlns:dcterms="http://purl.org/dc/terms/" xmlns:dcmitype="http://purl.org/dc/dcmitype/" xmlns:xsi="http://www.w3.org/2001/XMLSchema-instance">
  <dc:title>PowerPoint Presentation</dc:title>
  <dc:creator/>
  <cp:lastModifiedBy>Maksim Admin Rotar</cp:lastModifiedBy>
  <cp:revision>208</cp:revision>
  <dcterms:created xsi:type="dcterms:W3CDTF">2018-01-26T19:23:30Z</dcterms:created>
  <dcterms:modified xsi:type="dcterms:W3CDTF">2025-12-08T06:28:20Z</dcterms:modified>
</cp:coreProperties>
</file>

<file path=docProps/custom.xml><?xml version="1.0" encoding="utf-8"?>
<Properties xmlns="http://schemas.openxmlformats.org/officeDocument/2006/custom-properties" xmlns:vt="http://schemas.openxmlformats.org/officeDocument/2006/docPropsVTypes">
  <property fmtid="{D5CDD505-2E9C-101B-9397-08002B2CF9AE}" pid="2" name="ContentTypeId">
    <vt:lpwstr>0x0101008C3A9FD6A1D2BC41832AF270024651C7</vt:lpwstr>
  </property>
</Properties>
</file>