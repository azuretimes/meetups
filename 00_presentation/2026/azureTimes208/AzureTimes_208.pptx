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20"/>
  </p:notesMasterIdLst>
  <p:handoutMasterIdLst>
    <p:handoutMasterId r:id="rId21"/>
  </p:handoutMasterIdLst>
  <p:sldIdLst>
    <p:sldId id="2142532340" r:id="rId5"/>
    <p:sldId id="2146847045" r:id="rId6"/>
    <p:sldId id="10657" r:id="rId7"/>
    <p:sldId id="2146847127" r:id="rId8"/>
    <p:sldId id="2146847048" r:id="rId9"/>
    <p:sldId id="2146847049" r:id="rId10"/>
    <p:sldId id="2146847132" r:id="rId11"/>
    <p:sldId id="2146847054" r:id="rId12"/>
    <p:sldId id="2146847141" r:id="rId13"/>
    <p:sldId id="2146847058" r:id="rId14"/>
    <p:sldId id="2146847146" r:id="rId15"/>
    <p:sldId id="2146847147" r:id="rId16"/>
    <p:sldId id="2146847085" r:id="rId17"/>
    <p:sldId id="2146847084" r:id="rId18"/>
    <p:sldId id="2146847064" r:id="rId19"/>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 id="2146847127"/>
          </p14:sldIdLst>
        </p14:section>
        <p14:section name="Security &amp; Identity" id="{1AA42572-B3BD-44F7-813B-C2C647DDBB3C}">
          <p14:sldIdLst/>
        </p14:section>
        <p14:section name="Management &amp; Governance" id="{34181601-6D48-4406-A525-C7B5A12C6C5B}">
          <p14:sldIdLst>
            <p14:sldId id="2146847048"/>
            <p14:sldId id="2146847049"/>
            <p14:sldId id="2146847132"/>
          </p14:sldIdLst>
        </p14:section>
        <p14:section name="Compute" id="{05AA80BB-8802-49AB-8336-A884227CE2F7}">
          <p14:sldIdLst/>
        </p14:section>
        <p14:section name="Storage &amp; Data" id="{1F159046-CE0A-45BC-9D5B-6E6C95980F78}">
          <p14:sldIdLst/>
        </p14:section>
        <p14:section name="Databases" id="{AEAFAE72-AD56-48F3-926B-38BAE269038F}">
          <p14:sldIdLst>
            <p14:sldId id="2146847054"/>
            <p14:sldId id="2146847141"/>
          </p14:sldIdLst>
        </p14:section>
        <p14:section name="Integration" id="{ACBD46A3-6F1C-451B-A154-0A056E0DEFF6}">
          <p14:sldIdLst/>
        </p14:section>
        <p14:section name="ML &amp; AI &amp; IOT" id="{F4E1EAF1-55E9-4CA4-8ADC-28B69C1D66D2}">
          <p14:sldIdLst>
            <p14:sldId id="2146847058"/>
            <p14:sldId id="2146847146"/>
            <p14:sldId id="2146847147"/>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94"/>
  </p:normalViewPr>
  <p:slideViewPr>
    <p:cSldViewPr snapToGrid="0">
      <p:cViewPr varScale="1">
        <p:scale>
          <a:sx n="138" d="100"/>
          <a:sy n="138" d="100"/>
        </p:scale>
        <p:origin x="2688" y="12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5/30/2026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5/30/2026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azure.microsoft.com/ru-ru/updates?id=564478"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azure.microsoft.com/ru-ru/updates?id=564689" TargetMode="External"/><Relationship Id="rId2" Type="http://schemas.openxmlformats.org/officeDocument/2006/relationships/hyperlink" Target="https://azure.microsoft.com/ru-ru/updates?id=564714" TargetMode="Externa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azure.microsoft.com/ru-ru/updates?id=564644"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hyperlink" Target="https://azure.microsoft.com/ru-ru/updates?id=563016"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techcommunity.microsoft.com/blog/adformysql/general-availability-of-the-mysql-flexible-server-quota-management-self-service-/4523373" TargetMode="External"/><Relationship Id="rId2" Type="http://schemas.openxmlformats.org/officeDocument/2006/relationships/hyperlink" Target="https://techcommunity.microsoft.com/blog/sqlserver/announcing-the-release-of-microsoft-ole-db-driver-19-4-2-for-sql-server/4522989"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techcommunity.microsoft.com/blog/microsoft365copilotblog/available-today-anthropic-claude-opus-4-8-in-microsoft-365-copilot/4523405" TargetMode="External"/><Relationship Id="rId2" Type="http://schemas.openxmlformats.org/officeDocument/2006/relationships/hyperlink" Target="https://techcommunity.microsoft.com/blog/azure-ai-foundry-blog/claude-opus-4-8-is-now-available-in-microsoft-foundry/4523367"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hyperlink" Target="https://azure.microsoft.com/ru-ru/updates?id=ai-services-metrics-advisor-will-be-retired-on-1-october-2026"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#208</a:t>
            </a:r>
          </a:p>
        </p:txBody>
      </p:sp>
      <p:sp>
        <p:nvSpPr>
          <p:cNvPr id="4" name="Text Placeholder 3"/>
          <p:cNvSpPr>
            <a:spLocks noGrp="1"/>
          </p:cNvSpPr>
          <p:nvPr>
            <p:ph type="body" sz="quarter" idx="11"/>
          </p:nvPr>
        </p:nvSpPr>
        <p:spPr/>
        <p:txBody>
          <a:bodyPr/>
          <a:lstStyle/>
          <a:p>
            <a:r>
              <a:rPr lang="en-US" spc="300" dirty="0"/>
              <a:t>May 2,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 </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1"/>
            <a:ext cx="3955312" cy="2156216"/>
          </a:xfrm>
        </p:spPr>
        <p:txBody>
          <a:bodyPr/>
          <a:lstStyle/>
          <a:p>
            <a:pPr algn="just"/>
            <a:r>
              <a:rPr lang="en-US" dirty="0">
                <a:hlinkClick r:id="rId2"/>
              </a:rPr>
              <a:t>Public Preview: Azure Virtual Network Manager integration with Virtual WAN</a:t>
            </a:r>
            <a:endParaRPr lang="en-US" dirty="0"/>
          </a:p>
          <a:p>
            <a:pPr algn="just"/>
            <a:r>
              <a:rPr lang="en-US" dirty="0"/>
              <a:t>Azure Virtual Network Manager integration with Virtual WAN is now in public preview, enabling to use an Azure Virtual WAN hub as the hub in Azure Virtual Network Manager hub-and-spoke connectivity configurations, bringing together Azure Virtual Network Manager 's at-scale network management with Virtual WAN's managed routing, security, and hybrid connectivity.</a:t>
            </a:r>
          </a:p>
          <a:p>
            <a:pPr algn="just"/>
            <a:r>
              <a:rPr lang="en-US" dirty="0"/>
              <a:t>With this capability, it is possible to automatically connect hundreds of spoke virtual networks to a Virtual WAN hub using Azure Virtual Network Manager network groups and connectivity configurations, eliminating the need to manually create and manage individual Virtual WAN virtual network connections. </a:t>
            </a:r>
          </a:p>
        </p:txBody>
      </p:sp>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EEEE44-A3A9-5916-28C3-73C176E34A58}"/>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8381F3B-4FD0-B81E-E9ED-5F1037B0948F}"/>
              </a:ext>
            </a:extLst>
          </p:cNvPr>
          <p:cNvSpPr>
            <a:spLocks noGrp="1"/>
          </p:cNvSpPr>
          <p:nvPr>
            <p:ph type="body" sz="quarter" idx="10"/>
          </p:nvPr>
        </p:nvSpPr>
        <p:spPr/>
        <p:txBody>
          <a:bodyPr/>
          <a:lstStyle/>
          <a:p>
            <a:pPr algn="just"/>
            <a:r>
              <a:rPr lang="en-US" sz="1000" dirty="0">
                <a:hlinkClick r:id="rId2"/>
              </a:rPr>
              <a:t>Generally Available: Application Gateway for Containers – Service Mesh integration with Istio</a:t>
            </a:r>
            <a:endParaRPr lang="en-US" sz="1000" dirty="0"/>
          </a:p>
          <a:p>
            <a:pPr algn="just"/>
            <a:r>
              <a:rPr lang="en-US" sz="1000" dirty="0"/>
              <a:t>Application Gateway for Containers service mesh integration with Istio is now generally available. This capability simplifies secure north-south traffic into workloads running in an Istio service mesh by automating mutual TLS (</a:t>
            </a:r>
            <a:r>
              <a:rPr lang="en-US" sz="1000" dirty="0" err="1"/>
              <a:t>mTLS</a:t>
            </a:r>
            <a:r>
              <a:rPr lang="en-US" sz="1000" dirty="0"/>
              <a:t>) connectivity between Application Gateway for Containers and mesh-enabled services.  </a:t>
            </a:r>
          </a:p>
          <a:p>
            <a:pPr algn="just"/>
            <a:r>
              <a:rPr lang="en-US" sz="1000" dirty="0"/>
              <a:t>With general availability, it is now possible to use this integration with both upstream open-source Istio and the Istio-based service mesh add-on for Azure Kubernetes Service (AKS). This gives teams flexibility to adopt a managed AKS experience while using Application Gateway for Containers as their ingress path for services inside and outside the mesh.  </a:t>
            </a:r>
          </a:p>
          <a:p>
            <a:pPr marL="171450" indent="-171450" algn="just">
              <a:buFont typeface="Arial" panose="020B0604020202020204" pitchFamily="34" charset="0"/>
              <a:buChar char="•"/>
            </a:pPr>
            <a:r>
              <a:rPr lang="en-US" sz="1000" dirty="0"/>
              <a:t>Single ingress solution: Route traffic to services both inside and outside the mesh through one gateway.  </a:t>
            </a:r>
          </a:p>
          <a:p>
            <a:pPr marL="171450" indent="-171450" algn="just">
              <a:buFont typeface="Arial" panose="020B0604020202020204" pitchFamily="34" charset="0"/>
              <a:buChar char="•"/>
            </a:pPr>
            <a:r>
              <a:rPr lang="en-US" sz="1000" dirty="0"/>
              <a:t>Reduced operational overhead: Simplify ingress configuration and avoid repetitive </a:t>
            </a:r>
            <a:r>
              <a:rPr lang="en-US" sz="1000" dirty="0" err="1"/>
              <a:t>mTLS</a:t>
            </a:r>
            <a:r>
              <a:rPr lang="en-US" sz="1000" dirty="0"/>
              <a:t> definitions.  </a:t>
            </a:r>
          </a:p>
          <a:p>
            <a:pPr marL="171450" indent="-171450" algn="just">
              <a:buFont typeface="Arial" panose="020B0604020202020204" pitchFamily="34" charset="0"/>
              <a:buChar char="•"/>
            </a:pPr>
            <a:r>
              <a:rPr lang="en-US" sz="1000" dirty="0"/>
              <a:t>Managed certificate lifecycle: Automate certificate trust and rotation for secure communication with mesh workloads.  </a:t>
            </a:r>
          </a:p>
          <a:p>
            <a:pPr marL="171450" indent="-171450" algn="just">
              <a:buFont typeface="Arial" panose="020B0604020202020204" pitchFamily="34" charset="0"/>
              <a:buChar char="•"/>
            </a:pPr>
            <a:r>
              <a:rPr lang="en-US" sz="1000" dirty="0"/>
              <a:t>Flexible deployment options: Support both upstream Istio and the AKS Istio-based service mesh add-on.</a:t>
            </a:r>
          </a:p>
        </p:txBody>
      </p:sp>
      <p:sp>
        <p:nvSpPr>
          <p:cNvPr id="11" name="Title 10">
            <a:extLst>
              <a:ext uri="{FF2B5EF4-FFF2-40B4-BE49-F238E27FC236}">
                <a16:creationId xmlns:a16="http://schemas.microsoft.com/office/drawing/2014/main" id="{C735E067-643C-4669-293E-B1878549EE12}"/>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FDBC16BD-C9C7-ACBB-576D-EBDB3A535BE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6D884AE-3074-77B9-2821-DC774A2B2C02}"/>
              </a:ext>
            </a:extLst>
          </p:cNvPr>
          <p:cNvSpPr>
            <a:spLocks noGrp="1"/>
          </p:cNvSpPr>
          <p:nvPr>
            <p:ph type="body" sz="quarter" idx="16"/>
          </p:nvPr>
        </p:nvSpPr>
        <p:spPr>
          <a:xfrm>
            <a:off x="342900" y="855080"/>
            <a:ext cx="3955312" cy="2400375"/>
          </a:xfrm>
        </p:spPr>
        <p:txBody>
          <a:bodyPr/>
          <a:lstStyle/>
          <a:p>
            <a:pPr algn="just"/>
            <a:r>
              <a:rPr lang="en-US" dirty="0">
                <a:hlinkClick r:id="rId3"/>
              </a:rPr>
              <a:t>Generally Available: Virtual network flow logs connector with Microsoft Sentinel</a:t>
            </a:r>
            <a:endParaRPr lang="en-US" dirty="0"/>
          </a:p>
          <a:p>
            <a:pPr algn="just"/>
            <a:r>
              <a:rPr lang="en-US" dirty="0"/>
              <a:t>Azure virtual network flow logs connector with Microsoft Sentinel is now generally available, enabling to seamlessly export and analyze network traffic data within security operations workflows. </a:t>
            </a:r>
          </a:p>
          <a:p>
            <a:pPr algn="just"/>
            <a:r>
              <a:rPr lang="en-US" dirty="0"/>
              <a:t>With this integration, it is possible to bring rich, network-level visibility from virtual network flow logs directly into Microsoft Sentinel, empowering security teams to detect threats, investigate incidents, and correlate network activity with broader security signals across your environment. </a:t>
            </a:r>
          </a:p>
          <a:p>
            <a:pPr algn="just"/>
            <a:r>
              <a:rPr lang="en-US" dirty="0"/>
              <a:t>By combining detailed traffic insights with advanced analytics and threat detection capabilities from Microsoft Sentinel, it is possible to strengthen security posture, accelerate incident response, and gain a unified view of network and security data.</a:t>
            </a:r>
          </a:p>
        </p:txBody>
      </p:sp>
    </p:spTree>
    <p:extLst>
      <p:ext uri="{BB962C8B-B14F-4D97-AF65-F5344CB8AC3E}">
        <p14:creationId xmlns:p14="http://schemas.microsoft.com/office/powerpoint/2010/main" val="2890623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Azure Site Recovery Support for Performance Plus Managed Disks</a:t>
            </a:r>
            <a:endParaRPr lang="en-US" dirty="0"/>
          </a:p>
          <a:p>
            <a:pPr algn="just"/>
            <a:r>
              <a:rPr lang="en-US" dirty="0"/>
              <a:t>Azure Site Recovery (ASR) now supports replication of virtual machines using Performance Plus enabled managed disks. With this update, virtual machines using Premium SSD, Standard SSD or Standard HDD managed disks with Performance Plus capability for higher IOPS and throughput for their workloads can be protected with ASR for disaster recovery in the Azure-to-Azure scenario. This support further ensures performance consistency between primary and secondary regions during replication, test failover and full failover for such disks.</a:t>
            </a:r>
          </a:p>
        </p:txBody>
      </p:sp>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p:txBody>
          <a:bodyPr/>
          <a:lstStyle/>
          <a:p>
            <a:pPr algn="just"/>
            <a:r>
              <a:rPr lang="en-US" dirty="0">
                <a:hlinkClick r:id="rId2"/>
              </a:rPr>
              <a:t>Generally Available: Multiparty private offers in Microsoft Marketplace expand to 30 countries in Europe</a:t>
            </a:r>
            <a:endParaRPr lang="en-US" dirty="0"/>
          </a:p>
          <a:p>
            <a:pPr algn="just"/>
            <a:r>
              <a:rPr lang="en-US" dirty="0"/>
              <a:t>Multiparty private offers give Microsoft partners a way to procure third-party cloud and AI solutions for customers through Marketplace. Software companies can expand into new markets by working with partners that bring established customer relationships, while customers rely on their trusted partners to manage their cloud and AI initiatives. </a:t>
            </a:r>
          </a:p>
        </p:txBody>
      </p:sp>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pPr algn="just"/>
            <a:r>
              <a:rPr lang="en-US" sz="1000" dirty="0">
                <a:hlinkClick r:id="rId2"/>
              </a:rPr>
              <a:t>Announcing the release of Microsoft OLE DB Driver 19.4.2 for SQL Server</a:t>
            </a:r>
            <a:endParaRPr lang="en-US" sz="1000" dirty="0"/>
          </a:p>
          <a:p>
            <a:pPr algn="just"/>
            <a:r>
              <a:rPr lang="en-US" sz="1000" dirty="0"/>
              <a:t>Microsoft OLE DB Driver </a:t>
            </a:r>
            <a:r>
              <a:rPr lang="en-US" sz="1000" b="1" dirty="0"/>
              <a:t>19.4.2 for SQL Server</a:t>
            </a:r>
            <a:r>
              <a:rPr lang="en-US" sz="1000" dirty="0"/>
              <a:t> is now available, delivering updates that improve </a:t>
            </a:r>
            <a:r>
              <a:rPr lang="en-US" sz="1000" b="1" dirty="0"/>
              <a:t>connectivity, stability, and compatibility</a:t>
            </a:r>
            <a:r>
              <a:rPr lang="en-US" sz="1000" dirty="0"/>
              <a:t> for applications connecting to SQL Server. The release includes bug fixes and enhancements that help maintain reliable communication between applications and SQL Server environments. OLE DB Driver 19.x continues to support </a:t>
            </a:r>
            <a:r>
              <a:rPr lang="en-US" sz="1000" b="1" dirty="0"/>
              <a:t>modern security standards, encryption capabilities, and current SQL Server features</a:t>
            </a:r>
            <a:r>
              <a:rPr lang="en-US" sz="1000" dirty="0"/>
              <a:t>. Organizations are encouraged to upgrade to benefit from the latest fixes and improvements. This release helps ensure continued supportability and secure access to SQL Server workloads.</a:t>
            </a:r>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p:txBody>
          <a:bodyPr/>
          <a:lstStyle/>
          <a:p>
            <a:pPr algn="just"/>
            <a:r>
              <a:rPr lang="en-US" dirty="0">
                <a:hlinkClick r:id="rId3"/>
              </a:rPr>
              <a:t>General Availability of the MySQL Flexible Server Quota Management Self-Service Experience</a:t>
            </a:r>
            <a:endParaRPr lang="en-US" dirty="0"/>
          </a:p>
          <a:p>
            <a:pPr algn="just"/>
            <a:r>
              <a:rPr lang="en-US" dirty="0"/>
              <a:t>Azure Database for MySQL Flexible Server now provides </a:t>
            </a:r>
            <a:r>
              <a:rPr lang="en-US" b="1" dirty="0"/>
              <a:t>self-service quota management</a:t>
            </a:r>
            <a:r>
              <a:rPr lang="en-US" dirty="0"/>
              <a:t>, allowing customers to request and manage service quotas directly. This reduces dependency on support requests and accelerates resource provisioning. Administrators gain better visibility into </a:t>
            </a:r>
            <a:r>
              <a:rPr lang="en-US" b="1" dirty="0"/>
              <a:t>current quota usage and limits</a:t>
            </a:r>
            <a:r>
              <a:rPr lang="en-US" dirty="0"/>
              <a:t>, helping with capacity planning and scaling. The feature simplifies operations and improves agility when deploying or expanding MySQL environments. It enables faster onboarding of new workloads while supporting more efficient resource governance.</a:t>
            </a:r>
          </a:p>
        </p:txBody>
      </p:sp>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28B91B-AE7C-2437-0508-F4249B752765}"/>
              </a:ext>
            </a:extLst>
          </p:cNvPr>
          <p:cNvSpPr>
            <a:spLocks noGrp="1"/>
          </p:cNvSpPr>
          <p:nvPr>
            <p:ph type="body" sz="quarter" idx="10"/>
          </p:nvPr>
        </p:nvSpPr>
        <p:spPr/>
        <p:txBody>
          <a:bodyPr/>
          <a:lstStyle/>
          <a:p>
            <a:pPr algn="just"/>
            <a:r>
              <a:rPr lang="en-US" sz="1000" dirty="0">
                <a:hlinkClick r:id="rId2"/>
              </a:rPr>
              <a:t>Claude Opus 4.8 is now available in Microsoft Foundry</a:t>
            </a:r>
            <a:endParaRPr lang="en-US" sz="1000" dirty="0"/>
          </a:p>
          <a:p>
            <a:pPr algn="just"/>
            <a:r>
              <a:rPr lang="en-US" sz="1000" b="1" dirty="0"/>
              <a:t>Claude Opus 4.8</a:t>
            </a:r>
            <a:r>
              <a:rPr lang="en-US" sz="1000" dirty="0"/>
              <a:t> is now available in </a:t>
            </a:r>
            <a:r>
              <a:rPr lang="en-US" sz="1000" b="1" dirty="0"/>
              <a:t>Microsoft Foundry</a:t>
            </a:r>
            <a:r>
              <a:rPr lang="en-US" sz="1000" dirty="0"/>
              <a:t>, providing access to </a:t>
            </a:r>
            <a:r>
              <a:rPr lang="en-US" sz="1000" dirty="0" err="1"/>
              <a:t>Anthropic’s</a:t>
            </a:r>
            <a:r>
              <a:rPr lang="en-US" sz="1000" dirty="0"/>
              <a:t> latest flagship model for enterprise AI workloads. The model delivers enhanced performance in </a:t>
            </a:r>
            <a:r>
              <a:rPr lang="en-US" sz="1000" b="1" dirty="0"/>
              <a:t>reasoning, coding, agentic workflows, and complex multi-step tasks</a:t>
            </a:r>
            <a:r>
              <a:rPr lang="en-US" sz="1000" dirty="0"/>
              <a:t>, making it well suited for advanced business applications. Organizations can access Claude Opus 4.8 through Foundry’s </a:t>
            </a:r>
            <a:r>
              <a:rPr lang="en-US" sz="1000" b="1" dirty="0"/>
              <a:t>standard APIs and model catalog</a:t>
            </a:r>
            <a:r>
              <a:rPr lang="en-US" sz="1000" dirty="0"/>
              <a:t>, enabling seamless integration into existing AI solutions. Running within Microsoft Foundry ensures enterprise-grade </a:t>
            </a:r>
            <a:r>
              <a:rPr lang="en-US" sz="1000" b="1" dirty="0"/>
              <a:t>security, governance, monitoring, and compliance controls</a:t>
            </a:r>
            <a:r>
              <a:rPr lang="en-US" sz="1000" dirty="0"/>
              <a:t>. This release gives customers access to cutting-edge AI capabilities while maintaining the operational controls required for production deployments.</a:t>
            </a:r>
          </a:p>
        </p:txBody>
      </p:sp>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pPr algn="just"/>
            <a:r>
              <a:rPr lang="en-US" dirty="0">
                <a:hlinkClick r:id="rId3"/>
              </a:rPr>
              <a:t>Available today: Anthropic Claude Opus 4.8 in Microsoft 365 Copilot</a:t>
            </a:r>
            <a:endParaRPr lang="en-US" dirty="0"/>
          </a:p>
          <a:p>
            <a:pPr algn="just"/>
            <a:r>
              <a:rPr lang="en-US" b="1" dirty="0"/>
              <a:t>Anthropic Claude Opus 4.8</a:t>
            </a:r>
            <a:r>
              <a:rPr lang="en-US" dirty="0"/>
              <a:t> is now available in </a:t>
            </a:r>
            <a:r>
              <a:rPr lang="en-US" b="1" dirty="0"/>
              <a:t>Microsoft 365 Copilot</a:t>
            </a:r>
            <a:r>
              <a:rPr lang="en-US" dirty="0"/>
              <a:t>, bringing enhanced AI capabilities directly into Microsoft productivity applications. The model delivers improvements in </a:t>
            </a:r>
            <a:r>
              <a:rPr lang="en-US" b="1" dirty="0"/>
              <a:t>reasoning, complex problem solving, coding assistance, and multi-step task execution</a:t>
            </a:r>
            <a:r>
              <a:rPr lang="en-US" dirty="0"/>
              <a:t>, helping users handle more sophisticated workloads. Integration with Microsoft 365 Copilot allows organizations to leverage these capabilities within familiar tools such as documents, presentations, and collaboration workflows. The model operates within Microsoft's existing </a:t>
            </a:r>
            <a:r>
              <a:rPr lang="en-US" b="1" dirty="0"/>
              <a:t>enterprise security, compliance, and governance framework</a:t>
            </a:r>
            <a:r>
              <a:rPr lang="en-US" dirty="0"/>
              <a:t>, enabling controlled adoption of advanced AI. This release expands the range of frontier AI models available to Microsoft 365 customers while improving productivity and decision support for knowledge workers.</a:t>
            </a:r>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1E86-1EBC-4F6B-6E64-6EB5FD91F4A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4285B5-6219-941D-B080-ACB23944E4D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0107EA6-8DB4-F344-F529-449034C075F0}"/>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DA4EB956-5F49-48E0-B1D6-AE1A636CECB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383DE5A4-66B0-B9DC-0E46-93B58BC9C3FE}"/>
              </a:ext>
            </a:extLst>
          </p:cNvPr>
          <p:cNvSpPr>
            <a:spLocks noGrp="1"/>
          </p:cNvSpPr>
          <p:nvPr>
            <p:ph type="body" sz="quarter" idx="16"/>
          </p:nvPr>
        </p:nvSpPr>
        <p:spPr/>
        <p:txBody>
          <a:bodyPr/>
          <a:lstStyle/>
          <a:p>
            <a:r>
              <a:rPr lang="en-US" dirty="0">
                <a:hlinkClick r:id="rId2"/>
              </a:rPr>
              <a:t>Retirement: AI Services Metrics Advisor is retired as of May 18, 2026</a:t>
            </a:r>
            <a:endParaRPr lang="en-US" dirty="0"/>
          </a:p>
          <a:p>
            <a:r>
              <a:rPr lang="en-US" dirty="0"/>
              <a:t>Azure AI Metrics Advisor has been retired as of May 18, 2026.</a:t>
            </a:r>
          </a:p>
        </p:txBody>
      </p:sp>
    </p:spTree>
    <p:extLst>
      <p:ext uri="{BB962C8B-B14F-4D97-AF65-F5344CB8AC3E}">
        <p14:creationId xmlns:p14="http://schemas.microsoft.com/office/powerpoint/2010/main" val="38499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2.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466</TotalTime>
  <Words>1103</Words>
  <Application>Microsoft Office PowerPoint</Application>
  <PresentationFormat>On-screen Show (16:9)</PresentationFormat>
  <Paragraphs>46</Paragraphs>
  <Slides>15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Human Sans</vt:lpstr>
      <vt:lpstr>Human Sans Regular</vt:lpstr>
      <vt:lpstr>Continuum Theme</vt:lpstr>
      <vt:lpstr>Azure Times #208</vt:lpstr>
      <vt:lpstr>PowerPoint Presentation</vt:lpstr>
      <vt:lpstr>Networking Updates</vt:lpstr>
      <vt:lpstr>Networking Updates</vt:lpstr>
      <vt:lpstr>PowerPoint Presentation</vt:lpstr>
      <vt:lpstr>Management &amp; Governance Updates</vt:lpstr>
      <vt:lpstr>Management &amp; Governance Updates</vt:lpstr>
      <vt:lpstr>PowerPoint Presentation</vt:lpstr>
      <vt:lpstr>Databases Updates</vt:lpstr>
      <vt:lpstr>PowerPoint Presentation</vt:lpstr>
      <vt:lpstr>ML &amp; AI &amp; IOT Updates</vt:lpstr>
      <vt:lpstr>ML &amp; AI &amp; IOT Updates</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81</cp:revision>
  <dcterms:created xsi:type="dcterms:W3CDTF">2018-01-26T19:23:30Z</dcterms:created>
  <dcterms:modified xsi:type="dcterms:W3CDTF">2026-05-30T05:24:28Z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