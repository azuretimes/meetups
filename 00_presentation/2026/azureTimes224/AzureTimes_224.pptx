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6"/>
  </p:notesMasterIdLst>
  <p:handoutMasterIdLst>
    <p:handoutMasterId r:id="rId27"/>
  </p:handoutMasterIdLst>
  <p:sldIdLst>
    <p:sldId id="2142532340" r:id="rId5"/>
    <p:sldId id="2146847045" r:id="rId6"/>
    <p:sldId id="10657" r:id="rId7"/>
    <p:sldId id="2146847046" r:id="rId8"/>
    <p:sldId id="2146847089" r:id="rId9"/>
    <p:sldId id="2146847048" r:id="rId10"/>
    <p:sldId id="2146847049" r:id="rId11"/>
    <p:sldId id="2146847050" r:id="rId12"/>
    <p:sldId id="2146847096" r:id="rId13"/>
    <p:sldId id="2146847134" r:id="rId14"/>
    <p:sldId id="2146847136" r:id="rId15"/>
    <p:sldId id="2146847054" r:id="rId16"/>
    <p:sldId id="2146847103" r:id="rId17"/>
    <p:sldId id="2146847142" r:id="rId18"/>
    <p:sldId id="2146847140" r:id="rId19"/>
    <p:sldId id="2146847058" r:id="rId20"/>
    <p:sldId id="2146847111" r:id="rId21"/>
    <p:sldId id="2146847147" r:id="rId22"/>
    <p:sldId id="2146847085" r:id="rId23"/>
    <p:sldId id="2146847084" r:id="rId24"/>
    <p:sldId id="2146847064" r:id="rId2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Lst>
        </p14:section>
        <p14:section name="Compute" id="{05AA80BB-8802-49AB-8336-A884227CE2F7}">
          <p14:sldIdLst>
            <p14:sldId id="2146847050"/>
            <p14:sldId id="2146847096"/>
            <p14:sldId id="2146847134"/>
            <p14:sldId id="2146847136"/>
          </p14:sldIdLst>
        </p14:section>
        <p14:section name="Storage &amp; Data" id="{1F159046-CE0A-45BC-9D5B-6E6C95980F78}">
          <p14:sldIdLst/>
        </p14:section>
        <p14:section name="Databases" id="{AEAFAE72-AD56-48F3-926B-38BAE269038F}">
          <p14:sldIdLst>
            <p14:sldId id="2146847054"/>
            <p14:sldId id="2146847103"/>
            <p14:sldId id="2146847142"/>
            <p14:sldId id="2146847140"/>
          </p14:sldIdLst>
        </p14:section>
        <p14:section name="Integration" id="{ACBD46A3-6F1C-451B-A154-0A056E0DEFF6}">
          <p14:sldIdLst/>
        </p14:section>
        <p14:section name="ML &amp; AI &amp; IOT" id="{F4E1EAF1-55E9-4CA4-8ADC-28B69C1D66D2}">
          <p14:sldIdLst>
            <p14:sldId id="2146847058"/>
            <p14:sldId id="2146847111"/>
            <p14:sldId id="2146847147"/>
          </p14:sldIdLst>
        </p14:section>
        <p14:section name="DevOps &amp; IaC &amp; Automation" id="{A1B23FE8-BD24-477B-81AD-FE484F08F19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9/19/2026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7112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70509"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techcommunity.microsoft.com/blog/azuregovernanceandmanagementblog/public-preview-annoucement-azure-policy-custom-policy-versioning/455646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71360" TargetMode="External"/><Relationship Id="rId2" Type="http://schemas.openxmlformats.org/officeDocument/2006/relationships/hyperlink" Target="https://azure.microsoft.com/ru-ru/updates?id=571530"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techcommunity.microsoft.com/blog/appsonazureblog/azure-red-hat-openshift-with-hosted-control-planes-now-available-in-public-previ/4555997"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azure.microsoft.com/ru-ru/updates?id=571342"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9664" TargetMode="External"/><Relationship Id="rId2" Type="http://schemas.openxmlformats.org/officeDocument/2006/relationships/hyperlink" Target="https://azure.microsoft.com/ru-ru/updates?id=571056"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71047" TargetMode="External"/><Relationship Id="rId2" Type="http://schemas.openxmlformats.org/officeDocument/2006/relationships/hyperlink" Target="https://azure.microsoft.com/ru-ru/updates?id=571042"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68414"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71821" TargetMode="External"/><Relationship Id="rId2" Type="http://schemas.openxmlformats.org/officeDocument/2006/relationships/hyperlink" Target="https://azure.microsoft.com/ru-ru/updates?id=563536"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71826" TargetMode="External"/><Relationship Id="rId2" Type="http://schemas.openxmlformats.org/officeDocument/2006/relationships/hyperlink" Target="https://azure.microsoft.com/ru-ru/updates?id=571816"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a:t>
            </a:r>
          </a:p>
        </p:txBody>
      </p:sp>
      <p:sp>
        <p:nvSpPr>
          <p:cNvPr id="4" name="Text Placeholder 3"/>
          <p:cNvSpPr>
            <a:spLocks noGrp="1"/>
          </p:cNvSpPr>
          <p:nvPr>
            <p:ph type="body" sz="quarter" idx="11"/>
          </p:nvPr>
        </p:nvSpPr>
        <p:spPr/>
        <p:txBody>
          <a:bodyPr/>
          <a:lstStyle/>
          <a:p>
            <a:r>
              <a:rPr lang="en-US" spc="300" dirty="0"/>
              <a:t>June 22,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HTTP/3 over QUIC support in Azure Application Gateway</a:t>
            </a:r>
            <a:endParaRPr lang="en-US" dirty="0"/>
          </a:p>
          <a:p>
            <a:pPr algn="just"/>
            <a:r>
              <a:rPr lang="en-US" b="1" dirty="0"/>
              <a:t>Azure Application Gateway</a:t>
            </a:r>
            <a:r>
              <a:rPr lang="en-US" dirty="0"/>
              <a:t> now supports </a:t>
            </a:r>
            <a:r>
              <a:rPr lang="en-US" b="1" dirty="0"/>
              <a:t>HTTP/3 in public preview</a:t>
            </a:r>
            <a:r>
              <a:rPr lang="en-US" dirty="0"/>
              <a:t>, introducing the </a:t>
            </a:r>
            <a:r>
              <a:rPr lang="en-US" b="1" dirty="0"/>
              <a:t>QUIC transport protocol over UDP</a:t>
            </a:r>
            <a:r>
              <a:rPr lang="en-US" dirty="0"/>
              <a:t> for frontend client connections. HTTP/3 uses </a:t>
            </a:r>
            <a:r>
              <a:rPr lang="en-US" b="1" dirty="0"/>
              <a:t>TLS 1.3</a:t>
            </a:r>
            <a:r>
              <a:rPr lang="en-US" dirty="0"/>
              <a:t> and can establish connections using a </a:t>
            </a:r>
            <a:r>
              <a:rPr lang="en-US" b="1" dirty="0"/>
              <a:t>1-RTT handshake</a:t>
            </a:r>
            <a:r>
              <a:rPr lang="en-US" dirty="0"/>
              <a:t>, reducing connection setup latency compared with TCP-based HTTP versions.</a:t>
            </a:r>
          </a:p>
          <a:p>
            <a:pPr algn="just"/>
            <a:r>
              <a:rPr lang="en-US" dirty="0"/>
              <a:t>QUIC also provides </a:t>
            </a:r>
            <a:r>
              <a:rPr lang="en-US" b="1" dirty="0"/>
              <a:t>independent stream processing</a:t>
            </a:r>
            <a:r>
              <a:rPr lang="en-US" dirty="0"/>
              <a:t>, preventing packet loss on one stream from blocking others, and supports </a:t>
            </a:r>
            <a:r>
              <a:rPr lang="en-US" b="1" dirty="0"/>
              <a:t>connection migration</a:t>
            </a:r>
            <a:r>
              <a:rPr lang="en-US" dirty="0"/>
              <a:t> when clients switch networks, such as between cellular and Wi-Fi. These capabilities can improve responsiveness and reliability for </a:t>
            </a:r>
            <a:r>
              <a:rPr lang="en-US" b="1" dirty="0"/>
              <a:t>internet-facing web applications, APIs, messaging platforms, mobile applications, and latency-sensitive services</a:t>
            </a:r>
            <a:r>
              <a:rPr lang="en-US" dirty="0"/>
              <a:t>. </a:t>
            </a:r>
          </a:p>
          <a:p>
            <a:pPr algn="just"/>
            <a:r>
              <a:rPr lang="en-US" dirty="0"/>
              <a:t>HTTP/3 is configured </a:t>
            </a:r>
            <a:r>
              <a:rPr lang="en-US" b="1" dirty="0"/>
              <a:t>per Basic listener</a:t>
            </a:r>
            <a:r>
              <a:rPr lang="en-US" dirty="0"/>
              <a:t> through the Azure portal or REST API and requires a predefined </a:t>
            </a:r>
            <a:r>
              <a:rPr lang="en-US" b="1" dirty="0"/>
              <a:t>2022 TLS policy supporting TLS 1.3</a:t>
            </a:r>
            <a:r>
              <a:rPr lang="en-US" dirty="0"/>
              <a:t>. The capability currently applies only to </a:t>
            </a:r>
            <a:r>
              <a:rPr lang="en-US" b="1" dirty="0"/>
              <a:t>client-to-Application Gateway traffic</a:t>
            </a:r>
            <a:r>
              <a:rPr lang="en-US" dirty="0"/>
              <a:t>; backend connections continue to use HTTP/1.1. </a:t>
            </a:r>
          </a:p>
          <a:p>
            <a:pPr algn="just"/>
            <a:r>
              <a:rPr lang="en-US" dirty="0"/>
              <a:t>During preview, important limitations include </a:t>
            </a:r>
            <a:r>
              <a:rPr lang="en-US" b="1" dirty="0"/>
              <a:t>no WAF gateway support, multi-site listeners, IPv6 listeners, or mutual authentication</a:t>
            </a:r>
            <a:r>
              <a:rPr lang="en-US" dirty="0"/>
              <a:t>, while Azure CLI, PowerShell, and Terraform configuration support is planned for GA.</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Payments HSM v2</a:t>
            </a:r>
            <a:endParaRPr lang="en-US" dirty="0"/>
          </a:p>
          <a:p>
            <a:pPr algn="just"/>
            <a:r>
              <a:rPr lang="en-US" b="1" dirty="0"/>
              <a:t>Azure Payment HSM v2</a:t>
            </a:r>
            <a:r>
              <a:rPr lang="en-US" dirty="0"/>
              <a:t> provides a </a:t>
            </a:r>
            <a:r>
              <a:rPr lang="en-US" b="1" dirty="0"/>
              <a:t>highly available, single-tenant Hardware Security Module service</a:t>
            </a:r>
            <a:r>
              <a:rPr lang="en-US" dirty="0"/>
              <a:t> designed specifically for payment workloads such as </a:t>
            </a:r>
            <a:r>
              <a:rPr lang="en-US" b="1" dirty="0"/>
              <a:t>payment processing, credential issuance, PIN processing, cryptographic key management, and authentication data protection</a:t>
            </a:r>
            <a:r>
              <a:rPr lang="en-US" dirty="0"/>
              <a:t>. Each customer receives an isolated Payment HSM cluster with </a:t>
            </a:r>
            <a:r>
              <a:rPr lang="en-US" b="1" dirty="0"/>
              <a:t>exclusive administrative control</a:t>
            </a:r>
            <a:r>
              <a:rPr lang="en-US" dirty="0"/>
              <a:t>, while Microsoft manages the underlying infrastructure, availability, and service lifecycle.</a:t>
            </a:r>
          </a:p>
          <a:p>
            <a:pPr algn="just"/>
            <a:r>
              <a:rPr lang="en-US" dirty="0"/>
              <a:t>The service enables organizations to maintain </a:t>
            </a:r>
            <a:r>
              <a:rPr lang="en-US" b="1" dirty="0"/>
              <a:t>key sovereignty</a:t>
            </a:r>
            <a:r>
              <a:rPr lang="en-US" dirty="0"/>
              <a:t> and protect sensitive payment assets while meeting stringent payment-industry security and operational requirements. Azure Payment HSM v2 operates in </a:t>
            </a:r>
            <a:r>
              <a:rPr lang="en-US" b="1" dirty="0"/>
              <a:t>PCI DSS and PCI 3DS-compliant Azure data centers</a:t>
            </a:r>
            <a:r>
              <a:rPr lang="en-US" dirty="0"/>
              <a:t> and uses security infrastructure certified to </a:t>
            </a:r>
            <a:r>
              <a:rPr lang="en-US" b="1" dirty="0"/>
              <a:t>FIPS 140-3 Level 3, PCI DSS, PCI 3DS, and PCI PIN (PTS)</a:t>
            </a:r>
            <a:r>
              <a:rPr lang="en-US" dirty="0"/>
              <a:t>.</a:t>
            </a:r>
          </a:p>
          <a:p>
            <a:pPr algn="just"/>
            <a:r>
              <a:rPr lang="en-US" dirty="0"/>
              <a:t>Because HSM clusters are </a:t>
            </a:r>
            <a:r>
              <a:rPr lang="en-US" b="1" dirty="0"/>
              <a:t>isolated per customer</a:t>
            </a:r>
            <a:r>
              <a:rPr lang="en-US" dirty="0"/>
              <a:t>, organizations can incorporate the service as a validated component within their broader PCI architecture. This can simplify </a:t>
            </a:r>
            <a:r>
              <a:rPr lang="en-US" b="1" dirty="0"/>
              <a:t>compliance, auditing, and infrastructure management</a:t>
            </a:r>
            <a:r>
              <a:rPr lang="en-US" dirty="0"/>
              <a:t> while retaining customer control over critical payment cryptographic operations.</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t>
            </a:r>
            <a:r>
              <a:rPr lang="en-US" dirty="0" err="1">
                <a:hlinkClick r:id="rId2"/>
              </a:rPr>
              <a:t>Annoucement</a:t>
            </a:r>
            <a:r>
              <a:rPr lang="en-US" dirty="0">
                <a:hlinkClick r:id="rId2"/>
              </a:rPr>
              <a:t>: Azure Policy Custom Policy Versioning!</a:t>
            </a:r>
            <a:endParaRPr lang="en-US" dirty="0"/>
          </a:p>
          <a:p>
            <a:pPr algn="just"/>
            <a:r>
              <a:rPr lang="en-US" b="1" dirty="0"/>
              <a:t>Azure Policy Custom Policy Versioning</a:t>
            </a:r>
            <a:r>
              <a:rPr lang="en-US" dirty="0"/>
              <a:t> is now available in </a:t>
            </a:r>
            <a:r>
              <a:rPr lang="en-US" b="1" dirty="0"/>
              <a:t>public preview</a:t>
            </a:r>
            <a:r>
              <a:rPr lang="en-US" dirty="0"/>
              <a:t>, bringing native version management to organization-created Azure Policy definitions. Customers can assign explicit versions to custom policies and manage how policy changes are introduced across their Azure environments. </a:t>
            </a:r>
          </a:p>
          <a:p>
            <a:pPr algn="just"/>
            <a:r>
              <a:rPr lang="en-US" dirty="0"/>
              <a:t>The capability allows teams to maintain </a:t>
            </a:r>
            <a:r>
              <a:rPr lang="en-US" b="1" dirty="0"/>
              <a:t>multiple versions of the same custom policy definition</a:t>
            </a:r>
            <a:r>
              <a:rPr lang="en-US" dirty="0"/>
              <a:t>, making it easier to introduce policy updates without immediately affecting every existing assignment. Policy assignments can target a specific version or use version-selection behavior, providing greater control over when environments adopt policy changes. </a:t>
            </a:r>
          </a:p>
          <a:p>
            <a:pPr algn="just"/>
            <a:r>
              <a:rPr lang="en-US" dirty="0"/>
              <a:t>This is particularly valuable for enterprises managing Azure governance through </a:t>
            </a:r>
            <a:r>
              <a:rPr lang="en-US" b="1" dirty="0"/>
              <a:t>Infrastructure as Code and centralized policy frameworks</a:t>
            </a:r>
            <a:r>
              <a:rPr lang="en-US" dirty="0"/>
              <a:t>, where policy modifications need controlled testing and rollout across development, validation, and production environments. Versioning improves </a:t>
            </a:r>
            <a:r>
              <a:rPr lang="en-US" b="1" dirty="0"/>
              <a:t>change management, auditability, rollback planning, and governance consistency</a:t>
            </a:r>
            <a:r>
              <a:rPr lang="en-US" dirty="0"/>
              <a:t>, reducing the operational risk associated with updating custom policies at scale.</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Mdsv4 and Msv4 Series Virtual Machines for SAP</a:t>
            </a:r>
            <a:endParaRPr lang="en-US" sz="1000" dirty="0"/>
          </a:p>
          <a:p>
            <a:pPr algn="just"/>
            <a:r>
              <a:rPr lang="en-US" sz="1000" dirty="0"/>
              <a:t>The new </a:t>
            </a:r>
            <a:r>
              <a:rPr lang="en-US" sz="1000" b="1" dirty="0"/>
              <a:t>Azure Mdsv4 and Msv4 VM series</a:t>
            </a:r>
            <a:r>
              <a:rPr lang="en-US" sz="1000" dirty="0"/>
              <a:t> are </a:t>
            </a:r>
            <a:r>
              <a:rPr lang="en-US" sz="1000" b="1" dirty="0"/>
              <a:t>memory-optimized virtual machines</a:t>
            </a:r>
            <a:r>
              <a:rPr lang="en-US" sz="1000" dirty="0"/>
              <a:t> powered by </a:t>
            </a:r>
            <a:r>
              <a:rPr lang="en-US" sz="1000" b="1" dirty="0"/>
              <a:t>6th Generation Intel Xeon Scalable processors</a:t>
            </a:r>
            <a:r>
              <a:rPr lang="en-US" sz="1000" dirty="0"/>
              <a:t>. They combine the latest processor generation with </a:t>
            </a:r>
            <a:r>
              <a:rPr lang="en-US" sz="1000" b="1" dirty="0"/>
              <a:t>Azure Boost technologies and enhanced security capabilities</a:t>
            </a:r>
            <a:r>
              <a:rPr lang="en-US" sz="1000" dirty="0"/>
              <a:t> to improve performance and infrastructure efficiency for demanding enterprise workloads.</a:t>
            </a:r>
          </a:p>
          <a:p>
            <a:pPr algn="just"/>
            <a:r>
              <a:rPr lang="en-US" sz="1000" dirty="0"/>
              <a:t>The series is designed for </a:t>
            </a:r>
            <a:r>
              <a:rPr lang="en-US" sz="1000" b="1" dirty="0"/>
              <a:t>memory-intensive and mission-critical applications</a:t>
            </a:r>
            <a:r>
              <a:rPr lang="en-US" sz="1000" dirty="0"/>
              <a:t>, including </a:t>
            </a:r>
            <a:r>
              <a:rPr lang="en-US" sz="1000" b="1" dirty="0"/>
              <a:t>SAP workloads</a:t>
            </a:r>
            <a:r>
              <a:rPr lang="en-US" sz="1000" dirty="0"/>
              <a:t>, large databases, in-memory processing, and other enterprise applications requiring substantial compute and memory resources. Azure Boost helps offload virtualization and infrastructure functions from the host CPU, allowing more processing capacity to be available to customer workloads.</a:t>
            </a:r>
          </a:p>
          <a:p>
            <a:pPr algn="just"/>
            <a:r>
              <a:rPr lang="en-US" sz="1000" dirty="0"/>
              <a:t>The new VM families provide improved </a:t>
            </a:r>
            <a:r>
              <a:rPr lang="en-US" sz="1000" b="1" dirty="0"/>
              <a:t>performance, scalability, efficiency, and reliability</a:t>
            </a:r>
            <a:r>
              <a:rPr lang="en-US" sz="1000" dirty="0"/>
              <a:t>, giving organizations another option for modernizing large-scale enterprise platforms. They are particularly relevant for customers looking to improve the </a:t>
            </a:r>
            <a:r>
              <a:rPr lang="en-US" sz="1000" b="1" dirty="0"/>
              <a:t>performance and cost efficiency of SAP and other memory-intensive workloads</a:t>
            </a:r>
            <a:r>
              <a:rPr lang="en-US" sz="1000" dirty="0"/>
              <a:t> running on Azure.</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Announcing: New Windows App client-side endpoints for Azure Virtual Desktop</a:t>
            </a:r>
            <a:endParaRPr lang="en-US" dirty="0"/>
          </a:p>
          <a:p>
            <a:pPr algn="just"/>
            <a:r>
              <a:rPr lang="en-US" dirty="0"/>
              <a:t>Beginning in </a:t>
            </a:r>
            <a:r>
              <a:rPr lang="en-US" b="1" dirty="0"/>
              <a:t>early October 2026</a:t>
            </a:r>
            <a:r>
              <a:rPr lang="en-US" dirty="0"/>
              <a:t>, </a:t>
            </a:r>
            <a:r>
              <a:rPr lang="en-US" b="1" dirty="0"/>
              <a:t>Windows App</a:t>
            </a:r>
            <a:r>
              <a:rPr lang="en-US" dirty="0"/>
              <a:t> will start using </a:t>
            </a:r>
            <a:r>
              <a:rPr lang="en-US" b="1" dirty="0"/>
              <a:t>three new wildcard FQDNs</a:t>
            </a:r>
            <a:r>
              <a:rPr lang="en-US" dirty="0"/>
              <a:t> for client-side service traffic to </a:t>
            </a:r>
            <a:r>
              <a:rPr lang="en-US" b="1" dirty="0"/>
              <a:t>Azure Virtual Desktop (AVD)</a:t>
            </a:r>
            <a:r>
              <a:rPr lang="en-US" dirty="0"/>
              <a:t>. Organizations applying network restrictions to endpoint devices must allow the new domains </a:t>
            </a:r>
            <a:r>
              <a:rPr lang="en-US" b="1" dirty="0"/>
              <a:t>before activation</a:t>
            </a:r>
            <a:r>
              <a:rPr lang="en-US" dirty="0"/>
              <a:t> to prevent potential </a:t>
            </a:r>
            <a:r>
              <a:rPr lang="en-US" b="1" dirty="0"/>
              <a:t>user sign-in and AVD connection failures</a:t>
            </a:r>
            <a:r>
              <a:rPr lang="en-US" dirty="0"/>
              <a:t>.</a:t>
            </a:r>
          </a:p>
          <a:p>
            <a:pPr algn="just"/>
            <a:r>
              <a:rPr lang="en-US" dirty="0"/>
              <a:t>The new domains are already included in Microsoft's </a:t>
            </a:r>
            <a:r>
              <a:rPr lang="en-US" b="1" dirty="0"/>
              <a:t>cloud-side AVD connectivity requirements</a:t>
            </a:r>
            <a:r>
              <a:rPr lang="en-US" dirty="0"/>
              <a:t>, but this change specifically affects </a:t>
            </a:r>
            <a:r>
              <a:rPr lang="en-US" b="1" dirty="0"/>
              <a:t>Windows App running on user devices</a:t>
            </a:r>
            <a:r>
              <a:rPr lang="en-US" dirty="0"/>
              <a:t>. Therefore, organizations that previously implemented the cloud-side domain changes still need to review their endpoint network configuration.</a:t>
            </a:r>
          </a:p>
          <a:p>
            <a:pPr algn="just"/>
            <a:r>
              <a:rPr lang="en-US" dirty="0"/>
              <a:t>Enterprises should validate </a:t>
            </a:r>
            <a:r>
              <a:rPr lang="en-US" b="1" dirty="0"/>
              <a:t>firewall, proxy, VPN, DNS filtering, and Secure Web Gateway (SWG)</a:t>
            </a:r>
            <a:r>
              <a:rPr lang="en-US" dirty="0"/>
              <a:t> policies applied to Windows App clients and ensure the required wildcard FQDNs are permitted. This is particularly important for environments using </a:t>
            </a:r>
            <a:r>
              <a:rPr lang="en-US" b="1" dirty="0"/>
              <a:t>explicit outbound allowlists or tightly controlled internet access</a:t>
            </a:r>
            <a:r>
              <a:rPr lang="en-US" dirty="0"/>
              <a:t>, where the new endpoints could otherwise be blocked when Microsoft activates the change.</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Azure Red Hat OpenShift with hosted control planes now available in public preview</a:t>
            </a:r>
            <a:endParaRPr lang="en-US" dirty="0"/>
          </a:p>
          <a:p>
            <a:pPr algn="just"/>
            <a:r>
              <a:rPr lang="en-US" b="1" dirty="0"/>
              <a:t>Azure Red Hat OpenShift (ARO) with Hosted Control Planes</a:t>
            </a:r>
            <a:r>
              <a:rPr lang="en-US" dirty="0"/>
              <a:t> is now available in </a:t>
            </a:r>
            <a:r>
              <a:rPr lang="en-US" b="1" dirty="0"/>
              <a:t>public preview</a:t>
            </a:r>
            <a:r>
              <a:rPr lang="en-US" dirty="0"/>
              <a:t>, introducing a new deployment model where the </a:t>
            </a:r>
            <a:r>
              <a:rPr lang="en-US" b="1" dirty="0"/>
              <a:t>OpenShift control plane is hosted and managed separately from customer worker nodes</a:t>
            </a:r>
            <a:r>
              <a:rPr lang="en-US" dirty="0"/>
              <a:t>. This reduces the infrastructure customers need to operate within their own Azure environment while preserving the managed OpenShift experience jointly delivered by Microsoft and Red Hat. </a:t>
            </a:r>
          </a:p>
          <a:p>
            <a:pPr algn="just"/>
            <a:r>
              <a:rPr lang="en-US" dirty="0"/>
              <a:t>The hosted control plane architecture is designed to improve </a:t>
            </a:r>
            <a:r>
              <a:rPr lang="en-US" b="1" dirty="0"/>
              <a:t>cluster provisioning speed, infrastructure efficiency, scalability, and operational simplicity</a:t>
            </a:r>
            <a:r>
              <a:rPr lang="en-US" dirty="0"/>
              <a:t>, particularly for organizations operating multiple OpenShift clusters. By moving control-plane infrastructure out of the customer cluster footprint, organizations can focus more of their Azure resources on </a:t>
            </a:r>
            <a:r>
              <a:rPr lang="en-US" b="1" dirty="0"/>
              <a:t>application workloads rather than Kubernetes platform components</a:t>
            </a:r>
            <a:r>
              <a:rPr lang="en-US" dirty="0"/>
              <a:t>. </a:t>
            </a:r>
          </a:p>
          <a:p>
            <a:pPr algn="just"/>
            <a:r>
              <a:rPr lang="en-US" dirty="0"/>
              <a:t>The model is particularly relevant for enterprises running </a:t>
            </a:r>
            <a:r>
              <a:rPr lang="en-US" b="1" dirty="0"/>
              <a:t>large OpenShift estates, application platform environments, and multi-cluster architectures</a:t>
            </a:r>
            <a:r>
              <a:rPr lang="en-US" dirty="0"/>
              <a:t>, where reducing per-cluster infrastructure and management overhead can provide significant operational benefits. As a public preview capability, organizations can evaluate the architecture for future OpenShift deployments before considering production adoption.</a:t>
            </a:r>
          </a:p>
          <a:p>
            <a:pPr algn="just"/>
            <a:endParaRPr lang="en-US" dirty="0"/>
          </a:p>
        </p:txBody>
      </p:sp>
      <p:pic>
        <p:nvPicPr>
          <p:cNvPr id="2" name="Picture 1">
            <a:extLst>
              <a:ext uri="{FF2B5EF4-FFF2-40B4-BE49-F238E27FC236}">
                <a16:creationId xmlns:a16="http://schemas.microsoft.com/office/drawing/2014/main" id="{A0DD41A7-2C62-D432-3618-74B4CF7EBCDD}"/>
              </a:ext>
            </a:extLst>
          </p:cNvPr>
          <p:cNvPicPr>
            <a:picLocks noChangeAspect="1"/>
          </p:cNvPicPr>
          <p:nvPr/>
        </p:nvPicPr>
        <p:blipFill>
          <a:blip r:embed="rId3"/>
          <a:stretch>
            <a:fillRect/>
          </a:stretch>
        </p:blipFill>
        <p:spPr>
          <a:xfrm>
            <a:off x="4845790" y="855080"/>
            <a:ext cx="3773057" cy="1785220"/>
          </a:xfrm>
          <a:prstGeom prst="rect">
            <a:avLst/>
          </a:prstGeom>
        </p:spPr>
      </p:pic>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Retirement Update: SAP container images removed October 14, 2026</a:t>
            </a:r>
            <a:endParaRPr lang="en-US" dirty="0"/>
          </a:p>
          <a:p>
            <a:pPr algn="just"/>
            <a:r>
              <a:rPr lang="en-US" dirty="0"/>
              <a:t>The </a:t>
            </a:r>
            <a:r>
              <a:rPr lang="en-US" b="1" dirty="0"/>
              <a:t>containerized SAP data connector for Microsoft Sentinel retired on September 14, 2026</a:t>
            </a:r>
            <a:r>
              <a:rPr lang="en-US" dirty="0"/>
              <a:t> and is now </a:t>
            </a:r>
            <a:r>
              <a:rPr lang="en-US" b="1" dirty="0"/>
              <a:t>unsupported and no longer maintained</a:t>
            </a:r>
            <a:r>
              <a:rPr lang="en-US" dirty="0"/>
              <a:t>. Existing agents that meet TLS requirements may continue sending SAP logs through the retired </a:t>
            </a:r>
            <a:r>
              <a:rPr lang="en-US" b="1" dirty="0"/>
              <a:t>HTTP Data Collector API</a:t>
            </a:r>
            <a:r>
              <a:rPr lang="en-US" dirty="0"/>
              <a:t>, but organizations should not treat this as a supported long-term configuration.</a:t>
            </a:r>
          </a:p>
          <a:p>
            <a:pPr algn="just"/>
            <a:r>
              <a:rPr lang="en-US" dirty="0"/>
              <a:t>On </a:t>
            </a:r>
            <a:r>
              <a:rPr lang="en-US" b="1" dirty="0"/>
              <a:t>October 14, 2026</a:t>
            </a:r>
            <a:r>
              <a:rPr lang="en-US" dirty="0"/>
              <a:t>, Microsoft will remove the associated container images, after which organizations will no longer be able to perform </a:t>
            </a:r>
            <a:r>
              <a:rPr lang="en-US" b="1" dirty="0"/>
              <a:t>new installations, image pulls, redeployments, scaling, agent replacement, or disaster recovery</a:t>
            </a:r>
            <a:r>
              <a:rPr lang="en-US" dirty="0"/>
              <a:t> using the containerized connector.</a:t>
            </a:r>
          </a:p>
          <a:p>
            <a:pPr algn="just"/>
            <a:r>
              <a:rPr lang="en-US" dirty="0"/>
              <a:t>Customers currently using the legacy connector should migrate to the supported </a:t>
            </a:r>
            <a:r>
              <a:rPr lang="en-US" b="1" dirty="0"/>
              <a:t>SAP agentless data connector</a:t>
            </a:r>
            <a:r>
              <a:rPr lang="en-US" dirty="0"/>
              <a:t> before the container images are removed. The migration is particularly important for production environments because an existing container failure after October 14 could leave organizations </a:t>
            </a:r>
            <a:r>
              <a:rPr lang="en-US" b="1" dirty="0"/>
              <a:t>unable to restore SAP log ingestion using the retired architecture</a:t>
            </a:r>
            <a:r>
              <a:rPr lang="en-US" dirty="0"/>
              <a:t>.</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SQL updates for mid-September 2026</a:t>
            </a:r>
            <a:endParaRPr lang="en-US" sz="1000" dirty="0"/>
          </a:p>
          <a:p>
            <a:pPr algn="just"/>
            <a:r>
              <a:rPr lang="en-US" sz="1000" b="1" dirty="0"/>
              <a:t>Azure SQL logical servers</a:t>
            </a:r>
            <a:r>
              <a:rPr lang="en-US" sz="1000" dirty="0"/>
              <a:t> now support configurable </a:t>
            </a:r>
            <a:r>
              <a:rPr lang="en-US" sz="1000" b="1" dirty="0"/>
              <a:t>soft delete</a:t>
            </a:r>
            <a:r>
              <a:rPr lang="en-US" sz="1000" dirty="0"/>
              <a:t>, providing a built-in recovery mechanism when a logical server is accidentally deleted. Instead of being permanently removed immediately, a deleted server enters a </a:t>
            </a:r>
            <a:r>
              <a:rPr lang="en-US" sz="1000" b="1" dirty="0"/>
              <a:t>soft-deleted state</a:t>
            </a:r>
            <a:r>
              <a:rPr lang="en-US" sz="1000" dirty="0"/>
              <a:t> for a configurable retention period.</a:t>
            </a:r>
          </a:p>
          <a:p>
            <a:pPr algn="just"/>
            <a:r>
              <a:rPr lang="en-US" sz="1000" dirty="0"/>
              <a:t>During this retention window, administrators can </a:t>
            </a:r>
            <a:r>
              <a:rPr lang="en-US" sz="1000" b="1" dirty="0"/>
              <a:t>self-restore the logical server</a:t>
            </a:r>
            <a:r>
              <a:rPr lang="en-US" sz="1000" dirty="0"/>
              <a:t> without opening a Microsoft support request. This provides a more predictable and consistent recovery process for accidental or unintended server deletions.</a:t>
            </a:r>
          </a:p>
          <a:p>
            <a:pPr algn="just"/>
            <a:r>
              <a:rPr lang="en-US" sz="1000" dirty="0"/>
              <a:t>The capability strengthens </a:t>
            </a:r>
            <a:r>
              <a:rPr lang="en-US" sz="1000" b="1" dirty="0"/>
              <a:t>operational resilience and recovery protection</a:t>
            </a:r>
            <a:r>
              <a:rPr lang="en-US" sz="1000" dirty="0"/>
              <a:t> for Azure SQL environments and reduces dependency on Microsoft support during deletion incidents. It is particularly valuable for organizations with strict </a:t>
            </a:r>
            <a:r>
              <a:rPr lang="en-US" sz="1000" b="1" dirty="0"/>
              <a:t>business continuity, governance, and change-management requirements</a:t>
            </a:r>
            <a:r>
              <a:rPr lang="en-US" sz="1000" dirty="0"/>
              <a:t>, where accidental deletion of a logical server could otherwise result in significant operational impact.</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PostgreSQL skills and MCP plugin for Azure Database for PostgreSQL</a:t>
            </a:r>
            <a:endParaRPr lang="en-US" dirty="0"/>
          </a:p>
          <a:p>
            <a:pPr algn="just"/>
            <a:r>
              <a:rPr lang="en-US" dirty="0"/>
              <a:t>The new </a:t>
            </a:r>
            <a:r>
              <a:rPr lang="en-US" b="1" dirty="0"/>
              <a:t>PostgreSQL Skills and MCP Plugin</a:t>
            </a:r>
            <a:r>
              <a:rPr lang="en-US" dirty="0"/>
              <a:t> turns supported AI coding assistants into </a:t>
            </a:r>
            <a:r>
              <a:rPr lang="en-US" b="1" dirty="0"/>
              <a:t>context-aware PostgreSQL assistants</a:t>
            </a:r>
            <a:r>
              <a:rPr lang="en-US" dirty="0"/>
              <a:t> capable of both providing database guidance and performing operations against a connected database. It combines expert-curated skills for </a:t>
            </a:r>
            <a:r>
              <a:rPr lang="en-US" b="1" dirty="0"/>
              <a:t>PostgreSQL and Azure Database for PostgreSQL</a:t>
            </a:r>
            <a:r>
              <a:rPr lang="en-US" dirty="0"/>
              <a:t> with an </a:t>
            </a:r>
            <a:r>
              <a:rPr lang="en-US" b="1" dirty="0"/>
              <a:t>MCP server</a:t>
            </a:r>
            <a:r>
              <a:rPr lang="en-US" dirty="0"/>
              <a:t> that can inspect live database context, execute queries, apply changes, and assist with operational tasks.</a:t>
            </a:r>
          </a:p>
          <a:p>
            <a:pPr algn="just"/>
            <a:r>
              <a:rPr lang="en-US" dirty="0"/>
              <a:t>Unlike generic AI database guidance, the plugin uses the actual </a:t>
            </a:r>
            <a:r>
              <a:rPr lang="en-US" b="1" dirty="0"/>
              <a:t>database schema, PostgreSQL version, installed extensions, and Azure environment</a:t>
            </a:r>
            <a:r>
              <a:rPr lang="en-US" dirty="0"/>
              <a:t> to provide recommendations tailored to the connected system. It supports scenarios including </a:t>
            </a:r>
            <a:r>
              <a:rPr lang="en-US" b="1" dirty="0"/>
              <a:t>query and index optimization, JSONB, partitioning, security, vector search and RAG, high availability and failover, point-in-time restore, Azure provisioning and scaling, AI functions, and Apache AGE knowledge graphs</a:t>
            </a:r>
            <a:r>
              <a:rPr lang="en-US" dirty="0"/>
              <a:t>.</a:t>
            </a:r>
          </a:p>
          <a:p>
            <a:pPr algn="just"/>
            <a:r>
              <a:rPr lang="en-US" dirty="0"/>
              <a:t>The plugin automatically determines whether to use </a:t>
            </a:r>
            <a:r>
              <a:rPr lang="en-US" b="1" dirty="0"/>
              <a:t>generic PostgreSQL or Azure-specific expertise</a:t>
            </a:r>
            <a:r>
              <a:rPr lang="en-US" dirty="0"/>
              <a:t> based on the question and connection context. It is available through supported AI coding assistants including </a:t>
            </a:r>
            <a:r>
              <a:rPr lang="en-US" b="1" dirty="0"/>
              <a:t>GitHub Copilot CLI, Claude Code, and Codex CLI</a:t>
            </a:r>
            <a:r>
              <a:rPr lang="en-US" dirty="0"/>
              <a:t>, enabling developers and database teams to perform PostgreSQL development and operational workflows directly from their AI-assisted development environment.</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r>
              <a:rPr lang="en-US" sz="1000" dirty="0">
                <a:hlinkClick r:id="rId2"/>
              </a:rPr>
              <a:t>Generally Available: New and improved troubleshooting guides for Azure Database for PostgreSQL</a:t>
            </a:r>
            <a:endParaRPr lang="en-US" sz="1000" dirty="0"/>
          </a:p>
          <a:p>
            <a:r>
              <a:rPr lang="en-US" sz="1000" dirty="0"/>
              <a:t>Microsoft has expanded the </a:t>
            </a:r>
            <a:r>
              <a:rPr lang="en-US" sz="1000" b="1" dirty="0"/>
              <a:t>troubleshooting guidance for Azure Database for PostgreSQL Flexible Server</a:t>
            </a:r>
            <a:r>
              <a:rPr lang="en-US" sz="1000" dirty="0"/>
              <a:t>, providing structured investigation workflows for common database performance problems. The updated documentation covers </a:t>
            </a:r>
            <a:r>
              <a:rPr lang="en-US" sz="1000" b="1" dirty="0"/>
              <a:t>high CPU, memory pressure, IOPS utilization, excessive temporary file usage, and </a:t>
            </a:r>
            <a:r>
              <a:rPr lang="en-US" sz="1000" b="1" dirty="0" err="1"/>
              <a:t>autovacuum</a:t>
            </a:r>
            <a:r>
              <a:rPr lang="en-US" sz="1000" b="1" dirty="0"/>
              <a:t>-related issues</a:t>
            </a:r>
            <a:r>
              <a:rPr lang="en-US" sz="1000" dirty="0"/>
              <a:t>.</a:t>
            </a:r>
          </a:p>
          <a:p>
            <a:r>
              <a:rPr lang="en-US" sz="1000" dirty="0"/>
              <a:t>The guidance explains how to correlate information from </a:t>
            </a:r>
            <a:r>
              <a:rPr lang="en-US" sz="1000" b="1" dirty="0"/>
              <a:t>Azure Monitor metrics, Query Store, active session data, wait events, and PostgreSQL server logs</a:t>
            </a:r>
            <a:r>
              <a:rPr lang="en-US" sz="1000" dirty="0"/>
              <a:t> to identify the underlying cause of performance degradation. It also provides guidance for configuring the required telemetry so administrators can determine which </a:t>
            </a:r>
            <a:r>
              <a:rPr lang="en-US" sz="1000" b="1" dirty="0"/>
              <a:t>queries, sessions, configuration settings, or database activities</a:t>
            </a:r>
            <a:r>
              <a:rPr lang="en-US" sz="1000" dirty="0"/>
              <a:t> are responsible for resource consumption.</a:t>
            </a:r>
          </a:p>
          <a:p>
            <a:r>
              <a:rPr lang="en-US" sz="1000" dirty="0"/>
              <a:t>The updated workflows encourage </a:t>
            </a:r>
            <a:r>
              <a:rPr lang="en-US" sz="1000" b="1" dirty="0"/>
              <a:t>targeted remediation before increasing server capacity</a:t>
            </a:r>
            <a:r>
              <a:rPr lang="en-US" sz="1000" dirty="0"/>
              <a:t>, helping organizations distinguish between configuration or query optimization issues and genuine resource constraints. This can improve troubleshooting efficiency, reduce unnecessary scaling and associated costs, and provide a more systematic approach to PostgreSQL performance management.</a:t>
            </a:r>
          </a:p>
          <a:p>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PG18 support for Azure Database for PostgreSQL elastic clusters</a:t>
            </a:r>
            <a:endParaRPr lang="en-US" dirty="0"/>
          </a:p>
          <a:p>
            <a:pPr algn="just"/>
            <a:r>
              <a:rPr lang="en-US" b="1" dirty="0"/>
              <a:t>Azure Database for PostgreSQL Elastic Clusters</a:t>
            </a:r>
            <a:r>
              <a:rPr lang="en-US" dirty="0"/>
              <a:t> now support </a:t>
            </a:r>
            <a:r>
              <a:rPr lang="en-US" b="1" dirty="0"/>
              <a:t>PostgreSQL 18</a:t>
            </a:r>
            <a:r>
              <a:rPr lang="en-US" dirty="0"/>
              <a:t>, bringing the latest PostgreSQL capabilities to </a:t>
            </a:r>
            <a:r>
              <a:rPr lang="en-US" b="1" dirty="0"/>
              <a:t>distributed, cloud-scale database workloads</a:t>
            </a:r>
            <a:r>
              <a:rPr lang="en-US" dirty="0"/>
              <a:t>. The update enables organizations to use PostgreSQL 18 performance improvements, SQL enhancements, and developer-focused features while retaining the managed scaling capabilities of elastic clusters.</a:t>
            </a:r>
          </a:p>
          <a:p>
            <a:pPr algn="just"/>
            <a:r>
              <a:rPr lang="en-US" dirty="0"/>
              <a:t>Powered by </a:t>
            </a:r>
            <a:r>
              <a:rPr lang="en-US" b="1" dirty="0" err="1"/>
              <a:t>Citus</a:t>
            </a:r>
            <a:r>
              <a:rPr lang="en-US" b="1" dirty="0"/>
              <a:t> 14.0</a:t>
            </a:r>
            <a:r>
              <a:rPr lang="en-US" dirty="0"/>
              <a:t>, elastic clusters distribute PostgreSQL workloads across </a:t>
            </a:r>
            <a:r>
              <a:rPr lang="en-US" b="1" dirty="0"/>
              <a:t>tables, shards, and multiple nodes</a:t>
            </a:r>
            <a:r>
              <a:rPr lang="en-US" dirty="0"/>
              <a:t>, enabling applications to scale beyond the capacity of a single database server. PostgreSQL 18 support allows customers to build new distributed applications or modernize existing PostgreSQL workloads while taking advantage of the latest database engine capabilities.</a:t>
            </a:r>
          </a:p>
          <a:p>
            <a:pPr algn="just"/>
            <a:r>
              <a:rPr lang="en-US" dirty="0"/>
              <a:t>The combination is particularly relevant for </a:t>
            </a:r>
            <a:r>
              <a:rPr lang="en-US" b="1" dirty="0"/>
              <a:t>high-scale SaaS platforms, multi-tenant applications, and data-intensive workloads</a:t>
            </a:r>
            <a:r>
              <a:rPr lang="en-US" dirty="0"/>
              <a:t> that require horizontal database scaling. Azure continues to manage the underlying distributed database infrastructure, reducing the operational complexity associated with deploying and maintaining PostgreSQL clusters at scale.</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2"/>
              </a:rPr>
              <a:t>Generally Available: Logical replication slot sync status metric for Azure PostgreSQL Flexible Server</a:t>
            </a:r>
            <a:endParaRPr lang="en-US" dirty="0"/>
          </a:p>
          <a:p>
            <a:pPr algn="just"/>
            <a:r>
              <a:rPr lang="en-US" b="1" dirty="0"/>
              <a:t>Azure Database for PostgreSQL Flexible Server</a:t>
            </a:r>
            <a:r>
              <a:rPr lang="en-US" dirty="0"/>
              <a:t> introduces the new </a:t>
            </a:r>
            <a:r>
              <a:rPr lang="en-US" b="1" dirty="0" err="1"/>
              <a:t>logical_replication_slot_sync_status</a:t>
            </a:r>
            <a:r>
              <a:rPr lang="en-US" b="1" dirty="0"/>
              <a:t> Azure Monitor metric</a:t>
            </a:r>
            <a:r>
              <a:rPr lang="en-US" dirty="0"/>
              <a:t>, providing visibility into the synchronization state of individual logical replication slots. The metric reports whether each slot is </a:t>
            </a:r>
            <a:r>
              <a:rPr lang="en-US" b="1" dirty="0"/>
              <a:t>synchronized, catching up, or in an unknown state</a:t>
            </a:r>
            <a:r>
              <a:rPr lang="en-US" dirty="0"/>
              <a:t>, making it easier to validate replication health and determine whether slots are ready for use.</a:t>
            </a:r>
          </a:p>
          <a:p>
            <a:pPr algn="just"/>
            <a:r>
              <a:rPr lang="en-US" dirty="0"/>
              <a:t>This capability is particularly valuable for </a:t>
            </a:r>
            <a:r>
              <a:rPr lang="en-US" b="1" dirty="0"/>
              <a:t>logical decoding and change data capture (CDC)</a:t>
            </a:r>
            <a:r>
              <a:rPr lang="en-US" dirty="0"/>
              <a:t> architectures using tools such as </a:t>
            </a:r>
            <a:r>
              <a:rPr lang="en-US" b="1" dirty="0" err="1"/>
              <a:t>Debezium</a:t>
            </a:r>
            <a:r>
              <a:rPr lang="en-US" b="1" dirty="0"/>
              <a:t> and Apache Kafka</a:t>
            </a:r>
            <a:r>
              <a:rPr lang="en-US" dirty="0"/>
              <a:t>. Per-slot monitoring enables administrators to identify replication synchronization issues without relying solely on database-level troubleshooting.</a:t>
            </a:r>
          </a:p>
          <a:p>
            <a:pPr algn="just"/>
            <a:r>
              <a:rPr lang="en-US" dirty="0"/>
              <a:t>Organizations can also configure </a:t>
            </a:r>
            <a:r>
              <a:rPr lang="en-US" b="1" dirty="0"/>
              <a:t>Azure Monitor alerts</a:t>
            </a:r>
            <a:r>
              <a:rPr lang="en-US" dirty="0"/>
              <a:t> against the metric to proactively detect unhealthy or delayed replication slots. This improves operational visibility during </a:t>
            </a:r>
            <a:r>
              <a:rPr lang="en-US" b="1" dirty="0"/>
              <a:t>planned maintenance, database migrations, failover-related activities, and other system events</a:t>
            </a:r>
            <a:r>
              <a:rPr lang="en-US" dirty="0"/>
              <a:t>, helping maintain reliable CDC and data integration pipelines.</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Foundry Routines in Foundry Agent Service</a:t>
            </a:r>
            <a:endParaRPr lang="en-US" sz="1000" dirty="0"/>
          </a:p>
          <a:p>
            <a:pPr algn="just"/>
            <a:r>
              <a:rPr lang="en-US" sz="1000" b="1" dirty="0"/>
              <a:t>Microsoft Foundry Agent Service</a:t>
            </a:r>
            <a:r>
              <a:rPr lang="en-US" sz="1000" dirty="0"/>
              <a:t> introduces </a:t>
            </a:r>
            <a:r>
              <a:rPr lang="en-US" sz="1000" b="1" dirty="0"/>
              <a:t>Foundry Routines</a:t>
            </a:r>
            <a:r>
              <a:rPr lang="en-US" sz="1000" dirty="0"/>
              <a:t> in public preview, providing a native mechanism for automatically triggering published agents. Routines allow agents to execute </a:t>
            </a:r>
            <a:r>
              <a:rPr lang="en-US" sz="1000" b="1" dirty="0"/>
              <a:t>on recurring schedules, after one-time delays, or in response to business events through supported connections</a:t>
            </a:r>
            <a:r>
              <a:rPr lang="en-US" sz="1000" dirty="0"/>
              <a:t>.</a:t>
            </a:r>
          </a:p>
          <a:p>
            <a:pPr algn="just"/>
            <a:r>
              <a:rPr lang="en-US" sz="1000" dirty="0"/>
              <a:t>Previously, automated agent execution typically required external components such as </a:t>
            </a:r>
            <a:r>
              <a:rPr lang="en-US" sz="1000" b="1" dirty="0"/>
              <a:t>Azure Logic Apps, Azure Functions, webhooks, queues, and custom storage</a:t>
            </a:r>
            <a:r>
              <a:rPr lang="en-US" sz="1000" dirty="0"/>
              <a:t>, along with separate identity, permissions, monitoring, and operational management. Foundry Routines brings the </a:t>
            </a:r>
            <a:r>
              <a:rPr lang="en-US" sz="1000" b="1" dirty="0"/>
              <a:t>trigger, agent execution, and observability</a:t>
            </a:r>
            <a:r>
              <a:rPr lang="en-US" sz="1000" dirty="0"/>
              <a:t> into the same governed Foundry workspace.</a:t>
            </a:r>
          </a:p>
          <a:p>
            <a:pPr algn="just"/>
            <a:r>
              <a:rPr lang="en-US" sz="1000" dirty="0"/>
              <a:t>This simplifies the architecture for </a:t>
            </a:r>
            <a:r>
              <a:rPr lang="en-US" sz="1000" b="1" dirty="0"/>
              <a:t>scheduled and event-driven agent automation</a:t>
            </a:r>
            <a:r>
              <a:rPr lang="en-US" sz="1000" dirty="0"/>
              <a:t> while reducing the amount of customer-managed integration infrastructure and associated failure points. It also keeps automated agent execution within the existing </a:t>
            </a:r>
            <a:r>
              <a:rPr lang="en-US" sz="1000" b="1" dirty="0"/>
              <a:t>Foundry governance and operational model</a:t>
            </a:r>
            <a:r>
              <a:rPr lang="en-US" sz="1000" dirty="0"/>
              <a:t>, making it easier to manage enterprise agent workflows consistently.</a:t>
            </a:r>
          </a:p>
          <a:p>
            <a:pPr algn="just"/>
            <a:r>
              <a:rPr lang="en-US" sz="1000" dirty="0"/>
              <a:t>The capability is currently intended for </a:t>
            </a:r>
            <a:r>
              <a:rPr lang="en-US" sz="1000" b="1" dirty="0"/>
              <a:t>evaluation and is not covered by production SLAs</a:t>
            </a:r>
            <a:r>
              <a:rPr lang="en-US" sz="1000" dirty="0"/>
              <a:t>.</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Network egress controls for hosted agents in Microsoft Foundry</a:t>
            </a:r>
            <a:endParaRPr lang="en-US" dirty="0"/>
          </a:p>
          <a:p>
            <a:pPr algn="just"/>
            <a:r>
              <a:rPr lang="en-US" b="1" dirty="0"/>
              <a:t>Microsoft Foundry</a:t>
            </a:r>
            <a:r>
              <a:rPr lang="en-US" dirty="0"/>
              <a:t> now provides </a:t>
            </a:r>
            <a:r>
              <a:rPr lang="en-US" b="1" dirty="0"/>
              <a:t>outbound network governance for hosted agents</a:t>
            </a:r>
            <a:r>
              <a:rPr lang="en-US" dirty="0"/>
              <a:t> in public preview, allowing organizations to control which external destinations an agent can access. Administrators can define ordered egress rules based on destination hosts, including </a:t>
            </a:r>
            <a:r>
              <a:rPr lang="en-US" b="1" dirty="0"/>
              <a:t>FQDN wildcard patterns</a:t>
            </a:r>
            <a:r>
              <a:rPr lang="en-US" dirty="0"/>
              <a:t> such as *.contoso.com.</a:t>
            </a:r>
          </a:p>
          <a:p>
            <a:pPr algn="just"/>
            <a:r>
              <a:rPr lang="en-US" dirty="0"/>
              <a:t>Rules can </a:t>
            </a:r>
            <a:r>
              <a:rPr lang="en-US" b="1" dirty="0"/>
              <a:t>allow or deny traffic, transform outbound request headers, or rewrite destinations</a:t>
            </a:r>
            <a:r>
              <a:rPr lang="en-US" dirty="0"/>
              <a:t>, providing more granular control over how agents communicate with external services. Policies are configured as part of the agent’s </a:t>
            </a:r>
            <a:r>
              <a:rPr lang="en-US" b="1" dirty="0"/>
              <a:t>Responsible AI policy</a:t>
            </a:r>
            <a:r>
              <a:rPr lang="en-US" dirty="0"/>
              <a:t> and enforced within the </a:t>
            </a:r>
            <a:r>
              <a:rPr lang="en-US" b="1" dirty="0"/>
              <a:t>Foundry-managed agent sandbox before traffic leaves the runtime</a:t>
            </a:r>
            <a:r>
              <a:rPr lang="en-US" dirty="0"/>
              <a:t>, removing the need for a separate network appliance for basic outbound allow-listing.</a:t>
            </a:r>
          </a:p>
          <a:p>
            <a:pPr algn="just"/>
            <a:r>
              <a:rPr lang="en-US" dirty="0"/>
              <a:t>Two enforcement modes are available: </a:t>
            </a:r>
            <a:r>
              <a:rPr lang="en-US" b="1" dirty="0"/>
              <a:t>Audit</a:t>
            </a:r>
            <a:r>
              <a:rPr lang="en-US" dirty="0"/>
              <a:t>, which records traffic that would have been denied without blocking it, and </a:t>
            </a:r>
            <a:r>
              <a:rPr lang="en-US" b="1" dirty="0"/>
              <a:t>Enforce</a:t>
            </a:r>
            <a:r>
              <a:rPr lang="en-US" dirty="0"/>
              <a:t>, which actively blocks traffic according to the configured rules. Every egress decision can be sent to </a:t>
            </a:r>
            <a:r>
              <a:rPr lang="en-US" b="1" dirty="0"/>
              <a:t>Application Insights</a:t>
            </a:r>
            <a:r>
              <a:rPr lang="en-US" dirty="0"/>
              <a:t>, providing centralized visibility and an audit trail for agent network activity.</a:t>
            </a:r>
          </a:p>
          <a:p>
            <a:pPr algn="just"/>
            <a:r>
              <a:rPr lang="en-US" dirty="0"/>
              <a:t>This capability helps enterprises implement </a:t>
            </a:r>
            <a:r>
              <a:rPr lang="en-US" b="1" dirty="0"/>
              <a:t>least-privilege connectivity, data-exfiltration controls, and security governance</a:t>
            </a:r>
            <a:r>
              <a:rPr lang="en-US" dirty="0"/>
              <a:t> for autonomous agents while allowing policies to be validated in audit mode before enforcement. The feature is currently intended for </a:t>
            </a:r>
            <a:r>
              <a:rPr lang="en-US" b="1" dirty="0"/>
              <a:t>evaluation and is not covered by production SLAs</a:t>
            </a:r>
            <a:r>
              <a:rPr lang="en-US" dirty="0"/>
              <a:t>.</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r>
              <a:rPr lang="en-US" sz="1000" dirty="0">
                <a:hlinkClick r:id="rId2"/>
              </a:rPr>
              <a:t>Generally Available: Publishing Microsoft Foundry agents to Microsoft 365 Copilot and Teams</a:t>
            </a:r>
            <a:endParaRPr lang="en-US" sz="1000" dirty="0"/>
          </a:p>
          <a:p>
            <a:r>
              <a:rPr lang="en-US" sz="1000" b="1" dirty="0"/>
              <a:t>Microsoft Foundry agents</a:t>
            </a:r>
            <a:r>
              <a:rPr lang="en-US" sz="1000" dirty="0"/>
              <a:t> can now be published directly to </a:t>
            </a:r>
            <a:r>
              <a:rPr lang="en-US" sz="1000" b="1" dirty="0"/>
              <a:t>Microsoft 365 Copilot and Microsoft Teams</a:t>
            </a:r>
            <a:r>
              <a:rPr lang="en-US" sz="1000" dirty="0"/>
              <a:t>, with the capability generally available. Developers can make agents discoverable within the collaboration and productivity environments employees already use, without building separate deployment pipelines, bot registrations, or application manifests.</a:t>
            </a:r>
          </a:p>
          <a:p>
            <a:r>
              <a:rPr lang="en-US" sz="1000" dirty="0"/>
              <a:t>Agents can be published directly from the </a:t>
            </a:r>
            <a:r>
              <a:rPr lang="en-US" sz="1000" b="1" dirty="0"/>
              <a:t>Microsoft Foundry portal</a:t>
            </a:r>
            <a:r>
              <a:rPr lang="en-US" sz="1000" dirty="0"/>
              <a:t>, simplifying the path from agent development to enterprise distribution. Once published, users can access the agents through Microsoft 365 Copilot and Teams, making it easier to integrate </a:t>
            </a:r>
            <a:r>
              <a:rPr lang="en-US" sz="1000" b="1" dirty="0"/>
              <a:t>custom AI agents into everyday business workflows</a:t>
            </a:r>
            <a:r>
              <a:rPr lang="en-US" sz="1000" dirty="0"/>
              <a:t>.</a:t>
            </a:r>
          </a:p>
          <a:p>
            <a:r>
              <a:rPr lang="en-US" sz="1000" dirty="0"/>
              <a:t>Published agents remain governed through existing </a:t>
            </a:r>
            <a:r>
              <a:rPr lang="en-US" sz="1000" b="1" dirty="0"/>
              <a:t>Microsoft Entra and Agent 365 controls</a:t>
            </a:r>
            <a:r>
              <a:rPr lang="en-US" sz="1000" dirty="0"/>
              <a:t>, giving IT administrators centralized visibility and control over the organization's agent estate. This combines simplified agent distribution with enterprise governance, allowing organizations to scale adoption while maintaining </a:t>
            </a:r>
            <a:r>
              <a:rPr lang="en-US" sz="1000" b="1" dirty="0"/>
              <a:t>identity, security, compliance, and administrative controls</a:t>
            </a:r>
            <a:r>
              <a:rPr lang="en-US" sz="1000" dirty="0"/>
              <a:t>.</a:t>
            </a:r>
          </a:p>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Generally Available: Enable and disable controls for Microsoft Foundry agents in Agent 365</a:t>
            </a:r>
            <a:endParaRPr lang="en-US" dirty="0"/>
          </a:p>
          <a:p>
            <a:pPr algn="just"/>
            <a:r>
              <a:rPr lang="en-US" b="1" dirty="0"/>
              <a:t>Microsoft Foundry agents</a:t>
            </a:r>
            <a:r>
              <a:rPr lang="en-US" dirty="0"/>
              <a:t> can now be </a:t>
            </a:r>
            <a:r>
              <a:rPr lang="en-US" b="1" dirty="0"/>
              <a:t>enabled or disabled directly through the Agent 365 governance experience in Microsoft Admin Center</a:t>
            </a:r>
            <a:r>
              <a:rPr lang="en-US" dirty="0"/>
              <a:t>, with the capability generally available. Administrators can centrally determine whether individual Foundry agents are available for use across their organization without requiring changes or intervention from developers.</a:t>
            </a:r>
          </a:p>
          <a:p>
            <a:pPr algn="just"/>
            <a:r>
              <a:rPr lang="en-US" dirty="0"/>
              <a:t>The capability brings Foundry agents into the same centralized governance surface as other enterprise agent types, providing IT, security, and governance teams with a more consistent way to manage their </a:t>
            </a:r>
            <a:r>
              <a:rPr lang="en-US" b="1" dirty="0"/>
              <a:t>AI agent estate</a:t>
            </a:r>
            <a:r>
              <a:rPr lang="en-US" dirty="0"/>
              <a:t>. Enable and disable operations use the same </a:t>
            </a:r>
            <a:r>
              <a:rPr lang="en-US" b="1" dirty="0"/>
              <a:t>elevation pattern</a:t>
            </a:r>
            <a:r>
              <a:rPr lang="en-US" dirty="0"/>
              <a:t> applied to comparable administrative agent actions, helping maintain appropriate administrative controls.</a:t>
            </a:r>
          </a:p>
          <a:p>
            <a:pPr algn="just"/>
            <a:r>
              <a:rPr lang="en-US" dirty="0"/>
              <a:t>This addresses an important governance requirement by allowing organizations to control which Foundry agents are </a:t>
            </a:r>
            <a:r>
              <a:rPr lang="en-US" b="1" dirty="0"/>
              <a:t>active and accessible</a:t>
            </a:r>
            <a:r>
              <a:rPr lang="en-US" dirty="0"/>
              <a:t>, supporting security and compliance policies around enterprise AI adoption. Microsoft is also expanding broader </a:t>
            </a:r>
            <a:r>
              <a:rPr lang="en-US" b="1" dirty="0"/>
              <a:t>Agent 365 and Microsoft Entra governance capabilities</a:t>
            </a:r>
            <a:r>
              <a:rPr lang="en-US" dirty="0"/>
              <a:t>, including block/unblock, delete/restore, and agent owner reassignment.</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837</TotalTime>
  <Words>2914</Words>
  <Application>Microsoft Office PowerPoint</Application>
  <PresentationFormat>On-screen Show (16:9)</PresentationFormat>
  <Paragraphs>92</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Human Sans</vt:lpstr>
      <vt:lpstr>Human Sans Regular</vt:lpstr>
      <vt:lpstr>Continuum Theme</vt:lpstr>
      <vt:lpstr>Azure Times #</vt:lpstr>
      <vt:lpstr>PowerPoint Presentation</vt:lpstr>
      <vt:lpstr>Networking Updates (Preview)</vt:lpstr>
      <vt:lpstr>PowerPoint Presentation</vt:lpstr>
      <vt:lpstr>Security &amp; Identity Updates (Preview)</vt:lpstr>
      <vt:lpstr>PowerPoint Presentation</vt:lpstr>
      <vt:lpstr>Management &amp; Governance Updates (Preview)</vt:lpstr>
      <vt:lpstr>PowerPoint Presentation</vt:lpstr>
      <vt:lpstr>Compute Updates (Preview)</vt:lpstr>
      <vt:lpstr>Compute Updates (Preview)</vt:lpstr>
      <vt:lpstr>Compute Updates</vt:lpstr>
      <vt:lpstr>PowerPoint Presentation</vt:lpstr>
      <vt:lpstr>Databases Updates (Preview)</vt:lpstr>
      <vt:lpstr>Databases Updates (General Available)</vt:lpstr>
      <vt:lpstr>Databases Updates (General Available)</vt:lpstr>
      <vt:lpstr>PowerPoint Presentation</vt:lpstr>
      <vt:lpstr>ML &amp; AI &amp; IOT Updates (Preview)</vt:lpstr>
      <vt:lpstr>ML &amp; AI &amp; IOT Updates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123</cp:revision>
  <dcterms:created xsi:type="dcterms:W3CDTF">2018-01-26T19:23:30Z</dcterms:created>
  <dcterms:modified xsi:type="dcterms:W3CDTF">2026-09-19T10:27:02Z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