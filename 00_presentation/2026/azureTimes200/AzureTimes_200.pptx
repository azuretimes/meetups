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40"/>
  </p:notesMasterIdLst>
  <p:handoutMasterIdLst>
    <p:handoutMasterId r:id="rId41"/>
  </p:handoutMasterIdLst>
  <p:sldIdLst>
    <p:sldId id="2142532340" r:id="rId5"/>
    <p:sldId id="2146847045" r:id="rId6"/>
    <p:sldId id="10657" r:id="rId7"/>
    <p:sldId id="2146847127" r:id="rId8"/>
    <p:sldId id="2146847124" r:id="rId9"/>
    <p:sldId id="2146847046" r:id="rId10"/>
    <p:sldId id="2146847089" r:id="rId11"/>
    <p:sldId id="2146847048" r:id="rId12"/>
    <p:sldId id="2146847132" r:id="rId13"/>
    <p:sldId id="2146847131" r:id="rId14"/>
    <p:sldId id="2146847050" r:id="rId15"/>
    <p:sldId id="2146847096" r:id="rId16"/>
    <p:sldId id="2146847134" r:id="rId17"/>
    <p:sldId id="2146847135" r:id="rId18"/>
    <p:sldId id="2146847136" r:id="rId19"/>
    <p:sldId id="2146847157" r:id="rId20"/>
    <p:sldId id="2146847052" r:id="rId21"/>
    <p:sldId id="2146847137" r:id="rId22"/>
    <p:sldId id="2146847138" r:id="rId23"/>
    <p:sldId id="2146847139" r:id="rId24"/>
    <p:sldId id="2146847156" r:id="rId25"/>
    <p:sldId id="2146847054" r:id="rId26"/>
    <p:sldId id="2146847140" r:id="rId27"/>
    <p:sldId id="2146847056" r:id="rId28"/>
    <p:sldId id="2146847107" r:id="rId29"/>
    <p:sldId id="2146847144" r:id="rId30"/>
    <p:sldId id="2146847058" r:id="rId31"/>
    <p:sldId id="2146847149" r:id="rId32"/>
    <p:sldId id="2146847119" r:id="rId33"/>
    <p:sldId id="2146847150" r:id="rId34"/>
    <p:sldId id="2146847062" r:id="rId35"/>
    <p:sldId id="2146847115" r:id="rId36"/>
    <p:sldId id="2146847085" r:id="rId37"/>
    <p:sldId id="2146847084" r:id="rId38"/>
    <p:sldId id="2146847064" r:id="rId39"/>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24"/>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132"/>
            <p14:sldId id="2146847131"/>
          </p14:sldIdLst>
        </p14:section>
        <p14:section name="Compute" id="{05AA80BB-8802-49AB-8336-A884227CE2F7}">
          <p14:sldIdLst>
            <p14:sldId id="2146847050"/>
            <p14:sldId id="2146847096"/>
            <p14:sldId id="2146847134"/>
            <p14:sldId id="2146847135"/>
            <p14:sldId id="2146847136"/>
            <p14:sldId id="2146847157"/>
          </p14:sldIdLst>
        </p14:section>
        <p14:section name="Storage &amp; Data" id="{1F159046-CE0A-45BC-9D5B-6E6C95980F78}">
          <p14:sldIdLst>
            <p14:sldId id="2146847052"/>
            <p14:sldId id="2146847137"/>
            <p14:sldId id="2146847138"/>
            <p14:sldId id="2146847139"/>
            <p14:sldId id="2146847156"/>
          </p14:sldIdLst>
        </p14:section>
        <p14:section name="Databases" id="{AEAFAE72-AD56-48F3-926B-38BAE269038F}">
          <p14:sldIdLst>
            <p14:sldId id="2146847054"/>
            <p14:sldId id="2146847140"/>
          </p14:sldIdLst>
        </p14:section>
        <p14:section name="Integration" id="{ACBD46A3-6F1C-451B-A154-0A056E0DEFF6}">
          <p14:sldIdLst>
            <p14:sldId id="2146847056"/>
            <p14:sldId id="2146847107"/>
            <p14:sldId id="2146847144"/>
          </p14:sldIdLst>
        </p14:section>
        <p14:section name="ML &amp; AI &amp; IOT" id="{F4E1EAF1-55E9-4CA4-8ADC-28B69C1D66D2}">
          <p14:sldIdLst>
            <p14:sldId id="2146847058"/>
            <p14:sldId id="2146847149"/>
            <p14:sldId id="2146847119"/>
            <p14:sldId id="2146847150"/>
          </p14:sldIdLst>
        </p14:section>
        <p14:section name="Miscellaneous" id="{A1456D7A-93BE-4023-90AA-7269D2F177BA}">
          <p14:sldIdLst>
            <p14:sldId id="2146847062"/>
            <p14:sldId id="2146847115"/>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28" d="100"/>
          <a:sy n="128" d="100"/>
        </p:scale>
        <p:origin x="2988" y="33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4/4/2026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37234"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techcommunity.microsoft.com/blog/azureinfrastructureblog/%F0%9F%9A%80-general-availability-of-private-application-gateway-on-azure-application-gate/4508294"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57395"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evblogs.microsoft.com/identity/native-auth-social-idps-web-view-ga/"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59406"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55051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ru-ru/updates?id=559322" TargetMode="External"/><Relationship Id="rId2" Type="http://schemas.openxmlformats.org/officeDocument/2006/relationships/hyperlink" Target="https://techcommunity.microsoft.com/blog/windows-itpro-blog/announcing-windows-365-connector-for-microsoft-power-platform-and-azure-logic-ap/4506295"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techcommunity.microsoft.com/blog/appsonazureblog/the-durable-task-scheduler-consumption-sku-is-now-generally-available/4506682" TargetMode="External"/><Relationship Id="rId2" Type="http://schemas.openxmlformats.org/officeDocument/2006/relationships/hyperlink" Target="https://techcommunity.microsoft.com/blog/windows-itpro-blog/windows-365-frontline-in-shared-mode-now-available-in-brazil-south-italy-north-a/4507441"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59552" TargetMode="External"/><Relationship Id="rId2" Type="http://schemas.openxmlformats.org/officeDocument/2006/relationships/hyperlink" Target="https://techcommunity.microsoft.com/blog/appsonazureblog/aspire-on-azure-app-service-is-now-generally-available/4505549"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ru-ru/updates?id=558027" TargetMode="External"/><Relationship Id="rId2" Type="http://schemas.openxmlformats.org/officeDocument/2006/relationships/hyperlink" Target="https://azure.microsoft.com/ru-ru/updates?id=558247"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azure.microsoft.com/ru-ru/updates?id=558246"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59526" TargetMode="External"/><Relationship Id="rId2" Type="http://schemas.openxmlformats.org/officeDocument/2006/relationships/hyperlink" Target="https://azure.microsoft.com/ru-ru/updates?id=559677"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59535" TargetMode="External"/><Relationship Id="rId2" Type="http://schemas.openxmlformats.org/officeDocument/2006/relationships/hyperlink" Target="https://azure.microsoft.com/ru-ru/updates?id=559767"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ru-ru/updates?id=559772" TargetMode="External"/><Relationship Id="rId2" Type="http://schemas.openxmlformats.org/officeDocument/2006/relationships/hyperlink" Target="https://azure.microsoft.com/ru-ru/updates?id=559504" TargetMode="External"/><Relationship Id="rId1" Type="http://schemas.openxmlformats.org/officeDocument/2006/relationships/slideLayout" Target="../slideLayouts/slideLayout7.xml"/><Relationship Id="rId5" Type="http://schemas.openxmlformats.org/officeDocument/2006/relationships/hyperlink" Target="https://nvlpubs.nist.gov/nistpubs/SpecialPublications/NIST.SP.800-88r2.pdf" TargetMode="External"/><Relationship Id="rId4" Type="http://schemas.openxmlformats.org/officeDocument/2006/relationships/hyperlink" Target="https://learn.microsoft.com/en-us/azure/databox/data-box-overview?pivots=dbx-ng" TargetMode="External"/></Relationships>
</file>

<file path=ppt/slides/_rels/slide21.xml.rels><?xml version="1.0" encoding="UTF-8" standalone="yes"?>
<Relationships xmlns="http://schemas.openxmlformats.org/package/2006/relationships"><Relationship Id="rId2" Type="http://schemas.openxmlformats.org/officeDocument/2006/relationships/hyperlink" Target="https://azure.microsoft.com/ru-ru/updates?id=558276"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azure.microsoft.com/ru-ru/updates?id=556085"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aka.ms/EventGrid-MQTT-AssignedClientIdentifiers" TargetMode="External"/><Relationship Id="rId3" Type="http://schemas.openxmlformats.org/officeDocument/2006/relationships/hyperlink" Target="https://aka.ms/event-grid-cross-tenant-delivery" TargetMode="External"/><Relationship Id="rId7" Type="http://schemas.openxmlformats.org/officeDocument/2006/relationships/hyperlink" Target="https://aka.ms/EventGrid-MQTT-CustomWebhookAuthentication" TargetMode="External"/><Relationship Id="rId2" Type="http://schemas.openxmlformats.org/officeDocument/2006/relationships/hyperlink" Target="https://azure.microsoft.com/ru-ru/updates?id=559695" TargetMode="External"/><Relationship Id="rId1" Type="http://schemas.openxmlformats.org/officeDocument/2006/relationships/slideLayout" Target="../slideLayouts/slideLayout7.xml"/><Relationship Id="rId6" Type="http://schemas.openxmlformats.org/officeDocument/2006/relationships/hyperlink" Target="https://aka.ms/EventGrid-MQTT-OAuth2.0JWTAuthentication" TargetMode="External"/><Relationship Id="rId5" Type="http://schemas.openxmlformats.org/officeDocument/2006/relationships/hyperlink" Target="https://aka.ms/event-grid-webhook-delivery-mi-support" TargetMode="External"/><Relationship Id="rId4" Type="http://schemas.openxmlformats.org/officeDocument/2006/relationships/hyperlink" Target="https://aka.ms/event-grid-nsp"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azure.microsoft.com/ru-ru/updates?id=492542" TargetMode="External"/><Relationship Id="rId2" Type="http://schemas.openxmlformats.org/officeDocument/2006/relationships/hyperlink" Target="https://techcommunity.microsoft.com/blog/messagingonazureblog/announcing-general-availability-of-network-security-perimeter-for-azure-service-/4508179"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zure.microsoft.com/ru-ru/updates?id=557406" TargetMode="External"/><Relationship Id="rId2" Type="http://schemas.openxmlformats.org/officeDocument/2006/relationships/hyperlink" Target="https://azure.microsoft.com/ru-ru/updates?id=557394"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azure.microsoft.com/ru-ru/updates?id=559660"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techcommunity.microsoft.com/blog/azuremapsblog/azure-maps-adds-support-to-private-endpoints-preview/4505743"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#200</a:t>
            </a:r>
          </a:p>
        </p:txBody>
      </p:sp>
      <p:sp>
        <p:nvSpPr>
          <p:cNvPr id="4" name="Text Placeholder 3"/>
          <p:cNvSpPr>
            <a:spLocks noGrp="1"/>
          </p:cNvSpPr>
          <p:nvPr>
            <p:ph type="body" sz="quarter" idx="11"/>
          </p:nvPr>
        </p:nvSpPr>
        <p:spPr/>
        <p:txBody>
          <a:bodyPr/>
          <a:lstStyle/>
          <a:p>
            <a:r>
              <a:rPr lang="en-US" spc="300" dirty="0"/>
              <a:t>April 6,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Unlock Client-Side Configuration at Scale with Azure App Configuration and Azure Front Door</a:t>
            </a:r>
            <a:endParaRPr lang="en-US" dirty="0"/>
          </a:p>
          <a:p>
            <a:pPr algn="just"/>
            <a:r>
              <a:rPr lang="en-US" dirty="0"/>
              <a:t>Azure App Configuration now integrates with </a:t>
            </a:r>
            <a:r>
              <a:rPr lang="en-US" b="1" dirty="0"/>
              <a:t>Azure Front Door</a:t>
            </a:r>
            <a:r>
              <a:rPr lang="en-US" dirty="0"/>
              <a:t>, enabling </a:t>
            </a:r>
            <a:r>
              <a:rPr lang="en-US" b="1" dirty="0"/>
              <a:t>secure, CDN-scale delivery of dynamic configuration directly to client-side applications</a:t>
            </a:r>
            <a:r>
              <a:rPr lang="en-US" dirty="0"/>
              <a:t>. This allows applications such as SPAs, mobile apps, and browser-based tools to receive </a:t>
            </a:r>
            <a:r>
              <a:rPr lang="en-US" b="1" dirty="0"/>
              <a:t>real-time updates to feature flags and settings without redeployment</a:t>
            </a:r>
            <a:r>
              <a:rPr lang="en-US" dirty="0"/>
              <a:t>. Configuration is delivered with </a:t>
            </a:r>
            <a:r>
              <a:rPr lang="en-US" b="1" dirty="0"/>
              <a:t>low latency globally</a:t>
            </a:r>
            <a:r>
              <a:rPr lang="en-US" dirty="0"/>
              <a:t>, leveraging Front Door’s edge network. The solution is </a:t>
            </a:r>
            <a:r>
              <a:rPr lang="en-US" b="1" dirty="0"/>
              <a:t>secure by design</a:t>
            </a:r>
            <a:r>
              <a:rPr lang="en-US" dirty="0"/>
              <a:t>, exposing only scoped configuration values without distributing secrets. It also removes the need for custom proxy layers, simplifying architecture.</a:t>
            </a:r>
          </a:p>
          <a:p>
            <a:pPr algn="just"/>
            <a:endParaRPr lang="en-US" dirty="0"/>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a:xfrm>
            <a:off x="342900" y="855080"/>
            <a:ext cx="3955312" cy="3611989"/>
          </a:xfrm>
        </p:spPr>
        <p:txBody>
          <a:bodyPr/>
          <a:lstStyle/>
          <a:p>
            <a:pPr algn="just"/>
            <a:r>
              <a:rPr lang="en-US" dirty="0">
                <a:hlinkClick r:id="rId2"/>
              </a:rPr>
              <a:t>General Availability of Private Application Gateway on Azure Application Gateway v2</a:t>
            </a:r>
            <a:endParaRPr lang="ru-RU" dirty="0"/>
          </a:p>
          <a:p>
            <a:pPr algn="just"/>
            <a:r>
              <a:rPr lang="en-US" dirty="0"/>
              <a:t>Azure Application Gateway v2 now supports Private Application Gateway, a major networking enhancement that allows customers to deploy Application Gateway with private IP–only connectivity and full network isolation. This capability significantly improves security posture, routing flexibility, and compliance readiness for enterprise workloads. This blog explains what Private Application Gateway is, why it matters, how to enable it, and real‑world scenarios where it delivers immediate value.</a:t>
            </a:r>
            <a:endParaRPr lang="ru-RU" dirty="0"/>
          </a:p>
          <a:p>
            <a:pPr algn="just"/>
            <a:r>
              <a:rPr lang="en-US" b="1" dirty="0"/>
              <a:t>Private Application Gateway </a:t>
            </a:r>
            <a:r>
              <a:rPr lang="en-US" dirty="0"/>
              <a:t>enabling:</a:t>
            </a:r>
          </a:p>
          <a:p>
            <a:pPr marL="171450" indent="-171450" algn="just">
              <a:buFont typeface="Arial" panose="020B0604020202020204" pitchFamily="34" charset="0"/>
              <a:buChar char="•"/>
            </a:pPr>
            <a:r>
              <a:rPr lang="en-US" b="1" dirty="0"/>
              <a:t>Private IP‑only frontend</a:t>
            </a:r>
            <a:endParaRPr lang="en-US" dirty="0"/>
          </a:p>
          <a:p>
            <a:pPr marL="171450" indent="-171450" algn="just">
              <a:buFont typeface="Arial" panose="020B0604020202020204" pitchFamily="34" charset="0"/>
              <a:buChar char="•"/>
            </a:pPr>
            <a:r>
              <a:rPr lang="en-US" b="1" dirty="0"/>
              <a:t>No public IP requirement</a:t>
            </a:r>
            <a:endParaRPr lang="en-US" dirty="0"/>
          </a:p>
          <a:p>
            <a:pPr marL="171450" indent="-171450" algn="just">
              <a:buFont typeface="Arial" panose="020B0604020202020204" pitchFamily="34" charset="0"/>
              <a:buChar char="•"/>
            </a:pPr>
            <a:r>
              <a:rPr lang="en-US" b="1" dirty="0"/>
              <a:t>Full NSG and route table control</a:t>
            </a:r>
            <a:endParaRPr lang="en-US" dirty="0"/>
          </a:p>
          <a:p>
            <a:pPr marL="171450" indent="-171450" algn="just">
              <a:buFont typeface="Arial" panose="020B0604020202020204" pitchFamily="34" charset="0"/>
              <a:buChar char="•"/>
            </a:pPr>
            <a:r>
              <a:rPr lang="en-US" b="1" dirty="0"/>
              <a:t>Forced tunneling support</a:t>
            </a:r>
            <a:endParaRPr lang="en-US" dirty="0"/>
          </a:p>
          <a:p>
            <a:pPr marL="171450" indent="-171450" algn="just">
              <a:buFont typeface="Arial" panose="020B0604020202020204" pitchFamily="34" charset="0"/>
              <a:buChar char="•"/>
            </a:pPr>
            <a:r>
              <a:rPr lang="en-US" b="1" dirty="0"/>
              <a:t>Controlled outbound connectivity</a:t>
            </a:r>
            <a:endParaRPr lang="en-US" dirty="0"/>
          </a:p>
          <a:p>
            <a:pPr algn="just"/>
            <a:endParaRPr lang="en-US" dirty="0"/>
          </a:p>
          <a:p>
            <a:pPr algn="just"/>
            <a:endParaRPr lang="en-US" dirty="0"/>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FD2C-8155-2D94-F89A-A815AA6E4F5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E7765-EA35-FC87-C939-6F99349E688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5E76E37-235F-F5BE-DE95-A1673340F66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4E03193E-E6C0-C026-1CD6-643DC1C554C3}"/>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DA610DB-1B75-BFFB-B511-F8C61DA8A81D}"/>
              </a:ext>
            </a:extLst>
          </p:cNvPr>
          <p:cNvSpPr>
            <a:spLocks noGrp="1"/>
          </p:cNvSpPr>
          <p:nvPr>
            <p:ph type="body" sz="quarter" idx="16"/>
          </p:nvPr>
        </p:nvSpPr>
        <p:spPr/>
        <p:txBody>
          <a:bodyPr/>
          <a:lstStyle/>
          <a:p>
            <a:pPr algn="just"/>
            <a:r>
              <a:rPr lang="en-US" dirty="0">
                <a:hlinkClick r:id="rId2"/>
              </a:rPr>
              <a:t>Retirement: Manually registered Azure VPN Clients for ​Azure Government and ​Microsoft Azure operated by 21Vianet clouds will be retired on March 31, 2029</a:t>
            </a:r>
            <a:endParaRPr lang="en-US" dirty="0"/>
          </a:p>
          <a:p>
            <a:pPr algn="just"/>
            <a:r>
              <a:rPr lang="en-US" dirty="0"/>
              <a:t>Manually registered Azure VPN clients for point-to-site connections using </a:t>
            </a:r>
            <a:r>
              <a:rPr lang="en-US" b="1" dirty="0"/>
              <a:t>Microsoft Entra ID authentication</a:t>
            </a:r>
            <a:r>
              <a:rPr lang="en-US" dirty="0"/>
              <a:t> will be </a:t>
            </a:r>
            <a:r>
              <a:rPr lang="en-US" b="1" dirty="0"/>
              <a:t>retired on March 31, 2029</a:t>
            </a:r>
            <a:r>
              <a:rPr lang="en-US" dirty="0"/>
              <a:t> for Azure Government and 21Vianet clouds. Organizations must migrate to </a:t>
            </a:r>
            <a:r>
              <a:rPr lang="en-US" b="1" dirty="0"/>
              <a:t>Microsoft-registered VPN clients</a:t>
            </a:r>
            <a:r>
              <a:rPr lang="en-US" dirty="0"/>
              <a:t> to avoid service disruption. This change enhances security by ensuring only </a:t>
            </a:r>
            <a:r>
              <a:rPr lang="en-US" b="1" dirty="0"/>
              <a:t>trusted, standardized VPN clients</a:t>
            </a:r>
            <a:r>
              <a:rPr lang="en-US" dirty="0"/>
              <a:t> are supported. The migration helps align with modern identity and access controls under Entra ID. It is recommended to complete the transition well in advance of the deadline.</a:t>
            </a:r>
          </a:p>
        </p:txBody>
      </p:sp>
    </p:spTree>
    <p:extLst>
      <p:ext uri="{BB962C8B-B14F-4D97-AF65-F5344CB8AC3E}">
        <p14:creationId xmlns:p14="http://schemas.microsoft.com/office/powerpoint/2010/main" val="42681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775694"/>
          </a:xfrm>
        </p:spPr>
        <p:txBody>
          <a:bodyPr/>
          <a:lstStyle/>
          <a:p>
            <a:pPr algn="just"/>
            <a:r>
              <a:rPr lang="en-US" dirty="0">
                <a:hlinkClick r:id="rId2"/>
              </a:rPr>
              <a:t>General Availability: Social Identity Providers for Native Authentication via Browser‑Delegated Flows (web-view) in Microsoft Entra External ID</a:t>
            </a:r>
            <a:endParaRPr lang="en-US" dirty="0"/>
          </a:p>
          <a:p>
            <a:pPr algn="just"/>
            <a:r>
              <a:rPr lang="en-US" dirty="0"/>
              <a:t>MS announced the General Availability of Social Identity Provider (IdP) support for Native Authentication in Microsoft Entra External ID. This release enables developers to integrate popular social sign‑in options such as Google, Facebook, and Apple into native and single‑page applications that use Native Authentication. Importantly, social identity providers are supported through a browser‑delegated (web‑view) authentication flow. This approach ensures compatibility with social providers while maintaining the security posture expected of enterprise‑grade identity systems</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Generally Available: Microsoft Azure now available from new cloud region in Denmark</a:t>
            </a:r>
            <a:endParaRPr lang="en-US" dirty="0"/>
          </a:p>
          <a:p>
            <a:pPr algn="just"/>
            <a:r>
              <a:rPr lang="en-US" dirty="0"/>
              <a:t>Microsoft announces the opening of its cloud region in Denmark to accelerate digital transformation and AI innovation. The Denmark East region provides Danish customers with local, secure cloud infrastructure, supporting local data residency, low latency, an access to advanced cloud and AI services.  </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2"/>
              </a:rPr>
              <a:t>Retirement: Deprecation of sidecar for remote-write for Azure Monitor managed service for Prometheus</a:t>
            </a:r>
            <a:endParaRPr lang="en-US" dirty="0"/>
          </a:p>
          <a:p>
            <a:pPr algn="just"/>
            <a:r>
              <a:rPr lang="en-US" dirty="0"/>
              <a:t>Azure Monitor will </a:t>
            </a:r>
            <a:r>
              <a:rPr lang="en-US" b="1" dirty="0"/>
              <a:t>deprecate the Prometheus remote-write sidecar on March 31, 2027</a:t>
            </a:r>
            <a:r>
              <a:rPr lang="en-US" dirty="0"/>
              <a:t>, as part of efforts to improve reliability and simplify architecture. Organizations should transition to </a:t>
            </a:r>
            <a:r>
              <a:rPr lang="en-US" b="1" dirty="0"/>
              <a:t>direct remote-write from Prometheus or Prometheus Operator to Azure Monitor Workspace</a:t>
            </a:r>
            <a:r>
              <a:rPr lang="en-US" dirty="0"/>
              <a:t>. This approach supports all authentication methods and is fully compatible with existing Prometheus setups. Removing the sidecar reduces complexity, operational overhead, and potential points of failure. Microsoft recommends migrating early to ensure </a:t>
            </a:r>
            <a:r>
              <a:rPr lang="en-US" b="1" dirty="0"/>
              <a:t>uninterrupted monitoring and a smoother experience</a:t>
            </a:r>
            <a:r>
              <a:rPr lang="en-US" dirty="0"/>
              <a:t>.</a:t>
            </a:r>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Announcing Windows 365 connector for Microsoft Power Platform and Azure Logic Apps (Public Preview)</a:t>
            </a:r>
            <a:endParaRPr lang="en-US" sz="1000" dirty="0"/>
          </a:p>
          <a:p>
            <a:r>
              <a:rPr lang="en-US" sz="1000" dirty="0"/>
              <a:t>The Windows 365 connector for </a:t>
            </a:r>
            <a:r>
              <a:rPr lang="en-US" sz="1000" b="1" dirty="0"/>
              <a:t>Power Platform and Azure Logic Apps</a:t>
            </a:r>
            <a:r>
              <a:rPr lang="en-US" sz="1000" dirty="0"/>
              <a:t> is now in public preview, enabling automation and integration for Cloud PC management. With prebuilt actions and triggers based on Microsoft Graph, teams can </a:t>
            </a:r>
            <a:r>
              <a:rPr lang="en-US" sz="1000" b="1" dirty="0"/>
              <a:t>automate workflows such as notifications when Cloud PCs are provisioned</a:t>
            </a:r>
            <a:r>
              <a:rPr lang="en-US" sz="1000" dirty="0"/>
              <a:t>. It also allows integration with </a:t>
            </a:r>
            <a:r>
              <a:rPr lang="en-US" sz="1000" b="1" dirty="0"/>
              <a:t>Copilot Studio to build AI agents</a:t>
            </a:r>
            <a:r>
              <a:rPr lang="en-US" sz="1000" dirty="0"/>
              <a:t> that respond to user queries using configured knowledge sources. This simplifies operations and reduces manual effort in managing Windows 365 environments. The connector enables </a:t>
            </a:r>
            <a:r>
              <a:rPr lang="en-US" sz="1000" b="1" dirty="0"/>
              <a:t>event-driven automation and intelligent support scenarios</a:t>
            </a:r>
            <a:r>
              <a:rPr lang="en-US" sz="1000" dirty="0"/>
              <a: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Ephemeral OS Disk with full caching for VM/VMSS</a:t>
            </a:r>
            <a:endParaRPr lang="en-US" dirty="0"/>
          </a:p>
          <a:p>
            <a:pPr algn="just"/>
            <a:r>
              <a:rPr lang="en-US" dirty="0"/>
              <a:t>Ephemeral OS Disk with </a:t>
            </a:r>
            <a:r>
              <a:rPr lang="en-US" b="1" dirty="0"/>
              <a:t>full caching</a:t>
            </a:r>
            <a:r>
              <a:rPr lang="en-US" dirty="0"/>
              <a:t> is now in public preview for Azure VMs and VM Scale Sets, delivering </a:t>
            </a:r>
            <a:r>
              <a:rPr lang="en-US" b="1" dirty="0"/>
              <a:t>significantly improved OS disk performance and reliability</a:t>
            </a:r>
            <a:r>
              <a:rPr lang="en-US" dirty="0"/>
              <a:t>. By caching the entire OS disk on </a:t>
            </a:r>
            <a:r>
              <a:rPr lang="en-US" b="1" dirty="0"/>
              <a:t>local VM storage (cache, resource disk, or </a:t>
            </a:r>
            <a:r>
              <a:rPr lang="en-US" b="1" dirty="0" err="1"/>
              <a:t>NVMe</a:t>
            </a:r>
            <a:r>
              <a:rPr lang="en-US" b="1" dirty="0"/>
              <a:t>)</a:t>
            </a:r>
            <a:r>
              <a:rPr lang="en-US" dirty="0"/>
              <a:t>, it provides </a:t>
            </a:r>
            <a:r>
              <a:rPr lang="en-US" b="1" dirty="0"/>
              <a:t>low-latency, high-throughput IO</a:t>
            </a:r>
            <a:r>
              <a:rPr lang="en-US" dirty="0"/>
              <a:t> and resilience against remote storage disruptions. This makes it ideal for </a:t>
            </a:r>
            <a:r>
              <a:rPr lang="en-US" b="1" dirty="0"/>
              <a:t>stateless and IO-sensitive workloads</a:t>
            </a:r>
            <a:r>
              <a:rPr lang="en-US" dirty="0"/>
              <a:t>, including AI, analytics, and large-scale services. The feature is available on most </a:t>
            </a:r>
            <a:r>
              <a:rPr lang="en-US" b="1" dirty="0"/>
              <a:t>General Purpose VM SKUs (excluding smaller sizes)</a:t>
            </a:r>
            <a:r>
              <a:rPr lang="en-US" dirty="0"/>
              <a:t> in regions like Central US. It can be enabled by setting the </a:t>
            </a:r>
            <a:r>
              <a:rPr lang="en-US" b="1" dirty="0" err="1"/>
              <a:t>enableFullCaching</a:t>
            </a:r>
            <a:r>
              <a:rPr lang="en-US" b="1" dirty="0"/>
              <a:t> flag to true</a:t>
            </a:r>
            <a:r>
              <a:rPr lang="en-US" dirty="0"/>
              <a:t> when creating VMs or VMSS.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r>
              <a:rPr lang="en-US" sz="1000" dirty="0">
                <a:hlinkClick r:id="rId2"/>
              </a:rPr>
              <a:t>Windows 365 Frontline in shared mode now available in Brazil South, Italy North, and West Europe</a:t>
            </a:r>
            <a:endParaRPr lang="en-US" sz="1000" dirty="0"/>
          </a:p>
          <a:p>
            <a:r>
              <a:rPr lang="en-US" sz="1000" dirty="0"/>
              <a:t>Windows 365 Frontline shared mode is expanding to new regions, including </a:t>
            </a:r>
            <a:r>
              <a:rPr lang="en-US" sz="1000" b="1" dirty="0"/>
              <a:t>Brazil South, Italy North, and West Europe</a:t>
            </a:r>
            <a:r>
              <a:rPr lang="en-US" sz="1000" dirty="0"/>
              <a:t>, improving global availability. This expansion brings Cloud PCs </a:t>
            </a:r>
            <a:r>
              <a:rPr lang="en-US" sz="1000" b="1" dirty="0"/>
              <a:t>closer to users</a:t>
            </a:r>
            <a:r>
              <a:rPr lang="en-US" sz="1000" dirty="0"/>
              <a:t>, reducing latency and enhancing performance for shift-based workers. It also helps organizations meet </a:t>
            </a:r>
            <a:r>
              <a:rPr lang="en-US" sz="1000" b="1" dirty="0"/>
              <a:t>data residency and regulatory compliance requirements</a:t>
            </a:r>
            <a:r>
              <a:rPr lang="en-US" sz="1000" dirty="0"/>
              <a:t> by keeping data within specific geographic boundaries. Additionally, customers can </a:t>
            </a:r>
            <a:r>
              <a:rPr lang="en-US" sz="1000" b="1" dirty="0"/>
              <a:t>align Cloud PCs with existing Azure infrastructure</a:t>
            </a:r>
            <a:r>
              <a:rPr lang="en-US" sz="1000" dirty="0"/>
              <a:t>, simplifying network architecture and potentially reducing costs.</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The Durable Task Scheduler Consumption SKU is now Generally Available</a:t>
            </a:r>
            <a:endParaRPr lang="en-US" dirty="0"/>
          </a:p>
          <a:p>
            <a:pPr algn="just"/>
            <a:r>
              <a:rPr lang="en-US" dirty="0"/>
              <a:t>The </a:t>
            </a:r>
            <a:r>
              <a:rPr lang="en-US" b="1" dirty="0"/>
              <a:t>Durable Task Scheduler Consumption SKU</a:t>
            </a:r>
            <a:r>
              <a:rPr lang="en-US" dirty="0"/>
              <a:t> is now generally available, enabling developers to run </a:t>
            </a:r>
            <a:r>
              <a:rPr lang="en-US" b="1" dirty="0"/>
              <a:t>durable workflows and AI agent orchestration on Azure with pay-as-you-go pricing</a:t>
            </a:r>
            <a:r>
              <a:rPr lang="en-US" dirty="0"/>
              <a:t>. It eliminates the need to manage storage, capacity, or idle resources, simplifying operations. Developers can quickly create schedulers and orchestrate </a:t>
            </a:r>
            <a:r>
              <a:rPr lang="en-US" b="1" dirty="0"/>
              <a:t>event-driven pipelines, background jobs, and agent workflows</a:t>
            </a:r>
            <a:r>
              <a:rPr lang="en-US" dirty="0"/>
              <a:t>. The service provides built-in capabilities such as </a:t>
            </a:r>
            <a:r>
              <a:rPr lang="en-US" b="1" dirty="0"/>
              <a:t>reliable execution, external event handling, and deterministic processing</a:t>
            </a:r>
            <a:r>
              <a:rPr lang="en-US" dirty="0"/>
              <a:t>. This makes it well-suited for </a:t>
            </a:r>
            <a:r>
              <a:rPr lang="en-US" b="1" dirty="0"/>
              <a:t>production-grade, resilient applications</a:t>
            </a:r>
            <a:r>
              <a:rPr lang="en-US" dirty="0"/>
              <a:t>, including sensitive and business-critical workflows.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Aspire on Azure App Service is now Generally Available</a:t>
            </a:r>
            <a:endParaRPr lang="en-US" sz="1000" dirty="0"/>
          </a:p>
          <a:p>
            <a:pPr algn="just"/>
            <a:r>
              <a:rPr lang="en-US" sz="1000" dirty="0"/>
              <a:t>Aspire is now </a:t>
            </a:r>
            <a:r>
              <a:rPr lang="en-US" sz="1000" b="1" dirty="0"/>
              <a:t>generally available on Azure App Service</a:t>
            </a:r>
            <a:r>
              <a:rPr lang="en-US" sz="1000" dirty="0"/>
              <a:t>, enabling developers to move distributed applications from local development to production using a </a:t>
            </a:r>
            <a:r>
              <a:rPr lang="en-US" sz="1000" b="1" dirty="0"/>
              <a:t>code-first approach</a:t>
            </a:r>
            <a:r>
              <a:rPr lang="en-US" sz="1000" dirty="0"/>
              <a:t>. With the </a:t>
            </a:r>
            <a:r>
              <a:rPr lang="en-US" sz="1000" dirty="0" err="1"/>
              <a:t>Aspire.Hosting.Azure.AppService</a:t>
            </a:r>
            <a:r>
              <a:rPr lang="en-US" sz="1000" dirty="0"/>
              <a:t> package, infrastructure and hosting can be defined directly in code while maintaining the familiar </a:t>
            </a:r>
            <a:r>
              <a:rPr lang="en-US" sz="1000" b="1" dirty="0" err="1"/>
              <a:t>AppHost</a:t>
            </a:r>
            <a:r>
              <a:rPr lang="en-US" sz="1000" b="1" dirty="0"/>
              <a:t> orchestration model</a:t>
            </a:r>
            <a:r>
              <a:rPr lang="en-US" sz="1000" dirty="0"/>
              <a:t>. This allows teams to leverage a </a:t>
            </a:r>
            <a:r>
              <a:rPr lang="en-US" sz="1000" b="1" dirty="0"/>
              <a:t>fully managed platform</a:t>
            </a:r>
            <a:r>
              <a:rPr lang="en-US" sz="1000" dirty="0"/>
              <a:t> for scaling, security patching, and operations without changing their development workflow. Developers can build, run, and deploy applications consistently across environments.</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Azure Red Hat OpenShift in Indonesia Central</a:t>
            </a:r>
            <a:endParaRPr lang="en-US" dirty="0"/>
          </a:p>
          <a:p>
            <a:pPr algn="just"/>
            <a:r>
              <a:rPr lang="en-US" dirty="0"/>
              <a:t>Azure Red Hat OpenShift (ARO) is now </a:t>
            </a:r>
            <a:r>
              <a:rPr lang="en-US" b="1" dirty="0"/>
              <a:t>generally available in the Indonesia Central region</a:t>
            </a:r>
            <a:r>
              <a:rPr lang="en-US" dirty="0"/>
              <a:t>, expanding support for enterprise Kubernetes workloads in Southeast Asia. This allows organizations to deploy </a:t>
            </a:r>
            <a:r>
              <a:rPr lang="en-US" b="1" dirty="0"/>
              <a:t>fully managed OpenShift clusters</a:t>
            </a:r>
            <a:r>
              <a:rPr lang="en-US" dirty="0"/>
              <a:t> closer to users, improving latency and meeting </a:t>
            </a:r>
            <a:r>
              <a:rPr lang="en-US" b="1" dirty="0"/>
              <a:t>data residency requirements</a:t>
            </a:r>
            <a:r>
              <a:rPr lang="en-US" dirty="0"/>
              <a:t>. ARO integrates with Azure services for </a:t>
            </a:r>
            <a:r>
              <a:rPr lang="en-US" b="1" dirty="0"/>
              <a:t>security, networking, and operations</a:t>
            </a:r>
            <a:r>
              <a:rPr lang="en-US" dirty="0"/>
              <a:t>, while Microsoft and Red Hat handle upgrades, patching, and cluster management. It provides a </a:t>
            </a:r>
            <a:r>
              <a:rPr lang="en-US" b="1" dirty="0"/>
              <a:t>consistent OpenShift experience across hybrid and cloud environments</a:t>
            </a:r>
            <a:r>
              <a:rPr lang="en-US" dirty="0"/>
              <a:t>, supporting modernization initiatives.</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r>
              <a:rPr lang="en-US" sz="1000" dirty="0">
                <a:hlinkClick r:id="rId2"/>
              </a:rPr>
              <a:t>Retirement: Service Fabric support for Windows Server 2022 ends on March 31, 2027 - upgrade to Windows Server 2025</a:t>
            </a:r>
            <a:endParaRPr lang="en-US" sz="1000" dirty="0"/>
          </a:p>
          <a:p>
            <a:r>
              <a:rPr lang="en-US" sz="1000" dirty="0"/>
              <a:t>Service Fabric will </a:t>
            </a:r>
            <a:r>
              <a:rPr lang="en-US" sz="1000" b="1" dirty="0"/>
              <a:t>end support for clusters running on Windows Server 2022 on March 31, 2027</a:t>
            </a:r>
            <a:r>
              <a:rPr lang="en-US" sz="1000" dirty="0"/>
              <a:t>, requiring customers to upgrade to </a:t>
            </a:r>
            <a:r>
              <a:rPr lang="en-US" sz="1000" b="1" dirty="0"/>
              <a:t>Windows Server 2025</a:t>
            </a:r>
            <a:r>
              <a:rPr lang="en-US" sz="1000" dirty="0"/>
              <a:t> to remain supported. This change aligns Service Fabric with </a:t>
            </a:r>
            <a:r>
              <a:rPr lang="en-US" sz="1000" b="1" dirty="0"/>
              <a:t>mainstream OS support lifecycles</a:t>
            </a:r>
            <a:r>
              <a:rPr lang="en-US" sz="1000" dirty="0"/>
              <a:t>, similar to Linux and other Azure platforms. After the deadline, clusters may still run but will </a:t>
            </a:r>
            <a:r>
              <a:rPr lang="en-US" sz="1000" b="1" dirty="0"/>
              <a:t>no longer receive support or security updates</a:t>
            </a:r>
            <a:r>
              <a:rPr lang="en-US" sz="1000" dirty="0"/>
              <a:t>, increasing operational risk. While underlying VM Scale Sets can continue on Windows Server 2022, </a:t>
            </a:r>
            <a:r>
              <a:rPr lang="en-US" sz="1000" b="1" dirty="0"/>
              <a:t>Service Fabric workloads will not be supported</a:t>
            </a:r>
            <a:r>
              <a:rPr lang="en-US" sz="1000" dirty="0"/>
              <a:t>. Organizations should plan upgrades early to ensure </a:t>
            </a:r>
            <a:r>
              <a:rPr lang="en-US" sz="1000" b="1" dirty="0"/>
              <a:t>security, compliance, and continued platform innovation</a:t>
            </a:r>
            <a:r>
              <a:rPr lang="en-US" sz="1000" dirty="0"/>
              <a:t>.</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Python support for Azure App Service and Azure Functions on Windows will be retired on March 31, 2027</a:t>
            </a:r>
            <a:endParaRPr lang="en-US" dirty="0"/>
          </a:p>
          <a:p>
            <a:pPr algn="just"/>
            <a:r>
              <a:rPr lang="en-US" dirty="0"/>
              <a:t>Starting </a:t>
            </a:r>
            <a:r>
              <a:rPr lang="en-US" b="1" dirty="0"/>
              <a:t>March 31, 2027</a:t>
            </a:r>
            <a:r>
              <a:rPr lang="en-US" dirty="0"/>
              <a:t>, Python applications hosted on </a:t>
            </a:r>
            <a:r>
              <a:rPr lang="en-US" b="1" dirty="0"/>
              <a:t>Azure App Service (Windows)</a:t>
            </a:r>
            <a:r>
              <a:rPr lang="en-US" dirty="0"/>
              <a:t> and </a:t>
            </a:r>
            <a:r>
              <a:rPr lang="en-US" b="1" dirty="0"/>
              <a:t>Azure Functions (Windows)</a:t>
            </a:r>
            <a:r>
              <a:rPr lang="en-US" dirty="0"/>
              <a:t> will be fully retired. After this date, applications will </a:t>
            </a:r>
            <a:r>
              <a:rPr lang="en-US" b="1" dirty="0"/>
              <a:t>no longer run</a:t>
            </a:r>
            <a:r>
              <a:rPr lang="en-US" dirty="0"/>
              <a:t>, although configuration and content will remain in place. Microsoft will also </a:t>
            </a:r>
            <a:r>
              <a:rPr lang="en-US" b="1" dirty="0"/>
              <a:t>end technical support</a:t>
            </a:r>
            <a:r>
              <a:rPr lang="en-US" dirty="0"/>
              <a:t> for these workloads. This change formalizes the earlier deprecation, as Python on App Service for Windows has not been supported since December 2021. To avoid disruption, organizations should migrate workloads to </a:t>
            </a:r>
            <a:r>
              <a:rPr lang="en-US" b="1" dirty="0"/>
              <a:t>Linux-based App Service or Functions environments</a:t>
            </a:r>
            <a:r>
              <a:rPr lang="en-US" dirty="0"/>
              <a:t>. This ensures continued support, security updates, and runtime compatibility.</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9C182A-AFF7-B280-A010-94281FC1A114}"/>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ABA06E10-8BED-32D6-DE23-4E54F94E296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B8626F0E-78BB-7DB8-53DE-120D00C9494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3FFC22A-1583-0307-9186-30F597BCFE2B}"/>
              </a:ext>
            </a:extLst>
          </p:cNvPr>
          <p:cNvSpPr>
            <a:spLocks noGrp="1"/>
          </p:cNvSpPr>
          <p:nvPr>
            <p:ph type="body" sz="quarter" idx="16"/>
          </p:nvPr>
        </p:nvSpPr>
        <p:spPr/>
        <p:txBody>
          <a:bodyPr/>
          <a:lstStyle/>
          <a:p>
            <a:pPr algn="just"/>
            <a:r>
              <a:rPr lang="en-US" dirty="0">
                <a:hlinkClick r:id="rId2"/>
              </a:rPr>
              <a:t>Retirement: Service Fabric support for Windows Server 2019 ends on March 31, 2027 - upgrade to Windows Server 2025</a:t>
            </a:r>
            <a:endParaRPr lang="en-US" dirty="0"/>
          </a:p>
          <a:p>
            <a:pPr algn="just"/>
            <a:r>
              <a:rPr lang="en-US" dirty="0"/>
              <a:t>Service Fabric will </a:t>
            </a:r>
            <a:r>
              <a:rPr lang="en-US" b="1" dirty="0"/>
              <a:t>end support for clusters running on Windows Server 2019 on March 31, 2027</a:t>
            </a:r>
            <a:r>
              <a:rPr lang="en-US" dirty="0"/>
              <a:t>, requiring customers to upgrade to </a:t>
            </a:r>
            <a:r>
              <a:rPr lang="en-US" b="1" dirty="0"/>
              <a:t>Windows Server 2025</a:t>
            </a:r>
            <a:r>
              <a:rPr lang="en-US" dirty="0"/>
              <a:t> to stay in a supported state. This aligns Service Fabric with </a:t>
            </a:r>
            <a:r>
              <a:rPr lang="en-US" b="1" dirty="0"/>
              <a:t>mainstream OS support lifecycles</a:t>
            </a:r>
            <a:r>
              <a:rPr lang="en-US" dirty="0"/>
              <a:t>, ensuring consistency across Azure platforms. After the deadline, clusters may continue running but will </a:t>
            </a:r>
            <a:r>
              <a:rPr lang="en-US" b="1" dirty="0"/>
              <a:t>no longer receive support or security updates</a:t>
            </a:r>
            <a:r>
              <a:rPr lang="en-US" dirty="0"/>
              <a:t>, increasing risk. While Virtual Machine Scale Sets can still operate on Windows Server 2019, </a:t>
            </a:r>
            <a:r>
              <a:rPr lang="en-US" b="1" dirty="0"/>
              <a:t>Service Fabric workloads will not be supported</a:t>
            </a:r>
            <a:r>
              <a:rPr lang="en-US" dirty="0"/>
              <a:t>. Organizations should plan and execute upgrades early to maintain </a:t>
            </a:r>
            <a:r>
              <a:rPr lang="en-US" b="1" dirty="0"/>
              <a:t>security, compliance, and platform supportability</a:t>
            </a:r>
            <a:r>
              <a:rPr lang="en-US" dirty="0"/>
              <a:t>.</a:t>
            </a:r>
          </a:p>
        </p:txBody>
      </p:sp>
    </p:spTree>
    <p:extLst>
      <p:ext uri="{BB962C8B-B14F-4D97-AF65-F5344CB8AC3E}">
        <p14:creationId xmlns:p14="http://schemas.microsoft.com/office/powerpoint/2010/main" val="148021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r>
              <a:rPr lang="en-US" sz="1000" dirty="0">
                <a:hlinkClick r:id="rId2"/>
              </a:rPr>
              <a:t>Generally Available: Azure Premium SSD v2 Disk is now available in US Gov Arizona</a:t>
            </a:r>
            <a:endParaRPr lang="en-US" sz="1000" dirty="0"/>
          </a:p>
          <a:p>
            <a:r>
              <a:rPr lang="en-US" sz="1000" dirty="0"/>
              <a:t>Azure Premium SSD v2 is now available in </a:t>
            </a:r>
            <a:r>
              <a:rPr lang="en-US" sz="1000" b="1" dirty="0"/>
              <a:t>US Gov Arizona</a:t>
            </a:r>
            <a:r>
              <a:rPr lang="en-US" sz="1000" dirty="0"/>
              <a:t>, extending high-performance storage to government regions without Availability Zones. This next-generation disk offers </a:t>
            </a:r>
            <a:r>
              <a:rPr lang="en-US" sz="1000" b="1" dirty="0"/>
              <a:t>sub-millisecond latency and strong price-performance</a:t>
            </a:r>
            <a:r>
              <a:rPr lang="en-US" sz="1000" dirty="0"/>
              <a:t>, making it ideal for IO-intensive workloads. It supports enterprise scenarios such as </a:t>
            </a:r>
            <a:r>
              <a:rPr lang="en-US" sz="1000" b="1" dirty="0"/>
              <a:t>SQL Server, Oracle, SAP, NoSQL databases, analytics, and gaming workloads</a:t>
            </a:r>
            <a:r>
              <a:rPr lang="en-US" sz="1000" dirty="0"/>
              <a:t>. Premium SSD v2 also allows </a:t>
            </a:r>
            <a:r>
              <a:rPr lang="en-US" sz="1000" b="1" dirty="0"/>
              <a:t>independent tuning of IOPS and throughput</a:t>
            </a:r>
            <a:r>
              <a:rPr lang="en-US" sz="1000" dirty="0"/>
              <a:t>, providing greater flexibility and efficiency. This update helps organizations deploy </a:t>
            </a:r>
            <a:r>
              <a:rPr lang="en-US" sz="1000" b="1" dirty="0"/>
              <a:t>high-performance storage in regulated environments</a:t>
            </a:r>
            <a:r>
              <a:rPr lang="en-US" sz="1000" dirty="0"/>
              <a:t> while maintaining cost control.</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Azure Premium SSD v2 Disk is now available in South India</a:t>
            </a:r>
            <a:endParaRPr lang="en-US" dirty="0"/>
          </a:p>
          <a:p>
            <a:pPr algn="just"/>
            <a:r>
              <a:rPr lang="en-US" dirty="0"/>
              <a:t>Azure Premium SSD v2 is now available in </a:t>
            </a:r>
            <a:r>
              <a:rPr lang="en-US" b="1" dirty="0"/>
              <a:t>South India</a:t>
            </a:r>
            <a:r>
              <a:rPr lang="en-US" dirty="0"/>
              <a:t>, expanding access to high-performance storage even in regions without Availability Zones. This next-generation disk offering delivers </a:t>
            </a:r>
            <a:r>
              <a:rPr lang="en-US" b="1" dirty="0"/>
              <a:t>sub-millisecond latency and strong price-performance</a:t>
            </a:r>
            <a:r>
              <a:rPr lang="en-US" dirty="0"/>
              <a:t>, making it ideal for IO-intensive workloads. It supports a wide range of enterprise scenarios, including </a:t>
            </a:r>
            <a:r>
              <a:rPr lang="en-US" b="1" dirty="0"/>
              <a:t>SQL Server, Oracle, SAP, and NoSQL databases</a:t>
            </a:r>
            <a:r>
              <a:rPr lang="en-US" dirty="0"/>
              <a:t>, as well as analytics and gaming workloads. Premium SSD v2 also provides </a:t>
            </a:r>
            <a:r>
              <a:rPr lang="en-US" b="1" dirty="0"/>
              <a:t>flexible performance tuning</a:t>
            </a:r>
            <a:r>
              <a:rPr lang="en-US" dirty="0"/>
              <a:t>, allowing independent configuration of IOPS and throughput. This update helps organizations deploy </a:t>
            </a:r>
            <a:r>
              <a:rPr lang="en-US" b="1" dirty="0"/>
              <a:t>high-performance, cost-efficient storage closer to their workloads</a:t>
            </a:r>
            <a:r>
              <a:rPr lang="en-US" dirty="0"/>
              <a:t> in additional regions.</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Generally Available: Azure Data Box now supports Azure Files Provisioned v2</a:t>
            </a:r>
            <a:endParaRPr lang="en-US" sz="1000" dirty="0"/>
          </a:p>
          <a:p>
            <a:pPr algn="just"/>
            <a:r>
              <a:rPr lang="en-US" sz="1000" dirty="0"/>
              <a:t>Azure Data Box now supports </a:t>
            </a:r>
            <a:r>
              <a:rPr lang="en-US" sz="1000" b="1" dirty="0"/>
              <a:t>direct data ingestion into Azure Files Provisioned v2 storage accounts</a:t>
            </a:r>
            <a:r>
              <a:rPr lang="en-US" sz="1000" dirty="0"/>
              <a:t>, expanding offline data transfer capabilities. Azure Files Provisioned v2 allows customers to </a:t>
            </a:r>
            <a:r>
              <a:rPr lang="en-US" sz="1000" b="1" dirty="0"/>
              <a:t>independently provision capacity, IOPS, and throughput</a:t>
            </a:r>
            <a:r>
              <a:rPr lang="en-US" sz="1000" dirty="0"/>
              <a:t>, providing greater flexibility and cost control. With this update, organizations can efficiently migrate large datasets into </a:t>
            </a:r>
            <a:r>
              <a:rPr lang="en-US" sz="1000" b="1" dirty="0"/>
              <a:t>high-performance file shares</a:t>
            </a:r>
            <a:r>
              <a:rPr lang="en-US" sz="1000" dirty="0"/>
              <a:t> without relying on network transfers. This is especially useful for </a:t>
            </a:r>
            <a:r>
              <a:rPr lang="en-US" sz="1000" b="1" dirty="0"/>
              <a:t>initial data seeding, migrations, and large-scale file workloads</a:t>
            </a:r>
            <a:r>
              <a:rPr lang="en-US" sz="1000" dirty="0"/>
              <a:t>. The feature is available across most public Azure regions. Overall, it simplifies and accelerates data onboarding into modern Azure Files environments.</a:t>
            </a:r>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User delegation SAS for Azure Tables, Azure Files, and Azure Queues</a:t>
            </a:r>
            <a:endParaRPr lang="en-US" dirty="0"/>
          </a:p>
          <a:p>
            <a:pPr algn="just"/>
            <a:r>
              <a:rPr lang="en-US" dirty="0"/>
              <a:t>User delegation SAS is now </a:t>
            </a:r>
            <a:r>
              <a:rPr lang="en-US" b="1" dirty="0"/>
              <a:t>generally available for Azure Tables, Azure Files, and Azure Queues</a:t>
            </a:r>
            <a:r>
              <a:rPr lang="en-US" dirty="0"/>
              <a:t>, extending secure access control across more Azure Storage services. Unlike account or service SAS, user delegation SAS is </a:t>
            </a:r>
            <a:r>
              <a:rPr lang="en-US" b="1" dirty="0"/>
              <a:t>tied to a Microsoft Entra identity</a:t>
            </a:r>
            <a:r>
              <a:rPr lang="en-US" dirty="0"/>
              <a:t>, making it more secure and aligned with modern identity-based access models. It enables </a:t>
            </a:r>
            <a:r>
              <a:rPr lang="en-US" b="1" dirty="0"/>
              <a:t>fine-grained access control</a:t>
            </a:r>
            <a:r>
              <a:rPr lang="en-US" dirty="0"/>
              <a:t>, allowing SAS tokens to be scoped at different levels such as table, entity, queue, or individual file. This ensures precise permission management while reducing the risk of overexposure. There is </a:t>
            </a:r>
            <a:r>
              <a:rPr lang="en-US" b="1" dirty="0"/>
              <a:t>no additional cost</a:t>
            </a:r>
            <a:r>
              <a:rPr lang="en-US" dirty="0"/>
              <a:t>, as pricing follows standard storage transaction rates. </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AE795B7-0C4D-6CAC-2F9E-29152EF52D4D}"/>
              </a:ext>
            </a:extLst>
          </p:cNvPr>
          <p:cNvSpPr>
            <a:spLocks noGrp="1"/>
          </p:cNvSpPr>
          <p:nvPr>
            <p:ph type="body" sz="quarter" idx="10"/>
          </p:nvPr>
        </p:nvSpPr>
        <p:spPr/>
        <p:txBody>
          <a:bodyPr/>
          <a:lstStyle/>
          <a:p>
            <a:pPr algn="just"/>
            <a:r>
              <a:rPr lang="en-US" sz="1000" dirty="0">
                <a:hlinkClick r:id="rId2"/>
              </a:rPr>
              <a:t>Public Preview: Azure NetApp Files storage with cool access enhancement</a:t>
            </a:r>
            <a:endParaRPr lang="en-US" sz="1000" dirty="0"/>
          </a:p>
          <a:p>
            <a:pPr algn="just"/>
            <a:r>
              <a:rPr lang="en-US" sz="1000" dirty="0"/>
              <a:t>Azure NetApp Files now enhances QoS with </a:t>
            </a:r>
            <a:r>
              <a:rPr lang="en-US" sz="1000" b="1" dirty="0"/>
              <a:t>cool access support on Premium and Ultra tiers</a:t>
            </a:r>
            <a:r>
              <a:rPr lang="en-US" sz="1000" dirty="0"/>
              <a:t>, improving cost and performance balance for mixed workloads. As data transitions to cool storage, throughput is </a:t>
            </a:r>
            <a:r>
              <a:rPr lang="en-US" sz="1000" b="1" dirty="0"/>
              <a:t>automatically adjusted</a:t>
            </a:r>
            <a:r>
              <a:rPr lang="en-US" sz="1000" dirty="0"/>
              <a:t>, ensuring hot data maintains high performance. This dynamic behavior eliminates the need for manual tuning while optimizing resource utilization. It is especially beneficial for environments with </a:t>
            </a:r>
            <a:r>
              <a:rPr lang="en-US" sz="1000" b="1" dirty="0"/>
              <a:t>changing access patterns</a:t>
            </a:r>
            <a:r>
              <a:rPr lang="en-US" sz="1000" dirty="0"/>
              <a:t>, such as analytics or tiered data workloads. </a:t>
            </a:r>
          </a:p>
        </p:txBody>
      </p:sp>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p:txBody>
          <a:bodyPr/>
          <a:lstStyle/>
          <a:p>
            <a:pPr algn="just"/>
            <a:r>
              <a:rPr lang="en-US" dirty="0">
                <a:hlinkClick r:id="rId3"/>
              </a:rPr>
              <a:t>Generally Available: Azure Data Box enhances compliance with automatic Secure Erasure Certificates</a:t>
            </a:r>
            <a:endParaRPr lang="en-US" dirty="0"/>
          </a:p>
          <a:p>
            <a:pPr algn="just"/>
            <a:r>
              <a:rPr lang="en-US" u="sng" dirty="0">
                <a:hlinkClick r:id="rId4"/>
              </a:rPr>
              <a:t>Azure Data Box</a:t>
            </a:r>
            <a:r>
              <a:rPr lang="en-US" dirty="0"/>
              <a:t> now automatically generates a downloadable Secure Erasure Certificate for every completed order, providing verification that all data on the device has been securely erased in accordance with </a:t>
            </a:r>
            <a:r>
              <a:rPr lang="en-US" u="sng" dirty="0">
                <a:hlinkClick r:id="rId5"/>
              </a:rPr>
              <a:t>NIST 800-88 Revision 2</a:t>
            </a:r>
            <a:r>
              <a:rPr lang="en-US" dirty="0"/>
              <a:t> standards. </a:t>
            </a:r>
          </a:p>
          <a:p>
            <a:pPr algn="just"/>
            <a:r>
              <a:rPr lang="en-US" dirty="0"/>
              <a:t> The certificate is created as part of the standard cleanup process and is accessible directly from the Azure portal. This enhancement reduces audit complexity and eliminates the need for manual validation, while increasing transparency and simplifying compliance for organizations handling sensitive data, such as: government, law enforcement, and financial services. </a:t>
            </a:r>
          </a:p>
          <a:p>
            <a:pPr algn="just"/>
            <a:endParaRPr lang="en-US" dirty="0"/>
          </a:p>
        </p:txBody>
      </p:sp>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E3B96D-0F59-B674-E997-E1972C21F85E}"/>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370D08FB-7888-FE4F-9D2D-3B8F3BFEB7CD}"/>
              </a:ext>
            </a:extLst>
          </p:cNvPr>
          <p:cNvSpPr>
            <a:spLocks noGrp="1"/>
          </p:cNvSpPr>
          <p:nvPr>
            <p:ph type="title"/>
          </p:nvPr>
        </p:nvSpPr>
        <p:spPr/>
        <p:txBody>
          <a:bodyPr/>
          <a:lstStyle/>
          <a:p>
            <a:r>
              <a:rPr lang="en-US" sz="1600" dirty="0"/>
              <a:t>Storage &amp; Data Updates</a:t>
            </a:r>
            <a:endParaRPr lang="en-US" dirty="0"/>
          </a:p>
        </p:txBody>
      </p:sp>
      <p:sp>
        <p:nvSpPr>
          <p:cNvPr id="4" name="Text Placeholder 3">
            <a:extLst>
              <a:ext uri="{FF2B5EF4-FFF2-40B4-BE49-F238E27FC236}">
                <a16:creationId xmlns:a16="http://schemas.microsoft.com/office/drawing/2014/main" id="{3487D689-7C0F-B3B3-A944-4A3D47ACB41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8D24F3E-DD7C-32F2-9244-5E22BB3753D3}"/>
              </a:ext>
            </a:extLst>
          </p:cNvPr>
          <p:cNvSpPr>
            <a:spLocks noGrp="1"/>
          </p:cNvSpPr>
          <p:nvPr>
            <p:ph type="body" sz="quarter" idx="16"/>
          </p:nvPr>
        </p:nvSpPr>
        <p:spPr/>
        <p:txBody>
          <a:bodyPr/>
          <a:lstStyle/>
          <a:p>
            <a:r>
              <a:rPr lang="en-US" dirty="0">
                <a:hlinkClick r:id="rId2"/>
              </a:rPr>
              <a:t>Retirement: </a:t>
            </a:r>
            <a:r>
              <a:rPr lang="en-US" dirty="0" err="1">
                <a:hlinkClick r:id="rId2"/>
              </a:rPr>
              <a:t>AzureDnsEndpoints</a:t>
            </a:r>
            <a:r>
              <a:rPr lang="en-US" dirty="0">
                <a:hlinkClick r:id="rId2"/>
              </a:rPr>
              <a:t> for Azure storage accounts will be retired March 2027</a:t>
            </a:r>
            <a:endParaRPr lang="en-US" dirty="0"/>
          </a:p>
          <a:p>
            <a:r>
              <a:rPr lang="en-US" dirty="0" err="1"/>
              <a:t>AzureDnsZone</a:t>
            </a:r>
            <a:r>
              <a:rPr lang="en-US" dirty="0"/>
              <a:t> endpoints (preview) for Azure Blob Storage will be </a:t>
            </a:r>
            <a:r>
              <a:rPr lang="en-US" b="1" dirty="0"/>
              <a:t>retired in March 2027</a:t>
            </a:r>
            <a:r>
              <a:rPr lang="en-US" dirty="0"/>
              <a:t>, and customers must transition to </a:t>
            </a:r>
            <a:r>
              <a:rPr lang="en-US" b="1" dirty="0"/>
              <a:t>Standard endpoints by April 1, 2027</a:t>
            </a:r>
            <a:r>
              <a:rPr lang="en-US" dirty="0"/>
              <a:t>. After this date, preview endpoints will no longer be supported for production use. Microsoft recommends migrating both </a:t>
            </a:r>
            <a:r>
              <a:rPr lang="en-US" b="1" dirty="0"/>
              <a:t>existing and new deployments</a:t>
            </a:r>
            <a:r>
              <a:rPr lang="en-US" dirty="0"/>
              <a:t> to Standard endpoints, which are fully </a:t>
            </a:r>
            <a:r>
              <a:rPr lang="en-US" b="1" dirty="0"/>
              <a:t>Generally Available and supported</a:t>
            </a:r>
            <a:r>
              <a:rPr lang="en-US" dirty="0"/>
              <a:t>. This ensures continued reliability, support, and compatibility with Azure services. Customers should plan and execute migration early to avoid any service disruption.</a:t>
            </a:r>
          </a:p>
        </p:txBody>
      </p:sp>
    </p:spTree>
    <p:extLst>
      <p:ext uri="{BB962C8B-B14F-4D97-AF65-F5344CB8AC3E}">
        <p14:creationId xmlns:p14="http://schemas.microsoft.com/office/powerpoint/2010/main" val="193374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2"/>
              </a:rPr>
              <a:t>Retirement: Azure Cosmos DB for PostgreSQL will retire on March 31, 2029</a:t>
            </a:r>
            <a:endParaRPr lang="en-US" dirty="0"/>
          </a:p>
          <a:p>
            <a:pPr algn="just"/>
            <a:r>
              <a:rPr lang="en-US" dirty="0"/>
              <a:t>Azure Cosmos DB for PostgreSQL will be </a:t>
            </a:r>
            <a:r>
              <a:rPr lang="en-US" b="1" dirty="0"/>
              <a:t>retired on March 31, 2029</a:t>
            </a:r>
            <a:r>
              <a:rPr lang="en-US" dirty="0"/>
              <a:t>, and organizations must migrate to </a:t>
            </a:r>
            <a:r>
              <a:rPr lang="en-US" b="1" dirty="0"/>
              <a:t>Azure Database for PostgreSQL Elastic Cluster</a:t>
            </a:r>
            <a:r>
              <a:rPr lang="en-US" dirty="0"/>
              <a:t> before that date. Elastic Cluster provides the same distributed PostgreSQL capabilities using the </a:t>
            </a:r>
            <a:r>
              <a:rPr lang="en-US" b="1" dirty="0" err="1"/>
              <a:t>Citus</a:t>
            </a:r>
            <a:r>
              <a:rPr lang="en-US" b="1" dirty="0"/>
              <a:t> extension</a:t>
            </a:r>
            <a:r>
              <a:rPr lang="en-US" dirty="0"/>
              <a:t>, with added benefits such as </a:t>
            </a:r>
            <a:r>
              <a:rPr lang="en-US" b="1" dirty="0"/>
              <a:t>simpler pricing, newer PostgreSQL versions, and broader compute options</a:t>
            </a:r>
            <a:r>
              <a:rPr lang="en-US" dirty="0"/>
              <a:t>. It also includes built-in features like </a:t>
            </a:r>
            <a:r>
              <a:rPr lang="en-US" b="1" dirty="0"/>
              <a:t>high availability, backups, point-in-time restore, and disaster recovery</a:t>
            </a:r>
            <a:r>
              <a:rPr lang="en-US" dirty="0"/>
              <a:t>. The migration can be performed with minimal disruption and </a:t>
            </a:r>
            <a:r>
              <a:rPr lang="en-US" b="1" dirty="0"/>
              <a:t>no application code changes</a:t>
            </a:r>
            <a:r>
              <a:rPr lang="en-US" dirty="0"/>
              <a:t>. Organizations should assess current clusters, provision the target environment, and use the </a:t>
            </a:r>
            <a:r>
              <a:rPr lang="en-US" b="1" dirty="0"/>
              <a:t>migration tools to move and validate data</a:t>
            </a:r>
            <a:r>
              <a:rPr lang="en-US" dirty="0"/>
              <a:t>. This transition ensures a </a:t>
            </a:r>
            <a:r>
              <a:rPr lang="en-US" b="1" dirty="0"/>
              <a:t>future-ready, fully supported PostgreSQL platform on Azure</a:t>
            </a:r>
            <a:r>
              <a:rPr lang="en-US" dirty="0"/>
              <a:t>.</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Event Grid provides new capabilities for smarter, more secure event-driven architectures</a:t>
            </a:r>
            <a:endParaRPr lang="en-US" dirty="0"/>
          </a:p>
          <a:p>
            <a:pPr algn="just"/>
            <a:r>
              <a:rPr lang="en-US" dirty="0"/>
              <a:t>Azure Event Grid offers a variety of features in Public Preview – intended to help you better manage large-scale, distributed systems with improved interoperability and control.  </a:t>
            </a:r>
          </a:p>
          <a:p>
            <a:pPr algn="just"/>
            <a:r>
              <a:rPr lang="en-US" dirty="0"/>
              <a:t>Public Preview Features:  </a:t>
            </a:r>
          </a:p>
          <a:p>
            <a:pPr marL="171450" indent="-171450" algn="just">
              <a:buFont typeface="Arial" panose="020B0604020202020204" pitchFamily="34" charset="0"/>
              <a:buChar char="•"/>
            </a:pPr>
            <a:r>
              <a:rPr lang="en-US" u="sng" dirty="0">
                <a:hlinkClick r:id="rId3"/>
              </a:rPr>
              <a:t>Cross-Tenant Webhook Delivery</a:t>
            </a:r>
            <a:r>
              <a:rPr lang="en-US" dirty="0"/>
              <a:t>: Enables secure cross-tenant delivery using managed identity in Event Grid namespaces.  </a:t>
            </a:r>
          </a:p>
          <a:p>
            <a:pPr marL="171450" indent="-171450" algn="just">
              <a:buFont typeface="Arial" panose="020B0604020202020204" pitchFamily="34" charset="0"/>
              <a:buChar char="•"/>
            </a:pPr>
            <a:r>
              <a:rPr lang="en-US" u="sng" dirty="0">
                <a:hlinkClick r:id="rId4"/>
              </a:rPr>
              <a:t>Network Security Perimeter</a:t>
            </a:r>
            <a:r>
              <a:rPr lang="en-US" dirty="0"/>
              <a:t>: Defines access boundaries with inbound and outbound communication rules for enhanced security.  </a:t>
            </a:r>
          </a:p>
          <a:p>
            <a:pPr marL="171450" indent="-171450" algn="just">
              <a:buFont typeface="Arial" panose="020B0604020202020204" pitchFamily="34" charset="0"/>
              <a:buChar char="•"/>
            </a:pPr>
            <a:r>
              <a:rPr lang="en-US" u="sng" dirty="0">
                <a:hlinkClick r:id="rId5"/>
              </a:rPr>
              <a:t>Managed Identity for Webhooks</a:t>
            </a:r>
            <a:r>
              <a:rPr lang="en-US" dirty="0"/>
              <a:t>: Automates secure authentication between Event Grid and webhook endpoints.  </a:t>
            </a:r>
          </a:p>
          <a:p>
            <a:pPr marL="171450" indent="-171450" algn="just">
              <a:buFont typeface="Arial" panose="020B0604020202020204" pitchFamily="34" charset="0"/>
              <a:buChar char="•"/>
            </a:pPr>
            <a:r>
              <a:rPr lang="en-US" u="sng" dirty="0">
                <a:hlinkClick r:id="rId6"/>
              </a:rPr>
              <a:t>MQTT OAuth 2.0 Authentication</a:t>
            </a:r>
            <a:r>
              <a:rPr lang="en-US" dirty="0"/>
              <a:t>: Uses JWTs from OIDC-compliant providers for secure client access.  </a:t>
            </a:r>
          </a:p>
          <a:p>
            <a:pPr marL="171450" indent="-171450" algn="just">
              <a:buFont typeface="Arial" panose="020B0604020202020204" pitchFamily="34" charset="0"/>
              <a:buChar char="•"/>
            </a:pPr>
            <a:r>
              <a:rPr lang="en-US" u="sng" dirty="0">
                <a:hlinkClick r:id="rId7"/>
              </a:rPr>
              <a:t>MQTT Custom Webhook Authentication</a:t>
            </a:r>
            <a:r>
              <a:rPr lang="en-US" dirty="0"/>
              <a:t>: Dynamically authorizes clients via external webhooks or Azure Functions.  </a:t>
            </a:r>
          </a:p>
          <a:p>
            <a:pPr marL="171450" indent="-171450" algn="just">
              <a:buFont typeface="Arial" panose="020B0604020202020204" pitchFamily="34" charset="0"/>
              <a:buChar char="•"/>
            </a:pPr>
            <a:r>
              <a:rPr lang="en-US" u="sng" dirty="0">
                <a:hlinkClick r:id="rId8"/>
              </a:rPr>
              <a:t>MQTT Assigned Client Identifiers</a:t>
            </a:r>
            <a:r>
              <a:rPr lang="en-US" dirty="0"/>
              <a:t>: Assigns static client IDs for better session consistency and traceability.  </a:t>
            </a:r>
          </a:p>
          <a:p>
            <a:pPr algn="just"/>
            <a:endParaRPr lang="en-US" dirty="0"/>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p:txBody>
          <a:bodyPr/>
          <a:lstStyle/>
          <a:p>
            <a:pPr algn="just"/>
            <a:r>
              <a:rPr lang="en-US" sz="1000" dirty="0">
                <a:hlinkClick r:id="rId2"/>
              </a:rPr>
              <a:t>Announcing general availability of Network Security Perimeter for Azure Service Bus</a:t>
            </a:r>
            <a:endParaRPr lang="en-US" sz="1000" dirty="0"/>
          </a:p>
          <a:p>
            <a:pPr algn="just"/>
            <a:r>
              <a:rPr lang="en-US" sz="1000" dirty="0"/>
              <a:t>MS announced the general availability of Network Security Perimeter (NSP) support for Azure Service Bus. Network Security Perimeter allows to define a logical network boundary around Service Bus namespaces and other Azure PaaS resources, restricting public network access and enabling secure communication between services within the perimeter. This builds on the existing network security options for Service Bus - IP firewall rules, VNet service endpoints, and private endpoints - by providing centralized, perimeter-level control over which resources can communicate with each other.</a:t>
            </a:r>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3"/>
              </a:rPr>
              <a:t>Generally Available: Azure Event Grid provides new capabilities for smarter, more secure event-driven architectures</a:t>
            </a:r>
            <a:endParaRPr lang="en-US" dirty="0"/>
          </a:p>
          <a:p>
            <a:pPr algn="just"/>
            <a:r>
              <a:rPr lang="en-US" dirty="0"/>
              <a:t>Azure Event Grid introduces new </a:t>
            </a:r>
            <a:r>
              <a:rPr lang="en-US" b="1" dirty="0"/>
              <a:t>generally available features</a:t>
            </a:r>
            <a:r>
              <a:rPr lang="en-US" dirty="0"/>
              <a:t> to improve scalability, control, and interoperability for distributed systems. MQTT Message Ordering ensures </a:t>
            </a:r>
            <a:r>
              <a:rPr lang="en-US" b="1" dirty="0"/>
              <a:t>in-order delivery within a client session</a:t>
            </a:r>
            <a:r>
              <a:rPr lang="en-US" dirty="0"/>
              <a:t>, which is critical for sequence-dependent workflows. MQTT Connect Rate Limiting enhances stability by </a:t>
            </a:r>
            <a:r>
              <a:rPr lang="en-US" b="1" dirty="0"/>
              <a:t>restricting connection attempts to one per second per client</a:t>
            </a:r>
            <a:r>
              <a:rPr lang="en-US" dirty="0"/>
              <a:t>. MQTT Topic Segment Expansion increases flexibility by supporting </a:t>
            </a:r>
            <a:r>
              <a:rPr lang="en-US" b="1" dirty="0"/>
              <a:t>up to 15 topic segments for more granular routing</a:t>
            </a:r>
            <a:r>
              <a:rPr lang="en-US" dirty="0"/>
              <a:t>. Additionally, Cross-Tenant Delivery enables secure event routing across tenants using </a:t>
            </a:r>
            <a:r>
              <a:rPr lang="en-US" b="1" dirty="0"/>
              <a:t>managed identities</a:t>
            </a:r>
            <a:r>
              <a:rPr lang="en-US" dirty="0"/>
              <a:t> to services like Event Hubs, Service Bus, and Storage Queues. Together, these features strengthen reliability and enable more advanced event-driven architectures.</a:t>
            </a:r>
          </a:p>
        </p:txBody>
      </p:sp>
    </p:spTree>
    <p:extLst>
      <p:ext uri="{BB962C8B-B14F-4D97-AF65-F5344CB8AC3E}">
        <p14:creationId xmlns:p14="http://schemas.microsoft.com/office/powerpoint/2010/main" val="8062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42BB-AC6C-2AA7-DD8D-F72AA7FFC43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F9F86E-2A6D-BDAE-C8EE-EE788A5258D5}"/>
              </a:ext>
            </a:extLst>
          </p:cNvPr>
          <p:cNvSpPr>
            <a:spLocks noGrp="1"/>
          </p:cNvSpPr>
          <p:nvPr>
            <p:ph type="body" sz="quarter" idx="10"/>
          </p:nvPr>
        </p:nvSpPr>
        <p:spPr/>
        <p:txBody>
          <a:bodyPr/>
          <a:lstStyle/>
          <a:p>
            <a:r>
              <a:rPr lang="en-US" sz="1000" dirty="0">
                <a:hlinkClick r:id="rId2"/>
              </a:rPr>
              <a:t>Retirement: Select Azure AI Language Features</a:t>
            </a:r>
            <a:endParaRPr lang="en-US" sz="1000" dirty="0"/>
          </a:p>
          <a:p>
            <a:r>
              <a:rPr lang="en-US" sz="1000" dirty="0"/>
              <a:t>On March 20, 2027, Microsoft will retire the following eight Azure AI Language features: Key Phrase Extraction</a:t>
            </a:r>
          </a:p>
          <a:p>
            <a:pPr marL="171450" indent="-171450">
              <a:buFont typeface="Arial" panose="020B0604020202020204" pitchFamily="34" charset="0"/>
              <a:buChar char="•"/>
            </a:pPr>
            <a:r>
              <a:rPr lang="en-US" sz="1000" dirty="0"/>
              <a:t>Sentiment Analysis and Opinion Mining</a:t>
            </a:r>
          </a:p>
          <a:p>
            <a:pPr marL="171450" indent="-171450">
              <a:buFont typeface="Arial" panose="020B0604020202020204" pitchFamily="34" charset="0"/>
              <a:buChar char="•"/>
            </a:pPr>
            <a:r>
              <a:rPr lang="en-US" sz="1000" dirty="0"/>
              <a:t>Custom Text Classification</a:t>
            </a:r>
          </a:p>
          <a:p>
            <a:pPr marL="171450" indent="-171450">
              <a:buFont typeface="Arial" panose="020B0604020202020204" pitchFamily="34" charset="0"/>
              <a:buChar char="•"/>
            </a:pPr>
            <a:r>
              <a:rPr lang="en-US" sz="1000" dirty="0"/>
              <a:t>Conversational Language Understanding (CLU)</a:t>
            </a:r>
          </a:p>
          <a:p>
            <a:pPr marL="171450" indent="-171450">
              <a:buFont typeface="Arial" panose="020B0604020202020204" pitchFamily="34" charset="0"/>
              <a:buChar char="•"/>
            </a:pPr>
            <a:r>
              <a:rPr lang="en-US" sz="1000" dirty="0"/>
              <a:t>Custom Question Answering (CQA)</a:t>
            </a:r>
          </a:p>
          <a:p>
            <a:pPr marL="171450" indent="-171450">
              <a:buFont typeface="Arial" panose="020B0604020202020204" pitchFamily="34" charset="0"/>
              <a:buChar char="•"/>
            </a:pPr>
            <a:r>
              <a:rPr lang="en-US" sz="1000" dirty="0"/>
              <a:t>Orchestration Workflow</a:t>
            </a:r>
          </a:p>
          <a:p>
            <a:pPr marL="171450" indent="-171450">
              <a:buFont typeface="Arial" panose="020B0604020202020204" pitchFamily="34" charset="0"/>
              <a:buChar char="•"/>
            </a:pPr>
            <a:r>
              <a:rPr lang="en-US" sz="1000" dirty="0"/>
              <a:t>Summarization (extractive and abstractive, for documents and conversations)</a:t>
            </a:r>
          </a:p>
          <a:p>
            <a:pPr marL="171450" indent="-171450">
              <a:buFont typeface="Arial" panose="020B0604020202020204" pitchFamily="34" charset="0"/>
              <a:buChar char="•"/>
            </a:pPr>
            <a:r>
              <a:rPr lang="en-US" sz="1000" dirty="0"/>
              <a:t>Entity Linking. </a:t>
            </a:r>
          </a:p>
          <a:p>
            <a:br>
              <a:rPr lang="en-US" sz="1000" dirty="0"/>
            </a:br>
            <a:r>
              <a:rPr lang="en-US" sz="1000" dirty="0"/>
              <a:t>After this date, requests to these features will return errors. The related authoring and runtime capabilities in Language Studio, Microsoft Foundry, and via REST APIs will no longer be available. </a:t>
            </a:r>
          </a:p>
        </p:txBody>
      </p:sp>
      <p:sp>
        <p:nvSpPr>
          <p:cNvPr id="11" name="Title 10">
            <a:extLst>
              <a:ext uri="{FF2B5EF4-FFF2-40B4-BE49-F238E27FC236}">
                <a16:creationId xmlns:a16="http://schemas.microsoft.com/office/drawing/2014/main" id="{EF72EEE0-19C4-3124-5429-91324F7E9595}"/>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B669D008-31EC-793D-3B56-C9E4F2AE37D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CB4E159-3299-1205-ACAC-F0A50D9B2BFA}"/>
              </a:ext>
            </a:extLst>
          </p:cNvPr>
          <p:cNvSpPr>
            <a:spLocks noGrp="1"/>
          </p:cNvSpPr>
          <p:nvPr>
            <p:ph type="body" sz="quarter" idx="16"/>
          </p:nvPr>
        </p:nvSpPr>
        <p:spPr/>
        <p:txBody>
          <a:bodyPr/>
          <a:lstStyle/>
          <a:p>
            <a:pPr algn="just"/>
            <a:r>
              <a:rPr lang="en-US" dirty="0">
                <a:hlinkClick r:id="rId3"/>
              </a:rPr>
              <a:t>Retirement: External Data Import &amp; Data Connections in Azure Machine Learning will be retired on September 30, 2026</a:t>
            </a:r>
            <a:endParaRPr lang="en-US" dirty="0"/>
          </a:p>
          <a:p>
            <a:pPr algn="just"/>
            <a:r>
              <a:rPr lang="en-US" dirty="0"/>
              <a:t>Azure Machine Learning will </a:t>
            </a:r>
            <a:r>
              <a:rPr lang="en-US" b="1" dirty="0"/>
              <a:t>deprecate external data import and external data connections (Preview) on September 30, 2026</a:t>
            </a:r>
            <a:r>
              <a:rPr lang="en-US" dirty="0"/>
              <a:t>, impacting integrations with sources like S3, Snowflake, and Azure SQL Database. After this date, you will </a:t>
            </a:r>
            <a:r>
              <a:rPr lang="en-US" b="1" dirty="0"/>
              <a:t>no longer be able to create new imports or connections</a:t>
            </a:r>
            <a:r>
              <a:rPr lang="en-US" dirty="0"/>
              <a:t>, and existing connections will stop working, including scheduled refreshes. Previously imported data will remain accessible, but </a:t>
            </a:r>
            <a:r>
              <a:rPr lang="en-US" b="1" dirty="0"/>
              <a:t>will not update automatically</a:t>
            </a:r>
            <a:r>
              <a:rPr lang="en-US" dirty="0"/>
              <a:t>. To avoid disruptions, Microsoft recommends migrating data workflows to </a:t>
            </a:r>
            <a:r>
              <a:rPr lang="en-US" b="1" dirty="0"/>
              <a:t>Microsoft Fabric</a:t>
            </a:r>
            <a:r>
              <a:rPr lang="en-US" dirty="0"/>
              <a:t> and using </a:t>
            </a:r>
            <a:r>
              <a:rPr lang="en-US" b="1" dirty="0"/>
              <a:t>Azure ML datastores</a:t>
            </a:r>
            <a:r>
              <a:rPr lang="en-US" dirty="0"/>
              <a:t> for data access. This ensures continued support for </a:t>
            </a:r>
            <a:r>
              <a:rPr lang="en-US" b="1" dirty="0"/>
              <a:t>data ingestion, refresh, and pipeline operations</a:t>
            </a:r>
            <a:r>
              <a:rPr lang="en-US" dirty="0"/>
              <a:t>.</a:t>
            </a:r>
          </a:p>
        </p:txBody>
      </p:sp>
    </p:spTree>
    <p:extLst>
      <p:ext uri="{BB962C8B-B14F-4D97-AF65-F5344CB8AC3E}">
        <p14:creationId xmlns:p14="http://schemas.microsoft.com/office/powerpoint/2010/main" val="124760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ACB0A5D-ABFF-FDBA-2981-B5840044FB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p:txBody>
          <a:bodyPr/>
          <a:lstStyle/>
          <a:p>
            <a:pPr algn="just"/>
            <a:r>
              <a:rPr lang="en-US" dirty="0">
                <a:hlinkClick r:id="rId2"/>
              </a:rPr>
              <a:t>Generally Available: Azure DevOps March 2026 updates</a:t>
            </a:r>
            <a:endParaRPr lang="en-US" dirty="0"/>
          </a:p>
          <a:p>
            <a:pPr algn="just"/>
            <a:r>
              <a:rPr lang="en-US" dirty="0"/>
              <a:t>In March 2026, Azure DevOps introduced several updates to enhance </a:t>
            </a:r>
            <a:r>
              <a:rPr lang="en-US" b="1" dirty="0"/>
              <a:t>AI integration, security, and developer productivity</a:t>
            </a:r>
            <a:r>
              <a:rPr lang="en-US" dirty="0"/>
              <a:t>. The Remote MCP Server entered public preview, enabling </a:t>
            </a:r>
            <a:r>
              <a:rPr lang="en-US" b="1" dirty="0"/>
              <a:t>AI-powered capabilities without requiring local infrastructure</a:t>
            </a:r>
            <a:r>
              <a:rPr lang="en-US" dirty="0"/>
              <a:t>. Security was strengthened with </a:t>
            </a:r>
            <a:r>
              <a:rPr lang="en-US" b="1" dirty="0"/>
              <a:t>Advanced Security PR checks, improved audit logging for secret protection events, and exportable security data</a:t>
            </a:r>
            <a:r>
              <a:rPr lang="en-US" dirty="0"/>
              <a:t>. Azure Pipelines gained better visibility through </a:t>
            </a:r>
            <a:r>
              <a:rPr lang="en-US" b="1" dirty="0"/>
              <a:t>artifact tracking and a new Stages view</a:t>
            </a:r>
            <a:r>
              <a:rPr lang="en-US" dirty="0"/>
              <a:t>, providing clear insight into deployments across environments. Additionally, usability improvements include </a:t>
            </a:r>
            <a:r>
              <a:rPr lang="en-US" b="1" dirty="0"/>
              <a:t>auto-complete PR defaults, enhanced Kanban views, cross-project linking in test results, and increased process limits</a:t>
            </a:r>
            <a:r>
              <a:rPr lang="en-US" dirty="0"/>
              <a:t>. </a:t>
            </a:r>
          </a:p>
        </p:txBody>
      </p:sp>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Azure Maps Adds Support to Private Endpoints (Preview)</a:t>
            </a:r>
            <a:endParaRPr lang="en-US" dirty="0"/>
          </a:p>
          <a:p>
            <a:pPr algn="just"/>
            <a:r>
              <a:rPr lang="en-US" dirty="0"/>
              <a:t>Azure Maps now supports </a:t>
            </a:r>
            <a:r>
              <a:rPr lang="en-US" b="1" dirty="0"/>
              <a:t>Private Endpoints (preview)</a:t>
            </a:r>
            <a:r>
              <a:rPr lang="en-US" dirty="0"/>
              <a:t>, enabling secure access to mapping services through </a:t>
            </a:r>
            <a:r>
              <a:rPr lang="en-US" b="1" dirty="0"/>
              <a:t>Azure Private Link</a:t>
            </a:r>
            <a:r>
              <a:rPr lang="en-US" dirty="0"/>
              <a:t>. This allows traffic to remain within a </a:t>
            </a:r>
            <a:r>
              <a:rPr lang="en-US" b="1" dirty="0"/>
              <a:t>private virtual network</a:t>
            </a:r>
            <a:r>
              <a:rPr lang="en-US" dirty="0"/>
              <a:t>, eliminating exposure to the public internet. The feature improves </a:t>
            </a:r>
            <a:r>
              <a:rPr lang="en-US" b="1" dirty="0"/>
              <a:t>security and compliance</a:t>
            </a:r>
            <a:r>
              <a:rPr lang="en-US" dirty="0"/>
              <a:t>, making Azure Maps suitable for regulated and enterprise environments. It also enables seamless integration with </a:t>
            </a:r>
            <a:r>
              <a:rPr lang="en-US" b="1" dirty="0"/>
              <a:t>existing VNet architectures and centralized security controls</a:t>
            </a:r>
            <a:r>
              <a:rPr lang="en-US" dirty="0"/>
              <a:t>. Organizations can now use Azure Maps while maintaining </a:t>
            </a:r>
            <a:r>
              <a:rPr lang="en-US" b="1" dirty="0"/>
              <a:t>strict network isolation and Zero Trust principles</a:t>
            </a:r>
            <a:r>
              <a:rPr lang="en-US" dirty="0"/>
              <a:t>. </a:t>
            </a:r>
          </a:p>
        </p:txBody>
      </p:sp>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1087</TotalTime>
  <Words>3457</Words>
  <Application>Microsoft Office PowerPoint</Application>
  <PresentationFormat>On-screen Show (16:9)</PresentationFormat>
  <Paragraphs>120</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Human Sans</vt:lpstr>
      <vt:lpstr>Human Sans Regular</vt:lpstr>
      <vt:lpstr>Continuum Theme</vt:lpstr>
      <vt:lpstr>Azure Times #200</vt:lpstr>
      <vt:lpstr>PowerPoint Presentation</vt:lpstr>
      <vt:lpstr>Networking Updates</vt:lpstr>
      <vt:lpstr>Networking Updates</vt:lpstr>
      <vt:lpstr>Networking Updates</vt:lpstr>
      <vt:lpstr>PowerPoint Presentation</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Compute Updates</vt:lpstr>
      <vt:lpstr>Compute Updates</vt:lpstr>
      <vt:lpstr>PowerPoint Presentation</vt:lpstr>
      <vt:lpstr>Storage &amp; Data Updates</vt:lpstr>
      <vt:lpstr>Storage &amp; Data Updates</vt:lpstr>
      <vt:lpstr>Storage &amp; Data Updates</vt:lpstr>
      <vt:lpstr>Storage &amp; Data Updates</vt:lpstr>
      <vt:lpstr>PowerPoint Presentation</vt:lpstr>
      <vt:lpstr>Databases Updates</vt:lpstr>
      <vt:lpstr>PowerPoint Presentation</vt:lpstr>
      <vt:lpstr>Integration Updates</vt:lpstr>
      <vt:lpstr>Integration Updates</vt:lpstr>
      <vt:lpstr>PowerPoint Presentation</vt:lpstr>
      <vt:lpstr>ML &amp; AI &amp; IOT Updates</vt:lpstr>
      <vt:lpstr>PowerPoint Presentation</vt:lpstr>
      <vt:lpstr>DevOps &amp; IaC &amp; Automation</vt:lpstr>
      <vt:lpstr>PowerPoint Presentation</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161</cp:revision>
  <dcterms:created xsi:type="dcterms:W3CDTF">2018-01-26T19:23:30Z</dcterms:created>
  <dcterms:modified xsi:type="dcterms:W3CDTF">2026-04-04T05:49:01Z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