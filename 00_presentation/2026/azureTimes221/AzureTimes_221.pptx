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5"/>
  </p:notesMasterIdLst>
  <p:handoutMasterIdLst>
    <p:handoutMasterId r:id="rId26"/>
  </p:handoutMasterIdLst>
  <p:sldIdLst>
    <p:sldId id="2142532340" r:id="rId5"/>
    <p:sldId id="2146847045" r:id="rId6"/>
    <p:sldId id="10657" r:id="rId7"/>
    <p:sldId id="2146847127" r:id="rId8"/>
    <p:sldId id="2146847126" r:id="rId9"/>
    <p:sldId id="2146847050" r:id="rId10"/>
    <p:sldId id="2146847096" r:id="rId11"/>
    <p:sldId id="2146847134" r:id="rId12"/>
    <p:sldId id="2146847135" r:id="rId13"/>
    <p:sldId id="2146847054" r:id="rId14"/>
    <p:sldId id="2146847142" r:id="rId15"/>
    <p:sldId id="2146847056" r:id="rId16"/>
    <p:sldId id="2146847144" r:id="rId17"/>
    <p:sldId id="2146847058" r:id="rId18"/>
    <p:sldId id="2146847111" r:id="rId19"/>
    <p:sldId id="2146847146" r:id="rId20"/>
    <p:sldId id="2146847147" r:id="rId21"/>
    <p:sldId id="2146847085" r:id="rId22"/>
    <p:sldId id="2146847084" r:id="rId23"/>
    <p:sldId id="2146847064" r:id="rId24"/>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 id="2146847126"/>
          </p14:sldIdLst>
        </p14:section>
        <p14:section name="Security &amp; Identity" id="{1AA42572-B3BD-44F7-813B-C2C647DDBB3C}">
          <p14:sldIdLst/>
        </p14:section>
        <p14:section name="Management &amp; Governance" id="{34181601-6D48-4406-A525-C7B5A12C6C5B}">
          <p14:sldIdLst/>
        </p14:section>
        <p14:section name="Compute" id="{05AA80BB-8802-49AB-8336-A884227CE2F7}">
          <p14:sldIdLst>
            <p14:sldId id="2146847050"/>
            <p14:sldId id="2146847096"/>
            <p14:sldId id="2146847134"/>
            <p14:sldId id="2146847135"/>
          </p14:sldIdLst>
        </p14:section>
        <p14:section name="Storage &amp; Data" id="{1F159046-CE0A-45BC-9D5B-6E6C95980F78}">
          <p14:sldIdLst/>
        </p14:section>
        <p14:section name="Databases" id="{AEAFAE72-AD56-48F3-926B-38BAE269038F}">
          <p14:sldIdLst>
            <p14:sldId id="2146847054"/>
            <p14:sldId id="2146847142"/>
          </p14:sldIdLst>
        </p14:section>
        <p14:section name="Integration" id="{ACBD46A3-6F1C-451B-A154-0A056E0DEFF6}">
          <p14:sldIdLst>
            <p14:sldId id="2146847056"/>
            <p14:sldId id="2146847144"/>
          </p14:sldIdLst>
        </p14:section>
        <p14:section name="ML &amp; AI &amp; IOT" id="{F4E1EAF1-55E9-4CA4-8ADC-28B69C1D66D2}">
          <p14:sldIdLst>
            <p14:sldId id="2146847058"/>
            <p14:sldId id="2146847111"/>
            <p14:sldId id="2146847146"/>
            <p14:sldId id="2146847147"/>
          </p14:sldIdLst>
        </p14:section>
        <p14:section name="DevOps &amp; IaC &amp; Automation" id="{A1B23FE8-BD24-477B-81AD-FE484F08F19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52" d="100"/>
          <a:sy n="152" d="100"/>
        </p:scale>
        <p:origin x="2789" y="355"/>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8/29/2026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8/29/2026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70025"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azure.microsoft.com/ru-ru/updates?id=570030" TargetMode="External"/><Relationship Id="rId2" Type="http://schemas.openxmlformats.org/officeDocument/2006/relationships/hyperlink" Target="https://azure.microsoft.com/ru-ru/updates?id=570020"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ru-ru/updates?id=569504"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azure.microsoft.com/ru-ru/updates?id=569910"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ru-ru/updates?id=569546" TargetMode="External"/><Relationship Id="rId2" Type="http://schemas.openxmlformats.org/officeDocument/2006/relationships/hyperlink" Target="https://azure.microsoft.com/ru-ru/updates?id=570105"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67334" TargetMode="External"/><Relationship Id="rId2" Type="http://schemas.openxmlformats.org/officeDocument/2006/relationships/hyperlink" Target="https://azure.microsoft.com/ru-ru/updates?id=570120"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69526" TargetMode="External"/><Relationship Id="rId2" Type="http://schemas.openxmlformats.org/officeDocument/2006/relationships/hyperlink" Target="https://azure.microsoft.com/ru-ru/updates?id=569873"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techcommunity.microsoft.com/blog/integrationsonazureblog/zonal-redundancy-in-api-management-standard-v2/4550977"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569690"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69760" TargetMode="External"/><Relationship Id="rId2" Type="http://schemas.openxmlformats.org/officeDocument/2006/relationships/hyperlink" Target="https://techcommunity.microsoft.com/blog/appsonazureblog/azure-sre-agent-vnet-integration-is-now-generally-available/4549774"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techcommunity.microsoft.com/blog/azure-ai-foundry-blog/cohere-parse-v5-is-now-available-in-microsoft-foundry/4550954" TargetMode="External"/><Relationship Id="rId2" Type="http://schemas.openxmlformats.org/officeDocument/2006/relationships/hyperlink" Target="https://techcommunity.microsoft.com/blog/azure-ai-foundry-blog/grok-4-6-comes-to-microsoft-foundry-models-built-for-long-horizon-reasoning-and-/4547578"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#221</a:t>
            </a:r>
          </a:p>
        </p:txBody>
      </p:sp>
      <p:sp>
        <p:nvSpPr>
          <p:cNvPr id="4" name="Text Placeholder 3"/>
          <p:cNvSpPr>
            <a:spLocks noGrp="1"/>
          </p:cNvSpPr>
          <p:nvPr>
            <p:ph type="body" sz="quarter" idx="11"/>
          </p:nvPr>
        </p:nvSpPr>
        <p:spPr/>
        <p:txBody>
          <a:bodyPr/>
          <a:lstStyle/>
          <a:p>
            <a:r>
              <a:rPr lang="en-US" spc="300" dirty="0"/>
              <a:t>August 31,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56E32C-301E-742F-F34C-CB987E7FE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Networking</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IPv6 dual-stack support for Azure Bastion</a:t>
            </a:r>
            <a:endParaRPr lang="en-US" dirty="0"/>
          </a:p>
          <a:p>
            <a:pPr algn="just"/>
            <a:r>
              <a:rPr lang="en-US" dirty="0"/>
              <a:t>Azure Bastion support for IPv4 and IPv6 dual-stack configurations is now available in public preview. Customers can configure a newly created Bastion deployment with both IPv4 and IPv6 public IP addresses. </a:t>
            </a:r>
          </a:p>
          <a:p>
            <a:pPr algn="just"/>
            <a:r>
              <a:rPr lang="en-US" dirty="0"/>
              <a:t>IPv6 is supported for connections between the user and Azure Bastion. Connections from Azure Bastion to target virtual machines continue to use IPv4. Existing IPv4-only Bastion deployments cannot currently be converted to dual stack. </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p:txBody>
          <a:bodyPr/>
          <a:lstStyle/>
          <a:p>
            <a:r>
              <a:rPr lang="en-US" sz="1000" dirty="0">
                <a:hlinkClick r:id="rId2"/>
              </a:rPr>
              <a:t>Generally Available: Azure Bastion shareable link expiration</a:t>
            </a:r>
            <a:endParaRPr lang="en-US" sz="1000" dirty="0"/>
          </a:p>
          <a:p>
            <a:r>
              <a:rPr lang="en-US" sz="1000" dirty="0"/>
              <a:t>Azure Bastion shareable link expiration is now generally available. When creating a shareable link, administrators can specify the date and time when the link should expire. </a:t>
            </a:r>
          </a:p>
          <a:p>
            <a:r>
              <a:rPr lang="en-US" sz="1000" dirty="0"/>
              <a:t>After the configured expiration time, the link can no longer be used to connect to the target resource. This helps organizations limit persistent access and better manage temporary connections provided through Azure Bastion. </a:t>
            </a:r>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 (General Available)</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p:txBody>
          <a:bodyPr/>
          <a:lstStyle/>
          <a:p>
            <a:pPr algn="just"/>
            <a:r>
              <a:rPr lang="en-US" dirty="0">
                <a:hlinkClick r:id="rId3"/>
              </a:rPr>
              <a:t>Generally Available: Connect to AKS clusters using Azure Bastion</a:t>
            </a:r>
            <a:endParaRPr lang="en-US" dirty="0"/>
          </a:p>
          <a:p>
            <a:pPr algn="just"/>
            <a:r>
              <a:rPr lang="en-US" dirty="0"/>
              <a:t>Azure Bastion integration with Azure Kubernetes Service is now generally available. Customers can establish a secure tunnel from their local machine through Azure Bastion to an AKS cluster API server. </a:t>
            </a:r>
          </a:p>
          <a:p>
            <a:pPr algn="just"/>
            <a:r>
              <a:rPr lang="en-US" dirty="0"/>
              <a:t>The integration enables customers to use standard Kubernetes tools while avoiding public exposure of private cluster endpoints. It reduces the need to deploy and maintain separate jump boxes, VPN servers, or additional access agents.</a:t>
            </a:r>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 (General Available)</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2"/>
              </a:rPr>
              <a:t>Generally Available: Custom block response code and body for Application Gateway WAF</a:t>
            </a:r>
            <a:endParaRPr lang="en-US" dirty="0"/>
          </a:p>
          <a:p>
            <a:pPr algn="just"/>
            <a:r>
              <a:rPr lang="en-US" dirty="0"/>
              <a:t>Announcing the General Availability of custom block response code and body for WAF integrated with Application Gateway </a:t>
            </a:r>
          </a:p>
          <a:p>
            <a:pPr algn="just"/>
            <a:r>
              <a:rPr lang="en-US" dirty="0"/>
              <a:t>Azure WAF integrated with Application Gateway now supports customizable response status codes and bodies for blocked requests, enabling greater flexibility and control. </a:t>
            </a:r>
          </a:p>
          <a:p>
            <a:pPr algn="just"/>
            <a:r>
              <a:rPr lang="en-US" dirty="0"/>
              <a:t>By default, when the WAF blocks a request due to a matched rule, it returns a 403 status code with a "The request is blocked" message. As with WAF with Azure Front Door, now customers can also define a custom response status code and message with Application Gateway when WAF blocks a request. This customization is a policy-level setting, ensuring that all blocked requests receive the same custom response status and message.</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Aspire 13.5 has shipped</a:t>
            </a:r>
            <a:endParaRPr lang="en-US" dirty="0"/>
          </a:p>
          <a:p>
            <a:pPr algn="just"/>
            <a:r>
              <a:rPr lang="en-US" dirty="0"/>
              <a:t>Aspire 13.5 refreshes the dashboard and </a:t>
            </a:r>
            <a:r>
              <a:rPr lang="en-US" dirty="0" err="1"/>
              <a:t>aspire.dev</a:t>
            </a:r>
            <a:r>
              <a:rPr lang="en-US" dirty="0"/>
              <a:t>, expands the Interaction Service, adds cross-scope Azure references and persistent Kubernetes volumes, and brings live terminals into the </a:t>
            </a:r>
            <a:r>
              <a:rPr lang="en-US" dirty="0" err="1"/>
              <a:t>apphost</a:t>
            </a:r>
            <a:r>
              <a:rPr lang="en-US" dirty="0"/>
              <a:t>.</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Generally Available: Azure VM Image Builder in sovereign and air-gapped clouds</a:t>
            </a:r>
            <a:endParaRPr lang="en-US" sz="1000" dirty="0"/>
          </a:p>
          <a:p>
            <a:pPr algn="just"/>
            <a:r>
              <a:rPr lang="en-US" sz="1000" b="1" dirty="0"/>
              <a:t>Azure VM Image Builder</a:t>
            </a:r>
            <a:r>
              <a:rPr lang="en-US" sz="1000" dirty="0"/>
              <a:t> is now </a:t>
            </a:r>
            <a:r>
              <a:rPr lang="en-US" sz="1000" b="1" dirty="0"/>
              <a:t>generally available</a:t>
            </a:r>
            <a:r>
              <a:rPr lang="en-US" sz="1000" dirty="0"/>
              <a:t> in </a:t>
            </a:r>
            <a:r>
              <a:rPr lang="en-US" sz="1000" b="1" dirty="0"/>
              <a:t>Azure Government</a:t>
            </a:r>
            <a:r>
              <a:rPr lang="en-US" sz="1000" dirty="0"/>
              <a:t>, </a:t>
            </a:r>
            <a:r>
              <a:rPr lang="en-US" sz="1000" b="1" dirty="0"/>
              <a:t>Azure Government Secret</a:t>
            </a:r>
            <a:r>
              <a:rPr lang="en-US" sz="1000" dirty="0"/>
              <a:t>, </a:t>
            </a:r>
            <a:r>
              <a:rPr lang="en-US" sz="1000" b="1" dirty="0"/>
              <a:t>Azure Government Top Secret</a:t>
            </a:r>
            <a:r>
              <a:rPr lang="en-US" sz="1000" dirty="0"/>
              <a:t>, and </a:t>
            </a:r>
            <a:r>
              <a:rPr lang="en-US" sz="1000" b="1" dirty="0"/>
              <a:t>Azure China North 3</a:t>
            </a:r>
            <a:r>
              <a:rPr lang="en-US" sz="1000" dirty="0"/>
              <a:t>. Organizations can now use the same fully managed image-building service across global Azure and sovereign cloud environments, enabling consistent creation and management of standardized VM images while meeting strict security, compliance, and data sovereignty requirements.</a:t>
            </a:r>
          </a:p>
          <a:p>
            <a:pPr algn="just"/>
            <a:r>
              <a:rPr lang="en-US" sz="1000" dirty="0"/>
              <a:t>The service automates the creation, customization, hardening, and validation of </a:t>
            </a:r>
            <a:r>
              <a:rPr lang="en-US" sz="1000" b="1" dirty="0"/>
              <a:t>golden images</a:t>
            </a:r>
            <a:r>
              <a:rPr lang="en-US" sz="1000" dirty="0"/>
              <a:t> without requiring customers to deploy or maintain dedicated image build infrastructure. Organizations can reuse the same image templates and automation pipelines across multiple Azure cloud environments and distribute completed images through </a:t>
            </a:r>
            <a:r>
              <a:rPr lang="en-US" sz="1000" b="1" dirty="0"/>
              <a:t>Azure Compute Gallery</a:t>
            </a:r>
            <a:r>
              <a:rPr lang="en-US" sz="1000" dirty="0"/>
              <a:t> for regional replication and standardized deployments.</a:t>
            </a:r>
          </a:p>
          <a:p>
            <a:pPr algn="just"/>
            <a:r>
              <a:rPr lang="en-US" sz="1000" dirty="0"/>
              <a:t>This expansion is particularly valuable for </a:t>
            </a:r>
            <a:r>
              <a:rPr lang="en-US" sz="1000" b="1" dirty="0"/>
              <a:t>government agencies, regulated industries, and organizations with sovereign cloud requirements</a:t>
            </a:r>
            <a:r>
              <a:rPr lang="en-US" sz="1000" dirty="0"/>
              <a:t>, enabling them to implement consistent operating system baselines, security hardening, and compliance controls while reducing operational overhead and maintaining local regulatory compliance.</a:t>
            </a:r>
          </a:p>
          <a:p>
            <a:pPr algn="just"/>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Generally Available: Azure 248 and 372 vCPU sizes for D/E v7 series VMs</a:t>
            </a:r>
            <a:endParaRPr lang="en-US" dirty="0"/>
          </a:p>
          <a:p>
            <a:pPr algn="just"/>
            <a:r>
              <a:rPr lang="en-US" dirty="0"/>
              <a:t>Microsoft has announced the </a:t>
            </a:r>
            <a:r>
              <a:rPr lang="en-US" b="1" dirty="0"/>
              <a:t>general availability</a:t>
            </a:r>
            <a:r>
              <a:rPr lang="en-US" dirty="0"/>
              <a:t> of new </a:t>
            </a:r>
            <a:r>
              <a:rPr lang="en-US" b="1" dirty="0"/>
              <a:t>248 vCPU and 372 vCPU Dlsv7, Dsv7, and Esv7 virtual machines</a:t>
            </a:r>
            <a:r>
              <a:rPr lang="en-US" dirty="0"/>
              <a:t>, powered by </a:t>
            </a:r>
            <a:r>
              <a:rPr lang="en-US" b="1" dirty="0"/>
              <a:t>Intel® Xeon® 6 processors</a:t>
            </a:r>
            <a:r>
              <a:rPr lang="en-US" dirty="0"/>
              <a:t>. These next-generation general-purpose and memory-optimized VMs deliver up to </a:t>
            </a:r>
            <a:r>
              <a:rPr lang="en-US" b="1" dirty="0"/>
              <a:t>20% higher compute performance</a:t>
            </a:r>
            <a:r>
              <a:rPr lang="en-US" dirty="0"/>
              <a:t> than the previous Intel v6 generation while significantly increasing compute, memory, networking, and storage capacity for demanding enterprise workloads.</a:t>
            </a:r>
          </a:p>
          <a:p>
            <a:pPr algn="just"/>
            <a:r>
              <a:rPr lang="en-US" dirty="0"/>
              <a:t>The new VM sizes scale up to </a:t>
            </a:r>
            <a:r>
              <a:rPr lang="en-US" b="1" dirty="0"/>
              <a:t>372 vCPUs and 2.8 TiB of RAM</a:t>
            </a:r>
            <a:r>
              <a:rPr lang="en-US" dirty="0"/>
              <a:t>, making them well suited for </a:t>
            </a:r>
            <a:r>
              <a:rPr lang="en-US" b="1" dirty="0"/>
              <a:t>large in-memory databases, SAP, HPC, agentic AI workloads, and large language model (LLM) inference</a:t>
            </a:r>
            <a:r>
              <a:rPr lang="en-US" dirty="0"/>
              <a:t> requiring extensive memory and reduced cross-node communication. Powered by </a:t>
            </a:r>
            <a:r>
              <a:rPr lang="en-US" b="1" dirty="0"/>
              <a:t>Azure Boost</a:t>
            </a:r>
            <a:r>
              <a:rPr lang="en-US" dirty="0"/>
              <a:t>, they also provide up to </a:t>
            </a:r>
            <a:r>
              <a:rPr lang="en-US" b="1" dirty="0"/>
              <a:t>400 Gbps networking</a:t>
            </a:r>
            <a:r>
              <a:rPr lang="en-US" dirty="0"/>
              <a:t>, </a:t>
            </a:r>
            <a:r>
              <a:rPr lang="en-US" b="1" dirty="0"/>
              <a:t>800,000 remote storage IOPS</a:t>
            </a:r>
            <a:r>
              <a:rPr lang="en-US" dirty="0"/>
              <a:t>, and </a:t>
            </a:r>
            <a:r>
              <a:rPr lang="en-US" b="1" dirty="0"/>
              <a:t>9.6 million local </a:t>
            </a:r>
            <a:r>
              <a:rPr lang="en-US" b="1" dirty="0" err="1"/>
              <a:t>NVMe</a:t>
            </a:r>
            <a:r>
              <a:rPr lang="en-US" b="1" dirty="0"/>
              <a:t> IOPS</a:t>
            </a:r>
            <a:r>
              <a:rPr lang="en-US" dirty="0"/>
              <a:t>, delivering industry-leading performance for compute-intensive applications.</a:t>
            </a:r>
          </a:p>
          <a:p>
            <a:pPr algn="just"/>
            <a:r>
              <a:rPr lang="en-US" dirty="0"/>
              <a:t>Available in multiple Azure regions, including </a:t>
            </a:r>
            <a:r>
              <a:rPr lang="en-US" b="1" dirty="0"/>
              <a:t>East US, East US 2, Central US, South Central US, West US 2, West US 3, Sweden Central, and Germany West Central</a:t>
            </a:r>
            <a:r>
              <a:rPr lang="en-US" dirty="0"/>
              <a:t>, these VM sizes strengthen Azure's high-performance compute portfolio by enabling customers to consolidate larger workloads, improve application performance, and support next-generation AI and enterprise computing scenarios.</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Workload identity support for Azure Files CSI driver (SMB) in Azure</a:t>
            </a:r>
            <a:endParaRPr lang="en-US" sz="1000" dirty="0"/>
          </a:p>
          <a:p>
            <a:pPr algn="just"/>
            <a:r>
              <a:rPr lang="en-US" sz="1000" dirty="0"/>
              <a:t>The </a:t>
            </a:r>
            <a:r>
              <a:rPr lang="en-US" sz="1000" b="1" dirty="0"/>
              <a:t>Azure Files CSI driver</a:t>
            </a:r>
            <a:r>
              <a:rPr lang="en-US" sz="1000" dirty="0"/>
              <a:t> in </a:t>
            </a:r>
            <a:r>
              <a:rPr lang="en-US" sz="1000" b="1" dirty="0"/>
              <a:t>Azure Kubernetes Service (AKS)</a:t>
            </a:r>
            <a:r>
              <a:rPr lang="en-US" sz="1000" dirty="0"/>
              <a:t> now supports </a:t>
            </a:r>
            <a:r>
              <a:rPr lang="en-US" sz="1000" b="1" dirty="0"/>
              <a:t>Microsoft Entra Workload Identity</a:t>
            </a:r>
            <a:r>
              <a:rPr lang="en-US" sz="1000" dirty="0"/>
              <a:t> for pod-level authentication to </a:t>
            </a:r>
            <a:r>
              <a:rPr lang="en-US" sz="1000" b="1" dirty="0"/>
              <a:t>Azure Files SMB shares</a:t>
            </a:r>
            <a:r>
              <a:rPr lang="en-US" sz="1000" dirty="0"/>
              <a:t>. Instead of relying on storage account keys or node-level managed identities, individual Kubernetes pods can now authenticate directly using their own workload identity, enabling </a:t>
            </a:r>
            <a:r>
              <a:rPr lang="en-US" sz="1000" b="1" dirty="0"/>
              <a:t>least-privilege access</a:t>
            </a:r>
            <a:r>
              <a:rPr lang="en-US" sz="1000" dirty="0"/>
              <a:t> to Azure Files.</a:t>
            </a:r>
          </a:p>
          <a:p>
            <a:pPr algn="just"/>
            <a:r>
              <a:rPr lang="en-US" sz="1000" dirty="0"/>
              <a:t>This enhancement allows organizations to grant each application access only to the file shares and data it requires, significantly improving security and reducing the risk associated with shared node-level credentials. The capability is particularly valuable for </a:t>
            </a:r>
            <a:r>
              <a:rPr lang="en-US" sz="1000" b="1" dirty="0"/>
              <a:t>regulated industries</a:t>
            </a:r>
            <a:r>
              <a:rPr lang="en-US" sz="1000" dirty="0"/>
              <a:t> and organizations implementing </a:t>
            </a:r>
            <a:r>
              <a:rPr lang="en-US" sz="1000" b="1" dirty="0"/>
              <a:t>Zero Trust</a:t>
            </a:r>
            <a:r>
              <a:rPr lang="en-US" sz="1000" dirty="0"/>
              <a:t> and compliance-driven security models.</a:t>
            </a:r>
          </a:p>
          <a:p>
            <a:pPr algn="just"/>
            <a:r>
              <a:rPr lang="en-US" sz="1000" dirty="0"/>
              <a:t>Available in all Azure regions that support </a:t>
            </a:r>
            <a:r>
              <a:rPr lang="en-US" sz="1000" b="1" dirty="0"/>
              <a:t>AKS</a:t>
            </a:r>
            <a:r>
              <a:rPr lang="en-US" sz="1000" dirty="0"/>
              <a:t> and </a:t>
            </a:r>
            <a:r>
              <a:rPr lang="en-US" sz="1000" b="1" dirty="0"/>
              <a:t>Azure Files</a:t>
            </a:r>
            <a:r>
              <a:rPr lang="en-US" sz="1000" dirty="0"/>
              <a:t>, workload identity support strengthens Kubernetes security by providing fine-grained access control, simplifying credential management, and eliminating the need to distribute storage account keys to workloads.</a:t>
            </a:r>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Retirement: Support for Node 22 LTS ends on April 30, 2027</a:t>
            </a:r>
            <a:endParaRPr lang="en-US" dirty="0"/>
          </a:p>
          <a:p>
            <a:pPr algn="just"/>
            <a:r>
              <a:rPr lang="en-US" dirty="0"/>
              <a:t>On April 30 2027, support for Node 22 LTS will end. Your apps that are hosted on App Service will continue to run, but security updates will no longer be available, and we’ll no longer provide customer service for Node 22 LTS.</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C0756-30F1-C5A0-AC58-437AF10EE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Databases</a:t>
            </a:r>
          </a:p>
        </p:txBody>
      </p:sp>
    </p:spTree>
    <p:extLst>
      <p:ext uri="{BB962C8B-B14F-4D97-AF65-F5344CB8AC3E}">
        <p14:creationId xmlns:p14="http://schemas.microsoft.com/office/powerpoint/2010/main" val="12409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r>
              <a:rPr lang="en-US" sz="1000" dirty="0">
                <a:hlinkClick r:id="rId2"/>
              </a:rPr>
              <a:t>Generally Available: </a:t>
            </a:r>
            <a:r>
              <a:rPr lang="en-US" sz="1000" dirty="0" err="1">
                <a:hlinkClick r:id="rId2"/>
              </a:rPr>
              <a:t>eBPF</a:t>
            </a:r>
            <a:r>
              <a:rPr lang="en-US" sz="1000" dirty="0">
                <a:hlinkClick r:id="rId2"/>
              </a:rPr>
              <a:t> host routing in Advanced Container Networking Services for AKS</a:t>
            </a:r>
            <a:endParaRPr lang="en-US" sz="1000" dirty="0"/>
          </a:p>
          <a:p>
            <a:r>
              <a:rPr lang="en-US" sz="1000" dirty="0" err="1"/>
              <a:t>eBPF</a:t>
            </a:r>
            <a:r>
              <a:rPr lang="en-US" sz="1000" dirty="0"/>
              <a:t> Host Routing in Advanced Container Networking Services for Azure Kubernetes Service (AKS) is now generally available. </a:t>
            </a:r>
          </a:p>
          <a:p>
            <a:r>
              <a:rPr lang="en-US" sz="1000" dirty="0" err="1"/>
              <a:t>eBPF</a:t>
            </a:r>
            <a:r>
              <a:rPr lang="en-US" sz="1000" dirty="0"/>
              <a:t> Host Routing improves Kubernetes networking performance by moving packet forwarding and routing decisions directly into the Linux kernel using </a:t>
            </a:r>
            <a:r>
              <a:rPr lang="en-US" sz="1000" dirty="0" err="1"/>
              <a:t>eBPF</a:t>
            </a:r>
            <a:r>
              <a:rPr lang="en-US" sz="1000" dirty="0"/>
              <a:t>. This removes the overhead of iptables-based processing and reduces dependence on the host networking stack, resulting in lower latency, fewer network hops, and higher throughput for application traffic. For large-scale AKS deployments, </a:t>
            </a:r>
            <a:r>
              <a:rPr lang="en-US" sz="1000" dirty="0" err="1"/>
              <a:t>eBPF</a:t>
            </a:r>
            <a:r>
              <a:rPr lang="en-US" sz="1000" dirty="0"/>
              <a:t> Host Routing helps deliver more efficient network performance, improved scalability, and a better experience for latency-sensitive and high-traffic workloads. </a:t>
            </a:r>
          </a:p>
          <a:p>
            <a:r>
              <a:rPr lang="en-US" sz="1000" dirty="0"/>
              <a:t>This release also introduces an enhanced enablement experience that respects existing network connections during rollout. When </a:t>
            </a:r>
            <a:r>
              <a:rPr lang="en-US" sz="1000" dirty="0" err="1"/>
              <a:t>eBPF</a:t>
            </a:r>
            <a:r>
              <a:rPr lang="en-US" sz="1000" dirty="0"/>
              <a:t> Host Routing is enabled on an existing cluster, AKS performs a controlled node rotation to transition nodes to the new networking mode, helping maintain connection continuity and minimize disruption to running applications.</a:t>
            </a:r>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Announcing: Extended Support for Azure Database for PostgreSQL Flexible Server</a:t>
            </a:r>
            <a:endParaRPr lang="en-US" dirty="0"/>
          </a:p>
          <a:p>
            <a:pPr algn="just"/>
            <a:r>
              <a:rPr lang="en-US" dirty="0"/>
              <a:t>Extended Support for Azure Database for PostgreSQL Flexible Server helps you maintain secure, supported workloads while transitioning to newer PostgreSQL versions. With access to critical security updates, critical bug fixes, and technical support for eligible versions after community support ends, you can upgrade on your timeline with greater flexibility and confidence. </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F7611D-9ADD-B577-7122-32EA1F69F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Integration</a:t>
            </a:r>
          </a:p>
        </p:txBody>
      </p:sp>
    </p:spTree>
    <p:extLst>
      <p:ext uri="{BB962C8B-B14F-4D97-AF65-F5344CB8AC3E}">
        <p14:creationId xmlns:p14="http://schemas.microsoft.com/office/powerpoint/2010/main" val="596233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27F4-E37F-9EF5-D9EA-7AA6B2B87EE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B3499D8-7C6B-2114-C57A-CC1635D2264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A87B58C-445F-0F9C-16BF-B45E2CAC6389}"/>
              </a:ext>
            </a:extLst>
          </p:cNvPr>
          <p:cNvSpPr>
            <a:spLocks noGrp="1"/>
          </p:cNvSpPr>
          <p:nvPr>
            <p:ph type="title"/>
          </p:nvPr>
        </p:nvSpPr>
        <p:spPr/>
        <p:txBody>
          <a:bodyPr/>
          <a:lstStyle/>
          <a:p>
            <a:r>
              <a:rPr lang="en-US" sz="1800" dirty="0"/>
              <a:t>Integration Updates (General Available)</a:t>
            </a:r>
            <a:endParaRPr lang="en-US" dirty="0"/>
          </a:p>
        </p:txBody>
      </p:sp>
      <p:sp>
        <p:nvSpPr>
          <p:cNvPr id="13" name="Text Placeholder 12">
            <a:extLst>
              <a:ext uri="{FF2B5EF4-FFF2-40B4-BE49-F238E27FC236}">
                <a16:creationId xmlns:a16="http://schemas.microsoft.com/office/drawing/2014/main" id="{CD428E81-1DDF-1C0F-CE1C-114C2430C20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256488B-5839-91E1-8F71-2D334A0D3442}"/>
              </a:ext>
            </a:extLst>
          </p:cNvPr>
          <p:cNvSpPr>
            <a:spLocks noGrp="1"/>
          </p:cNvSpPr>
          <p:nvPr>
            <p:ph type="body" sz="quarter" idx="16"/>
          </p:nvPr>
        </p:nvSpPr>
        <p:spPr/>
        <p:txBody>
          <a:bodyPr/>
          <a:lstStyle/>
          <a:p>
            <a:pPr algn="just"/>
            <a:r>
              <a:rPr lang="en-US" dirty="0">
                <a:hlinkClick r:id="rId2"/>
              </a:rPr>
              <a:t>Zonal redundancy in API management Standard v2</a:t>
            </a:r>
            <a:endParaRPr lang="en-US" dirty="0"/>
          </a:p>
          <a:p>
            <a:pPr algn="just"/>
            <a:r>
              <a:rPr lang="en-US" b="1" dirty="0"/>
              <a:t>Zone Redundancy</a:t>
            </a:r>
            <a:r>
              <a:rPr lang="en-US" dirty="0"/>
              <a:t> is now available for </a:t>
            </a:r>
            <a:r>
              <a:rPr lang="en-US" b="1" dirty="0"/>
              <a:t>Azure API Management (APIM) Standard v2</a:t>
            </a:r>
            <a:r>
              <a:rPr lang="en-US" dirty="0"/>
              <a:t>, enabling API gateways to remain available during the failure of an individual Availability Zone. By distributing gateway instances across multiple zones within an Azure region, organizations can improve service resilience and reduce the risk of application downtime caused by datacenter-level failures.</a:t>
            </a:r>
          </a:p>
          <a:p>
            <a:pPr algn="just"/>
            <a:r>
              <a:rPr lang="en-US" dirty="0"/>
              <a:t>The capability provides </a:t>
            </a:r>
            <a:r>
              <a:rPr lang="en-US" b="1" dirty="0"/>
              <a:t>high availability</a:t>
            </a:r>
            <a:r>
              <a:rPr lang="en-US" dirty="0"/>
              <a:t> without requiring complex infrastructure design, allowing mission-critical APIs to continue serving requests even when a single Availability Zone becomes unavailable. It integrates seamlessly with the Standard v2 tier, complementing existing features such as autoscaling, virtual network integration, and enterprise-grade API management.</a:t>
            </a:r>
          </a:p>
          <a:p>
            <a:pPr algn="just"/>
            <a:r>
              <a:rPr lang="en-US" dirty="0"/>
              <a:t>For organizations exposing business-critical APIs, zone redundancy strengthens the resilience of API platforms while simplifying disaster recovery planning. This enhancement makes </a:t>
            </a:r>
            <a:r>
              <a:rPr lang="en-US" b="1" dirty="0"/>
              <a:t>Azure API Management Standard v2</a:t>
            </a:r>
            <a:r>
              <a:rPr lang="en-US" dirty="0"/>
              <a:t> a stronger choice for production workloads requiring higher availability, fault tolerance, and enterprise-grade reliability.</a:t>
            </a:r>
          </a:p>
          <a:p>
            <a:pPr algn="just"/>
            <a:endParaRPr lang="en-US" dirty="0"/>
          </a:p>
        </p:txBody>
      </p:sp>
    </p:spTree>
    <p:extLst>
      <p:ext uri="{BB962C8B-B14F-4D97-AF65-F5344CB8AC3E}">
        <p14:creationId xmlns:p14="http://schemas.microsoft.com/office/powerpoint/2010/main" val="8062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Introducing Live Reports for Azure SRE Agent</a:t>
            </a:r>
            <a:endParaRPr lang="en-US" dirty="0"/>
          </a:p>
          <a:p>
            <a:pPr algn="just"/>
            <a:r>
              <a:rPr lang="en-US" b="1" dirty="0"/>
              <a:t>Live Reports</a:t>
            </a:r>
            <a:r>
              <a:rPr lang="en-US" dirty="0"/>
              <a:t> are now available in </a:t>
            </a:r>
            <a:r>
              <a:rPr lang="en-US" b="1" dirty="0"/>
              <a:t>public preview</a:t>
            </a:r>
            <a:r>
              <a:rPr lang="en-US" dirty="0"/>
              <a:t> for </a:t>
            </a:r>
            <a:r>
              <a:rPr lang="en-US" b="1" dirty="0"/>
              <a:t>Azure SRE Agent</a:t>
            </a:r>
            <a:r>
              <a:rPr lang="en-US" dirty="0"/>
              <a:t>, enabling operations teams to create dynamic, continuously updated operational reports directly from SRE Agent conversations. Instead of manually building dashboards or collecting data from multiple monitoring tools, teams can generate reports that automatically refresh on a </a:t>
            </a:r>
            <a:r>
              <a:rPr lang="en-US" b="1" dirty="0"/>
              <a:t>daily, weekly, or monthly</a:t>
            </a:r>
            <a:r>
              <a:rPr lang="en-US" dirty="0"/>
              <a:t> schedule using the latest data from connected Azure environments.</a:t>
            </a:r>
          </a:p>
          <a:p>
            <a:pPr algn="just"/>
            <a:r>
              <a:rPr lang="en-US" dirty="0"/>
              <a:t>Live Reports provide a centralized view of </a:t>
            </a:r>
            <a:r>
              <a:rPr lang="en-US" b="1" dirty="0"/>
              <a:t>service health, incidents, operational trends, recurring investigations, and reliability metrics</a:t>
            </a:r>
            <a:r>
              <a:rPr lang="en-US" dirty="0"/>
              <a:t>, making it easier to track system performance and share operational insights across teams. The reports remain continuously up to date, helping operations and Site Reliability Engineering (SRE) teams make faster, data-driven decisions without manual reporting effort.</a:t>
            </a:r>
          </a:p>
          <a:p>
            <a:pPr algn="just"/>
            <a:r>
              <a:rPr lang="en-US" dirty="0"/>
              <a:t>For organizations adopting AI-assisted operations, Live Reports simplify operational visibility by combining conversational AI with automated reporting, reducing administrative overhead while improving collaboration and decision-making across IT operations and engineering teams.</a:t>
            </a:r>
          </a:p>
          <a:p>
            <a:pPr algn="just"/>
            <a:endParaRPr lang="en-US" dirty="0"/>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Azure SRE Agent VNet integration is now generally available</a:t>
            </a:r>
            <a:endParaRPr lang="en-US" sz="1000" dirty="0"/>
          </a:p>
          <a:p>
            <a:pPr algn="just"/>
            <a:r>
              <a:rPr lang="en-US" sz="1000" b="1" dirty="0"/>
              <a:t>Azure SRE Agent</a:t>
            </a:r>
            <a:r>
              <a:rPr lang="en-US" sz="1000" dirty="0"/>
              <a:t> now supports </a:t>
            </a:r>
            <a:r>
              <a:rPr lang="en-US" sz="1000" b="1" dirty="0"/>
              <a:t>Virtual Network (VNet) integration</a:t>
            </a:r>
            <a:r>
              <a:rPr lang="en-US" sz="1000" dirty="0"/>
              <a:t> in </a:t>
            </a:r>
            <a:r>
              <a:rPr lang="en-US" sz="1000" b="1" dirty="0"/>
              <a:t>general availability</a:t>
            </a:r>
            <a:r>
              <a:rPr lang="en-US" sz="1000" dirty="0"/>
              <a:t>, enabling organizations to securely connect SRE Agents to private Azure resources and services without exposing traffic to the public internet. This allows AI-powered operational workflows to access internal applications, monitoring systems, and infrastructure that reside within private networks.</a:t>
            </a:r>
          </a:p>
          <a:p>
            <a:pPr algn="just"/>
            <a:r>
              <a:rPr lang="en-US" sz="1000" dirty="0"/>
              <a:t>With VNet integration, Azure SRE Agent can investigate incidents, perform diagnostics, and automate operational tasks against resources protected by </a:t>
            </a:r>
            <a:r>
              <a:rPr lang="en-US" sz="1000" b="1" dirty="0"/>
              <a:t>private endpoints, Network Security Groups (NSGs), Azure Firewall, and other network isolation controls</a:t>
            </a:r>
            <a:r>
              <a:rPr lang="en-US" sz="1000" dirty="0"/>
              <a:t>. This makes it suitable for enterprise environments with strict security, compliance, and data residency requirements.</a:t>
            </a:r>
          </a:p>
          <a:p>
            <a:pPr algn="just"/>
            <a:r>
              <a:rPr lang="en-US" sz="1000" dirty="0"/>
              <a:t>For organizations adopting AI-driven operations, VNet integration removes a key barrier to production deployment by enabling Azure SRE Agent to operate securely within existing enterprise network architectures. It strengthens security while allowing IT operations and SRE teams to leverage AI automation across both public and private Azure environments.</a:t>
            </a:r>
          </a:p>
          <a:p>
            <a:pPr algn="just"/>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r>
              <a:rPr lang="en-US" dirty="0">
                <a:hlinkClick r:id="rId3"/>
              </a:rPr>
              <a:t>Generally Available: Azure SRE Agent 30-Day Trial</a:t>
            </a:r>
            <a:endParaRPr lang="en-US" dirty="0"/>
          </a:p>
          <a:p>
            <a:r>
              <a:rPr lang="en-US" dirty="0"/>
              <a:t>Microsoft now offers a </a:t>
            </a:r>
            <a:r>
              <a:rPr lang="en-US" b="1" dirty="0"/>
              <a:t>30-day trial</a:t>
            </a:r>
            <a:r>
              <a:rPr lang="en-US" dirty="0"/>
              <a:t> for </a:t>
            </a:r>
            <a:r>
              <a:rPr lang="en-US" b="1" dirty="0"/>
              <a:t>Azure SRE Agent</a:t>
            </a:r>
            <a:r>
              <a:rPr lang="en-US" dirty="0"/>
              <a:t>, allowing new customers to evaluate AI-assisted operations without baseline always-on charges. During the trial, organizations can create SRE Agents, connect them to operational tools and data sources, and pay only for the </a:t>
            </a:r>
            <a:r>
              <a:rPr lang="en-US" b="1" dirty="0"/>
              <a:t>Azure Agent Units (AAUs)</a:t>
            </a:r>
            <a:r>
              <a:rPr lang="en-US" dirty="0"/>
              <a:t> consumed when agents perform work.</a:t>
            </a:r>
          </a:p>
          <a:p>
            <a:r>
              <a:rPr lang="en-US" dirty="0"/>
              <a:t>The trial enables operations teams to explore scenarios such as </a:t>
            </a:r>
            <a:r>
              <a:rPr lang="en-US" b="1" dirty="0"/>
              <a:t>root cause analysis</a:t>
            </a:r>
            <a:r>
              <a:rPr lang="en-US" dirty="0"/>
              <a:t>, </a:t>
            </a:r>
            <a:r>
              <a:rPr lang="en-US" b="1" dirty="0"/>
              <a:t>automated incident investigation</a:t>
            </a:r>
            <a:r>
              <a:rPr lang="en-US" dirty="0"/>
              <a:t>, </a:t>
            </a:r>
            <a:r>
              <a:rPr lang="en-US" b="1" dirty="0"/>
              <a:t>post-deployment health checks</a:t>
            </a:r>
            <a:r>
              <a:rPr lang="en-US" dirty="0"/>
              <a:t>, </a:t>
            </a:r>
            <a:r>
              <a:rPr lang="en-US" b="1" dirty="0"/>
              <a:t>configuration drift detection</a:t>
            </a:r>
            <a:r>
              <a:rPr lang="en-US" dirty="0"/>
              <a:t>, </a:t>
            </a:r>
            <a:r>
              <a:rPr lang="en-US" b="1" dirty="0"/>
              <a:t>certificate monitoring</a:t>
            </a:r>
            <a:r>
              <a:rPr lang="en-US" dirty="0"/>
              <a:t>, </a:t>
            </a:r>
            <a:r>
              <a:rPr lang="en-US" b="1" dirty="0"/>
              <a:t>cost optimization</a:t>
            </a:r>
            <a:r>
              <a:rPr lang="en-US" dirty="0"/>
              <a:t>, and </a:t>
            </a:r>
            <a:r>
              <a:rPr lang="en-US" b="1" dirty="0"/>
              <a:t>compliance validation</a:t>
            </a:r>
            <a:r>
              <a:rPr lang="en-US" dirty="0"/>
              <a:t>. Azure SRE Agent can also integrate with platforms including </a:t>
            </a:r>
            <a:r>
              <a:rPr lang="en-US" b="1" dirty="0"/>
              <a:t>Azure Monitor, Datadog, Dynatrace, PagerDuty, GitHub, ServiceNow, Jira, and Azure DevOps</a:t>
            </a:r>
            <a:r>
              <a:rPr lang="en-US" dirty="0"/>
              <a:t> to automate investigations and operational workflows.</a:t>
            </a:r>
          </a:p>
          <a:p>
            <a:r>
              <a:rPr lang="en-US" dirty="0"/>
              <a:t>This trial lowers the barrier to adopting AI-driven Site Reliability Engineering by allowing organizations to validate Azure SRE Agent's capabilities in production-like environments before committing to long-term usage. It provides an opportunity to assess how AI can accelerate incident response, improve operational efficiency, and automate routine reliability tasks.</a:t>
            </a:r>
          </a:p>
          <a:p>
            <a:endParaRPr lang="en-US" dirty="0"/>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Grok 4.6 comes to Microsoft Foundry Models: Built for long-horizon reasoning and complex workflows</a:t>
            </a:r>
            <a:endParaRPr lang="en-US" sz="1000" dirty="0"/>
          </a:p>
          <a:p>
            <a:pPr algn="just"/>
            <a:r>
              <a:rPr lang="en-US" sz="1000" b="1" dirty="0"/>
              <a:t>Grok 4.6</a:t>
            </a:r>
            <a:r>
              <a:rPr lang="en-US" sz="1000" dirty="0"/>
              <a:t> is now available in </a:t>
            </a:r>
            <a:r>
              <a:rPr lang="en-US" sz="1000" b="1" dirty="0"/>
              <a:t>Microsoft Foundry</a:t>
            </a:r>
            <a:r>
              <a:rPr lang="en-US" sz="1000" dirty="0"/>
              <a:t>, expanding the platform's portfolio of enterprise AI models with a model optimized for </a:t>
            </a:r>
            <a:r>
              <a:rPr lang="en-US" sz="1000" b="1" dirty="0"/>
              <a:t>long-horizon reasoning, coding, and complex problem solving</a:t>
            </a:r>
            <a:r>
              <a:rPr lang="en-US" sz="1000" dirty="0"/>
              <a:t>. Designed to handle extended context and multi-step reasoning tasks, Grok 4.6 is well suited for AI agents, software development, research, and enterprise decision-support scenarios.</a:t>
            </a:r>
          </a:p>
          <a:p>
            <a:pPr algn="just"/>
            <a:r>
              <a:rPr lang="en-US" sz="1000" dirty="0"/>
              <a:t>Through Microsoft Foundry, organizations can deploy Grok 4.6 using the same enterprise capabilities available for other foundation models, including </a:t>
            </a:r>
            <a:r>
              <a:rPr lang="en-US" sz="1000" b="1" dirty="0"/>
              <a:t>model governance, evaluation, observability, security, and content safety</a:t>
            </a:r>
            <a:r>
              <a:rPr lang="en-US" sz="1000" dirty="0"/>
              <a:t>. Developers can integrate the model into AI applications and agent workflows while managing it alongside models from Microsoft, OpenAI, Anthropic, Cohere, and other providers through a unified platform.</a:t>
            </a:r>
          </a:p>
          <a:p>
            <a:pPr algn="just"/>
            <a:r>
              <a:rPr lang="en-US" sz="1000" dirty="0"/>
              <a:t>The addition of Grok 4.6 further strengthens </a:t>
            </a:r>
            <a:r>
              <a:rPr lang="en-US" sz="1000" b="1" dirty="0"/>
              <a:t>Microsoft Foundry's multi-model ecosystem</a:t>
            </a:r>
            <a:r>
              <a:rPr lang="en-US" sz="1000" dirty="0"/>
              <a:t>, giving customers greater flexibility to choose the most suitable model for advanced reasoning and coding workloads. This reinforces Microsoft's strategy of providing a single enterprise platform for building, governing, and operating AI solutions across multiple leading model providers.</a:t>
            </a:r>
          </a:p>
          <a:p>
            <a:pPr algn="just"/>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Cohere Parse v5 is now available in Microsoft Foundry</a:t>
            </a:r>
            <a:endParaRPr lang="en-US" dirty="0"/>
          </a:p>
          <a:p>
            <a:pPr algn="just"/>
            <a:r>
              <a:rPr lang="en-US" b="1" dirty="0"/>
              <a:t>Cohere Parse v5</a:t>
            </a:r>
            <a:r>
              <a:rPr lang="en-US" dirty="0"/>
              <a:t> is now available in </a:t>
            </a:r>
            <a:r>
              <a:rPr lang="en-US" b="1" dirty="0"/>
              <a:t>Microsoft Foundry</a:t>
            </a:r>
            <a:r>
              <a:rPr lang="en-US" dirty="0"/>
              <a:t>, providing an advanced AI model for extracting structured information from </a:t>
            </a:r>
            <a:r>
              <a:rPr lang="en-US" b="1" dirty="0"/>
              <a:t>documents, PDFs, forms, invoices, contracts, and other unstructured content</a:t>
            </a:r>
            <a:r>
              <a:rPr lang="en-US" dirty="0"/>
              <a:t>. The model is designed to accurately understand document layouts, tables, images, and complex formatting, enabling organizations to automate document processing without building custom parsing solutions.</a:t>
            </a:r>
          </a:p>
          <a:p>
            <a:pPr algn="just"/>
            <a:r>
              <a:rPr lang="en-US" dirty="0"/>
              <a:t>Through Microsoft Foundry, developers can integrate Parse v5 into AI workflows alongside other language and vision models while benefiting from </a:t>
            </a:r>
            <a:r>
              <a:rPr lang="en-US" b="1" dirty="0"/>
              <a:t>enterprise security, governance, model management, and observability</a:t>
            </a:r>
            <a:r>
              <a:rPr lang="en-US" dirty="0"/>
              <a:t>. The service supports retrieval pipelines, knowledge extraction, and intelligent document processing for applications such as financial services, legal, healthcare, and enterprise content management.</a:t>
            </a:r>
          </a:p>
          <a:p>
            <a:pPr algn="just"/>
            <a:r>
              <a:rPr lang="en-US" dirty="0"/>
              <a:t>For organizations building AI-powered document automation solutions, Cohere Parse v5 simplifies the extraction of structured data from complex documents, improving accuracy, reducing manual processing, and accelerating the development of intelligent business workflows.</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1176</TotalTime>
  <Words>2448</Words>
  <Application>Microsoft Office PowerPoint</Application>
  <PresentationFormat>On-screen Show (16:9)</PresentationFormat>
  <Paragraphs>82</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Human Sans</vt:lpstr>
      <vt:lpstr>Human Sans Regular</vt:lpstr>
      <vt:lpstr>Continuum Theme</vt:lpstr>
      <vt:lpstr>Azure Times #221</vt:lpstr>
      <vt:lpstr>PowerPoint Presentation</vt:lpstr>
      <vt:lpstr>Networking Updates (Preview)</vt:lpstr>
      <vt:lpstr>Networking Updates (General Available)</vt:lpstr>
      <vt:lpstr>Networking Updates (General Available)</vt:lpstr>
      <vt:lpstr>PowerPoint Presentation</vt:lpstr>
      <vt:lpstr>Compute Updates (Preview)</vt:lpstr>
      <vt:lpstr>Compute Updates (General Available)</vt:lpstr>
      <vt:lpstr>Compute Updates (General Available)</vt:lpstr>
      <vt:lpstr>PowerPoint Presentation</vt:lpstr>
      <vt:lpstr>Databases Updates (General Available)</vt:lpstr>
      <vt:lpstr>PowerPoint Presentation</vt:lpstr>
      <vt:lpstr>Integration Updates (General Available)</vt:lpstr>
      <vt:lpstr>PowerPoint Presentation</vt:lpstr>
      <vt:lpstr>ML &amp; AI &amp; IOT Updates (Preview)</vt:lpstr>
      <vt:lpstr>ML &amp; AI &amp; IOT Updates (Preview)</vt:lpstr>
      <vt:lpstr>ML &amp; AI &amp; IOT Updates (General Available)</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133</cp:revision>
  <dcterms:created xsi:type="dcterms:W3CDTF">2018-01-26T19:23:30Z</dcterms:created>
  <dcterms:modified xsi:type="dcterms:W3CDTF">2026-08-30T06:11:24Z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