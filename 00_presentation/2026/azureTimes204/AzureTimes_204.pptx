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9"/>
  </p:notesMasterIdLst>
  <p:handoutMasterIdLst>
    <p:handoutMasterId r:id="rId30"/>
  </p:handoutMasterIdLst>
  <p:sldIdLst>
    <p:sldId id="2142532340" r:id="rId5"/>
    <p:sldId id="2146847045" r:id="rId6"/>
    <p:sldId id="10657" r:id="rId7"/>
    <p:sldId id="2146847127" r:id="rId8"/>
    <p:sldId id="2146847126" r:id="rId9"/>
    <p:sldId id="2146847046" r:id="rId10"/>
    <p:sldId id="2146847130" r:id="rId11"/>
    <p:sldId id="2146847050" r:id="rId12"/>
    <p:sldId id="2146847096" r:id="rId13"/>
    <p:sldId id="2146847134" r:id="rId14"/>
    <p:sldId id="2146847135" r:id="rId15"/>
    <p:sldId id="2146847052" r:id="rId16"/>
    <p:sldId id="2146847137" r:id="rId17"/>
    <p:sldId id="2146847054" r:id="rId18"/>
    <p:sldId id="2146847103" r:id="rId19"/>
    <p:sldId id="2146847058" r:id="rId20"/>
    <p:sldId id="2146847111" r:id="rId21"/>
    <p:sldId id="2146847147" r:id="rId22"/>
    <p:sldId id="2146847148" r:id="rId23"/>
    <p:sldId id="2146847149" r:id="rId24"/>
    <p:sldId id="2146847146" r:id="rId25"/>
    <p:sldId id="2146847085" r:id="rId26"/>
    <p:sldId id="2146847084" r:id="rId27"/>
    <p:sldId id="2146847064" r:id="rId2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7"/>
            <p14:sldId id="2146847126"/>
          </p14:sldIdLst>
        </p14:section>
        <p14:section name="Security &amp; Identity" id="{1AA42572-B3BD-44F7-813B-C2C647DDBB3C}">
          <p14:sldIdLst>
            <p14:sldId id="2146847046"/>
            <p14:sldId id="2146847130"/>
          </p14:sldIdLst>
        </p14:section>
        <p14:section name="Management &amp; Governance" id="{34181601-6D48-4406-A525-C7B5A12C6C5B}">
          <p14:sldIdLst/>
        </p14:section>
        <p14:section name="Compute" id="{05AA80BB-8802-49AB-8336-A884227CE2F7}">
          <p14:sldIdLst>
            <p14:sldId id="2146847050"/>
            <p14:sldId id="2146847096"/>
            <p14:sldId id="2146847134"/>
            <p14:sldId id="2146847135"/>
          </p14:sldIdLst>
        </p14:section>
        <p14:section name="Storage &amp; Data" id="{1F159046-CE0A-45BC-9D5B-6E6C95980F78}">
          <p14:sldIdLst>
            <p14:sldId id="2146847052"/>
            <p14:sldId id="2146847137"/>
          </p14:sldIdLst>
        </p14:section>
        <p14:section name="Databases" id="{AEAFAE72-AD56-48F3-926B-38BAE269038F}">
          <p14:sldIdLst>
            <p14:sldId id="2146847054"/>
            <p14:sldId id="2146847103"/>
          </p14:sldIdLst>
        </p14:section>
        <p14:section name="Integration" id="{ACBD46A3-6F1C-451B-A154-0A056E0DEFF6}">
          <p14:sldIdLst/>
        </p14:section>
        <p14:section name="ML &amp; AI &amp; IOT" id="{F4E1EAF1-55E9-4CA4-8ADC-28B69C1D66D2}">
          <p14:sldIdLst>
            <p14:sldId id="2146847058"/>
            <p14:sldId id="2146847111"/>
            <p14:sldId id="2146847147"/>
            <p14:sldId id="2146847148"/>
            <p14:sldId id="2146847149"/>
            <p14:sldId id="2146847146"/>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5/1/2026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zure.microsoft.com/ru-ru/updates?id=561148" TargetMode="External"/><Relationship Id="rId2" Type="http://schemas.openxmlformats.org/officeDocument/2006/relationships/hyperlink" Target="https://azure.microsoft.com/ru-ru/updates?id=561067"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techcommunity.microsoft.com/blog/azurenetworksecurityblog/general-availability-of-default-ruleset-drs-2-2-for-web-application-firewall/4515762"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azure.microsoft.com/ru-ru/updates?id=561392"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evblogs.microsoft.com/identity/native-auth-refresh-token-transfer-ga/"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azure.microsoft.com/ru-ru/updates?id=561020"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61135" TargetMode="External"/><Relationship Id="rId2" Type="http://schemas.openxmlformats.org/officeDocument/2006/relationships/hyperlink" Target="https://azure.microsoft.com/ru-ru/updates?id=560879"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techcommunity.microsoft.com/blog/azurenetworkingblog/high-fidelity-network-observability-at-scale%E2%80%94-acns-metrics-filtering-and-log-agg/4516508"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60914" TargetMode="External"/><Relationship Id="rId2" Type="http://schemas.openxmlformats.org/officeDocument/2006/relationships/hyperlink" Target="https://techcommunity.microsoft.com/blog/azurestorageblog/prefix-scoped-access-for-user-delegation-sas-is-now-generally-available-for-azur/4516010"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devblogs.microsoft.com/cosmosdb/announcing-the-private-preview-of-cosmos-db-azure-rbac-integration/"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azure.microsoft.com/ru-ru/updates?id=560992"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61002" TargetMode="External"/><Relationship Id="rId2" Type="http://schemas.openxmlformats.org/officeDocument/2006/relationships/hyperlink" Target="https://azure.microsoft.com/ru-ru/updates?id=560982"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techcommunity.microsoft.com/blog/azure-ai-foundry-blog/introducing-deepseek-v4-flash-and-v4-pro-in-microsoft-foundry/4515174" TargetMode="External"/><Relationship Id="rId2" Type="http://schemas.openxmlformats.org/officeDocument/2006/relationships/hyperlink" Target="https://techcommunity.microsoft.com/blog/microsoft365copilotblog/available-today-gpt-5-5-thinking-and-chatgpt-images-2-0-in-microsoft-365-copilot/4514243"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techcommunity.microsoft.com/blog/azure-ai-foundry-blog/bring-your-own-model-to-foundry-agent-service-is-now-generally-available/4515133"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learn.microsoft.com/en-us/agent-framework/" TargetMode="External"/><Relationship Id="rId2" Type="http://schemas.openxmlformats.org/officeDocument/2006/relationships/hyperlink" Target="https://azure.microsoft.com/ru-ru/updates?id=502936"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#204</a:t>
            </a:r>
          </a:p>
        </p:txBody>
      </p:sp>
      <p:sp>
        <p:nvSpPr>
          <p:cNvPr id="4" name="Text Placeholder 3"/>
          <p:cNvSpPr>
            <a:spLocks noGrp="1"/>
          </p:cNvSpPr>
          <p:nvPr>
            <p:ph type="body" sz="quarter" idx="11"/>
          </p:nvPr>
        </p:nvSpPr>
        <p:spPr/>
        <p:txBody>
          <a:bodyPr/>
          <a:lstStyle/>
          <a:p>
            <a:r>
              <a:rPr lang="en-US" spc="300" dirty="0"/>
              <a:t>May 4,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Generally Available: Cross-region IPAM pool association in Azure Virtual Network Manager</a:t>
            </a:r>
            <a:endParaRPr lang="en-US" sz="1000" dirty="0"/>
          </a:p>
          <a:p>
            <a:pPr algn="just"/>
            <a:r>
              <a:rPr lang="en-US" sz="1000" dirty="0"/>
              <a:t>Managing IP address space across multiple regions can be difficult to scale and prone to configuration mistakes.</a:t>
            </a:r>
          </a:p>
          <a:p>
            <a:pPr algn="just"/>
            <a:r>
              <a:rPr lang="en-US" sz="1000" dirty="0"/>
              <a:t>With cross-region IPAM pool association, it is possible to associate a single IPAM pool with virtual networks across multiple Azure regions. This helps centralize address planning, simplify governance, and maintain consistent CIDR allocation across global environments.</a:t>
            </a:r>
          </a:p>
          <a:p>
            <a:pPr algn="just"/>
            <a:r>
              <a:rPr lang="en-US" sz="1000" dirty="0"/>
              <a:t>Key benefits:</a:t>
            </a:r>
          </a:p>
          <a:p>
            <a:pPr marL="171450" indent="-171450" algn="just">
              <a:buFont typeface="Arial" panose="020B0604020202020204" pitchFamily="34" charset="0"/>
              <a:buChar char="•"/>
            </a:pPr>
            <a:r>
              <a:rPr lang="en-US" sz="1000" dirty="0"/>
              <a:t>Centralized address management: Use one multi-region IPAM pool instead of creating and maintaining separate pools for each region.</a:t>
            </a:r>
          </a:p>
          <a:p>
            <a:pPr marL="171450" indent="-171450" algn="just">
              <a:buFont typeface="Arial" panose="020B0604020202020204" pitchFamily="34" charset="0"/>
              <a:buChar char="•"/>
            </a:pPr>
            <a:r>
              <a:rPr lang="en-US" sz="1000" dirty="0"/>
              <a:t>Consistent governance: Apply CIDR allocation policies across regions, with the flexibility to define regional restrictions when needed.</a:t>
            </a:r>
          </a:p>
          <a:p>
            <a:pPr marL="171450" indent="-171450" algn="just">
              <a:buFont typeface="Arial" panose="020B0604020202020204" pitchFamily="34" charset="0"/>
              <a:buChar char="•"/>
            </a:pPr>
            <a:r>
              <a:rPr lang="en-US" sz="1000" dirty="0"/>
              <a:t>Backward compatibility: Existing single-region IPAM pools continue to work as they do today, with no required changes.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Microsoft HTTP DDoS Ruleset for Azure WAF on Azure Front Door Premium</a:t>
            </a:r>
            <a:endParaRPr lang="en-US" dirty="0"/>
          </a:p>
          <a:p>
            <a:pPr algn="just"/>
            <a:r>
              <a:rPr lang="en-US" dirty="0"/>
              <a:t>HTTP-layer DDoS attacks remain a leading cause of application downtime, and traditional static controls often fall short against evolving botnets. The new HTTP DDoS Ruleset for Azure WAF introduces automated, adaptive Layer 7 protection that learns, detects, and defends with minimal configuration. Once assigned, the ruleset continuously baselines normal traffic for each Azure Front Door Profile and, when attack surges are detected, selectively blocks offending clients with no emergency tuning required.</a:t>
            </a:r>
          </a:p>
          <a:p>
            <a:pPr algn="just"/>
            <a:r>
              <a:rPr lang="en-US" dirty="0"/>
              <a:t>The HTTP DDoS Ruleset features:</a:t>
            </a:r>
          </a:p>
          <a:p>
            <a:pPr marL="171450" indent="-171450" algn="just">
              <a:buFont typeface="Arial" panose="020B0604020202020204" pitchFamily="34" charset="0"/>
              <a:buChar char="•"/>
            </a:pPr>
            <a:r>
              <a:rPr lang="en-US" dirty="0"/>
              <a:t>Automated learning of traffic baselines at both the profile and per-client level.</a:t>
            </a:r>
          </a:p>
          <a:p>
            <a:pPr marL="171450" indent="-171450" algn="just">
              <a:buFont typeface="Arial" panose="020B0604020202020204" pitchFamily="34" charset="0"/>
              <a:buChar char="•"/>
            </a:pPr>
            <a:r>
              <a:rPr lang="en-US" dirty="0"/>
              <a:t>Dynamic thresholds and sensitivity settings to balance protection and user experience.</a:t>
            </a:r>
          </a:p>
          <a:p>
            <a:pPr marL="171450" indent="-171450" algn="just">
              <a:buFont typeface="Arial" panose="020B0604020202020204" pitchFamily="34" charset="0"/>
              <a:buChar char="•"/>
            </a:pPr>
            <a:r>
              <a:rPr lang="en-US" dirty="0"/>
              <a:t>Two core rules: one for high-rate client anomalies and one for suspected bots, leveraging Microsoft Threat Intelligence.</a:t>
            </a:r>
          </a:p>
          <a:p>
            <a:pPr algn="just"/>
            <a:endParaRPr lang="en-US" dirty="0"/>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EE44-A3A9-5916-28C3-73C176E34A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8381F3B-4FD0-B81E-E9ED-5F1037B0948F}"/>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C735E067-643C-4669-293E-B1878549EE12}"/>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BC16BD-C9C7-ACBB-576D-EBDB3A535BE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6D884AE-3074-77B9-2821-DC774A2B2C02}"/>
              </a:ext>
            </a:extLst>
          </p:cNvPr>
          <p:cNvSpPr>
            <a:spLocks noGrp="1"/>
          </p:cNvSpPr>
          <p:nvPr>
            <p:ph type="body" sz="quarter" idx="16"/>
          </p:nvPr>
        </p:nvSpPr>
        <p:spPr/>
        <p:txBody>
          <a:bodyPr/>
          <a:lstStyle/>
          <a:p>
            <a:pPr algn="just"/>
            <a:r>
              <a:rPr lang="en-US" dirty="0">
                <a:hlinkClick r:id="rId2"/>
              </a:rPr>
              <a:t>General availability of Default Ruleset (DRS) 2.2 for Web Application Firewall</a:t>
            </a:r>
            <a:endParaRPr lang="en-US" dirty="0"/>
          </a:p>
          <a:p>
            <a:pPr algn="just"/>
            <a:r>
              <a:rPr lang="en-US" dirty="0"/>
              <a:t>Azure Web Application Firewall now includes </a:t>
            </a:r>
            <a:r>
              <a:rPr lang="en-US" b="1" dirty="0"/>
              <a:t>Default Rule Set (DRS) 2.2 (GA)</a:t>
            </a:r>
            <a:r>
              <a:rPr lang="en-US" dirty="0"/>
              <a:t>, providing updated protections against modern web threats. It improves detection for vulnerabilities such as </a:t>
            </a:r>
            <a:r>
              <a:rPr lang="en-US" b="1" dirty="0"/>
              <a:t>OWASP Top 10 risks, bot traffic, and application-layer attacks</a:t>
            </a:r>
            <a:r>
              <a:rPr lang="en-US" dirty="0"/>
              <a:t>. The new ruleset enhances </a:t>
            </a:r>
            <a:r>
              <a:rPr lang="en-US" b="1" dirty="0"/>
              <a:t>accuracy and reduces false positives</a:t>
            </a:r>
            <a:r>
              <a:rPr lang="en-US" dirty="0"/>
              <a:t>, improving operational efficiency. It is designed to better protect </a:t>
            </a:r>
            <a:r>
              <a:rPr lang="en-US" b="1" dirty="0"/>
              <a:t>modern web applications and APIs</a:t>
            </a:r>
            <a:r>
              <a:rPr lang="en-US" dirty="0"/>
              <a:t>. This update strengthens overall </a:t>
            </a:r>
            <a:r>
              <a:rPr lang="en-US" b="1" dirty="0"/>
              <a:t>security posture and threat protection capabilities</a:t>
            </a:r>
            <a:r>
              <a:rPr lang="en-US" dirty="0"/>
              <a:t>.</a:t>
            </a:r>
          </a:p>
        </p:txBody>
      </p:sp>
    </p:spTree>
    <p:extLst>
      <p:ext uri="{BB962C8B-B14F-4D97-AF65-F5344CB8AC3E}">
        <p14:creationId xmlns:p14="http://schemas.microsoft.com/office/powerpoint/2010/main" val="289062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226539-98A3-C40F-4648-61D3893ECB98}"/>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p:txBody>
          <a:bodyPr/>
          <a:lstStyle/>
          <a:p>
            <a:pPr algn="just"/>
            <a:r>
              <a:rPr lang="en-US" dirty="0">
                <a:hlinkClick r:id="rId2"/>
              </a:rPr>
              <a:t>Update: Egress and data transfer with Azure in the United Kingdom</a:t>
            </a:r>
            <a:endParaRPr lang="en-US" dirty="0"/>
          </a:p>
          <a:p>
            <a:pPr algn="just"/>
            <a:r>
              <a:rPr lang="en-US" dirty="0"/>
              <a:t>Azure provides </a:t>
            </a:r>
            <a:r>
              <a:rPr lang="en-US" b="1" dirty="0"/>
              <a:t>customer choice for data transfer</a:t>
            </a:r>
            <a:r>
              <a:rPr lang="en-US" dirty="0"/>
              <a:t>, including moving data between Azure and external environments. In Europe, Microsoft offers </a:t>
            </a:r>
            <a:r>
              <a:rPr lang="en-US" b="1" dirty="0"/>
              <a:t>free egress and at-cost data transfer</a:t>
            </a:r>
            <a:r>
              <a:rPr lang="en-US" dirty="0"/>
              <a:t> for scenarios involving interoperable, multi-provider architectures. Updates now apply to customers with a </a:t>
            </a:r>
            <a:r>
              <a:rPr lang="en-US" b="1" dirty="0"/>
              <a:t>UK billing address transferring data from UK datacenters</a:t>
            </a:r>
            <a:r>
              <a:rPr lang="en-US" dirty="0"/>
              <a:t>, including changes to network scope, transfer windows, and supported services. Customers performing </a:t>
            </a:r>
            <a:r>
              <a:rPr lang="en-US" b="1" dirty="0"/>
              <a:t>cross-cloud or parallel data transfers</a:t>
            </a:r>
            <a:r>
              <a:rPr lang="en-US" dirty="0"/>
              <a:t> can request </a:t>
            </a:r>
            <a:r>
              <a:rPr lang="en-US" b="1" dirty="0"/>
              <a:t>credits via Azure Support</a:t>
            </a:r>
            <a:r>
              <a:rPr lang="en-US" dirty="0"/>
              <a:t>, subject to eligibility requirements. This supports flexibility while managing data movement costs.</a:t>
            </a:r>
          </a:p>
          <a:p>
            <a:pPr algn="just"/>
            <a:endParaRPr lang="en-US" dirty="0"/>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p:txBody>
          <a:bodyPr/>
          <a:lstStyle/>
          <a:p>
            <a:pPr algn="just"/>
            <a:r>
              <a:rPr lang="en-US" dirty="0">
                <a:hlinkClick r:id="rId2"/>
              </a:rPr>
              <a:t>General Availability: Refresh Token (RT) Transfer to Apple Watch in Microsoft Entra External ID Native Authentication</a:t>
            </a:r>
            <a:endParaRPr lang="en-US" dirty="0"/>
          </a:p>
          <a:p>
            <a:pPr algn="just"/>
            <a:r>
              <a:rPr lang="en-US" dirty="0"/>
              <a:t>Native Authentication now supports </a:t>
            </a:r>
            <a:r>
              <a:rPr lang="en-US" b="1" dirty="0"/>
              <a:t>refresh token transfer (GA)</a:t>
            </a:r>
            <a:r>
              <a:rPr lang="en-US" dirty="0"/>
              <a:t> in Microsoft Entra, enabling seamless </a:t>
            </a:r>
            <a:r>
              <a:rPr lang="en-US" b="1" dirty="0"/>
              <a:t>session continuity across devices and app instances</a:t>
            </a:r>
            <a:r>
              <a:rPr lang="en-US" dirty="0"/>
              <a:t>. This allows authenticated users to securely transfer their session without requiring reauthentication. It improves user experience by </a:t>
            </a:r>
            <a:r>
              <a:rPr lang="en-US" b="1" dirty="0"/>
              <a:t>reducing repeated sign-ins</a:t>
            </a:r>
            <a:r>
              <a:rPr lang="en-US" dirty="0"/>
              <a:t> while maintaining strong security controls. The feature integrates with </a:t>
            </a:r>
            <a:r>
              <a:rPr lang="en-US" b="1" dirty="0"/>
              <a:t>Entra ID policies and token protections</a:t>
            </a:r>
            <a:r>
              <a:rPr lang="en-US" dirty="0"/>
              <a:t>. It supports modern applications that require </a:t>
            </a:r>
            <a:r>
              <a:rPr lang="en-US" b="1" dirty="0"/>
              <a:t>smooth, cross-platform authentication flows</a:t>
            </a:r>
            <a:r>
              <a:rPr lang="en-US" dirty="0"/>
              <a:t>.</a:t>
            </a:r>
          </a:p>
        </p:txBody>
      </p:sp>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Container Network Insights Agent</a:t>
            </a:r>
            <a:endParaRPr lang="en-US" dirty="0"/>
          </a:p>
          <a:p>
            <a:pPr algn="just"/>
            <a:r>
              <a:rPr lang="en-US" dirty="0"/>
              <a:t>Troubleshooting Kubernetes networking issues is often slowed by logs and metrics scattered across multiple tools, requiring engineers to manually correlate signals during incidents. The Container Network Insights Agent provides a lightweight, web‑based interface that translates natural‑language problem descriptions into read‑only diagnostics using live AKS cluster telemetry. It orchestrates safe diagnostic workflows and consolidates networking insights into structured summaries with recommended next steps. By reducing the need for manual correlation across logs, metrics, and flows, the agent helps teams identify likely root causes faster, improves troubleshooting consistency, and reduces time spent during incident investigations—while keeping customers fully in control of any changes.</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r>
              <a:rPr lang="en-US" sz="1000" dirty="0">
                <a:hlinkClick r:id="rId2"/>
              </a:rPr>
              <a:t>Generally Available: Azure Functions support for Java 25</a:t>
            </a:r>
            <a:endParaRPr lang="en-US" sz="1000" dirty="0"/>
          </a:p>
          <a:p>
            <a:r>
              <a:rPr lang="en-US" sz="1000" dirty="0"/>
              <a:t>Azure Functions support for Java 25 is now generally available.   </a:t>
            </a:r>
          </a:p>
          <a:p>
            <a:r>
              <a:rPr lang="en-US" sz="1000" dirty="0"/>
              <a:t>You can now develop apps using Java 25 locally and deploy them to supported Azure Functions plans on Linux and Windows, including the Flex Consumption plan. </a:t>
            </a:r>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3"/>
              </a:rPr>
              <a:t>Generally Available: Microsoft Azure Red Hat OpenShift is now available in Austria East</a:t>
            </a:r>
            <a:endParaRPr lang="en-US" dirty="0"/>
          </a:p>
          <a:p>
            <a:pPr algn="just"/>
            <a:r>
              <a:rPr lang="en-US" dirty="0"/>
              <a:t>The Austria East region is now generally available to Azure Red Hat OpenShift customers and partners. The region includes three availability zones, supporting resilient and scalable operations. </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a:xfrm>
            <a:off x="342900" y="855080"/>
            <a:ext cx="3955312" cy="1666447"/>
          </a:xfrm>
        </p:spPr>
        <p:txBody>
          <a:bodyPr/>
          <a:lstStyle/>
          <a:p>
            <a:pPr algn="just"/>
            <a:r>
              <a:rPr lang="en-US" dirty="0">
                <a:hlinkClick r:id="rId2"/>
              </a:rPr>
              <a:t>High-Fidelity Network Observability at Scale— ACNS Metrics Filtering and Log Aggregation Now GA</a:t>
            </a:r>
            <a:endParaRPr lang="en-US" dirty="0"/>
          </a:p>
          <a:p>
            <a:pPr algn="just"/>
            <a:r>
              <a:rPr lang="en-US" dirty="0"/>
              <a:t>Azure Container Networking Services (ACNS) introduces </a:t>
            </a:r>
            <a:r>
              <a:rPr lang="en-US" b="1" dirty="0"/>
              <a:t>metrics filtering and log aggregation</a:t>
            </a:r>
            <a:r>
              <a:rPr lang="en-US" dirty="0"/>
              <a:t> to improve network observability at scale. It allows teams to </a:t>
            </a:r>
            <a:r>
              <a:rPr lang="en-US" b="1" dirty="0"/>
              <a:t>select and collect only relevant network metrics</a:t>
            </a:r>
            <a:r>
              <a:rPr lang="en-US" dirty="0"/>
              <a:t>, reducing noise and data volume. Log aggregation consolidates network logs for </a:t>
            </a:r>
            <a:r>
              <a:rPr lang="en-US" b="1" dirty="0"/>
              <a:t>easier analysis and troubleshooting</a:t>
            </a:r>
            <a:r>
              <a:rPr lang="en-US" dirty="0"/>
              <a:t>. This helps optimize monitoring costs while maintaining </a:t>
            </a:r>
            <a:r>
              <a:rPr lang="en-US" b="1" dirty="0"/>
              <a:t>high-fidelity visibility into network behavior</a:t>
            </a:r>
            <a:r>
              <a:rPr lang="en-US" dirty="0"/>
              <a:t>. It enables more efficient operations and </a:t>
            </a:r>
            <a:r>
              <a:rPr lang="en-US" b="1" dirty="0"/>
              <a:t>focused insights for large-scale Kubernetes environments</a:t>
            </a:r>
            <a:r>
              <a:rPr lang="en-US" dirty="0"/>
              <a:t>.</a:t>
            </a:r>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pPr algn="just"/>
            <a:r>
              <a:rPr lang="en-US" sz="1000" dirty="0">
                <a:hlinkClick r:id="rId2"/>
              </a:rPr>
              <a:t>Prefix-scoped access for User Delegation SAS is now generally available for Azure Blob Storage</a:t>
            </a:r>
            <a:endParaRPr lang="en-US" sz="1000" dirty="0"/>
          </a:p>
          <a:p>
            <a:pPr algn="just"/>
            <a:r>
              <a:rPr lang="en-US" sz="1000" dirty="0"/>
              <a:t>Prefix-scoped access for </a:t>
            </a:r>
            <a:r>
              <a:rPr lang="en-US" sz="1000" b="1" dirty="0"/>
              <a:t>user delegation SAS</a:t>
            </a:r>
            <a:r>
              <a:rPr lang="en-US" sz="1000" dirty="0"/>
              <a:t> in Azure Storage is now </a:t>
            </a:r>
            <a:r>
              <a:rPr lang="en-US" sz="1000" b="1" dirty="0"/>
              <a:t>generally available</a:t>
            </a:r>
            <a:r>
              <a:rPr lang="en-US" sz="1000" dirty="0"/>
              <a:t>, enabling more granular control over data access. It allows SAS tokens to be restricted to a </a:t>
            </a:r>
            <a:r>
              <a:rPr lang="en-US" sz="1000" b="1" dirty="0"/>
              <a:t>specific prefix (folder path)</a:t>
            </a:r>
            <a:r>
              <a:rPr lang="en-US" sz="1000" dirty="0"/>
              <a:t> within a container, rather than the entire container. This improves security by </a:t>
            </a:r>
            <a:r>
              <a:rPr lang="en-US" sz="1000" b="1" dirty="0"/>
              <a:t>limiting access to only required data</a:t>
            </a:r>
            <a:r>
              <a:rPr lang="en-US" sz="1000" dirty="0"/>
              <a:t>. It supports </a:t>
            </a:r>
            <a:r>
              <a:rPr lang="en-US" sz="1000" b="1" dirty="0"/>
              <a:t>least-privilege access models</a:t>
            </a:r>
            <a:r>
              <a:rPr lang="en-US" sz="1000" dirty="0"/>
              <a:t> and reduces the risk of overexposure. This enhancement makes SAS-based access </a:t>
            </a:r>
            <a:r>
              <a:rPr lang="en-US" sz="1000" b="1" dirty="0"/>
              <a:t>more precise and easier to govern</a:t>
            </a:r>
            <a:r>
              <a:rPr lang="en-US" sz="1000" dirty="0"/>
              <a:t>.</a:t>
            </a:r>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pPr algn="just"/>
            <a:r>
              <a:rPr lang="en-US" dirty="0">
                <a:hlinkClick r:id="rId3"/>
              </a:rPr>
              <a:t>Generally Available: Connect to Azure Elastic SAN from Windows VM via VM Extension</a:t>
            </a:r>
            <a:endParaRPr lang="en-US" dirty="0"/>
          </a:p>
          <a:p>
            <a:pPr algn="just"/>
            <a:r>
              <a:rPr lang="en-US" dirty="0"/>
              <a:t>Azure Elastic SAN now supports </a:t>
            </a:r>
            <a:r>
              <a:rPr lang="en-US" b="1" dirty="0"/>
              <a:t>volume connectivity for Windows VMs directly from the Azure Portal</a:t>
            </a:r>
            <a:r>
              <a:rPr lang="en-US" dirty="0"/>
              <a:t> using the Elastic SAN VM extension. This allows volumes to be </a:t>
            </a:r>
            <a:r>
              <a:rPr lang="en-US" b="1" dirty="0"/>
              <a:t>attached during VM deployment</a:t>
            </a:r>
            <a:r>
              <a:rPr lang="en-US" dirty="0"/>
              <a:t>, eliminating manual post-deployment steps. It simplifies provisioning and accelerates setup for storage-intensive workloads. The feature improves </a:t>
            </a:r>
            <a:r>
              <a:rPr lang="en-US" b="1" dirty="0"/>
              <a:t>operational efficiency and consistency</a:t>
            </a:r>
            <a:r>
              <a:rPr lang="en-US" dirty="0"/>
              <a:t>.</a:t>
            </a:r>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the Private Preview of Cosmos DB Azure RBAC Integration</a:t>
            </a:r>
            <a:endParaRPr lang="en-US" dirty="0"/>
          </a:p>
          <a:p>
            <a:pPr algn="just"/>
            <a:r>
              <a:rPr lang="en-US" dirty="0"/>
              <a:t>Azure Cosmos DB now introduces </a:t>
            </a:r>
            <a:r>
              <a:rPr lang="en-US" b="1" dirty="0"/>
              <a:t>Azure RBAC integration (private preview)</a:t>
            </a:r>
            <a:r>
              <a:rPr lang="en-US" dirty="0"/>
              <a:t>, enabling </a:t>
            </a:r>
            <a:r>
              <a:rPr lang="en-US" b="1" dirty="0"/>
              <a:t>role-based access control using Microsoft Entra ID</a:t>
            </a:r>
            <a:r>
              <a:rPr lang="en-US" dirty="0"/>
              <a:t>. This allows organizations to manage database access through </a:t>
            </a:r>
            <a:r>
              <a:rPr lang="en-US" b="1" dirty="0"/>
              <a:t>centralized identity and access policies</a:t>
            </a:r>
            <a:r>
              <a:rPr lang="en-US" dirty="0"/>
              <a:t> instead of account keys. It improves security by aligning with </a:t>
            </a:r>
            <a:r>
              <a:rPr lang="en-US" b="1" dirty="0"/>
              <a:t>least-privilege and Zero Trust principles</a:t>
            </a:r>
            <a:r>
              <a:rPr lang="en-US" dirty="0"/>
              <a:t>. Administrators can assign roles to users, groups, or managed identities for </a:t>
            </a:r>
            <a:r>
              <a:rPr lang="en-US" b="1" dirty="0"/>
              <a:t>fine-grained access control</a:t>
            </a:r>
            <a:r>
              <a:rPr lang="en-US" dirty="0"/>
              <a:t>. This simplifies access management and enhances governance across Cosmos DB environments.</a:t>
            </a:r>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Memory in Foundry Agent Service</a:t>
            </a:r>
            <a:endParaRPr lang="en-US" dirty="0"/>
          </a:p>
          <a:p>
            <a:pPr algn="just"/>
            <a:r>
              <a:rPr lang="en-US" dirty="0"/>
              <a:t>Foundry now introduces </a:t>
            </a:r>
            <a:r>
              <a:rPr lang="en-US" b="1" dirty="0"/>
              <a:t>memory (preview)</a:t>
            </a:r>
            <a:r>
              <a:rPr lang="en-US" dirty="0"/>
              <a:t>, a built-in long-term memory capability for AI agents. It is fully integrated with </a:t>
            </a:r>
            <a:r>
              <a:rPr lang="en-US" b="1" dirty="0"/>
              <a:t>Foundry Agent Service, Microsoft Agent Framework, and </a:t>
            </a:r>
            <a:r>
              <a:rPr lang="en-US" b="1" dirty="0" err="1"/>
              <a:t>LangGraph</a:t>
            </a:r>
            <a:r>
              <a:rPr lang="en-US" dirty="0"/>
              <a:t>. This removes the need to manage external databases for storing agent context. It simplifies architecture while improving </a:t>
            </a:r>
            <a:r>
              <a:rPr lang="en-US" b="1" dirty="0"/>
              <a:t>stateful and context-aware agent behavior</a:t>
            </a:r>
            <a:r>
              <a:rPr lang="en-US" dirty="0"/>
              <a:t>. Developers can build more advanced agents with </a:t>
            </a:r>
            <a:r>
              <a:rPr lang="en-US" b="1" dirty="0"/>
              <a:t>persistent memory and reduced operational overhead</a:t>
            </a:r>
            <a:r>
              <a:rPr lang="en-US" dirty="0"/>
              <a:t>.</a:t>
            </a:r>
          </a:p>
          <a:p>
            <a:pPr algn="just"/>
            <a:endParaRPr lang="en-US" dirty="0"/>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pPr algn="just"/>
            <a:r>
              <a:rPr lang="en-US" sz="1000" dirty="0">
                <a:hlinkClick r:id="rId2"/>
              </a:rPr>
              <a:t>Generally Available: Microsoft Agent Framework 1.0</a:t>
            </a:r>
            <a:endParaRPr lang="en-US" sz="1000" dirty="0"/>
          </a:p>
          <a:p>
            <a:pPr algn="just"/>
            <a:r>
              <a:rPr lang="en-US" sz="1000" dirty="0"/>
              <a:t>Microsoft Agent Framework is now version 1.0 for both .NET and Python, with stable APIs and a long-term support commitment. Agent Framework 1.0 supports multi-agent orchestration, multi-provider model support, and cross-runtime interoperability via A2A and MCP.</a:t>
            </a:r>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3"/>
              </a:rPr>
              <a:t>Generally Available: Bring your own AI Gateway in Foundry Agent Service</a:t>
            </a:r>
            <a:endParaRPr lang="en-US" dirty="0"/>
          </a:p>
          <a:p>
            <a:pPr algn="just"/>
            <a:r>
              <a:rPr lang="en-US" dirty="0"/>
              <a:t>Foundry Agent Service now supports bring‑your‑own‑model scenarios, allowing agents to use AI models deployed and managed outside of Foundry, including models hosted behind enterprise AI gateways such as Azure API Management. This enables organizations to integrate custom, fine‑tuned, open‑source, or third‑party models into Foundry agents while retaining control over model endpoints, security policies, and governance.</a:t>
            </a:r>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51C19-26D9-F0EC-D258-E03F4480B96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17E32E8D-64A0-E920-A41E-F85F4412591D}"/>
              </a:ext>
            </a:extLst>
          </p:cNvPr>
          <p:cNvSpPr>
            <a:spLocks noGrp="1"/>
          </p:cNvSpPr>
          <p:nvPr>
            <p:ph type="body" sz="quarter" idx="10"/>
          </p:nvPr>
        </p:nvSpPr>
        <p:spPr/>
        <p:txBody>
          <a:bodyPr/>
          <a:lstStyle/>
          <a:p>
            <a:pPr algn="just"/>
            <a:r>
              <a:rPr lang="en-US" sz="1000" dirty="0">
                <a:hlinkClick r:id="rId2"/>
              </a:rPr>
              <a:t>Available today: GPT-5.5 Thinking and ChatGPT Images 2.0 in Microsoft 365 Copilot</a:t>
            </a:r>
            <a:endParaRPr lang="en-US" sz="1000" dirty="0"/>
          </a:p>
          <a:p>
            <a:pPr algn="just"/>
            <a:r>
              <a:rPr lang="en-US" sz="1000" dirty="0"/>
              <a:t>Microsoft 365 Copilot now includes </a:t>
            </a:r>
            <a:r>
              <a:rPr lang="en-US" sz="1000" b="1" dirty="0"/>
              <a:t>GPT-5.5 Thinking and ChatGPT Images 2.0</a:t>
            </a:r>
            <a:r>
              <a:rPr lang="en-US" sz="1000" dirty="0"/>
              <a:t>, expanding advanced AI capabilities in productivity tools. GPT-5.5 Thinking improves </a:t>
            </a:r>
            <a:r>
              <a:rPr lang="en-US" sz="1000" b="1" dirty="0"/>
              <a:t>reasoning, complex problem-solving, and multi-step task execution</a:t>
            </a:r>
            <a:r>
              <a:rPr lang="en-US" sz="1000" dirty="0"/>
              <a:t> across applications. ChatGPT Images 2.0 enhances </a:t>
            </a:r>
            <a:r>
              <a:rPr lang="en-US" sz="1000" b="1" dirty="0"/>
              <a:t>image generation and editing</a:t>
            </a:r>
            <a:r>
              <a:rPr lang="en-US" sz="1000" dirty="0"/>
              <a:t>, enabling richer visual content creation directly within workflows. These capabilities are integrated into the </a:t>
            </a:r>
            <a:r>
              <a:rPr lang="en-US" sz="1000" b="1" dirty="0"/>
              <a:t>Microsoft 365 Copilot experience</a:t>
            </a:r>
            <a:r>
              <a:rPr lang="en-US" sz="1000" dirty="0"/>
              <a:t>, supporting tasks in documents, presentations, and collaboration tools. This update strengthens both </a:t>
            </a:r>
            <a:r>
              <a:rPr lang="en-US" sz="1000" b="1" dirty="0"/>
              <a:t>text and visual AI capabilities</a:t>
            </a:r>
            <a:r>
              <a:rPr lang="en-US" sz="1000" dirty="0"/>
              <a:t> for enterprise productivity.</a:t>
            </a:r>
          </a:p>
        </p:txBody>
      </p:sp>
      <p:sp>
        <p:nvSpPr>
          <p:cNvPr id="11" name="Title 10">
            <a:extLst>
              <a:ext uri="{FF2B5EF4-FFF2-40B4-BE49-F238E27FC236}">
                <a16:creationId xmlns:a16="http://schemas.microsoft.com/office/drawing/2014/main" id="{3A7A328E-9FAE-90A5-47FC-D76F4B57B99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605F26D-C766-BADD-96A7-69DE7AF10B9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E6A30BB-2292-9F3C-31D8-001F91B8B143}"/>
              </a:ext>
            </a:extLst>
          </p:cNvPr>
          <p:cNvSpPr>
            <a:spLocks noGrp="1"/>
          </p:cNvSpPr>
          <p:nvPr>
            <p:ph type="body" sz="quarter" idx="16"/>
          </p:nvPr>
        </p:nvSpPr>
        <p:spPr/>
        <p:txBody>
          <a:bodyPr/>
          <a:lstStyle/>
          <a:p>
            <a:pPr algn="just"/>
            <a:r>
              <a:rPr lang="en-US" dirty="0">
                <a:hlinkClick r:id="rId3"/>
              </a:rPr>
              <a:t>Introducing DeepSeek V4 Flash and V4 Pro in Microsoft Foundry</a:t>
            </a:r>
            <a:endParaRPr lang="en-US" dirty="0"/>
          </a:p>
          <a:p>
            <a:pPr algn="just"/>
            <a:r>
              <a:rPr lang="en-US" dirty="0"/>
              <a:t>DeepSeek </a:t>
            </a:r>
            <a:r>
              <a:rPr lang="en-US" b="1" dirty="0"/>
              <a:t>V4 Flash and V4 Pro</a:t>
            </a:r>
            <a:r>
              <a:rPr lang="en-US" dirty="0"/>
              <a:t> are now available in </a:t>
            </a:r>
            <a:r>
              <a:rPr lang="en-US" b="1" dirty="0"/>
              <a:t>Microsoft Foundry</a:t>
            </a:r>
            <a:r>
              <a:rPr lang="en-US" dirty="0"/>
              <a:t>, expanding model options for enterprise AI workloads. V4 Flash is optimized for </a:t>
            </a:r>
            <a:r>
              <a:rPr lang="en-US" b="1" dirty="0"/>
              <a:t>speed and cost efficiency</a:t>
            </a:r>
            <a:r>
              <a:rPr lang="en-US" dirty="0"/>
              <a:t>, while V4 Pro delivers </a:t>
            </a:r>
            <a:r>
              <a:rPr lang="en-US" b="1" dirty="0"/>
              <a:t>stronger reasoning and higher-quality outputs</a:t>
            </a:r>
            <a:r>
              <a:rPr lang="en-US" dirty="0"/>
              <a:t> for complex tasks. Both models support use cases such as </a:t>
            </a:r>
            <a:r>
              <a:rPr lang="en-US" b="1" dirty="0"/>
              <a:t>agent workflows, coding, and advanced reasoning scenarios</a:t>
            </a:r>
            <a:r>
              <a:rPr lang="en-US" dirty="0"/>
              <a:t>. They integrate with Foundry’s </a:t>
            </a:r>
            <a:r>
              <a:rPr lang="en-US" b="1" dirty="0"/>
              <a:t>standard APIs, governance, and security controls</a:t>
            </a:r>
            <a:r>
              <a:rPr lang="en-US" dirty="0"/>
              <a:t>, enabling seamless adoption. This release gives organizations more flexibility to balance </a:t>
            </a:r>
            <a:r>
              <a:rPr lang="en-US" b="1" dirty="0"/>
              <a:t>performance, cost, and capability</a:t>
            </a:r>
            <a:r>
              <a:rPr lang="en-US" dirty="0"/>
              <a:t> in AI solutions.</a:t>
            </a:r>
          </a:p>
        </p:txBody>
      </p:sp>
    </p:spTree>
    <p:extLst>
      <p:ext uri="{BB962C8B-B14F-4D97-AF65-F5344CB8AC3E}">
        <p14:creationId xmlns:p14="http://schemas.microsoft.com/office/powerpoint/2010/main" val="36561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42BB-AC6C-2AA7-DD8D-F72AA7FFC43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C0F9F86E-2A6D-BDAE-C8EE-EE788A5258D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EF72EEE0-19C4-3124-5429-91324F7E9595}"/>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B669D008-31EC-793D-3B56-C9E4F2AE37D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CB4E159-3299-1205-ACAC-F0A50D9B2BFA}"/>
              </a:ext>
            </a:extLst>
          </p:cNvPr>
          <p:cNvSpPr>
            <a:spLocks noGrp="1"/>
          </p:cNvSpPr>
          <p:nvPr>
            <p:ph type="body" sz="quarter" idx="16"/>
          </p:nvPr>
        </p:nvSpPr>
        <p:spPr/>
        <p:txBody>
          <a:bodyPr/>
          <a:lstStyle/>
          <a:p>
            <a:pPr algn="just"/>
            <a:r>
              <a:rPr lang="en-US" dirty="0">
                <a:hlinkClick r:id="rId2"/>
              </a:rPr>
              <a:t>Bring Your Own Model to Foundry Agent Service Is Now Generally Available</a:t>
            </a:r>
            <a:endParaRPr lang="en-US" dirty="0"/>
          </a:p>
          <a:p>
            <a:pPr algn="just"/>
            <a:r>
              <a:rPr lang="en-US" dirty="0"/>
              <a:t>Bring Your Own Model (BYOM) for </a:t>
            </a:r>
            <a:r>
              <a:rPr lang="en-US" b="1" dirty="0"/>
              <a:t>Foundry Agent Service</a:t>
            </a:r>
            <a:r>
              <a:rPr lang="en-US" dirty="0"/>
              <a:t> is now generally available, allowing organizations to </a:t>
            </a:r>
            <a:r>
              <a:rPr lang="en-US" b="1" dirty="0"/>
              <a:t>integrate custom or third-party models</a:t>
            </a:r>
            <a:r>
              <a:rPr lang="en-US" dirty="0"/>
              <a:t> into agent workflows. This provides flexibility to use </a:t>
            </a:r>
            <a:r>
              <a:rPr lang="en-US" b="1" dirty="0"/>
              <a:t>proprietary, open-source, or fine-tuned models</a:t>
            </a:r>
            <a:r>
              <a:rPr lang="en-US" dirty="0"/>
              <a:t> alongside built-in options. It enables teams to </a:t>
            </a:r>
            <a:r>
              <a:rPr lang="en-US" b="1" dirty="0"/>
              <a:t>standardize orchestration, governance, and monitoring</a:t>
            </a:r>
            <a:r>
              <a:rPr lang="en-US" dirty="0"/>
              <a:t> within Foundry while maintaining model choice. Developers can build agents that combine multiple models for </a:t>
            </a:r>
            <a:r>
              <a:rPr lang="en-US" b="1" dirty="0"/>
              <a:t>specialized or domain-specific tasks</a:t>
            </a:r>
            <a:r>
              <a:rPr lang="en-US" dirty="0"/>
              <a:t>. This enhances flexibility, control, and scalability for enterprise AI solutions.</a:t>
            </a:r>
          </a:p>
          <a:p>
            <a:pPr algn="just"/>
            <a:endParaRPr lang="en-US" dirty="0"/>
          </a:p>
        </p:txBody>
      </p:sp>
    </p:spTree>
    <p:extLst>
      <p:ext uri="{BB962C8B-B14F-4D97-AF65-F5344CB8AC3E}">
        <p14:creationId xmlns:p14="http://schemas.microsoft.com/office/powerpoint/2010/main" val="124760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2"/>
              </a:rPr>
              <a:t>Retirement: Prompt Flow in Azure ML and Foundry</a:t>
            </a:r>
            <a:endParaRPr lang="en-US" dirty="0"/>
          </a:p>
          <a:p>
            <a:pPr algn="just"/>
            <a:r>
              <a:rPr lang="en-US" dirty="0"/>
              <a:t>Prompt Flow will be retired from Microsoft Foundry and Azure Machine Learning on April 20, 2027 and replaced by a single, modern orchestration platform: </a:t>
            </a:r>
            <a:r>
              <a:rPr lang="en-US" u="sng" dirty="0">
                <a:hlinkClick r:id="rId3"/>
              </a:rPr>
              <a:t>Microsoft Agent Framework</a:t>
            </a:r>
            <a:r>
              <a:rPr lang="en-US" dirty="0"/>
              <a:t>. This change unlocks powerful new capabilities, including a unified, future-proof foundation for building intelligent agents and workflows with support for advanced agent architectures.  </a:t>
            </a:r>
          </a:p>
          <a:p>
            <a:pPr algn="just"/>
            <a:r>
              <a:rPr lang="en-US" dirty="0"/>
              <a:t>Key dates:  </a:t>
            </a:r>
          </a:p>
          <a:p>
            <a:pPr marL="171450" indent="-171450" algn="just">
              <a:buFont typeface="Arial" panose="020B0604020202020204" pitchFamily="34" charset="0"/>
              <a:buChar char="•"/>
            </a:pPr>
            <a:r>
              <a:rPr lang="en-US" dirty="0"/>
              <a:t>April 3, 2026: General Availability (GA) of Microsoft Agent Framework.  </a:t>
            </a:r>
          </a:p>
          <a:p>
            <a:pPr marL="171450" indent="-171450" algn="just">
              <a:buFont typeface="Arial" panose="020B0604020202020204" pitchFamily="34" charset="0"/>
              <a:buChar char="•"/>
            </a:pPr>
            <a:r>
              <a:rPr lang="en-US" dirty="0"/>
              <a:t>April 20, 2026: Public announcement of Prompt Flow deprecation.  </a:t>
            </a:r>
          </a:p>
          <a:p>
            <a:pPr marL="171450" indent="-171450" algn="just">
              <a:buFont typeface="Arial" panose="020B0604020202020204" pitchFamily="34" charset="0"/>
              <a:buChar char="•"/>
            </a:pPr>
            <a:r>
              <a:rPr lang="en-US" dirty="0"/>
              <a:t>April 20, 2027: Full retirement of Prompt Flow from Azure ML, Microsoft Foundry, and VS Code.  </a:t>
            </a:r>
          </a:p>
          <a:p>
            <a:pPr algn="just"/>
            <a:endParaRPr lang="en-US" dirty="0"/>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3261</TotalTime>
  <Words>1858</Words>
  <Application>Microsoft Office PowerPoint</Application>
  <PresentationFormat>On-screen Show (16:9)</PresentationFormat>
  <Paragraphs>79</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Human Sans</vt:lpstr>
      <vt:lpstr>Human Sans Regular</vt:lpstr>
      <vt:lpstr>Continuum Theme</vt:lpstr>
      <vt:lpstr>Azure Times #204</vt:lpstr>
      <vt:lpstr>PowerPoint Presentation</vt:lpstr>
      <vt:lpstr>Networking Updates</vt:lpstr>
      <vt:lpstr>Networking Updates</vt:lpstr>
      <vt:lpstr>Networking Updates</vt:lpstr>
      <vt:lpstr>PowerPoint Presentation</vt:lpstr>
      <vt:lpstr>Security &amp; Identity Updates</vt:lpstr>
      <vt:lpstr>PowerPoint Presentation</vt:lpstr>
      <vt:lpstr>Compute Updates</vt:lpstr>
      <vt:lpstr>Compute Updates</vt:lpstr>
      <vt:lpstr>Compute Updates</vt:lpstr>
      <vt:lpstr>PowerPoint Presentation</vt:lpstr>
      <vt:lpstr>Storage &amp; Data Updates</vt:lpstr>
      <vt:lpstr>PowerPoint Presentation</vt:lpstr>
      <vt:lpstr>Databases Updates</vt:lpstr>
      <vt:lpstr>PowerPoint Presentation</vt:lpstr>
      <vt:lpstr>ML &amp; AI &amp; IOT Updates</vt:lpstr>
      <vt:lpstr>ML &amp; AI &amp; IOT Updates</vt:lpstr>
      <vt:lpstr>ML &amp; AI &amp; IOT Updates</vt:lpstr>
      <vt:lpstr>ML &amp; AI &amp; IOT Updates</vt:lpstr>
      <vt:lpstr>ML &amp; AI &amp; IOT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119</cp:revision>
  <dcterms:created xsi:type="dcterms:W3CDTF">2018-01-26T19:23:30Z</dcterms:created>
  <dcterms:modified xsi:type="dcterms:W3CDTF">2026-05-03T08:40:59Z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