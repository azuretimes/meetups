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2" r:id="rId4"/>
  </p:sldMasterIdLst>
  <p:notesMasterIdLst>
    <p:notesMasterId r:id="rId31"/>
  </p:notesMasterIdLst>
  <p:handoutMasterIdLst>
    <p:handoutMasterId r:id="rId32"/>
  </p:handoutMasterIdLst>
  <p:sldIdLst>
    <p:sldId id="2142532340" r:id="rId5"/>
    <p:sldId id="2146847046" r:id="rId6"/>
    <p:sldId id="2146847089" r:id="rId7"/>
    <p:sldId id="2146847130" r:id="rId8"/>
    <p:sldId id="2146847048" r:id="rId9"/>
    <p:sldId id="2146847049" r:id="rId10"/>
    <p:sldId id="2146847158" r:id="rId11"/>
    <p:sldId id="2146847132" r:id="rId12"/>
    <p:sldId id="2146847050" r:id="rId13"/>
    <p:sldId id="2146847096" r:id="rId14"/>
    <p:sldId id="2146847134" r:id="rId15"/>
    <p:sldId id="2146847156" r:id="rId16"/>
    <p:sldId id="2146847135" r:id="rId17"/>
    <p:sldId id="2146847136" r:id="rId18"/>
    <p:sldId id="2146847159" r:id="rId19"/>
    <p:sldId id="2146847054" r:id="rId20"/>
    <p:sldId id="2146847103" r:id="rId21"/>
    <p:sldId id="2146847141" r:id="rId22"/>
    <p:sldId id="2146847142" r:id="rId23"/>
    <p:sldId id="2146847157" r:id="rId24"/>
    <p:sldId id="2146847140" r:id="rId25"/>
    <p:sldId id="2146847058" r:id="rId26"/>
    <p:sldId id="2146847147" r:id="rId27"/>
    <p:sldId id="2146847085" r:id="rId28"/>
    <p:sldId id="2146847084" r:id="rId29"/>
    <p:sldId id="2146847064" r:id="rId30"/>
  </p:sldIdLst>
  <p:sldSz cx="9144000" cy="5143500" type="screen16x9"/>
  <p:notesSz cx="6858000" cy="9144000"/>
  <p:defaultTex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A752CF65-4D58-4370-B229-5F4CB000B44D}">
          <p14:sldIdLst>
            <p14:sldId id="2142532340"/>
          </p14:sldIdLst>
        </p14:section>
        <p14:section name="Networking" id="{8B3AEA99-85F7-477B-B976-48DC47AA1A88}">
          <p14:sldIdLst/>
        </p14:section>
        <p14:section name="Security &amp; Identity" id="{1AA42572-B3BD-44F7-813B-C2C647DDBB3C}">
          <p14:sldIdLst>
            <p14:sldId id="2146847046"/>
            <p14:sldId id="2146847089"/>
            <p14:sldId id="2146847130"/>
          </p14:sldIdLst>
        </p14:section>
        <p14:section name="Management &amp; Governance" id="{34181601-6D48-4406-A525-C7B5A12C6C5B}">
          <p14:sldIdLst>
            <p14:sldId id="2146847048"/>
            <p14:sldId id="2146847049"/>
            <p14:sldId id="2146847158"/>
            <p14:sldId id="2146847132"/>
          </p14:sldIdLst>
        </p14:section>
        <p14:section name="Compute" id="{05AA80BB-8802-49AB-8336-A884227CE2F7}">
          <p14:sldIdLst>
            <p14:sldId id="2146847050"/>
            <p14:sldId id="2146847096"/>
            <p14:sldId id="2146847134"/>
            <p14:sldId id="2146847156"/>
            <p14:sldId id="2146847135"/>
            <p14:sldId id="2146847136"/>
            <p14:sldId id="2146847159"/>
          </p14:sldIdLst>
        </p14:section>
        <p14:section name="Storage &amp; Data" id="{1F159046-CE0A-45BC-9D5B-6E6C95980F78}">
          <p14:sldIdLst/>
        </p14:section>
        <p14:section name="Databases" id="{AEAFAE72-AD56-48F3-926B-38BAE269038F}">
          <p14:sldIdLst>
            <p14:sldId id="2146847054"/>
            <p14:sldId id="2146847103"/>
            <p14:sldId id="2146847141"/>
            <p14:sldId id="2146847142"/>
            <p14:sldId id="2146847157"/>
            <p14:sldId id="2146847140"/>
          </p14:sldIdLst>
        </p14:section>
        <p14:section name="Integration" id="{ACBD46A3-6F1C-451B-A154-0A056E0DEFF6}">
          <p14:sldIdLst/>
        </p14:section>
        <p14:section name="ML &amp; AI &amp; IOT" id="{F4E1EAF1-55E9-4CA4-8ADC-28B69C1D66D2}">
          <p14:sldIdLst>
            <p14:sldId id="2146847058"/>
            <p14:sldId id="2146847147"/>
          </p14:sldIdLst>
        </p14:section>
        <p14:section name="Miscellaneous" id="{A1456D7A-93BE-4023-90AA-7269D2F177BA}">
          <p14:sldIdLst/>
        </p14:section>
        <p14:section name="End" id="{82899442-2AC4-4699-95EB-48D45B913575}">
          <p14:sldIdLst>
            <p14:sldId id="2146847085"/>
            <p14:sldId id="2146847084"/>
            <p14:sldId id="2146847064"/>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736" userDrawn="1">
          <p15:clr>
            <a:srgbClr val="A4A3A4"/>
          </p15:clr>
        </p15:guide>
        <p15:guide id="2" pos="1477"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Emily Catuzzi" initials="EC" lastIdx="19" clrIdx="9">
    <p:extLst>
      <p:ext uri="{19B8F6BF-5375-455C-9EA6-DF929625EA0E}">
        <p15:presenceInfo xmlns:p15="http://schemas.microsoft.com/office/powerpoint/2012/main" userId="S::Emily_Catuzzi@epam.com::b46d6ad4-ac70-4125-82a7-0ece5134c360" providerId="AD"/>
      </p:ext>
    </p:extLst>
  </p:cmAuthor>
  <p:cmAuthor id="1" name="Laura Brady" initials="LB" lastIdx="52" clrIdx="3">
    <p:extLst>
      <p:ext uri="{19B8F6BF-5375-455C-9EA6-DF929625EA0E}">
        <p15:presenceInfo xmlns:p15="http://schemas.microsoft.com/office/powerpoint/2012/main" userId="S::Laura_Brady@epam.com::b18c91b0-83fb-4c27-875b-18626d50463b" providerId="AD"/>
      </p:ext>
    </p:extLst>
  </p:cmAuthor>
  <p:cmAuthor id="8" name="Gretchen Rice" initials="GR" lastIdx="4" clrIdx="10">
    <p:extLst>
      <p:ext uri="{19B8F6BF-5375-455C-9EA6-DF929625EA0E}">
        <p15:presenceInfo xmlns:p15="http://schemas.microsoft.com/office/powerpoint/2012/main" userId="S::gretchen_rice@epam.com::e279efbb-a837-440d-b0bd-684dd084c605" providerId="AD"/>
      </p:ext>
    </p:extLst>
  </p:cmAuthor>
  <p:cmAuthor id="2" name="Amy Legere" initials="AL" lastIdx="5" clrIdx="5">
    <p:extLst>
      <p:ext uri="{19B8F6BF-5375-455C-9EA6-DF929625EA0E}">
        <p15:presenceInfo xmlns:p15="http://schemas.microsoft.com/office/powerpoint/2012/main" userId="S::Amy_Legere@epam.com::36c3e91a-2059-4c30-8d42-5285dd7a2555" providerId="AD"/>
      </p:ext>
    </p:extLst>
  </p:cmAuthor>
  <p:cmAuthor id="9" name="Jennifer Markowitz" initials="JM" lastIdx="1" clrIdx="11">
    <p:extLst>
      <p:ext uri="{19B8F6BF-5375-455C-9EA6-DF929625EA0E}">
        <p15:presenceInfo xmlns:p15="http://schemas.microsoft.com/office/powerpoint/2012/main" userId="S::jennifer_markowitz@epam.com::f9148081-3671-49e1-8328-0a911bc72bfd" providerId="AD"/>
      </p:ext>
    </p:extLst>
  </p:cmAuthor>
  <p:cmAuthor id="3" name="John Hatz" initials="JH" lastIdx="1" clrIdx="4">
    <p:extLst>
      <p:ext uri="{19B8F6BF-5375-455C-9EA6-DF929625EA0E}">
        <p15:presenceInfo xmlns:p15="http://schemas.microsoft.com/office/powerpoint/2012/main" userId="S-1-5-21-2676001572-3131771074-2776907194-23347" providerId="AD"/>
      </p:ext>
    </p:extLst>
  </p:cmAuthor>
  <p:cmAuthor id="10" name="Nastassia Smolskaya" initials="NS" lastIdx="11" clrIdx="12">
    <p:extLst>
      <p:ext uri="{19B8F6BF-5375-455C-9EA6-DF929625EA0E}">
        <p15:presenceInfo xmlns:p15="http://schemas.microsoft.com/office/powerpoint/2012/main" userId="S::Nastassia_Smolskaya@epam.com::8ff1f7bc-3066-491e-a683-ea021ab0c825" providerId="AD"/>
      </p:ext>
    </p:extLst>
  </p:cmAuthor>
  <p:cmAuthor id="4" name="John Hatz" initials="JH [2]" lastIdx="3" clrIdx="6">
    <p:extLst>
      <p:ext uri="{19B8F6BF-5375-455C-9EA6-DF929625EA0E}">
        <p15:presenceInfo xmlns:p15="http://schemas.microsoft.com/office/powerpoint/2012/main" userId="S::john_hatz@epam.com::7f3a8b4b-4b1e-493d-b3f9-196adf0a1de0" providerId="AD"/>
      </p:ext>
    </p:extLst>
  </p:cmAuthor>
  <p:cmAuthor id="5" name="Mariette Kouwenberg-Mooney" initials="MK" lastIdx="19" clrIdx="7">
    <p:extLst>
      <p:ext uri="{19B8F6BF-5375-455C-9EA6-DF929625EA0E}">
        <p15:presenceInfo xmlns:p15="http://schemas.microsoft.com/office/powerpoint/2012/main" userId="S::Mariette_Kouwenberg-Mooney@epam.com::e2a13c51-a5c6-436b-ad7f-addd34212f51" providerId="AD"/>
      </p:ext>
    </p:extLst>
  </p:cmAuthor>
  <p:cmAuthor id="6" name="Julie Hansberry" initials="JH" lastIdx="13" clrIdx="8">
    <p:extLst>
      <p:ext uri="{19B8F6BF-5375-455C-9EA6-DF929625EA0E}">
        <p15:presenceInfo xmlns:p15="http://schemas.microsoft.com/office/powerpoint/2012/main" userId="S::julie_hansberry@epam.com::6cd6a8f9-b761-4260-92e9-1b9e9757868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5D43"/>
    <a:srgbClr val="CADC49"/>
    <a:srgbClr val="E53B2E"/>
    <a:srgbClr val="FFC000"/>
    <a:srgbClr val="D35D47"/>
    <a:srgbClr val="008ACF"/>
    <a:srgbClr val="76CDD8"/>
    <a:srgbClr val="75A0A6"/>
    <a:srgbClr val="569BA5"/>
    <a:srgbClr val="EDC13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B79132-3F09-4EB7-9156-AFD2ABE5B897}" v="37" dt="2021-04-12T18:27:46.96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591" autoAdjust="0"/>
    <p:restoredTop sz="94694"/>
  </p:normalViewPr>
  <p:slideViewPr>
    <p:cSldViewPr snapToGrid="0">
      <p:cViewPr varScale="1">
        <p:scale>
          <a:sx n="128" d="100"/>
          <a:sy n="128" d="100"/>
        </p:scale>
        <p:origin x="2988" y="330"/>
      </p:cViewPr>
      <p:guideLst/>
    </p:cSldViewPr>
  </p:slideViewPr>
  <p:notesTextViewPr>
    <p:cViewPr>
      <p:scale>
        <a:sx n="1" d="1"/>
        <a:sy n="1" d="1"/>
      </p:scale>
      <p:origin x="0" y="0"/>
    </p:cViewPr>
  </p:notesTextViewPr>
  <p:notesViewPr>
    <p:cSldViewPr snapToGrid="0">
      <p:cViewPr varScale="1">
        <p:scale>
          <a:sx n="121" d="100"/>
          <a:sy n="121" d="100"/>
        </p:scale>
        <p:origin x="7662" y="90"/>
      </p:cViewPr>
      <p:guideLst>
        <p:guide orient="horz" pos="2736"/>
        <p:guide pos="1477"/>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commentAuthors" Target="commentAuthors.xml"/><Relationship Id="rId38"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handoutMaster" Target="handoutMasters/handoutMaster1.xml"/><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FDC14FC-A894-4869-A797-1EC82735D106}" type="datetimeFigureOut">
              <a:rPr lang="en-US" smtClean="0"/>
              <a:t>3/28/2026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CD33E97-F2BE-44DB-A57D-0C85E2CBF508}" type="slidenum">
              <a:rPr lang="en-US" smtClean="0"/>
              <a:t>‹#›</a:t>
            </a:fld>
            <a:endParaRPr lang="en-US"/>
          </a:p>
        </p:txBody>
      </p:sp>
    </p:spTree>
    <p:extLst>
      <p:ext uri="{BB962C8B-B14F-4D97-AF65-F5344CB8AC3E}">
        <p14:creationId xmlns:p14="http://schemas.microsoft.com/office/powerpoint/2010/main" val="29677781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F99C05-63F9-4248-8E20-3ACD9DF9DE7F}" type="datetimeFigureOut">
              <a:rPr lang="en-US" smtClean="0"/>
              <a:t>3/28/2026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74FABB-6DBE-47C4-B626-20167906F475}" type="slidenum">
              <a:rPr lang="en-US" smtClean="0"/>
              <a:t>‹#›</a:t>
            </a:fld>
            <a:endParaRPr lang="en-US"/>
          </a:p>
        </p:txBody>
      </p:sp>
    </p:spTree>
    <p:extLst>
      <p:ext uri="{BB962C8B-B14F-4D97-AF65-F5344CB8AC3E}">
        <p14:creationId xmlns:p14="http://schemas.microsoft.com/office/powerpoint/2010/main" val="4274864021"/>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74FABB-6DBE-47C4-B626-20167906F475}" type="slidenum">
              <a:rPr lang="en-US" smtClean="0"/>
              <a:t>1</a:t>
            </a:fld>
            <a:endParaRPr lang="en-US"/>
          </a:p>
        </p:txBody>
      </p:sp>
    </p:spTree>
    <p:extLst>
      <p:ext uri="{BB962C8B-B14F-4D97-AF65-F5344CB8AC3E}">
        <p14:creationId xmlns:p14="http://schemas.microsoft.com/office/powerpoint/2010/main" val="41441448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userDrawn="1">
  <p:cSld name="Cover Text">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42900" y="1200151"/>
            <a:ext cx="8458200" cy="2228850"/>
          </a:xfrm>
        </p:spPr>
        <p:txBody>
          <a:bodyPr lIns="0" tIns="0" rIns="0" bIns="0" anchor="b">
            <a:noAutofit/>
          </a:bodyPr>
          <a:lstStyle>
            <a:lvl1pPr algn="l">
              <a:lnSpc>
                <a:spcPct val="85000"/>
              </a:lnSpc>
              <a:defRPr sz="9000" b="0" i="0">
                <a:solidFill>
                  <a:schemeClr val="accent3"/>
                </a:solidFill>
                <a:latin typeface="+mj-lt"/>
                <a:ea typeface="Human Sans Thin" pitchFamily="2" charset="77"/>
                <a:cs typeface="Human Sans Thin" pitchFamily="2" charset="77"/>
              </a:defRPr>
            </a:lvl1pPr>
          </a:lstStyle>
          <a:p>
            <a:r>
              <a:rPr lang="en-US"/>
              <a:t>Proposal</a:t>
            </a:r>
            <a:br>
              <a:rPr lang="en-US"/>
            </a:br>
            <a:r>
              <a:rPr lang="en-US"/>
              <a:t>Title</a:t>
            </a:r>
          </a:p>
        </p:txBody>
      </p:sp>
      <p:sp>
        <p:nvSpPr>
          <p:cNvPr id="8" name="Text Placeholder 7"/>
          <p:cNvSpPr>
            <a:spLocks noGrp="1"/>
          </p:cNvSpPr>
          <p:nvPr>
            <p:ph type="body" sz="quarter" idx="11" hasCustomPrompt="1"/>
          </p:nvPr>
        </p:nvSpPr>
        <p:spPr>
          <a:xfrm>
            <a:off x="342900" y="3600450"/>
            <a:ext cx="8455914" cy="171450"/>
          </a:xfrm>
        </p:spPr>
        <p:txBody>
          <a:bodyPr lIns="0" tIns="0" rIns="0" bIns="0" anchor="t">
            <a:noAutofit/>
          </a:bodyPr>
          <a:lstStyle>
            <a:lvl1pPr marL="0" indent="0">
              <a:lnSpc>
                <a:spcPct val="100000"/>
              </a:lnSpc>
              <a:spcBef>
                <a:spcPts val="0"/>
              </a:spcBef>
              <a:spcAft>
                <a:spcPts val="0"/>
              </a:spcAft>
              <a:buNone/>
              <a:defRPr sz="1200" b="0" i="0" baseline="0">
                <a:solidFill>
                  <a:schemeClr val="bg1"/>
                </a:solidFill>
                <a:latin typeface="+mn-lt"/>
                <a:ea typeface="Calibri" panose="020F0502020204030204" pitchFamily="34" charset="0"/>
                <a:cs typeface="Calibri" panose="020F0502020204030204" pitchFamily="34" charset="0"/>
              </a:defRPr>
            </a:lvl1pPr>
            <a:lvl2pPr>
              <a:defRPr sz="1200">
                <a:solidFill>
                  <a:schemeClr val="bg1"/>
                </a:solidFill>
              </a:defRPr>
            </a:lvl2pPr>
            <a:lvl3pPr>
              <a:defRPr sz="1200">
                <a:solidFill>
                  <a:schemeClr val="bg1"/>
                </a:solidFill>
              </a:defRPr>
            </a:lvl3pPr>
            <a:lvl4pPr>
              <a:defRPr sz="1200">
                <a:solidFill>
                  <a:schemeClr val="bg1"/>
                </a:solidFill>
              </a:defRPr>
            </a:lvl4pPr>
            <a:lvl5pPr>
              <a:defRPr sz="1200">
                <a:solidFill>
                  <a:schemeClr val="bg1"/>
                </a:solidFill>
              </a:defRPr>
            </a:lvl5pPr>
          </a:lstStyle>
          <a:p>
            <a:r>
              <a:rPr lang="en-US"/>
              <a:t>Subtitle description</a:t>
            </a:r>
          </a:p>
        </p:txBody>
      </p:sp>
      <p:sp>
        <p:nvSpPr>
          <p:cNvPr id="5" name="Text Placeholder 4"/>
          <p:cNvSpPr>
            <a:spLocks noGrp="1"/>
          </p:cNvSpPr>
          <p:nvPr>
            <p:ph type="body" sz="quarter" idx="12" hasCustomPrompt="1"/>
          </p:nvPr>
        </p:nvSpPr>
        <p:spPr>
          <a:xfrm>
            <a:off x="342900" y="3864095"/>
            <a:ext cx="1988344" cy="171450"/>
          </a:xfrm>
        </p:spPr>
        <p:txBody>
          <a:bodyPr/>
          <a:lstStyle>
            <a:lvl1pPr>
              <a:lnSpc>
                <a:spcPct val="100000"/>
              </a:lnSpc>
              <a:spcBef>
                <a:spcPts val="0"/>
              </a:spcBef>
              <a:defRPr sz="900" b="0" i="0" cap="all" baseline="0">
                <a:solidFill>
                  <a:schemeClr val="bg1"/>
                </a:solidFill>
                <a:latin typeface="+mn-lt"/>
              </a:defRPr>
            </a:lvl1pPr>
          </a:lstStyle>
          <a:p>
            <a:pPr lvl="0"/>
            <a:r>
              <a:rPr lang="en-US"/>
              <a:t>Date</a:t>
            </a:r>
          </a:p>
        </p:txBody>
      </p:sp>
    </p:spTree>
    <p:extLst>
      <p:ext uri="{BB962C8B-B14F-4D97-AF65-F5344CB8AC3E}">
        <p14:creationId xmlns:p14="http://schemas.microsoft.com/office/powerpoint/2010/main" val="3037779421"/>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p:bg>
      <p:bgPr>
        <a:solidFill>
          <a:schemeClr val="tx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342901" y="3429000"/>
            <a:ext cx="4148137" cy="1200150"/>
          </a:xfrm>
        </p:spPr>
        <p:txBody>
          <a:bodyPr lIns="0" tIns="0" rIns="0" bIns="0" anchor="t">
            <a:normAutofit/>
          </a:bodyPr>
          <a:lstStyle>
            <a:lvl1pPr marL="0" indent="0" algn="l">
              <a:lnSpc>
                <a:spcPct val="110000"/>
              </a:lnSpc>
              <a:spcBef>
                <a:spcPts val="450"/>
              </a:spcBef>
              <a:spcAft>
                <a:spcPts val="0"/>
              </a:spcAft>
              <a:buNone/>
              <a:defRPr sz="900" b="0" i="0" baseline="0">
                <a:solidFill>
                  <a:schemeClr val="bg1"/>
                </a:solidFill>
                <a:latin typeface="+mn-lt"/>
                <a:ea typeface="Calibri" panose="020F0502020204030204" pitchFamily="34" charset="0"/>
                <a:cs typeface="Calibri" panose="020F050202020403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type section description</a:t>
            </a:r>
          </a:p>
        </p:txBody>
      </p:sp>
      <p:sp>
        <p:nvSpPr>
          <p:cNvPr id="8" name="Text Placeholder 7"/>
          <p:cNvSpPr>
            <a:spLocks noGrp="1"/>
          </p:cNvSpPr>
          <p:nvPr>
            <p:ph type="body" sz="quarter" idx="12" hasCustomPrompt="1"/>
          </p:nvPr>
        </p:nvSpPr>
        <p:spPr>
          <a:xfrm>
            <a:off x="342901" y="2743200"/>
            <a:ext cx="6299597" cy="514350"/>
          </a:xfrm>
        </p:spPr>
        <p:txBody>
          <a:bodyPr/>
          <a:lstStyle>
            <a:lvl1pPr marL="0" indent="0">
              <a:lnSpc>
                <a:spcPct val="100000"/>
              </a:lnSpc>
              <a:spcBef>
                <a:spcPts val="0"/>
              </a:spcBef>
              <a:spcAft>
                <a:spcPts val="0"/>
              </a:spcAft>
              <a:buNone/>
              <a:defRPr sz="3600" b="0" i="0" baseline="0">
                <a:solidFill>
                  <a:schemeClr val="accent3"/>
                </a:solidFill>
                <a:latin typeface="+mj-lt"/>
                <a:ea typeface="Calibri Light" charset="0"/>
                <a:cs typeface="Calibri Light" charset="0"/>
              </a:defRPr>
            </a:lvl1pPr>
          </a:lstStyle>
          <a:p>
            <a:pPr lvl="0"/>
            <a:r>
              <a:rPr lang="en-US"/>
              <a:t>Section Header</a:t>
            </a:r>
          </a:p>
        </p:txBody>
      </p:sp>
      <p:sp>
        <p:nvSpPr>
          <p:cNvPr id="11" name="Text Placeholder 10"/>
          <p:cNvSpPr>
            <a:spLocks noGrp="1"/>
          </p:cNvSpPr>
          <p:nvPr>
            <p:ph type="body" sz="quarter" idx="13" hasCustomPrompt="1"/>
          </p:nvPr>
        </p:nvSpPr>
        <p:spPr>
          <a:xfrm>
            <a:off x="252845" y="1285875"/>
            <a:ext cx="4148138" cy="1714500"/>
          </a:xfrm>
        </p:spPr>
        <p:txBody>
          <a:bodyPr wrap="square" anchor="b"/>
          <a:lstStyle>
            <a:lvl1pPr>
              <a:lnSpc>
                <a:spcPct val="100000"/>
              </a:lnSpc>
              <a:spcBef>
                <a:spcPts val="0"/>
              </a:spcBef>
              <a:spcAft>
                <a:spcPts val="0"/>
              </a:spcAft>
              <a:defRPr sz="16500" b="0" i="0">
                <a:solidFill>
                  <a:schemeClr val="accent3"/>
                </a:solidFill>
                <a:latin typeface="+mj-lt"/>
                <a:ea typeface="Human Sans Thin" pitchFamily="2" charset="77"/>
                <a:cs typeface="Human Sans Thin" pitchFamily="2" charset="77"/>
              </a:defRPr>
            </a:lvl1pPr>
          </a:lstStyle>
          <a:p>
            <a:pPr lvl="0"/>
            <a:r>
              <a:rPr lang="en-US"/>
              <a:t>0</a:t>
            </a:r>
          </a:p>
        </p:txBody>
      </p:sp>
      <p:sp>
        <p:nvSpPr>
          <p:cNvPr id="7" name="Slide Number Placeholder 13"/>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solidFill>
                  <a:schemeClr val="bg1"/>
                </a:solidFill>
                <a:latin typeface="+mn-lt"/>
              </a:rPr>
              <a:pPr/>
              <a:t>‹#›</a:t>
            </a:fld>
            <a:endParaRPr lang="en-US" sz="600" b="0" i="0">
              <a:solidFill>
                <a:schemeClr val="bg1"/>
              </a:solidFill>
              <a:latin typeface="+mn-lt"/>
            </a:endParaRPr>
          </a:p>
        </p:txBody>
      </p:sp>
    </p:spTree>
    <p:extLst>
      <p:ext uri="{BB962C8B-B14F-4D97-AF65-F5344CB8AC3E}">
        <p14:creationId xmlns:p14="http://schemas.microsoft.com/office/powerpoint/2010/main" val="2513291986"/>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523583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2"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8"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33305462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sp>
        <p:nvSpPr>
          <p:cNvPr id="8"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33213973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7022306" cy="3774069"/>
          </a:xfrm>
        </p:spPr>
        <p:txBody>
          <a:bodyPr lIns="0" tIns="0" rIns="0" bIns="0"/>
          <a:lstStyle>
            <a:lvl1pPr marL="0" indent="0">
              <a:lnSpc>
                <a:spcPct val="110000"/>
              </a:lnSpc>
              <a:spcAft>
                <a:spcPts val="0"/>
              </a:spcAft>
              <a:buNone/>
              <a:tabLst>
                <a:tab pos="2438400" algn="l"/>
              </a:tabLst>
              <a:defRPr sz="1200" b="0" i="0" baseline="0">
                <a:latin typeface="+mn-lt"/>
              </a:defRPr>
            </a:lvl1pPr>
            <a:lvl2pPr marL="342900" indent="0">
              <a:buNone/>
              <a:defRPr/>
            </a:lvl2pPr>
            <a:lvl3pPr marL="685800" indent="0">
              <a:buNone/>
              <a:defRPr/>
            </a:lvl3pPr>
            <a:lvl4pPr marL="1028700" indent="0">
              <a:buNone/>
              <a:defRPr/>
            </a:lvl4pPr>
            <a:lvl5pPr marL="1371600" indent="0">
              <a:buNone/>
              <a:defRPr/>
            </a:lvl5pPr>
          </a:lstStyle>
          <a:p>
            <a:pPr lvl="0"/>
            <a:r>
              <a:rPr lang="en-US"/>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2402786929"/>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4433776" y="855080"/>
            <a:ext cx="4365038" cy="3774069"/>
          </a:xfrm>
        </p:spPr>
        <p:txBody>
          <a:bodyPr lIns="0" tIns="0" rIns="0" bIns="0"/>
          <a:lstStyle>
            <a:lvl1pPr marL="0" indent="0">
              <a:lnSpc>
                <a:spcPct val="110000"/>
              </a:lnSpc>
              <a:spcAft>
                <a:spcPts val="0"/>
              </a:spcAft>
              <a:buNone/>
              <a:tabLst>
                <a:tab pos="2438400" algn="l"/>
              </a:tabLst>
              <a:defRPr sz="12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j-lt"/>
              </a:defRPr>
            </a:lvl1pPr>
          </a:lstStyle>
          <a:p>
            <a:r>
              <a:rPr lang="en-US" dirty="0"/>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j-lt"/>
              </a:defRPr>
            </a:lvl1pPr>
          </a:lstStyle>
          <a:p>
            <a:pPr lvl="0"/>
            <a:r>
              <a:rPr lang="en-US"/>
              <a:t>Click to add section title</a:t>
            </a:r>
          </a:p>
        </p:txBody>
      </p:sp>
      <p:sp>
        <p:nvSpPr>
          <p:cNvPr id="6" name="Text Placeholder 9">
            <a:extLst>
              <a:ext uri="{FF2B5EF4-FFF2-40B4-BE49-F238E27FC236}">
                <a16:creationId xmlns:a16="http://schemas.microsoft.com/office/drawing/2014/main" id="{47BF3F39-D94F-BC48-8482-2214B9D8033C}"/>
              </a:ext>
            </a:extLst>
          </p:cNvPr>
          <p:cNvSpPr>
            <a:spLocks noGrp="1"/>
          </p:cNvSpPr>
          <p:nvPr>
            <p:ph type="body" sz="quarter" idx="16"/>
          </p:nvPr>
        </p:nvSpPr>
        <p:spPr>
          <a:xfrm>
            <a:off x="342900" y="855080"/>
            <a:ext cx="3955312" cy="3774069"/>
          </a:xfrm>
        </p:spPr>
        <p:txBody>
          <a:bodyPr lIns="0" tIns="0" rIns="0" bIns="0"/>
          <a:lstStyle>
            <a:lvl1pPr marL="0" indent="0">
              <a:lnSpc>
                <a:spcPct val="110000"/>
              </a:lnSpc>
              <a:spcAft>
                <a:spcPts val="0"/>
              </a:spcAft>
              <a:buNone/>
              <a:tabLst>
                <a:tab pos="2438400" algn="l"/>
              </a:tabLst>
              <a:defRPr sz="10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Tree>
    <p:extLst>
      <p:ext uri="{BB962C8B-B14F-4D97-AF65-F5344CB8AC3E}">
        <p14:creationId xmlns:p14="http://schemas.microsoft.com/office/powerpoint/2010/main" val="2291217687"/>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8455914" cy="3774069"/>
          </a:xfrm>
        </p:spPr>
        <p:txBody>
          <a:bodyPr lIns="0" tIns="0" rIns="0" bIns="0"/>
          <a:lstStyle>
            <a:lvl1pPr marL="0" indent="0">
              <a:lnSpc>
                <a:spcPct val="110000"/>
              </a:lnSpc>
              <a:spcAft>
                <a:spcPts val="0"/>
              </a:spcAft>
              <a:buNone/>
              <a:tabLst>
                <a:tab pos="2438400" algn="l"/>
              </a:tabLst>
              <a:defRPr sz="10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2858222598"/>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Title + Text">
    <p:bg>
      <p:bgPr>
        <a:solidFill>
          <a:schemeClr val="tx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8455914" cy="3774069"/>
          </a:xfrm>
        </p:spPr>
        <p:txBody>
          <a:bodyPr lIns="0" tIns="0" rIns="0" bIns="0"/>
          <a:lstStyle>
            <a:lvl1pPr marL="0" indent="0">
              <a:lnSpc>
                <a:spcPct val="110000"/>
              </a:lnSpc>
              <a:spcAft>
                <a:spcPts val="0"/>
              </a:spcAft>
              <a:buNone/>
              <a:tabLst>
                <a:tab pos="2438400" algn="l"/>
              </a:tabLst>
              <a:defRPr sz="6600" b="0" i="0" baseline="0">
                <a:solidFill>
                  <a:schemeClr val="bg1"/>
                </a:solidFill>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a:t>Edit Master text styles</a:t>
            </a:r>
          </a:p>
        </p:txBody>
      </p:sp>
      <p:sp>
        <p:nvSpPr>
          <p:cNvPr id="11" name="Title 1"/>
          <p:cNvSpPr>
            <a:spLocks noGrp="1"/>
          </p:cNvSpPr>
          <p:nvPr>
            <p:ph type="title"/>
          </p:nvPr>
        </p:nvSpPr>
        <p:spPr>
          <a:xfrm>
            <a:off x="342900" y="342900"/>
            <a:ext cx="8455914" cy="342900"/>
          </a:xfrm>
        </p:spPr>
        <p:txBody>
          <a:bodyPr/>
          <a:lstStyle>
            <a:lvl1pPr>
              <a:defRPr b="1">
                <a:solidFill>
                  <a:schemeClr val="bg1"/>
                </a:solidFill>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
        <p:nvSpPr>
          <p:cNvPr id="8" name="Slide Number Placeholder 13">
            <a:extLst>
              <a:ext uri="{FF2B5EF4-FFF2-40B4-BE49-F238E27FC236}">
                <a16:creationId xmlns:a16="http://schemas.microsoft.com/office/drawing/2014/main" id="{841CA2A1-3D39-2344-A5FA-9709C1FE6425}"/>
              </a:ext>
            </a:extLst>
          </p:cNvPr>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solidFill>
                  <a:schemeClr val="bg1"/>
                </a:solidFill>
                <a:latin typeface="Human Sans Regular" pitchFamily="2" charset="77"/>
              </a:rPr>
              <a:pPr/>
              <a:t>‹#›</a:t>
            </a:fld>
            <a:endParaRPr lang="en-US" sz="600" b="0" i="0">
              <a:solidFill>
                <a:schemeClr val="bg1"/>
              </a:solidFill>
              <a:latin typeface="Human Sans Regular" pitchFamily="2" charset="77"/>
            </a:endParaRPr>
          </a:p>
        </p:txBody>
      </p:sp>
    </p:spTree>
    <p:extLst>
      <p:ext uri="{BB962C8B-B14F-4D97-AF65-F5344CB8AC3E}">
        <p14:creationId xmlns:p14="http://schemas.microsoft.com/office/powerpoint/2010/main" val="1481691825"/>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42901" y="342900"/>
            <a:ext cx="7020408" cy="3429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42901" y="859971"/>
            <a:ext cx="7022306" cy="3769178"/>
          </a:xfrm>
          <a:prstGeom prst="rect">
            <a:avLst/>
          </a:prstGeom>
        </p:spPr>
        <p:txBody>
          <a:bodyPr vert="horz" lIns="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13"/>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latin typeface="Calibri" panose="020F0502020204030204" pitchFamily="34" charset="0"/>
                <a:cs typeface="Calibri" panose="020F0502020204030204" pitchFamily="34" charset="0"/>
              </a:rPr>
              <a:pPr/>
              <a:t>‹#›</a:t>
            </a:fld>
            <a:endParaRPr lang="en-US" sz="600" b="0" i="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27938063"/>
      </p:ext>
    </p:extLst>
  </p:cSld>
  <p:clrMap bg1="lt1" tx1="dk1" bg2="lt2" tx2="dk2" accent1="accent1" accent2="accent2" accent3="accent3" accent4="accent4" accent5="accent5" accent6="accent6" hlink="hlink" folHlink="folHlink"/>
  <p:sldLayoutIdLst>
    <p:sldLayoutId id="2147483863" r:id="rId1"/>
    <p:sldLayoutId id="2147483816" r:id="rId2"/>
    <p:sldLayoutId id="2147483822" r:id="rId3"/>
    <p:sldLayoutId id="2147483823" r:id="rId4"/>
    <p:sldLayoutId id="2147483824" r:id="rId5"/>
    <p:sldLayoutId id="2147483825" r:id="rId6"/>
    <p:sldLayoutId id="2147483826" r:id="rId7"/>
    <p:sldLayoutId id="2147483828" r:id="rId8"/>
    <p:sldLayoutId id="2147483829" r:id="rId9"/>
  </p:sldLayoutIdLst>
  <p:hf hdr="0" dt="0"/>
  <p:txStyles>
    <p:titleStyle>
      <a:lvl1pPr algn="l" defTabSz="685800" rtl="0" eaLnBrk="1" latinLnBrk="0" hangingPunct="1">
        <a:lnSpc>
          <a:spcPct val="100000"/>
        </a:lnSpc>
        <a:spcBef>
          <a:spcPct val="0"/>
        </a:spcBef>
        <a:buNone/>
        <a:defRPr sz="1650" b="0" i="0" kern="1200">
          <a:solidFill>
            <a:schemeClr val="tx1"/>
          </a:solidFill>
          <a:latin typeface="+mn-lt"/>
          <a:ea typeface="Calibri" panose="020F0502020204030204" pitchFamily="34" charset="0"/>
          <a:cs typeface="Calibri" panose="020F0502020204030204" pitchFamily="34" charset="0"/>
        </a:defRPr>
      </a:lvl1pPr>
    </p:titleStyle>
    <p:bodyStyle>
      <a:lvl1pPr marL="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1pPr>
      <a:lvl2pPr marL="5143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2pPr>
      <a:lvl3pPr marL="8572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3pPr>
      <a:lvl4pPr marL="12001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4pPr>
      <a:lvl5pPr marL="15430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16" orient="horz" pos="144">
          <p15:clr>
            <a:srgbClr val="F26B43"/>
          </p15:clr>
        </p15:guide>
        <p15:guide id="17" orient="horz" pos="288">
          <p15:clr>
            <a:srgbClr val="F26B43"/>
          </p15:clr>
        </p15:guide>
        <p15:guide id="18" orient="horz" pos="432">
          <p15:clr>
            <a:srgbClr val="F26B43"/>
          </p15:clr>
        </p15:guide>
        <p15:guide id="19" orient="horz" pos="576">
          <p15:clr>
            <a:srgbClr val="F26B43"/>
          </p15:clr>
        </p15:guide>
        <p15:guide id="20" orient="horz" pos="720">
          <p15:clr>
            <a:srgbClr val="F26B43"/>
          </p15:clr>
        </p15:guide>
        <p15:guide id="21" orient="horz" pos="864">
          <p15:clr>
            <a:srgbClr val="F26B43"/>
          </p15:clr>
        </p15:guide>
        <p15:guide id="22" orient="horz" pos="1008">
          <p15:clr>
            <a:srgbClr val="F26B43"/>
          </p15:clr>
        </p15:guide>
        <p15:guide id="23" orient="horz" pos="1152">
          <p15:clr>
            <a:srgbClr val="F26B43"/>
          </p15:clr>
        </p15:guide>
        <p15:guide id="24" orient="horz" pos="1296">
          <p15:clr>
            <a:srgbClr val="F26B43"/>
          </p15:clr>
        </p15:guide>
        <p15:guide id="25" orient="horz" pos="1440">
          <p15:clr>
            <a:srgbClr val="F26B43"/>
          </p15:clr>
        </p15:guide>
        <p15:guide id="26" orient="horz" pos="1584">
          <p15:clr>
            <a:srgbClr val="F26B43"/>
          </p15:clr>
        </p15:guide>
        <p15:guide id="27" orient="horz" pos="1728">
          <p15:clr>
            <a:srgbClr val="F26B43"/>
          </p15:clr>
        </p15:guide>
        <p15:guide id="28" orient="horz" pos="1872">
          <p15:clr>
            <a:srgbClr val="F26B43"/>
          </p15:clr>
        </p15:guide>
        <p15:guide id="29" orient="horz" pos="2016">
          <p15:clr>
            <a:srgbClr val="F26B43"/>
          </p15:clr>
        </p15:guide>
        <p15:guide id="30" orient="horz" pos="2304">
          <p15:clr>
            <a:srgbClr val="F26B43"/>
          </p15:clr>
        </p15:guide>
        <p15:guide id="31" orient="horz" pos="2448">
          <p15:clr>
            <a:srgbClr val="F26B43"/>
          </p15:clr>
        </p15:guide>
        <p15:guide id="32" orient="horz" pos="2592">
          <p15:clr>
            <a:srgbClr val="F26B43"/>
          </p15:clr>
        </p15:guide>
        <p15:guide id="33" orient="horz" pos="2736">
          <p15:clr>
            <a:srgbClr val="F26B43"/>
          </p15:clr>
        </p15:guide>
        <p15:guide id="34" orient="horz" pos="2880">
          <p15:clr>
            <a:srgbClr val="F26B43"/>
          </p15:clr>
        </p15:guide>
        <p15:guide id="35" orient="horz" pos="3024">
          <p15:clr>
            <a:srgbClr val="F26B43"/>
          </p15:clr>
        </p15:guide>
        <p15:guide id="36" orient="horz" pos="3168">
          <p15:clr>
            <a:srgbClr val="F26B43"/>
          </p15:clr>
        </p15:guide>
        <p15:guide id="37" orient="horz" pos="3312">
          <p15:clr>
            <a:srgbClr val="F26B43"/>
          </p15:clr>
        </p15:guide>
        <p15:guide id="38" orient="horz" pos="3456">
          <p15:clr>
            <a:srgbClr val="F26B43"/>
          </p15:clr>
        </p15:guide>
        <p15:guide id="39" orient="horz" pos="3600">
          <p15:clr>
            <a:srgbClr val="F26B43"/>
          </p15:clr>
        </p15:guide>
        <p15:guide id="40" orient="horz" pos="3744">
          <p15:clr>
            <a:srgbClr val="F26B43"/>
          </p15:clr>
        </p15:guide>
        <p15:guide id="41" orient="horz" pos="3888">
          <p15:clr>
            <a:srgbClr val="F26B43"/>
          </p15:clr>
        </p15:guide>
        <p15:guide id="43" orient="horz" pos="4176">
          <p15:clr>
            <a:srgbClr val="F26B43"/>
          </p15:clr>
        </p15:guide>
        <p15:guide id="56" orient="horz">
          <p15:clr>
            <a:srgbClr val="F26B43"/>
          </p15:clr>
        </p15:guide>
        <p15:guide id="57" orient="horz" pos="4320">
          <p15:clr>
            <a:srgbClr val="F26B43"/>
          </p15:clr>
        </p15:guide>
        <p15:guide id="58" orient="horz" pos="4032">
          <p15:clr>
            <a:srgbClr val="F26B43"/>
          </p15:clr>
        </p15:guide>
        <p15:guide id="59" pos="288">
          <p15:clr>
            <a:srgbClr val="F26B43"/>
          </p15:clr>
        </p15:guide>
        <p15:guide id="61" pos="7392">
          <p15:clr>
            <a:srgbClr val="F26B43"/>
          </p15:clr>
        </p15:guide>
        <p15:guide id="62" pos="894">
          <p15:clr>
            <a:srgbClr val="F26B43"/>
          </p15:clr>
        </p15:guide>
        <p15:guide id="63" pos="750">
          <p15:clr>
            <a:srgbClr val="F26B43"/>
          </p15:clr>
        </p15:guide>
        <p15:guide id="64" pos="1354">
          <p15:clr>
            <a:srgbClr val="F26B43"/>
          </p15:clr>
        </p15:guide>
        <p15:guide id="65" pos="1498">
          <p15:clr>
            <a:srgbClr val="F26B43"/>
          </p15:clr>
        </p15:guide>
        <p15:guide id="66" pos="1958">
          <p15:clr>
            <a:srgbClr val="F26B43"/>
          </p15:clr>
        </p15:guide>
        <p15:guide id="67" pos="2104">
          <p15:clr>
            <a:srgbClr val="F26B43"/>
          </p15:clr>
        </p15:guide>
        <p15:guide id="68" pos="2710">
          <p15:clr>
            <a:srgbClr val="F26B43"/>
          </p15:clr>
        </p15:guide>
        <p15:guide id="69" pos="2565">
          <p15:clr>
            <a:srgbClr val="F26B43"/>
          </p15:clr>
        </p15:guide>
        <p15:guide id="70" pos="3310">
          <p15:clr>
            <a:srgbClr val="F26B43"/>
          </p15:clr>
        </p15:guide>
        <p15:guide id="71" pos="3168">
          <p15:clr>
            <a:srgbClr val="F26B43"/>
          </p15:clr>
        </p15:guide>
        <p15:guide id="72" pos="3772">
          <p15:clr>
            <a:srgbClr val="F26B43"/>
          </p15:clr>
        </p15:guide>
        <p15:guide id="73" pos="3919">
          <p15:clr>
            <a:srgbClr val="F26B43"/>
          </p15:clr>
        </p15:guide>
        <p15:guide id="74" pos="4376">
          <p15:clr>
            <a:srgbClr val="F26B43"/>
          </p15:clr>
        </p15:guide>
        <p15:guide id="75" pos="4523">
          <p15:clr>
            <a:srgbClr val="F26B43"/>
          </p15:clr>
        </p15:guide>
        <p15:guide id="76" pos="5128">
          <p15:clr>
            <a:srgbClr val="F26B43"/>
          </p15:clr>
        </p15:guide>
        <p15:guide id="77" pos="4981">
          <p15:clr>
            <a:srgbClr val="F26B43"/>
          </p15:clr>
        </p15:guide>
        <p15:guide id="78" pos="5579">
          <p15:clr>
            <a:srgbClr val="F26B43"/>
          </p15:clr>
        </p15:guide>
        <p15:guide id="79" pos="5726">
          <p15:clr>
            <a:srgbClr val="F26B43"/>
          </p15:clr>
        </p15:guide>
        <p15:guide id="80" pos="6186">
          <p15:clr>
            <a:srgbClr val="F26B43"/>
          </p15:clr>
        </p15:guide>
        <p15:guide id="81" pos="6330">
          <p15:clr>
            <a:srgbClr val="F26B43"/>
          </p15:clr>
        </p15:guide>
        <p15:guide id="82" pos="6793">
          <p15:clr>
            <a:srgbClr val="F26B43"/>
          </p15:clr>
        </p15:guide>
        <p15:guide id="83" pos="6933">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learn.microsoft.com/en-us/entra/backup/overview" TargetMode="Externa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hyperlink" Target="https://techcommunity.microsoft.com/blog/microsoft-entra-blog/external-mfa-in-microsoft-entra-id-is-now-generally-available/4488926" TargetMode="Externa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azure.microsoft.com/ru-ru/updates?id=559273" TargetMode="External"/><Relationship Id="rId2" Type="http://schemas.openxmlformats.org/officeDocument/2006/relationships/hyperlink" Target="https://azure.microsoft.com/ru-ru/updates?id=557882" TargetMode="Externa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hyperlink" Target="https://techcommunity.microsoft.com/blog/azurearcblog/announcing-public-preview-of-argo-cd-extension-on-aks-and-azure-arc-enabled-kube/4504497" TargetMode="Externa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hyperlink" Target="https://azure.microsoft.com/ru-ru/updates?id=558825" TargetMode="Externa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azure.microsoft.com/ru-ru/updates?id=557927" TargetMode="External"/><Relationship Id="rId2" Type="http://schemas.openxmlformats.org/officeDocument/2006/relationships/hyperlink" Target="https://azure.microsoft.com/ru-ru/updates?id=557922" TargetMode="Externa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hyperlink" Target="https://azure.microsoft.com/ru-ru/updates?id=557877" TargetMode="External"/><Relationship Id="rId2" Type="http://schemas.openxmlformats.org/officeDocument/2006/relationships/hyperlink" Target="https://azure.microsoft.com/ru-ru/updates?id=557887" TargetMode="Externa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hyperlink" Target="https://azure.microsoft.com/ru-ru/updates?id=557862" TargetMode="External"/><Relationship Id="rId2" Type="http://schemas.openxmlformats.org/officeDocument/2006/relationships/hyperlink" Target="https://techcommunity.microsoft.com/blog/azurenetworkingblog/announcing-public-preview-cilium-mtls-encryption-for-azure-kubernetes-service/4504423" TargetMode="Externa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hyperlink" Target="https://azure.microsoft.com/ru-ru/updates?id=557912" TargetMode="External"/><Relationship Id="rId2" Type="http://schemas.openxmlformats.org/officeDocument/2006/relationships/hyperlink" Target="https://azure.microsoft.com/ru-ru/updates?id=557892" TargetMode="Externa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hyperlink" Target="https://azure.microsoft.com/ru-ru/updates?id=557902" TargetMode="External"/><Relationship Id="rId2" Type="http://schemas.openxmlformats.org/officeDocument/2006/relationships/hyperlink" Target="https://azure.github.io/AppService/2026/03/25/Aspire-GA.html" TargetMode="Externa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hyperlink" Target="https://techcommunity.microsoft.com/blog/windows-itpro-blog/windows-365-frontline-in-shared-mode-expands-to-new-zealand-north-mexico-central/4504820" TargetMode="Externa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azure.microsoft.com/ru-ru/updates?id=558884" TargetMode="External"/><Relationship Id="rId2" Type="http://schemas.openxmlformats.org/officeDocument/2006/relationships/hyperlink" Target="https://azure.microsoft.com/ru-ru/updates?id=558841" TargetMode="Externa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hyperlink" Target="https://techcommunity.microsoft.com/blog/oracleonazureblog/new-oracle-autonomous-ai-database---dedicated-option-on-oracle-ai-databaseazure/4504929" TargetMode="Externa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hyperlink" Target="https://azure.microsoft.com/ru-ru/updates?id=558851" TargetMode="External"/><Relationship Id="rId2" Type="http://schemas.openxmlformats.org/officeDocument/2006/relationships/hyperlink" Target="https://azure.microsoft.com/ru-ru/updates?id=558865" TargetMode="Externa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hyperlink" Target="https://azure.microsoft.com/ru-ru/updates?id=558846" TargetMode="External"/><Relationship Id="rId2" Type="http://schemas.openxmlformats.org/officeDocument/2006/relationships/hyperlink" Target="https://azure.microsoft.com/ru-ru/updates?id=558870" TargetMode="Externa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hyperlink" Target="https://azure.microsoft.com/ru-ru/updates?id=558879" TargetMode="External"/><Relationship Id="rId2" Type="http://schemas.openxmlformats.org/officeDocument/2006/relationships/hyperlink" Target="https://azure.microsoft.com/ru-ru/updates?id=558836" TargetMode="Externa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hyperlink" Target="https://techcommunity.microsoft.com/blog/azure-ai-foundry-blog/announcing-priority-processing-in-microsoft-foundry-for-performance-sensitive-ai/4504788" TargetMode="Externa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hyperlink" Target="https://github.com/azureTimes" TargetMode="Externa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281666" y="1200151"/>
            <a:ext cx="8458200" cy="2228850"/>
          </a:xfrm>
        </p:spPr>
        <p:txBody>
          <a:bodyPr/>
          <a:lstStyle/>
          <a:p>
            <a:r>
              <a:rPr lang="en-US" sz="5400" dirty="0"/>
              <a:t>Azure Times #</a:t>
            </a:r>
            <a:r>
              <a:rPr lang="ru-RU" sz="5400" dirty="0"/>
              <a:t>199</a:t>
            </a:r>
            <a:endParaRPr lang="en-US" sz="5400" dirty="0"/>
          </a:p>
        </p:txBody>
      </p:sp>
      <p:sp>
        <p:nvSpPr>
          <p:cNvPr id="4" name="Text Placeholder 3"/>
          <p:cNvSpPr>
            <a:spLocks noGrp="1"/>
          </p:cNvSpPr>
          <p:nvPr>
            <p:ph type="body" sz="quarter" idx="11"/>
          </p:nvPr>
        </p:nvSpPr>
        <p:spPr/>
        <p:txBody>
          <a:bodyPr/>
          <a:lstStyle/>
          <a:p>
            <a:r>
              <a:rPr lang="en-US" spc="300" dirty="0"/>
              <a:t>March 30, 2026</a:t>
            </a:r>
          </a:p>
        </p:txBody>
      </p:sp>
      <p:sp>
        <p:nvSpPr>
          <p:cNvPr id="3" name="TextBox 2">
            <a:extLst>
              <a:ext uri="{FF2B5EF4-FFF2-40B4-BE49-F238E27FC236}">
                <a16:creationId xmlns:a16="http://schemas.microsoft.com/office/drawing/2014/main" id="{ED924944-231A-274C-AB8B-3C574947B123}"/>
              </a:ext>
            </a:extLst>
          </p:cNvPr>
          <p:cNvSpPr txBox="1"/>
          <p:nvPr/>
        </p:nvSpPr>
        <p:spPr>
          <a:xfrm>
            <a:off x="539318" y="4887158"/>
            <a:ext cx="0" cy="0"/>
          </a:xfrm>
          <a:prstGeom prst="rect">
            <a:avLst/>
          </a:prstGeom>
          <a:noFill/>
        </p:spPr>
        <p:txBody>
          <a:bodyPr wrap="none" lIns="0" tIns="0" rIns="0" bIns="0" rtlCol="0">
            <a:noAutofit/>
          </a:bodyPr>
          <a:lstStyle/>
          <a:p>
            <a:pPr>
              <a:lnSpc>
                <a:spcPct val="110000"/>
              </a:lnSpc>
              <a:spcBef>
                <a:spcPts val="450"/>
              </a:spcBef>
            </a:pPr>
            <a:endParaRPr lang="en-US" sz="900" err="1">
              <a:ea typeface="Human Sans" charset="0"/>
              <a:cs typeface="Human Sans" charset="0"/>
            </a:endParaRPr>
          </a:p>
        </p:txBody>
      </p:sp>
    </p:spTree>
    <p:extLst>
      <p:ext uri="{BB962C8B-B14F-4D97-AF65-F5344CB8AC3E}">
        <p14:creationId xmlns:p14="http://schemas.microsoft.com/office/powerpoint/2010/main" val="447552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a:xfrm>
            <a:off x="252845" y="1285875"/>
            <a:ext cx="6271326" cy="1714500"/>
          </a:xfrm>
        </p:spPr>
        <p:txBody>
          <a:bodyPr/>
          <a:lstStyle/>
          <a:p>
            <a:r>
              <a:rPr lang="en-US" sz="4000" dirty="0"/>
              <a:t>Security &amp; Identity</a:t>
            </a:r>
          </a:p>
        </p:txBody>
      </p:sp>
    </p:spTree>
    <p:extLst>
      <p:ext uri="{BB962C8B-B14F-4D97-AF65-F5344CB8AC3E}">
        <p14:creationId xmlns:p14="http://schemas.microsoft.com/office/powerpoint/2010/main" val="31179200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Security &amp; Identity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2"/>
              </a:rPr>
              <a:t>Microsoft Entra Backup and Recovery overview (Preview)</a:t>
            </a:r>
            <a:endParaRPr lang="en-US" dirty="0"/>
          </a:p>
          <a:p>
            <a:pPr algn="just"/>
            <a:r>
              <a:rPr lang="en-US" dirty="0"/>
              <a:t>Microsoft Entra Backup and Recovery provides a </a:t>
            </a:r>
            <a:r>
              <a:rPr lang="en-US" b="1" dirty="0"/>
              <a:t>built-in mechanism to restore critical directory objects</a:t>
            </a:r>
            <a:r>
              <a:rPr lang="en-US" dirty="0"/>
              <a:t> after accidental changes or security incidents. It automatically creates </a:t>
            </a:r>
            <a:r>
              <a:rPr lang="en-US" b="1" dirty="0"/>
              <a:t>daily backups with up to five days of retention</a:t>
            </a:r>
            <a:r>
              <a:rPr lang="en-US" dirty="0"/>
              <a:t>, covering objects such as users, groups, applications, service principals, and Conditional Access policies. Backups are </a:t>
            </a:r>
            <a:r>
              <a:rPr lang="en-US" b="1" dirty="0"/>
              <a:t>fully managed by Microsoft and cannot be modified or disabled</a:t>
            </a:r>
            <a:r>
              <a:rPr lang="en-US" dirty="0"/>
              <a:t>, even by administrators, ensuring strong protection and integrity. Administrators can </a:t>
            </a:r>
            <a:r>
              <a:rPr lang="en-US" b="1" dirty="0"/>
              <a:t>view available backups, generate difference reports, and selectively restore objects</a:t>
            </a:r>
            <a:r>
              <a:rPr lang="en-US" dirty="0"/>
              <a:t> to a previous state. The solution also includes </a:t>
            </a:r>
            <a:r>
              <a:rPr lang="en-US" b="1" dirty="0"/>
              <a:t>recovery history tracking</a:t>
            </a:r>
            <a:r>
              <a:rPr lang="en-US" dirty="0"/>
              <a:t> for audit and operational visibility. Overall, it enhances resilience and enables fast recovery of identity services in enterprise environments.</a:t>
            </a:r>
          </a:p>
        </p:txBody>
      </p:sp>
    </p:spTree>
    <p:extLst>
      <p:ext uri="{BB962C8B-B14F-4D97-AF65-F5344CB8AC3E}">
        <p14:creationId xmlns:p14="http://schemas.microsoft.com/office/powerpoint/2010/main" val="4933105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54E758-0E9C-1A59-D8C1-58D462C9879C}"/>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F4EFDCEC-74D7-CC9F-3A0E-1009C7BB635B}"/>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108EB9BC-7C8E-C179-D7B3-FA8C3832EAD4}"/>
              </a:ext>
            </a:extLst>
          </p:cNvPr>
          <p:cNvSpPr>
            <a:spLocks noGrp="1"/>
          </p:cNvSpPr>
          <p:nvPr>
            <p:ph type="title"/>
          </p:nvPr>
        </p:nvSpPr>
        <p:spPr/>
        <p:txBody>
          <a:bodyPr/>
          <a:lstStyle/>
          <a:p>
            <a:r>
              <a:rPr lang="en-US" sz="1800" dirty="0"/>
              <a:t>Security &amp; Identity Updates</a:t>
            </a:r>
            <a:endParaRPr lang="en-US" dirty="0"/>
          </a:p>
        </p:txBody>
      </p:sp>
      <p:sp>
        <p:nvSpPr>
          <p:cNvPr id="13" name="Text Placeholder 12">
            <a:extLst>
              <a:ext uri="{FF2B5EF4-FFF2-40B4-BE49-F238E27FC236}">
                <a16:creationId xmlns:a16="http://schemas.microsoft.com/office/drawing/2014/main" id="{5B52A8BE-107A-17D0-9868-4A2D8C2F4337}"/>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6125CF61-DD31-42B7-98F6-ACEF3D4AB8DC}"/>
              </a:ext>
            </a:extLst>
          </p:cNvPr>
          <p:cNvSpPr>
            <a:spLocks noGrp="1"/>
          </p:cNvSpPr>
          <p:nvPr>
            <p:ph type="body" sz="quarter" idx="16"/>
          </p:nvPr>
        </p:nvSpPr>
        <p:spPr/>
        <p:txBody>
          <a:bodyPr/>
          <a:lstStyle/>
          <a:p>
            <a:pPr algn="just"/>
            <a:r>
              <a:rPr lang="en-US" dirty="0">
                <a:hlinkClick r:id="rId2"/>
              </a:rPr>
              <a:t>External MFA in Microsoft Entra ID is now Generally Available</a:t>
            </a:r>
            <a:endParaRPr lang="en-US" dirty="0"/>
          </a:p>
          <a:p>
            <a:pPr algn="just"/>
            <a:r>
              <a:rPr lang="en-US" dirty="0"/>
              <a:t>External MFA in </a:t>
            </a:r>
            <a:r>
              <a:rPr lang="en-US" b="1" dirty="0"/>
              <a:t>Microsoft Entra ID</a:t>
            </a:r>
            <a:r>
              <a:rPr lang="en-US" dirty="0"/>
              <a:t> is now generally available, allowing organizations to </a:t>
            </a:r>
            <a:r>
              <a:rPr lang="en-US" b="1" dirty="0"/>
              <a:t>integrate third-party MFA providers while keeping Entra ID as the central identity control plane</a:t>
            </a:r>
            <a:r>
              <a:rPr lang="en-US" dirty="0"/>
              <a:t>. Built on the </a:t>
            </a:r>
            <a:r>
              <a:rPr lang="en-US" b="1" dirty="0"/>
              <a:t>OpenID Connect (OIDC) standard</a:t>
            </a:r>
            <a:r>
              <a:rPr lang="en-US" dirty="0"/>
              <a:t>, it enables secure and flexible integration without losing policy enforcement. All sign-ins still </a:t>
            </a:r>
            <a:r>
              <a:rPr lang="en-US" dirty="0" err="1"/>
              <a:t>проходят</a:t>
            </a:r>
            <a:r>
              <a:rPr lang="en-US" dirty="0"/>
              <a:t> through </a:t>
            </a:r>
            <a:r>
              <a:rPr lang="en-US" b="1" dirty="0"/>
              <a:t>Conditional Access and risk evaluation</a:t>
            </a:r>
            <a:r>
              <a:rPr lang="en-US" dirty="0"/>
              <a:t>, ensuring consistent security controls. This is especially useful for organizations with </a:t>
            </a:r>
            <a:r>
              <a:rPr lang="en-US" b="1" dirty="0"/>
              <a:t>regulatory requirements, M&amp;A scenarios, or existing MFA investments</a:t>
            </a:r>
            <a:r>
              <a:rPr lang="en-US" dirty="0"/>
              <a:t>. External MFA is managed alongside native methods, providing a </a:t>
            </a:r>
            <a:r>
              <a:rPr lang="en-US" b="1" dirty="0"/>
              <a:t>single pane of glass for authentication management</a:t>
            </a:r>
            <a:r>
              <a:rPr lang="en-US" dirty="0"/>
              <a:t>. It also replaces legacy </a:t>
            </a:r>
            <a:r>
              <a:rPr lang="en-US" b="1" dirty="0"/>
              <a:t>Custom Controls</a:t>
            </a:r>
            <a:r>
              <a:rPr lang="en-US" dirty="0"/>
              <a:t>, which will be deprecated by September 2026.</a:t>
            </a:r>
          </a:p>
        </p:txBody>
      </p:sp>
    </p:spTree>
    <p:extLst>
      <p:ext uri="{BB962C8B-B14F-4D97-AF65-F5344CB8AC3E}">
        <p14:creationId xmlns:p14="http://schemas.microsoft.com/office/powerpoint/2010/main" val="28133645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a:xfrm>
            <a:off x="252845" y="1285875"/>
            <a:ext cx="8796812" cy="1714500"/>
          </a:xfrm>
        </p:spPr>
        <p:txBody>
          <a:bodyPr/>
          <a:lstStyle/>
          <a:p>
            <a:r>
              <a:rPr lang="en-US" sz="4000" dirty="0"/>
              <a:t>Management &amp; Governance</a:t>
            </a:r>
          </a:p>
        </p:txBody>
      </p:sp>
    </p:spTree>
    <p:extLst>
      <p:ext uri="{BB962C8B-B14F-4D97-AF65-F5344CB8AC3E}">
        <p14:creationId xmlns:p14="http://schemas.microsoft.com/office/powerpoint/2010/main" val="34791831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pPr algn="just"/>
            <a:r>
              <a:rPr lang="en-US" sz="1000" dirty="0">
                <a:hlinkClick r:id="rId2"/>
              </a:rPr>
              <a:t>Public Preview: AKS managed GPU metrics in Azure Monitor</a:t>
            </a:r>
            <a:endParaRPr lang="en-US" sz="1000" dirty="0"/>
          </a:p>
          <a:p>
            <a:pPr algn="just"/>
            <a:r>
              <a:rPr lang="en-US" sz="1000" dirty="0"/>
              <a:t>Teams running GPU‑backed workloads often lack integrated visibility into GPU utilization alongside Kubernetes metrics. AKS managed GPU metrics automatically expose performance and utilization data from NVIDIA GPU‑enabled node pools into managed Prometheus and Grafana environments. This brings GPU telemetry into the same observability stack as cluster metrics, supporting capacity planning and operational monitoring without manual exporter setup.</a:t>
            </a:r>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Management &amp; Governance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3"/>
              </a:rPr>
              <a:t>Public Preview: Ingest OTLP data into Azure Monitor with the </a:t>
            </a:r>
            <a:r>
              <a:rPr lang="en-US" dirty="0" err="1">
                <a:hlinkClick r:id="rId3"/>
              </a:rPr>
              <a:t>OpenTelemetry</a:t>
            </a:r>
            <a:r>
              <a:rPr lang="en-US" dirty="0">
                <a:hlinkClick r:id="rId3"/>
              </a:rPr>
              <a:t> Collector</a:t>
            </a:r>
            <a:endParaRPr lang="en-US" dirty="0"/>
          </a:p>
          <a:p>
            <a:pPr algn="just"/>
            <a:r>
              <a:rPr lang="en-US" dirty="0"/>
              <a:t>Azure Monitor now supports native ingestion of </a:t>
            </a:r>
            <a:r>
              <a:rPr lang="en-US" dirty="0" err="1"/>
              <a:t>OpenTelemetry</a:t>
            </a:r>
            <a:r>
              <a:rPr lang="en-US" dirty="0"/>
              <a:t> Protocol (OTLP) signals, enabling you to send telemetry data directly from </a:t>
            </a:r>
            <a:r>
              <a:rPr lang="en-US" dirty="0" err="1"/>
              <a:t>OpenTelemetry</a:t>
            </a:r>
            <a:r>
              <a:rPr lang="en-US" dirty="0"/>
              <a:t>-instrumented applications and platforms to Azure Monitor. You can configure your </a:t>
            </a:r>
            <a:r>
              <a:rPr lang="en-US" dirty="0" err="1"/>
              <a:t>OpenTelemetry</a:t>
            </a:r>
            <a:r>
              <a:rPr lang="en-US" dirty="0"/>
              <a:t> Collector to send data directly to Azure Monitor cloud ingestion endpoints to ingest OTLP metrics, logs and traces using Microsoft Entra for authentication. </a:t>
            </a:r>
            <a:br>
              <a:rPr lang="en-US" dirty="0"/>
            </a:br>
            <a:r>
              <a:rPr lang="en-US" dirty="0"/>
              <a:t>You can enable OTLP data ingestion in Azure Monitor using Application Insights OR by manually creating the required data collection endpoints, rules and workspaces. The Application Insights-based approach is recommended for most scenarios as it automates resource creation and includes built-in application performance management experiences.</a:t>
            </a:r>
            <a:br>
              <a:rPr lang="en-US" dirty="0"/>
            </a:br>
            <a:r>
              <a:rPr lang="en-US" dirty="0"/>
              <a:t>Ingested OTLP metrics are stored in Azure Monitor Workspaces and can be queried and alerted upon with Prometheus query language (</a:t>
            </a:r>
            <a:r>
              <a:rPr lang="en-US" dirty="0" err="1"/>
              <a:t>PromQL</a:t>
            </a:r>
            <a:r>
              <a:rPr lang="en-US" dirty="0"/>
              <a:t>). OTLP logs and traces are stored in Log Analytics workspaces using new </a:t>
            </a:r>
            <a:r>
              <a:rPr lang="en-US" dirty="0" err="1"/>
              <a:t>OpenTelemetry</a:t>
            </a:r>
            <a:r>
              <a:rPr lang="en-US" dirty="0"/>
              <a:t> tables and semantics.</a:t>
            </a:r>
          </a:p>
        </p:txBody>
      </p:sp>
    </p:spTree>
    <p:extLst>
      <p:ext uri="{BB962C8B-B14F-4D97-AF65-F5344CB8AC3E}">
        <p14:creationId xmlns:p14="http://schemas.microsoft.com/office/powerpoint/2010/main" val="520864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1B331A7-2BF2-F504-0338-C7A2992C4531}"/>
              </a:ext>
            </a:extLst>
          </p:cNvPr>
          <p:cNvSpPr>
            <a:spLocks noGrp="1"/>
          </p:cNvSpPr>
          <p:nvPr>
            <p:ph type="body" sz="quarter" idx="10"/>
          </p:nvPr>
        </p:nvSpPr>
        <p:spPr/>
        <p:txBody>
          <a:bodyPr/>
          <a:lstStyle/>
          <a:p>
            <a:endParaRPr lang="en-US"/>
          </a:p>
        </p:txBody>
      </p:sp>
      <p:sp>
        <p:nvSpPr>
          <p:cNvPr id="3" name="Title 2">
            <a:extLst>
              <a:ext uri="{FF2B5EF4-FFF2-40B4-BE49-F238E27FC236}">
                <a16:creationId xmlns:a16="http://schemas.microsoft.com/office/drawing/2014/main" id="{18BB2552-CC61-EC1B-D523-C848FA80BB10}"/>
              </a:ext>
            </a:extLst>
          </p:cNvPr>
          <p:cNvSpPr>
            <a:spLocks noGrp="1"/>
          </p:cNvSpPr>
          <p:nvPr>
            <p:ph type="title"/>
          </p:nvPr>
        </p:nvSpPr>
        <p:spPr/>
        <p:txBody>
          <a:bodyPr/>
          <a:lstStyle/>
          <a:p>
            <a:r>
              <a:rPr lang="en-US" sz="1600" dirty="0"/>
              <a:t>Management &amp; Governance Updates</a:t>
            </a:r>
            <a:endParaRPr lang="en-US" dirty="0"/>
          </a:p>
        </p:txBody>
      </p:sp>
      <p:sp>
        <p:nvSpPr>
          <p:cNvPr id="4" name="Text Placeholder 3">
            <a:extLst>
              <a:ext uri="{FF2B5EF4-FFF2-40B4-BE49-F238E27FC236}">
                <a16:creationId xmlns:a16="http://schemas.microsoft.com/office/drawing/2014/main" id="{207CF273-45C3-EB17-2B96-53FBE3796151}"/>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4EBE0674-F9B4-A2DC-7B82-8623B4489B90}"/>
              </a:ext>
            </a:extLst>
          </p:cNvPr>
          <p:cNvSpPr>
            <a:spLocks noGrp="1"/>
          </p:cNvSpPr>
          <p:nvPr>
            <p:ph type="body" sz="quarter" idx="16"/>
          </p:nvPr>
        </p:nvSpPr>
        <p:spPr/>
        <p:txBody>
          <a:bodyPr/>
          <a:lstStyle/>
          <a:p>
            <a:pPr algn="just"/>
            <a:r>
              <a:rPr lang="en-US" dirty="0">
                <a:hlinkClick r:id="rId2"/>
              </a:rPr>
              <a:t>Announcing Public Preview of Argo CD extension on AKS and Azure Arc enabled Kubernetes clusters</a:t>
            </a:r>
            <a:endParaRPr lang="en-US" dirty="0"/>
          </a:p>
          <a:p>
            <a:pPr algn="just"/>
            <a:r>
              <a:rPr lang="en-US" dirty="0"/>
              <a:t>The </a:t>
            </a:r>
            <a:r>
              <a:rPr lang="en-US" b="1" dirty="0"/>
              <a:t>Argo CD extension for AKS and Azure Arc-enabled Kubernetes</a:t>
            </a:r>
            <a:r>
              <a:rPr lang="en-US" dirty="0"/>
              <a:t> is now in public preview, enabling enterprises to adopt </a:t>
            </a:r>
            <a:r>
              <a:rPr lang="en-US" b="1" dirty="0"/>
              <a:t>GitOps with built-in security and identity integration</a:t>
            </a:r>
            <a:r>
              <a:rPr lang="en-US" dirty="0"/>
              <a:t>. It integrates with </a:t>
            </a:r>
            <a:r>
              <a:rPr lang="en-US" b="1" dirty="0"/>
              <a:t>Microsoft Entra ID</a:t>
            </a:r>
            <a:r>
              <a:rPr lang="en-US" dirty="0"/>
              <a:t> to provide secure authentication, Single Sign-On, and </a:t>
            </a:r>
            <a:r>
              <a:rPr lang="en-US" b="1" dirty="0"/>
              <a:t>Workload Identity federation</a:t>
            </a:r>
            <a:r>
              <a:rPr lang="en-US" dirty="0"/>
              <a:t>, eliminating the need for long-lived credentials or secrets. The extension is hardened using </a:t>
            </a:r>
            <a:r>
              <a:rPr lang="en-US" b="1" dirty="0"/>
              <a:t>Azure Linux images</a:t>
            </a:r>
            <a:r>
              <a:rPr lang="en-US" dirty="0"/>
              <a:t>, reducing vulnerabilities and improving baseline security, with optional automatic patching. It maintains full </a:t>
            </a:r>
            <a:r>
              <a:rPr lang="en-US" b="1" dirty="0"/>
              <a:t>parity with upstream Argo CD</a:t>
            </a:r>
            <a:r>
              <a:rPr lang="en-US" dirty="0"/>
              <a:t>, allowing teams to use familiar features like </a:t>
            </a:r>
            <a:r>
              <a:rPr lang="en-US" dirty="0" err="1"/>
              <a:t>ApplicationSets</a:t>
            </a:r>
            <a:r>
              <a:rPr lang="en-US" dirty="0"/>
              <a:t> and high availability deployments. This supports </a:t>
            </a:r>
            <a:r>
              <a:rPr lang="en-US" b="1" dirty="0"/>
              <a:t>multi-cluster GitOps scenarios</a:t>
            </a:r>
            <a:r>
              <a:rPr lang="en-US" dirty="0"/>
              <a:t> using hub-and-spoke architectures. Overall, it provides a </a:t>
            </a:r>
            <a:r>
              <a:rPr lang="en-US" b="1" dirty="0"/>
              <a:t>secure, enterprise-ready GitOps implementation aligned with Zero Trust principles</a:t>
            </a:r>
            <a:r>
              <a:rPr lang="en-US" dirty="0"/>
              <a:t>.</a:t>
            </a:r>
          </a:p>
        </p:txBody>
      </p:sp>
    </p:spTree>
    <p:extLst>
      <p:ext uri="{BB962C8B-B14F-4D97-AF65-F5344CB8AC3E}">
        <p14:creationId xmlns:p14="http://schemas.microsoft.com/office/powerpoint/2010/main" val="40211122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5B2A5C-E35F-E18E-05A4-B6AF8CF698D5}"/>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921B0A37-B626-6209-EE63-BDBE1E100FF0}"/>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89DE73F3-4A2F-648B-BD17-44C88CDB5688}"/>
              </a:ext>
            </a:extLst>
          </p:cNvPr>
          <p:cNvSpPr>
            <a:spLocks noGrp="1"/>
          </p:cNvSpPr>
          <p:nvPr>
            <p:ph type="title"/>
          </p:nvPr>
        </p:nvSpPr>
        <p:spPr/>
        <p:txBody>
          <a:bodyPr/>
          <a:lstStyle/>
          <a:p>
            <a:r>
              <a:rPr lang="en-US" sz="1800" dirty="0"/>
              <a:t>Management &amp; Governance Updates</a:t>
            </a:r>
            <a:endParaRPr lang="en-US" dirty="0"/>
          </a:p>
        </p:txBody>
      </p:sp>
      <p:sp>
        <p:nvSpPr>
          <p:cNvPr id="13" name="Text Placeholder 12">
            <a:extLst>
              <a:ext uri="{FF2B5EF4-FFF2-40B4-BE49-F238E27FC236}">
                <a16:creationId xmlns:a16="http://schemas.microsoft.com/office/drawing/2014/main" id="{1A20683A-1573-CC2D-401E-61BAED70A144}"/>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4B5FF973-31C8-BEFD-DC1E-6209231AED94}"/>
              </a:ext>
            </a:extLst>
          </p:cNvPr>
          <p:cNvSpPr>
            <a:spLocks noGrp="1"/>
          </p:cNvSpPr>
          <p:nvPr>
            <p:ph type="body" sz="quarter" idx="16"/>
          </p:nvPr>
        </p:nvSpPr>
        <p:spPr/>
        <p:txBody>
          <a:bodyPr/>
          <a:lstStyle/>
          <a:p>
            <a:pPr algn="just"/>
            <a:r>
              <a:rPr lang="en-US" dirty="0">
                <a:hlinkClick r:id="rId2"/>
              </a:rPr>
              <a:t>Generally Available: Azure Monitor Prometheus community recommended alerts for Azure Arc-enabled Kubernetes</a:t>
            </a:r>
            <a:endParaRPr lang="en-US" dirty="0"/>
          </a:p>
          <a:p>
            <a:pPr algn="just"/>
            <a:r>
              <a:rPr lang="en-US" dirty="0"/>
              <a:t>Azure Monitor now allows </a:t>
            </a:r>
            <a:r>
              <a:rPr lang="en-US" b="1" dirty="0"/>
              <a:t>one-click enablement of Prometheus recommended alerts</a:t>
            </a:r>
            <a:r>
              <a:rPr lang="en-US" dirty="0"/>
              <a:t> for Azure Arc-enabled Kubernetes clusters, simplifying the setup process significantly. Previously, teams had to manually deploy alert templates, but now alerts can be activated directly from the Azure Portal. These alerts provide </a:t>
            </a:r>
            <a:r>
              <a:rPr lang="en-US" b="1" dirty="0"/>
              <a:t>comprehensive coverage across cluster, node, and pod levels</a:t>
            </a:r>
            <a:r>
              <a:rPr lang="en-US" dirty="0"/>
              <a:t>, helping detect issues like failures, resource pressure, and crashes. They are based on </a:t>
            </a:r>
            <a:r>
              <a:rPr lang="en-US" b="1" dirty="0"/>
              <a:t>enhanced Prometheus community rules</a:t>
            </a:r>
            <a:r>
              <a:rPr lang="en-US" dirty="0"/>
              <a:t>, ensuring standardized and reliable monitoring. This feature requires the </a:t>
            </a:r>
            <a:r>
              <a:rPr lang="en-US" b="1" dirty="0"/>
              <a:t>managed Prometheus service in Azure Monitor</a:t>
            </a:r>
            <a:r>
              <a:rPr lang="en-US" dirty="0"/>
              <a:t> and replaces legacy Container Insights alerts. Overall, it helps teams </a:t>
            </a:r>
            <a:r>
              <a:rPr lang="en-US" b="1" dirty="0"/>
              <a:t>improve reliability, reduce setup effort, and accelerate troubleshooting</a:t>
            </a:r>
            <a:r>
              <a:rPr lang="en-US" dirty="0"/>
              <a:t> with minimal configuration.</a:t>
            </a:r>
          </a:p>
        </p:txBody>
      </p:sp>
    </p:spTree>
    <p:extLst>
      <p:ext uri="{BB962C8B-B14F-4D97-AF65-F5344CB8AC3E}">
        <p14:creationId xmlns:p14="http://schemas.microsoft.com/office/powerpoint/2010/main" val="23707362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Compute</a:t>
            </a:r>
          </a:p>
        </p:txBody>
      </p:sp>
    </p:spTree>
    <p:extLst>
      <p:ext uri="{BB962C8B-B14F-4D97-AF65-F5344CB8AC3E}">
        <p14:creationId xmlns:p14="http://schemas.microsoft.com/office/powerpoint/2010/main" val="2747428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pPr algn="just"/>
            <a:r>
              <a:rPr lang="en-US" sz="1000" dirty="0">
                <a:hlinkClick r:id="rId2"/>
              </a:rPr>
              <a:t>Public Preview: Microsoft Azure Kubernetes Application Network</a:t>
            </a:r>
            <a:endParaRPr lang="en-US" sz="1000" dirty="0"/>
          </a:p>
          <a:p>
            <a:pPr algn="just"/>
            <a:r>
              <a:rPr lang="en-US" sz="1000" dirty="0"/>
              <a:t>Microsoft introduced </a:t>
            </a:r>
            <a:r>
              <a:rPr lang="en-US" sz="1000" b="1" dirty="0"/>
              <a:t>Azure Kubernetes Application Network</a:t>
            </a:r>
            <a:r>
              <a:rPr lang="en-US" sz="1000" dirty="0"/>
              <a:t>, a new approach to Kubernetes networking that shifts from </a:t>
            </a:r>
            <a:r>
              <a:rPr lang="en-US" sz="1000" b="1" dirty="0"/>
              <a:t>IP-based controls to application-layer (identity-aware) networking</a:t>
            </a:r>
            <a:r>
              <a:rPr lang="en-US" sz="1000" dirty="0"/>
              <a:t>—without requiring a full service mesh.</a:t>
            </a:r>
          </a:p>
          <a:p>
            <a:r>
              <a:rPr lang="en-US" sz="1000" dirty="0"/>
              <a:t>Application Network delivers a streamlined approach to zero-trust networking in AKS. Key capabilities include:</a:t>
            </a:r>
          </a:p>
          <a:p>
            <a:pPr marL="171450" indent="-171450" algn="just">
              <a:buFont typeface="Arial" panose="020B0604020202020204" pitchFamily="34" charset="0"/>
              <a:buChar char="•"/>
            </a:pPr>
            <a:r>
              <a:rPr lang="en-US" sz="1000" b="1" dirty="0"/>
              <a:t>Ambient architecture</a:t>
            </a:r>
            <a:r>
              <a:rPr lang="en-US" sz="1000" dirty="0"/>
              <a:t>: Provides mesh functionality without sidecars, reducing resource usage and simplifying operations.</a:t>
            </a:r>
          </a:p>
          <a:p>
            <a:pPr marL="171450" indent="-171450" algn="just">
              <a:buFont typeface="Arial" panose="020B0604020202020204" pitchFamily="34" charset="0"/>
              <a:buChar char="•"/>
            </a:pPr>
            <a:r>
              <a:rPr lang="en-US" sz="1000" b="1" dirty="0"/>
              <a:t>Automatic mutual TLS (</a:t>
            </a:r>
            <a:r>
              <a:rPr lang="en-US" sz="1000" b="1" dirty="0" err="1"/>
              <a:t>mTLS</a:t>
            </a:r>
            <a:r>
              <a:rPr lang="en-US" sz="1000" b="1" dirty="0"/>
              <a:t>)</a:t>
            </a:r>
            <a:r>
              <a:rPr lang="en-US" sz="1000" dirty="0"/>
              <a:t>: Secures service-to-service traffic by default, supporting both encrypted and unencrypted connections automatically.</a:t>
            </a:r>
          </a:p>
          <a:p>
            <a:pPr marL="171450" indent="-171450" algn="just">
              <a:buFont typeface="Arial" panose="020B0604020202020204" pitchFamily="34" charset="0"/>
              <a:buChar char="•"/>
            </a:pPr>
            <a:r>
              <a:rPr lang="en-US" sz="1000" b="1" dirty="0"/>
              <a:t>Managed certificate authority</a:t>
            </a:r>
            <a:r>
              <a:rPr lang="en-US" sz="1000" dirty="0"/>
              <a:t>: Issues and rotates SPIFFE compliant workload certificates automatically.</a:t>
            </a:r>
          </a:p>
          <a:p>
            <a:pPr marL="171450" indent="-171450" algn="just">
              <a:buFont typeface="Arial" panose="020B0604020202020204" pitchFamily="34" charset="0"/>
              <a:buChar char="•"/>
            </a:pPr>
            <a:r>
              <a:rPr lang="en-US" sz="1000" b="1" dirty="0"/>
              <a:t>Version and upgrade control</a:t>
            </a:r>
            <a:r>
              <a:rPr lang="en-US" sz="1000" dirty="0"/>
              <a:t>: Select minor versions manually or use release channels for automated upgrades. Rollout and patching are always managed by Application Network.</a:t>
            </a:r>
          </a:p>
          <a:p>
            <a:pPr marL="171450" indent="-171450" algn="just">
              <a:buFont typeface="Arial" panose="020B0604020202020204" pitchFamily="34" charset="0"/>
              <a:buChar char="•"/>
            </a:pPr>
            <a:r>
              <a:rPr lang="en-US" sz="1000" b="1" dirty="0"/>
              <a:t>Integrated lifecycle management</a:t>
            </a:r>
            <a:r>
              <a:rPr lang="en-US" sz="1000" dirty="0"/>
              <a:t>: Operates as part of the AKS platform with control plane operations fully managed by Azure.</a:t>
            </a:r>
          </a:p>
          <a:p>
            <a:pPr algn="just"/>
            <a:endParaRPr lang="en-US" sz="1000" dirty="0"/>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Compute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a:xfrm>
            <a:off x="342900" y="855081"/>
            <a:ext cx="3955312" cy="1183582"/>
          </a:xfrm>
        </p:spPr>
        <p:txBody>
          <a:bodyPr/>
          <a:lstStyle/>
          <a:p>
            <a:pPr algn="just"/>
            <a:r>
              <a:rPr lang="en-US" dirty="0">
                <a:hlinkClick r:id="rId3"/>
              </a:rPr>
              <a:t>Public Preview: Application routing with meshless Istio in AKS</a:t>
            </a:r>
            <a:endParaRPr lang="en-US" dirty="0"/>
          </a:p>
          <a:p>
            <a:pPr algn="just"/>
            <a:r>
              <a:rPr lang="en-US" dirty="0"/>
              <a:t>Microsoft announced a </a:t>
            </a:r>
            <a:r>
              <a:rPr lang="en-US" b="1" dirty="0"/>
              <a:t>migration path away from ingress-nginx</a:t>
            </a:r>
            <a:r>
              <a:rPr lang="en-US" dirty="0"/>
              <a:t> toward a more </a:t>
            </a:r>
            <a:r>
              <a:rPr lang="en-US" b="1" dirty="0"/>
              <a:t>standards-based ingress model using the Kubernetes Gateway API</a:t>
            </a:r>
            <a:r>
              <a:rPr lang="en-US" dirty="0"/>
              <a:t>, powered by </a:t>
            </a:r>
            <a:r>
              <a:rPr lang="en-US" b="1" dirty="0"/>
              <a:t>Application Routing with Meshless Istio</a:t>
            </a:r>
            <a:r>
              <a:rPr lang="en-US" dirty="0"/>
              <a:t>.</a:t>
            </a:r>
          </a:p>
          <a:p>
            <a:pPr algn="just"/>
            <a:r>
              <a:rPr lang="en-US" dirty="0"/>
              <a:t>This provides a </a:t>
            </a:r>
            <a:r>
              <a:rPr lang="en-US" b="1" dirty="0"/>
              <a:t>modern, supported alternative</a:t>
            </a:r>
            <a:r>
              <a:rPr lang="en-US" dirty="0"/>
              <a:t> without introducing the complexity of a full service mesh.</a:t>
            </a:r>
          </a:p>
          <a:p>
            <a:pPr algn="just"/>
            <a:endParaRPr lang="en-US" dirty="0"/>
          </a:p>
        </p:txBody>
      </p:sp>
    </p:spTree>
    <p:extLst>
      <p:ext uri="{BB962C8B-B14F-4D97-AF65-F5344CB8AC3E}">
        <p14:creationId xmlns:p14="http://schemas.microsoft.com/office/powerpoint/2010/main" val="6741351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xEl>
                                              <p:pRg st="1" end="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xEl>
                                              <p:pRg st="3" end="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
                                            <p:txEl>
                                              <p:pRg st="5" end="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2">
                                            <p:txEl>
                                              <p:pRg st="6" end="6"/>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531189-CF39-6970-06DD-2F3E951D8112}"/>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E736A2DE-B6FD-C635-9880-42440690A8EF}"/>
              </a:ext>
            </a:extLst>
          </p:cNvPr>
          <p:cNvSpPr>
            <a:spLocks noGrp="1"/>
          </p:cNvSpPr>
          <p:nvPr>
            <p:ph type="body" sz="quarter" idx="10"/>
          </p:nvPr>
        </p:nvSpPr>
        <p:spPr/>
        <p:txBody>
          <a:bodyPr/>
          <a:lstStyle/>
          <a:p>
            <a:pPr algn="just"/>
            <a:r>
              <a:rPr lang="en-US" sz="1000" dirty="0">
                <a:hlinkClick r:id="rId2"/>
              </a:rPr>
              <a:t>Public Preview: AI Agent for container networking troubleshooting</a:t>
            </a:r>
            <a:endParaRPr lang="en-US" sz="1000" dirty="0"/>
          </a:p>
          <a:p>
            <a:pPr algn="just"/>
            <a:r>
              <a:rPr lang="en-US" sz="1000" dirty="0"/>
              <a:t>Troubleshooting Kubernetes networking issues is often slowed by logs and metrics scattered across multiple tools, forcing engineers to manually correlate signals during incidents. The container networking agent provides a lightweight, web‑based interface that translates natural‑language problem descriptions into read‑only diagnostics using live cluster telemetry and orchestrates safe diagnostic workflows. By consolidating networking insights and summarizing findings with structured remediation guidance, the agent reduces investigation time and improves troubleshooting consistency without making configuration changes.  </a:t>
            </a:r>
          </a:p>
        </p:txBody>
      </p:sp>
      <p:sp>
        <p:nvSpPr>
          <p:cNvPr id="11" name="Title 10">
            <a:extLst>
              <a:ext uri="{FF2B5EF4-FFF2-40B4-BE49-F238E27FC236}">
                <a16:creationId xmlns:a16="http://schemas.microsoft.com/office/drawing/2014/main" id="{55108E1B-188F-34CB-E2F4-B4F546C318BA}"/>
              </a:ext>
            </a:extLst>
          </p:cNvPr>
          <p:cNvSpPr>
            <a:spLocks noGrp="1"/>
          </p:cNvSpPr>
          <p:nvPr>
            <p:ph type="title"/>
          </p:nvPr>
        </p:nvSpPr>
        <p:spPr/>
        <p:txBody>
          <a:bodyPr/>
          <a:lstStyle/>
          <a:p>
            <a:r>
              <a:rPr lang="en-US" sz="1800" dirty="0"/>
              <a:t>Compute Updates</a:t>
            </a:r>
            <a:endParaRPr lang="en-US" dirty="0"/>
          </a:p>
        </p:txBody>
      </p:sp>
      <p:sp>
        <p:nvSpPr>
          <p:cNvPr id="13" name="Text Placeholder 12">
            <a:extLst>
              <a:ext uri="{FF2B5EF4-FFF2-40B4-BE49-F238E27FC236}">
                <a16:creationId xmlns:a16="http://schemas.microsoft.com/office/drawing/2014/main" id="{0AC618DB-0932-277F-3E42-37D002107928}"/>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D5C20627-BF61-394B-61E8-E9F6702CBB52}"/>
              </a:ext>
            </a:extLst>
          </p:cNvPr>
          <p:cNvSpPr>
            <a:spLocks noGrp="1"/>
          </p:cNvSpPr>
          <p:nvPr>
            <p:ph type="body" sz="quarter" idx="16"/>
          </p:nvPr>
        </p:nvSpPr>
        <p:spPr>
          <a:xfrm>
            <a:off x="342900" y="855081"/>
            <a:ext cx="3955312" cy="1513470"/>
          </a:xfrm>
        </p:spPr>
        <p:txBody>
          <a:bodyPr/>
          <a:lstStyle/>
          <a:p>
            <a:pPr algn="just"/>
            <a:r>
              <a:rPr lang="en-US" dirty="0">
                <a:hlinkClick r:id="rId3"/>
              </a:rPr>
              <a:t>Public Preview: Cross-cluster networking in Azure Kubernetes Fleet Manager</a:t>
            </a:r>
            <a:endParaRPr lang="en-US" dirty="0"/>
          </a:p>
          <a:p>
            <a:pPr algn="just"/>
            <a:r>
              <a:rPr lang="en-US" dirty="0"/>
              <a:t>Microsoft introduced </a:t>
            </a:r>
            <a:r>
              <a:rPr lang="en-US" b="1" dirty="0"/>
              <a:t>Cross-Cluster Networking in Azure Kubernetes Fleet Manager</a:t>
            </a:r>
            <a:r>
              <a:rPr lang="en-US" dirty="0"/>
              <a:t>, delivering a </a:t>
            </a:r>
            <a:r>
              <a:rPr lang="en-US" b="1" dirty="0"/>
              <a:t>managed Cilium cluster mesh</a:t>
            </a:r>
            <a:r>
              <a:rPr lang="en-US" dirty="0"/>
              <a:t> for seamless networking across multiple AKS clusters.</a:t>
            </a:r>
          </a:p>
          <a:p>
            <a:pPr algn="just"/>
            <a:r>
              <a:rPr lang="en-US" dirty="0"/>
              <a:t>This capability addresses key challenges in </a:t>
            </a:r>
            <a:r>
              <a:rPr lang="en-US" b="1" dirty="0"/>
              <a:t>multi-cluster Kubernetes environments</a:t>
            </a:r>
            <a:r>
              <a:rPr lang="en-US" dirty="0"/>
              <a:t>, including connectivity, service discovery, performance, and observability.</a:t>
            </a:r>
          </a:p>
          <a:p>
            <a:pPr algn="just"/>
            <a:endParaRPr lang="en-US" dirty="0"/>
          </a:p>
        </p:txBody>
      </p:sp>
    </p:spTree>
    <p:extLst>
      <p:ext uri="{BB962C8B-B14F-4D97-AF65-F5344CB8AC3E}">
        <p14:creationId xmlns:p14="http://schemas.microsoft.com/office/powerpoint/2010/main" val="25538196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161A922-CDB4-CF9C-C56D-895042D0B7E7}"/>
              </a:ext>
            </a:extLst>
          </p:cNvPr>
          <p:cNvSpPr>
            <a:spLocks noGrp="1"/>
          </p:cNvSpPr>
          <p:nvPr>
            <p:ph type="body" sz="quarter" idx="10"/>
          </p:nvPr>
        </p:nvSpPr>
        <p:spPr>
          <a:xfrm>
            <a:off x="4433776" y="855081"/>
            <a:ext cx="4365038" cy="2292854"/>
          </a:xfrm>
        </p:spPr>
        <p:txBody>
          <a:bodyPr/>
          <a:lstStyle/>
          <a:p>
            <a:pPr algn="just"/>
            <a:r>
              <a:rPr lang="en-US" sz="1000" dirty="0">
                <a:hlinkClick r:id="rId2"/>
              </a:rPr>
              <a:t>Announcing public preview: Cilium </a:t>
            </a:r>
            <a:r>
              <a:rPr lang="en-US" sz="1000" dirty="0" err="1">
                <a:hlinkClick r:id="rId2"/>
              </a:rPr>
              <a:t>mTLS</a:t>
            </a:r>
            <a:r>
              <a:rPr lang="en-US" sz="1000" dirty="0">
                <a:hlinkClick r:id="rId2"/>
              </a:rPr>
              <a:t> encryption for Azure Kubernetes Service</a:t>
            </a:r>
            <a:endParaRPr lang="en-US" sz="1000" dirty="0"/>
          </a:p>
          <a:p>
            <a:pPr algn="just"/>
            <a:r>
              <a:rPr lang="en-US" sz="1000" dirty="0"/>
              <a:t>Cilium </a:t>
            </a:r>
            <a:r>
              <a:rPr lang="en-US" sz="1000" dirty="0" err="1"/>
              <a:t>mTLS</a:t>
            </a:r>
            <a:r>
              <a:rPr lang="en-US" sz="1000" dirty="0"/>
              <a:t> encryption in AKS (public preview) introduces </a:t>
            </a:r>
            <a:r>
              <a:rPr lang="en-US" sz="1000" b="1" dirty="0"/>
              <a:t>workload-level encryption and authentication without requiring a full service mesh or application changes</a:t>
            </a:r>
            <a:r>
              <a:rPr lang="en-US" sz="1000" dirty="0"/>
              <a:t>. It works transparently in the Azure CNI </a:t>
            </a:r>
            <a:r>
              <a:rPr lang="en-US" sz="1000" dirty="0" err="1"/>
              <a:t>dataplane</a:t>
            </a:r>
            <a:r>
              <a:rPr lang="en-US" sz="1000" dirty="0"/>
              <a:t> by intercepting traffic and enforcing </a:t>
            </a:r>
            <a:r>
              <a:rPr lang="en-US" sz="1000" b="1" dirty="0"/>
              <a:t>mutual TLS between pods</a:t>
            </a:r>
            <a:r>
              <a:rPr lang="en-US" sz="1000" dirty="0"/>
              <a:t>, ensuring all communication is encrypted and authenticated. The solution combines </a:t>
            </a:r>
            <a:r>
              <a:rPr lang="en-US" sz="1000" b="1" dirty="0"/>
              <a:t>Cilium agent, </a:t>
            </a:r>
            <a:r>
              <a:rPr lang="en-US" sz="1000" b="1" dirty="0" err="1"/>
              <a:t>ztunnel</a:t>
            </a:r>
            <a:r>
              <a:rPr lang="en-US" sz="1000" b="1" dirty="0"/>
              <a:t>, and SPIRE</a:t>
            </a:r>
            <a:r>
              <a:rPr lang="en-US" sz="1000" dirty="0"/>
              <a:t> to provide identity-based security using short-lived certificates tied to Kubernetes identities like namespace and service account. This enables a </a:t>
            </a:r>
            <a:r>
              <a:rPr lang="en-US" sz="1000" b="1" dirty="0"/>
              <a:t>Zero Trust networking model</a:t>
            </a:r>
            <a:r>
              <a:rPr lang="en-US" sz="1000" dirty="0"/>
              <a:t>, where trust is based on workload identity rather than IP addresses. Unlike traditional approaches, it avoids sidecars and reduces operational complexity while still delivering strong security. The feature is </a:t>
            </a:r>
            <a:r>
              <a:rPr lang="en-US" sz="1000" b="1" dirty="0"/>
              <a:t>opt-in at the namespace level</a:t>
            </a:r>
            <a:r>
              <a:rPr lang="en-US" sz="1000" dirty="0"/>
              <a:t>, allowing gradual adoption without disrupting existing workloads. Overall, it provides a </a:t>
            </a:r>
            <a:r>
              <a:rPr lang="en-US" sz="1000" b="1" dirty="0"/>
              <a:t>secure, high-performance, and simplified alternative to service mesh-based </a:t>
            </a:r>
            <a:r>
              <a:rPr lang="en-US" sz="1000" b="1" dirty="0" err="1"/>
              <a:t>mTLS</a:t>
            </a:r>
            <a:r>
              <a:rPr lang="en-US" sz="1000" dirty="0"/>
              <a:t>.</a:t>
            </a:r>
          </a:p>
        </p:txBody>
      </p:sp>
      <p:sp>
        <p:nvSpPr>
          <p:cNvPr id="3" name="Title 2">
            <a:extLst>
              <a:ext uri="{FF2B5EF4-FFF2-40B4-BE49-F238E27FC236}">
                <a16:creationId xmlns:a16="http://schemas.microsoft.com/office/drawing/2014/main" id="{2E82DC29-435E-E970-BB1C-9EDCBB322B86}"/>
              </a:ext>
            </a:extLst>
          </p:cNvPr>
          <p:cNvSpPr>
            <a:spLocks noGrp="1"/>
          </p:cNvSpPr>
          <p:nvPr>
            <p:ph type="title"/>
          </p:nvPr>
        </p:nvSpPr>
        <p:spPr/>
        <p:txBody>
          <a:bodyPr/>
          <a:lstStyle/>
          <a:p>
            <a:r>
              <a:rPr lang="en-US" sz="1600" dirty="0"/>
              <a:t>Compute Updates</a:t>
            </a:r>
            <a:endParaRPr lang="en-US" dirty="0"/>
          </a:p>
        </p:txBody>
      </p:sp>
      <p:sp>
        <p:nvSpPr>
          <p:cNvPr id="4" name="Text Placeholder 3">
            <a:extLst>
              <a:ext uri="{FF2B5EF4-FFF2-40B4-BE49-F238E27FC236}">
                <a16:creationId xmlns:a16="http://schemas.microsoft.com/office/drawing/2014/main" id="{C61E5D8C-0BED-A12A-F87A-F37D86B3B649}"/>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B3489E31-302C-AD52-433C-31E4675A3322}"/>
              </a:ext>
            </a:extLst>
          </p:cNvPr>
          <p:cNvSpPr>
            <a:spLocks noGrp="1"/>
          </p:cNvSpPr>
          <p:nvPr>
            <p:ph type="body" sz="quarter" idx="16"/>
          </p:nvPr>
        </p:nvSpPr>
        <p:spPr/>
        <p:txBody>
          <a:bodyPr/>
          <a:lstStyle/>
          <a:p>
            <a:pPr algn="just"/>
            <a:r>
              <a:rPr lang="en-US" dirty="0">
                <a:hlinkClick r:id="rId3"/>
              </a:rPr>
              <a:t>Public Preview: Blue-green agent pool upgrade in AKS</a:t>
            </a:r>
            <a:endParaRPr lang="en-US" dirty="0"/>
          </a:p>
          <a:p>
            <a:pPr algn="just"/>
            <a:r>
              <a:rPr lang="en-US" dirty="0"/>
              <a:t>Blue-green agent pool upgrades reduce the risk of in-place updates by creating a </a:t>
            </a:r>
            <a:r>
              <a:rPr lang="en-US" b="1" dirty="0"/>
              <a:t>parallel node pool with the new configuration</a:t>
            </a:r>
            <a:r>
              <a:rPr lang="en-US" dirty="0"/>
              <a:t> instead of modifying existing nodes directly. This allows teams to </a:t>
            </a:r>
            <a:r>
              <a:rPr lang="en-US" b="1" dirty="0"/>
              <a:t>validate changes in a safe environment</a:t>
            </a:r>
            <a:r>
              <a:rPr lang="en-US" dirty="0"/>
              <a:t> before shifting production workloads. Once validated, workloads can be gradually moved to the new pool, ensuring minimal disruption. If issues occur, teams can quickly </a:t>
            </a:r>
            <a:r>
              <a:rPr lang="en-US" b="1" dirty="0"/>
              <a:t>rollback by reverting traffic to the original pool</a:t>
            </a:r>
            <a:r>
              <a:rPr lang="en-US" dirty="0"/>
              <a:t>. This approach improves reliability and supports </a:t>
            </a:r>
            <a:r>
              <a:rPr lang="en-US" b="1" dirty="0"/>
              <a:t>controlled, low-risk Kubernetes cluster upgrades</a:t>
            </a:r>
            <a:r>
              <a:rPr lang="en-US" dirty="0"/>
              <a:t>.</a:t>
            </a:r>
          </a:p>
        </p:txBody>
      </p:sp>
      <p:pic>
        <p:nvPicPr>
          <p:cNvPr id="7" name="Picture 6">
            <a:extLst>
              <a:ext uri="{FF2B5EF4-FFF2-40B4-BE49-F238E27FC236}">
                <a16:creationId xmlns:a16="http://schemas.microsoft.com/office/drawing/2014/main" id="{B801E8F2-76ED-8022-8FDD-8715C5330799}"/>
              </a:ext>
            </a:extLst>
          </p:cNvPr>
          <p:cNvPicPr>
            <a:picLocks noChangeAspect="1"/>
          </p:cNvPicPr>
          <p:nvPr/>
        </p:nvPicPr>
        <p:blipFill>
          <a:blip r:embed="rId4"/>
          <a:stretch>
            <a:fillRect/>
          </a:stretch>
        </p:blipFill>
        <p:spPr>
          <a:xfrm>
            <a:off x="5197919" y="3151758"/>
            <a:ext cx="3151892" cy="1648842"/>
          </a:xfrm>
          <a:prstGeom prst="rect">
            <a:avLst/>
          </a:prstGeom>
        </p:spPr>
      </p:pic>
    </p:spTree>
    <p:extLst>
      <p:ext uri="{BB962C8B-B14F-4D97-AF65-F5344CB8AC3E}">
        <p14:creationId xmlns:p14="http://schemas.microsoft.com/office/powerpoint/2010/main" val="10396298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F098EE-BBE3-B9BF-C218-E4DEA9A76D9C}"/>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D082964C-E8A1-73CC-B206-1A488254620C}"/>
              </a:ext>
            </a:extLst>
          </p:cNvPr>
          <p:cNvSpPr>
            <a:spLocks noGrp="1"/>
          </p:cNvSpPr>
          <p:nvPr>
            <p:ph type="body" sz="quarter" idx="10"/>
          </p:nvPr>
        </p:nvSpPr>
        <p:spPr/>
        <p:txBody>
          <a:bodyPr/>
          <a:lstStyle/>
          <a:p>
            <a:pPr algn="just"/>
            <a:r>
              <a:rPr lang="en-US" sz="1000" dirty="0">
                <a:hlinkClick r:id="rId2"/>
              </a:rPr>
              <a:t>Generally Available: Container network logs in AKS</a:t>
            </a:r>
            <a:endParaRPr lang="en-US" sz="1000" dirty="0"/>
          </a:p>
          <a:p>
            <a:pPr algn="just"/>
            <a:r>
              <a:rPr lang="en-US" sz="1000" dirty="0"/>
              <a:t>Networking issues in Kubernetes environments can be difficult to diagnose due to limited visibility into traffic flows and insufficient context around failures. Container network logs in Azure Kubernetes Service (AKS), now generally available, provide context‑rich visibility into network flows by capturing detailed per‑flow metadata such as IPs, ports, namespaces, pod and service names, flow direction, and policy verdicts across L3/L4 and supported Layer 7 protocols including HTTP, </a:t>
            </a:r>
            <a:r>
              <a:rPr lang="en-US" sz="1000" dirty="0" err="1"/>
              <a:t>gRPC</a:t>
            </a:r>
            <a:r>
              <a:rPr lang="en-US" sz="1000" dirty="0"/>
              <a:t>, and Kafka. This capability supports both stored logs for continuous, filter-based collection and on-demand logs for targeted snapshots.</a:t>
            </a:r>
          </a:p>
          <a:p>
            <a:pPr algn="just"/>
            <a:r>
              <a:rPr lang="en-US" sz="1000" dirty="0"/>
              <a:t>The new network monitoring experience in Azure Monitor for AKS makes this data easier to consume through out-of-the-box visualizations, pre-built Azure Monitor and Grafana dashboards, and single‑click onboarding in the Azure portal. These enhancements help technical practitioners accelerate troubleshooting, improve insight into traffic patterns, and simplify analysis of issues such as packet loss, DNS failures, and connection errors.</a:t>
            </a:r>
          </a:p>
          <a:p>
            <a:pPr algn="just"/>
            <a:endParaRPr lang="en-US" sz="1000" dirty="0"/>
          </a:p>
        </p:txBody>
      </p:sp>
      <p:sp>
        <p:nvSpPr>
          <p:cNvPr id="11" name="Title 10">
            <a:extLst>
              <a:ext uri="{FF2B5EF4-FFF2-40B4-BE49-F238E27FC236}">
                <a16:creationId xmlns:a16="http://schemas.microsoft.com/office/drawing/2014/main" id="{DDE59A08-9A25-40C0-DC79-D2FB88CF728E}"/>
              </a:ext>
            </a:extLst>
          </p:cNvPr>
          <p:cNvSpPr>
            <a:spLocks noGrp="1"/>
          </p:cNvSpPr>
          <p:nvPr>
            <p:ph type="title"/>
          </p:nvPr>
        </p:nvSpPr>
        <p:spPr/>
        <p:txBody>
          <a:bodyPr/>
          <a:lstStyle/>
          <a:p>
            <a:r>
              <a:rPr lang="en-US" sz="1800" dirty="0"/>
              <a:t>Compute Updates</a:t>
            </a:r>
            <a:endParaRPr lang="en-US" dirty="0"/>
          </a:p>
        </p:txBody>
      </p:sp>
      <p:sp>
        <p:nvSpPr>
          <p:cNvPr id="13" name="Text Placeholder 12">
            <a:extLst>
              <a:ext uri="{FF2B5EF4-FFF2-40B4-BE49-F238E27FC236}">
                <a16:creationId xmlns:a16="http://schemas.microsoft.com/office/drawing/2014/main" id="{4D7D0670-36E5-9279-0AB3-70FC83D5A9FE}"/>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9AC89A86-0455-61DD-7A55-DACDA81B83B1}"/>
              </a:ext>
            </a:extLst>
          </p:cNvPr>
          <p:cNvSpPr>
            <a:spLocks noGrp="1"/>
          </p:cNvSpPr>
          <p:nvPr>
            <p:ph type="body" sz="quarter" idx="16"/>
          </p:nvPr>
        </p:nvSpPr>
        <p:spPr>
          <a:xfrm>
            <a:off x="342900" y="855081"/>
            <a:ext cx="3955312" cy="1543346"/>
          </a:xfrm>
        </p:spPr>
        <p:txBody>
          <a:bodyPr/>
          <a:lstStyle/>
          <a:p>
            <a:pPr algn="just"/>
            <a:r>
              <a:rPr lang="en-US" dirty="0">
                <a:hlinkClick r:id="rId3"/>
              </a:rPr>
              <a:t>Generally Available: Azure Container Storage v2.1.0 now with Elastic SAN integration and on demand installation</a:t>
            </a:r>
            <a:endParaRPr lang="en-US" dirty="0"/>
          </a:p>
          <a:p>
            <a:pPr algn="just"/>
            <a:r>
              <a:rPr lang="en-US" dirty="0"/>
              <a:t>Microsoft introduced integration between </a:t>
            </a:r>
            <a:r>
              <a:rPr lang="en-US" b="1" dirty="0"/>
              <a:t>Azure Container Storage (ACS)</a:t>
            </a:r>
            <a:r>
              <a:rPr lang="en-US" dirty="0"/>
              <a:t> and </a:t>
            </a:r>
            <a:r>
              <a:rPr lang="en-US" b="1" dirty="0"/>
              <a:t>Azure Elastic SAN</a:t>
            </a:r>
            <a:r>
              <a:rPr lang="en-US" dirty="0"/>
              <a:t>, enabling Kubernetes clusters to consume </a:t>
            </a:r>
            <a:r>
              <a:rPr lang="en-US" b="1" dirty="0"/>
              <a:t>centrally managed, high-performance storage pools</a:t>
            </a:r>
            <a:r>
              <a:rPr lang="en-US" dirty="0"/>
              <a:t> instead of managing individual disks.</a:t>
            </a:r>
          </a:p>
          <a:p>
            <a:pPr algn="just"/>
            <a:r>
              <a:rPr lang="en-US" dirty="0"/>
              <a:t>This is a significant step toward </a:t>
            </a:r>
            <a:r>
              <a:rPr lang="en-US" b="1" dirty="0"/>
              <a:t>enterprise-grade, scalable storage for containerized workloads</a:t>
            </a:r>
            <a:r>
              <a:rPr lang="en-US" dirty="0"/>
              <a:t>.</a:t>
            </a:r>
          </a:p>
          <a:p>
            <a:pPr algn="just"/>
            <a:endParaRPr lang="en-US" dirty="0"/>
          </a:p>
        </p:txBody>
      </p:sp>
    </p:spTree>
    <p:extLst>
      <p:ext uri="{BB962C8B-B14F-4D97-AF65-F5344CB8AC3E}">
        <p14:creationId xmlns:p14="http://schemas.microsoft.com/office/powerpoint/2010/main" val="187353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xEl>
                                              <p:pRg st="1" end="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2817E1-BA7F-D700-A07D-CF35C50119CB}"/>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995ECF59-E5F0-A908-6FBA-7B62FCFAAF59}"/>
              </a:ext>
            </a:extLst>
          </p:cNvPr>
          <p:cNvSpPr>
            <a:spLocks noGrp="1"/>
          </p:cNvSpPr>
          <p:nvPr>
            <p:ph type="body" sz="quarter" idx="10"/>
          </p:nvPr>
        </p:nvSpPr>
        <p:spPr/>
        <p:txBody>
          <a:bodyPr/>
          <a:lstStyle/>
          <a:p>
            <a:pPr algn="just"/>
            <a:r>
              <a:rPr lang="en-US" sz="1000" dirty="0">
                <a:hlinkClick r:id="rId2"/>
              </a:rPr>
              <a:t>Aspire on Azure App Service is now Generally Available</a:t>
            </a:r>
            <a:endParaRPr lang="en-US" sz="1000" dirty="0"/>
          </a:p>
          <a:p>
            <a:pPr algn="just"/>
            <a:r>
              <a:rPr lang="en-US" sz="1000" dirty="0"/>
              <a:t>Aspire is now </a:t>
            </a:r>
            <a:r>
              <a:rPr lang="en-US" sz="1000" b="1" dirty="0"/>
              <a:t>generally available on Azure App Service</a:t>
            </a:r>
            <a:r>
              <a:rPr lang="en-US" sz="1000" dirty="0"/>
              <a:t>, enabling developers to move distributed applications from local development to production using a </a:t>
            </a:r>
            <a:r>
              <a:rPr lang="en-US" sz="1000" b="1" dirty="0"/>
              <a:t>code-first approach</a:t>
            </a:r>
            <a:r>
              <a:rPr lang="en-US" sz="1000" dirty="0"/>
              <a:t>. With the </a:t>
            </a:r>
            <a:r>
              <a:rPr lang="en-US" sz="1000" dirty="0" err="1"/>
              <a:t>Aspire.Hosting.Azure.AppService</a:t>
            </a:r>
            <a:r>
              <a:rPr lang="en-US" sz="1000" dirty="0"/>
              <a:t> package, you can define infrastructure and hosting directly in code while keeping the familiar </a:t>
            </a:r>
            <a:r>
              <a:rPr lang="en-US" sz="1000" b="1" dirty="0" err="1"/>
              <a:t>AppHost</a:t>
            </a:r>
            <a:r>
              <a:rPr lang="en-US" sz="1000" b="1" dirty="0"/>
              <a:t> orchestration model</a:t>
            </a:r>
            <a:r>
              <a:rPr lang="en-US" sz="1000" dirty="0"/>
              <a:t>. This allows teams to use a </a:t>
            </a:r>
            <a:r>
              <a:rPr lang="en-US" sz="1000" b="1" dirty="0"/>
              <a:t>fully managed platform</a:t>
            </a:r>
            <a:r>
              <a:rPr lang="en-US" sz="1000" dirty="0"/>
              <a:t> for scaling, security patching, and operations without changing their development workflow. The release also introduces </a:t>
            </a:r>
            <a:r>
              <a:rPr lang="en-US" sz="1000" b="1" dirty="0"/>
              <a:t>Deployment Slots support</a:t>
            </a:r>
            <a:r>
              <a:rPr lang="en-US" sz="1000" dirty="0"/>
              <a:t>, enabling safer deployment patterns such as staging, validation, and swap. This improves reliability and reduces risk during application updates. Overall, it simplifies building and operating distributed applications on Azure with a consistent developer experience.</a:t>
            </a:r>
          </a:p>
        </p:txBody>
      </p:sp>
      <p:sp>
        <p:nvSpPr>
          <p:cNvPr id="11" name="Title 10">
            <a:extLst>
              <a:ext uri="{FF2B5EF4-FFF2-40B4-BE49-F238E27FC236}">
                <a16:creationId xmlns:a16="http://schemas.microsoft.com/office/drawing/2014/main" id="{F56FF68D-660F-2CAA-B09A-5A59259AACC4}"/>
              </a:ext>
            </a:extLst>
          </p:cNvPr>
          <p:cNvSpPr>
            <a:spLocks noGrp="1"/>
          </p:cNvSpPr>
          <p:nvPr>
            <p:ph type="title"/>
          </p:nvPr>
        </p:nvSpPr>
        <p:spPr/>
        <p:txBody>
          <a:bodyPr/>
          <a:lstStyle/>
          <a:p>
            <a:r>
              <a:rPr lang="en-US" sz="1800" dirty="0"/>
              <a:t>Compute Updates</a:t>
            </a:r>
            <a:endParaRPr lang="en-US" dirty="0"/>
          </a:p>
        </p:txBody>
      </p:sp>
      <p:sp>
        <p:nvSpPr>
          <p:cNvPr id="13" name="Text Placeholder 12">
            <a:extLst>
              <a:ext uri="{FF2B5EF4-FFF2-40B4-BE49-F238E27FC236}">
                <a16:creationId xmlns:a16="http://schemas.microsoft.com/office/drawing/2014/main" id="{1749C152-D6B4-AF3B-2578-E699D30AD2F0}"/>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49104E40-B616-5259-A98B-8099EE2331BE}"/>
              </a:ext>
            </a:extLst>
          </p:cNvPr>
          <p:cNvSpPr>
            <a:spLocks noGrp="1"/>
          </p:cNvSpPr>
          <p:nvPr>
            <p:ph type="body" sz="quarter" idx="16"/>
          </p:nvPr>
        </p:nvSpPr>
        <p:spPr/>
        <p:txBody>
          <a:bodyPr/>
          <a:lstStyle/>
          <a:p>
            <a:pPr algn="just"/>
            <a:r>
              <a:rPr lang="en-US" dirty="0">
                <a:hlinkClick r:id="rId3"/>
              </a:rPr>
              <a:t>Generally Available: Container network metrics filtering for AKS</a:t>
            </a:r>
            <a:endParaRPr lang="en-US" dirty="0"/>
          </a:p>
          <a:p>
            <a:pPr algn="just"/>
            <a:r>
              <a:rPr lang="en-US" dirty="0"/>
              <a:t>Microsoft introduced </a:t>
            </a:r>
            <a:r>
              <a:rPr lang="en-US" b="1" dirty="0"/>
              <a:t>container network metrics filtering in ACNS</a:t>
            </a:r>
            <a:r>
              <a:rPr lang="en-US" dirty="0"/>
              <a:t>, allowing operators to </a:t>
            </a:r>
            <a:r>
              <a:rPr lang="en-US" b="1" dirty="0"/>
              <a:t>control exactly which Kubernetes network metrics are collected</a:t>
            </a:r>
            <a:r>
              <a:rPr lang="en-US" dirty="0"/>
              <a:t> using dynamic, policy-driven filters.</a:t>
            </a:r>
          </a:p>
          <a:p>
            <a:pPr algn="just"/>
            <a:r>
              <a:rPr lang="en-US" dirty="0"/>
              <a:t>This helps reduce </a:t>
            </a:r>
            <a:r>
              <a:rPr lang="en-US" b="1" dirty="0"/>
              <a:t>observability noise, ingestion volume, and cost</a:t>
            </a:r>
            <a:r>
              <a:rPr lang="en-US" dirty="0"/>
              <a:t>, while keeping dashboards focused on </a:t>
            </a:r>
            <a:r>
              <a:rPr lang="en-US" b="1" dirty="0"/>
              <a:t>actionable signals</a:t>
            </a:r>
            <a:r>
              <a:rPr lang="en-US" dirty="0"/>
              <a:t>.</a:t>
            </a:r>
          </a:p>
          <a:p>
            <a:pPr algn="just"/>
            <a:r>
              <a:rPr lang="en-US" dirty="0"/>
              <a:t>Operators can define </a:t>
            </a:r>
            <a:r>
              <a:rPr lang="en-US" b="1" dirty="0"/>
              <a:t>filters using Kubernetes custom resources (CRDs)</a:t>
            </a:r>
            <a:r>
              <a:rPr lang="en-US" dirty="0"/>
              <a:t> to control:</a:t>
            </a:r>
          </a:p>
          <a:p>
            <a:pPr marL="171450" indent="-171450" algn="just">
              <a:buFont typeface="Arial" panose="020B0604020202020204" pitchFamily="34" charset="0"/>
              <a:buChar char="•"/>
            </a:pPr>
            <a:r>
              <a:rPr lang="en-US" dirty="0"/>
              <a:t>which metrics are collected </a:t>
            </a:r>
          </a:p>
          <a:p>
            <a:pPr marL="171450" indent="-171450" algn="just">
              <a:buFont typeface="Arial" panose="020B0604020202020204" pitchFamily="34" charset="0"/>
              <a:buChar char="•"/>
            </a:pPr>
            <a:r>
              <a:rPr lang="en-US" dirty="0"/>
              <a:t>which workloads are included/excluded </a:t>
            </a:r>
          </a:p>
          <a:p>
            <a:pPr marL="171450" indent="-171450" algn="just">
              <a:buFont typeface="Arial" panose="020B0604020202020204" pitchFamily="34" charset="0"/>
              <a:buChar char="•"/>
            </a:pPr>
            <a:r>
              <a:rPr lang="en-US" dirty="0"/>
              <a:t>which dimensions are relevant</a:t>
            </a:r>
          </a:p>
          <a:p>
            <a:pPr algn="just"/>
            <a:endParaRPr lang="en-US" dirty="0"/>
          </a:p>
          <a:p>
            <a:pPr algn="just"/>
            <a:endParaRPr lang="en-US" dirty="0"/>
          </a:p>
        </p:txBody>
      </p:sp>
    </p:spTree>
    <p:extLst>
      <p:ext uri="{BB962C8B-B14F-4D97-AF65-F5344CB8AC3E}">
        <p14:creationId xmlns:p14="http://schemas.microsoft.com/office/powerpoint/2010/main" val="163932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
                                            <p:txEl>
                                              <p:pRg st="0" end="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BE5443E-26F5-522E-9C41-431BDFDE35F6}"/>
              </a:ext>
            </a:extLst>
          </p:cNvPr>
          <p:cNvSpPr>
            <a:spLocks noGrp="1"/>
          </p:cNvSpPr>
          <p:nvPr>
            <p:ph type="body" sz="quarter" idx="10"/>
          </p:nvPr>
        </p:nvSpPr>
        <p:spPr/>
        <p:txBody>
          <a:bodyPr/>
          <a:lstStyle/>
          <a:p>
            <a:endParaRPr lang="en-US"/>
          </a:p>
        </p:txBody>
      </p:sp>
      <p:sp>
        <p:nvSpPr>
          <p:cNvPr id="3" name="Title 2">
            <a:extLst>
              <a:ext uri="{FF2B5EF4-FFF2-40B4-BE49-F238E27FC236}">
                <a16:creationId xmlns:a16="http://schemas.microsoft.com/office/drawing/2014/main" id="{B5651FAB-C0B4-2FF6-24D8-40381A7B3E9C}"/>
              </a:ext>
            </a:extLst>
          </p:cNvPr>
          <p:cNvSpPr>
            <a:spLocks noGrp="1"/>
          </p:cNvSpPr>
          <p:nvPr>
            <p:ph type="title"/>
          </p:nvPr>
        </p:nvSpPr>
        <p:spPr/>
        <p:txBody>
          <a:bodyPr/>
          <a:lstStyle/>
          <a:p>
            <a:r>
              <a:rPr lang="en-US" sz="1600" dirty="0"/>
              <a:t>Compute Updates</a:t>
            </a:r>
            <a:endParaRPr lang="en-US" dirty="0"/>
          </a:p>
        </p:txBody>
      </p:sp>
      <p:sp>
        <p:nvSpPr>
          <p:cNvPr id="4" name="Text Placeholder 3">
            <a:extLst>
              <a:ext uri="{FF2B5EF4-FFF2-40B4-BE49-F238E27FC236}">
                <a16:creationId xmlns:a16="http://schemas.microsoft.com/office/drawing/2014/main" id="{D2F52413-6D50-4122-D783-4E8391856858}"/>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D77AC680-EA45-B81B-8B61-F45547F01985}"/>
              </a:ext>
            </a:extLst>
          </p:cNvPr>
          <p:cNvSpPr>
            <a:spLocks noGrp="1"/>
          </p:cNvSpPr>
          <p:nvPr>
            <p:ph type="body" sz="quarter" idx="16"/>
          </p:nvPr>
        </p:nvSpPr>
        <p:spPr/>
        <p:txBody>
          <a:bodyPr/>
          <a:lstStyle/>
          <a:p>
            <a:r>
              <a:rPr lang="en-US" dirty="0">
                <a:hlinkClick r:id="rId2"/>
              </a:rPr>
              <a:t>Windows 365 Frontline in shared mode expands to New Zealand North, Mexico Central, and Europe</a:t>
            </a:r>
            <a:endParaRPr lang="en-US" dirty="0"/>
          </a:p>
          <a:p>
            <a:pPr algn="just"/>
            <a:r>
              <a:rPr lang="en-US" dirty="0"/>
              <a:t>MS announced that Windows 365 Frontline in shared mode is now available in five new regions, expanding global footprint and bringing Cloud PCs closer to organizations across Australasia, Central America and Europe.</a:t>
            </a:r>
          </a:p>
          <a:p>
            <a:pPr algn="just"/>
            <a:r>
              <a:rPr lang="en-US" dirty="0"/>
              <a:t>Starting today, customers can deploy Windows 365 Frontline shared mode Cloud PCs in:</a:t>
            </a:r>
          </a:p>
          <a:p>
            <a:pPr marL="171450" indent="-171450">
              <a:buFont typeface="Arial" panose="020B0604020202020204" pitchFamily="34" charset="0"/>
              <a:buChar char="•"/>
            </a:pPr>
            <a:r>
              <a:rPr lang="en-US" b="1" dirty="0"/>
              <a:t>Australasia geography</a:t>
            </a:r>
            <a:endParaRPr lang="en-US" dirty="0"/>
          </a:p>
          <a:p>
            <a:pPr marL="514350" lvl="1" indent="-171450">
              <a:buFont typeface="Arial" panose="020B0604020202020204" pitchFamily="34" charset="0"/>
              <a:buChar char="•"/>
            </a:pPr>
            <a:r>
              <a:rPr lang="en-US" sz="1000" dirty="0"/>
              <a:t>New Zealand North</a:t>
            </a:r>
          </a:p>
          <a:p>
            <a:pPr marL="171450" indent="-171450">
              <a:buFont typeface="Arial" panose="020B0604020202020204" pitchFamily="34" charset="0"/>
              <a:buChar char="•"/>
            </a:pPr>
            <a:r>
              <a:rPr lang="en-US" b="1" dirty="0"/>
              <a:t>Central America geography</a:t>
            </a:r>
            <a:endParaRPr lang="en-US" dirty="0"/>
          </a:p>
          <a:p>
            <a:pPr marL="514350" lvl="1" indent="-171450">
              <a:buFont typeface="Arial" panose="020B0604020202020204" pitchFamily="34" charset="0"/>
              <a:buChar char="•"/>
            </a:pPr>
            <a:r>
              <a:rPr lang="en-US" sz="1000" dirty="0"/>
              <a:t>Mexico Central</a:t>
            </a:r>
          </a:p>
          <a:p>
            <a:pPr marL="171450" indent="-171450">
              <a:buFont typeface="Arial" panose="020B0604020202020204" pitchFamily="34" charset="0"/>
              <a:buChar char="•"/>
            </a:pPr>
            <a:r>
              <a:rPr lang="en-US" b="1" dirty="0"/>
              <a:t>Europe geography:</a:t>
            </a:r>
            <a:endParaRPr lang="en-US" dirty="0"/>
          </a:p>
          <a:p>
            <a:pPr marL="514350" lvl="1" indent="-171450">
              <a:buFont typeface="Arial" panose="020B0604020202020204" pitchFamily="34" charset="0"/>
              <a:buChar char="•"/>
            </a:pPr>
            <a:r>
              <a:rPr lang="en-US" sz="1000" dirty="0"/>
              <a:t>Poland Central</a:t>
            </a:r>
          </a:p>
          <a:p>
            <a:pPr marL="514350" lvl="1" indent="-171450">
              <a:buFont typeface="Arial" panose="020B0604020202020204" pitchFamily="34" charset="0"/>
              <a:buChar char="•"/>
            </a:pPr>
            <a:r>
              <a:rPr lang="en-US" sz="1000" dirty="0"/>
              <a:t>Sweden Central</a:t>
            </a:r>
          </a:p>
          <a:p>
            <a:pPr algn="just"/>
            <a:endParaRPr lang="en-US" dirty="0"/>
          </a:p>
          <a:p>
            <a:endParaRPr lang="en-US" dirty="0"/>
          </a:p>
        </p:txBody>
      </p:sp>
    </p:spTree>
    <p:extLst>
      <p:ext uri="{BB962C8B-B14F-4D97-AF65-F5344CB8AC3E}">
        <p14:creationId xmlns:p14="http://schemas.microsoft.com/office/powerpoint/2010/main" val="8712754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Databases</a:t>
            </a:r>
          </a:p>
        </p:txBody>
      </p:sp>
    </p:spTree>
    <p:extLst>
      <p:ext uri="{BB962C8B-B14F-4D97-AF65-F5344CB8AC3E}">
        <p14:creationId xmlns:p14="http://schemas.microsoft.com/office/powerpoint/2010/main" val="1240959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pPr algn="just"/>
            <a:r>
              <a:rPr lang="en-US" sz="1000" dirty="0">
                <a:hlinkClick r:id="rId2"/>
              </a:rPr>
              <a:t>Public Preview: Fabric Mirroring integration for Azure Database for MySQL</a:t>
            </a:r>
            <a:endParaRPr lang="en-US" sz="1000" dirty="0"/>
          </a:p>
          <a:p>
            <a:pPr algn="just"/>
            <a:r>
              <a:rPr lang="en-US" sz="1000" dirty="0"/>
              <a:t>Azure Database for MySQL – Flexible Server now supports </a:t>
            </a:r>
            <a:r>
              <a:rPr lang="en-US" sz="1000" b="1" dirty="0"/>
              <a:t>Fabric Mirroring (public preview)</a:t>
            </a:r>
            <a:r>
              <a:rPr lang="en-US" sz="1000" dirty="0"/>
              <a:t>, enabling </a:t>
            </a:r>
            <a:r>
              <a:rPr lang="en-US" sz="1000" b="1" dirty="0"/>
              <a:t>near real-time replication of operational data into Microsoft Fabric</a:t>
            </a:r>
            <a:r>
              <a:rPr lang="en-US" sz="1000" dirty="0"/>
              <a:t>. This removes the need to build or maintain </a:t>
            </a:r>
            <a:r>
              <a:rPr lang="en-US" sz="1000" b="1" dirty="0"/>
              <a:t>ETL pipelines</a:t>
            </a:r>
            <a:r>
              <a:rPr lang="en-US" sz="1000" dirty="0"/>
              <a:t>, simplifying data integration. The mirrored data is stored in </a:t>
            </a:r>
            <a:r>
              <a:rPr lang="en-US" sz="1000" b="1" dirty="0" err="1"/>
              <a:t>OneLake</a:t>
            </a:r>
            <a:r>
              <a:rPr lang="en-US" sz="1000" b="1" dirty="0"/>
              <a:t> using Delta Parquet format</a:t>
            </a:r>
            <a:r>
              <a:rPr lang="en-US" sz="1000" dirty="0"/>
              <a:t>, making it immediately available for analytics. This allows organizations to combine transactional and analytical workloads seamlessly. Overall, it accelerates </a:t>
            </a:r>
            <a:r>
              <a:rPr lang="en-US" sz="1000" b="1" dirty="0"/>
              <a:t>real-time insights, data platform modernization, and analytics adoption</a:t>
            </a:r>
            <a:r>
              <a:rPr lang="en-US" sz="1000" dirty="0"/>
              <a:t> with minimal operational effort.</a:t>
            </a:r>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Databases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r>
              <a:rPr lang="en-US" dirty="0">
                <a:hlinkClick r:id="rId3"/>
              </a:rPr>
              <a:t>Public Preview: Azure SQL Managed Instance change event streaming</a:t>
            </a:r>
            <a:endParaRPr lang="en-US" dirty="0"/>
          </a:p>
          <a:p>
            <a:r>
              <a:rPr lang="en-US" dirty="0"/>
              <a:t>Azure SQL Managed Instance now supports </a:t>
            </a:r>
            <a:r>
              <a:rPr lang="en-US" b="1" dirty="0"/>
              <a:t>Change Event Streaming (CES)</a:t>
            </a:r>
            <a:r>
              <a:rPr lang="en-US" dirty="0"/>
              <a:t> in public preview, enabling </a:t>
            </a:r>
            <a:r>
              <a:rPr lang="en-US" b="1" dirty="0"/>
              <a:t>near real-time streaming of row-level changes</a:t>
            </a:r>
            <a:r>
              <a:rPr lang="en-US" dirty="0"/>
              <a:t> (inserts, updates, deletes) to Azure Event Hubs. Changes are published as transactions commit, ensuring </a:t>
            </a:r>
            <a:r>
              <a:rPr lang="en-US" b="1" dirty="0"/>
              <a:t>low latency with minimal impact on database performance</a:t>
            </a:r>
            <a:r>
              <a:rPr lang="en-US" dirty="0"/>
              <a:t>. CES removes the need for traditional approaches like </a:t>
            </a:r>
            <a:r>
              <a:rPr lang="en-US" b="1" dirty="0"/>
              <a:t>CDC, change tracking, or custom polling</a:t>
            </a:r>
            <a:r>
              <a:rPr lang="en-US" dirty="0"/>
              <a:t>, simplifying real-time data integration. It is configured once at the database level, while SQL handles </a:t>
            </a:r>
            <a:r>
              <a:rPr lang="en-US" b="1" dirty="0"/>
              <a:t>reliability, retries, and log coordination automatically</a:t>
            </a:r>
            <a:r>
              <a:rPr lang="en-US" dirty="0"/>
              <a:t>. Events are emitted in </a:t>
            </a:r>
            <a:r>
              <a:rPr lang="en-US" b="1" dirty="0"/>
              <a:t>structured JSON using the </a:t>
            </a:r>
            <a:r>
              <a:rPr lang="en-US" b="1" dirty="0" err="1"/>
              <a:t>CloudEvents</a:t>
            </a:r>
            <a:r>
              <a:rPr lang="en-US" b="1" dirty="0"/>
              <a:t> standard</a:t>
            </a:r>
            <a:r>
              <a:rPr lang="en-US" dirty="0"/>
              <a:t>, allowing multiple downstream consumers without additional load. This enables </a:t>
            </a:r>
            <a:r>
              <a:rPr lang="en-US" b="1" dirty="0"/>
              <a:t>event-driven architectures, real-time analytics, and data synchronization use cases</a:t>
            </a:r>
            <a:r>
              <a:rPr lang="en-US" dirty="0"/>
              <a:t> without requiring application changes.</a:t>
            </a:r>
          </a:p>
        </p:txBody>
      </p:sp>
    </p:spTree>
    <p:extLst>
      <p:ext uri="{BB962C8B-B14F-4D97-AF65-F5344CB8AC3E}">
        <p14:creationId xmlns:p14="http://schemas.microsoft.com/office/powerpoint/2010/main" val="17769790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893715-9869-88DC-2CB8-A7701BFB3325}"/>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F69D1DAA-5541-5F8D-D325-1706397A6A43}"/>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B05E9534-3C35-9313-C6E7-9E564BDFC466}"/>
              </a:ext>
            </a:extLst>
          </p:cNvPr>
          <p:cNvSpPr>
            <a:spLocks noGrp="1"/>
          </p:cNvSpPr>
          <p:nvPr>
            <p:ph type="title"/>
          </p:nvPr>
        </p:nvSpPr>
        <p:spPr/>
        <p:txBody>
          <a:bodyPr/>
          <a:lstStyle/>
          <a:p>
            <a:r>
              <a:rPr lang="en-US" sz="1800" dirty="0"/>
              <a:t>Databases Updates</a:t>
            </a:r>
            <a:endParaRPr lang="en-US" dirty="0"/>
          </a:p>
        </p:txBody>
      </p:sp>
      <p:sp>
        <p:nvSpPr>
          <p:cNvPr id="13" name="Text Placeholder 12">
            <a:extLst>
              <a:ext uri="{FF2B5EF4-FFF2-40B4-BE49-F238E27FC236}">
                <a16:creationId xmlns:a16="http://schemas.microsoft.com/office/drawing/2014/main" id="{DE6CD169-A2F9-0F7E-49EE-EC7FAE204B1C}"/>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61510AD9-2A44-5DDF-30FA-DE4500EB2760}"/>
              </a:ext>
            </a:extLst>
          </p:cNvPr>
          <p:cNvSpPr>
            <a:spLocks noGrp="1"/>
          </p:cNvSpPr>
          <p:nvPr>
            <p:ph type="body" sz="quarter" idx="16"/>
          </p:nvPr>
        </p:nvSpPr>
        <p:spPr/>
        <p:txBody>
          <a:bodyPr/>
          <a:lstStyle/>
          <a:p>
            <a:pPr algn="just"/>
            <a:r>
              <a:rPr lang="en-US" dirty="0">
                <a:hlinkClick r:id="rId2"/>
              </a:rPr>
              <a:t>New Oracle Autonomous AI Database - Dedicated option on Oracle AI </a:t>
            </a:r>
            <a:r>
              <a:rPr lang="en-US" dirty="0" err="1">
                <a:hlinkClick r:id="rId2"/>
              </a:rPr>
              <a:t>Database@Azure</a:t>
            </a:r>
            <a:endParaRPr lang="en-US" dirty="0"/>
          </a:p>
          <a:p>
            <a:pPr algn="just"/>
            <a:r>
              <a:rPr lang="en-US" dirty="0"/>
              <a:t>Oracle </a:t>
            </a:r>
            <a:r>
              <a:rPr lang="en-US" dirty="0" err="1"/>
              <a:t>Database@Azure</a:t>
            </a:r>
            <a:r>
              <a:rPr lang="en-US" dirty="0"/>
              <a:t> has evolved into </a:t>
            </a:r>
            <a:r>
              <a:rPr lang="en-US" b="1" dirty="0"/>
              <a:t>Oracle AI </a:t>
            </a:r>
            <a:r>
              <a:rPr lang="en-US" b="1" dirty="0" err="1"/>
              <a:t>Database@Azure</a:t>
            </a:r>
            <a:r>
              <a:rPr lang="en-US" dirty="0"/>
              <a:t>, reflecting expanded support for AI-enabled database services on Azure. Microsoft and Oracle now offer </a:t>
            </a:r>
            <a:r>
              <a:rPr lang="en-US" b="1" dirty="0"/>
              <a:t>Autonomous AI Database on Dedicated Exadata Infrastructure (GA)</a:t>
            </a:r>
            <a:r>
              <a:rPr lang="en-US" dirty="0"/>
              <a:t>, providing customers with </a:t>
            </a:r>
            <a:r>
              <a:rPr lang="en-US" b="1" dirty="0"/>
              <a:t>exclusive, single-tenant infrastructure</a:t>
            </a:r>
            <a:r>
              <a:rPr lang="en-US" dirty="0"/>
              <a:t> for maximum control and compliance. This enables organizations to define </a:t>
            </a:r>
            <a:r>
              <a:rPr lang="en-US" b="1" dirty="0"/>
              <a:t>maintenance windows, resource allocation, and security boundaries</a:t>
            </a:r>
            <a:r>
              <a:rPr lang="en-US" dirty="0"/>
              <a:t>, while Oracle continues to manage the database operations. It is especially suited for </a:t>
            </a:r>
            <a:r>
              <a:rPr lang="en-US" b="1" dirty="0"/>
              <a:t>regulated industries</a:t>
            </a:r>
            <a:r>
              <a:rPr lang="en-US" dirty="0"/>
              <a:t> requiring strict isolation, auditability, and predictable performance. At the same time, a </a:t>
            </a:r>
            <a:r>
              <a:rPr lang="en-US" b="1" dirty="0"/>
              <a:t>serverless deployment option</a:t>
            </a:r>
            <a:r>
              <a:rPr lang="en-US" dirty="0"/>
              <a:t> remains available for customers prioritizing flexibility and rapid scaling. Together, these options allow enterprises to choose between </a:t>
            </a:r>
            <a:r>
              <a:rPr lang="en-US" b="1" dirty="0"/>
              <a:t>high control or high agility</a:t>
            </a:r>
            <a:r>
              <a:rPr lang="en-US" dirty="0"/>
              <a:t> while leveraging Oracle’s autonomous database capabilities on Azure.</a:t>
            </a:r>
          </a:p>
        </p:txBody>
      </p:sp>
    </p:spTree>
    <p:extLst>
      <p:ext uri="{BB962C8B-B14F-4D97-AF65-F5344CB8AC3E}">
        <p14:creationId xmlns:p14="http://schemas.microsoft.com/office/powerpoint/2010/main" val="5800182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471DA1-B55D-EF7E-C705-3E2EBD8AB3D2}"/>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3337F290-7F05-F6C7-FB30-521D100BB24B}"/>
              </a:ext>
            </a:extLst>
          </p:cNvPr>
          <p:cNvSpPr>
            <a:spLocks noGrp="1"/>
          </p:cNvSpPr>
          <p:nvPr>
            <p:ph type="body" sz="quarter" idx="10"/>
          </p:nvPr>
        </p:nvSpPr>
        <p:spPr/>
        <p:txBody>
          <a:bodyPr/>
          <a:lstStyle/>
          <a:p>
            <a:pPr algn="just"/>
            <a:r>
              <a:rPr lang="en-US" sz="1000" dirty="0">
                <a:hlinkClick r:id="rId2"/>
              </a:rPr>
              <a:t>Generally Available: PostgreSQL migration service supports compatible EDB workloads into Azure Database for PostgreSQL</a:t>
            </a:r>
            <a:endParaRPr lang="en-US" sz="1000" dirty="0"/>
          </a:p>
          <a:p>
            <a:pPr algn="just"/>
            <a:r>
              <a:rPr lang="en-US" sz="1000" dirty="0"/>
              <a:t>EDB PostgreSQL is now supported as a </a:t>
            </a:r>
            <a:r>
              <a:rPr lang="en-US" sz="1000" b="1" dirty="0"/>
              <a:t>migration source for Azure Database for PostgreSQL</a:t>
            </a:r>
            <a:r>
              <a:rPr lang="en-US" sz="1000" dirty="0"/>
              <a:t>, enabling organizations to move workloads from EDB Postgres Extended Server to Azure. This allows teams to </a:t>
            </a:r>
            <a:r>
              <a:rPr lang="en-US" sz="1000" b="1" dirty="0"/>
              <a:t>consolidate PostgreSQL environments</a:t>
            </a:r>
            <a:r>
              <a:rPr lang="en-US" sz="1000" dirty="0"/>
              <a:t> using secure and reliable migration workflows. The process is designed for </a:t>
            </a:r>
            <a:r>
              <a:rPr lang="en-US" sz="1000" b="1" dirty="0"/>
              <a:t>minimal downtime</a:t>
            </a:r>
            <a:r>
              <a:rPr lang="en-US" sz="1000" dirty="0"/>
              <a:t>, helping ensure smooth transitions for production systems. Since both platforms maintain PostgreSQL compatibility, applications can be migrated with </a:t>
            </a:r>
            <a:r>
              <a:rPr lang="en-US" sz="1000" b="1" dirty="0"/>
              <a:t>minimal refactoring</a:t>
            </a:r>
            <a:r>
              <a:rPr lang="en-US" sz="1000" dirty="0"/>
              <a:t>. This update simplifies modernization efforts and supports </a:t>
            </a:r>
            <a:r>
              <a:rPr lang="en-US" sz="1000" b="1" dirty="0"/>
              <a:t>standardization on Azure-managed PostgreSQL services</a:t>
            </a:r>
            <a:r>
              <a:rPr lang="en-US" sz="1000" dirty="0"/>
              <a:t>.</a:t>
            </a:r>
          </a:p>
        </p:txBody>
      </p:sp>
      <p:sp>
        <p:nvSpPr>
          <p:cNvPr id="11" name="Title 10">
            <a:extLst>
              <a:ext uri="{FF2B5EF4-FFF2-40B4-BE49-F238E27FC236}">
                <a16:creationId xmlns:a16="http://schemas.microsoft.com/office/drawing/2014/main" id="{C62E7423-4266-2E57-7ECF-35621C61E139}"/>
              </a:ext>
            </a:extLst>
          </p:cNvPr>
          <p:cNvSpPr>
            <a:spLocks noGrp="1"/>
          </p:cNvSpPr>
          <p:nvPr>
            <p:ph type="title"/>
          </p:nvPr>
        </p:nvSpPr>
        <p:spPr/>
        <p:txBody>
          <a:bodyPr/>
          <a:lstStyle/>
          <a:p>
            <a:r>
              <a:rPr lang="en-US" sz="1800" dirty="0"/>
              <a:t>Databases Updates</a:t>
            </a:r>
            <a:endParaRPr lang="en-US" dirty="0"/>
          </a:p>
        </p:txBody>
      </p:sp>
      <p:sp>
        <p:nvSpPr>
          <p:cNvPr id="13" name="Text Placeholder 12">
            <a:extLst>
              <a:ext uri="{FF2B5EF4-FFF2-40B4-BE49-F238E27FC236}">
                <a16:creationId xmlns:a16="http://schemas.microsoft.com/office/drawing/2014/main" id="{915420FD-81AB-F129-C44C-1ADB2CE5081E}"/>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A99C1840-42CB-2AAA-82F4-807BF7A8EB8F}"/>
              </a:ext>
            </a:extLst>
          </p:cNvPr>
          <p:cNvSpPr>
            <a:spLocks noGrp="1"/>
          </p:cNvSpPr>
          <p:nvPr>
            <p:ph type="body" sz="quarter" idx="16"/>
          </p:nvPr>
        </p:nvSpPr>
        <p:spPr/>
        <p:txBody>
          <a:bodyPr/>
          <a:lstStyle/>
          <a:p>
            <a:pPr algn="just"/>
            <a:r>
              <a:rPr lang="en-US" dirty="0">
                <a:hlinkClick r:id="rId3"/>
              </a:rPr>
              <a:t>Generally Available: PostgreSQL migration service supports for Google </a:t>
            </a:r>
            <a:r>
              <a:rPr lang="en-US" dirty="0" err="1">
                <a:hlinkClick r:id="rId3"/>
              </a:rPr>
              <a:t>AlloyDB</a:t>
            </a:r>
            <a:r>
              <a:rPr lang="en-US" dirty="0">
                <a:hlinkClick r:id="rId3"/>
              </a:rPr>
              <a:t> into Azure Database for PostgreSQL</a:t>
            </a:r>
            <a:endParaRPr lang="en-US" dirty="0"/>
          </a:p>
          <a:p>
            <a:pPr algn="just"/>
            <a:r>
              <a:rPr lang="en-US" dirty="0"/>
              <a:t>Google </a:t>
            </a:r>
            <a:r>
              <a:rPr lang="en-US" dirty="0" err="1"/>
              <a:t>AlloyDB</a:t>
            </a:r>
            <a:r>
              <a:rPr lang="en-US" dirty="0"/>
              <a:t> is now supported as a </a:t>
            </a:r>
            <a:r>
              <a:rPr lang="en-US" b="1" dirty="0"/>
              <a:t>migration source for Azure Database for PostgreSQL</a:t>
            </a:r>
            <a:r>
              <a:rPr lang="en-US" dirty="0"/>
              <a:t>, enabling organizations to move PostgreSQL workloads from Google Cloud to Azure. This allows teams to </a:t>
            </a:r>
            <a:r>
              <a:rPr lang="en-US" b="1" dirty="0"/>
              <a:t>consolidate </a:t>
            </a:r>
            <a:r>
              <a:rPr lang="en-US" b="1" dirty="0" err="1"/>
              <a:t>multicloud</a:t>
            </a:r>
            <a:r>
              <a:rPr lang="en-US" b="1" dirty="0"/>
              <a:t> PostgreSQL estates</a:t>
            </a:r>
            <a:r>
              <a:rPr lang="en-US" dirty="0"/>
              <a:t> using standardized and reliable migration workflows. The process is designed for </a:t>
            </a:r>
            <a:r>
              <a:rPr lang="en-US" b="1" dirty="0"/>
              <a:t>minimal downtime</a:t>
            </a:r>
            <a:r>
              <a:rPr lang="en-US" dirty="0"/>
              <a:t>, helping ensure business continuity during migration. Since both platforms are PostgreSQL-compatible, applications can be migrated with </a:t>
            </a:r>
            <a:r>
              <a:rPr lang="en-US" b="1" dirty="0"/>
              <a:t>little or no code changes</a:t>
            </a:r>
            <a:r>
              <a:rPr lang="en-US" dirty="0"/>
              <a:t>. This update simplifies cross-cloud migration and supports </a:t>
            </a:r>
            <a:r>
              <a:rPr lang="en-US" b="1" dirty="0"/>
              <a:t>modernization and platform standardization strategies</a:t>
            </a:r>
            <a:r>
              <a:rPr lang="en-US" dirty="0"/>
              <a:t>.</a:t>
            </a:r>
          </a:p>
        </p:txBody>
      </p:sp>
    </p:spTree>
    <p:extLst>
      <p:ext uri="{BB962C8B-B14F-4D97-AF65-F5344CB8AC3E}">
        <p14:creationId xmlns:p14="http://schemas.microsoft.com/office/powerpoint/2010/main" val="724845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C0FE5FB-175A-F896-524A-9E19DEDFE044}"/>
              </a:ext>
            </a:extLst>
          </p:cNvPr>
          <p:cNvSpPr>
            <a:spLocks noGrp="1"/>
          </p:cNvSpPr>
          <p:nvPr>
            <p:ph type="body" sz="quarter" idx="10"/>
          </p:nvPr>
        </p:nvSpPr>
        <p:spPr/>
        <p:txBody>
          <a:bodyPr/>
          <a:lstStyle/>
          <a:p>
            <a:pPr algn="just"/>
            <a:r>
              <a:rPr lang="en-US" sz="1000" dirty="0">
                <a:hlinkClick r:id="rId2"/>
              </a:rPr>
              <a:t>Generally Available: Custom time zone support for </a:t>
            </a:r>
            <a:r>
              <a:rPr lang="en-US" sz="1000" dirty="0" err="1">
                <a:hlinkClick r:id="rId2"/>
              </a:rPr>
              <a:t>pg_cron</a:t>
            </a:r>
            <a:r>
              <a:rPr lang="en-US" sz="1000" dirty="0">
                <a:hlinkClick r:id="rId2"/>
              </a:rPr>
              <a:t> via </a:t>
            </a:r>
            <a:r>
              <a:rPr lang="en-US" sz="1000" dirty="0" err="1">
                <a:hlinkClick r:id="rId2"/>
              </a:rPr>
              <a:t>cron.timezone</a:t>
            </a:r>
            <a:r>
              <a:rPr lang="en-US" sz="1000" dirty="0">
                <a:hlinkClick r:id="rId2"/>
              </a:rPr>
              <a:t> in Azure Database for PostgreSQL</a:t>
            </a:r>
            <a:endParaRPr lang="en-US" sz="1000" dirty="0"/>
          </a:p>
          <a:p>
            <a:pPr algn="just"/>
            <a:r>
              <a:rPr lang="en-US" sz="1000" dirty="0"/>
              <a:t>Azure Database for PostgreSQL now allows you to configure the </a:t>
            </a:r>
            <a:r>
              <a:rPr lang="en-US" b="1" dirty="0" err="1"/>
              <a:t>cron.timezone</a:t>
            </a:r>
            <a:r>
              <a:rPr lang="en-US" sz="1000" b="1" dirty="0"/>
              <a:t> server parameter</a:t>
            </a:r>
            <a:r>
              <a:rPr lang="en-US" sz="1000" dirty="0"/>
              <a:t>, which controls the time zone used by </a:t>
            </a:r>
            <a:r>
              <a:rPr lang="en-US" sz="1000" b="1" dirty="0" err="1"/>
              <a:t>pg_cron</a:t>
            </a:r>
            <a:r>
              <a:rPr lang="en-US" sz="1000" b="1" dirty="0"/>
              <a:t> scheduled jobs</a:t>
            </a:r>
            <a:r>
              <a:rPr lang="en-US" sz="1000" dirty="0"/>
              <a:t>. This ensures that jobs run according to a </a:t>
            </a:r>
            <a:r>
              <a:rPr lang="en-US" sz="1000" b="1" dirty="0"/>
              <a:t>specified regional or business time zone</a:t>
            </a:r>
            <a:r>
              <a:rPr lang="en-US" sz="1000" dirty="0"/>
              <a:t>, rather than the server’s default. It is particularly useful for applications that rely on </a:t>
            </a:r>
            <a:r>
              <a:rPr lang="en-US" sz="1000" b="1" dirty="0"/>
              <a:t>localized scheduling or business-hour alignment</a:t>
            </a:r>
            <a:r>
              <a:rPr lang="en-US" sz="1000" dirty="0"/>
              <a:t>. The parameter can be updated via the </a:t>
            </a:r>
            <a:r>
              <a:rPr lang="en-US" sz="1000" b="1" dirty="0"/>
              <a:t>Azure Portal, CLI, ARM, or REST API</a:t>
            </a:r>
            <a:r>
              <a:rPr lang="en-US" sz="1000" dirty="0"/>
              <a:t>, making it easy to manage across environments. Changes apply to </a:t>
            </a:r>
            <a:r>
              <a:rPr lang="en-US" sz="1000" b="1" dirty="0"/>
              <a:t>newly scheduled jobs</a:t>
            </a:r>
            <a:r>
              <a:rPr lang="en-US" sz="1000" dirty="0"/>
              <a:t>, providing better control over scheduling behavior. Overall, this improves flexibility and accuracy for time-based automation.</a:t>
            </a:r>
          </a:p>
        </p:txBody>
      </p:sp>
      <p:sp>
        <p:nvSpPr>
          <p:cNvPr id="3" name="Title 2">
            <a:extLst>
              <a:ext uri="{FF2B5EF4-FFF2-40B4-BE49-F238E27FC236}">
                <a16:creationId xmlns:a16="http://schemas.microsoft.com/office/drawing/2014/main" id="{6D404189-D09F-7319-65A4-C854DAE39C18}"/>
              </a:ext>
            </a:extLst>
          </p:cNvPr>
          <p:cNvSpPr>
            <a:spLocks noGrp="1"/>
          </p:cNvSpPr>
          <p:nvPr>
            <p:ph type="title"/>
          </p:nvPr>
        </p:nvSpPr>
        <p:spPr/>
        <p:txBody>
          <a:bodyPr/>
          <a:lstStyle/>
          <a:p>
            <a:r>
              <a:rPr lang="en-US" sz="1600" dirty="0"/>
              <a:t>Databases Updates</a:t>
            </a:r>
            <a:endParaRPr lang="en-US" dirty="0"/>
          </a:p>
        </p:txBody>
      </p:sp>
      <p:sp>
        <p:nvSpPr>
          <p:cNvPr id="4" name="Text Placeholder 3">
            <a:extLst>
              <a:ext uri="{FF2B5EF4-FFF2-40B4-BE49-F238E27FC236}">
                <a16:creationId xmlns:a16="http://schemas.microsoft.com/office/drawing/2014/main" id="{31526BC4-5663-39B7-E27C-B0862466AEC9}"/>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D6B8B4AC-27C2-D3CB-7412-09FE884DEAB4}"/>
              </a:ext>
            </a:extLst>
          </p:cNvPr>
          <p:cNvSpPr>
            <a:spLocks noGrp="1"/>
          </p:cNvSpPr>
          <p:nvPr>
            <p:ph type="body" sz="quarter" idx="16"/>
          </p:nvPr>
        </p:nvSpPr>
        <p:spPr/>
        <p:txBody>
          <a:bodyPr/>
          <a:lstStyle/>
          <a:p>
            <a:pPr algn="just"/>
            <a:r>
              <a:rPr lang="en-US" dirty="0">
                <a:hlinkClick r:id="rId3"/>
              </a:rPr>
              <a:t>Generally Available: Online migration now uses the </a:t>
            </a:r>
            <a:r>
              <a:rPr lang="en-US" dirty="0" err="1">
                <a:hlinkClick r:id="rId3"/>
              </a:rPr>
              <a:t>pgoutput</a:t>
            </a:r>
            <a:r>
              <a:rPr lang="en-US" dirty="0">
                <a:hlinkClick r:id="rId3"/>
              </a:rPr>
              <a:t> plugin</a:t>
            </a:r>
            <a:endParaRPr lang="en-US" dirty="0"/>
          </a:p>
          <a:p>
            <a:pPr algn="just"/>
            <a:r>
              <a:rPr lang="en-US" dirty="0"/>
              <a:t>You can now use </a:t>
            </a:r>
            <a:r>
              <a:rPr lang="en-US" b="1" dirty="0" err="1"/>
              <a:t>pgoutput</a:t>
            </a:r>
            <a:r>
              <a:rPr lang="en-US" b="1" dirty="0"/>
              <a:t> for online PostgreSQL migrations</a:t>
            </a:r>
            <a:r>
              <a:rPr lang="en-US" dirty="0"/>
              <a:t>, enabling </a:t>
            </a:r>
            <a:r>
              <a:rPr lang="en-US" b="1" dirty="0"/>
              <a:t>minimal-downtime data transfer</a:t>
            </a:r>
            <a:r>
              <a:rPr lang="en-US" dirty="0"/>
              <a:t> with improved reliability and performance. By leveraging PostgreSQL’s native logical replication framework, this approach ensures </a:t>
            </a:r>
            <a:r>
              <a:rPr lang="en-US" b="1" dirty="0"/>
              <a:t>better compatibility with modern PostgreSQL versions and tools</a:t>
            </a:r>
            <a:r>
              <a:rPr lang="en-US" dirty="0"/>
              <a:t>. It reduces reliance on legacy decoding mechanisms, simplifying migration architectures. This makes migrations more future-proof and aligned with ongoing PostgreSQL evolution. Overall, it provides a </a:t>
            </a:r>
            <a:r>
              <a:rPr lang="en-US" b="1" dirty="0"/>
              <a:t>more robust and standardized method for continuous data replication during migrations</a:t>
            </a:r>
            <a:r>
              <a:rPr lang="en-US" dirty="0"/>
              <a:t>.</a:t>
            </a:r>
          </a:p>
        </p:txBody>
      </p:sp>
    </p:spTree>
    <p:extLst>
      <p:ext uri="{BB962C8B-B14F-4D97-AF65-F5344CB8AC3E}">
        <p14:creationId xmlns:p14="http://schemas.microsoft.com/office/powerpoint/2010/main" val="25274936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B30A3B-5B5F-E3BD-A4F6-C2C8DE0B4DB6}"/>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E1FE15C0-EAEC-E6D4-AEAC-82109CB7780D}"/>
              </a:ext>
            </a:extLst>
          </p:cNvPr>
          <p:cNvSpPr>
            <a:spLocks noGrp="1"/>
          </p:cNvSpPr>
          <p:nvPr>
            <p:ph type="body" sz="quarter" idx="10"/>
          </p:nvPr>
        </p:nvSpPr>
        <p:spPr>
          <a:xfrm>
            <a:off x="4433776" y="855081"/>
            <a:ext cx="4365038" cy="1881770"/>
          </a:xfrm>
        </p:spPr>
        <p:txBody>
          <a:bodyPr/>
          <a:lstStyle/>
          <a:p>
            <a:pPr algn="just"/>
            <a:r>
              <a:rPr lang="en-US" sz="1000" dirty="0">
                <a:hlinkClick r:id="rId2"/>
              </a:rPr>
              <a:t>Generally Available: Cosmos DB Mirroring in Microsoft Fabric with private endpoints</a:t>
            </a:r>
            <a:endParaRPr lang="en-US" sz="1000" dirty="0"/>
          </a:p>
          <a:p>
            <a:pPr algn="just"/>
            <a:r>
              <a:rPr lang="en-US" sz="1000" dirty="0"/>
              <a:t>Azure Cosmos DB mirroring to Microsoft Fabric now supports </a:t>
            </a:r>
            <a:r>
              <a:rPr lang="en-US" sz="1000" b="1" dirty="0"/>
              <a:t>private endpoints (GA)</a:t>
            </a:r>
            <a:r>
              <a:rPr lang="en-US" sz="1000" dirty="0"/>
              <a:t>, allowing organizations to replicate operational data while maintaining strict network security. Data can be transferred using </a:t>
            </a:r>
            <a:r>
              <a:rPr lang="en-US" sz="1000" b="1" dirty="0"/>
              <a:t>virtual network restrictions and private connectivity</a:t>
            </a:r>
            <a:r>
              <a:rPr lang="en-US" sz="1000" dirty="0"/>
              <a:t>, ensuring it never traverses the public internet. You can also use </a:t>
            </a:r>
            <a:r>
              <a:rPr lang="en-US" sz="1000" b="1" dirty="0"/>
              <a:t>network ACLs to authorize specific Fabric workspaces</a:t>
            </a:r>
            <a:r>
              <a:rPr lang="en-US" sz="1000" dirty="0"/>
              <a:t>, adding an extra layer of control. This is especially important for </a:t>
            </a:r>
            <a:r>
              <a:rPr lang="en-US" sz="1000" b="1" dirty="0"/>
              <a:t>regulated industries and sensitive workloads</a:t>
            </a:r>
            <a:r>
              <a:rPr lang="en-US" sz="1000" dirty="0"/>
              <a:t> requiring strong isolation. The feature enables secure real-time analytics, dashboards, and AI scenarios without compromising security posture. Overall, it combines </a:t>
            </a:r>
            <a:r>
              <a:rPr lang="en-US" sz="1000" b="1" dirty="0"/>
              <a:t>advanced analytics capabilities with enterprise-grade network security</a:t>
            </a:r>
            <a:r>
              <a:rPr lang="en-US" sz="1000" dirty="0"/>
              <a:t>.</a:t>
            </a:r>
          </a:p>
        </p:txBody>
      </p:sp>
      <p:sp>
        <p:nvSpPr>
          <p:cNvPr id="11" name="Title 10">
            <a:extLst>
              <a:ext uri="{FF2B5EF4-FFF2-40B4-BE49-F238E27FC236}">
                <a16:creationId xmlns:a16="http://schemas.microsoft.com/office/drawing/2014/main" id="{96FF38FE-F7F4-39FA-FD76-EE7224F55359}"/>
              </a:ext>
            </a:extLst>
          </p:cNvPr>
          <p:cNvSpPr>
            <a:spLocks noGrp="1"/>
          </p:cNvSpPr>
          <p:nvPr>
            <p:ph type="title"/>
          </p:nvPr>
        </p:nvSpPr>
        <p:spPr/>
        <p:txBody>
          <a:bodyPr/>
          <a:lstStyle/>
          <a:p>
            <a:r>
              <a:rPr lang="en-US" sz="1800" dirty="0"/>
              <a:t>Databases Updates</a:t>
            </a:r>
            <a:endParaRPr lang="en-US" dirty="0"/>
          </a:p>
        </p:txBody>
      </p:sp>
      <p:sp>
        <p:nvSpPr>
          <p:cNvPr id="13" name="Text Placeholder 12">
            <a:extLst>
              <a:ext uri="{FF2B5EF4-FFF2-40B4-BE49-F238E27FC236}">
                <a16:creationId xmlns:a16="http://schemas.microsoft.com/office/drawing/2014/main" id="{7ADF7F88-4577-68E6-C1CF-62135B255195}"/>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AC75C4F3-4834-7F0D-397C-729C14BBA3BD}"/>
              </a:ext>
            </a:extLst>
          </p:cNvPr>
          <p:cNvSpPr>
            <a:spLocks noGrp="1"/>
          </p:cNvSpPr>
          <p:nvPr>
            <p:ph type="body" sz="quarter" idx="16"/>
          </p:nvPr>
        </p:nvSpPr>
        <p:spPr/>
        <p:txBody>
          <a:bodyPr/>
          <a:lstStyle/>
          <a:p>
            <a:r>
              <a:rPr lang="en-US" dirty="0">
                <a:hlinkClick r:id="rId3"/>
              </a:rPr>
              <a:t>Generally Available: Azure SQL updates for late-March 2026</a:t>
            </a:r>
            <a:endParaRPr lang="en-US" dirty="0"/>
          </a:p>
          <a:p>
            <a:r>
              <a:rPr lang="en-US" dirty="0"/>
              <a:t>In late-March 2026, the following updates and enhancements were made to Azure SQL:  </a:t>
            </a:r>
          </a:p>
          <a:p>
            <a:pPr marL="171450" indent="-171450">
              <a:buFont typeface="Arial" panose="020B0604020202020204" pitchFamily="34" charset="0"/>
              <a:buChar char="•"/>
            </a:pPr>
            <a:r>
              <a:rPr lang="en-US" dirty="0"/>
              <a:t>Configure built-in SQL code analysis rules and severity settings without editing project XML.  </a:t>
            </a:r>
          </a:p>
          <a:p>
            <a:pPr marL="171450" indent="-171450">
              <a:buFont typeface="Arial" panose="020B0604020202020204" pitchFamily="34" charset="0"/>
              <a:buChar char="•"/>
            </a:pPr>
            <a:r>
              <a:rPr lang="en-US" dirty="0"/>
              <a:t>Use Fabric connectivity and provisioning options to connect with your Fabric workspaces and databases from the MSSQL extension while also creating a new database.  </a:t>
            </a:r>
          </a:p>
          <a:p>
            <a:pPr marL="171450" indent="-171450">
              <a:buFont typeface="Arial" panose="020B0604020202020204" pitchFamily="34" charset="0"/>
              <a:buChar char="•"/>
            </a:pPr>
            <a:r>
              <a:rPr lang="en-US" dirty="0"/>
              <a:t>Use Data-tier Application in the MSSQL extension to import and export .</a:t>
            </a:r>
            <a:r>
              <a:rPr lang="en-US" dirty="0" err="1"/>
              <a:t>dacpac</a:t>
            </a:r>
            <a:r>
              <a:rPr lang="en-US" dirty="0"/>
              <a:t> and .</a:t>
            </a:r>
            <a:r>
              <a:rPr lang="en-US" dirty="0" err="1"/>
              <a:t>bacpac</a:t>
            </a:r>
            <a:r>
              <a:rPr lang="en-US" dirty="0"/>
              <a:t> files.  </a:t>
            </a:r>
          </a:p>
          <a:p>
            <a:endParaRPr lang="en-US" dirty="0"/>
          </a:p>
          <a:p>
            <a:endParaRPr lang="en-US" dirty="0"/>
          </a:p>
        </p:txBody>
      </p:sp>
    </p:spTree>
    <p:extLst>
      <p:ext uri="{BB962C8B-B14F-4D97-AF65-F5344CB8AC3E}">
        <p14:creationId xmlns:p14="http://schemas.microsoft.com/office/powerpoint/2010/main" val="21998661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xEl>
                                              <p:pRg st="0" end="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ML &amp; AI &amp; IOT</a:t>
            </a:r>
          </a:p>
        </p:txBody>
      </p:sp>
    </p:spTree>
    <p:extLst>
      <p:ext uri="{BB962C8B-B14F-4D97-AF65-F5344CB8AC3E}">
        <p14:creationId xmlns:p14="http://schemas.microsoft.com/office/powerpoint/2010/main" val="35148783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591E86-1EBC-4F6B-6E64-6EB5FD91F4AC}"/>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914285B5-6219-941D-B080-ACB23944E4D0}"/>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F0107EA6-8DB4-F344-F529-449034C075F0}"/>
              </a:ext>
            </a:extLst>
          </p:cNvPr>
          <p:cNvSpPr>
            <a:spLocks noGrp="1"/>
          </p:cNvSpPr>
          <p:nvPr>
            <p:ph type="title"/>
          </p:nvPr>
        </p:nvSpPr>
        <p:spPr/>
        <p:txBody>
          <a:bodyPr/>
          <a:lstStyle/>
          <a:p>
            <a:r>
              <a:rPr lang="en-US" sz="1800" dirty="0"/>
              <a:t>ML &amp; AI &amp; IOT Updates</a:t>
            </a:r>
            <a:endParaRPr lang="en-US" dirty="0"/>
          </a:p>
        </p:txBody>
      </p:sp>
      <p:sp>
        <p:nvSpPr>
          <p:cNvPr id="13" name="Text Placeholder 12">
            <a:extLst>
              <a:ext uri="{FF2B5EF4-FFF2-40B4-BE49-F238E27FC236}">
                <a16:creationId xmlns:a16="http://schemas.microsoft.com/office/drawing/2014/main" id="{DA4EB956-5F49-48E0-B1D6-AE1A636CECB0}"/>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383DE5A4-66B0-B9DC-0E46-93B58BC9C3FE}"/>
              </a:ext>
            </a:extLst>
          </p:cNvPr>
          <p:cNvSpPr>
            <a:spLocks noGrp="1"/>
          </p:cNvSpPr>
          <p:nvPr>
            <p:ph type="body" sz="quarter" idx="16"/>
          </p:nvPr>
        </p:nvSpPr>
        <p:spPr/>
        <p:txBody>
          <a:bodyPr/>
          <a:lstStyle/>
          <a:p>
            <a:pPr algn="just"/>
            <a:r>
              <a:rPr lang="en-US" dirty="0">
                <a:hlinkClick r:id="rId2"/>
              </a:rPr>
              <a:t>Announcing Priority Processing in Microsoft Foundry for Performance-Sensitive AI Workloads</a:t>
            </a:r>
            <a:endParaRPr lang="en-US" dirty="0"/>
          </a:p>
          <a:p>
            <a:pPr algn="just"/>
            <a:r>
              <a:rPr lang="en-US" dirty="0"/>
              <a:t>Priority Processing in </a:t>
            </a:r>
            <a:r>
              <a:rPr lang="en-US" b="1" dirty="0"/>
              <a:t>Microsoft Foundry</a:t>
            </a:r>
            <a:r>
              <a:rPr lang="en-US" dirty="0"/>
              <a:t> is now generally available, enabling organizations to run </a:t>
            </a:r>
            <a:r>
              <a:rPr lang="en-US" b="1" dirty="0"/>
              <a:t>latency-sensitive AI workloads with predictable performance</a:t>
            </a:r>
            <a:r>
              <a:rPr lang="en-US" dirty="0"/>
              <a:t>. It prioritizes real-time inference requests, ensuring consistent response times even during periods of high or mixed workload demand. Unlike traditional approaches, it operates on a </a:t>
            </a:r>
            <a:r>
              <a:rPr lang="en-US" b="1" dirty="0"/>
              <a:t>pay-per-call model</a:t>
            </a:r>
            <a:r>
              <a:rPr lang="en-US" dirty="0"/>
              <a:t>, removing the need for upfront capacity commitments. This makes it ideal for </a:t>
            </a:r>
            <a:r>
              <a:rPr lang="en-US" b="1" dirty="0"/>
              <a:t>interactive AI scenarios</a:t>
            </a:r>
            <a:r>
              <a:rPr lang="en-US" dirty="0"/>
              <a:t> such as copilots, real-time decisioning, and agent workflows. The service dynamically allocates compute to critical requests, preventing latency spikes caused by background jobs. Overall, it helps enterprises deliver </a:t>
            </a:r>
            <a:r>
              <a:rPr lang="en-US" b="1" dirty="0"/>
              <a:t>reliable, production-grade AI experiences with flexible cost control</a:t>
            </a:r>
            <a:r>
              <a:rPr lang="en-US" dirty="0"/>
              <a:t>.</a:t>
            </a:r>
          </a:p>
        </p:txBody>
      </p:sp>
    </p:spTree>
    <p:extLst>
      <p:ext uri="{BB962C8B-B14F-4D97-AF65-F5344CB8AC3E}">
        <p14:creationId xmlns:p14="http://schemas.microsoft.com/office/powerpoint/2010/main" val="38499619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Information</a:t>
            </a:r>
          </a:p>
        </p:txBody>
      </p:sp>
    </p:spTree>
    <p:extLst>
      <p:ext uri="{BB962C8B-B14F-4D97-AF65-F5344CB8AC3E}">
        <p14:creationId xmlns:p14="http://schemas.microsoft.com/office/powerpoint/2010/main" val="12760416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D9E4E97-A385-759E-BD70-47D0B91CA39E}"/>
              </a:ext>
            </a:extLst>
          </p:cNvPr>
          <p:cNvSpPr>
            <a:spLocks noGrp="1"/>
          </p:cNvSpPr>
          <p:nvPr>
            <p:ph type="body" sz="quarter" idx="10"/>
          </p:nvPr>
        </p:nvSpPr>
        <p:spPr>
          <a:xfrm>
            <a:off x="342900" y="855080"/>
            <a:ext cx="8455914" cy="3774069"/>
          </a:xfrm>
        </p:spPr>
        <p:txBody>
          <a:bodyPr/>
          <a:lstStyle/>
          <a:p>
            <a:r>
              <a:rPr lang="en-US" dirty="0">
                <a:hlinkClick r:id="rId2"/>
              </a:rPr>
              <a:t>Azure Times GitHub Repo</a:t>
            </a:r>
            <a:endParaRPr lang="en-US" dirty="0"/>
          </a:p>
        </p:txBody>
      </p:sp>
      <p:sp>
        <p:nvSpPr>
          <p:cNvPr id="3" name="Title 2">
            <a:extLst>
              <a:ext uri="{FF2B5EF4-FFF2-40B4-BE49-F238E27FC236}">
                <a16:creationId xmlns:a16="http://schemas.microsoft.com/office/drawing/2014/main" id="{78BEF490-0130-4022-0399-BE422CD7CB94}"/>
              </a:ext>
            </a:extLst>
          </p:cNvPr>
          <p:cNvSpPr>
            <a:spLocks noGrp="1"/>
          </p:cNvSpPr>
          <p:nvPr>
            <p:ph type="title"/>
          </p:nvPr>
        </p:nvSpPr>
        <p:spPr/>
        <p:txBody>
          <a:bodyPr/>
          <a:lstStyle/>
          <a:p>
            <a:r>
              <a:rPr lang="en-US" sz="1800" dirty="0"/>
              <a:t>Information</a:t>
            </a:r>
            <a:br>
              <a:rPr lang="en-US" sz="1800" dirty="0"/>
            </a:br>
            <a:endParaRPr lang="en-US" dirty="0"/>
          </a:p>
        </p:txBody>
      </p:sp>
    </p:spTree>
    <p:extLst>
      <p:ext uri="{BB962C8B-B14F-4D97-AF65-F5344CB8AC3E}">
        <p14:creationId xmlns:p14="http://schemas.microsoft.com/office/powerpoint/2010/main" val="7476815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Questions</a:t>
            </a:r>
          </a:p>
        </p:txBody>
      </p:sp>
    </p:spTree>
    <p:extLst>
      <p:ext uri="{BB962C8B-B14F-4D97-AF65-F5344CB8AC3E}">
        <p14:creationId xmlns:p14="http://schemas.microsoft.com/office/powerpoint/2010/main" val="2482707150"/>
      </p:ext>
    </p:extLst>
  </p:cSld>
  <p:clrMapOvr>
    <a:masterClrMapping/>
  </p:clrMapOvr>
</p:sld>
</file>

<file path=ppt/theme/theme1.xml><?xml version="1.0" encoding="utf-8"?>
<a:theme xmlns:a="http://schemas.openxmlformats.org/drawingml/2006/main" name="Continuum Theme">
  <a:themeElements>
    <a:clrScheme name="EPAM Continuum Final">
      <a:dk1>
        <a:srgbClr val="222222"/>
      </a:dk1>
      <a:lt1>
        <a:srgbClr val="FFFFFF"/>
      </a:lt1>
      <a:dk2>
        <a:srgbClr val="A0A0A0"/>
      </a:dk2>
      <a:lt2>
        <a:srgbClr val="DBDAD6"/>
      </a:lt2>
      <a:accent1>
        <a:srgbClr val="545454"/>
      </a:accent1>
      <a:accent2>
        <a:srgbClr val="FFC000"/>
      </a:accent2>
      <a:accent3>
        <a:srgbClr val="38C2D7"/>
      </a:accent3>
      <a:accent4>
        <a:srgbClr val="445464"/>
      </a:accent4>
      <a:accent5>
        <a:srgbClr val="008ACE"/>
      </a:accent5>
      <a:accent6>
        <a:srgbClr val="E53B2E"/>
      </a:accent6>
      <a:hlink>
        <a:srgbClr val="000000"/>
      </a:hlink>
      <a:folHlink>
        <a:srgbClr val="0000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accent1"/>
        </a:solidFill>
        <a:ln>
          <a:noFill/>
        </a:ln>
        <a:effectLst/>
      </a:spPr>
      <a:bodyPr wrap="none" rtlCol="0" anchor="ctr"/>
      <a:lstStyle>
        <a:defPPr algn="ctr">
          <a:defRPr sz="2400" dirty="0" err="1" smtClean="0">
            <a:solidFill>
              <a:schemeClr val="bg1"/>
            </a:solidFill>
            <a:latin typeface="Calibri Light" panose="020F0302020204030204" pitchFamily="34" charset="0"/>
            <a:ea typeface="Human Sans ExtraLight" charset="0"/>
            <a:cs typeface="Human Sans ExtraLight" charset="0"/>
          </a:defRPr>
        </a:defPPr>
      </a:lstStyle>
    </a:spDef>
    <a:lnDef>
      <a:spPr>
        <a:ln w="635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nSpc>
            <a:spcPct val="110000"/>
          </a:lnSpc>
          <a:spcBef>
            <a:spcPts val="600"/>
          </a:spcBef>
          <a:defRPr sz="1200" dirty="0" err="1" smtClean="0">
            <a:ea typeface="Human Sans" charset="0"/>
            <a:cs typeface="Human Sans" charset="0"/>
          </a:defRPr>
        </a:defPPr>
      </a:lstStyle>
    </a:txDef>
  </a:objectDefaults>
  <a:extraClrSchemeLst/>
  <a:extLst>
    <a:ext uri="{05A4C25C-085E-4340-85A3-A5531E510DB2}">
      <thm15:themeFamily xmlns:thm15="http://schemas.microsoft.com/office/thememl/2012/main" name="Continuum_Master_v1.1" id="{D2F91407-39AD-2344-8F42-01B4155FF2FD}" vid="{09F1F252-BD3A-0A45-9F6B-518524EA32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C3A9FD6A1D2BC41832AF270024651C7" ma:contentTypeVersion="6" ma:contentTypeDescription="Create a new document." ma:contentTypeScope="" ma:versionID="0421700c9180782018be286cde8a21da">
  <xsd:schema xmlns:xsd="http://www.w3.org/2001/XMLSchema" xmlns:xs="http://www.w3.org/2001/XMLSchema" xmlns:p="http://schemas.microsoft.com/office/2006/metadata/properties" xmlns:ns2="2e7e23d5-2c80-4164-89d2-1708db4037b8" xmlns:ns3="4e7ac07f-2cd6-47aa-8863-e3015989625c" targetNamespace="http://schemas.microsoft.com/office/2006/metadata/properties" ma:root="true" ma:fieldsID="541d07e3f89946b63e942fc7370dae48" ns2:_="" ns3:_="">
    <xsd:import namespace="2e7e23d5-2c80-4164-89d2-1708db4037b8"/>
    <xsd:import namespace="4e7ac07f-2cd6-47aa-8863-e3015989625c"/>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e7e23d5-2c80-4164-89d2-1708db4037b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e7ac07f-2cd6-47aa-8863-e3015989625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E04B39D-0CBA-4F8F-8809-785207E87965}">
  <ds:schemaRefs>
    <ds:schemaRef ds:uri="http://schemas.microsoft.com/sharepoint/v3/contenttype/forms"/>
  </ds:schemaRefs>
</ds:datastoreItem>
</file>

<file path=customXml/itemProps2.xml><?xml version="1.0" encoding="utf-8"?>
<ds:datastoreItem xmlns:ds="http://schemas.openxmlformats.org/officeDocument/2006/customXml" ds:itemID="{25D63988-C0DC-4185-91C3-6687DBA2F390}">
  <ds:schemaRefs>
    <ds:schemaRef ds:uri="2e7e23d5-2c80-4164-89d2-1708db4037b8"/>
    <ds:schemaRef ds:uri="4e7ac07f-2cd6-47aa-8863-e3015989625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4DE7C614-AA74-4D4D-9D2D-D96DA5126C78}">
  <ds:schemaRefs>
    <ds:schemaRef ds:uri="http://schemas.microsoft.com/office/2006/metadata/properties"/>
    <ds:schemaRef ds:uri="http://schemas.microsoft.com/office/2006/documentManagement/types"/>
    <ds:schemaRef ds:uri="http://purl.org/dc/terms/"/>
    <ds:schemaRef ds:uri="http://purl.org/dc/elements/1.1/"/>
    <ds:schemaRef ds:uri="http://schemas.microsoft.com/office/infopath/2007/PartnerControls"/>
    <ds:schemaRef ds:uri="2e7e23d5-2c80-4164-89d2-1708db4037b8"/>
    <ds:schemaRef ds:uri="http://purl.org/dc/dcmitype/"/>
    <ds:schemaRef ds:uri="http://schemas.openxmlformats.org/package/2006/metadata/core-properties"/>
    <ds:schemaRef ds:uri="4e7ac07f-2cd6-47aa-8863-e3015989625c"/>
    <ds:schemaRef ds:uri="http://www.w3.org/XML/1998/namespace"/>
  </ds:schemaRefs>
</ds:datastoreItem>
</file>

<file path=docMetadata/LabelInfo.xml><?xml version="1.0" encoding="utf-8"?>
<clbl:labelList xmlns:clbl="http://schemas.microsoft.com/office/2020/mipLabelMetadata">
  <clbl:label id="{2590e1b2-66ea-4d45-b1aa-185c322e3ba5}" enabled="1" method="Standard" siteId="{40a64d0b-f2f9-4a34-b1b3-0992ac0e5e4e}" contentBits="0" removed="0"/>
</clbl:labelList>
</file>

<file path=docProps/app.xml><?xml version="1.0" encoding="utf-8"?>
<Properties xmlns="http://schemas.openxmlformats.org/officeDocument/2006/extended-properties" xmlns:vt="http://schemas.openxmlformats.org/officeDocument/2006/docPropsVTypes">
  <Template>Covers</Template>
  <TotalTime>1986</TotalTime>
  <Words>3151</Words>
  <Application>Microsoft Office PowerPoint</Application>
  <PresentationFormat>On-screen Show (16:9)</PresentationFormat>
  <Paragraphs>109</Paragraphs>
  <Slides>26</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Arial</vt:lpstr>
      <vt:lpstr>Calibri</vt:lpstr>
      <vt:lpstr>Human Sans</vt:lpstr>
      <vt:lpstr>Human Sans Regular</vt:lpstr>
      <vt:lpstr>Continuum Theme</vt:lpstr>
      <vt:lpstr>Azure Times #199</vt:lpstr>
      <vt:lpstr>PowerPoint Presentation</vt:lpstr>
      <vt:lpstr>Security &amp; Identity Updates</vt:lpstr>
      <vt:lpstr>Security &amp; Identity Updates</vt:lpstr>
      <vt:lpstr>PowerPoint Presentation</vt:lpstr>
      <vt:lpstr>Management &amp; Governance Updates</vt:lpstr>
      <vt:lpstr>Management &amp; Governance Updates</vt:lpstr>
      <vt:lpstr>Management &amp; Governance Updates</vt:lpstr>
      <vt:lpstr>PowerPoint Presentation</vt:lpstr>
      <vt:lpstr>Compute Updates</vt:lpstr>
      <vt:lpstr>Compute Updates</vt:lpstr>
      <vt:lpstr>Compute Updates</vt:lpstr>
      <vt:lpstr>Compute Updates</vt:lpstr>
      <vt:lpstr>Compute Updates</vt:lpstr>
      <vt:lpstr>Compute Updates</vt:lpstr>
      <vt:lpstr>PowerPoint Presentation</vt:lpstr>
      <vt:lpstr>Databases Updates</vt:lpstr>
      <vt:lpstr>Databases Updates</vt:lpstr>
      <vt:lpstr>Databases Updates</vt:lpstr>
      <vt:lpstr>Databases Updates</vt:lpstr>
      <vt:lpstr>Databases Updates</vt:lpstr>
      <vt:lpstr>PowerPoint Presentation</vt:lpstr>
      <vt:lpstr>ML &amp; AI &amp; IOT Updates</vt:lpstr>
      <vt:lpstr>PowerPoint Presentation</vt:lpstr>
      <vt:lpstr>Information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Maksim Admin Rotar</cp:lastModifiedBy>
  <cp:revision>144</cp:revision>
  <dcterms:created xsi:type="dcterms:W3CDTF">2018-01-26T19:23:30Z</dcterms:created>
  <dcterms:modified xsi:type="dcterms:W3CDTF">2026-03-29T04:46:16Z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0x0101008C3A9FD6A1D2BC41832AF270024651C7</vt:lpwstr>
  </property>
</Properties>
</file>