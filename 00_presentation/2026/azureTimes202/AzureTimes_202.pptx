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32"/>
  </p:notesMasterIdLst>
  <p:handoutMasterIdLst>
    <p:handoutMasterId r:id="rId33"/>
  </p:handoutMasterIdLst>
  <p:sldIdLst>
    <p:sldId id="2142532340" r:id="rId5"/>
    <p:sldId id="2146847045" r:id="rId6"/>
    <p:sldId id="10657" r:id="rId7"/>
    <p:sldId id="2146847046" r:id="rId8"/>
    <p:sldId id="2146847089" r:id="rId9"/>
    <p:sldId id="2146847048" r:id="rId10"/>
    <p:sldId id="2146847049" r:id="rId11"/>
    <p:sldId id="2146847132" r:id="rId12"/>
    <p:sldId id="2146847050" r:id="rId13"/>
    <p:sldId id="2146847096" r:id="rId14"/>
    <p:sldId id="2146847135" r:id="rId15"/>
    <p:sldId id="2146847136" r:id="rId16"/>
    <p:sldId id="2146847156" r:id="rId17"/>
    <p:sldId id="2146847052" r:id="rId18"/>
    <p:sldId id="2146847100" r:id="rId19"/>
    <p:sldId id="2146847137" r:id="rId20"/>
    <p:sldId id="2146847138" r:id="rId21"/>
    <p:sldId id="2146847139" r:id="rId22"/>
    <p:sldId id="2146847054" r:id="rId23"/>
    <p:sldId id="2146847103" r:id="rId24"/>
    <p:sldId id="2146847141" r:id="rId25"/>
    <p:sldId id="2146847058" r:id="rId26"/>
    <p:sldId id="2146847146" r:id="rId27"/>
    <p:sldId id="2146847147" r:id="rId28"/>
    <p:sldId id="2146847085" r:id="rId29"/>
    <p:sldId id="2146847084" r:id="rId30"/>
    <p:sldId id="2146847064" r:id="rId31"/>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Lst>
        </p14:section>
        <p14:section name="Security &amp; Identity" id="{1AA42572-B3BD-44F7-813B-C2C647DDBB3C}">
          <p14:sldIdLst>
            <p14:sldId id="2146847046"/>
            <p14:sldId id="2146847089"/>
          </p14:sldIdLst>
        </p14:section>
        <p14:section name="Management &amp; Governance" id="{34181601-6D48-4406-A525-C7B5A12C6C5B}">
          <p14:sldIdLst>
            <p14:sldId id="2146847048"/>
            <p14:sldId id="2146847049"/>
            <p14:sldId id="2146847132"/>
          </p14:sldIdLst>
        </p14:section>
        <p14:section name="Compute" id="{05AA80BB-8802-49AB-8336-A884227CE2F7}">
          <p14:sldIdLst>
            <p14:sldId id="2146847050"/>
            <p14:sldId id="2146847096"/>
            <p14:sldId id="2146847135"/>
            <p14:sldId id="2146847136"/>
            <p14:sldId id="2146847156"/>
          </p14:sldIdLst>
        </p14:section>
        <p14:section name="Storage &amp; Data" id="{1F159046-CE0A-45BC-9D5B-6E6C95980F78}">
          <p14:sldIdLst>
            <p14:sldId id="2146847052"/>
            <p14:sldId id="2146847100"/>
            <p14:sldId id="2146847137"/>
            <p14:sldId id="2146847138"/>
            <p14:sldId id="2146847139"/>
          </p14:sldIdLst>
        </p14:section>
        <p14:section name="Databases" id="{AEAFAE72-AD56-48F3-926B-38BAE269038F}">
          <p14:sldIdLst>
            <p14:sldId id="2146847054"/>
            <p14:sldId id="2146847103"/>
            <p14:sldId id="2146847141"/>
          </p14:sldIdLst>
        </p14:section>
        <p14:section name="Integration" id="{ACBD46A3-6F1C-451B-A154-0A056E0DEFF6}">
          <p14:sldIdLst/>
        </p14:section>
        <p14:section name="ML &amp; AI &amp; IOT" id="{F4E1EAF1-55E9-4CA4-8ADC-28B69C1D66D2}">
          <p14:sldIdLst>
            <p14:sldId id="2146847058"/>
            <p14:sldId id="2146847146"/>
            <p14:sldId id="2146847147"/>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94"/>
  </p:normalViewPr>
  <p:slideViewPr>
    <p:cSldViewPr snapToGrid="0">
      <p:cViewPr varScale="1">
        <p:scale>
          <a:sx n="128" d="100"/>
          <a:sy n="128" d="100"/>
        </p:scale>
        <p:origin x="2988" y="33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presProps" Target="presProps.xml"/><Relationship Id="rId8" Type="http://schemas.openxmlformats.org/officeDocument/2006/relationships/slide" Target="slides/slide4.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4/18/2026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4/18/2026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azure.microsoft.com/ru-ru/updates?id=560207" TargetMode="External"/><Relationship Id="rId2" Type="http://schemas.openxmlformats.org/officeDocument/2006/relationships/hyperlink" Target="https://azure.microsoft.com/ru-ru/updates?id=560162"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s://techcommunity.microsoft.com/blog/microsoftdefenderforoffice365blog/announcing-public-preview-security-copilot%E2%80%99s-email-summary-in-microsoft-defender/4510357" TargetMode="Externa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azure.microsoft.com/ru-ru/updates?id=560241" TargetMode="External"/><Relationship Id="rId2" Type="http://schemas.openxmlformats.org/officeDocument/2006/relationships/hyperlink" Target="https://techcommunity.microsoft.com/blog/azurearcblog/bringing-ai-to-the-factory-floor-with-foundry-local---now-in-public-preview-on-a/4509951"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hyperlink" Target="https://techcommunity.microsoft.com/blog/azuregovernanceandmanagementblog/announcing-one%E2%80%91command-backup-configuration-for-aks-with-azure-backup/4511852"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azure.microsoft.com/ru-ru/updates?id=560119" TargetMode="External"/><Relationship Id="rId2" Type="http://schemas.openxmlformats.org/officeDocument/2006/relationships/hyperlink" Target="https://techcommunity.microsoft.com/blog/azurevirtualdesktopblog/app-attach-in-azure-virtual-desktop-now-supports-windows-server-2025-and-windows/4511729"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azure.microsoft.com/ru-ru/updates?id=560521" TargetMode="External"/><Relationship Id="rId2" Type="http://schemas.openxmlformats.org/officeDocument/2006/relationships/hyperlink" Target="https://azure.microsoft.com/ru-ru/updates?id=560590"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azure.microsoft.com/ru-ru/updates?id=557928" TargetMode="External"/><Relationship Id="rId2" Type="http://schemas.openxmlformats.org/officeDocument/2006/relationships/hyperlink" Target="https://azure.microsoft.com/ru-ru/updates?id=559311"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azure.microsoft.com/ru-ru/updates?id=559751" TargetMode="External"/><Relationship Id="rId2" Type="http://schemas.openxmlformats.org/officeDocument/2006/relationships/hyperlink" Target="https://azure.microsoft.com/ru-ru/updates?id=559395"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https://azure.microsoft.com/ru-ru/updates?id=559756"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hyperlink" Target="https://azure.microsoft.com/ru-ru/updates?id=560198" TargetMode="External"/><Relationship Id="rId2" Type="http://schemas.openxmlformats.org/officeDocument/2006/relationships/hyperlink" Target="https://azure.microsoft.com/ru-ru/updates?id=557828"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azure.microsoft.com/ru-ru/updates?id=558483" TargetMode="External"/><Relationship Id="rId2" Type="http://schemas.openxmlformats.org/officeDocument/2006/relationships/hyperlink" Target="https://azure.microsoft.com/ru-ru/updates?id=559761" TargetMode="Externa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hyperlink" Target="https://azure.microsoft.com/ru-ru/updates?id=560001" TargetMode="External"/><Relationship Id="rId2" Type="http://schemas.openxmlformats.org/officeDocument/2006/relationships/hyperlink" Target="https://azure.microsoft.com/ru-ru/updates?id=559746"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https://techcommunity.microsoft.com/blog/sqlserver/announcing-sql-server-management-studio-22-5/4511289"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hyperlink" Target="https://techcommunity.microsoft.com/blog/adforpostgresql/cascading-read-replicas-now-generally-available/4510610"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devblogs.microsoft.com/foundry/whats-new-in-foundry-finetune-april-2026/" TargetMode="External"/><Relationship Id="rId2" Type="http://schemas.openxmlformats.org/officeDocument/2006/relationships/hyperlink" Target="https://techcommunity.microsoft.com/blog/azure-ai-foundry-blog/now-in-foundry-microsoft-harrier-and-nvidia-egm-8b/4510851"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hyperlink" Target="https://techcommunity.microsoft.com/blog/azure-ai-foundry-blog/claude-opus-4-7-is-available-on-microsoft-foundry/4511759" TargetMode="Externa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azuretimes.org/" TargetMode="External"/><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#202</a:t>
            </a:r>
          </a:p>
        </p:txBody>
      </p:sp>
      <p:sp>
        <p:nvSpPr>
          <p:cNvPr id="4" name="Text Placeholder 3"/>
          <p:cNvSpPr>
            <a:spLocks noGrp="1"/>
          </p:cNvSpPr>
          <p:nvPr>
            <p:ph type="body" sz="quarter" idx="11"/>
          </p:nvPr>
        </p:nvSpPr>
        <p:spPr/>
        <p:txBody>
          <a:bodyPr/>
          <a:lstStyle/>
          <a:p>
            <a:r>
              <a:rPr lang="en-US" spc="300" dirty="0"/>
              <a:t>April 17, 2026</a:t>
            </a:r>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Networking </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r>
              <a:rPr lang="en-US" sz="1000" dirty="0">
                <a:hlinkClick r:id="rId2"/>
              </a:rPr>
              <a:t>Public Preview: Managed identity support for graphical session recording</a:t>
            </a:r>
            <a:endParaRPr lang="en-US" sz="1000" dirty="0"/>
          </a:p>
          <a:p>
            <a:r>
              <a:rPr lang="en-US" sz="1000" dirty="0"/>
              <a:t>Azure Bastion now supports </a:t>
            </a:r>
            <a:r>
              <a:rPr lang="en-US" sz="1000" b="1" dirty="0"/>
              <a:t>managed identities for graphical session recording</a:t>
            </a:r>
            <a:r>
              <a:rPr lang="en-US" sz="1000" dirty="0"/>
              <a:t>, improving security and simplifying operations. Instead of using SAS tokens, Bastion can authenticate directly to storage accounts using </a:t>
            </a:r>
            <a:r>
              <a:rPr lang="en-US" sz="1000" b="1" dirty="0"/>
              <a:t>identity-based access</a:t>
            </a:r>
            <a:r>
              <a:rPr lang="en-US" sz="1000" dirty="0"/>
              <a:t>. This removes the need to manage token creation, rotation, and expiration. Recordings can be securely written to a specified storage container using the configured managed identity. The update enhances </a:t>
            </a:r>
            <a:r>
              <a:rPr lang="en-US" sz="1000" b="1" dirty="0"/>
              <a:t>security posture by eliminating shared credentials</a:t>
            </a:r>
            <a:r>
              <a:rPr lang="en-US" sz="1000" dirty="0"/>
              <a:t>. Overall, it provides a more </a:t>
            </a:r>
            <a:r>
              <a:rPr lang="en-US" sz="1000" b="1" dirty="0"/>
              <a:t>secure and scalable approach to session recording management</a:t>
            </a:r>
            <a:r>
              <a:rPr lang="en-US" sz="1000" dirty="0"/>
              <a:t>.</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r>
              <a:rPr lang="en-US" dirty="0">
                <a:hlinkClick r:id="rId3"/>
              </a:rPr>
              <a:t>Public Preview: StandardV2 NAT Gateway as an outbound type for AKS</a:t>
            </a:r>
            <a:endParaRPr lang="en-US" dirty="0"/>
          </a:p>
          <a:p>
            <a:pPr algn="just"/>
            <a:r>
              <a:rPr lang="en-US" dirty="0"/>
              <a:t>Azure Kubernetes Service (AKS) now supports StandardV2 NAT Gateway as an outbound type, for both managed and bring-your-own </a:t>
            </a:r>
            <a:r>
              <a:rPr lang="en-US" dirty="0" err="1"/>
              <a:t>VNets</a:t>
            </a:r>
            <a:r>
              <a:rPr lang="en-US" dirty="0"/>
              <a:t>. This enables zone-redundant outbound connectivity, improving resilience and availability. It also provides high throughput up to 100 Gbps, supporting large-scale and high-performance workloads. Additionally, the feature introduces IPv6 outbound support, enhancing modern networking capabilities. Overall, this update improves scalability, reliability, and flexibility of outbound traffic management in AKS.</a:t>
            </a:r>
          </a:p>
        </p:txBody>
      </p:sp>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Announcing Public Preview: Security Copilot’s Email Summary in Microsoft Defender</a:t>
            </a:r>
            <a:endParaRPr lang="en-US" dirty="0"/>
          </a:p>
          <a:p>
            <a:pPr algn="just"/>
            <a:r>
              <a:rPr lang="en-US" dirty="0"/>
              <a:t>Microsoft has introduced </a:t>
            </a:r>
            <a:r>
              <a:rPr lang="en-US" b="1" dirty="0"/>
              <a:t>Security Copilot Email summary (public preview)</a:t>
            </a:r>
            <a:r>
              <a:rPr lang="en-US" dirty="0"/>
              <a:t> to enhance email threat investigation using AI. This capability consolidates scattered information—such as metadata, timelines, URLs, and attachments—into a </a:t>
            </a:r>
            <a:r>
              <a:rPr lang="en-US" b="1" dirty="0"/>
              <a:t>clear, actionable summary</a:t>
            </a:r>
            <a:r>
              <a:rPr lang="en-US" dirty="0"/>
              <a:t>. It helps security analysts quickly understand what happened, reducing investigation time and complexity. The feature leverages </a:t>
            </a:r>
            <a:r>
              <a:rPr lang="en-US" b="1" dirty="0"/>
              <a:t>generative and agentic AI</a:t>
            </a:r>
            <a:r>
              <a:rPr lang="en-US" dirty="0"/>
              <a:t> to improve visibility and decision-making in the SOC. It is integrated into Microsoft 365 E5, bringing AI directly into existing workflows.</a:t>
            </a:r>
          </a:p>
        </p:txBody>
      </p:sp>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Bringing AI to the Factory Floor with Foundry Local - Now in Public Preview on Azure Local</a:t>
            </a:r>
            <a:endParaRPr lang="en-US" sz="1000" dirty="0"/>
          </a:p>
          <a:p>
            <a:pPr algn="just"/>
            <a:r>
              <a:rPr lang="en-US" sz="1000" dirty="0"/>
              <a:t>Microsoft is expanding Foundry Local to support </a:t>
            </a:r>
            <a:r>
              <a:rPr lang="en-US" sz="1000" b="1" dirty="0"/>
              <a:t>single-node Azure Local deployments (preview)</a:t>
            </a:r>
            <a:r>
              <a:rPr lang="en-US" sz="1000" dirty="0"/>
              <a:t>, enabling AI workloads to run directly at the edge without cloud dependency. This is designed for </a:t>
            </a:r>
            <a:r>
              <a:rPr lang="en-US" sz="1000" b="1" dirty="0"/>
              <a:t>industrial and regulated environments</a:t>
            </a:r>
            <a:r>
              <a:rPr lang="en-US" sz="1000" dirty="0"/>
              <a:t> where low latency, offline capability, and local data processing are critical.</a:t>
            </a:r>
          </a:p>
          <a:p>
            <a:pPr algn="just"/>
            <a:r>
              <a:rPr lang="en-US" sz="1000" dirty="0"/>
              <a:t>The solution runs as a </a:t>
            </a:r>
            <a:r>
              <a:rPr lang="en-US" sz="1000" b="1" dirty="0"/>
              <a:t>Kubernetes-native service with Azure Arc integration</a:t>
            </a:r>
            <a:r>
              <a:rPr lang="en-US" sz="1000" dirty="0"/>
              <a:t>, allowing consistent deployment, governance, and lifecycle management across edge and on-prem environments. It supports both </a:t>
            </a:r>
            <a:r>
              <a:rPr lang="en-US" sz="1000" b="1" dirty="0"/>
              <a:t>prebuilt generative models and custom ONNX predictive models</a:t>
            </a:r>
            <a:r>
              <a:rPr lang="en-US" sz="1000" dirty="0"/>
              <a:t>, accessible via standard REST and OpenAI-compatible APIs.</a:t>
            </a:r>
          </a:p>
          <a:p>
            <a:pPr algn="just"/>
            <a:r>
              <a:rPr lang="en-US" sz="1000" dirty="0"/>
              <a:t>With capabilities like </a:t>
            </a:r>
            <a:r>
              <a:rPr lang="en-US" sz="1000" b="1" dirty="0"/>
              <a:t>multi-model orchestration and GPU acceleration</a:t>
            </a:r>
            <a:r>
              <a:rPr lang="en-US" sz="1000" dirty="0"/>
              <a:t>, organizations can build advanced AI scenarios directly on local infrastructure.</a:t>
            </a:r>
          </a:p>
          <a:p>
            <a:pPr algn="just"/>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Azure Site Recovery support for Windows Azure VMs with </a:t>
            </a:r>
            <a:r>
              <a:rPr lang="en-US" dirty="0" err="1">
                <a:hlinkClick r:id="rId3"/>
              </a:rPr>
              <a:t>NVMe</a:t>
            </a:r>
            <a:r>
              <a:rPr lang="en-US" dirty="0">
                <a:hlinkClick r:id="rId3"/>
              </a:rPr>
              <a:t> disk controllers.</a:t>
            </a:r>
            <a:endParaRPr lang="en-US" dirty="0"/>
          </a:p>
          <a:p>
            <a:pPr algn="just"/>
            <a:r>
              <a:rPr lang="en-US" dirty="0"/>
              <a:t>Azure Site Recovery now supports replication and disaster recovery for Windows Azure Virtual Machines running on </a:t>
            </a:r>
            <a:r>
              <a:rPr lang="en-US" dirty="0" err="1"/>
              <a:t>NVMe</a:t>
            </a:r>
            <a:r>
              <a:rPr lang="en-US" dirty="0"/>
              <a:t>-enabled Generation 2 VM families, such as the Da/</a:t>
            </a:r>
            <a:r>
              <a:rPr lang="en-US" dirty="0" err="1"/>
              <a:t>Ea</a:t>
            </a:r>
            <a:r>
              <a:rPr lang="en-US" dirty="0"/>
              <a:t>/Fa v6-series and Ebsv5/Ebdsv5 in the Azure-to-Azure scenario. This enhancement allows customers to enable disaster recovery for their Azure VMs running high performance, I/O-intensive workloads (limited to ASR churn support) with the </a:t>
            </a:r>
            <a:r>
              <a:rPr lang="en-US" dirty="0" err="1"/>
              <a:t>NVMe</a:t>
            </a:r>
            <a:r>
              <a:rPr lang="en-US" dirty="0"/>
              <a:t> disk controller. This capability is supported across all Azure public cloud regions.</a:t>
            </a:r>
          </a:p>
        </p:txBody>
      </p:sp>
    </p:spTree>
    <p:extLst>
      <p:ext uri="{BB962C8B-B14F-4D97-AF65-F5344CB8AC3E}">
        <p14:creationId xmlns:p14="http://schemas.microsoft.com/office/powerpoint/2010/main" val="5208640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2A5C-E35F-E18E-05A4-B6AF8CF698D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21B0A37-B626-6209-EE63-BDBE1E100FF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89DE73F3-4A2F-648B-BD17-44C88CDB5688}"/>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1A20683A-1573-CC2D-401E-61BAED70A144}"/>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5FF973-31C8-BEFD-DC1E-6209231AED94}"/>
              </a:ext>
            </a:extLst>
          </p:cNvPr>
          <p:cNvSpPr>
            <a:spLocks noGrp="1"/>
          </p:cNvSpPr>
          <p:nvPr>
            <p:ph type="body" sz="quarter" idx="16"/>
          </p:nvPr>
        </p:nvSpPr>
        <p:spPr/>
        <p:txBody>
          <a:bodyPr/>
          <a:lstStyle/>
          <a:p>
            <a:pPr algn="just"/>
            <a:r>
              <a:rPr lang="en-US" dirty="0">
                <a:hlinkClick r:id="rId2"/>
              </a:rPr>
              <a:t>Announcing One‑Command Backup Configuration for AKS with Azure Backup</a:t>
            </a:r>
            <a:endParaRPr lang="en-US" dirty="0"/>
          </a:p>
          <a:p>
            <a:pPr algn="just"/>
            <a:r>
              <a:rPr lang="en-US" dirty="0"/>
              <a:t>Azure Backup now introduces a </a:t>
            </a:r>
            <a:r>
              <a:rPr lang="en-US" b="1" dirty="0"/>
              <a:t>simplified CLI-based experience for AKS</a:t>
            </a:r>
            <a:r>
              <a:rPr lang="en-US" dirty="0"/>
              <a:t>, allowing full backup configuration with a single command. Previously, enabling backups required coordinating multiple services and executing </a:t>
            </a:r>
            <a:r>
              <a:rPr lang="en-US" b="1" dirty="0"/>
              <a:t>15+ CLI commands across several components</a:t>
            </a:r>
            <a:r>
              <a:rPr lang="en-US" dirty="0"/>
              <a:t>, making adoption complex for platform teams.</a:t>
            </a:r>
          </a:p>
          <a:p>
            <a:pPr algn="just"/>
            <a:r>
              <a:rPr lang="en-US" dirty="0"/>
              <a:t>With the new approach, Azure automates the entire process—including extension installation, storage setup, vault and policy creation, and trusted access configuration—reducing operational overhead significantly. Predefined </a:t>
            </a:r>
            <a:r>
              <a:rPr lang="en-US" b="1" dirty="0"/>
              <a:t>backup strategies (Dev/Test, Production, Disaster Recovery)</a:t>
            </a:r>
            <a:r>
              <a:rPr lang="en-US" dirty="0"/>
              <a:t> help standardize protection based on workload needs.</a:t>
            </a:r>
          </a:p>
          <a:p>
            <a:pPr algn="just"/>
            <a:r>
              <a:rPr lang="en-US" dirty="0"/>
              <a:t>Advanced users can still customize configurations using JSON files for enterprise scenarios.</a:t>
            </a:r>
          </a:p>
          <a:p>
            <a:pPr algn="just"/>
            <a:endParaRPr lang="en-US" dirty="0"/>
          </a:p>
        </p:txBody>
      </p:sp>
    </p:spTree>
    <p:extLst>
      <p:ext uri="{BB962C8B-B14F-4D97-AF65-F5344CB8AC3E}">
        <p14:creationId xmlns:p14="http://schemas.microsoft.com/office/powerpoint/2010/main" val="237073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App attach in Azure Virtual Desktop now supports Windows Server 2025 and Windows Server 2022</a:t>
            </a:r>
            <a:endParaRPr lang="en-US" sz="1000" dirty="0"/>
          </a:p>
          <a:p>
            <a:pPr algn="just"/>
            <a:r>
              <a:rPr lang="en-US" sz="1000" dirty="0"/>
              <a:t>App attach in Azure Virtual Desktop now supports </a:t>
            </a:r>
            <a:r>
              <a:rPr lang="en-US" sz="1000" b="1" dirty="0"/>
              <a:t>Windows Server 2025 and Windows Server 2022 session hosts</a:t>
            </a:r>
            <a:r>
              <a:rPr lang="en-US" sz="1000" dirty="0"/>
              <a:t>, expanding dynamic application delivery to server-based environments. This allows organizations to </a:t>
            </a:r>
            <a:r>
              <a:rPr lang="en-US" sz="1000" b="1" dirty="0"/>
              <a:t>deliver MSIX, </a:t>
            </a:r>
            <a:r>
              <a:rPr lang="en-US" sz="1000" b="1" dirty="0" err="1"/>
              <a:t>AppX</a:t>
            </a:r>
            <a:r>
              <a:rPr lang="en-US" sz="1000" b="1" dirty="0"/>
              <a:t>, and App-V applications without embedding them in the base image</a:t>
            </a:r>
            <a:r>
              <a:rPr lang="en-US" sz="1000" dirty="0"/>
              <a:t>, enabling a single golden image strategy. It reduces image sprawl and simplifies application management by separating apps from the OS lifecycle. Existing </a:t>
            </a:r>
            <a:r>
              <a:rPr lang="en-US" sz="1000" b="1" dirty="0"/>
              <a:t>App-V packages can be reused without repackaging</a:t>
            </a:r>
            <a:r>
              <a:rPr lang="en-US" sz="1000" dirty="0"/>
              <a:t>, even after App-V Server end of support. The feature also accelerates onboarding and updates in pooled host pools by </a:t>
            </a:r>
            <a:r>
              <a:rPr lang="en-US" sz="1000" b="1" dirty="0"/>
              <a:t>decoupling apps from infrastructure changes</a:t>
            </a:r>
            <a:r>
              <a:rPr lang="en-US" sz="1000" dirty="0"/>
              <a:t>.</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3"/>
              </a:rPr>
              <a:t>Public Preview: Monitor AKS applications with </a:t>
            </a:r>
            <a:r>
              <a:rPr lang="en-US" dirty="0" err="1">
                <a:hlinkClick r:id="rId3"/>
              </a:rPr>
              <a:t>OpenTelemetry</a:t>
            </a:r>
            <a:r>
              <a:rPr lang="en-US" dirty="0">
                <a:hlinkClick r:id="rId3"/>
              </a:rPr>
              <a:t> and Azure Monitor</a:t>
            </a:r>
            <a:endParaRPr lang="en-US" dirty="0"/>
          </a:p>
          <a:p>
            <a:pPr algn="just"/>
            <a:r>
              <a:rPr lang="en-US" dirty="0"/>
              <a:t>Azure Monitor now supports </a:t>
            </a:r>
            <a:r>
              <a:rPr lang="en-US" b="1" dirty="0" err="1"/>
              <a:t>OpenTelemetry</a:t>
            </a:r>
            <a:r>
              <a:rPr lang="en-US" b="1" dirty="0"/>
              <a:t>-based monitoring for applications running on Azure Kubernetes Service (AKS)</a:t>
            </a:r>
            <a:r>
              <a:rPr lang="en-US" dirty="0"/>
              <a:t>, enabling standardized, vendor-neutral observability. Organizations can use </a:t>
            </a:r>
            <a:r>
              <a:rPr lang="en-US" b="1" dirty="0"/>
              <a:t>auto-instrumentation or auto-configuration</a:t>
            </a:r>
            <a:r>
              <a:rPr lang="en-US" dirty="0"/>
              <a:t> to collect telemetry without significant code changes. Applications already using </a:t>
            </a:r>
            <a:r>
              <a:rPr lang="en-US" dirty="0" err="1"/>
              <a:t>OpenTelemetry</a:t>
            </a:r>
            <a:r>
              <a:rPr lang="en-US" dirty="0"/>
              <a:t> can </a:t>
            </a:r>
            <a:r>
              <a:rPr lang="en-US" b="1" dirty="0"/>
              <a:t>send OTLP signals directly to Azure Monitor</a:t>
            </a:r>
            <a:r>
              <a:rPr lang="en-US" dirty="0"/>
              <a:t>. Combined with Application Insights, Managed Prometheus, and container logs, this provides </a:t>
            </a:r>
            <a:r>
              <a:rPr lang="en-US" b="1" dirty="0"/>
              <a:t>end-to-end visibility across application and infrastructure layers</a:t>
            </a:r>
            <a:r>
              <a:rPr lang="en-US" dirty="0"/>
              <a:t>. This simplifies monitoring while aligning with </a:t>
            </a:r>
            <a:r>
              <a:rPr lang="en-US" b="1" dirty="0"/>
              <a:t>modern observability standards</a:t>
            </a:r>
            <a:r>
              <a:rPr lang="en-US" dirty="0"/>
              <a:t>. Overall, it enhances </a:t>
            </a:r>
            <a:r>
              <a:rPr lang="en-US" b="1" dirty="0"/>
              <a:t>troubleshooting, performance insights, and unified monitoring in AKS environments</a:t>
            </a:r>
            <a:r>
              <a:rPr lang="en-US" dirty="0"/>
              <a:t>.</a:t>
            </a:r>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pPr algn="just"/>
            <a:r>
              <a:rPr lang="en-US" sz="1000" dirty="0">
                <a:hlinkClick r:id="rId2"/>
              </a:rPr>
              <a:t>Generally available: Anthropic Claude Opus 4.7 on Azure Databricks</a:t>
            </a:r>
            <a:endParaRPr lang="en-US" sz="1000" dirty="0"/>
          </a:p>
          <a:p>
            <a:pPr algn="just"/>
            <a:r>
              <a:rPr lang="en-US" sz="1000" dirty="0"/>
              <a:t>Azure Databricks now supports </a:t>
            </a:r>
            <a:r>
              <a:rPr lang="en-US" sz="1000" b="1" dirty="0"/>
              <a:t>Anthropic Claude Opus 4.7</a:t>
            </a:r>
            <a:r>
              <a:rPr lang="en-US" sz="1000" dirty="0"/>
              <a:t> through AI Model Serving, expanding advanced AI capabilities on the platform. This model delivers </a:t>
            </a:r>
            <a:r>
              <a:rPr lang="en-US" sz="1000" b="1" dirty="0"/>
              <a:t>strong performance for complex reasoning, document analysis, and agent-based workflows</a:t>
            </a:r>
            <a:r>
              <a:rPr lang="en-US" sz="1000" dirty="0"/>
              <a:t>, while improving efficiency with fewer output tokens. It features a </a:t>
            </a:r>
            <a:r>
              <a:rPr lang="en-US" sz="1000" b="1" dirty="0"/>
              <a:t>1 million token context window</a:t>
            </a:r>
            <a:r>
              <a:rPr lang="en-US" sz="1000" dirty="0"/>
              <a:t> and enhanced vision capabilities for processing large and rich datasets. The model is well-suited for enterprise use cases such as </a:t>
            </a:r>
            <a:r>
              <a:rPr lang="en-US" sz="1000" b="1" dirty="0"/>
              <a:t>unstructured data processing and multi-step AI workflows</a:t>
            </a:r>
            <a:r>
              <a:rPr lang="en-US" sz="1000" dirty="0"/>
              <a:t>. It runs securely within the Databricks environment and is available via </a:t>
            </a:r>
            <a:r>
              <a:rPr lang="en-US" sz="1000" b="1" dirty="0"/>
              <a:t>pay-per-token APIs or provisioned throughput</a:t>
            </a:r>
            <a:r>
              <a:rPr lang="en-US" sz="1000" dirty="0"/>
              <a:t>.</a:t>
            </a:r>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pPr algn="just"/>
            <a:r>
              <a:rPr lang="en-US" dirty="0">
                <a:hlinkClick r:id="rId3"/>
              </a:rPr>
              <a:t>Generally Available: Configure AKS backup using a single Azure CLI command</a:t>
            </a:r>
            <a:endParaRPr lang="en-US" dirty="0"/>
          </a:p>
          <a:p>
            <a:pPr algn="just"/>
            <a:r>
              <a:rPr lang="en-US" dirty="0"/>
              <a:t>Azure Backup now simplifies protection for AKS clusters by enabling </a:t>
            </a:r>
            <a:r>
              <a:rPr lang="en-US" b="1" dirty="0"/>
              <a:t>backup configuration with a single Azure CLI command</a:t>
            </a:r>
            <a:r>
              <a:rPr lang="en-US" dirty="0"/>
              <a:t>. Previously, setup required multiple manual steps, including creating vaults, policies, storage, and configuring trusted access. The new approach automates the entire workflow, including </a:t>
            </a:r>
            <a:r>
              <a:rPr lang="en-US" b="1" dirty="0"/>
              <a:t>extension installation, resource provisioning, policy creation, and backup initialization</a:t>
            </a:r>
            <a:r>
              <a:rPr lang="en-US" dirty="0"/>
              <a:t>. It also supports using </a:t>
            </a:r>
            <a:r>
              <a:rPr lang="en-US" b="1" dirty="0"/>
              <a:t>existing backup resources through a configuration file</a:t>
            </a:r>
            <a:r>
              <a:rPr lang="en-US" dirty="0"/>
              <a:t>, providing flexibility. This significantly reduces deployment complexity and setup time. Overall, it improves </a:t>
            </a:r>
            <a:r>
              <a:rPr lang="en-US" b="1" dirty="0"/>
              <a:t>operational efficiency and consistency for AKS backup management</a:t>
            </a:r>
            <a:r>
              <a:rPr lang="en-US" dirty="0"/>
              <a:t>.</a:t>
            </a:r>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817E1-BA7F-D700-A07D-CF35C50119C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95ECF59-E5F0-A908-6FBA-7B62FCFAAF59}"/>
              </a:ext>
            </a:extLst>
          </p:cNvPr>
          <p:cNvSpPr>
            <a:spLocks noGrp="1"/>
          </p:cNvSpPr>
          <p:nvPr>
            <p:ph type="body" sz="quarter" idx="10"/>
          </p:nvPr>
        </p:nvSpPr>
        <p:spPr/>
        <p:txBody>
          <a:bodyPr/>
          <a:lstStyle/>
          <a:p>
            <a:pPr algn="just"/>
            <a:r>
              <a:rPr lang="en-US" sz="1000" dirty="0">
                <a:hlinkClick r:id="rId2"/>
              </a:rPr>
              <a:t>Retirement: Azure Functions runtime v3 on Linux Consumption will stop running September 30, 2026</a:t>
            </a:r>
            <a:endParaRPr lang="en-US" sz="1000" dirty="0"/>
          </a:p>
          <a:p>
            <a:pPr algn="just"/>
            <a:r>
              <a:rPr lang="en-US" sz="1000" dirty="0"/>
              <a:t>Azure Functions runtime v3 was retired on December 13, 2022. As part of ongoing efforts to reduce reliance on legacy infrastructure and focus investments on supported platforms, Azure will enforce this retirement for Linux Consumption–based Function Apps still running runtime v3. </a:t>
            </a:r>
          </a:p>
          <a:p>
            <a:pPr algn="just"/>
            <a:r>
              <a:rPr lang="en-US" sz="1000" dirty="0"/>
              <a:t>After September 30, 2026, Function Apps using runtime v3 on Linux Consumption will no longer start or process executions, and existing deployments in this configuration will stop functioning.   </a:t>
            </a:r>
          </a:p>
          <a:p>
            <a:pPr algn="just"/>
            <a:r>
              <a:rPr lang="en-US" sz="1000" dirty="0"/>
              <a:t>To avoid service disruption, customers must migrate affected apps to Azure Functions runtime v4 before the enforcement date. Since Linux Consumption is itself retiring in September 2028, customers are encouraged to migrate to Azure Functions Flex Consumption, which supports runtime v4 and ongoing platform updates. </a:t>
            </a:r>
          </a:p>
        </p:txBody>
      </p:sp>
      <p:sp>
        <p:nvSpPr>
          <p:cNvPr id="11" name="Title 10">
            <a:extLst>
              <a:ext uri="{FF2B5EF4-FFF2-40B4-BE49-F238E27FC236}">
                <a16:creationId xmlns:a16="http://schemas.microsoft.com/office/drawing/2014/main" id="{F56FF68D-660F-2CAA-B09A-5A59259AACC4}"/>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1749C152-D6B4-AF3B-2578-E699D30AD2F0}"/>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49104E40-B616-5259-A98B-8099EE2331BE}"/>
              </a:ext>
            </a:extLst>
          </p:cNvPr>
          <p:cNvSpPr>
            <a:spLocks noGrp="1"/>
          </p:cNvSpPr>
          <p:nvPr>
            <p:ph type="body" sz="quarter" idx="16"/>
          </p:nvPr>
        </p:nvSpPr>
        <p:spPr/>
        <p:txBody>
          <a:bodyPr/>
          <a:lstStyle/>
          <a:p>
            <a:pPr algn="just"/>
            <a:r>
              <a:rPr lang="en-US" dirty="0">
                <a:hlinkClick r:id="rId3"/>
              </a:rPr>
              <a:t>Retirement: Azure Kubernetes Service support for Ubuntu 22.04</a:t>
            </a:r>
            <a:endParaRPr lang="en-US" dirty="0"/>
          </a:p>
          <a:p>
            <a:pPr algn="just"/>
            <a:r>
              <a:rPr lang="en-US" dirty="0"/>
              <a:t>Ubuntu 22.04 on Azure Kubernetes Service (AKS) will be </a:t>
            </a:r>
            <a:r>
              <a:rPr lang="en-US" b="1" dirty="0"/>
              <a:t>retired on June 30, 2027</a:t>
            </a:r>
            <a:r>
              <a:rPr lang="en-US" dirty="0"/>
              <a:t>, and customers must migrate to </a:t>
            </a:r>
            <a:r>
              <a:rPr lang="en-US" b="1" dirty="0"/>
              <a:t>Ubuntu 24.04 or later</a:t>
            </a:r>
            <a:r>
              <a:rPr lang="en-US" dirty="0"/>
              <a:t> to remain supported. After this date, no new node images or security patches will be provided, and creating new node pools will not be possible. By April 30, 2028, Ubuntu 22.04 images will be fully removed, causing </a:t>
            </a:r>
            <a:r>
              <a:rPr lang="en-US" b="1" dirty="0"/>
              <a:t>scaling and remediation failures</a:t>
            </a:r>
            <a:r>
              <a:rPr lang="en-US" dirty="0"/>
              <a:t>. Organizations can migrate by updating their </a:t>
            </a:r>
            <a:r>
              <a:rPr lang="en-US" b="1" dirty="0"/>
              <a:t>OS SKU or Kubernetes version</a:t>
            </a:r>
            <a:r>
              <a:rPr lang="en-US" dirty="0"/>
              <a:t>, depending on their current configuration. This ensures continued support, security updates, and compatibility with newer Kubernetes versions. Overall, this change reinforces the need to </a:t>
            </a:r>
            <a:r>
              <a:rPr lang="en-US" b="1" dirty="0"/>
              <a:t>maintain up-to-date and secure node environments in AKS</a:t>
            </a:r>
            <a:r>
              <a:rPr lang="en-US" dirty="0"/>
              <a:t>.</a:t>
            </a:r>
          </a:p>
        </p:txBody>
      </p:sp>
    </p:spTree>
    <p:extLst>
      <p:ext uri="{BB962C8B-B14F-4D97-AF65-F5344CB8AC3E}">
        <p14:creationId xmlns:p14="http://schemas.microsoft.com/office/powerpoint/2010/main" val="163932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C00DD5B-A668-8BC6-21E9-49C6E6463A80}"/>
              </a:ext>
            </a:extLst>
          </p:cNvPr>
          <p:cNvSpPr>
            <a:spLocks noGrp="1"/>
          </p:cNvSpPr>
          <p:nvPr>
            <p:ph type="body" sz="quarter" idx="10"/>
          </p:nvPr>
        </p:nvSpPr>
        <p:spPr/>
        <p:txBody>
          <a:bodyPr/>
          <a:lstStyle/>
          <a:p>
            <a:pPr algn="just"/>
            <a:r>
              <a:rPr lang="en-US" sz="1000" dirty="0">
                <a:hlinkClick r:id="rId2"/>
              </a:rPr>
              <a:t>Retirement: Azure Managed Grafana Essential SKU will retire on March 30, 2027</a:t>
            </a:r>
            <a:endParaRPr lang="en-US" sz="1000" dirty="0"/>
          </a:p>
          <a:p>
            <a:pPr algn="just"/>
            <a:r>
              <a:rPr lang="en-US" sz="1000" dirty="0"/>
              <a:t>Azure Managed Grafana Essential SKU will be retired on March 30, 2027.</a:t>
            </a:r>
          </a:p>
          <a:p>
            <a:pPr algn="just"/>
            <a:r>
              <a:rPr lang="en-US" sz="1000" dirty="0"/>
              <a:t>Customers using the Essential SKU are encouraged to transition to Azure Managed Grafana Standard SKU or Azure Monitor Dashboards with Grafana before the retirement date to avoid service disruption, including loss of access to dashboards.</a:t>
            </a:r>
          </a:p>
          <a:p>
            <a:pPr algn="just"/>
            <a:r>
              <a:rPr lang="en-US" sz="1000" dirty="0"/>
              <a:t>From now until March 30, 2027, existing Essential SKU resources can continue to be used without disruption. On the retirement date, all Azure Managed Grafana instances using the Essential SKU will be deleted.</a:t>
            </a:r>
          </a:p>
          <a:p>
            <a:pPr algn="just"/>
            <a:r>
              <a:rPr lang="en-US" sz="1000" dirty="0"/>
              <a:t>This retirement helps simplify the Azure Managed Grafana offering and provides customers with access to a more reliable alternative with feature parity. Migration guidance is available in the Azure portal and product documentation.</a:t>
            </a:r>
          </a:p>
          <a:p>
            <a:pPr algn="just"/>
            <a:endParaRPr lang="en-US" sz="1000" dirty="0"/>
          </a:p>
        </p:txBody>
      </p:sp>
      <p:sp>
        <p:nvSpPr>
          <p:cNvPr id="3" name="Title 2">
            <a:extLst>
              <a:ext uri="{FF2B5EF4-FFF2-40B4-BE49-F238E27FC236}">
                <a16:creationId xmlns:a16="http://schemas.microsoft.com/office/drawing/2014/main" id="{1061142F-0616-CF00-616C-1E3CB09D66D8}"/>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DF0C3293-F059-CE30-C47A-442158318268}"/>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11460ADE-E361-104D-19F1-FFA0EEBE9349}"/>
              </a:ext>
            </a:extLst>
          </p:cNvPr>
          <p:cNvSpPr>
            <a:spLocks noGrp="1"/>
          </p:cNvSpPr>
          <p:nvPr>
            <p:ph type="body" sz="quarter" idx="16"/>
          </p:nvPr>
        </p:nvSpPr>
        <p:spPr/>
        <p:txBody>
          <a:bodyPr/>
          <a:lstStyle/>
          <a:p>
            <a:pPr algn="just"/>
            <a:r>
              <a:rPr lang="en-US" dirty="0">
                <a:hlinkClick r:id="rId3"/>
              </a:rPr>
              <a:t>Retirement: End of life reminder of HBv2/HC-Series/NP-Series Azure Virtual Machine in Azure Batch Pool</a:t>
            </a:r>
            <a:endParaRPr lang="en-US" dirty="0"/>
          </a:p>
          <a:p>
            <a:pPr algn="just"/>
            <a:r>
              <a:rPr lang="en-US" dirty="0"/>
              <a:t>Microsoft Azure will retire support for HBv2-series, HC-series, and NP-series VMs in Azure Batch pools on May 31, 2027, including:   </a:t>
            </a:r>
          </a:p>
          <a:p>
            <a:pPr marL="171450" indent="-171450" algn="just">
              <a:buFont typeface="Arial" panose="020B0604020202020204" pitchFamily="34" charset="0"/>
              <a:buChar char="•"/>
            </a:pPr>
            <a:r>
              <a:rPr lang="en-US" dirty="0"/>
              <a:t>HBv2-series: 120 AMD EPYC 7V12 vCPUs, 480 GB RAM, 200 Gb/s HDR InfiniBand  </a:t>
            </a:r>
          </a:p>
          <a:p>
            <a:pPr marL="171450" indent="-171450" algn="just">
              <a:buFont typeface="Arial" panose="020B0604020202020204" pitchFamily="34" charset="0"/>
              <a:buChar char="•"/>
            </a:pPr>
            <a:r>
              <a:rPr lang="en-US" dirty="0"/>
              <a:t>HC-series: 44 Intel Xeon Platinum 8168 vCPUs, 352 GB RAM, 100 Gb/s EDR InfiniBand  </a:t>
            </a:r>
          </a:p>
          <a:p>
            <a:pPr marL="171450" indent="-171450" algn="just">
              <a:buFont typeface="Arial" panose="020B0604020202020204" pitchFamily="34" charset="0"/>
              <a:buChar char="•"/>
            </a:pPr>
            <a:r>
              <a:rPr lang="en-US" dirty="0"/>
              <a:t>NP-series: Xilinx Alveo U250 FPGA-accelerated VMs  </a:t>
            </a:r>
          </a:p>
          <a:p>
            <a:pPr algn="just"/>
            <a:r>
              <a:rPr lang="en-US" dirty="0"/>
              <a:t>These VM series have been superseded by newer generations with improved performance and better price-performance.  </a:t>
            </a:r>
          </a:p>
          <a:p>
            <a:pPr algn="just"/>
            <a:r>
              <a:rPr lang="en-US" dirty="0"/>
              <a:t>Recommended migration targets: </a:t>
            </a:r>
          </a:p>
          <a:p>
            <a:pPr marL="171450" indent="-171450" algn="just">
              <a:buFont typeface="Arial" panose="020B0604020202020204" pitchFamily="34" charset="0"/>
              <a:buChar char="•"/>
            </a:pPr>
            <a:r>
              <a:rPr lang="en-US" dirty="0"/>
              <a:t>HBv2-series → HBv3-series or HBv4-series (3rd/4th Gen AMD EPYC, 200/400 Gb/s NDR InfiniBand)  </a:t>
            </a:r>
          </a:p>
          <a:p>
            <a:pPr marL="171450" indent="-171450" algn="just">
              <a:buFont typeface="Arial" panose="020B0604020202020204" pitchFamily="34" charset="0"/>
              <a:buChar char="•"/>
            </a:pPr>
            <a:r>
              <a:rPr lang="en-US" dirty="0"/>
              <a:t>HC-series → HX-series (4th Gen Intel Xeon Scalable processors)  </a:t>
            </a:r>
          </a:p>
          <a:p>
            <a:pPr marL="171450" indent="-171450" algn="just">
              <a:buFont typeface="Arial" panose="020B0604020202020204" pitchFamily="34" charset="0"/>
              <a:buChar char="•"/>
            </a:pPr>
            <a:r>
              <a:rPr lang="en-US" dirty="0"/>
              <a:t>NP-series → No direct replacement. Evaluate GPU-based NC/ND-series VMs or partner FPGA solutions.  </a:t>
            </a:r>
          </a:p>
          <a:p>
            <a:pPr algn="just"/>
            <a:endParaRPr lang="en-US" dirty="0"/>
          </a:p>
        </p:txBody>
      </p:sp>
    </p:spTree>
    <p:extLst>
      <p:ext uri="{BB962C8B-B14F-4D97-AF65-F5344CB8AC3E}">
        <p14:creationId xmlns:p14="http://schemas.microsoft.com/office/powerpoint/2010/main" val="3515574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0" end="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1" end="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2" end="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Announcing: Minimum billable object size for cooler storage tiers</a:t>
            </a:r>
            <a:endParaRPr lang="en-US" dirty="0"/>
          </a:p>
          <a:p>
            <a:pPr algn="just"/>
            <a:r>
              <a:rPr lang="en-US" dirty="0"/>
              <a:t>For storage accounts with Azure Blob or Data Lake Storage (ADLS) MS is introducing a minimum billable object size for the cool, cold and archive access tiers of 128KiB. Objects on those tiers that are smaller than 128 KiB will be billed as 128 KiB objects at the rate of the corresponding tier. Billing occurs on the existing capacity billing meters (data stored). There is no change to transactions.  </a:t>
            </a:r>
          </a:p>
          <a:p>
            <a:pPr algn="just"/>
            <a:r>
              <a:rPr lang="en-US" dirty="0"/>
              <a:t>This billing behavior will be introduced in two stages:  </a:t>
            </a:r>
          </a:p>
          <a:p>
            <a:pPr algn="just"/>
            <a:r>
              <a:rPr lang="en-US" dirty="0"/>
              <a:t>July 1, 2026: This new billing behavior applies to all new storage accounts created on or after this date. There is no change for existing storage accounts at this time.  </a:t>
            </a:r>
          </a:p>
          <a:p>
            <a:pPr algn="just"/>
            <a:r>
              <a:rPr lang="en-US" dirty="0"/>
              <a:t>July 1, 2027: This new billing behavior applies to all storage accounts.  </a:t>
            </a:r>
          </a:p>
          <a:p>
            <a:pPr algn="just"/>
            <a:r>
              <a:rPr lang="en-US" dirty="0"/>
              <a:t>The Blob Capacity metrics are introducing new Blob Types (</a:t>
            </a:r>
            <a:r>
              <a:rPr lang="en-US" dirty="0" err="1"/>
              <a:t>BlockBlobSmall</a:t>
            </a:r>
            <a:r>
              <a:rPr lang="en-US" dirty="0"/>
              <a:t> and Azure Data Lake Storage Small) to support this change.</a:t>
            </a:r>
          </a:p>
        </p:txBody>
      </p:sp>
    </p:spTree>
    <p:extLst>
      <p:ext uri="{BB962C8B-B14F-4D97-AF65-F5344CB8AC3E}">
        <p14:creationId xmlns:p14="http://schemas.microsoft.com/office/powerpoint/2010/main" val="3259403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BC30-BE9D-D666-D8EC-C477902CDD33}"/>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089CA58-5DC8-3994-AD5C-78748D2555F0}"/>
              </a:ext>
            </a:extLst>
          </p:cNvPr>
          <p:cNvSpPr>
            <a:spLocks noGrp="1"/>
          </p:cNvSpPr>
          <p:nvPr>
            <p:ph type="body" sz="quarter" idx="10"/>
          </p:nvPr>
        </p:nvSpPr>
        <p:spPr/>
        <p:txBody>
          <a:bodyPr/>
          <a:lstStyle/>
          <a:p>
            <a:r>
              <a:rPr lang="en-US" sz="1000" dirty="0">
                <a:hlinkClick r:id="rId2"/>
              </a:rPr>
              <a:t>Generally Available: Azure File Sync in Belgium Central, Malaysia West, and Indonesia Central</a:t>
            </a:r>
            <a:endParaRPr lang="en-US" sz="1000" dirty="0"/>
          </a:p>
          <a:p>
            <a:r>
              <a:rPr lang="en-US" sz="1000" dirty="0"/>
              <a:t>Azure File Sync now expands to </a:t>
            </a:r>
            <a:r>
              <a:rPr lang="en-US" sz="1000" b="1" dirty="0"/>
              <a:t>Belgium Central, Malaysia West, and Indonesia Central</a:t>
            </a:r>
            <a:r>
              <a:rPr lang="en-US" sz="1000" dirty="0"/>
              <a:t>, improving regional availability and performance. It enables organizations to </a:t>
            </a:r>
            <a:r>
              <a:rPr lang="en-US" sz="1000" b="1" dirty="0"/>
              <a:t>tier data from on-premises Windows Servers to Azure Files</a:t>
            </a:r>
            <a:r>
              <a:rPr lang="en-US" sz="1000" dirty="0"/>
              <a:t>, supporting hybrid scenarios and simplified migrations. This allows continued use of </a:t>
            </a:r>
            <a:r>
              <a:rPr lang="en-US" sz="1000" b="1" dirty="0"/>
              <a:t>local file server performance and compatibility</a:t>
            </a:r>
            <a:r>
              <a:rPr lang="en-US" sz="1000" dirty="0"/>
              <a:t> while benefiting from Azure’s scalability and cost efficiency. The regional expansion reduces </a:t>
            </a:r>
            <a:r>
              <a:rPr lang="en-US" sz="1000" b="1" dirty="0"/>
              <a:t>latency and improves responsiveness</a:t>
            </a:r>
            <a:r>
              <a:rPr lang="en-US" sz="1000" dirty="0"/>
              <a:t> for users. It also helps meet </a:t>
            </a:r>
            <a:r>
              <a:rPr lang="en-US" sz="1000" b="1" dirty="0"/>
              <a:t>data residency and compliance requirements</a:t>
            </a:r>
            <a:r>
              <a:rPr lang="en-US" sz="1000" dirty="0"/>
              <a:t>. Overall, it enhances hybrid storage capabilities with better performance and global reach.</a:t>
            </a:r>
          </a:p>
        </p:txBody>
      </p:sp>
      <p:sp>
        <p:nvSpPr>
          <p:cNvPr id="11" name="Title 10">
            <a:extLst>
              <a:ext uri="{FF2B5EF4-FFF2-40B4-BE49-F238E27FC236}">
                <a16:creationId xmlns:a16="http://schemas.microsoft.com/office/drawing/2014/main" id="{9338C940-1C5A-F159-79FA-059EBE1E77FE}"/>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79819030-1C59-2813-CD9C-4D9347E3D50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6F37A70-680F-B50D-A1A9-E9D2AE2C922F}"/>
              </a:ext>
            </a:extLst>
          </p:cNvPr>
          <p:cNvSpPr>
            <a:spLocks noGrp="1"/>
          </p:cNvSpPr>
          <p:nvPr>
            <p:ph type="body" sz="quarter" idx="16"/>
          </p:nvPr>
        </p:nvSpPr>
        <p:spPr/>
        <p:txBody>
          <a:bodyPr/>
          <a:lstStyle/>
          <a:p>
            <a:pPr algn="just"/>
            <a:r>
              <a:rPr lang="en-US" dirty="0">
                <a:hlinkClick r:id="rId3"/>
              </a:rPr>
              <a:t>Generally Available: Azure Storage Mover now available in Azure Government (US)</a:t>
            </a:r>
            <a:endParaRPr lang="en-US" dirty="0"/>
          </a:p>
          <a:p>
            <a:pPr algn="just"/>
            <a:r>
              <a:rPr lang="en-US" dirty="0"/>
              <a:t>Azure Storage Mover is now available in </a:t>
            </a:r>
            <a:r>
              <a:rPr lang="en-US" b="1" dirty="0"/>
              <a:t>Azure Government (US)</a:t>
            </a:r>
            <a:r>
              <a:rPr lang="en-US" dirty="0"/>
              <a:t>, enabling secure, large-scale data migrations for government customers. It provides a </a:t>
            </a:r>
            <a:r>
              <a:rPr lang="en-US" b="1" dirty="0"/>
              <a:t>fully managed service</a:t>
            </a:r>
            <a:r>
              <a:rPr lang="en-US" dirty="0"/>
              <a:t> with centralized control, resiliency, and visibility across migration processes. Organizations can migrate </a:t>
            </a:r>
            <a:r>
              <a:rPr lang="en-US" b="1" dirty="0"/>
              <a:t>on-premises file shares and data between Azure Government storage accounts</a:t>
            </a:r>
            <a:r>
              <a:rPr lang="en-US" dirty="0"/>
              <a:t> with minimal downtime. The service supports </a:t>
            </a:r>
            <a:r>
              <a:rPr lang="en-US" b="1" dirty="0"/>
              <a:t>controlled and repeatable migrations</a:t>
            </a:r>
            <a:r>
              <a:rPr lang="en-US" dirty="0"/>
              <a:t>, while allowing agents to run close to data sources for efficiency. Migration progress can be tracked directly through the </a:t>
            </a:r>
            <a:r>
              <a:rPr lang="en-US" b="1" dirty="0"/>
              <a:t>Azure portal</a:t>
            </a:r>
            <a:r>
              <a:rPr lang="en-US" dirty="0"/>
              <a:t>. Overall, this release supports </a:t>
            </a:r>
            <a:r>
              <a:rPr lang="en-US" b="1" dirty="0"/>
              <a:t>compliance, security, and efficient data migration within regulated government environments</a:t>
            </a:r>
            <a:r>
              <a:rPr lang="en-US" dirty="0"/>
              <a:t>.</a:t>
            </a:r>
          </a:p>
        </p:txBody>
      </p:sp>
    </p:spTree>
    <p:extLst>
      <p:ext uri="{BB962C8B-B14F-4D97-AF65-F5344CB8AC3E}">
        <p14:creationId xmlns:p14="http://schemas.microsoft.com/office/powerpoint/2010/main" val="67053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152D9-DBC8-1BB3-CB3A-906BE1CABE4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42DF6D2C-F56A-685B-1BF3-E4EBF4C6CDA8}"/>
              </a:ext>
            </a:extLst>
          </p:cNvPr>
          <p:cNvSpPr>
            <a:spLocks noGrp="1"/>
          </p:cNvSpPr>
          <p:nvPr>
            <p:ph type="body" sz="quarter" idx="10"/>
          </p:nvPr>
        </p:nvSpPr>
        <p:spPr/>
        <p:txBody>
          <a:bodyPr/>
          <a:lstStyle/>
          <a:p>
            <a:pPr algn="just"/>
            <a:r>
              <a:rPr lang="en-US" sz="1000" dirty="0">
                <a:hlinkClick r:id="rId2"/>
              </a:rPr>
              <a:t>Generally Available: Encrypt Premium SSD v2 and Ultra Disks with Cross Tenant Customer Managed Keys</a:t>
            </a:r>
            <a:endParaRPr lang="en-US" sz="1000" dirty="0"/>
          </a:p>
          <a:p>
            <a:pPr algn="just"/>
            <a:r>
              <a:rPr lang="en-US" sz="1000" dirty="0"/>
              <a:t>Cross-tenant customer-managed keys (CMK) for </a:t>
            </a:r>
            <a:r>
              <a:rPr lang="en-US" sz="1000" b="1" dirty="0"/>
              <a:t>Premium SSD v2 and Ultra Disks</a:t>
            </a:r>
            <a:r>
              <a:rPr lang="en-US" sz="1000" dirty="0"/>
              <a:t> are now generally available, enabling encryption keys to be stored in a </a:t>
            </a:r>
            <a:r>
              <a:rPr lang="en-US" sz="1000" b="1" dirty="0"/>
              <a:t>different Microsoft Entra tenant</a:t>
            </a:r>
            <a:r>
              <a:rPr lang="en-US" sz="1000" dirty="0"/>
              <a:t> than the disk resource. This supports scenarios where </a:t>
            </a:r>
            <a:r>
              <a:rPr lang="en-US" sz="1000" b="1" dirty="0"/>
              <a:t>resource ownership and key ownership are separated</a:t>
            </a:r>
            <a:r>
              <a:rPr lang="en-US" sz="1000" dirty="0"/>
              <a:t>, such as in multi-tenant or SaaS environments. Service providers can allow customers to </a:t>
            </a:r>
            <a:r>
              <a:rPr lang="en-US" sz="1000" b="1" dirty="0"/>
              <a:t>manage their own encryption keys in their own tenant</a:t>
            </a:r>
            <a:r>
              <a:rPr lang="en-US" sz="1000" dirty="0"/>
              <a:t>, improving trust and control. This enhances </a:t>
            </a:r>
            <a:r>
              <a:rPr lang="en-US" sz="1000" b="1" dirty="0"/>
              <a:t>security, governance, and compliance</a:t>
            </a:r>
            <a:r>
              <a:rPr lang="en-US" sz="1000" dirty="0"/>
              <a:t> across tenant boundaries. Customers retain full ownership of their keys while benefiting from Azure-managed storage services. Overall, it enables </a:t>
            </a:r>
            <a:r>
              <a:rPr lang="en-US" sz="1000" b="1" dirty="0"/>
              <a:t>secure, flexible encryption models for modern cloud architectures</a:t>
            </a:r>
            <a:r>
              <a:rPr lang="en-US" sz="1000" dirty="0"/>
              <a:t>.</a:t>
            </a:r>
          </a:p>
        </p:txBody>
      </p:sp>
      <p:sp>
        <p:nvSpPr>
          <p:cNvPr id="11" name="Title 10">
            <a:extLst>
              <a:ext uri="{FF2B5EF4-FFF2-40B4-BE49-F238E27FC236}">
                <a16:creationId xmlns:a16="http://schemas.microsoft.com/office/drawing/2014/main" id="{04047DB6-1854-02E5-91AF-2A84CBC86224}"/>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D3C9CC31-A12C-B5F1-6B1A-86D3C7CE03B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F082C05-93E4-F01C-DC62-70427109EFEE}"/>
              </a:ext>
            </a:extLst>
          </p:cNvPr>
          <p:cNvSpPr>
            <a:spLocks noGrp="1"/>
          </p:cNvSpPr>
          <p:nvPr>
            <p:ph type="body" sz="quarter" idx="16"/>
          </p:nvPr>
        </p:nvSpPr>
        <p:spPr/>
        <p:txBody>
          <a:bodyPr/>
          <a:lstStyle/>
          <a:p>
            <a:pPr algn="just"/>
            <a:r>
              <a:rPr lang="en-US" dirty="0">
                <a:hlinkClick r:id="rId3"/>
              </a:rPr>
              <a:t>Generally Available: User and group quota reports in Azure NetApp Files</a:t>
            </a:r>
            <a:endParaRPr lang="en-US" dirty="0"/>
          </a:p>
          <a:p>
            <a:pPr algn="just"/>
            <a:r>
              <a:rPr lang="en-US" dirty="0"/>
              <a:t>Azure NetApp Files now provides </a:t>
            </a:r>
            <a:r>
              <a:rPr lang="en-US" b="1" dirty="0"/>
              <a:t>user and group quota reporting</a:t>
            </a:r>
            <a:r>
              <a:rPr lang="en-US" dirty="0"/>
              <a:t>, offering clear visibility into quota usage across NFS, SMB, and dual-protocol volumes. Administrators can view </a:t>
            </a:r>
            <a:r>
              <a:rPr lang="en-US" b="1" dirty="0"/>
              <a:t>quota limits, used capacity, and utilization percentages</a:t>
            </a:r>
            <a:r>
              <a:rPr lang="en-US" dirty="0"/>
              <a:t> directly in the Azure portal. Reports can be </a:t>
            </a:r>
            <a:r>
              <a:rPr lang="en-US" b="1" dirty="0"/>
              <a:t>downloaded and quota rules modified</a:t>
            </a:r>
            <a:r>
              <a:rPr lang="en-US" dirty="0"/>
              <a:t> without needing to mount volumes or use host-based tools. This simplifies management and improves operational efficiency. The feature is available in all regions where Azure NetApp Files is supported. Overall, it enhances </a:t>
            </a:r>
            <a:r>
              <a:rPr lang="en-US" b="1" dirty="0"/>
              <a:t>storage governance, visibility, and ease of administration</a:t>
            </a:r>
            <a:r>
              <a:rPr lang="en-US" dirty="0"/>
              <a:t>.</a:t>
            </a:r>
          </a:p>
        </p:txBody>
      </p:sp>
    </p:spTree>
    <p:extLst>
      <p:ext uri="{BB962C8B-B14F-4D97-AF65-F5344CB8AC3E}">
        <p14:creationId xmlns:p14="http://schemas.microsoft.com/office/powerpoint/2010/main" val="3507518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7E7A46-37FC-DE37-B781-F6CD941A9DA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AE795B7-0C4D-6CAC-2F9E-29152EF52D4D}"/>
              </a:ext>
            </a:extLst>
          </p:cNvPr>
          <p:cNvSpPr>
            <a:spLocks noGrp="1"/>
          </p:cNvSpPr>
          <p:nvPr>
            <p:ph type="body" sz="quarter" idx="10"/>
          </p:nvPr>
        </p:nvSpPr>
        <p:spPr/>
        <p:txBody>
          <a:bodyPr/>
          <a:lstStyle/>
          <a:p>
            <a:pPr algn="just"/>
            <a:r>
              <a:rPr lang="en-US" sz="1000" dirty="0">
                <a:hlinkClick r:id="rId2"/>
              </a:rPr>
              <a:t>Generally Available: Smart Tier (Azure Blob and Data Lake Storage)</a:t>
            </a:r>
            <a:endParaRPr lang="en-US" sz="1000" dirty="0"/>
          </a:p>
          <a:p>
            <a:pPr algn="just"/>
            <a:r>
              <a:rPr lang="en-US" sz="1000" dirty="0"/>
              <a:t>Azure Blob Storage and ADLS now introduce </a:t>
            </a:r>
            <a:r>
              <a:rPr lang="en-US" sz="1000" b="1" dirty="0"/>
              <a:t>Smart Tier (GA)</a:t>
            </a:r>
            <a:r>
              <a:rPr lang="en-US" sz="1000" dirty="0"/>
              <a:t>, a fully managed solution that automatically optimizes storage costs. It dynamically moves data between </a:t>
            </a:r>
            <a:r>
              <a:rPr lang="en-US" sz="1000" b="1" dirty="0"/>
              <a:t>hot, cool, and cold tiers</a:t>
            </a:r>
            <a:r>
              <a:rPr lang="en-US" sz="1000" dirty="0"/>
              <a:t> based on access patterns without manual configuration. New data starts in the hot tier, then transitions to cooler tiers after periods of inactivity, and moves back to hot when accessed. The feature is easy to enable at the </a:t>
            </a:r>
            <a:r>
              <a:rPr lang="en-US" sz="1000" b="1" dirty="0"/>
              <a:t>storage account level</a:t>
            </a:r>
            <a:r>
              <a:rPr lang="en-US" sz="1000" dirty="0"/>
              <a:t> and works on existing workloads. It simplifies cost management with </a:t>
            </a:r>
            <a:r>
              <a:rPr lang="en-US" sz="1000" b="1" dirty="0"/>
              <a:t>no charges for tier transitions, retrieval, or early deletion</a:t>
            </a:r>
            <a:r>
              <a:rPr lang="en-US" sz="1000" dirty="0"/>
              <a:t> (only a small monitoring fee applies).</a:t>
            </a:r>
          </a:p>
        </p:txBody>
      </p:sp>
      <p:sp>
        <p:nvSpPr>
          <p:cNvPr id="11" name="Title 10">
            <a:extLst>
              <a:ext uri="{FF2B5EF4-FFF2-40B4-BE49-F238E27FC236}">
                <a16:creationId xmlns:a16="http://schemas.microsoft.com/office/drawing/2014/main" id="{F3F52A13-614F-F618-4B9C-591B009977B2}"/>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95405789-54A1-B49A-B9F4-2BC26AD8154F}"/>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84D6F84-88AB-C63B-5FD4-B461BDD233D2}"/>
              </a:ext>
            </a:extLst>
          </p:cNvPr>
          <p:cNvSpPr>
            <a:spLocks noGrp="1"/>
          </p:cNvSpPr>
          <p:nvPr>
            <p:ph type="body" sz="quarter" idx="16"/>
          </p:nvPr>
        </p:nvSpPr>
        <p:spPr/>
        <p:txBody>
          <a:bodyPr/>
          <a:lstStyle/>
          <a:p>
            <a:pPr algn="just"/>
            <a:r>
              <a:rPr lang="en-US" dirty="0">
                <a:hlinkClick r:id="rId3"/>
              </a:rPr>
              <a:t>Generally Available: Granular Encryption-in-Transit Controls for SMB and NFS on Azure Files</a:t>
            </a:r>
            <a:endParaRPr lang="en-US" dirty="0"/>
          </a:p>
          <a:p>
            <a:pPr algn="just"/>
            <a:r>
              <a:rPr lang="en-US" dirty="0"/>
              <a:t>Azure Files now supports </a:t>
            </a:r>
            <a:r>
              <a:rPr lang="en-US" b="1" dirty="0"/>
              <a:t>independent encryption-in-transit settings for SMB and NFS protocols</a:t>
            </a:r>
            <a:r>
              <a:rPr lang="en-US" dirty="0"/>
              <a:t>, allowing protocol-specific security configurations. This enables organizations to </a:t>
            </a:r>
            <a:r>
              <a:rPr lang="en-US" b="1" dirty="0"/>
              <a:t>apply different encryption requirements per protocol</a:t>
            </a:r>
            <a:r>
              <a:rPr lang="en-US" dirty="0"/>
              <a:t>, improving flexibility for mixed workloads. It is particularly useful in environments where </a:t>
            </a:r>
            <a:r>
              <a:rPr lang="en-US" b="1" dirty="0"/>
              <a:t>SMB and NFS have different security or compliance needs</a:t>
            </a:r>
            <a:r>
              <a:rPr lang="en-US" dirty="0"/>
              <a:t>. The feature can be configured via the </a:t>
            </a:r>
            <a:r>
              <a:rPr lang="en-US" b="1" dirty="0"/>
              <a:t>Azure portal, CLI, PowerShell, or REST API</a:t>
            </a:r>
            <a:r>
              <a:rPr lang="en-US" dirty="0"/>
              <a:t>. This enhances control without compromising usability.</a:t>
            </a:r>
          </a:p>
        </p:txBody>
      </p:sp>
    </p:spTree>
    <p:extLst>
      <p:ext uri="{BB962C8B-B14F-4D97-AF65-F5344CB8AC3E}">
        <p14:creationId xmlns:p14="http://schemas.microsoft.com/office/powerpoint/2010/main" val="2281606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Announcing SQL Server Management Studio 22.5</a:t>
            </a:r>
            <a:endParaRPr lang="en-US" dirty="0"/>
          </a:p>
          <a:p>
            <a:pPr algn="just"/>
            <a:r>
              <a:rPr lang="en-US" dirty="0"/>
              <a:t>SSMS 22.5 introduces several enhancements focused on </a:t>
            </a:r>
            <a:r>
              <a:rPr lang="en-US" b="1" dirty="0"/>
              <a:t>migration, productivity, and AI-assisted development</a:t>
            </a:r>
            <a:r>
              <a:rPr lang="en-US" dirty="0"/>
              <a:t>. A new </a:t>
            </a:r>
            <a:r>
              <a:rPr lang="en-US" b="1" dirty="0"/>
              <a:t>Migration Page</a:t>
            </a:r>
            <a:r>
              <a:rPr lang="en-US" dirty="0"/>
              <a:t> centralizes assessment, provisioning, migration, and monitoring tasks, simplifying the move from Azure Data Studio. SQL Projects continue to evolve with features like </a:t>
            </a:r>
            <a:r>
              <a:rPr lang="en-US" b="1" dirty="0"/>
              <a:t>importing existing databases, advanced publish settings, and new templates</a:t>
            </a:r>
            <a:r>
              <a:rPr lang="en-US" dirty="0"/>
              <a:t>, supporting modern DevOps workflows. The connection dialog has been improved to </a:t>
            </a:r>
            <a:r>
              <a:rPr lang="en-US" b="1" dirty="0"/>
              <a:t>reduce confusion when modifying connection details</a:t>
            </a:r>
            <a:r>
              <a:rPr lang="en-US" dirty="0"/>
              <a:t>. GitHub Copilot integration is enhanced with the ability to </a:t>
            </a:r>
            <a:r>
              <a:rPr lang="en-US" b="1" dirty="0"/>
              <a:t>interact directly with query results, execution plans, and messages</a:t>
            </a:r>
            <a:r>
              <a:rPr lang="en-US" dirty="0"/>
              <a:t>, improving analysis efficiency. </a:t>
            </a:r>
          </a:p>
        </p:txBody>
      </p:sp>
    </p:spTree>
    <p:extLst>
      <p:ext uri="{BB962C8B-B14F-4D97-AF65-F5344CB8AC3E}">
        <p14:creationId xmlns:p14="http://schemas.microsoft.com/office/powerpoint/2010/main" val="1776979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3715-9869-88DC-2CB8-A7701BFB332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9D1DAA-5541-5F8D-D325-1706397A6A43}"/>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B05E9534-3C35-9313-C6E7-9E564BDFC466}"/>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DE6CD169-A2F9-0F7E-49EE-EC7FAE204B1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510AD9-2A44-5DDF-30FA-DE4500EB2760}"/>
              </a:ext>
            </a:extLst>
          </p:cNvPr>
          <p:cNvSpPr>
            <a:spLocks noGrp="1"/>
          </p:cNvSpPr>
          <p:nvPr>
            <p:ph type="body" sz="quarter" idx="16"/>
          </p:nvPr>
        </p:nvSpPr>
        <p:spPr/>
        <p:txBody>
          <a:bodyPr/>
          <a:lstStyle/>
          <a:p>
            <a:pPr algn="just"/>
            <a:r>
              <a:rPr lang="en-US" dirty="0">
                <a:hlinkClick r:id="rId2"/>
              </a:rPr>
              <a:t>Cascading Read Replicas Now Generally Available!</a:t>
            </a:r>
            <a:endParaRPr lang="en-US" dirty="0"/>
          </a:p>
          <a:p>
            <a:pPr algn="just"/>
            <a:r>
              <a:rPr lang="en-US" dirty="0"/>
              <a:t>Cascading read replicas for </a:t>
            </a:r>
            <a:r>
              <a:rPr lang="en-US" b="1" dirty="0"/>
              <a:t>Azure Database for PostgreSQL</a:t>
            </a:r>
            <a:r>
              <a:rPr lang="en-US" dirty="0"/>
              <a:t> are now generally available, enabling </a:t>
            </a:r>
            <a:r>
              <a:rPr lang="en-US" b="1" dirty="0"/>
              <a:t>multi-level replication from both primary servers and existing replicas</a:t>
            </a:r>
            <a:r>
              <a:rPr lang="en-US" dirty="0"/>
              <a:t>. This allows organizations to build </a:t>
            </a:r>
            <a:r>
              <a:rPr lang="en-US" b="1" dirty="0"/>
              <a:t>tree-like replication topologies</a:t>
            </a:r>
            <a:r>
              <a:rPr lang="en-US" dirty="0"/>
              <a:t> and scale read workloads more effectively. By placing replicas closer to users, applications can achieve </a:t>
            </a:r>
            <a:r>
              <a:rPr lang="en-US" b="1" dirty="0"/>
              <a:t>lower latency and improved performance</a:t>
            </a:r>
            <a:r>
              <a:rPr lang="en-US" dirty="0"/>
              <a:t> for global deployments. The feature supports up to </a:t>
            </a:r>
            <a:r>
              <a:rPr lang="en-US" b="1" dirty="0"/>
              <a:t>30 read replicas and two replication levels</a:t>
            </a:r>
            <a:r>
              <a:rPr lang="en-US" dirty="0"/>
              <a:t>, enhancing scalability and flexibility. It also helps distribute read traffic efficiently and balance load across regions.</a:t>
            </a:r>
          </a:p>
        </p:txBody>
      </p:sp>
    </p:spTree>
    <p:extLst>
      <p:ext uri="{BB962C8B-B14F-4D97-AF65-F5344CB8AC3E}">
        <p14:creationId xmlns:p14="http://schemas.microsoft.com/office/powerpoint/2010/main" val="58001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ADB6-113C-7F12-FA61-67D8C365299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028B91B-AE7C-2437-0508-F4249B752765}"/>
              </a:ext>
            </a:extLst>
          </p:cNvPr>
          <p:cNvSpPr>
            <a:spLocks noGrp="1"/>
          </p:cNvSpPr>
          <p:nvPr>
            <p:ph type="body" sz="quarter" idx="10"/>
          </p:nvPr>
        </p:nvSpPr>
        <p:spPr/>
        <p:txBody>
          <a:bodyPr/>
          <a:lstStyle/>
          <a:p>
            <a:pPr algn="just"/>
            <a:r>
              <a:rPr lang="en-US" sz="1000" dirty="0">
                <a:hlinkClick r:id="rId2"/>
              </a:rPr>
              <a:t>Now in Foundry: Microsoft Harrier and NVIDIA EGM-8B</a:t>
            </a:r>
            <a:endParaRPr lang="en-US" sz="1000" dirty="0"/>
          </a:p>
          <a:p>
            <a:pPr algn="just"/>
            <a:r>
              <a:rPr lang="en-US" sz="1000" dirty="0"/>
              <a:t>This week’s Model Mondays highlights a shift toward </a:t>
            </a:r>
            <a:r>
              <a:rPr lang="en-US" sz="1000" b="1" dirty="0"/>
              <a:t>efficiency-first AI models</a:t>
            </a:r>
            <a:r>
              <a:rPr lang="en-US" sz="1000" dirty="0"/>
              <a:t>, where optimized training techniques deliver performance comparable to much larger models. Microsoft Research’s </a:t>
            </a:r>
            <a:r>
              <a:rPr lang="en-US" sz="1000" b="1" dirty="0"/>
              <a:t>harrier-oss-v1-0.6b</a:t>
            </a:r>
            <a:r>
              <a:rPr lang="en-US" sz="1000" dirty="0"/>
              <a:t> achieves state-of-the-art results in multilingual embeddings despite its small size, using </a:t>
            </a:r>
            <a:r>
              <a:rPr lang="en-US" sz="1000" b="1" dirty="0"/>
              <a:t>contrastive learning and knowledge distillation</a:t>
            </a:r>
            <a:r>
              <a:rPr lang="en-US" sz="1000" dirty="0"/>
              <a:t>. NVIDIA’s </a:t>
            </a:r>
            <a:r>
              <a:rPr lang="en-US" sz="1000" b="1" dirty="0"/>
              <a:t>EGM-8B</a:t>
            </a:r>
            <a:r>
              <a:rPr lang="en-US" sz="1000" dirty="0"/>
              <a:t> demonstrates strong performance in visual grounding through </a:t>
            </a:r>
            <a:r>
              <a:rPr lang="en-US" sz="1000" b="1" dirty="0"/>
              <a:t>reinforcement learning</a:t>
            </a:r>
            <a:r>
              <a:rPr lang="en-US" sz="1000" dirty="0"/>
              <a:t>, rivaling larger vision-language models. These models show that </a:t>
            </a:r>
            <a:r>
              <a:rPr lang="en-US" sz="1000" b="1" dirty="0"/>
              <a:t>training strategy can be as impactful as model scale</a:t>
            </a:r>
            <a:r>
              <a:rPr lang="en-US" sz="1000" dirty="0"/>
              <a:t>, narrowing the gap between small and large models. They support a wide range of use cases, including </a:t>
            </a:r>
            <a:r>
              <a:rPr lang="en-US" sz="1000" b="1" dirty="0"/>
              <a:t>retrieval, semantic search, and multimodal AI tasks</a:t>
            </a:r>
            <a:r>
              <a:rPr lang="en-US" sz="1000" dirty="0"/>
              <a:t>.</a:t>
            </a:r>
          </a:p>
        </p:txBody>
      </p:sp>
      <p:sp>
        <p:nvSpPr>
          <p:cNvPr id="11" name="Title 10">
            <a:extLst>
              <a:ext uri="{FF2B5EF4-FFF2-40B4-BE49-F238E27FC236}">
                <a16:creationId xmlns:a16="http://schemas.microsoft.com/office/drawing/2014/main" id="{EE84B67F-7026-D091-4F4B-F5819D59C9E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55AD8010-EE62-F57B-5CA1-B8E7B6C0ECD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B331A00-CF62-F468-BCCC-F6840B7358F5}"/>
              </a:ext>
            </a:extLst>
          </p:cNvPr>
          <p:cNvSpPr>
            <a:spLocks noGrp="1"/>
          </p:cNvSpPr>
          <p:nvPr>
            <p:ph type="body" sz="quarter" idx="16"/>
          </p:nvPr>
        </p:nvSpPr>
        <p:spPr/>
        <p:txBody>
          <a:bodyPr/>
          <a:lstStyle/>
          <a:p>
            <a:r>
              <a:rPr lang="en-US" dirty="0">
                <a:hlinkClick r:id="rId3"/>
              </a:rPr>
              <a:t>What’s New in Microsoft Foundry Fine-Tuning | April 2026</a:t>
            </a:r>
            <a:endParaRPr lang="en-US" dirty="0"/>
          </a:p>
          <a:p>
            <a:r>
              <a:rPr lang="en-US" dirty="0"/>
              <a:t>MS released the following updates:</a:t>
            </a:r>
          </a:p>
          <a:p>
            <a:pPr marL="171450" indent="-171450">
              <a:buFont typeface="Arial" panose="020B0604020202020204" pitchFamily="34" charset="0"/>
              <a:buChar char="•"/>
            </a:pPr>
            <a:r>
              <a:rPr lang="en-US" dirty="0"/>
              <a:t>Global Training for o4-mini — train from 13+ Azure regions at lower per-token rates.</a:t>
            </a:r>
          </a:p>
          <a:p>
            <a:pPr marL="171450" indent="-171450">
              <a:buFont typeface="Arial" panose="020B0604020202020204" pitchFamily="34" charset="0"/>
              <a:buChar char="•"/>
            </a:pPr>
            <a:r>
              <a:rPr lang="en-US" dirty="0"/>
              <a:t>New model graders — GPT-4.1, GPT-4.1-mini, and GPT-4.1-nano are now available as model graders, giving you more flexibility and cost control when scoring model outputs.</a:t>
            </a:r>
          </a:p>
          <a:p>
            <a:pPr marL="171450" indent="-171450">
              <a:buFont typeface="Arial" panose="020B0604020202020204" pitchFamily="34" charset="0"/>
              <a:buChar char="•"/>
            </a:pPr>
            <a:r>
              <a:rPr lang="en-US" dirty="0"/>
              <a:t>RFT best practices — a distilled guide to help you design graders, prepare data, and avoid common pitfalls.</a:t>
            </a:r>
          </a:p>
        </p:txBody>
      </p:sp>
    </p:spTree>
    <p:extLst>
      <p:ext uri="{BB962C8B-B14F-4D97-AF65-F5344CB8AC3E}">
        <p14:creationId xmlns:p14="http://schemas.microsoft.com/office/powerpoint/2010/main" val="586386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1E86-1EBC-4F6B-6E64-6EB5FD91F4A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14285B5-6219-941D-B080-ACB23944E4D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0107EA6-8DB4-F344-F529-449034C075F0}"/>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DA4EB956-5F49-48E0-B1D6-AE1A636CECB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383DE5A4-66B0-B9DC-0E46-93B58BC9C3FE}"/>
              </a:ext>
            </a:extLst>
          </p:cNvPr>
          <p:cNvSpPr>
            <a:spLocks noGrp="1"/>
          </p:cNvSpPr>
          <p:nvPr>
            <p:ph type="body" sz="quarter" idx="16"/>
          </p:nvPr>
        </p:nvSpPr>
        <p:spPr/>
        <p:txBody>
          <a:bodyPr/>
          <a:lstStyle/>
          <a:p>
            <a:pPr algn="just"/>
            <a:r>
              <a:rPr lang="en-US" dirty="0">
                <a:hlinkClick r:id="rId2"/>
              </a:rPr>
              <a:t>Claude Opus 4.7 is available on Microsoft Foundry</a:t>
            </a:r>
            <a:endParaRPr lang="en-US" dirty="0"/>
          </a:p>
          <a:p>
            <a:pPr algn="just"/>
            <a:r>
              <a:rPr lang="en-US" dirty="0"/>
              <a:t>Claude Opus 4.7, </a:t>
            </a:r>
            <a:r>
              <a:rPr lang="en-US" dirty="0" err="1"/>
              <a:t>Anthropic’s</a:t>
            </a:r>
            <a:r>
              <a:rPr lang="en-US" dirty="0"/>
              <a:t> most advanced model, is now available in Microsoft Foundry, bringing enterprise-grade AI capabilities directly into Azure-based development environments. It delivers improved performance in </a:t>
            </a:r>
            <a:r>
              <a:rPr lang="en-US" b="1" dirty="0"/>
              <a:t>agentic coding, long-running workflows, reasoning, and vision tasks</a:t>
            </a:r>
            <a:r>
              <a:rPr lang="en-US" dirty="0"/>
              <a:t>, making it well suited for complex, multi-step enterprise use cases. Organizations already using Opus 4.6 can upgrade seamlessly with minimal changes to existing toolchains and APIs.</a:t>
            </a:r>
          </a:p>
          <a:p>
            <a:pPr algn="just"/>
            <a:r>
              <a:rPr lang="en-US" dirty="0"/>
              <a:t>Microsoft Foundry provides a unified platform for </a:t>
            </a:r>
            <a:r>
              <a:rPr lang="en-US" b="1" dirty="0"/>
              <a:t>model deployment, governance, and monitoring</a:t>
            </a:r>
            <a:r>
              <a:rPr lang="en-US" dirty="0"/>
              <a:t>, ensuring built-in security through Entra ID, private networking, and Azure Monitor logging. This allows enterprises to adopt frontier AI without compromising compliance or control requirements.</a:t>
            </a:r>
          </a:p>
          <a:p>
            <a:pPr algn="just"/>
            <a:r>
              <a:rPr lang="en-US" dirty="0"/>
              <a:t>Overall, Claude Opus 4.7 enhances productivity and accuracy across real-world workloads while maintaining a </a:t>
            </a:r>
            <a:r>
              <a:rPr lang="en-US" b="1" dirty="0"/>
              <a:t>secure, scalable, and governed AI environment</a:t>
            </a:r>
            <a:r>
              <a:rPr lang="en-US" dirty="0"/>
              <a:t> on Azure.</a:t>
            </a:r>
          </a:p>
          <a:p>
            <a:pPr algn="just"/>
            <a:endParaRPr lang="en-US" dirty="0"/>
          </a:p>
        </p:txBody>
      </p:sp>
    </p:spTree>
    <p:extLst>
      <p:ext uri="{BB962C8B-B14F-4D97-AF65-F5344CB8AC3E}">
        <p14:creationId xmlns:p14="http://schemas.microsoft.com/office/powerpoint/2010/main" val="384996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a:p>
            <a:r>
              <a:rPr lang="en-US" dirty="0">
                <a:hlinkClick r:id="rId3"/>
              </a:rPr>
              <a:t>AzureTimes.org</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2.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521</TotalTime>
  <Words>3167</Words>
  <Application>Microsoft Office PowerPoint</Application>
  <PresentationFormat>On-screen Show (16:9)</PresentationFormat>
  <Paragraphs>109</Paragraphs>
  <Slides>27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Human Sans</vt:lpstr>
      <vt:lpstr>Human Sans Regular</vt:lpstr>
      <vt:lpstr>Continuum Theme</vt:lpstr>
      <vt:lpstr>Azure Times #202</vt:lpstr>
      <vt:lpstr>PowerPoint Presentation</vt:lpstr>
      <vt:lpstr>Networking Updates</vt:lpstr>
      <vt:lpstr>PowerPoint Presentation</vt:lpstr>
      <vt:lpstr>Security &amp; Identity Updates</vt:lpstr>
      <vt:lpstr>PowerPoint Presentation</vt:lpstr>
      <vt:lpstr>Management &amp; Governance Updates</vt:lpstr>
      <vt:lpstr>Management &amp; Governance Updates</vt:lpstr>
      <vt:lpstr>PowerPoint Presentation</vt:lpstr>
      <vt:lpstr>Compute Updates</vt:lpstr>
      <vt:lpstr>Compute Updates</vt:lpstr>
      <vt:lpstr>Compute Updates</vt:lpstr>
      <vt:lpstr>Compute Updates</vt:lpstr>
      <vt:lpstr>PowerPoint Presentation</vt:lpstr>
      <vt:lpstr>Storage &amp; Data Updates</vt:lpstr>
      <vt:lpstr>Storage &amp; Data Updates</vt:lpstr>
      <vt:lpstr>Storage &amp; Data Updates</vt:lpstr>
      <vt:lpstr>Storage &amp; Data Updates</vt:lpstr>
      <vt:lpstr>PowerPoint Presentation</vt:lpstr>
      <vt:lpstr>Databases Updates</vt:lpstr>
      <vt:lpstr>Databases Updates</vt:lpstr>
      <vt:lpstr>PowerPoint Presentation</vt:lpstr>
      <vt:lpstr>ML &amp; AI &amp; IOT Updates</vt:lpstr>
      <vt:lpstr>ML &amp; AI &amp; IOT Updates</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135</cp:revision>
  <dcterms:created xsi:type="dcterms:W3CDTF">2018-01-26T19:23:30Z</dcterms:created>
  <dcterms:modified xsi:type="dcterms:W3CDTF">2026-04-18T06:18:56Z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