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2"/>
  </p:notesMasterIdLst>
  <p:handoutMasterIdLst>
    <p:handoutMasterId r:id="rId33"/>
  </p:handoutMasterIdLst>
  <p:sldIdLst>
    <p:sldId id="2142532340" r:id="rId5"/>
    <p:sldId id="2146847046" r:id="rId6"/>
    <p:sldId id="2146847089" r:id="rId7"/>
    <p:sldId id="2146847130" r:id="rId8"/>
    <p:sldId id="2146847129" r:id="rId9"/>
    <p:sldId id="2146847128" r:id="rId10"/>
    <p:sldId id="2146847156" r:id="rId11"/>
    <p:sldId id="2146847157" r:id="rId12"/>
    <p:sldId id="2146847048" r:id="rId13"/>
    <p:sldId id="2146847049" r:id="rId14"/>
    <p:sldId id="2146847132" r:id="rId15"/>
    <p:sldId id="2146847050" r:id="rId16"/>
    <p:sldId id="2146847096" r:id="rId17"/>
    <p:sldId id="2146847134" r:id="rId18"/>
    <p:sldId id="2146847052" r:id="rId19"/>
    <p:sldId id="2146847137" r:id="rId20"/>
    <p:sldId id="2146847054" r:id="rId21"/>
    <p:sldId id="2146847141" r:id="rId22"/>
    <p:sldId id="2146847058" r:id="rId23"/>
    <p:sldId id="2146847111" r:id="rId24"/>
    <p:sldId id="2146847146" r:id="rId25"/>
    <p:sldId id="2146847147" r:id="rId26"/>
    <p:sldId id="2146847119" r:id="rId27"/>
    <p:sldId id="2146847151" r:id="rId28"/>
    <p:sldId id="2146847085" r:id="rId29"/>
    <p:sldId id="2146847084" r:id="rId30"/>
    <p:sldId id="2146847064" r:id="rId3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ection>
        <p14:section name="Security &amp; Identity" id="{1AA42572-B3BD-44F7-813B-C2C647DDBB3C}">
          <p14:sldIdLst>
            <p14:sldId id="2146847046"/>
            <p14:sldId id="2146847089"/>
            <p14:sldId id="2146847130"/>
            <p14:sldId id="2146847129"/>
            <p14:sldId id="2146847128"/>
            <p14:sldId id="2146847156"/>
            <p14:sldId id="2146847157"/>
          </p14:sldIdLst>
        </p14:section>
        <p14:section name="Management &amp; Governance" id="{34181601-6D48-4406-A525-C7B5A12C6C5B}">
          <p14:sldIdLst>
            <p14:sldId id="2146847048"/>
            <p14:sldId id="2146847049"/>
            <p14:sldId id="2146847132"/>
          </p14:sldIdLst>
        </p14:section>
        <p14:section name="Compute" id="{05AA80BB-8802-49AB-8336-A884227CE2F7}">
          <p14:sldIdLst>
            <p14:sldId id="2146847050"/>
            <p14:sldId id="2146847096"/>
            <p14:sldId id="2146847134"/>
          </p14:sldIdLst>
        </p14:section>
        <p14:section name="Storage &amp; Data" id="{1F159046-CE0A-45BC-9D5B-6E6C95980F78}">
          <p14:sldIdLst>
            <p14:sldId id="2146847052"/>
            <p14:sldId id="2146847137"/>
          </p14:sldIdLst>
        </p14:section>
        <p14:section name="Databases" id="{AEAFAE72-AD56-48F3-926B-38BAE269038F}">
          <p14:sldIdLst>
            <p14:sldId id="2146847054"/>
            <p14:sldId id="2146847141"/>
          </p14:sldIdLst>
        </p14:section>
        <p14:section name="Integration" id="{ACBD46A3-6F1C-451B-A154-0A056E0DEFF6}">
          <p14:sldIdLst/>
        </p14:section>
        <p14:section name="ML &amp; AI &amp; IOT" id="{F4E1EAF1-55E9-4CA4-8ADC-28B69C1D66D2}">
          <p14:sldIdLst>
            <p14:sldId id="2146847058"/>
            <p14:sldId id="2146847111"/>
            <p14:sldId id="2146847146"/>
            <p14:sldId id="2146847147"/>
            <p14:sldId id="2146847119"/>
            <p14:sldId id="2146847151"/>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6CBD"/>
    <a:srgbClr val="002050"/>
    <a:srgbClr val="F25D43"/>
    <a:srgbClr val="CADC49"/>
    <a:srgbClr val="E53B2E"/>
    <a:srgbClr val="FFC000"/>
    <a:srgbClr val="D35D47"/>
    <a:srgbClr val="008ACF"/>
    <a:srgbClr val="76CDD8"/>
    <a:srgbClr val="75A0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03" d="100"/>
          <a:sy n="103" d="100"/>
        </p:scale>
        <p:origin x="1013" y="77"/>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7/5/2026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7/5/2026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prevent-unauthorized-changes-to-ad-groups-with-ad-group-enforcement" TargetMode="External"/><Relationship Id="rId2" Type="http://schemas.openxmlformats.org/officeDocument/2006/relationships/hyperlink" Target="https://learn.microsoft.com/en-us/entra/fundamentals/whats-new#public-preview---new-built-in-entra-role-for-soc-identity-response-in-microsoft-defender"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new-built-in-entra-role-for-soc-identity-response-in-microsoft-defender" TargetMode="External"/><Relationship Id="rId2" Type="http://schemas.openxmlformats.org/officeDocument/2006/relationships/hyperlink" Target="https://learn.microsoft.com/en-us/entra/fundamentals/whats-new#public-preview---extended-conditional-access-protections-for-agents-user-accounts"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techcommunity.microsoft.com/blog/microsoft-entra-blog/microsoft-entra-backup-and-recovery-is-now-generally-available/4521997" TargetMode="External"/><Relationship Id="rId2" Type="http://schemas.openxmlformats.org/officeDocument/2006/relationships/hyperlink" Target="https://learn.microsoft.com/en-us/entra/fundamentals/whats-new#general-availability---scim-20-apis-for-microsoft-entra-id-in-us-gov-cloud"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domainless-saml-idp-federation-for-workforce-tenants" TargetMode="External"/><Relationship Id="rId2" Type="http://schemas.openxmlformats.org/officeDocument/2006/relationships/hyperlink" Target="https://learn.microsoft.com/en-us/entra/fundamentals/whats-new#generally-available---jailbreakroot-detection-in-authenticator-app"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byod-support-for-windows-client-using-entra-registration" TargetMode="External"/><Relationship Id="rId2" Type="http://schemas.openxmlformats.org/officeDocument/2006/relationships/hyperlink" Target="https://learn.microsoft.com/en-us/entra/fundamentals/whats-new#general-availability---microsoft-entra-kerberos-key-rotation-improved-reliability-for-incoming-trust-referral-flows"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learn.microsoft.com/en-us/entra/fundamentals/whats-new#general-availability---external-users-can-be-directly-assigned-to-access-packages"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66948" TargetMode="External"/><Relationship Id="rId2" Type="http://schemas.openxmlformats.org/officeDocument/2006/relationships/hyperlink" Target="https://techcommunity.microsoft.com/blog/azureobservabilityblog/find-anomalies-in-prometheus-and-opentelemetry-metrics-with-dynamic-thresholds-p/4533069"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techcommunity.microsoft.com/blog/azuregovernanceandmanagementblog/azure-landing-zone-alz-enters-its-next-chapter/4533520" TargetMode="External"/><Relationship Id="rId2" Type="http://schemas.openxmlformats.org/officeDocument/2006/relationships/hyperlink" Target="https://azure.microsoft.com/ru-ru/updates?id=565758"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devblogs.microsoft.com/commandline/wsl-container-is-now-available-for-public-preview/"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techcommunity.microsoft.com/blog/sapapplications/announcing-public-preview-of-new-mbv4-virtual-machines/4526899"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azure.microsoft.com/ru-ru/updates?id=566895"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azure.microsoft.com/ru-ru/updates?id=566209"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azure.microsoft.com/ru-ru/updates?id=563331"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hyperlink" Target="https://azure.microsoft.com/ru-ru/updates?id=567194" TargetMode="External"/><Relationship Id="rId2" Type="http://schemas.openxmlformats.org/officeDocument/2006/relationships/hyperlink" Target="https://azure.microsoft.com/ru-ru/updates?id=563481"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hyperlink" Target="https://azure.microsoft.com/ru-ru/updates?id=564382"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chatgpt.com/g/g-p-68ef573567288191a5cf580435b67458/c/69abbe1e-65fc-838d-b3c6-8332bc94a16d"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DB9B821-34BB-CD1F-240C-32A91FACE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2" name="Title 1"/>
          <p:cNvSpPr>
            <a:spLocks noGrp="1"/>
          </p:cNvSpPr>
          <p:nvPr>
            <p:ph type="ctrTitle"/>
          </p:nvPr>
        </p:nvSpPr>
        <p:spPr>
          <a:xfrm>
            <a:off x="281666" y="1200151"/>
            <a:ext cx="8458200" cy="2228850"/>
          </a:xfrm>
        </p:spPr>
        <p:txBody>
          <a:bodyPr/>
          <a:lstStyle/>
          <a:p>
            <a:r>
              <a:rPr lang="en-US" sz="5400" dirty="0">
                <a:solidFill>
                  <a:schemeClr val="bg1"/>
                </a:solidFill>
              </a:rPr>
              <a:t>Azure Times #213</a:t>
            </a:r>
          </a:p>
        </p:txBody>
      </p:sp>
      <p:sp>
        <p:nvSpPr>
          <p:cNvPr id="4" name="Text Placeholder 3"/>
          <p:cNvSpPr>
            <a:spLocks noGrp="1"/>
          </p:cNvSpPr>
          <p:nvPr>
            <p:ph type="body" sz="quarter" idx="11"/>
          </p:nvPr>
        </p:nvSpPr>
        <p:spPr/>
        <p:txBody>
          <a:bodyPr/>
          <a:lstStyle/>
          <a:p>
            <a:r>
              <a:rPr lang="en-US" spc="300" dirty="0"/>
              <a:t>July 06,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A568778-FA5D-0368-E208-4FAB7C1EAF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solidFill>
                  <a:schemeClr val="bg1"/>
                </a:solidFill>
              </a:rPr>
              <a:t>Security &amp; Identity</a:t>
            </a:r>
          </a:p>
        </p:txBody>
      </p:sp>
    </p:spTree>
    <p:extLst>
      <p:ext uri="{BB962C8B-B14F-4D97-AF65-F5344CB8AC3E}">
        <p14:creationId xmlns:p14="http://schemas.microsoft.com/office/powerpoint/2010/main" val="31179200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 New built-in Entra role for SOC identity response in Microsoft Defender</a:t>
            </a:r>
            <a:endParaRPr lang="en-US" sz="1000" dirty="0"/>
          </a:p>
          <a:p>
            <a:pPr algn="just"/>
            <a:r>
              <a:rPr lang="en-US" sz="1000" dirty="0"/>
              <a:t>Starting June 8 we're introducing a new built-in role in Microsoft Entra—SOC Identity Responder—to further improve how security teams execute identity containment actions initiated from Microsoft Defender using a least-privilege access model.</a:t>
            </a:r>
          </a:p>
          <a:p>
            <a:pPr algn="just"/>
            <a:r>
              <a:rPr lang="en-US" sz="1000" dirty="0"/>
              <a:t>Previously, performing these actions required SOC analysts to hold multiple high-privilege Entra roles or depend on identity administrators, creating delays during active investigations.</a:t>
            </a:r>
          </a:p>
          <a:p>
            <a:pPr algn="just"/>
            <a:r>
              <a:rPr lang="en-US" sz="1000" dirty="0"/>
              <a:t>With this update, SOC analysts can be assigned a dedicated role purpose-built for identity response actions, allowing them to perform key actions—such as disabling users, revoking sessions, and forcing password resets—without being granted broad directory administrative privileges.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 Prevent unauthorized changes to AD groups with AD group enforcement</a:t>
            </a:r>
            <a:endParaRPr lang="en-US" dirty="0"/>
          </a:p>
          <a:p>
            <a:pPr algn="just"/>
            <a:r>
              <a:rPr lang="en-US" dirty="0"/>
              <a:t>For customers leveraging group provisioning to AD, this capability ensures that changes to AD groups remain consistent with those managed in Microsoft Entra. With this preview, you can designate specific AD groups so that modifications to those groups can only be made through the Entra provisioning service. Changes made outside of Entra are blocked, helping prevent drift before it occurs and maintaining alignment between Entra ID and AD groups.</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pPr algn="just"/>
            <a:r>
              <a:rPr lang="en-US" sz="1000" dirty="0">
                <a:hlinkClick r:id="rId2"/>
              </a:rPr>
              <a:t>Public Preview - Extended Conditional Access protections for Agent's user accounts</a:t>
            </a:r>
            <a:endParaRPr lang="en-US" sz="1000" dirty="0"/>
          </a:p>
          <a:p>
            <a:pPr algn="just"/>
            <a:r>
              <a:rPr lang="en-US" sz="1000" dirty="0"/>
              <a:t>Conditional Access now provides broader controls to secure AI agents that have a user account. Administrators can:</a:t>
            </a:r>
          </a:p>
          <a:p>
            <a:pPr marL="171450" indent="-171450" algn="just">
              <a:buFont typeface="Arial" panose="020B0604020202020204" pitchFamily="34" charset="0"/>
              <a:buChar char="•"/>
            </a:pPr>
            <a:r>
              <a:rPr lang="en-US" sz="1000" dirty="0"/>
              <a:t>Target agent's user accounts with greater precision by including or excluding individual agents or dynamically grouping agents using Custom Security Attributes.</a:t>
            </a:r>
          </a:p>
          <a:p>
            <a:pPr marL="171450" indent="-171450" algn="just">
              <a:buFont typeface="Arial" panose="020B0604020202020204" pitchFamily="34" charset="0"/>
              <a:buChar char="•"/>
            </a:pPr>
            <a:r>
              <a:rPr lang="en-US" sz="1000" dirty="0"/>
              <a:t>Protect against risky agent activity by applying Conditional Access policies based on Agent Risk.</a:t>
            </a:r>
          </a:p>
          <a:p>
            <a:pPr marL="171450" indent="-171450" algn="just">
              <a:buFont typeface="Arial" panose="020B0604020202020204" pitchFamily="34" charset="0"/>
              <a:buChar char="•"/>
            </a:pPr>
            <a:r>
              <a:rPr lang="en-US" sz="1000" dirty="0"/>
              <a:t>Require compliant devices for agents running on managed endpoints, including Windows 365 for Agents, ensuring agents can only operate from devices that meet your organization's compliance requirements.</a:t>
            </a:r>
          </a:p>
          <a:p>
            <a:pPr marL="171450" indent="-171450" algn="just">
              <a:buFont typeface="Arial" panose="020B0604020202020204" pitchFamily="34" charset="0"/>
              <a:buChar char="•"/>
            </a:pPr>
            <a:r>
              <a:rPr lang="en-US" sz="1000" dirty="0"/>
              <a:t>Apply device platforms, filter for devices and compliant network conditions to agents running on endpoints, enabling policies based on device state and trusted network locations.</a:t>
            </a:r>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 (Preview)</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p:txBody>
          <a:bodyPr/>
          <a:lstStyle/>
          <a:p>
            <a:pPr algn="just"/>
            <a:r>
              <a:rPr lang="en-US" dirty="0">
                <a:hlinkClick r:id="rId3"/>
              </a:rPr>
              <a:t>Upcoming change - Improved restore experience for device-bound Authenticator app passkeys on iOS</a:t>
            </a:r>
            <a:endParaRPr lang="en-US" dirty="0"/>
          </a:p>
          <a:p>
            <a:pPr algn="just"/>
            <a:r>
              <a:rPr lang="en-US" dirty="0"/>
              <a:t>Starting August 2026, users will see an improved restore experience for device-bound Authenticator app passkeys for iOS users. No admin or user action is required.</a:t>
            </a:r>
          </a:p>
          <a:p>
            <a:pPr algn="just"/>
            <a:r>
              <a:rPr lang="en-US" dirty="0"/>
              <a:t>With this update:</a:t>
            </a:r>
          </a:p>
          <a:p>
            <a:pPr marL="171450" indent="-171450" algn="just">
              <a:buFont typeface="Arial" panose="020B0604020202020204" pitchFamily="34" charset="0"/>
              <a:buChar char="•"/>
            </a:pPr>
            <a:r>
              <a:rPr lang="en-US" dirty="0"/>
              <a:t>Users who already have iCloud and iCloud Keychain backup enabled for the Authenticator app—and have device-bound Authenticator passkeys on their old device—will automatically benefit from this improved experience.</a:t>
            </a:r>
          </a:p>
          <a:p>
            <a:pPr marL="171450" indent="-171450" algn="just">
              <a:buFont typeface="Arial" panose="020B0604020202020204" pitchFamily="34" charset="0"/>
              <a:buChar char="•"/>
            </a:pPr>
            <a:r>
              <a:rPr lang="en-US" dirty="0"/>
              <a:t>Users restoring their Authenticator app on a new iOS device will experience an updated restore flow.</a:t>
            </a:r>
          </a:p>
          <a:p>
            <a:pPr algn="just"/>
            <a:endParaRPr lang="en-US" dirty="0"/>
          </a:p>
        </p:txBody>
      </p:sp>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pPr algn="just"/>
            <a:r>
              <a:rPr lang="en-US" sz="1000" dirty="0">
                <a:hlinkClick r:id="rId2"/>
              </a:rPr>
              <a:t>General Availability - SCIM 2.0 APIs for Microsoft Entra ID in US Gov cloud</a:t>
            </a:r>
            <a:endParaRPr lang="en-US" sz="1000" dirty="0"/>
          </a:p>
          <a:p>
            <a:pPr algn="just"/>
            <a:r>
              <a:rPr lang="en-US" sz="1000" dirty="0"/>
              <a:t>SCIM 2.0 APIs are now generally available in the US Gov cloud, giving customers, developers, and partners a standards-based option for managing users and groups in Microsoft Entra using the System for Cross-domain Identity Management (SCIM) 2.0 specification.</a:t>
            </a:r>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3"/>
              </a:rPr>
              <a:t>Microsoft Entra Backup and Recovery is now generally available</a:t>
            </a:r>
            <a:endParaRPr lang="ru-RU" dirty="0"/>
          </a:p>
          <a:p>
            <a:pPr algn="just"/>
            <a:r>
              <a:rPr lang="en-US" b="1" dirty="0"/>
              <a:t>Microsoft Entra Backup and Recovery</a:t>
            </a:r>
            <a:r>
              <a:rPr lang="en-US" dirty="0"/>
              <a:t> is now </a:t>
            </a:r>
            <a:r>
              <a:rPr lang="en-US" b="1" dirty="0"/>
              <a:t>generally available</a:t>
            </a:r>
            <a:r>
              <a:rPr lang="en-US" dirty="0"/>
              <a:t>, giving organizations a built-in way to recover critical Entra ID objects and configuration after accidental changes or malicious updates. The service automatically takes </a:t>
            </a:r>
            <a:r>
              <a:rPr lang="en-US" b="1" dirty="0"/>
              <a:t>daily backups</a:t>
            </a:r>
            <a:r>
              <a:rPr lang="en-US" dirty="0"/>
              <a:t> of supported identity objects and keeps a rolling </a:t>
            </a:r>
            <a:r>
              <a:rPr lang="en-US" b="1" dirty="0"/>
              <a:t>five-day recovery window</a:t>
            </a:r>
            <a:r>
              <a:rPr lang="en-US" dirty="0"/>
              <a:t>, helping administrators restore the tenant to a previously known-good state. Supported objects include </a:t>
            </a:r>
            <a:r>
              <a:rPr lang="en-US" b="1" dirty="0"/>
              <a:t>users, groups, applications, service principals, managed identities, Conditional Access policies, named locations, and authentication/authorization policies</a:t>
            </a:r>
            <a:r>
              <a:rPr lang="en-US" dirty="0"/>
              <a:t>. Administrators can also generate </a:t>
            </a:r>
            <a:r>
              <a:rPr lang="en-US" b="1" dirty="0"/>
              <a:t>difference reports</a:t>
            </a:r>
            <a:r>
              <a:rPr lang="en-US" dirty="0"/>
              <a:t> to compare the current tenant state with a backup snapshot before performing recovery. The feature is included for customers with </a:t>
            </a:r>
            <a:r>
              <a:rPr lang="en-US" b="1" dirty="0"/>
              <a:t>Microsoft Entra ID P1 or P2</a:t>
            </a:r>
            <a:r>
              <a:rPr lang="en-US" dirty="0"/>
              <a:t> and is rolling out to workforce tenants. Strategically, this closes a long-standing gap in Entra resilience by turning identity recovery from a manual, audit-log-driven exercise into a native recovery capability with defined recovery points.</a:t>
            </a:r>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EA49D73-280D-0307-3C1A-932883BD3815}"/>
              </a:ext>
            </a:extLst>
          </p:cNvPr>
          <p:cNvSpPr>
            <a:spLocks noGrp="1"/>
          </p:cNvSpPr>
          <p:nvPr>
            <p:ph type="body" sz="quarter" idx="10"/>
          </p:nvPr>
        </p:nvSpPr>
        <p:spPr/>
        <p:txBody>
          <a:bodyPr/>
          <a:lstStyle/>
          <a:p>
            <a:pPr algn="just"/>
            <a:r>
              <a:rPr lang="en-US" sz="1000" dirty="0">
                <a:hlinkClick r:id="rId2"/>
              </a:rPr>
              <a:t>Generally available - Jailbreak/Root Detection in Authenticator App</a:t>
            </a:r>
            <a:endParaRPr lang="en-US" sz="1000" dirty="0"/>
          </a:p>
          <a:p>
            <a:pPr algn="just"/>
            <a:r>
              <a:rPr lang="en-US" sz="1000" dirty="0"/>
              <a:t>Microsoft Authenticator introduced jailbreak/root detection for Microsoft work or school accounts in the Authenticator app. Users with rooted/jailbroken devices will be blocked from adding/using work or school accounts in Authenticator app. Users must move to compliant devices to continue using work or school accounts in Authenticator. This capability is secure by default and does not require any admin configuration or control.</a:t>
            </a:r>
          </a:p>
        </p:txBody>
      </p:sp>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Security &amp; Identity Updates (General Available)</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7653CBA-7798-1DDA-935D-84A87F7469B1}"/>
              </a:ext>
            </a:extLst>
          </p:cNvPr>
          <p:cNvSpPr>
            <a:spLocks noGrp="1"/>
          </p:cNvSpPr>
          <p:nvPr>
            <p:ph type="body" sz="quarter" idx="16"/>
          </p:nvPr>
        </p:nvSpPr>
        <p:spPr/>
        <p:txBody>
          <a:bodyPr/>
          <a:lstStyle/>
          <a:p>
            <a:pPr algn="just"/>
            <a:r>
              <a:rPr lang="en-US" dirty="0">
                <a:hlinkClick r:id="rId3"/>
              </a:rPr>
              <a:t>General Availability - Domainless SAML IdP federation for workforce tenants</a:t>
            </a:r>
            <a:endParaRPr lang="en-US" dirty="0"/>
          </a:p>
          <a:p>
            <a:pPr algn="just"/>
            <a:r>
              <a:rPr lang="en-US" dirty="0"/>
              <a:t>Domainless SAML federation with a SAML Identity Provider allows external users to authenticate into your apps or workforce resources using their IdP-managed credentials, regardless of their email domain. Domainless federation removes the need for domain matching between the user's email and preconfigured IdP domains during sign-in or invitation redemption.</a:t>
            </a:r>
          </a:p>
        </p:txBody>
      </p:sp>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662A264-C986-7672-9879-637D6C199D2F}"/>
              </a:ext>
            </a:extLst>
          </p:cNvPr>
          <p:cNvSpPr>
            <a:spLocks noGrp="1"/>
          </p:cNvSpPr>
          <p:nvPr>
            <p:ph type="body" sz="quarter" idx="10"/>
          </p:nvPr>
        </p:nvSpPr>
        <p:spPr/>
        <p:txBody>
          <a:bodyPr/>
          <a:lstStyle/>
          <a:p>
            <a:pPr algn="just"/>
            <a:r>
              <a:rPr lang="en-US" sz="1000" dirty="0">
                <a:hlinkClick r:id="rId2"/>
              </a:rPr>
              <a:t>General availability - Microsoft Entra Kerberos key rotation improved reliability for incoming trust referral flows</a:t>
            </a:r>
            <a:endParaRPr lang="en-US" sz="1000" dirty="0"/>
          </a:p>
          <a:p>
            <a:pPr algn="just"/>
            <a:r>
              <a:rPr lang="en-US" sz="1000" dirty="0"/>
              <a:t>General availability of Microsoft Entra Kerberos key rotation improved reliability particularly for environments using incoming trust referral flows. Previously, authentication failures could occur during Kerberos key rotation if referral tickets were encrypted with a secondary key. The update enhances validation logic to attempt decryption with both primary and secondary Kerberos keys, improving resiliency during key rollover operations and reducing authentication disruption during rotation events. </a:t>
            </a:r>
          </a:p>
        </p:txBody>
      </p:sp>
      <p:sp>
        <p:nvSpPr>
          <p:cNvPr id="3" name="Title 2">
            <a:extLst>
              <a:ext uri="{FF2B5EF4-FFF2-40B4-BE49-F238E27FC236}">
                <a16:creationId xmlns:a16="http://schemas.microsoft.com/office/drawing/2014/main" id="{FD284828-EA0F-4D53-60EF-1599130DD951}"/>
              </a:ext>
            </a:extLst>
          </p:cNvPr>
          <p:cNvSpPr>
            <a:spLocks noGrp="1"/>
          </p:cNvSpPr>
          <p:nvPr>
            <p:ph type="title"/>
          </p:nvPr>
        </p:nvSpPr>
        <p:spPr/>
        <p:txBody>
          <a:bodyPr/>
          <a:lstStyle/>
          <a:p>
            <a:r>
              <a:rPr lang="en-US" sz="1600" dirty="0"/>
              <a:t>Security &amp; Identity Updates (General Available)</a:t>
            </a:r>
            <a:endParaRPr lang="en-US" dirty="0"/>
          </a:p>
        </p:txBody>
      </p:sp>
      <p:sp>
        <p:nvSpPr>
          <p:cNvPr id="4" name="Text Placeholder 3">
            <a:extLst>
              <a:ext uri="{FF2B5EF4-FFF2-40B4-BE49-F238E27FC236}">
                <a16:creationId xmlns:a16="http://schemas.microsoft.com/office/drawing/2014/main" id="{21128D3F-EFCF-6687-2E92-2E2787CC3E1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8E795F01-1A61-D188-AFCB-C57DDBE5F637}"/>
              </a:ext>
            </a:extLst>
          </p:cNvPr>
          <p:cNvSpPr>
            <a:spLocks noGrp="1"/>
          </p:cNvSpPr>
          <p:nvPr>
            <p:ph type="body" sz="quarter" idx="16"/>
          </p:nvPr>
        </p:nvSpPr>
        <p:spPr/>
        <p:txBody>
          <a:bodyPr/>
          <a:lstStyle/>
          <a:p>
            <a:pPr algn="just"/>
            <a:r>
              <a:rPr lang="en-US" dirty="0">
                <a:hlinkClick r:id="rId3"/>
              </a:rPr>
              <a:t>General Availability - BYOD support for Windows client using Entra registration</a:t>
            </a:r>
            <a:endParaRPr lang="en-US" dirty="0"/>
          </a:p>
          <a:p>
            <a:pPr algn="just"/>
            <a:r>
              <a:rPr lang="en-US" dirty="0"/>
              <a:t>MS announced Bring Your Own Device (BYOD) support for Windows client using Entra-registered devices is now generally available. You can now enable </a:t>
            </a:r>
            <a:r>
              <a:rPr lang="en-US" b="1" dirty="0"/>
              <a:t>users and partners</a:t>
            </a:r>
            <a:r>
              <a:rPr lang="en-US" dirty="0"/>
              <a:t> to access corporate resources from their own devices. Administrators can assign the </a:t>
            </a:r>
            <a:r>
              <a:rPr lang="en-US" b="1" dirty="0"/>
              <a:t>Private Application</a:t>
            </a:r>
            <a:r>
              <a:rPr lang="en-US" dirty="0"/>
              <a:t> traffic profile to users with internal accounts, including </a:t>
            </a:r>
            <a:r>
              <a:rPr lang="en-US" b="1" dirty="0"/>
              <a:t>internal guest users</a:t>
            </a:r>
            <a:r>
              <a:rPr lang="en-US" dirty="0"/>
              <a:t>. This removes the previous requirement for Windows devices to be domain-joined.</a:t>
            </a:r>
          </a:p>
        </p:txBody>
      </p:sp>
    </p:spTree>
    <p:extLst>
      <p:ext uri="{BB962C8B-B14F-4D97-AF65-F5344CB8AC3E}">
        <p14:creationId xmlns:p14="http://schemas.microsoft.com/office/powerpoint/2010/main" val="344849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808A0E2-963F-1C87-98C5-61E8EFE7B142}"/>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54516CF9-9FA7-8568-D8D4-D971024A32A6}"/>
              </a:ext>
            </a:extLst>
          </p:cNvPr>
          <p:cNvSpPr>
            <a:spLocks noGrp="1"/>
          </p:cNvSpPr>
          <p:nvPr>
            <p:ph type="title"/>
          </p:nvPr>
        </p:nvSpPr>
        <p:spPr/>
        <p:txBody>
          <a:bodyPr/>
          <a:lstStyle/>
          <a:p>
            <a:r>
              <a:rPr lang="en-US" sz="1800" dirty="0"/>
              <a:t>Security &amp; Identity Updates (General Available)</a:t>
            </a:r>
            <a:endParaRPr lang="en-US" dirty="0"/>
          </a:p>
        </p:txBody>
      </p:sp>
      <p:sp>
        <p:nvSpPr>
          <p:cNvPr id="4" name="Text Placeholder 3">
            <a:extLst>
              <a:ext uri="{FF2B5EF4-FFF2-40B4-BE49-F238E27FC236}">
                <a16:creationId xmlns:a16="http://schemas.microsoft.com/office/drawing/2014/main" id="{1CA5A020-517B-7C65-8968-6038D9AC9DCE}"/>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539E55D3-B0B6-09C9-E32A-A7BEC4A83C50}"/>
              </a:ext>
            </a:extLst>
          </p:cNvPr>
          <p:cNvSpPr>
            <a:spLocks noGrp="1"/>
          </p:cNvSpPr>
          <p:nvPr>
            <p:ph type="body" sz="quarter" idx="16"/>
          </p:nvPr>
        </p:nvSpPr>
        <p:spPr/>
        <p:txBody>
          <a:bodyPr/>
          <a:lstStyle/>
          <a:p>
            <a:pPr algn="just"/>
            <a:r>
              <a:rPr lang="en-US" dirty="0">
                <a:hlinkClick r:id="rId2"/>
              </a:rPr>
              <a:t>General Availability - External users can be directly assigned to Access Packages</a:t>
            </a:r>
            <a:endParaRPr lang="en-US" dirty="0"/>
          </a:p>
          <a:p>
            <a:pPr algn="just"/>
            <a:r>
              <a:rPr lang="en-US" dirty="0"/>
              <a:t>This feature allows Entitlement Management admins to directly assign external users who are not in the directory to an access package using the user's email. Users are invited into the tenant as Guest users and are governed</a:t>
            </a:r>
          </a:p>
        </p:txBody>
      </p:sp>
    </p:spTree>
    <p:extLst>
      <p:ext uri="{BB962C8B-B14F-4D97-AF65-F5344CB8AC3E}">
        <p14:creationId xmlns:p14="http://schemas.microsoft.com/office/powerpoint/2010/main" val="11958293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5404AB4-665F-F8DC-DFC8-3BE90D9EDF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solidFill>
                  <a:schemeClr val="bg1"/>
                </a:solidFill>
              </a:rPr>
              <a:t>Management &amp; </a:t>
            </a:r>
          </a:p>
          <a:p>
            <a:r>
              <a:rPr lang="en-US" sz="4000" dirty="0">
                <a:solidFill>
                  <a:schemeClr val="bg1"/>
                </a:solidFill>
              </a:rPr>
              <a:t>Governance</a:t>
            </a:r>
          </a:p>
        </p:txBody>
      </p:sp>
    </p:spTree>
    <p:extLst>
      <p:ext uri="{BB962C8B-B14F-4D97-AF65-F5344CB8AC3E}">
        <p14:creationId xmlns:p14="http://schemas.microsoft.com/office/powerpoint/2010/main" val="3479183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Find anomalies in Prometheus and </a:t>
            </a:r>
            <a:r>
              <a:rPr lang="en-US" sz="1000" dirty="0" err="1">
                <a:hlinkClick r:id="rId2"/>
              </a:rPr>
              <a:t>OpenTelemetry</a:t>
            </a:r>
            <a:r>
              <a:rPr lang="en-US" sz="1000" dirty="0">
                <a:hlinkClick r:id="rId2"/>
              </a:rPr>
              <a:t> metrics with Dynamic Thresholds (Preview)</a:t>
            </a:r>
            <a:endParaRPr lang="en-US" sz="1000" dirty="0"/>
          </a:p>
          <a:p>
            <a:r>
              <a:rPr lang="en-US" sz="1000" b="1" dirty="0"/>
              <a:t>Azure Monitor</a:t>
            </a:r>
            <a:r>
              <a:rPr lang="en-US" sz="1000" dirty="0"/>
              <a:t> now extends </a:t>
            </a:r>
            <a:r>
              <a:rPr lang="en-US" sz="1000" b="1" dirty="0"/>
              <a:t>Dynamic Thresholds</a:t>
            </a:r>
            <a:r>
              <a:rPr lang="en-US" sz="1000" dirty="0"/>
              <a:t> to </a:t>
            </a:r>
            <a:r>
              <a:rPr lang="en-US" sz="1000" b="1" dirty="0"/>
              <a:t>Prometheus and </a:t>
            </a:r>
            <a:r>
              <a:rPr lang="en-US" sz="1000" b="1" dirty="0" err="1"/>
              <a:t>OpenTelemetry</a:t>
            </a:r>
            <a:r>
              <a:rPr lang="en-US" sz="1000" b="1" dirty="0"/>
              <a:t> metrics</a:t>
            </a:r>
            <a:r>
              <a:rPr lang="en-US" sz="1000" dirty="0"/>
              <a:t>, bringing machine learning–based anomaly detection to cloud-native observability data. Instead of manually setting static alert thresholds, Azure can analyze historical metric behavior, learn normal patterns, and automatically generate adaptive thresholds for container, Kubernetes, and application telemetry collected through Prometheus and </a:t>
            </a:r>
            <a:r>
              <a:rPr lang="en-US" sz="1000" dirty="0" err="1"/>
              <a:t>OpenTelemetry</a:t>
            </a:r>
            <a:r>
              <a:rPr lang="en-US" sz="1000" dirty="0"/>
              <a:t>.</a:t>
            </a:r>
          </a:p>
          <a:p>
            <a:r>
              <a:rPr lang="en-US" sz="1000" dirty="0"/>
              <a:t>This is particularly valuable for modern distributed environments where metric patterns change frequently and differ by service, cluster, namespace, or application component. Dynamic thresholds help reduce alert noise, improve anomaly detection, and make it easier to identify unusual behavior without constant tuning of thresholds. The capability is especially relevant for </a:t>
            </a:r>
            <a:r>
              <a:rPr lang="en-US" sz="1000" b="1" dirty="0"/>
              <a:t>AKS, Container Apps, microservices, and </a:t>
            </a:r>
            <a:r>
              <a:rPr lang="en-US" sz="1000" b="1" dirty="0" err="1"/>
              <a:t>OpenTelemetry</a:t>
            </a:r>
            <a:r>
              <a:rPr lang="en-US" sz="1000" b="1" dirty="0"/>
              <a:t>-instrumented applications</a:t>
            </a:r>
            <a:r>
              <a:rPr lang="en-US" sz="1000" dirty="0"/>
              <a:t> where scale and workload patterns can fluctuate significantly.</a:t>
            </a:r>
          </a:p>
          <a:p>
            <a:r>
              <a:rPr lang="en-US" sz="1000" dirty="0"/>
              <a:t>For operations teams, the main value is simpler and more reliable alerting for cloud-native platforms, using the same anomaly-detection model already available for Log Search Alerts and Azure platform metrics. In a weekly update, I’d frame this as </a:t>
            </a:r>
            <a:r>
              <a:rPr lang="en-US" sz="1000" b="1" dirty="0"/>
              <a:t>Azure Monitor bringing adaptive, ML-based alerting to Prometheus and </a:t>
            </a:r>
            <a:r>
              <a:rPr lang="en-US" sz="1000" b="1" dirty="0" err="1"/>
              <a:t>OpenTelemetry</a:t>
            </a:r>
            <a:r>
              <a:rPr lang="en-US" sz="1000" b="1" dirty="0"/>
              <a:t> telemetry, reducing manual threshold tuning for Kubernetes and modern application workloads</a:t>
            </a:r>
            <a:r>
              <a:rPr lang="en-US" sz="1000" dirty="0"/>
              <a:t>.</a:t>
            </a:r>
          </a:p>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Storage Mover now supports migration from Google Cloud Storage (GCS)</a:t>
            </a:r>
            <a:endParaRPr lang="en-US" dirty="0"/>
          </a:p>
          <a:p>
            <a:pPr algn="just"/>
            <a:r>
              <a:rPr lang="en-US" dirty="0"/>
              <a:t>Azure Storage Mover now supports cloud-to-cloud migration of data from Google Cloud Storage (GCS) to Azure Blob Storage, helping organizations simplify multi-cloud consolidation onto Azure.</a:t>
            </a:r>
          </a:p>
          <a:p>
            <a:pPr algn="just"/>
            <a:r>
              <a:rPr lang="en-US" dirty="0"/>
              <a:t>Using the S3-compatible interface, customers can migrate data from GCS buckets through a fully managed, agentless experience with HMAC credentials stored securely in Azure Key Vault, no custom tooling required. For workloads with strict security and compliance needs, migrations can run over private network connections using Azure Private Link and Private Service Connect, keeping data off the public internet and within trusted network boundaries.</a:t>
            </a:r>
          </a:p>
          <a:p>
            <a:pPr algn="just"/>
            <a:r>
              <a:rPr lang="en-US" dirty="0"/>
              <a:t>With this update, enterprises can consolidate their cloud storage into Azure securely and at scale, reducing operational overhead while meeting their network isolation requirements.</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pPr algn="just"/>
            <a:r>
              <a:rPr lang="en-US" sz="1000" dirty="0">
                <a:hlinkClick r:id="rId2"/>
              </a:rPr>
              <a:t>Public Preview: Instant Access via application consistent restore points</a:t>
            </a:r>
            <a:endParaRPr lang="en-US" sz="1000" dirty="0"/>
          </a:p>
          <a:p>
            <a:pPr algn="just"/>
            <a:r>
              <a:rPr lang="en-US" sz="1000" dirty="0"/>
              <a:t>Azure introduces Instant Access for VM Restore Points, enabling you to restore disks immediately after a restore point is created—without waiting for background data replication.</a:t>
            </a:r>
          </a:p>
          <a:p>
            <a:pPr algn="just"/>
            <a:r>
              <a:rPr lang="en-US" sz="1000" dirty="0"/>
              <a:t>Key benefits:</a:t>
            </a:r>
          </a:p>
          <a:p>
            <a:pPr marL="171450" indent="-171450" algn="just">
              <a:buFont typeface="Arial" panose="020B0604020202020204" pitchFamily="34" charset="0"/>
              <a:buChar char="•"/>
            </a:pPr>
            <a:r>
              <a:rPr lang="en-US" sz="1000" dirty="0"/>
              <a:t>Faster recovery (lower RTO): Restore disks instantly—no wait for data hydration.</a:t>
            </a:r>
          </a:p>
          <a:p>
            <a:pPr marL="171450" indent="-171450" algn="just">
              <a:buFont typeface="Arial" panose="020B0604020202020204" pitchFamily="34" charset="0"/>
              <a:buChar char="•"/>
            </a:pPr>
            <a:r>
              <a:rPr lang="en-US" sz="1000" dirty="0"/>
              <a:t>High performance from the start: Restored disks are usable immediately while data copies in the background.</a:t>
            </a:r>
          </a:p>
          <a:p>
            <a:pPr marL="171450" indent="-171450" algn="just">
              <a:buFont typeface="Arial" panose="020B0604020202020204" pitchFamily="34" charset="0"/>
              <a:buChar char="•"/>
            </a:pPr>
            <a:r>
              <a:rPr lang="en-US" sz="1000" dirty="0"/>
              <a:t>Consistent recovery: Application-consistent restore points ensure reliable recovery across all VM disks.</a:t>
            </a:r>
          </a:p>
          <a:p>
            <a:pPr marL="171450" indent="-171450" algn="just">
              <a:buFont typeface="Arial" panose="020B0604020202020204" pitchFamily="34" charset="0"/>
              <a:buChar char="•"/>
            </a:pPr>
            <a:r>
              <a:rPr lang="en-US" sz="1000" dirty="0"/>
              <a:t>Flexible controls: Enable Instant Access and configure duration per restore point or collection.</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 (Preview)</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3"/>
              </a:rPr>
              <a:t>Azure landing zone (ALZ) is now an official Microsoft product, owned and driven forward by the Azure Migrate product team</a:t>
            </a:r>
            <a:endParaRPr lang="en-US" dirty="0"/>
          </a:p>
          <a:p>
            <a:pPr algn="just"/>
            <a:r>
              <a:rPr lang="en-US" b="1" dirty="0"/>
              <a:t>Azure Landing Zone (ALZ)</a:t>
            </a:r>
            <a:r>
              <a:rPr lang="en-US" dirty="0"/>
              <a:t> is moving from a community-led architecture framework into an </a:t>
            </a:r>
            <a:r>
              <a:rPr lang="en-US" b="1" dirty="0"/>
              <a:t>official Microsoft product</a:t>
            </a:r>
            <a:r>
              <a:rPr lang="en-US" dirty="0"/>
              <a:t>, now owned and driven by the </a:t>
            </a:r>
            <a:r>
              <a:rPr lang="en-US" b="1" dirty="0"/>
              <a:t>Azure Migrate product team</a:t>
            </a:r>
            <a:r>
              <a:rPr lang="en-US" dirty="0"/>
              <a:t>. This marks a major shift in how Microsoft positions ALZ: from a set of reference implementations and best practices to a more formal productized platform foundation for Azure adoption and governance. </a:t>
            </a:r>
          </a:p>
          <a:p>
            <a:pPr algn="just"/>
            <a:r>
              <a:rPr lang="en-US" dirty="0"/>
              <a:t>For customers, the practical meaning is stronger long-term investment in </a:t>
            </a:r>
            <a:r>
              <a:rPr lang="en-US" b="1" dirty="0"/>
              <a:t>enterprise-scale Azure foundations</a:t>
            </a:r>
            <a:r>
              <a:rPr lang="en-US" dirty="0"/>
              <a:t> such as management groups, policy, identity, networking, platform governance, and landing zone deployment patterns. Microsoft is signaling that ALZ will remain the recommended starting point for organizations building standardized Azure platforms, but with a clearer product roadmap, deeper engineering ownership, and tighter integration into Azure onboarding and migration journeys.</a:t>
            </a:r>
          </a:p>
          <a:p>
            <a:pPr algn="just"/>
            <a:endParaRPr lang="en-US" dirty="0"/>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2E070E0-1172-0461-DF36-41256FE66DE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Compute</a:t>
            </a:r>
          </a:p>
        </p:txBody>
      </p:sp>
    </p:spTree>
    <p:extLst>
      <p:ext uri="{BB962C8B-B14F-4D97-AF65-F5344CB8AC3E}">
        <p14:creationId xmlns:p14="http://schemas.microsoft.com/office/powerpoint/2010/main" val="27474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WSL container is now available for public preview</a:t>
            </a:r>
            <a:endParaRPr lang="en-US" dirty="0"/>
          </a:p>
          <a:p>
            <a:pPr algn="just"/>
            <a:r>
              <a:rPr lang="en-US" dirty="0"/>
              <a:t>Microsoft has released </a:t>
            </a:r>
            <a:r>
              <a:rPr lang="en-US" b="1" dirty="0"/>
              <a:t>WSL Containers</a:t>
            </a:r>
            <a:r>
              <a:rPr lang="en-US" dirty="0"/>
              <a:t> in public preview, bringing a </a:t>
            </a:r>
            <a:r>
              <a:rPr lang="en-US" b="1" dirty="0"/>
              <a:t>native Linux container experience directly into Windows Subsystem for Linux (WSL)</a:t>
            </a:r>
            <a:r>
              <a:rPr lang="en-US" dirty="0"/>
              <a:t>. The update adds a built-in </a:t>
            </a:r>
            <a:r>
              <a:rPr lang="en-US" b="1" dirty="0"/>
              <a:t>wslc.exe container CLI</a:t>
            </a:r>
            <a:r>
              <a:rPr lang="en-US" dirty="0"/>
              <a:t> for running, building, and managing Linux containers, along with a </a:t>
            </a:r>
            <a:r>
              <a:rPr lang="en-US" b="1" dirty="0"/>
              <a:t>WSL container API</a:t>
            </a:r>
            <a:r>
              <a:rPr lang="en-US" dirty="0"/>
              <a:t> that lets Windows applications programmatically use Linux containers as part of their own workflows. </a:t>
            </a:r>
          </a:p>
          <a:p>
            <a:pPr algn="just"/>
            <a:r>
              <a:rPr lang="en-US" dirty="0"/>
              <a:t>The main benefit is that developers can now run Linux container workflows on Windows </a:t>
            </a:r>
            <a:r>
              <a:rPr lang="en-US" b="1" dirty="0"/>
              <a:t>without relying on a separate container runtime stack just to get started</a:t>
            </a:r>
            <a:r>
              <a:rPr lang="en-US" dirty="0"/>
              <a:t>. Microsoft is positioning this as a more integrated developer experience for building, testing, debugging, and running containerized workloads locally, while also exposing GPU access, networking, file mounts, and other container capabilities through the WSL API surface. </a:t>
            </a:r>
          </a:p>
          <a:p>
            <a:pPr algn="just"/>
            <a:r>
              <a:rPr lang="en-US" dirty="0"/>
              <a:t>From an enterprise perspective, this strengthens WSL as a Windows-native Linux development platform and could reduce friction for teams using containers, dev environments, and AI/ML tooling on Windows laptops. It also has broader ecosystem impact because the underlying platform improvements are intended to benefit other container tools running on Windows as well.</a:t>
            </a:r>
          </a:p>
          <a:p>
            <a:pPr algn="just"/>
            <a:endParaRPr lang="en-US" dirty="0"/>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736A2DE-B6FD-C635-9880-42440690A8EF}"/>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 (Preview)</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2"/>
              </a:rPr>
              <a:t>Announcing public preview of new Mbv4 Virtual Machines</a:t>
            </a:r>
            <a:endParaRPr lang="en-US" dirty="0"/>
          </a:p>
          <a:p>
            <a:pPr algn="just"/>
            <a:r>
              <a:rPr lang="en-US" dirty="0"/>
              <a:t>Microsoft has announced the </a:t>
            </a:r>
            <a:r>
              <a:rPr lang="en-US" b="1" dirty="0"/>
              <a:t>public preview of the new Mbv4 virtual machines</a:t>
            </a:r>
            <a:r>
              <a:rPr lang="en-US" dirty="0"/>
              <a:t>, designed for </a:t>
            </a:r>
            <a:r>
              <a:rPr lang="en-US" b="1" dirty="0"/>
              <a:t>large-scale, memory-intensive SAP workloads</a:t>
            </a:r>
            <a:r>
              <a:rPr lang="en-US" dirty="0"/>
              <a:t> running on Azure. The Mbv4 series expands Azure’s portfolio of </a:t>
            </a:r>
            <a:r>
              <a:rPr lang="en-US" b="1" dirty="0"/>
              <a:t>M-family SAP-certified VMs</a:t>
            </a:r>
            <a:r>
              <a:rPr lang="en-US" dirty="0"/>
              <a:t>, targeting enterprise applications such as </a:t>
            </a:r>
            <a:r>
              <a:rPr lang="en-US" b="1" dirty="0"/>
              <a:t>SAP HANA</a:t>
            </a:r>
            <a:r>
              <a:rPr lang="en-US" dirty="0"/>
              <a:t>, large in-memory databases, and business-critical ERP systems that require very high memory capacity and compute performance.</a:t>
            </a:r>
          </a:p>
          <a:p>
            <a:pPr algn="just"/>
            <a:r>
              <a:rPr lang="en-US" dirty="0"/>
              <a:t>The new generation is built to provide </a:t>
            </a:r>
            <a:r>
              <a:rPr lang="en-US" b="1" dirty="0"/>
              <a:t>improved performance, scalability, and efficiency</a:t>
            </a:r>
            <a:r>
              <a:rPr lang="en-US" dirty="0"/>
              <a:t> compared to earlier M-series platforms, helping customers run larger SAP environments with better consolidation and operational flexibility. Mbv4 VMs are positioned for organizations modernizing or expanding SAP landscapes on Azure, especially where performance, availability, and certified infrastructure are critical.</a:t>
            </a:r>
          </a:p>
          <a:p>
            <a:pPr algn="just"/>
            <a:r>
              <a:rPr lang="en-US" dirty="0"/>
              <a:t>For SAP customers, this release means more options for hosting </a:t>
            </a:r>
            <a:r>
              <a:rPr lang="en-US" b="1" dirty="0"/>
              <a:t>large production HANA databases and mission-critical SAP workloads</a:t>
            </a:r>
            <a:r>
              <a:rPr lang="en-US" dirty="0"/>
              <a:t> on Azure with infrastructure optimized for enterprise memory and compute demands. In a weekly update, I’d frame this as </a:t>
            </a:r>
            <a:r>
              <a:rPr lang="en-US" b="1" dirty="0"/>
              <a:t>Azure strengthening its high-end SAP infrastructure portfolio with a new generation of memory-optimized VMs aimed at large HANA and ERP deployments</a:t>
            </a:r>
            <a:r>
              <a:rPr lang="en-US" dirty="0"/>
              <a:t>.</a:t>
            </a:r>
          </a:p>
          <a:p>
            <a:pPr algn="just"/>
            <a:endParaRPr lang="en-US" dirty="0"/>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94A7C3-5FB1-1142-43BB-C9D9D2F5FD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Storage &amp; Data</a:t>
            </a:r>
          </a:p>
        </p:txBody>
      </p:sp>
    </p:spTree>
    <p:extLst>
      <p:ext uri="{BB962C8B-B14F-4D97-AF65-F5344CB8AC3E}">
        <p14:creationId xmlns:p14="http://schemas.microsoft.com/office/powerpoint/2010/main" val="2188140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 (Preview)</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2"/>
              </a:rPr>
              <a:t>Generally Available: Client-side data integrity protections in Azure Blob Storage</a:t>
            </a:r>
            <a:endParaRPr lang="en-US" dirty="0"/>
          </a:p>
          <a:p>
            <a:pPr algn="just"/>
            <a:r>
              <a:rPr lang="en-US" dirty="0"/>
              <a:t>Azure Blob Storage has long supported data integrity validation, starting with MD5 as part of the original HTTP standards and adding CRC64-NVME support in 2019. Today, CRC64-NVME is now integrated into the latest Azure Blob SDKs for .NET, C++, and JavaScript, extending Azure's data integrity protections all the way into client applications. By extending data protection into client applications, customers can verify end-to-end that data written to and read from Blob Storage remains fully intact—byte-for-byte—from the application layer to Azure’s underlying physical storage, using CRC64-NVME checksums. To get started, upgrade to the latest .NET, C++, or JavaScript SDK.</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CC0756-30F1-C5A0-AC58-437AF10EEF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Databases</a:t>
            </a:r>
          </a:p>
        </p:txBody>
      </p:sp>
    </p:spTree>
    <p:extLst>
      <p:ext uri="{BB962C8B-B14F-4D97-AF65-F5344CB8AC3E}">
        <p14:creationId xmlns:p14="http://schemas.microsoft.com/office/powerpoint/2010/main" val="124095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 (Preview)</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2"/>
              </a:rPr>
              <a:t>Generally Available: New </a:t>
            </a:r>
            <a:r>
              <a:rPr lang="en-US" dirty="0" err="1">
                <a:hlinkClick r:id="rId2"/>
              </a:rPr>
              <a:t>Powershell</a:t>
            </a:r>
            <a:r>
              <a:rPr lang="en-US" dirty="0">
                <a:hlinkClick r:id="rId2"/>
              </a:rPr>
              <a:t> module: </a:t>
            </a:r>
            <a:r>
              <a:rPr lang="en-US" dirty="0" err="1">
                <a:hlinkClick r:id="rId2"/>
              </a:rPr>
              <a:t>Az.PostgreSQLFlexibleServer</a:t>
            </a:r>
            <a:endParaRPr lang="en-US" dirty="0"/>
          </a:p>
          <a:p>
            <a:pPr algn="just"/>
            <a:r>
              <a:rPr lang="en-US" dirty="0"/>
              <a:t>Microsoft has introduced the newly renamed </a:t>
            </a:r>
            <a:r>
              <a:rPr lang="en-US" b="1" dirty="0" err="1"/>
              <a:t>Az.PostgreSQLFlexibleServer</a:t>
            </a:r>
            <a:r>
              <a:rPr lang="en-US" dirty="0"/>
              <a:t> PowerShell module for managing </a:t>
            </a:r>
            <a:r>
              <a:rPr lang="en-US" b="1" dirty="0"/>
              <a:t>Azure Database for PostgreSQL Flexible Server</a:t>
            </a:r>
            <a:r>
              <a:rPr lang="en-US" dirty="0"/>
              <a:t>. The module replaces the earlier </a:t>
            </a:r>
            <a:r>
              <a:rPr lang="en-US" b="1" dirty="0" err="1"/>
              <a:t>Az.PostgreSql</a:t>
            </a:r>
            <a:r>
              <a:rPr lang="en-US" dirty="0"/>
              <a:t> naming and aligns PowerShell management with the latest </a:t>
            </a:r>
            <a:r>
              <a:rPr lang="en-US" b="1" dirty="0"/>
              <a:t>2026-01-01 preview REST API</a:t>
            </a:r>
            <a:r>
              <a:rPr lang="en-US" dirty="0"/>
              <a:t> capabilities.</a:t>
            </a:r>
          </a:p>
          <a:p>
            <a:pPr algn="just"/>
            <a:r>
              <a:rPr lang="en-US" dirty="0"/>
              <a:t>The updated module adds support for </a:t>
            </a:r>
            <a:r>
              <a:rPr lang="en-US" b="1" dirty="0"/>
              <a:t>PostgreSQL 18</a:t>
            </a:r>
            <a:r>
              <a:rPr lang="en-US" dirty="0"/>
              <a:t>, </a:t>
            </a:r>
            <a:r>
              <a:rPr lang="en-US" b="1" dirty="0"/>
              <a:t>elastic clusters</a:t>
            </a:r>
            <a:r>
              <a:rPr lang="en-US" dirty="0"/>
              <a:t>, and other new platform features, allowing administrators to provision and manage newer PostgreSQL deployment models directly from PowerShell. This makes it easier to automate PostgreSQL operations, manage scalable environments, and integrate database administration into existing infrastructure-as-code and operational scripts.</a:t>
            </a:r>
          </a:p>
          <a:p>
            <a:pPr algn="just"/>
            <a:r>
              <a:rPr lang="en-US" dirty="0"/>
              <a:t>For teams already using PowerShell for Azure automation, the key value is access to the newest PostgreSQL Flexible Server capabilities without waiting for older tooling to catch up. In a weekly update, I’d position this as </a:t>
            </a:r>
            <a:r>
              <a:rPr lang="en-US" b="1" dirty="0"/>
              <a:t>a PowerShell management refresh for Azure PostgreSQL that brings support for PostgreSQL 18, elastic clusters, and newer platform operations into the Az module ecosystem</a:t>
            </a:r>
            <a:r>
              <a:rPr lang="en-US" dirty="0"/>
              <a:t>.</a:t>
            </a:r>
          </a:p>
          <a:p>
            <a:pPr algn="just"/>
            <a:endParaRPr lang="en-US" dirty="0"/>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6F8BCD-425D-C7B7-1AFF-05991429FE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ML &amp; AI &amp; IOT</a:t>
            </a:r>
          </a:p>
        </p:txBody>
      </p:sp>
    </p:spTree>
    <p:extLst>
      <p:ext uri="{BB962C8B-B14F-4D97-AF65-F5344CB8AC3E}">
        <p14:creationId xmlns:p14="http://schemas.microsoft.com/office/powerpoint/2010/main" val="35148783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Document PII playground sample in Microsoft Foundry NextGen</a:t>
            </a:r>
            <a:endParaRPr lang="en-US" dirty="0"/>
          </a:p>
          <a:p>
            <a:pPr algn="just"/>
            <a:r>
              <a:rPr lang="en-US" dirty="0"/>
              <a:t>Document-based PII detection in Azure AI Language now ships an initial playground experience in the Microsoft Foundry NextGen portal. The playground loads a prepared sample document, runs it through the document-based PII feature, and shows the redacted output side by side with the source so you can see entity categories, confidence scores, and the resulting file fidelity before integrating the API. This first cut focuses on the built-in sample to make first-touch evaluation fast; configuration of your own files and entity selection lands in the upcoming API configuration panel release. The capability uses the existing asynchronous native-file PII pipeline. </a:t>
            </a:r>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Generally Available: Toolboxes in Microsoft Foundry</a:t>
            </a:r>
            <a:endParaRPr lang="en-US" sz="1000" dirty="0"/>
          </a:p>
          <a:p>
            <a:pPr algn="just"/>
            <a:r>
              <a:rPr lang="en-US" sz="1000" dirty="0"/>
              <a:t>Microsoft Foundry brings Toolboxes to GA, providing a unified endpoint to invoke the most-used tools in prompt agents and callable outside of prompt agents. Today every agent team hand-assembles its own tool list to solve the same tasks, with no shared artifact to reuse across agents and no agreed way to consume a set of governed tools. Toolboxes provide that artifact: a curated, governed bundle of tools built once in the Foundry portal or in code, configured with governance policies, and reusable across an organization. The tools agents need span MCP servers, REST APIs, skills, and connectors, each with its own protocol and auth model. Toolboxes expose all of them through a single MCP-compatible endpoint so developers stop writing per-tool integration code and admins keep consistent governance over what agents can call. </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 (Preview)</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Generally available: Anthropic Claude Sonnet 5 on Azure Databricks</a:t>
            </a:r>
            <a:endParaRPr lang="ru-RU" dirty="0"/>
          </a:p>
          <a:p>
            <a:pPr algn="just"/>
            <a:r>
              <a:rPr lang="en-US" dirty="0"/>
              <a:t>Azure Databricks now supports Anthropic Claude Sonnet 5 through Azure Databricks AI Model Serving. Claude Sonnet 5 is </a:t>
            </a:r>
            <a:r>
              <a:rPr lang="en-US" dirty="0" err="1"/>
              <a:t>Anthropic's</a:t>
            </a:r>
            <a:r>
              <a:rPr lang="en-US" dirty="0"/>
              <a:t> most agentic Sonnet model to date, delivering near-Opus-level intelligence with Sonnet's cost efficiency and speed. Designed for coding, agentic workflows, and professional work at scale, it is a hybrid reasoning model with adaptive thinking on by default. Claude Sonnet 5's largest gains are in coding and agentic tasks, making it ideal for teams building long-running AI agents, automating multi-file software development, and running high-volume professional workflows where both quality and cost efficiency matter. The model runs securely within the Azure Databricks environment, with access available through pay-per-token Foundation Model APIs. Customers are responsible for ensuring their compliance with applicable terms. </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 (General Available)</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2"/>
              </a:rPr>
              <a:t>Generally Available: Document PII NextGen Playground in Azure AI Language</a:t>
            </a:r>
            <a:endParaRPr lang="en-US" dirty="0"/>
          </a:p>
          <a:p>
            <a:pPr algn="just"/>
            <a:r>
              <a:rPr lang="en-US" dirty="0"/>
              <a:t>Azure AI Language now offers a refreshed Document PII playground in general availability, giving customers a faster way to evaluate personally identifiable information detection on documents. The playground ships with curated sample inputs and outputs, so practitioners can see how the service handles names, addresses, financial IDs, and health identifiers without uploading their own data first. Reviewers can compare detection results across entity types in a single view, then move to live document uploads when they are ready to test on real content. This release helps compliance, legal, and data protection teams scope a PII redaction project in minutes rather than days. The playground uses the same Document PII model and policies as the production API, so what reviewers see is what they get. </a:t>
            </a:r>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5F9B1C-792B-99EC-B7CD-0AF8D296B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4748646" cy="1714500"/>
          </a:xfrm>
        </p:spPr>
        <p:txBody>
          <a:bodyPr/>
          <a:lstStyle/>
          <a:p>
            <a:r>
              <a:rPr lang="en-US" sz="4000" dirty="0">
                <a:solidFill>
                  <a:schemeClr val="bg1"/>
                </a:solidFill>
              </a:rPr>
              <a:t>DevOps &amp; IaC &amp; Automation</a:t>
            </a:r>
          </a:p>
        </p:txBody>
      </p:sp>
    </p:spTree>
    <p:extLst>
      <p:ext uri="{BB962C8B-B14F-4D97-AF65-F5344CB8AC3E}">
        <p14:creationId xmlns:p14="http://schemas.microsoft.com/office/powerpoint/2010/main" val="6537846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86D8C-1CF7-CFC9-5082-9B054DB0E4B0}"/>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7CBCE21E-6E97-4575-224A-07A9BE04CC17}"/>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913ABE3E-5CF4-60DA-7E03-258003FB6E61}"/>
              </a:ext>
            </a:extLst>
          </p:cNvPr>
          <p:cNvSpPr>
            <a:spLocks noGrp="1"/>
          </p:cNvSpPr>
          <p:nvPr>
            <p:ph type="title"/>
          </p:nvPr>
        </p:nvSpPr>
        <p:spPr/>
        <p:txBody>
          <a:bodyPr/>
          <a:lstStyle/>
          <a:p>
            <a:r>
              <a:rPr lang="en-US" sz="1800" dirty="0"/>
              <a:t>DevOps &amp; IaC &amp; Automation (General Available)</a:t>
            </a:r>
          </a:p>
        </p:txBody>
      </p:sp>
      <p:sp>
        <p:nvSpPr>
          <p:cNvPr id="13" name="Text Placeholder 12">
            <a:extLst>
              <a:ext uri="{FF2B5EF4-FFF2-40B4-BE49-F238E27FC236}">
                <a16:creationId xmlns:a16="http://schemas.microsoft.com/office/drawing/2014/main" id="{F39435DB-59FA-A2E5-622B-52C33AFF770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D47C64A-30C7-BF38-06B4-45C2009206FC}"/>
              </a:ext>
            </a:extLst>
          </p:cNvPr>
          <p:cNvSpPr>
            <a:spLocks noGrp="1"/>
          </p:cNvSpPr>
          <p:nvPr>
            <p:ph type="body" sz="quarter" idx="16"/>
          </p:nvPr>
        </p:nvSpPr>
        <p:spPr/>
        <p:txBody>
          <a:bodyPr/>
          <a:lstStyle/>
          <a:p>
            <a:pPr algn="just"/>
            <a:r>
              <a:rPr lang="en-US" dirty="0">
                <a:hlinkClick r:id="rId2"/>
              </a:rPr>
              <a:t>Azure DevOps Server: Upcoming NTLM Removal in Git (</a:t>
            </a:r>
            <a:r>
              <a:rPr lang="en-US" dirty="0" err="1">
                <a:hlinkClick r:id="rId2"/>
              </a:rPr>
              <a:t>libcurl</a:t>
            </a:r>
            <a:r>
              <a:rPr lang="en-US" dirty="0">
                <a:hlinkClick r:id="rId2"/>
              </a:rPr>
              <a:t>)</a:t>
            </a:r>
            <a:endParaRPr lang="en-US" dirty="0"/>
          </a:p>
          <a:p>
            <a:pPr algn="just"/>
            <a:r>
              <a:rPr lang="en-US" dirty="0"/>
              <a:t>Microsoft has warned </a:t>
            </a:r>
            <a:r>
              <a:rPr lang="en-US" b="1" dirty="0"/>
              <a:t>Azure DevOps Server customers</a:t>
            </a:r>
            <a:r>
              <a:rPr lang="en-US" dirty="0"/>
              <a:t> about an upcoming authentication change in </a:t>
            </a:r>
            <a:r>
              <a:rPr lang="en-US" b="1" dirty="0"/>
              <a:t>Git/</a:t>
            </a:r>
            <a:r>
              <a:rPr lang="en-US" b="1" dirty="0" err="1"/>
              <a:t>libcurl</a:t>
            </a:r>
            <a:r>
              <a:rPr lang="en-US" dirty="0"/>
              <a:t> that can impact on-premises Git access over HTTPS. In </a:t>
            </a:r>
            <a:r>
              <a:rPr lang="en-US" b="1" dirty="0"/>
              <a:t>September 2026</a:t>
            </a:r>
            <a:r>
              <a:rPr lang="en-US" dirty="0"/>
              <a:t>, </a:t>
            </a:r>
            <a:r>
              <a:rPr lang="en-US" b="1" dirty="0"/>
              <a:t>NTLM support will be removed from </a:t>
            </a:r>
            <a:r>
              <a:rPr lang="en-US" b="1" dirty="0" err="1"/>
              <a:t>libcurl</a:t>
            </a:r>
            <a:r>
              <a:rPr lang="en-US" dirty="0"/>
              <a:t>, which means Git operations against </a:t>
            </a:r>
            <a:r>
              <a:rPr lang="en-US" b="1" dirty="0"/>
              <a:t>Azure DevOps Server</a:t>
            </a:r>
            <a:r>
              <a:rPr lang="en-US" dirty="0"/>
              <a:t> will stop working in environments that still depend on </a:t>
            </a:r>
            <a:r>
              <a:rPr lang="en-US" b="1" dirty="0"/>
              <a:t>NTLM authentication</a:t>
            </a:r>
            <a:r>
              <a:rPr lang="en-US" dirty="0"/>
              <a:t>. This does </a:t>
            </a:r>
            <a:r>
              <a:rPr lang="en-US" b="1" dirty="0"/>
              <a:t>not</a:t>
            </a:r>
            <a:r>
              <a:rPr lang="en-US" dirty="0"/>
              <a:t> affect the hosted </a:t>
            </a:r>
            <a:r>
              <a:rPr lang="en-US" b="1" dirty="0"/>
              <a:t>Azure DevOps Services</a:t>
            </a:r>
            <a:r>
              <a:rPr lang="en-US" dirty="0"/>
              <a:t> offering. </a:t>
            </a:r>
          </a:p>
          <a:p>
            <a:pPr algn="just"/>
            <a:r>
              <a:rPr lang="en-US" dirty="0"/>
              <a:t>The main risk is that many organizations believe they are already using </a:t>
            </a:r>
            <a:r>
              <a:rPr lang="en-US" b="1" dirty="0"/>
              <a:t>Kerberos</a:t>
            </a:r>
            <a:r>
              <a:rPr lang="en-US" dirty="0"/>
              <a:t>, but in practice </a:t>
            </a:r>
            <a:r>
              <a:rPr lang="en-US" b="1" dirty="0"/>
              <a:t>Negotiate/SPNEGO may silently fall back to NTLM</a:t>
            </a:r>
            <a:r>
              <a:rPr lang="en-US" dirty="0"/>
              <a:t> if Kerberos is not configured end to end. As a result, clone, fetch, pull, and push operations may continue to work today while still being dependent on NTLM behind the scenes. Microsoft recommends validating authentication behavior now and </a:t>
            </a:r>
            <a:r>
              <a:rPr lang="en-US" b="1" dirty="0"/>
              <a:t>migrating fully to Kerberos</a:t>
            </a:r>
            <a:r>
              <a:rPr lang="en-US" dirty="0"/>
              <a:t> wherever possible, rather than relying on older Git clients as a temporary workaround. </a:t>
            </a:r>
          </a:p>
          <a:p>
            <a:pPr algn="just"/>
            <a:r>
              <a:rPr lang="en-US" dirty="0"/>
              <a:t>For organizations running </a:t>
            </a:r>
            <a:r>
              <a:rPr lang="en-US" b="1" dirty="0"/>
              <a:t>Azure DevOps Server on-prem</a:t>
            </a:r>
            <a:r>
              <a:rPr lang="en-US" dirty="0"/>
              <a:t>, this is a planning item rather than a feature announcement: review IIS authentication settings, verify SPNs and DNS configuration, confirm that Git traffic is actually using Kerberos, and identify any build agents, service accounts, VPN users, or non-domain-joined machines that may still fall back to NTLM. Teams that do not remediate before </a:t>
            </a:r>
            <a:r>
              <a:rPr lang="en-US" b="1" dirty="0"/>
              <a:t>September 2026</a:t>
            </a:r>
            <a:r>
              <a:rPr lang="en-US" dirty="0"/>
              <a:t> risk breaking Git over HTTPS for affected users and automation</a:t>
            </a:r>
          </a:p>
          <a:p>
            <a:pPr algn="just"/>
            <a:endParaRPr lang="en-US" dirty="0"/>
          </a:p>
        </p:txBody>
      </p:sp>
    </p:spTree>
    <p:extLst>
      <p:ext uri="{BB962C8B-B14F-4D97-AF65-F5344CB8AC3E}">
        <p14:creationId xmlns:p14="http://schemas.microsoft.com/office/powerpoint/2010/main" val="1082689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AA57029-74C6-97A0-54A8-DC04D3842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Information</a:t>
            </a:r>
          </a:p>
        </p:txBody>
      </p:sp>
    </p:spTree>
    <p:extLst>
      <p:ext uri="{BB962C8B-B14F-4D97-AF65-F5344CB8AC3E}">
        <p14:creationId xmlns:p14="http://schemas.microsoft.com/office/powerpoint/2010/main" val="1276041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60A7218-B9CA-F7E4-39B3-13A96D2645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9" y="0"/>
            <a:ext cx="9139141" cy="5143500"/>
          </a:xfrm>
          <a:prstGeom prst="rect">
            <a:avLst/>
          </a:prstGeom>
        </p:spPr>
      </p:pic>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solidFill>
                  <a:schemeClr val="bg1"/>
                </a:solidFill>
              </a:rPr>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customXml/itemProps3.xml><?xml version="1.0" encoding="utf-8"?>
<ds:datastoreItem xmlns:ds="http://schemas.openxmlformats.org/officeDocument/2006/customXml" ds:itemID="{EE04B39D-0CBA-4F8F-8809-785207E87965}">
  <ds:schemaRefs>
    <ds:schemaRef ds:uri="http://schemas.microsoft.com/sharepoint/v3/contenttype/forms"/>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793</TotalTime>
  <Words>3303</Words>
  <Application>Microsoft Office PowerPoint</Application>
  <PresentationFormat>On-screen Show (16:9)</PresentationFormat>
  <Paragraphs>106</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Human Sans</vt:lpstr>
      <vt:lpstr>Human Sans Regular</vt:lpstr>
      <vt:lpstr>Continuum Theme</vt:lpstr>
      <vt:lpstr>Azure Times #213</vt:lpstr>
      <vt:lpstr>PowerPoint Presentation</vt:lpstr>
      <vt:lpstr>Security &amp; Identity Updates (Preview)</vt:lpstr>
      <vt:lpstr>Security &amp; Identity Updates (Preview)</vt:lpstr>
      <vt:lpstr>Security &amp; Identity Updates (General Available)</vt:lpstr>
      <vt:lpstr>Security &amp; Identity Updates (General Available)</vt:lpstr>
      <vt:lpstr>Security &amp; Identity Updates (General Available)</vt:lpstr>
      <vt:lpstr>Security &amp; Identity Updates (General Available)</vt:lpstr>
      <vt:lpstr>PowerPoint Presentation</vt:lpstr>
      <vt:lpstr>Management &amp; Governance Updates (Preview)</vt:lpstr>
      <vt:lpstr>Management &amp; Governance Updates (Preview)</vt:lpstr>
      <vt:lpstr>PowerPoint Presentation</vt:lpstr>
      <vt:lpstr>Compute Updates (Preview)</vt:lpstr>
      <vt:lpstr>Compute Updates (Preview)</vt:lpstr>
      <vt:lpstr>PowerPoint Presentation</vt:lpstr>
      <vt:lpstr>Storage &amp; Data Updates (Preview)</vt:lpstr>
      <vt:lpstr>PowerPoint Presentation</vt:lpstr>
      <vt:lpstr>Databases Updates (Preview)</vt:lpstr>
      <vt:lpstr>PowerPoint Presentation</vt:lpstr>
      <vt:lpstr>ML &amp; AI &amp; IOT Updates (Preview)</vt:lpstr>
      <vt:lpstr>ML &amp; AI &amp; IOT Updates (Preview)</vt:lpstr>
      <vt:lpstr>ML &amp; AI &amp; IOT Updates (General Available)</vt:lpstr>
      <vt:lpstr>PowerPoint Presentation</vt:lpstr>
      <vt:lpstr>DevOps &amp; IaC &amp; Automation (General Available)</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152</cp:revision>
  <dcterms:created xsi:type="dcterms:W3CDTF">2018-01-26T19:23:30Z</dcterms:created>
  <dcterms:modified xsi:type="dcterms:W3CDTF">2026-07-05T13:13:13Z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