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8"/>
  </p:notesMasterIdLst>
  <p:handoutMasterIdLst>
    <p:handoutMasterId r:id="rId39"/>
  </p:handoutMasterIdLst>
  <p:sldIdLst>
    <p:sldId id="2142532340" r:id="rId5"/>
    <p:sldId id="2146847046" r:id="rId6"/>
    <p:sldId id="2146847089" r:id="rId7"/>
    <p:sldId id="2146847048" r:id="rId8"/>
    <p:sldId id="2146847049" r:id="rId9"/>
    <p:sldId id="2146847131" r:id="rId10"/>
    <p:sldId id="2146847050" r:id="rId11"/>
    <p:sldId id="2146847156" r:id="rId12"/>
    <p:sldId id="2146847157" r:id="rId13"/>
    <p:sldId id="2146847160" r:id="rId14"/>
    <p:sldId id="2146847096" r:id="rId15"/>
    <p:sldId id="2146847134" r:id="rId16"/>
    <p:sldId id="2146847135" r:id="rId17"/>
    <p:sldId id="2146847136" r:id="rId18"/>
    <p:sldId id="2146847052" r:id="rId19"/>
    <p:sldId id="2146847100" r:id="rId20"/>
    <p:sldId id="2146847054" r:id="rId21"/>
    <p:sldId id="2146847103" r:id="rId22"/>
    <p:sldId id="2146847141" r:id="rId23"/>
    <p:sldId id="2146847161" r:id="rId24"/>
    <p:sldId id="2146847142" r:id="rId25"/>
    <p:sldId id="2146847140" r:id="rId26"/>
    <p:sldId id="2146847158" r:id="rId27"/>
    <p:sldId id="2146847159" r:id="rId28"/>
    <p:sldId id="2146847058" r:id="rId29"/>
    <p:sldId id="2146847111" r:id="rId30"/>
    <p:sldId id="2146847146" r:id="rId31"/>
    <p:sldId id="2146847147" r:id="rId32"/>
    <p:sldId id="2146847148" r:id="rId33"/>
    <p:sldId id="2146847149" r:id="rId34"/>
    <p:sldId id="2146847085" r:id="rId35"/>
    <p:sldId id="2146847084" r:id="rId36"/>
    <p:sldId id="2146847064" r:id="rId37"/>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049"/>
            <p14:sldId id="2146847131"/>
          </p14:sldIdLst>
        </p14:section>
        <p14:section name="Compute" id="{05AA80BB-8802-49AB-8336-A884227CE2F7}">
          <p14:sldIdLst>
            <p14:sldId id="2146847050"/>
            <p14:sldId id="2146847156"/>
            <p14:sldId id="2146847157"/>
            <p14:sldId id="2146847160"/>
            <p14:sldId id="2146847096"/>
            <p14:sldId id="2146847134"/>
            <p14:sldId id="2146847135"/>
            <p14:sldId id="2146847136"/>
          </p14:sldIdLst>
        </p14:section>
        <p14:section name="Storage &amp; Data" id="{1F159046-CE0A-45BC-9D5B-6E6C95980F78}">
          <p14:sldIdLst>
            <p14:sldId id="2146847052"/>
            <p14:sldId id="2146847100"/>
          </p14:sldIdLst>
        </p14:section>
        <p14:section name="Databases" id="{AEAFAE72-AD56-48F3-926B-38BAE269038F}">
          <p14:sldIdLst>
            <p14:sldId id="2146847054"/>
            <p14:sldId id="2146847103"/>
            <p14:sldId id="2146847141"/>
            <p14:sldId id="2146847161"/>
            <p14:sldId id="2146847142"/>
            <p14:sldId id="2146847140"/>
            <p14:sldId id="2146847158"/>
            <p14:sldId id="2146847159"/>
          </p14:sldIdLst>
        </p14:section>
        <p14:section name="Integration" id="{ACBD46A3-6F1C-451B-A154-0A056E0DEFF6}">
          <p14:sldIdLst/>
        </p14:section>
        <p14:section name="ML &amp; AI &amp; IOT" id="{F4E1EAF1-55E9-4CA4-8ADC-28B69C1D66D2}">
          <p14:sldIdLst>
            <p14:sldId id="2146847058"/>
            <p14:sldId id="2146847111"/>
            <p14:sldId id="2146847146"/>
            <p14:sldId id="2146847147"/>
            <p14:sldId id="2146847148"/>
            <p14:sldId id="2146847149"/>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p:scale>
          <a:sx n="100" d="100"/>
          <a:sy n="100" d="100"/>
        </p:scale>
        <p:origin x="1085" y="298"/>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3/21/2026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techcommunity.microsoft.com/blog/azurenetworksecurityblog/detect-correlate-contain-new-azure-firewall-idps-detections-in-microsoft-sentine/4502128"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zure.microsoft.com/ru-ru/updates?id=558016"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azure.microsoft.com/ru-ru/updates?id=558278"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zure.microsoft.com/ru-ru/updates?id=558927" TargetMode="External"/><Relationship Id="rId2" Type="http://schemas.openxmlformats.org/officeDocument/2006/relationships/hyperlink" Target="https://techcommunity.microsoft.com/blog/windows-itpro-blog/windows-365-frontline-in-shared-mode-expands-to-norway-east-france-central-and-s/4501336"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azure.microsoft.com/ru-ru/updates?id=557917" TargetMode="External"/><Relationship Id="rId2" Type="http://schemas.openxmlformats.org/officeDocument/2006/relationships/hyperlink" Target="https://techcommunity.microsoft.com/blog/windows-itpro-blog/introducing-teams-optimizations-for-windows-app-on-ios--android-%E2%80%94-now-generally-/4501333"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techcommunity.microsoft.com/blog/azurehighperformancecomputingblog/azure-ncv6-virtual-machines-enhancements-and-ga-transition/4503578" TargetMode="External"/><Relationship Id="rId2" Type="http://schemas.openxmlformats.org/officeDocument/2006/relationships/hyperlink" Target="https://azure.microsoft.com/ru-ru/updates?id=557917"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ru-ru/updates?id=548543" TargetMode="External"/><Relationship Id="rId2" Type="http://schemas.openxmlformats.org/officeDocument/2006/relationships/hyperlink" Target="https://azure.microsoft.com/ru-ru/updates?id=548525" TargetMode="External"/><Relationship Id="rId1" Type="http://schemas.openxmlformats.org/officeDocument/2006/relationships/slideLayout" Target="../slideLayouts/slideLayout7.xml"/><Relationship Id="rId5" Type="http://schemas.openxmlformats.org/officeDocument/2006/relationships/hyperlink" Target="https://learn.microsoft.com/en-us/azure/virtual-machines/sizes/high-performance-compute/hx-series?tabs=sizebasic" TargetMode="External"/><Relationship Id="rId4" Type="http://schemas.openxmlformats.org/officeDocument/2006/relationships/hyperlink" Target="https://learn.microsoft.com/en-us/azure/virtual-machines/sizes/high-performance-compute/hbv5-series?tabs=sizebasic"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lifecycle/products/windows-server-2016" TargetMode="External"/><Relationship Id="rId2" Type="http://schemas.openxmlformats.org/officeDocument/2006/relationships/hyperlink" Target="https://azure.microsoft.com/ru-ru/updates?id=549077" TargetMode="External"/><Relationship Id="rId1" Type="http://schemas.openxmlformats.org/officeDocument/2006/relationships/slideLayout" Target="../slideLayouts/slideLayout7.xml"/><Relationship Id="rId4" Type="http://schemas.openxmlformats.org/officeDocument/2006/relationships/hyperlink" Target="https://azure.microsoft.com/ru-ru/updates?id=516070"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48497" TargetMode="External"/><Relationship Id="rId2" Type="http://schemas.openxmlformats.org/officeDocument/2006/relationships/hyperlink" Target="https://azure.microsoft.com/ru-ru/updates?id=557929" TargetMode="External"/><Relationship Id="rId1" Type="http://schemas.openxmlformats.org/officeDocument/2006/relationships/slideLayout" Target="../slideLayouts/slideLayout7.xml"/><Relationship Id="rId6" Type="http://schemas.openxmlformats.org/officeDocument/2006/relationships/hyperlink" Target="https://learn.microsoft.com/en-us/azure/virtual-machines/sizes/gpu-accelerated/ncast4v3-series?tabs=sizebasic" TargetMode="External"/><Relationship Id="rId5" Type="http://schemas.openxmlformats.org/officeDocument/2006/relationships/hyperlink" Target="https://learn.microsoft.com/en-us/azure/virtual-machines/sizes/gpu-accelerated/ncadsh100v5-series?tabs=sizebasic" TargetMode="External"/><Relationship Id="rId4" Type="http://schemas.openxmlformats.org/officeDocument/2006/relationships/hyperlink" Target="https://learn.microsoft.com/en-us/azure/virtual-machines/sizes/gpu-accelerated/ndv2-series?tabs=sizebasic"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43279" TargetMode="External"/><Relationship Id="rId2" Type="http://schemas.openxmlformats.org/officeDocument/2006/relationships/hyperlink" Target="https://azure.microsoft.com/ru-ru/updates?id=557094"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azure.microsoft.com/ru-ru/updates?id=558662"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58155" TargetMode="External"/><Relationship Id="rId2" Type="http://schemas.openxmlformats.org/officeDocument/2006/relationships/hyperlink" Target="https://azure.microsoft.com/ru-ru/updates?id=558150"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azure.microsoft.com/ru-ru/updates?id=558178" TargetMode="External"/><Relationship Id="rId2" Type="http://schemas.openxmlformats.org/officeDocument/2006/relationships/hyperlink" Target="https://azure.microsoft.com/ru-ru/updates?id=558169"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techcommunity.microsoft.com/blog/azuresqlblog/announcing-preview-of-160-and-192vcore-premium-series-options-for-azure-sql-data/4501367"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azure.microsoft.com/ru-ru/updates?id=558121" TargetMode="External"/><Relationship Id="rId2" Type="http://schemas.openxmlformats.org/officeDocument/2006/relationships/hyperlink" Target="https://azure.microsoft.com/ru-ru/updates?id=558134"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azure.microsoft.com/ru-ru/updates?id=558183" TargetMode="External"/><Relationship Id="rId2" Type="http://schemas.openxmlformats.org/officeDocument/2006/relationships/hyperlink" Target="https://azure.microsoft.com/ru-ru/updates?id=558810"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devblogs.microsoft.com/cosmosdb/azure-cosmos-db-mirroring-fabric-private-networks-ga/" TargetMode="External"/><Relationship Id="rId2" Type="http://schemas.openxmlformats.org/officeDocument/2006/relationships/hyperlink" Target="https://techcommunity.microsoft.com/blog/sqlserver/announcing-the-general-availability-of-microsoft-jdbc-driver-13-4-for-sql-server/4503168"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azure.microsoft.com/ru-ru/updates?id=558086"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techcommunity.microsoft.com/blog/azure-ai-foundry-blog/public-preview-voice-native-agents-in-microsoft-foundry/4502756"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azure.microsoft.com/ru-ru/updates?id=557141" TargetMode="External"/><Relationship Id="rId2" Type="http://schemas.openxmlformats.org/officeDocument/2006/relationships/hyperlink" Target="https://devblogs.microsoft.com/devops/remote-mcp-server-preview-in-microsoft-foundry/"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techcommunity.microsoft.com/blog/azure-ai-foundry-blog/nvidia-nemotron-3-super-now-available-on-microsoft-foundry-open-efficient-reason/4501781" TargetMode="External"/><Relationship Id="rId2" Type="http://schemas.openxmlformats.org/officeDocument/2006/relationships/hyperlink" Target="https://techcommunity.microsoft.com/blog/azure-ai-foundry-blog/now-in-foundry-vibevoice-asr-minimax-m2-5-qwen3-5-9b/4500475"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techcommunity.microsoft.com/blog/azure-ai-foundry-blog/introducing-openai%E2%80%99s-gpt-5-4-mini-and-gpt-5-4-nano-for-low-latency-ai/4500569"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https://azure.microsoft.com/ru-ru/updates?id=557123"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a:t>
            </a:r>
            <a:r>
              <a:rPr lang="ru-RU" sz="5400" dirty="0"/>
              <a:t>198</a:t>
            </a:r>
            <a:endParaRPr lang="en-US" sz="5400" dirty="0"/>
          </a:p>
        </p:txBody>
      </p:sp>
      <p:sp>
        <p:nvSpPr>
          <p:cNvPr id="4" name="Text Placeholder 3"/>
          <p:cNvSpPr>
            <a:spLocks noGrp="1"/>
          </p:cNvSpPr>
          <p:nvPr>
            <p:ph type="body" sz="quarter" idx="11"/>
          </p:nvPr>
        </p:nvSpPr>
        <p:spPr/>
        <p:txBody>
          <a:bodyPr/>
          <a:lstStyle/>
          <a:p>
            <a:r>
              <a:rPr lang="en-US" spc="300" dirty="0"/>
              <a:t>March 23, 2023</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725540"/>
            <a:ext cx="3955312" cy="3774069"/>
          </a:xfrm>
        </p:spPr>
        <p:txBody>
          <a:bodyPr/>
          <a:lstStyle/>
          <a:p>
            <a:pPr algn="just"/>
            <a:r>
              <a:rPr lang="en-US" dirty="0">
                <a:hlinkClick r:id="rId2"/>
              </a:rPr>
              <a:t>New Azure Firewall IDPS detections in Microsoft Sentinel and XDR</a:t>
            </a:r>
            <a:endParaRPr lang="en-US" dirty="0"/>
          </a:p>
          <a:p>
            <a:pPr algn="just"/>
            <a:r>
              <a:rPr lang="en-US" dirty="0"/>
              <a:t>Microsoft has introduced five new analytic detections for Azure Firewall, enhancing network-level threat visibility and SOC response capabilities. These detections are aligned with MITRE ATT&amp;CK tactics and provide actionable insights into different stages of cyberattacks.</a:t>
            </a:r>
          </a:p>
          <a:p>
            <a:pPr marL="171450" indent="-171450" algn="just">
              <a:buFont typeface="Arial" panose="020B0604020202020204" pitchFamily="34" charset="0"/>
              <a:buChar char="•"/>
            </a:pPr>
            <a:r>
              <a:rPr lang="en-US" dirty="0"/>
              <a:t>The </a:t>
            </a:r>
            <a:r>
              <a:rPr lang="en-US" b="1" dirty="0"/>
              <a:t>High Severity Malicious Activity</a:t>
            </a:r>
            <a:r>
              <a:rPr lang="en-US" dirty="0"/>
              <a:t> detection identifies repeated high-confidence IDPS alerts, such as exploit kits, malware command-and-control traffic, and credential theft attempts. </a:t>
            </a:r>
          </a:p>
          <a:p>
            <a:pPr marL="171450" indent="-171450" algn="just">
              <a:buFont typeface="Arial" panose="020B0604020202020204" pitchFamily="34" charset="0"/>
              <a:buChar char="•"/>
            </a:pPr>
            <a:r>
              <a:rPr lang="en-US" dirty="0"/>
              <a:t>The </a:t>
            </a:r>
            <a:r>
              <a:rPr lang="en-US" b="1" dirty="0"/>
              <a:t>Elevation of Privilege Attempt</a:t>
            </a:r>
            <a:r>
              <a:rPr lang="en-US" dirty="0"/>
              <a:t> detection focuses on repeated or successful attempts to gain higher-level access, highlighting critical moments when attackers escalate privileges to expand control within an environment.</a:t>
            </a:r>
          </a:p>
          <a:p>
            <a:pPr marL="171450" indent="-171450" algn="just">
              <a:buFont typeface="Arial" panose="020B0604020202020204" pitchFamily="34" charset="0"/>
              <a:buChar char="•"/>
            </a:pPr>
            <a:r>
              <a:rPr lang="en-US" dirty="0"/>
              <a:t>The </a:t>
            </a:r>
            <a:r>
              <a:rPr lang="en-US" b="1" dirty="0"/>
              <a:t>Web Application Attack</a:t>
            </a:r>
            <a:r>
              <a:rPr lang="en-US" dirty="0"/>
              <a:t> detection surfaces probing and exploitation attempts targeting internet-facing applications, enabling teams to identify and respond to external attack pressure early.</a:t>
            </a:r>
          </a:p>
          <a:p>
            <a:pPr marL="171450" indent="-171450" algn="just">
              <a:buFont typeface="Arial" panose="020B0604020202020204" pitchFamily="34" charset="0"/>
              <a:buChar char="•"/>
            </a:pPr>
            <a:r>
              <a:rPr lang="en-US" dirty="0"/>
              <a:t>The </a:t>
            </a:r>
            <a:r>
              <a:rPr lang="en-US" b="1" dirty="0"/>
              <a:t>Medium Severity Malicious Activity</a:t>
            </a:r>
            <a:r>
              <a:rPr lang="en-US" dirty="0"/>
              <a:t> detection captures lower-confidence or early-stage threats, such as potentially unwanted programs, crypto-mining activity, or suspicious behaviors. This allows SOC teams to proactively hunt and monitor threats before they escalate.</a:t>
            </a:r>
          </a:p>
          <a:p>
            <a:pPr marL="171450" indent="-171450" algn="just">
              <a:buFont typeface="Arial" panose="020B0604020202020204" pitchFamily="34" charset="0"/>
              <a:buChar char="•"/>
            </a:pPr>
            <a:r>
              <a:rPr lang="en-US" dirty="0"/>
              <a:t>Finally, the </a:t>
            </a:r>
            <a:r>
              <a:rPr lang="en-US" b="1" dirty="0"/>
              <a:t>Denial of Service (DoS) Attack</a:t>
            </a:r>
            <a:r>
              <a:rPr lang="en-US" dirty="0"/>
              <a:t> detection identifies abnormal traffic patterns indicative of DoS activity, helping organizations reduce response time and mitigate service disruptions.</a:t>
            </a:r>
          </a:p>
          <a:p>
            <a:pPr algn="just"/>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Generally Available: Default Rule Set 2.2 and updates to ruleset support policy</a:t>
            </a:r>
            <a:endParaRPr lang="en-US" dirty="0"/>
          </a:p>
          <a:p>
            <a:pPr algn="just"/>
            <a:r>
              <a:rPr lang="en-US" dirty="0"/>
              <a:t>MS updated the managed ruleset support policy for Azure Web Application Firewall (WAF) following the general availability of Default Rule Set (DRS) 2.2 on Azure Application Gateway and Azure Front Door. This update provides a clearer, more predictable lifecycle for managed rulesets while ensuring customers continue to benefit from the latest security protections.</a:t>
            </a:r>
          </a:p>
          <a:p>
            <a:pPr algn="just"/>
            <a:r>
              <a:rPr lang="en-US" dirty="0"/>
              <a:t>Starting with DRS 2.2, Azure WAF supports the latest three managed ruleset versions (N, N-1, and N-2) at any given time. When a new ruleset version is released, the version that becomes N-3 enters a final one-year support period. During this final year, the N-3 version may receive only critical security updates as needed.</a:t>
            </a:r>
          </a:p>
          <a:p>
            <a:pPr algn="just"/>
            <a:r>
              <a:rPr lang="en-US" dirty="0"/>
              <a:t>With the release of DRS 2.2, the following ruleset versions are entering their final support year ending on February 26, 2027: CRS 3.1 and CRS 3.0 in Azure Application Gateway and DRS 1.2, DRS 1.1 and DRS 1.0 in Azure Front Door. Customers should upgrade to a supported ruleset version to maintain full protection coverage and ongoing improvements, including enhanced detections and reduced false positives. </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9EACE-2947-B6B2-9E8D-58D66D66FE2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799D386-8FFB-9287-3092-EBC4EED0ED44}"/>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3ECB1CBE-D19D-DB22-C144-06273C1863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9E41336-3964-F676-4CD6-656D0DDBD34A}"/>
              </a:ext>
            </a:extLst>
          </p:cNvPr>
          <p:cNvSpPr>
            <a:spLocks noGrp="1"/>
          </p:cNvSpPr>
          <p:nvPr>
            <p:ph type="body" sz="quarter" idx="16"/>
          </p:nvPr>
        </p:nvSpPr>
        <p:spPr/>
        <p:txBody>
          <a:bodyPr/>
          <a:lstStyle/>
          <a:p>
            <a:pPr algn="just"/>
            <a:r>
              <a:rPr lang="en-US" dirty="0">
                <a:hlinkClick r:id="rId2"/>
              </a:rPr>
              <a:t>Retirement: Emissions Impact Dashboard for Azure</a:t>
            </a:r>
            <a:endParaRPr lang="en-US" dirty="0"/>
          </a:p>
          <a:p>
            <a:pPr algn="just"/>
            <a:r>
              <a:rPr lang="en-US" dirty="0"/>
              <a:t>Effective March 31, 2027, the Emissions Impact Dashboard for Azure hosted by Power BI will be retired. After this date, the dashboard will no longer be accessible and technical support will be discontinued. </a:t>
            </a:r>
          </a:p>
          <a:p>
            <a:pPr algn="just"/>
            <a:r>
              <a:rPr lang="en-US" dirty="0"/>
              <a:t>MS strongly encourages customers to export their emissions data to retain historical reporting. </a:t>
            </a:r>
          </a:p>
          <a:p>
            <a:pPr algn="just"/>
            <a:r>
              <a:rPr lang="en-US" dirty="0"/>
              <a:t>Customers can explore Azure Carbon Optimizer in advance of the retirement date as an alternative solution.  </a:t>
            </a:r>
          </a:p>
          <a:p>
            <a:pPr algn="just"/>
            <a:endParaRPr lang="en-US" dirty="0"/>
          </a:p>
        </p:txBody>
      </p:sp>
    </p:spTree>
    <p:extLst>
      <p:ext uri="{BB962C8B-B14F-4D97-AF65-F5344CB8AC3E}">
        <p14:creationId xmlns:p14="http://schemas.microsoft.com/office/powerpoint/2010/main" val="308970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9D21A2-2C16-D453-F42C-4A5B30D39574}"/>
              </a:ext>
            </a:extLst>
          </p:cNvPr>
          <p:cNvSpPr>
            <a:spLocks noGrp="1"/>
          </p:cNvSpPr>
          <p:nvPr>
            <p:ph type="body" sz="quarter" idx="10"/>
          </p:nvPr>
        </p:nvSpPr>
        <p:spPr/>
        <p:txBody>
          <a:bodyPr/>
          <a:lstStyle/>
          <a:p>
            <a:pPr algn="just"/>
            <a:r>
              <a:rPr lang="en-US" sz="1000" dirty="0">
                <a:hlinkClick r:id="rId2"/>
              </a:rPr>
              <a:t>Windows 365 Frontline in shared mode expands to Norway East, France Central and Spain Central</a:t>
            </a:r>
            <a:endParaRPr lang="en-US" sz="1000" dirty="0"/>
          </a:p>
          <a:p>
            <a:pPr algn="just"/>
            <a:r>
              <a:rPr lang="en-US" sz="1000" dirty="0"/>
              <a:t>Starting today, customers can deploy Windows 365 Frontline shared mode Cloud PCs in:</a:t>
            </a:r>
          </a:p>
          <a:p>
            <a:pPr algn="just"/>
            <a:r>
              <a:rPr lang="en-US" sz="1000" b="1" dirty="0"/>
              <a:t>Europe geography:</a:t>
            </a:r>
            <a:endParaRPr lang="en-US" sz="1000" dirty="0"/>
          </a:p>
          <a:p>
            <a:pPr marL="171450" indent="-171450" algn="just">
              <a:buFont typeface="Arial" panose="020B0604020202020204" pitchFamily="34" charset="0"/>
              <a:buChar char="•"/>
            </a:pPr>
            <a:r>
              <a:rPr lang="en-US" sz="1000" dirty="0"/>
              <a:t>Norway East</a:t>
            </a:r>
          </a:p>
          <a:p>
            <a:pPr marL="171450" indent="-171450" algn="just">
              <a:buFont typeface="Arial" panose="020B0604020202020204" pitchFamily="34" charset="0"/>
              <a:buChar char="•"/>
            </a:pPr>
            <a:r>
              <a:rPr lang="en-US" sz="1000" dirty="0"/>
              <a:t>France Central</a:t>
            </a:r>
          </a:p>
          <a:p>
            <a:pPr marL="171450" indent="-171450" algn="just">
              <a:buFont typeface="Arial" panose="020B0604020202020204" pitchFamily="34" charset="0"/>
              <a:buChar char="•"/>
            </a:pPr>
            <a:r>
              <a:rPr lang="en-US" sz="1000" dirty="0"/>
              <a:t>Spain Central</a:t>
            </a:r>
          </a:p>
          <a:p>
            <a:pPr algn="just"/>
            <a:endParaRPr lang="en-US" sz="1000" dirty="0"/>
          </a:p>
        </p:txBody>
      </p:sp>
      <p:sp>
        <p:nvSpPr>
          <p:cNvPr id="3" name="Title 2">
            <a:extLst>
              <a:ext uri="{FF2B5EF4-FFF2-40B4-BE49-F238E27FC236}">
                <a16:creationId xmlns:a16="http://schemas.microsoft.com/office/drawing/2014/main" id="{A232D8DC-0424-65DA-658C-7D75D7BED24C}"/>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56CFFBBD-6251-8E64-6998-6EC64E3E18AB}"/>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8E4A23EE-9465-C1DE-B5F9-EDD7304D31FE}"/>
              </a:ext>
            </a:extLst>
          </p:cNvPr>
          <p:cNvSpPr>
            <a:spLocks noGrp="1"/>
          </p:cNvSpPr>
          <p:nvPr>
            <p:ph type="body" sz="quarter" idx="16"/>
          </p:nvPr>
        </p:nvSpPr>
        <p:spPr/>
        <p:txBody>
          <a:bodyPr/>
          <a:lstStyle/>
          <a:p>
            <a:pPr algn="just"/>
            <a:r>
              <a:rPr lang="en-US" dirty="0">
                <a:hlinkClick r:id="rId3"/>
              </a:rPr>
              <a:t>Public Preview: Azure Databricks </a:t>
            </a:r>
            <a:r>
              <a:rPr lang="en-US" dirty="0" err="1">
                <a:hlinkClick r:id="rId3"/>
              </a:rPr>
              <a:t>OneLake</a:t>
            </a:r>
            <a:r>
              <a:rPr lang="en-US" dirty="0">
                <a:hlinkClick r:id="rId3"/>
              </a:rPr>
              <a:t> Catalog Federation</a:t>
            </a:r>
            <a:endParaRPr lang="en-US" dirty="0"/>
          </a:p>
          <a:p>
            <a:pPr algn="just"/>
            <a:r>
              <a:rPr lang="en-US" dirty="0"/>
              <a:t>Microsoft introduced </a:t>
            </a:r>
            <a:r>
              <a:rPr lang="en-US" b="1" dirty="0" err="1"/>
              <a:t>OneLake</a:t>
            </a:r>
            <a:r>
              <a:rPr lang="en-US" b="1" dirty="0"/>
              <a:t> catalog federation in Azure Databricks</a:t>
            </a:r>
            <a:r>
              <a:rPr lang="en-US" dirty="0"/>
              <a:t>, enabling teams to </a:t>
            </a:r>
            <a:r>
              <a:rPr lang="en-US" b="1" dirty="0"/>
              <a:t>query Fabric </a:t>
            </a:r>
            <a:r>
              <a:rPr lang="en-US" b="1" dirty="0" err="1"/>
              <a:t>OneLake</a:t>
            </a:r>
            <a:r>
              <a:rPr lang="en-US" b="1" dirty="0"/>
              <a:t> data directly without copying or moving it</a:t>
            </a:r>
            <a:r>
              <a:rPr lang="en-US" dirty="0"/>
              <a:t>.</a:t>
            </a:r>
          </a:p>
          <a:p>
            <a:pPr algn="just"/>
            <a:r>
              <a:rPr lang="en-US" dirty="0"/>
              <a:t>By connecting </a:t>
            </a:r>
            <a:r>
              <a:rPr lang="en-US" b="1" dirty="0"/>
              <a:t>Unity Catalog</a:t>
            </a:r>
            <a:r>
              <a:rPr lang="en-US" dirty="0"/>
              <a:t> in Databricks to a </a:t>
            </a:r>
            <a:r>
              <a:rPr lang="en-US" dirty="0" err="1"/>
              <a:t>OneLake</a:t>
            </a:r>
            <a:r>
              <a:rPr lang="en-US" dirty="0"/>
              <a:t> catalog, schemas and tables are </a:t>
            </a:r>
            <a:r>
              <a:rPr lang="en-US" b="1" dirty="0"/>
              <a:t>automatically synchronized</a:t>
            </a:r>
            <a:r>
              <a:rPr lang="en-US" dirty="0"/>
              <a:t>, making Fabric data available alongside Databricks data assets.</a:t>
            </a:r>
          </a:p>
          <a:p>
            <a:pPr algn="just"/>
            <a:endParaRPr lang="en-US" dirty="0"/>
          </a:p>
        </p:txBody>
      </p:sp>
    </p:spTree>
    <p:extLst>
      <p:ext uri="{BB962C8B-B14F-4D97-AF65-F5344CB8AC3E}">
        <p14:creationId xmlns:p14="http://schemas.microsoft.com/office/powerpoint/2010/main" val="1554090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E2402-90DF-3653-57BC-4746F0429710}"/>
              </a:ext>
            </a:extLst>
          </p:cNvPr>
          <p:cNvSpPr>
            <a:spLocks noGrp="1"/>
          </p:cNvSpPr>
          <p:nvPr>
            <p:ph type="body" sz="quarter" idx="10"/>
          </p:nvPr>
        </p:nvSpPr>
        <p:spPr/>
        <p:txBody>
          <a:bodyPr/>
          <a:lstStyle/>
          <a:p>
            <a:pPr algn="just"/>
            <a:r>
              <a:rPr lang="en-US" sz="1000" dirty="0">
                <a:hlinkClick r:id="rId2"/>
              </a:rPr>
              <a:t>Introducing Teams optimizations for Windows App on iOS &amp; Android — Now Generally Available</a:t>
            </a:r>
            <a:endParaRPr lang="en-US" sz="1000" dirty="0"/>
          </a:p>
          <a:p>
            <a:pPr algn="just"/>
            <a:r>
              <a:rPr lang="en-US" sz="1000" dirty="0"/>
              <a:t>Microsoft has announced the General Availability of Teams optimizations (WebRTC Redirector Service) for Windows App on iOS and Android, enhancing Teams experiences on mobile devices. This update improves audio and video performance when accessing Windows 365 and Azure Virtual Desktop from smartphones and tablets. By using media redirection, audio and video processing is handled locally on the device rather than in the virtual session. This reduces latency and results in more responsive and stable Teams meetings.</a:t>
            </a:r>
          </a:p>
          <a:p>
            <a:pPr algn="just"/>
            <a:r>
              <a:rPr lang="en-US" sz="1000" dirty="0"/>
              <a:t>Users benefit from improved call quality, including smoother audio, better video handling, and more consistent performance across different network conditions. The experience remains familiar, allowing users to join and participate in Teams meetings seamlessly from mobile devices. During the public preview, organizations validated these improvements in real-world scenarios.</a:t>
            </a:r>
          </a:p>
          <a:p>
            <a:pPr algn="just"/>
            <a:r>
              <a:rPr lang="en-US" sz="1000" dirty="0"/>
              <a:t>With general availability, enterprises can now confidently deploy these optimizations to enhance collaboration for mobile and remote users.</a:t>
            </a:r>
          </a:p>
          <a:p>
            <a:pPr algn="just"/>
            <a:endParaRPr lang="en-US" sz="1000" dirty="0"/>
          </a:p>
        </p:txBody>
      </p:sp>
      <p:sp>
        <p:nvSpPr>
          <p:cNvPr id="3" name="Title 2">
            <a:extLst>
              <a:ext uri="{FF2B5EF4-FFF2-40B4-BE49-F238E27FC236}">
                <a16:creationId xmlns:a16="http://schemas.microsoft.com/office/drawing/2014/main" id="{713D8E9F-A766-9AEC-4936-1AC899CF7C54}"/>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6923A46C-DDEB-EE6A-B2B2-53F8DDDCDC1A}"/>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3CDB569B-4CE4-79FA-DC97-B7E08FB880BE}"/>
              </a:ext>
            </a:extLst>
          </p:cNvPr>
          <p:cNvSpPr>
            <a:spLocks noGrp="1"/>
          </p:cNvSpPr>
          <p:nvPr>
            <p:ph type="body" sz="quarter" idx="16"/>
          </p:nvPr>
        </p:nvSpPr>
        <p:spPr/>
        <p:txBody>
          <a:bodyPr/>
          <a:lstStyle/>
          <a:p>
            <a:pPr algn="just"/>
            <a:r>
              <a:rPr lang="en-US" dirty="0">
                <a:hlinkClick r:id="rId3"/>
              </a:rPr>
              <a:t>Generally Available: Azure Red Hat OpenShift Managed Identity and Workload Identity</a:t>
            </a:r>
            <a:endParaRPr lang="en-US" dirty="0"/>
          </a:p>
          <a:p>
            <a:pPr algn="just"/>
            <a:r>
              <a:rPr lang="en-US" dirty="0"/>
              <a:t>Azure Red Hat OpenShift now supports managed identities and workload identities as a generally available capability, enabling to run OpenShift clusters and applications on Azure without long-lived service principal credentials. This aligns Azure Red Hat OpenShift with the short-lived token and least privilege identity patterns used across Azure, while keeping OpenShift integrated with existing Azure identity, access, and governance models.</a:t>
            </a:r>
          </a:p>
        </p:txBody>
      </p:sp>
    </p:spTree>
    <p:extLst>
      <p:ext uri="{BB962C8B-B14F-4D97-AF65-F5344CB8AC3E}">
        <p14:creationId xmlns:p14="http://schemas.microsoft.com/office/powerpoint/2010/main" val="3307071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D2396A8-117A-084F-E95E-FD99746C7D96}"/>
              </a:ext>
            </a:extLst>
          </p:cNvPr>
          <p:cNvSpPr>
            <a:spLocks noGrp="1"/>
          </p:cNvSpPr>
          <p:nvPr>
            <p:ph type="body" sz="quarter" idx="10"/>
          </p:nvPr>
        </p:nvSpPr>
        <p:spPr/>
        <p:txBody>
          <a:bodyPr/>
          <a:lstStyle/>
          <a:p>
            <a:r>
              <a:rPr lang="en-US" sz="1000" dirty="0">
                <a:hlinkClick r:id="rId2"/>
              </a:rPr>
              <a:t>Generally Available: Azure Red Hat OpenShift Managed Identity and Workload Identity</a:t>
            </a:r>
            <a:endParaRPr lang="en-US" sz="1000" dirty="0"/>
          </a:p>
          <a:p>
            <a:r>
              <a:rPr lang="en-US" sz="1000" dirty="0"/>
              <a:t>Azure Red Hat OpenShift now supports managed identities and workload identities as a generally available capability, enabling you to run OpenShift clusters and applications on Azure without long lived service principal credentials. This aligns Azure Red Hat OpenShift with the short-lived token and least privilege identity patterns used across Azure, while keeping OpenShift integrated with existing Azure identity, access, and governance models.</a:t>
            </a:r>
          </a:p>
        </p:txBody>
      </p:sp>
      <p:sp>
        <p:nvSpPr>
          <p:cNvPr id="3" name="Title 2">
            <a:extLst>
              <a:ext uri="{FF2B5EF4-FFF2-40B4-BE49-F238E27FC236}">
                <a16:creationId xmlns:a16="http://schemas.microsoft.com/office/drawing/2014/main" id="{CF7E3BB6-288C-B045-E00A-87E8D5D709D6}"/>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FC56202A-00CA-3EE1-A261-6D0DA02CA1F6}"/>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5F1620D3-9D66-1C2F-0986-AAF549C5E881}"/>
              </a:ext>
            </a:extLst>
          </p:cNvPr>
          <p:cNvSpPr>
            <a:spLocks noGrp="1"/>
          </p:cNvSpPr>
          <p:nvPr>
            <p:ph type="body" sz="quarter" idx="16"/>
          </p:nvPr>
        </p:nvSpPr>
        <p:spPr/>
        <p:txBody>
          <a:bodyPr/>
          <a:lstStyle/>
          <a:p>
            <a:pPr algn="just"/>
            <a:r>
              <a:rPr lang="en-US" dirty="0">
                <a:hlinkClick r:id="rId3"/>
              </a:rPr>
              <a:t>Azure NCv6 Virtual Machines: Enhancements and GA Transition</a:t>
            </a:r>
            <a:endParaRPr lang="en-US" dirty="0"/>
          </a:p>
          <a:p>
            <a:pPr algn="just"/>
            <a:r>
              <a:rPr lang="en-US" dirty="0"/>
              <a:t>Azure NCv6 Virtual Machines represent a next-generation platform designed to support both advanced graphics and generative AI workloads. Powered by NVIDIA RTX PRO 6000 Blackwell Server Edition GPUs and Intel Xeon 6 “Granite Rapids” CPUs, these VMs deliver high-performance compute capabilities for demanding scenarios. Currently available in preview, NCv6 is positioned to become a key offering for AI and visualization use cases.</a:t>
            </a:r>
          </a:p>
          <a:p>
            <a:pPr algn="just"/>
            <a:r>
              <a:rPr lang="en-US" dirty="0"/>
              <a:t>Microsoft has announced upcoming enhancements that will further improve VM performance and overall capabilities. Customers will also benefit from a broader range of VM sizes, enabling more precise “right-sizing” to balance performance and cost.</a:t>
            </a:r>
          </a:p>
          <a:p>
            <a:pPr algn="just"/>
            <a:r>
              <a:rPr lang="en-US" dirty="0"/>
              <a:t>The platform is progressing toward General Availability, signaling increased maturity and readiness for production workloads. In addition, Microsoft plans to expand NCv6 availability across more Azure regions globally.</a:t>
            </a:r>
          </a:p>
          <a:p>
            <a:pPr algn="just"/>
            <a:endParaRPr lang="en-US" dirty="0"/>
          </a:p>
        </p:txBody>
      </p:sp>
    </p:spTree>
    <p:extLst>
      <p:ext uri="{BB962C8B-B14F-4D97-AF65-F5344CB8AC3E}">
        <p14:creationId xmlns:p14="http://schemas.microsoft.com/office/powerpoint/2010/main" val="3037676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Retirement: HBv2-series Azure Virtual Machines will be retired on May 31, 2027</a:t>
            </a:r>
            <a:endParaRPr lang="en-US" sz="1000" dirty="0"/>
          </a:p>
          <a:p>
            <a:pPr algn="just"/>
            <a:r>
              <a:rPr lang="en-US" sz="1000" dirty="0"/>
              <a:t>On May 31, 2027, Microsoft Azure will retire the following HBv2-series virtual machine (VMs) sizes: Standard_HB120rs_v2, Standard_HB120-96rs_v2, Standard_HB120-64rs_v2, Standard_HB120-32rs_v2, and Standard_HB120-16rs_v2. </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Retirement: HC-series Azure Virtual Machines will be retired on May 31, 2027</a:t>
            </a:r>
            <a:endParaRPr lang="en-US" dirty="0"/>
          </a:p>
          <a:p>
            <a:pPr algn="just"/>
            <a:r>
              <a:rPr lang="en-US" dirty="0"/>
              <a:t>On May 31, 2027, Microsoft Azure will retire the following HC-series virtual machine (VMs) sizes: Standard_HC44rs, Standard_HC44-16rs, and Standard_HC44-32rs. </a:t>
            </a:r>
            <a:br>
              <a:rPr lang="en-US" dirty="0"/>
            </a:br>
            <a:r>
              <a:rPr lang="en-US" dirty="0"/>
              <a:t>To ensure continuity and improved performance, we recommend transitioning to one of the current‑generation Azure HPC VM families: </a:t>
            </a:r>
          </a:p>
          <a:p>
            <a:pPr marL="171450" indent="-171450" algn="just">
              <a:buFont typeface="Arial" panose="020B0604020202020204" pitchFamily="34" charset="0"/>
              <a:buChar char="•"/>
            </a:pPr>
            <a:r>
              <a:rPr lang="en-US" dirty="0"/>
              <a:t>Azure </a:t>
            </a:r>
            <a:r>
              <a:rPr lang="en-US" u="sng" dirty="0">
                <a:hlinkClick r:id="rId4"/>
              </a:rPr>
              <a:t>HBv5‑series</a:t>
            </a:r>
            <a:r>
              <a:rPr lang="en-US" dirty="0"/>
              <a:t> VMs — the newest in the HB‑series — which offer significantly higher performance and better price‑performance than HBv4 across most compute‑ and memory‑intensive workloads.</a:t>
            </a:r>
          </a:p>
          <a:p>
            <a:pPr marL="171450" indent="-171450" algn="just">
              <a:buFont typeface="Arial" panose="020B0604020202020204" pitchFamily="34" charset="0"/>
              <a:buChar char="•"/>
            </a:pPr>
            <a:r>
              <a:rPr lang="en-US" dirty="0"/>
              <a:t>Azure </a:t>
            </a:r>
            <a:r>
              <a:rPr lang="en-US" u="sng" dirty="0">
                <a:hlinkClick r:id="rId5"/>
              </a:rPr>
              <a:t>HX‑series </a:t>
            </a:r>
            <a:r>
              <a:rPr lang="en-US" dirty="0"/>
              <a:t>VMs — optimized for high‑memory HPC workloads, providing twice the memory capacity of HBv4 and ideal for simulations, large models, and memory‑bound applications. </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r>
              <a:rPr lang="en-US" sz="1000" dirty="0">
                <a:hlinkClick r:id="rId2"/>
              </a:rPr>
              <a:t>Retirement: Support for Windows Server 2016 Marketplace images on Azure Batch pools will end on January 12, 2027</a:t>
            </a:r>
            <a:endParaRPr lang="en-US" sz="1000" dirty="0"/>
          </a:p>
          <a:p>
            <a:pPr algn="just"/>
            <a:r>
              <a:rPr lang="en-US" sz="1000" dirty="0"/>
              <a:t>Azure Batch periodically retires support for operating systems that reach end-of-life status. Support for </a:t>
            </a:r>
            <a:r>
              <a:rPr lang="en-US" sz="1000" u="sng" dirty="0">
                <a:hlinkClick r:id="rId3"/>
              </a:rPr>
              <a:t>Windows Server 2016</a:t>
            </a:r>
            <a:r>
              <a:rPr lang="en-US" sz="1000" dirty="0"/>
              <a:t> concluded on January 11, 2022, with extended support scheduled to end on January 12, 2027. Marketplace images for Windows Server 2016, published under the </a:t>
            </a:r>
            <a:r>
              <a:rPr lang="en-US" sz="1000" dirty="0" err="1"/>
              <a:t>MicrosoftWindowsServer</a:t>
            </a:r>
            <a:r>
              <a:rPr lang="en-US" sz="1000" dirty="0"/>
              <a:t> offer with the name </a:t>
            </a:r>
            <a:r>
              <a:rPr lang="en-US" sz="1000" dirty="0" err="1"/>
              <a:t>WindowsServer</a:t>
            </a:r>
            <a:r>
              <a:rPr lang="en-US" sz="1000" dirty="0"/>
              <a:t>, will no longer be available. The relevant Marketplace image SKUs include:</a:t>
            </a:r>
          </a:p>
          <a:p>
            <a:pPr marL="171450" indent="-171450" algn="just">
              <a:buFont typeface="Arial" panose="020B0604020202020204" pitchFamily="34" charset="0"/>
              <a:buChar char="•"/>
            </a:pPr>
            <a:r>
              <a:rPr lang="en-US" sz="1000" dirty="0"/>
              <a:t>2016-datacenter-gensecond</a:t>
            </a:r>
          </a:p>
          <a:p>
            <a:pPr marL="171450" indent="-171450" algn="just">
              <a:buFont typeface="Arial" panose="020B0604020202020204" pitchFamily="34" charset="0"/>
              <a:buChar char="•"/>
            </a:pPr>
            <a:r>
              <a:rPr lang="en-US" sz="1000" dirty="0"/>
              <a:t>2016-datacenter</a:t>
            </a:r>
          </a:p>
          <a:p>
            <a:pPr marL="171450" indent="-171450" algn="just">
              <a:buFont typeface="Arial" panose="020B0604020202020204" pitchFamily="34" charset="0"/>
              <a:buChar char="•"/>
            </a:pPr>
            <a:r>
              <a:rPr lang="en-US" sz="1000" dirty="0"/>
              <a:t>2016-datacenter-gs</a:t>
            </a:r>
          </a:p>
          <a:p>
            <a:pPr marL="171450" indent="-171450" algn="just">
              <a:buFont typeface="Arial" panose="020B0604020202020204" pitchFamily="34" charset="0"/>
              <a:buChar char="•"/>
            </a:pPr>
            <a:r>
              <a:rPr lang="en-US" sz="1000" dirty="0"/>
              <a:t>2016-datacenter-smalldisk</a:t>
            </a:r>
          </a:p>
          <a:p>
            <a:pPr marL="171450" indent="-171450" algn="just">
              <a:buFont typeface="Arial" panose="020B0604020202020204" pitchFamily="34" charset="0"/>
              <a:buChar char="•"/>
            </a:pPr>
            <a:r>
              <a:rPr lang="en-US" sz="1000" dirty="0"/>
              <a:t>2016-datacenter-smalldisk-g2</a:t>
            </a:r>
          </a:p>
          <a:p>
            <a:pPr marL="171450" indent="-171450" algn="just">
              <a:buFont typeface="Arial" panose="020B0604020202020204" pitchFamily="34" charset="0"/>
              <a:buChar char="•"/>
            </a:pPr>
            <a:r>
              <a:rPr lang="en-US" sz="1000" dirty="0"/>
              <a:t>2016-datacenter-with-containers</a:t>
            </a:r>
          </a:p>
          <a:p>
            <a:pPr marL="171450" indent="-171450" algn="just">
              <a:buFont typeface="Arial" panose="020B0604020202020204" pitchFamily="34" charset="0"/>
              <a:buChar char="•"/>
            </a:pPr>
            <a:r>
              <a:rPr lang="en-US" sz="1000" dirty="0"/>
              <a:t>2016-datacenter-with-containers-gs</a:t>
            </a:r>
          </a:p>
          <a:p>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4"/>
              </a:rPr>
              <a:t>Retirement: End of life reminder of NVv3 and NVv4-series Azure virtual machine in Azure Batch pools</a:t>
            </a:r>
            <a:endParaRPr lang="en-US" dirty="0"/>
          </a:p>
          <a:p>
            <a:pPr algn="just"/>
            <a:r>
              <a:rPr lang="en-US" dirty="0"/>
              <a:t>Microsoft Azure will retire support for NVv3 or NVv4-series VMs on September 30th, 2026, including: NVv3 Series (NVIDIA Tesla M60 GPU): Standard_NV12s_v3, Standard_NV12hs_v3, Standard_NV24s_v3, Standard_NV24ms_v3, Standard_NV32ms_v3, Standard_NV48s_v3 NVv4 Series (AMD Radeon Instinct MI25 GPU): Standard_NV4as_v4, Standard_NV4ahs_v4, Standard_NV8as_v4, Standard_NV8ahs_v4, Standard_NV16as_v4, Standard_NV16ahs_v4, Standard_NV32as_v4, Standard_NV32ahs_v4  </a:t>
            </a:r>
          </a:p>
          <a:p>
            <a:pPr algn="just"/>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Retirement: Flatcar Container Linux for AKS (preview)</a:t>
            </a:r>
            <a:endParaRPr lang="en-US" sz="1000" dirty="0"/>
          </a:p>
          <a:p>
            <a:pPr algn="just"/>
            <a:r>
              <a:rPr lang="en-US" sz="1000" dirty="0"/>
              <a:t>Azure Kubernetes Service support for Flatcar Container Linux for AKS (preview) will be retired on June 8, 2026, and transition to a supported alternative by that date. </a:t>
            </a:r>
          </a:p>
          <a:p>
            <a:pPr algn="just"/>
            <a:r>
              <a:rPr lang="en-US" sz="1000" dirty="0"/>
              <a:t>From now to June 7, 2026, it is possible to continue to use Flatcar Container Linux for AKS (preview) without disruption. Starting on June 8, 2026, AKS will no longer support Flatcar Container Linux for AKS (preview). AKS will not produce new node images and will no longer provide security patches for existing node pools. AKS will remove Flatcar Container Linux for AKS (preview) node images and existing code on September 8, 2026, meaning that scaling and remediation operations will fail. </a:t>
            </a:r>
          </a:p>
          <a:p>
            <a:pPr algn="just"/>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r>
              <a:rPr lang="en-US" dirty="0">
                <a:hlinkClick r:id="rId3"/>
              </a:rPr>
              <a:t>Retirement: NP-series Azure Virtual Machines will be retired on May 31, 2027</a:t>
            </a:r>
            <a:endParaRPr lang="en-US" dirty="0"/>
          </a:p>
          <a:p>
            <a:pPr algn="just"/>
            <a:r>
              <a:rPr lang="en-US" dirty="0"/>
              <a:t>On May 31, 2027, Microsoft Azure will retire the following NP-series virtual machine (VMs) sizes: Standard_NP10s, Standard_NP20s, and Standard_NP40s. </a:t>
            </a:r>
          </a:p>
          <a:p>
            <a:pPr algn="just"/>
            <a:r>
              <a:rPr lang="en-US" dirty="0"/>
              <a:t>To ensure continuity and optimal performance, MS recommends transitioning to one of the following Azure GPU VM families based on workload needs:</a:t>
            </a:r>
          </a:p>
          <a:p>
            <a:pPr marL="171450" indent="-171450" algn="just">
              <a:buFont typeface="Arial" panose="020B0604020202020204" pitchFamily="34" charset="0"/>
              <a:buChar char="•"/>
            </a:pPr>
            <a:r>
              <a:rPr lang="en-US" u="sng" dirty="0">
                <a:hlinkClick r:id="rId4"/>
              </a:rPr>
              <a:t>NDv2 VMs</a:t>
            </a:r>
            <a:r>
              <a:rPr lang="en-US" dirty="0"/>
              <a:t> – designed for the needs of the most demanding GPU-accelerated AI, machine learning, simulation, and HPC workloads.</a:t>
            </a:r>
          </a:p>
          <a:p>
            <a:pPr marL="171450" indent="-171450" algn="just">
              <a:buFont typeface="Arial" panose="020B0604020202020204" pitchFamily="34" charset="0"/>
              <a:buChar char="•"/>
            </a:pPr>
            <a:r>
              <a:rPr lang="en-US" u="sng" dirty="0">
                <a:hlinkClick r:id="rId5"/>
              </a:rPr>
              <a:t>NCads_H100_v5</a:t>
            </a:r>
            <a:r>
              <a:rPr lang="en-US" dirty="0"/>
              <a:t> VMs – real-world Azure Applied AI training and batch inference workloads.</a:t>
            </a:r>
          </a:p>
          <a:p>
            <a:pPr marL="171450" indent="-171450" algn="just">
              <a:buFont typeface="Arial" panose="020B0604020202020204" pitchFamily="34" charset="0"/>
              <a:buChar char="•"/>
            </a:pPr>
            <a:r>
              <a:rPr lang="en-US" u="sng" dirty="0">
                <a:hlinkClick r:id="rId6"/>
              </a:rPr>
              <a:t>NCasT4_v3</a:t>
            </a:r>
            <a:r>
              <a:rPr lang="en-US" dirty="0"/>
              <a:t> – ideal for deploying AI services, such as real-time inferencing of user-generated requests, or for interactive graphics and visualization workloads.  </a:t>
            </a:r>
          </a:p>
          <a:p>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a:xfrm>
            <a:off x="4433776" y="855081"/>
            <a:ext cx="4365038" cy="2413900"/>
          </a:xfrm>
        </p:spPr>
        <p:txBody>
          <a:bodyPr/>
          <a:lstStyle/>
          <a:p>
            <a:pPr algn="just"/>
            <a:r>
              <a:rPr lang="en-US" sz="1000" dirty="0">
                <a:hlinkClick r:id="rId2"/>
              </a:rPr>
              <a:t>Retirement: Azure VMware Solution AV36P and AV52 node retirement on June 30, 2029</a:t>
            </a:r>
            <a:endParaRPr lang="en-US" sz="1000" dirty="0"/>
          </a:p>
          <a:p>
            <a:pPr algn="just"/>
            <a:r>
              <a:rPr lang="en-US" sz="1000" dirty="0"/>
              <a:t>Microsoft is announcing the retirement of the AV36P and AV52 Nodes on June 30, 2029. The terms of current AV36P and AV52 Reserved Instance (RI) are not affected by this announcement. </a:t>
            </a:r>
            <a:br>
              <a:rPr lang="en-US" sz="1000" dirty="0"/>
            </a:br>
            <a:br>
              <a:rPr lang="en-US" sz="1000" dirty="0"/>
            </a:br>
            <a:r>
              <a:rPr lang="en-US" sz="1000" dirty="0"/>
              <a:t>At this time, MS recommends to review current RI expiration timeline and then work with Microsoft Account Team on next steps. To help with your upcoming transition, MS is offering AV36P and AV52 VCF BYOL 3-year RI until June 30, 2026, and 1-year RI until June 30, 2028. All migrations off AV36P and AV52 will need to be completed by June 30, 2029.</a:t>
            </a:r>
            <a:br>
              <a:rPr lang="en-US" sz="1000" dirty="0"/>
            </a:br>
            <a:r>
              <a:rPr lang="en-US" sz="1000" dirty="0"/>
              <a:t>The details above only impact AV36P and AV52 nodes. AVS AV48 and AV64 remain available with AVS VCF BYOL options.  </a:t>
            </a:r>
            <a:br>
              <a:rPr lang="en-US" sz="1000" dirty="0"/>
            </a:br>
            <a:br>
              <a:rPr lang="en-US" sz="1000" dirty="0"/>
            </a:br>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Retirement: Migration of Azure Batch Low-Priority VMs to Spot VMs in early March</a:t>
            </a:r>
            <a:endParaRPr lang="en-US" dirty="0"/>
          </a:p>
          <a:p>
            <a:pPr algn="just"/>
            <a:r>
              <a:rPr lang="en-US" dirty="0"/>
              <a:t>Azure Batch had retired Low-Priority VMs on September 30, 2025 and will begin a system-initiated migration to Spot VMs beginning March 1, 2026. This change aligns Batch with the broader Azure Spot infrastructure and simplifies the platform’s VM offering. </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Entra ID-Based Access for Azure Blob Storage SFTP</a:t>
            </a:r>
            <a:endParaRPr lang="en-US" dirty="0"/>
          </a:p>
          <a:p>
            <a:pPr algn="just"/>
            <a:r>
              <a:rPr lang="en-US" dirty="0"/>
              <a:t>Microsoft Entra ID-based access for Azure Blob Storage SFTP is now in public preview. This new capability empowers you to use Microsoft Entra ID identities (including guest users via Entra External Identities) to securely connect to Azure Blob Storage via SFTP without needing local user creation and management. </a:t>
            </a:r>
          </a:p>
          <a:p>
            <a:pPr algn="just"/>
            <a:r>
              <a:rPr lang="en-US" dirty="0"/>
              <a:t>Key capabilities include: </a:t>
            </a:r>
          </a:p>
          <a:p>
            <a:pPr marL="171450" indent="-171450" algn="just">
              <a:buFont typeface="Arial" panose="020B0604020202020204" pitchFamily="34" charset="0"/>
              <a:buChar char="•"/>
            </a:pPr>
            <a:r>
              <a:rPr lang="en-US" dirty="0"/>
              <a:t>Single Sign-On and Multi-Factor Authentication: Users authenticate with their existing corporate credentials, with MFA support to protect against credential theft. </a:t>
            </a:r>
          </a:p>
          <a:p>
            <a:pPr marL="171450" indent="-171450" algn="just">
              <a:buFont typeface="Arial" panose="020B0604020202020204" pitchFamily="34" charset="0"/>
              <a:buChar char="•"/>
            </a:pPr>
            <a:r>
              <a:rPr lang="en-US" dirty="0"/>
              <a:t>Conditional Access Policies: Apply sophisticated access controls based on user location, device compliance, risk level, and other contextual factors. </a:t>
            </a:r>
          </a:p>
          <a:p>
            <a:pPr marL="171450" indent="-171450" algn="just">
              <a:buFont typeface="Arial" panose="020B0604020202020204" pitchFamily="34" charset="0"/>
              <a:buChar char="•"/>
            </a:pPr>
            <a:r>
              <a:rPr lang="en-US" dirty="0"/>
              <a:t>Unified Identity Lifecycle: SFTP access is automatically updated or revoked through your existing identity management processes when users leave or change roles. </a:t>
            </a:r>
          </a:p>
          <a:p>
            <a:pPr marL="171450" indent="-171450" algn="just">
              <a:buFont typeface="Arial" panose="020B0604020202020204" pitchFamily="34" charset="0"/>
              <a:buChar char="•"/>
            </a:pPr>
            <a:r>
              <a:rPr lang="en-US" dirty="0"/>
              <a:t>External Identity Support: Securely collaborate with partners and vendors using Entra External Identities (B2B) without creating local accounts. </a:t>
            </a:r>
          </a:p>
          <a:p>
            <a:pPr marL="171450" indent="-171450" algn="just">
              <a:buFont typeface="Arial" panose="020B0604020202020204" pitchFamily="34" charset="0"/>
              <a:buChar char="•"/>
            </a:pPr>
            <a:r>
              <a:rPr lang="en-US" dirty="0"/>
              <a:t>Native Azure RBAC, ABAC, and ACL Integration: SFTP access seamlessly integrates with Azure's comprehensive authorization framework, respecting the same permissions as REST API, Azure CLI, and other access methods. </a:t>
            </a:r>
          </a:p>
          <a:p>
            <a:pPr algn="just"/>
            <a:endParaRPr lang="en-US" dirty="0"/>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SQL MCP Server</a:t>
            </a:r>
            <a:endParaRPr lang="en-US" sz="1000" dirty="0"/>
          </a:p>
          <a:p>
            <a:pPr algn="just"/>
            <a:r>
              <a:rPr lang="en-US" sz="1000" dirty="0"/>
              <a:t>Microsoft introduced </a:t>
            </a:r>
            <a:r>
              <a:rPr lang="en-US" sz="1000" b="1" dirty="0"/>
              <a:t>SQL MCP Server</a:t>
            </a:r>
            <a:r>
              <a:rPr lang="en-US" sz="1000" dirty="0"/>
              <a:t>, a new </a:t>
            </a:r>
            <a:r>
              <a:rPr lang="en-US" sz="1000" b="1" dirty="0"/>
              <a:t>Model Context Protocol (MCP) connector</a:t>
            </a:r>
            <a:r>
              <a:rPr lang="en-US" sz="1000" dirty="0"/>
              <a:t> for databases, delivered as part of Data API Builder.</a:t>
            </a:r>
          </a:p>
          <a:p>
            <a:pPr algn="just"/>
            <a:r>
              <a:rPr lang="en-US" sz="1000" dirty="0"/>
              <a:t>It provides a </a:t>
            </a:r>
            <a:r>
              <a:rPr lang="en-US" sz="1000" b="1" dirty="0"/>
              <a:t>secure, structured way for AI agents to interact with production databases</a:t>
            </a:r>
            <a:r>
              <a:rPr lang="en-US" sz="1000" dirty="0"/>
              <a:t>—without exposing direct database access or relying on unsafe natural language queries.</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Database DevOps in SSMS powered by SQL projects</a:t>
            </a:r>
            <a:endParaRPr lang="en-US" dirty="0"/>
          </a:p>
          <a:p>
            <a:pPr algn="just"/>
            <a:r>
              <a:rPr lang="en-US" dirty="0"/>
              <a:t>Microsoft has enhanced SSMS with support for </a:t>
            </a:r>
            <a:r>
              <a:rPr lang="en-US" b="1" dirty="0"/>
              <a:t>SQL database projects using SDK-style projects (</a:t>
            </a:r>
            <a:r>
              <a:rPr lang="en-US" b="1" dirty="0" err="1"/>
              <a:t>Microsoft.Build.Sql</a:t>
            </a:r>
            <a:r>
              <a:rPr lang="en-US" b="1" dirty="0"/>
              <a:t>)</a:t>
            </a:r>
            <a:r>
              <a:rPr lang="en-US" dirty="0"/>
              <a:t>, enabling </a:t>
            </a:r>
            <a:r>
              <a:rPr lang="en-US" b="1" dirty="0"/>
              <a:t>schema-as-code directly inside SSMS</a:t>
            </a:r>
            <a:r>
              <a:rPr lang="en-US" dirty="0"/>
              <a:t>.</a:t>
            </a:r>
          </a:p>
          <a:p>
            <a:pPr algn="just"/>
            <a:r>
              <a:rPr lang="en-US" dirty="0"/>
              <a:t>This brings database development closer to modern DevOps practices by allowing schemas to be </a:t>
            </a:r>
            <a:r>
              <a:rPr lang="en-US" b="1" dirty="0"/>
              <a:t>version-controlled, validated, and deployed like application code</a:t>
            </a:r>
            <a:r>
              <a:rPr lang="en-US" dirty="0"/>
              <a:t>.</a:t>
            </a:r>
          </a:p>
          <a:p>
            <a:pPr algn="just"/>
            <a:r>
              <a:rPr lang="en-US" dirty="0"/>
              <a:t>A </a:t>
            </a:r>
            <a:r>
              <a:rPr lang="en-US" b="1" dirty="0"/>
              <a:t>SQL database project</a:t>
            </a:r>
            <a:r>
              <a:rPr lang="en-US" dirty="0"/>
              <a:t> is a </a:t>
            </a:r>
            <a:r>
              <a:rPr lang="en-US" b="1" dirty="0"/>
              <a:t>local, file-based representation of a database schema</a:t>
            </a:r>
            <a:r>
              <a:rPr lang="en-US" dirty="0"/>
              <a:t>, including:</a:t>
            </a:r>
          </a:p>
          <a:p>
            <a:pPr marL="171450" indent="-171450" algn="just">
              <a:buFont typeface="Arial" panose="020B0604020202020204" pitchFamily="34" charset="0"/>
              <a:buChar char="•"/>
            </a:pPr>
            <a:r>
              <a:rPr lang="en-US" dirty="0"/>
              <a:t>tables</a:t>
            </a:r>
          </a:p>
          <a:p>
            <a:pPr marL="171450" indent="-171450" algn="just">
              <a:buFont typeface="Arial" panose="020B0604020202020204" pitchFamily="34" charset="0"/>
              <a:buChar char="•"/>
            </a:pPr>
            <a:r>
              <a:rPr lang="en-US" dirty="0"/>
              <a:t>stored procedures</a:t>
            </a:r>
          </a:p>
          <a:p>
            <a:pPr marL="171450" indent="-171450" algn="just">
              <a:buFont typeface="Arial" panose="020B0604020202020204" pitchFamily="34" charset="0"/>
              <a:buChar char="•"/>
            </a:pPr>
            <a:r>
              <a:rPr lang="en-US" dirty="0"/>
              <a:t>functions</a:t>
            </a:r>
          </a:p>
          <a:p>
            <a:pPr marL="171450" indent="-171450" algn="just">
              <a:buFont typeface="Arial" panose="020B0604020202020204" pitchFamily="34" charset="0"/>
              <a:buChar char="•"/>
            </a:pPr>
            <a:r>
              <a:rPr lang="en-US" dirty="0"/>
              <a:t>views</a:t>
            </a:r>
          </a:p>
          <a:p>
            <a:pPr marL="171450" indent="-171450" algn="just">
              <a:buFont typeface="Arial" panose="020B0604020202020204" pitchFamily="34" charset="0"/>
              <a:buChar char="•"/>
            </a:pPr>
            <a:r>
              <a:rPr lang="en-US" dirty="0"/>
              <a:t>other SQL objects</a:t>
            </a:r>
          </a:p>
          <a:p>
            <a:pPr algn="just"/>
            <a:r>
              <a:rPr lang="en-US" dirty="0"/>
              <a:t>Instead of managing schema directly in the database, you manage it as </a:t>
            </a:r>
            <a:r>
              <a:rPr lang="en-US" b="1" dirty="0"/>
              <a:t>code artifacts</a:t>
            </a:r>
            <a:r>
              <a:rPr lang="en-US" dirty="0"/>
              <a:t>.</a:t>
            </a:r>
          </a:p>
          <a:p>
            <a:pPr algn="just"/>
            <a:endParaRPr lang="en-US" dirty="0"/>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pPr algn="just"/>
            <a:r>
              <a:rPr lang="en-US" sz="1000" dirty="0">
                <a:hlinkClick r:id="rId2"/>
              </a:rPr>
              <a:t>Public preview: GitHub Copilot integration in Schema Designer for the MSSQL extension</a:t>
            </a:r>
            <a:endParaRPr lang="en-US" sz="1000" dirty="0"/>
          </a:p>
          <a:p>
            <a:pPr algn="just"/>
            <a:r>
              <a:rPr lang="en-US" sz="1000" dirty="0"/>
              <a:t>Microsoft has added </a:t>
            </a:r>
            <a:r>
              <a:rPr lang="en-US" sz="1000" b="1" dirty="0"/>
              <a:t>GitHub Copilot integration into the Schema Designer</a:t>
            </a:r>
            <a:r>
              <a:rPr lang="en-US" sz="1000" dirty="0"/>
              <a:t> in Visual Studio Code, enabling developers to </a:t>
            </a:r>
            <a:r>
              <a:rPr lang="en-US" sz="1000" b="1" dirty="0"/>
              <a:t>design and evolve database schemas using natural language with full visual control</a:t>
            </a:r>
            <a:r>
              <a:rPr lang="en-US" sz="1000" dirty="0"/>
              <a:t>.</a:t>
            </a:r>
          </a:p>
          <a:p>
            <a:pPr algn="just"/>
            <a:r>
              <a:rPr lang="en-US" sz="1000" dirty="0"/>
              <a:t>This extends the MSSQL extension into a </a:t>
            </a:r>
            <a:r>
              <a:rPr lang="en-US" sz="1000" b="1" dirty="0"/>
              <a:t>complete, AI-assisted database design + backend generation workflow</a:t>
            </a:r>
            <a:r>
              <a:rPr lang="en-US" sz="1000" dirty="0"/>
              <a:t>.</a:t>
            </a:r>
          </a:p>
          <a:p>
            <a:r>
              <a:rPr lang="en-US" sz="1000" dirty="0"/>
              <a:t>You can describe what you want:</a:t>
            </a:r>
          </a:p>
          <a:p>
            <a:pPr marL="171450" indent="-171450">
              <a:buFont typeface="Arial" panose="020B0604020202020204" pitchFamily="34" charset="0"/>
              <a:buChar char="•"/>
            </a:pPr>
            <a:r>
              <a:rPr lang="en-US" sz="1000" dirty="0"/>
              <a:t>Create a customer table with orders and add indexing for performance</a:t>
            </a:r>
          </a:p>
          <a:p>
            <a:r>
              <a:rPr lang="en-US" sz="1000" dirty="0"/>
              <a:t>Copilot will:</a:t>
            </a:r>
          </a:p>
          <a:p>
            <a:pPr marL="171450" indent="-171450">
              <a:buFont typeface="Arial" panose="020B0604020202020204" pitchFamily="34" charset="0"/>
              <a:buChar char="•"/>
            </a:pPr>
            <a:r>
              <a:rPr lang="en-US" sz="1000" dirty="0"/>
              <a:t>propose tables</a:t>
            </a:r>
          </a:p>
          <a:p>
            <a:pPr marL="171450" indent="-171450">
              <a:buFont typeface="Arial" panose="020B0604020202020204" pitchFamily="34" charset="0"/>
              <a:buChar char="•"/>
            </a:pPr>
            <a:r>
              <a:rPr lang="en-US" sz="1000" dirty="0"/>
              <a:t>define relationships</a:t>
            </a:r>
          </a:p>
          <a:p>
            <a:pPr marL="171450" indent="-171450">
              <a:buFont typeface="Arial" panose="020B0604020202020204" pitchFamily="34" charset="0"/>
              <a:buChar char="•"/>
            </a:pPr>
            <a:r>
              <a:rPr lang="en-US" sz="1000" dirty="0"/>
              <a:t>suggest constraints</a:t>
            </a:r>
          </a:p>
          <a:p>
            <a:pPr marL="171450" indent="-171450">
              <a:buFont typeface="Arial" panose="020B0604020202020204" pitchFamily="34" charset="0"/>
              <a:buChar char="•"/>
            </a:pPr>
            <a:r>
              <a:rPr lang="en-US" sz="1000" dirty="0"/>
              <a:t>generate schema changes</a:t>
            </a:r>
          </a:p>
          <a:p>
            <a:pPr algn="just"/>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3"/>
              </a:rPr>
              <a:t>Public Preview: Data API builder with built-in GitHub Copilot in MSSQL extension</a:t>
            </a:r>
            <a:endParaRPr lang="en-US" dirty="0"/>
          </a:p>
          <a:p>
            <a:pPr algn="just"/>
            <a:r>
              <a:rPr lang="en-US" dirty="0"/>
              <a:t>Microsoft introduced </a:t>
            </a:r>
            <a:r>
              <a:rPr lang="en-US" b="1" dirty="0"/>
              <a:t>Data API builder integration (public preview)</a:t>
            </a:r>
            <a:r>
              <a:rPr lang="en-US" dirty="0"/>
              <a:t> in the MSSQL extension for Visual Studio Code, enabling developers to </a:t>
            </a:r>
            <a:r>
              <a:rPr lang="en-US" b="1" dirty="0"/>
              <a:t>generate full back-end APIs directly from a SQL database schema</a:t>
            </a:r>
            <a:r>
              <a:rPr lang="en-US" dirty="0"/>
              <a:t>.</a:t>
            </a:r>
          </a:p>
          <a:p>
            <a:pPr algn="just"/>
            <a:r>
              <a:rPr lang="en-US" dirty="0"/>
              <a:t>With built-in GitHub Copilot support, this creates a </a:t>
            </a:r>
            <a:r>
              <a:rPr lang="en-US" b="1" dirty="0"/>
              <a:t>guided, AI-assisted backend generation experience</a:t>
            </a:r>
            <a:r>
              <a:rPr lang="en-US" dirty="0"/>
              <a:t>—without manual infrastructure setup.</a:t>
            </a:r>
          </a:p>
          <a:p>
            <a:pPr algn="just"/>
            <a:r>
              <a:rPr lang="en-US" dirty="0"/>
              <a:t>You can now go from </a:t>
            </a:r>
            <a:r>
              <a:rPr lang="en-US" b="1" dirty="0"/>
              <a:t>database schema → working API</a:t>
            </a:r>
            <a:r>
              <a:rPr lang="en-US" dirty="0"/>
              <a:t> in minutes.</a:t>
            </a:r>
          </a:p>
          <a:p>
            <a:pPr algn="just"/>
            <a:r>
              <a:rPr lang="en-US" dirty="0"/>
              <a:t>Supported outputs:</a:t>
            </a:r>
          </a:p>
          <a:p>
            <a:pPr marL="171450" indent="-171450" algn="just">
              <a:buFont typeface="Arial" panose="020B0604020202020204" pitchFamily="34" charset="0"/>
              <a:buChar char="•"/>
            </a:pPr>
            <a:r>
              <a:rPr lang="en-US" dirty="0"/>
              <a:t>REST APIs</a:t>
            </a:r>
          </a:p>
          <a:p>
            <a:pPr marL="171450" indent="-171450" algn="just">
              <a:buFont typeface="Arial" panose="020B0604020202020204" pitchFamily="34" charset="0"/>
              <a:buChar char="•"/>
            </a:pPr>
            <a:r>
              <a:rPr lang="en-US" dirty="0" err="1"/>
              <a:t>GraphQL</a:t>
            </a:r>
            <a:r>
              <a:rPr lang="en-US" dirty="0"/>
              <a:t> endpoints</a:t>
            </a:r>
          </a:p>
          <a:p>
            <a:pPr marL="171450" indent="-171450" algn="just">
              <a:buFont typeface="Arial" panose="020B0604020202020204" pitchFamily="34" charset="0"/>
              <a:buChar char="•"/>
            </a:pPr>
            <a:r>
              <a:rPr lang="en-US" dirty="0"/>
              <a:t>MCP (Model Context Protocol) endpoints (for AI scenarios)</a:t>
            </a:r>
          </a:p>
          <a:p>
            <a:pPr algn="just"/>
            <a:r>
              <a:rPr lang="en-US" dirty="0"/>
              <a:t>All generated </a:t>
            </a:r>
            <a:r>
              <a:rPr lang="en-US" b="1" dirty="0"/>
              <a:t>directly inside VS Code</a:t>
            </a:r>
            <a:r>
              <a:rPr lang="en-US" dirty="0"/>
              <a:t>.</a:t>
            </a:r>
          </a:p>
          <a:p>
            <a:pPr algn="just"/>
            <a:endParaRPr lang="en-US" dirty="0"/>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6" end="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7" end="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8" end="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566AE2-BD3F-8165-1ABB-7A7F42152F13}"/>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ACB630E5-9989-2E04-3995-4562147939E5}"/>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77B6C91F-C61F-F2C3-AECE-3FF90676A53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3EEE2C1-C44F-65C0-F45F-C28B2F91CECB}"/>
              </a:ext>
            </a:extLst>
          </p:cNvPr>
          <p:cNvSpPr>
            <a:spLocks noGrp="1"/>
          </p:cNvSpPr>
          <p:nvPr>
            <p:ph type="body" sz="quarter" idx="16"/>
          </p:nvPr>
        </p:nvSpPr>
        <p:spPr/>
        <p:txBody>
          <a:bodyPr/>
          <a:lstStyle/>
          <a:p>
            <a:pPr algn="just"/>
            <a:r>
              <a:rPr lang="en-US" dirty="0">
                <a:hlinkClick r:id="rId2"/>
              </a:rPr>
              <a:t>Announcing Preview of 160 and 192vCore Premium-series Options for Azure SQL Database Hyperscale</a:t>
            </a:r>
            <a:endParaRPr lang="en-US" dirty="0"/>
          </a:p>
          <a:p>
            <a:pPr algn="just"/>
            <a:r>
              <a:rPr lang="en-US" dirty="0"/>
              <a:t>Microsoft has announced the public preview of </a:t>
            </a:r>
            <a:r>
              <a:rPr lang="en-US" b="1" dirty="0"/>
              <a:t>160 and 192 vCore compute sizes</a:t>
            </a:r>
            <a:r>
              <a:rPr lang="en-US" dirty="0"/>
              <a:t> for the Premium-series hardware configuration in </a:t>
            </a:r>
            <a:r>
              <a:rPr lang="en-US" b="1" dirty="0"/>
              <a:t>Azure SQL Database Hyperscale</a:t>
            </a:r>
            <a:r>
              <a:rPr lang="en-US" dirty="0"/>
              <a:t>. This update expands the maximum scale of a single database or elastic pool from </a:t>
            </a:r>
            <a:r>
              <a:rPr lang="en-US" b="1" dirty="0"/>
              <a:t>128 </a:t>
            </a:r>
            <a:r>
              <a:rPr lang="en-US" b="1" dirty="0" err="1"/>
              <a:t>vCores</a:t>
            </a:r>
            <a:r>
              <a:rPr lang="en-US" b="1" dirty="0"/>
              <a:t> to 192 </a:t>
            </a:r>
            <a:r>
              <a:rPr lang="en-US" b="1" dirty="0" err="1"/>
              <a:t>vCores</a:t>
            </a:r>
            <a:r>
              <a:rPr lang="en-US" dirty="0"/>
              <a:t>, enabling significantly higher compute capacity.</a:t>
            </a:r>
          </a:p>
          <a:p>
            <a:pPr algn="just"/>
            <a:r>
              <a:rPr lang="en-US" dirty="0"/>
              <a:t>With increased CPU power and larger memory footprints, the new configurations are designed to support </a:t>
            </a:r>
            <a:r>
              <a:rPr lang="en-US" b="1" dirty="0"/>
              <a:t>high concurrency environments and mission-critical applications</a:t>
            </a:r>
            <a:r>
              <a:rPr lang="en-US" dirty="0"/>
              <a:t>. Customers running large-scale </a:t>
            </a:r>
            <a:r>
              <a:rPr lang="en-US" b="1" dirty="0"/>
              <a:t>OLTP, HTAP, and analytics-heavy workloads</a:t>
            </a:r>
            <a:r>
              <a:rPr lang="en-US" dirty="0"/>
              <a:t> can now evaluate higher compute ceilings without needing to redesign their applications.</a:t>
            </a:r>
          </a:p>
          <a:p>
            <a:pPr algn="just"/>
            <a:r>
              <a:rPr lang="en-US" dirty="0"/>
              <a:t>Premium-series Hyperscale databases run on </a:t>
            </a:r>
            <a:r>
              <a:rPr lang="en-US" b="1" dirty="0"/>
              <a:t>latest-generation Intel and AMD processors</a:t>
            </a:r>
            <a:r>
              <a:rPr lang="en-US" dirty="0"/>
              <a:t>, delivering improved per-core performance and better scalability compared to standard Gen5 hardware. This release further extends Azure SQL Hyperscale’s ability to handle large, performance-sensitive workloads within a single database architecture.</a:t>
            </a:r>
          </a:p>
          <a:p>
            <a:pPr algn="just"/>
            <a:endParaRPr lang="en-US" dirty="0"/>
          </a:p>
        </p:txBody>
      </p:sp>
    </p:spTree>
    <p:extLst>
      <p:ext uri="{BB962C8B-B14F-4D97-AF65-F5344CB8AC3E}">
        <p14:creationId xmlns:p14="http://schemas.microsoft.com/office/powerpoint/2010/main" val="314063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pPr algn="just"/>
            <a:r>
              <a:rPr lang="en-US" sz="1000" dirty="0">
                <a:hlinkClick r:id="rId2"/>
              </a:rPr>
              <a:t>Generally Available: GitHub Copilot in SQL Server Management Studio 22</a:t>
            </a:r>
            <a:endParaRPr lang="en-US" sz="1000" dirty="0"/>
          </a:p>
          <a:p>
            <a:pPr algn="just"/>
            <a:r>
              <a:rPr lang="en-US" sz="1000" dirty="0"/>
              <a:t>Microsoft announced </a:t>
            </a:r>
            <a:r>
              <a:rPr lang="en-US" sz="1000" b="1" dirty="0"/>
              <a:t>General Availability of GitHub Copilot in SSMS 22</a:t>
            </a:r>
            <a:r>
              <a:rPr lang="en-US" sz="1000" dirty="0"/>
              <a:t>, bringing </a:t>
            </a:r>
            <a:r>
              <a:rPr lang="en-US" sz="1000" b="1" dirty="0"/>
              <a:t>AI-powered assistance directly into the SQL development and administration workflow</a:t>
            </a:r>
            <a:r>
              <a:rPr lang="en-US" sz="1000" dirty="0"/>
              <a:t>.</a:t>
            </a:r>
          </a:p>
          <a:p>
            <a:pPr algn="just"/>
            <a:r>
              <a:rPr lang="en-US" sz="1000" dirty="0"/>
              <a:t>This allows database engineers and developers to </a:t>
            </a:r>
            <a:r>
              <a:rPr lang="en-US" sz="1000" b="1" dirty="0"/>
              <a:t>write, optimize, and troubleshoot T-SQL using natural language—without leaving SSMS</a:t>
            </a:r>
            <a:r>
              <a:rPr lang="en-US" sz="1000" dirty="0"/>
              <a:t>.</a:t>
            </a:r>
          </a:p>
          <a:p>
            <a:pPr algn="just"/>
            <a:r>
              <a:rPr lang="en-US" sz="1000" dirty="0"/>
              <a:t>With Copilot embedded in SSMS, you can:</a:t>
            </a:r>
          </a:p>
          <a:p>
            <a:pPr marL="171450" indent="-171450" algn="just">
              <a:buFont typeface="Arial" panose="020B0604020202020204" pitchFamily="34" charset="0"/>
              <a:buChar char="•"/>
            </a:pPr>
            <a:r>
              <a:rPr lang="en-US" sz="1000" dirty="0"/>
              <a:t>write T-SQL using natural language prompts</a:t>
            </a:r>
          </a:p>
          <a:p>
            <a:pPr marL="171450" indent="-171450" algn="just">
              <a:buFont typeface="Arial" panose="020B0604020202020204" pitchFamily="34" charset="0"/>
              <a:buChar char="•"/>
            </a:pPr>
            <a:r>
              <a:rPr lang="en-US" sz="1000" dirty="0"/>
              <a:t>explain existing queries</a:t>
            </a:r>
          </a:p>
          <a:p>
            <a:pPr marL="171450" indent="-171450" algn="just">
              <a:buFont typeface="Arial" panose="020B0604020202020204" pitchFamily="34" charset="0"/>
              <a:buChar char="•"/>
            </a:pPr>
            <a:r>
              <a:rPr lang="en-US" sz="1000" dirty="0"/>
              <a:t>optimize performance</a:t>
            </a:r>
          </a:p>
          <a:p>
            <a:pPr marL="171450" indent="-171450" algn="just">
              <a:buFont typeface="Arial" panose="020B0604020202020204" pitchFamily="34" charset="0"/>
              <a:buChar char="•"/>
            </a:pPr>
            <a:r>
              <a:rPr lang="en-US" sz="1000" dirty="0"/>
              <a:t>troubleshoot issues</a:t>
            </a:r>
          </a:p>
          <a:p>
            <a:pPr marL="171450" indent="-171450" algn="just">
              <a:buFont typeface="Arial" panose="020B0604020202020204" pitchFamily="34" charset="0"/>
              <a:buChar char="•"/>
            </a:pPr>
            <a:r>
              <a:rPr lang="en-US" sz="1000" dirty="0"/>
              <a:t>get intelligent code completions</a:t>
            </a:r>
          </a:p>
          <a:p>
            <a:pPr algn="just"/>
            <a:r>
              <a:rPr lang="en-US" sz="1000" dirty="0"/>
              <a:t>All within your </a:t>
            </a:r>
            <a:r>
              <a:rPr lang="en-US" sz="1000" b="1" dirty="0"/>
              <a:t>existing database connection context</a:t>
            </a:r>
            <a:r>
              <a:rPr lang="en-US" sz="1000" dirty="0"/>
              <a:t>.</a:t>
            </a:r>
          </a:p>
          <a:p>
            <a:pPr algn="just"/>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General availability: Azure SQL updates for mid-March 2026</a:t>
            </a:r>
            <a:endParaRPr lang="en-US" dirty="0"/>
          </a:p>
          <a:p>
            <a:pPr algn="just"/>
            <a:r>
              <a:rPr lang="en-US" dirty="0"/>
              <a:t>In mid-March 2026, the following updates and enhancements were made to Azure SQL:  </a:t>
            </a:r>
          </a:p>
          <a:p>
            <a:pPr marL="171450" indent="-171450" algn="just">
              <a:buFont typeface="Arial" panose="020B0604020202020204" pitchFamily="34" charset="0"/>
              <a:buChar char="•"/>
            </a:pPr>
            <a:r>
              <a:rPr lang="en-US" dirty="0"/>
              <a:t>Publish SQL database projects directly from Visual Studio Code to streamline database deployment workflows.  </a:t>
            </a:r>
          </a:p>
          <a:p>
            <a:pPr marL="171450" indent="-171450" algn="just">
              <a:buFont typeface="Arial" panose="020B0604020202020204" pitchFamily="34" charset="0"/>
              <a:buChar char="•"/>
            </a:pPr>
            <a:r>
              <a:rPr lang="en-US" dirty="0"/>
              <a:t>View and edit SQL table data directly in the MSSQL extension for Visual Studio Code using an interactive grid.  </a:t>
            </a:r>
          </a:p>
          <a:p>
            <a:pPr marL="171450" indent="-171450" algn="just">
              <a:buFont typeface="Arial" panose="020B0604020202020204" pitchFamily="34" charset="0"/>
              <a:buChar char="•"/>
            </a:pPr>
            <a:r>
              <a:rPr lang="en-US" dirty="0"/>
              <a:t>Azure SQL Database now supports </a:t>
            </a:r>
            <a:r>
              <a:rPr lang="en-US" dirty="0" err="1"/>
              <a:t>versionless</a:t>
            </a:r>
            <a:r>
              <a:rPr lang="en-US" dirty="0"/>
              <a:t> keys for transparent data encryption (TDE), giving you a simpler and more reliable way to manage your own encryption keys.  </a:t>
            </a:r>
          </a:p>
          <a:p>
            <a:pPr algn="just"/>
            <a:endParaRPr lang="en-US" dirty="0"/>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FE15C0-EAEC-E6D4-AEAC-82109CB7780D}"/>
              </a:ext>
            </a:extLst>
          </p:cNvPr>
          <p:cNvSpPr>
            <a:spLocks noGrp="1"/>
          </p:cNvSpPr>
          <p:nvPr>
            <p:ph type="body" sz="quarter" idx="10"/>
          </p:nvPr>
        </p:nvSpPr>
        <p:spPr>
          <a:xfrm>
            <a:off x="4433776" y="855081"/>
            <a:ext cx="4365038" cy="897520"/>
          </a:xfrm>
        </p:spPr>
        <p:txBody>
          <a:bodyPr/>
          <a:lstStyle/>
          <a:p>
            <a:pPr algn="just"/>
            <a:r>
              <a:rPr lang="en-US" sz="1000" dirty="0">
                <a:hlinkClick r:id="rId2"/>
              </a:rPr>
              <a:t>Generally Available: </a:t>
            </a:r>
            <a:r>
              <a:rPr lang="en-US" sz="1000" dirty="0" err="1">
                <a:hlinkClick r:id="rId2"/>
              </a:rPr>
              <a:t>Lakeflow</a:t>
            </a:r>
            <a:r>
              <a:rPr lang="en-US" sz="1000" dirty="0">
                <a:hlinkClick r:id="rId2"/>
              </a:rPr>
              <a:t> Connect Free Tier now available in Azure Databricks</a:t>
            </a:r>
            <a:endParaRPr lang="en-US" sz="1000" dirty="0"/>
          </a:p>
          <a:p>
            <a:pPr algn="just"/>
            <a:r>
              <a:rPr lang="en-US" sz="1000" dirty="0"/>
              <a:t>Azure Databricks introduced a </a:t>
            </a:r>
            <a:r>
              <a:rPr lang="en-US" sz="1000" b="1" dirty="0" err="1"/>
              <a:t>Lakeflow</a:t>
            </a:r>
            <a:r>
              <a:rPr lang="en-US" sz="1000" b="1" dirty="0"/>
              <a:t> Connect Free Tier</a:t>
            </a:r>
            <a:r>
              <a:rPr lang="en-US" sz="1000" dirty="0"/>
              <a:t>, enabling organizations to </a:t>
            </a:r>
            <a:r>
              <a:rPr lang="en-US" sz="1000" b="1" dirty="0"/>
              <a:t>ingest data into the Lakehouse at no cost (up to a limit)</a:t>
            </a:r>
            <a:r>
              <a:rPr lang="en-US" sz="1000" dirty="0"/>
              <a:t> and accelerate analytics and AI adoption.</a:t>
            </a:r>
          </a:p>
          <a:p>
            <a:pPr algn="just"/>
            <a:endParaRPr lang="en-US" sz="1000" dirty="0"/>
          </a:p>
        </p:txBody>
      </p:sp>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pPr algn="just"/>
            <a:r>
              <a:rPr lang="en-US" dirty="0">
                <a:hlinkClick r:id="rId3"/>
              </a:rPr>
              <a:t>Generally Available: </a:t>
            </a:r>
            <a:r>
              <a:rPr lang="en-US" dirty="0" err="1">
                <a:hlinkClick r:id="rId3"/>
              </a:rPr>
              <a:t>Versionless</a:t>
            </a:r>
            <a:r>
              <a:rPr lang="en-US" dirty="0">
                <a:hlinkClick r:id="rId3"/>
              </a:rPr>
              <a:t> key support for transparent data encryption in Azure SQL Database</a:t>
            </a:r>
            <a:endParaRPr lang="en-US" dirty="0"/>
          </a:p>
          <a:p>
            <a:pPr algn="just"/>
            <a:r>
              <a:rPr lang="en-US" dirty="0"/>
              <a:t>Microsoft introduced support for </a:t>
            </a:r>
            <a:r>
              <a:rPr lang="en-US" b="1" dirty="0" err="1"/>
              <a:t>versionless</a:t>
            </a:r>
            <a:r>
              <a:rPr lang="en-US" b="1" dirty="0"/>
              <a:t> keys in Transparent Data Encryption (TDE)</a:t>
            </a:r>
            <a:r>
              <a:rPr lang="en-US" dirty="0"/>
              <a:t> when using </a:t>
            </a:r>
            <a:r>
              <a:rPr lang="en-US" b="1" dirty="0"/>
              <a:t>customer-managed keys (CMK)</a:t>
            </a:r>
            <a:r>
              <a:rPr lang="en-US" dirty="0"/>
              <a:t> stored in Azure Key Vault or Managed HSM.</a:t>
            </a:r>
          </a:p>
          <a:p>
            <a:pPr algn="just"/>
            <a:r>
              <a:rPr lang="en-US" dirty="0"/>
              <a:t>This simplifies encryption key management by allowing Azure SQL to </a:t>
            </a:r>
            <a:r>
              <a:rPr lang="en-US" b="1" dirty="0"/>
              <a:t>automatically use the latest key version</a:t>
            </a:r>
            <a:r>
              <a:rPr lang="en-US" dirty="0"/>
              <a:t>, without requiring manual updates.</a:t>
            </a:r>
          </a:p>
          <a:p>
            <a:pPr algn="just"/>
            <a:r>
              <a:rPr lang="en-US" b="1" dirty="0"/>
              <a:t>Now (</a:t>
            </a:r>
            <a:r>
              <a:rPr lang="en-US" b="1" dirty="0" err="1"/>
              <a:t>Versionless</a:t>
            </a:r>
            <a:r>
              <a:rPr lang="en-US" b="1" dirty="0"/>
              <a:t> Keys) y</a:t>
            </a:r>
            <a:r>
              <a:rPr lang="en-US" dirty="0"/>
              <a:t>ou can use a </a:t>
            </a:r>
            <a:r>
              <a:rPr lang="en-US" b="1" dirty="0" err="1"/>
              <a:t>versionless</a:t>
            </a:r>
            <a:r>
              <a:rPr lang="en-US" b="1" dirty="0"/>
              <a:t> key URI</a:t>
            </a:r>
            <a:r>
              <a:rPr lang="en-US" dirty="0"/>
              <a:t>:</a:t>
            </a:r>
          </a:p>
          <a:p>
            <a:pPr algn="just"/>
            <a:r>
              <a:rPr lang="en-US" dirty="0"/>
              <a:t>https://kv-name.vault.azure.net/keys/tde-key</a:t>
            </a:r>
          </a:p>
          <a:p>
            <a:pPr algn="just"/>
            <a:r>
              <a:rPr lang="en-US" dirty="0"/>
              <a:t>Azure SQL will:</a:t>
            </a:r>
          </a:p>
          <a:p>
            <a:pPr marL="171450" indent="-171450" algn="just">
              <a:buFont typeface="Arial" panose="020B0604020202020204" pitchFamily="34" charset="0"/>
              <a:buChar char="•"/>
            </a:pPr>
            <a:r>
              <a:rPr lang="en-US" dirty="0"/>
              <a:t>automatically detect new key versions</a:t>
            </a:r>
          </a:p>
          <a:p>
            <a:pPr marL="171450" indent="-171450" algn="just">
              <a:buFont typeface="Arial" panose="020B0604020202020204" pitchFamily="34" charset="0"/>
              <a:buChar char="•"/>
            </a:pPr>
            <a:r>
              <a:rPr lang="en-US" dirty="0"/>
              <a:t>switch to the latest version</a:t>
            </a:r>
          </a:p>
          <a:p>
            <a:pPr marL="171450" indent="-171450" algn="just">
              <a:buFont typeface="Arial" panose="020B0604020202020204" pitchFamily="34" charset="0"/>
              <a:buChar char="•"/>
            </a:pPr>
            <a:r>
              <a:rPr lang="en-US" dirty="0"/>
              <a:t>continue encryption seamlessly</a:t>
            </a:r>
          </a:p>
          <a:p>
            <a:pPr algn="just"/>
            <a:endParaRPr lang="en-US" dirty="0"/>
          </a:p>
        </p:txBody>
      </p:sp>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0CF2D6-00DA-4A93-FF29-2AE322F22935}"/>
              </a:ext>
            </a:extLst>
          </p:cNvPr>
          <p:cNvSpPr>
            <a:spLocks noGrp="1"/>
          </p:cNvSpPr>
          <p:nvPr>
            <p:ph type="body" sz="quarter" idx="10"/>
          </p:nvPr>
        </p:nvSpPr>
        <p:spPr/>
        <p:txBody>
          <a:bodyPr/>
          <a:lstStyle/>
          <a:p>
            <a:pPr algn="just"/>
            <a:r>
              <a:rPr lang="en-US" sz="1000" dirty="0">
                <a:hlinkClick r:id="rId2"/>
              </a:rPr>
              <a:t>Announcing the General Availability of Microsoft JDBC Driver 13.4 for SQL Server</a:t>
            </a:r>
            <a:endParaRPr lang="en-US" sz="1000" dirty="0"/>
          </a:p>
          <a:p>
            <a:pPr algn="just"/>
            <a:r>
              <a:rPr lang="en-US" sz="1000" dirty="0"/>
              <a:t>Microsoft has announced the General Availability of </a:t>
            </a:r>
            <a:r>
              <a:rPr lang="en-US" sz="1000" b="1" dirty="0"/>
              <a:t>Microsoft JDBC Driver 13.4 for SQL Server</a:t>
            </a:r>
            <a:r>
              <a:rPr lang="en-US" sz="1000" dirty="0"/>
              <a:t>, marking a significant update that builds on enhancements from the 13.3.x preview releases. This version delivers improvements across performance, observability, security, and readiness for modern AI-driven workloads.</a:t>
            </a:r>
          </a:p>
          <a:p>
            <a:pPr algn="just"/>
            <a:r>
              <a:rPr lang="en-US" sz="1000" dirty="0"/>
              <a:t>A key focus of the release is enhanced </a:t>
            </a:r>
            <a:r>
              <a:rPr lang="en-US" sz="1000" b="1" dirty="0"/>
              <a:t>performance observability</a:t>
            </a:r>
            <a:r>
              <a:rPr lang="en-US" sz="1000" dirty="0"/>
              <a:t>, giving developers better insight into database interactions and enabling more effective monitoring and troubleshooting. The driver is also optimized for </a:t>
            </a:r>
            <a:r>
              <a:rPr lang="en-US" sz="1000" b="1" dirty="0"/>
              <a:t>AI and vector-based workloads</a:t>
            </a:r>
            <a:r>
              <a:rPr lang="en-US" sz="1000" dirty="0"/>
              <a:t>, aligning with the growing demand for intelligent applications and data processing scenarios.</a:t>
            </a:r>
          </a:p>
          <a:p>
            <a:pPr algn="just"/>
            <a:r>
              <a:rPr lang="en-US" sz="1000" dirty="0"/>
              <a:t>Support for </a:t>
            </a:r>
            <a:r>
              <a:rPr lang="en-US" sz="1000" b="1" dirty="0"/>
              <a:t>SQL Server 2025</a:t>
            </a:r>
            <a:r>
              <a:rPr lang="en-US" sz="1000" dirty="0"/>
              <a:t> ensures forward compatibility, allowing organizations to adopt upcoming database innovations with confidence. In addition, the release strengthens the overall </a:t>
            </a:r>
            <a:r>
              <a:rPr lang="en-US" sz="1000" b="1" dirty="0"/>
              <a:t>security posture</a:t>
            </a:r>
            <a:r>
              <a:rPr lang="en-US" sz="1000" dirty="0"/>
              <a:t>, incorporating updates and best practices to better protect data and connections.</a:t>
            </a:r>
          </a:p>
          <a:p>
            <a:pPr algn="just"/>
            <a:r>
              <a:rPr lang="en-US" sz="1000" dirty="0"/>
              <a:t>Overall, JDBC Driver 13.4 provides a more robust, future-ready foundation for Java applications interacting with SQL Server, improving reliability, visibility, and performance for enterprise workloads.</a:t>
            </a:r>
          </a:p>
          <a:p>
            <a:pPr algn="just"/>
            <a:endParaRPr lang="en-US" sz="1000" dirty="0"/>
          </a:p>
        </p:txBody>
      </p:sp>
      <p:sp>
        <p:nvSpPr>
          <p:cNvPr id="3" name="Title 2">
            <a:extLst>
              <a:ext uri="{FF2B5EF4-FFF2-40B4-BE49-F238E27FC236}">
                <a16:creationId xmlns:a16="http://schemas.microsoft.com/office/drawing/2014/main" id="{0AED71CE-8BC6-1263-3C3A-F0CC73547C7D}"/>
              </a:ext>
            </a:extLst>
          </p:cNvPr>
          <p:cNvSpPr>
            <a:spLocks noGrp="1"/>
          </p:cNvSpPr>
          <p:nvPr>
            <p:ph type="title"/>
          </p:nvPr>
        </p:nvSpPr>
        <p:spPr/>
        <p:txBody>
          <a:bodyPr/>
          <a:lstStyle/>
          <a:p>
            <a:r>
              <a:rPr lang="en-US" sz="1600" dirty="0"/>
              <a:t>Databases Updates</a:t>
            </a:r>
            <a:endParaRPr lang="en-US" dirty="0"/>
          </a:p>
        </p:txBody>
      </p:sp>
      <p:sp>
        <p:nvSpPr>
          <p:cNvPr id="4" name="Text Placeholder 3">
            <a:extLst>
              <a:ext uri="{FF2B5EF4-FFF2-40B4-BE49-F238E27FC236}">
                <a16:creationId xmlns:a16="http://schemas.microsoft.com/office/drawing/2014/main" id="{EB2449E6-0BAA-B45B-9EE7-2D0E0B94FB29}"/>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F7DDCF6-8D4D-1F0F-8CBA-494F52A1AD06}"/>
              </a:ext>
            </a:extLst>
          </p:cNvPr>
          <p:cNvSpPr>
            <a:spLocks noGrp="1"/>
          </p:cNvSpPr>
          <p:nvPr>
            <p:ph type="body" sz="quarter" idx="16"/>
          </p:nvPr>
        </p:nvSpPr>
        <p:spPr/>
        <p:txBody>
          <a:bodyPr/>
          <a:lstStyle/>
          <a:p>
            <a:pPr algn="just"/>
            <a:r>
              <a:rPr lang="en-US" dirty="0">
                <a:hlinkClick r:id="rId3"/>
              </a:rPr>
              <a:t>Now Generally Available: Cosmos DB Mirroring in Microsoft Fabric with Private Networks</a:t>
            </a:r>
            <a:endParaRPr lang="en-US" dirty="0"/>
          </a:p>
          <a:p>
            <a:pPr algn="just"/>
            <a:r>
              <a:rPr lang="en-US" dirty="0"/>
              <a:t>Microsoft announced </a:t>
            </a:r>
            <a:r>
              <a:rPr lang="en-US" b="1" dirty="0"/>
              <a:t>General Availability of private network support for Cosmos DB mirroring into Microsoft Fabric</a:t>
            </a:r>
            <a:r>
              <a:rPr lang="en-US" dirty="0"/>
              <a:t>, enabling secure replication of operational data </a:t>
            </a:r>
            <a:r>
              <a:rPr lang="en-US" b="1" dirty="0"/>
              <a:t>without exposing it to public networks</a:t>
            </a:r>
            <a:r>
              <a:rPr lang="en-US" dirty="0"/>
              <a:t>.</a:t>
            </a:r>
          </a:p>
          <a:p>
            <a:pPr algn="just"/>
            <a:r>
              <a:rPr lang="en-US" dirty="0"/>
              <a:t>This allows organizations to </a:t>
            </a:r>
            <a:r>
              <a:rPr lang="en-US" b="1" dirty="0"/>
              <a:t>bring operational data into analytics and AI platforms while maintaining strict network security controls</a:t>
            </a:r>
            <a:r>
              <a:rPr lang="en-US" dirty="0"/>
              <a:t>.</a:t>
            </a:r>
          </a:p>
          <a:p>
            <a:pPr algn="just"/>
            <a:endParaRPr lang="en-US" dirty="0"/>
          </a:p>
        </p:txBody>
      </p:sp>
    </p:spTree>
    <p:extLst>
      <p:ext uri="{BB962C8B-B14F-4D97-AF65-F5344CB8AC3E}">
        <p14:creationId xmlns:p14="http://schemas.microsoft.com/office/powerpoint/2010/main" val="215868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2E0623-51E7-478F-3496-4B2E9F21329C}"/>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C66F97D7-A0E0-1E35-5192-1914C8C4840D}"/>
              </a:ext>
            </a:extLst>
          </p:cNvPr>
          <p:cNvSpPr>
            <a:spLocks noGrp="1"/>
          </p:cNvSpPr>
          <p:nvPr>
            <p:ph type="title"/>
          </p:nvPr>
        </p:nvSpPr>
        <p:spPr/>
        <p:txBody>
          <a:bodyPr/>
          <a:lstStyle/>
          <a:p>
            <a:r>
              <a:rPr lang="en-US" sz="1800" dirty="0"/>
              <a:t>Databases Updates</a:t>
            </a:r>
            <a:endParaRPr lang="en-US" dirty="0"/>
          </a:p>
        </p:txBody>
      </p:sp>
      <p:sp>
        <p:nvSpPr>
          <p:cNvPr id="4" name="Text Placeholder 3">
            <a:extLst>
              <a:ext uri="{FF2B5EF4-FFF2-40B4-BE49-F238E27FC236}">
                <a16:creationId xmlns:a16="http://schemas.microsoft.com/office/drawing/2014/main" id="{BD59663B-23DE-7204-F19B-240A351533A3}"/>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CD928F6-4E54-4F67-EAAC-E808FDCB181D}"/>
              </a:ext>
            </a:extLst>
          </p:cNvPr>
          <p:cNvSpPr>
            <a:spLocks noGrp="1"/>
          </p:cNvSpPr>
          <p:nvPr>
            <p:ph type="body" sz="quarter" idx="16"/>
          </p:nvPr>
        </p:nvSpPr>
        <p:spPr/>
        <p:txBody>
          <a:bodyPr/>
          <a:lstStyle/>
          <a:p>
            <a:pPr algn="just"/>
            <a:r>
              <a:rPr lang="en-US" dirty="0">
                <a:hlinkClick r:id="rId2"/>
              </a:rPr>
              <a:t>Retirement: Azure SQL Elastic query - </a:t>
            </a:r>
            <a:r>
              <a:rPr lang="en-US" dirty="0" err="1">
                <a:hlinkClick r:id="rId2"/>
              </a:rPr>
              <a:t>Shard_Map_Manager</a:t>
            </a:r>
            <a:r>
              <a:rPr lang="en-US" dirty="0">
                <a:hlinkClick r:id="rId2"/>
              </a:rPr>
              <a:t> mode</a:t>
            </a:r>
            <a:endParaRPr lang="en-US" dirty="0"/>
          </a:p>
          <a:p>
            <a:pPr algn="just"/>
            <a:r>
              <a:rPr lang="en-US" dirty="0"/>
              <a:t>Starting March 31, 2027 Elastic query using </a:t>
            </a:r>
            <a:r>
              <a:rPr lang="en-US" dirty="0" err="1"/>
              <a:t>Shard_Map_Manager</a:t>
            </a:r>
            <a:r>
              <a:rPr lang="en-US" dirty="0"/>
              <a:t> external data source type reaches end of support.</a:t>
            </a:r>
            <a:br>
              <a:rPr lang="en-US" dirty="0"/>
            </a:br>
            <a:r>
              <a:rPr lang="en-US" dirty="0"/>
              <a:t>Existing workloads can continue to run using Azure SQL Elastic query - </a:t>
            </a:r>
            <a:r>
              <a:rPr lang="en-US" dirty="0" err="1"/>
              <a:t>Shard_Map_Manager</a:t>
            </a:r>
            <a:r>
              <a:rPr lang="en-US" dirty="0"/>
              <a:t> mode, but will no longer receive updates or support from Microsoft.</a:t>
            </a:r>
          </a:p>
        </p:txBody>
      </p:sp>
    </p:spTree>
    <p:extLst>
      <p:ext uri="{BB962C8B-B14F-4D97-AF65-F5344CB8AC3E}">
        <p14:creationId xmlns:p14="http://schemas.microsoft.com/office/powerpoint/2010/main" val="243927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Voice-native agents in Microsoft Foundry</a:t>
            </a:r>
            <a:endParaRPr lang="en-US" dirty="0"/>
          </a:p>
          <a:p>
            <a:pPr algn="just"/>
            <a:r>
              <a:rPr lang="en-US" dirty="0"/>
              <a:t>Microsoft is introducing native support for Voice Live within the new Foundry Agent Service, enabling developers to build real-time, speech-to-speech AI agents more easily on Azure. This integration unifies agent orchestration with real-time voice interaction, creating a streamlined development experience for voice-native applications.</a:t>
            </a:r>
          </a:p>
          <a:p>
            <a:pPr algn="just"/>
            <a:r>
              <a:rPr lang="en-US" dirty="0"/>
              <a:t>The announcement reflects a broader shift toward real-time AI agents, where users expect systems to listen, reason, and respond instantly using natural speech. Traditionally, building such solutions required combining multiple components, including speech-to-text, reasoning engines, orchestration logic, text-to-speech, and streaming infrastructure. This complexity often introduced challenges around latency, synchronization, and maintaining conversational state.</a:t>
            </a:r>
          </a:p>
          <a:p>
            <a:pPr algn="just"/>
            <a:r>
              <a:rPr lang="en-US" dirty="0"/>
              <a:t>With the general availability of the Foundry Agent Service and the public preview of the Voice Live API, much of this complexity is removed. Developers can now build production-ready voice agents faster, without needing to manually integrate and manage multiple services.</a:t>
            </a:r>
          </a:p>
          <a:p>
            <a:pPr algn="just"/>
            <a:r>
              <a:rPr lang="en-US" dirty="0"/>
              <a:t>The redesigned Foundry Agent Service provides a modern API and runtime environment that supports the full lifecycle of agent development—from prototyping to enterprise-grade deployment. It includes built-in evaluation capabilities, such as out-of-the-box and custom evaluators, as well as continuous evaluation to monitor quality, safety, and performance.</a:t>
            </a:r>
          </a:p>
          <a:p>
            <a:pPr algn="just"/>
            <a:endParaRPr lang="en-US" dirty="0"/>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pPr algn="just"/>
            <a:r>
              <a:rPr lang="en-US" sz="1000" dirty="0">
                <a:hlinkClick r:id="rId2"/>
              </a:rPr>
              <a:t>Remote MCP Server preview in Microsoft Foundry</a:t>
            </a:r>
            <a:endParaRPr lang="en-US" sz="1000" dirty="0"/>
          </a:p>
          <a:p>
            <a:pPr algn="just"/>
            <a:r>
              <a:rPr lang="en-US" sz="1000" dirty="0"/>
              <a:t>Microsoft announced that the </a:t>
            </a:r>
            <a:r>
              <a:rPr lang="en-US" sz="1000" b="1" dirty="0"/>
              <a:t>Azure DevOps MCP Server (Model Context Protocol)</a:t>
            </a:r>
            <a:r>
              <a:rPr lang="en-US" sz="1000" dirty="0"/>
              <a:t> is now </a:t>
            </a:r>
            <a:r>
              <a:rPr lang="en-US" sz="1000" b="1" dirty="0"/>
              <a:t>integrated with Microsoft Foundry</a:t>
            </a:r>
            <a:r>
              <a:rPr lang="en-US" sz="1000" dirty="0"/>
              <a:t>, enabling AI agents to </a:t>
            </a:r>
            <a:r>
              <a:rPr lang="en-US" sz="1000" b="1" dirty="0"/>
              <a:t>securely interact with DevOps workflows and data</a:t>
            </a:r>
            <a:r>
              <a:rPr lang="en-US" sz="1000" dirty="0"/>
              <a:t>.</a:t>
            </a:r>
          </a:p>
          <a:p>
            <a:pPr algn="just"/>
            <a:r>
              <a:rPr lang="en-US" sz="1000" dirty="0"/>
              <a:t>You can now connect AI agents built in Foundry directly to </a:t>
            </a:r>
            <a:r>
              <a:rPr lang="en-US" sz="1000" b="1" dirty="0"/>
              <a:t>Azure DevOps</a:t>
            </a:r>
            <a:r>
              <a:rPr lang="en-US" sz="1000" dirty="0"/>
              <a:t> using MCP, allowing agents to:</a:t>
            </a:r>
          </a:p>
          <a:p>
            <a:pPr marL="171450" indent="-171450" algn="just">
              <a:buFont typeface="Arial" panose="020B0604020202020204" pitchFamily="34" charset="0"/>
              <a:buChar char="•"/>
            </a:pPr>
            <a:r>
              <a:rPr lang="en-US" sz="1000" dirty="0"/>
              <a:t>access work items</a:t>
            </a:r>
          </a:p>
          <a:p>
            <a:pPr marL="171450" indent="-171450" algn="just">
              <a:buFont typeface="Arial" panose="020B0604020202020204" pitchFamily="34" charset="0"/>
              <a:buChar char="•"/>
            </a:pPr>
            <a:r>
              <a:rPr lang="en-US" sz="1000" dirty="0"/>
              <a:t>analyze pipelines</a:t>
            </a:r>
          </a:p>
          <a:p>
            <a:pPr marL="171450" indent="-171450" algn="just">
              <a:buFont typeface="Arial" panose="020B0604020202020204" pitchFamily="34" charset="0"/>
              <a:buChar char="•"/>
            </a:pPr>
            <a:r>
              <a:rPr lang="en-US" sz="1000" dirty="0"/>
              <a:t>interact with repositories</a:t>
            </a:r>
          </a:p>
          <a:p>
            <a:pPr marL="171450" indent="-171450" algn="just">
              <a:buFont typeface="Arial" panose="020B0604020202020204" pitchFamily="34" charset="0"/>
              <a:buChar char="•"/>
            </a:pPr>
            <a:r>
              <a:rPr lang="en-US" sz="1000" dirty="0"/>
              <a:t>automate DevOps tasks</a:t>
            </a:r>
          </a:p>
          <a:p>
            <a:pPr algn="just"/>
            <a:r>
              <a:rPr lang="en-US" sz="1000" dirty="0"/>
              <a:t>All through a </a:t>
            </a:r>
            <a:r>
              <a:rPr lang="en-US" sz="1000" b="1" dirty="0"/>
              <a:t>secure, structured protocol (MCP)</a:t>
            </a:r>
            <a:r>
              <a:rPr lang="en-US" sz="1000" dirty="0"/>
              <a:t>.</a:t>
            </a:r>
          </a:p>
          <a:p>
            <a:pPr algn="just"/>
            <a:endParaRPr lang="en-US" sz="1000" dirty="0"/>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3"/>
              </a:rPr>
              <a:t>Generally Available: Foundry Agent Service</a:t>
            </a:r>
            <a:endParaRPr lang="en-US" dirty="0"/>
          </a:p>
          <a:p>
            <a:pPr algn="just"/>
            <a:r>
              <a:rPr lang="en-US" dirty="0"/>
              <a:t>Microsoft announced the </a:t>
            </a:r>
            <a:r>
              <a:rPr lang="en-US" b="1" dirty="0"/>
              <a:t>General Availability of the next-generation Foundry Agent Service</a:t>
            </a:r>
            <a:r>
              <a:rPr lang="en-US" dirty="0"/>
              <a:t>, a redesigned platform for building and operating </a:t>
            </a:r>
            <a:r>
              <a:rPr lang="en-US" b="1" dirty="0"/>
              <a:t>enterprise-grade AI agents</a:t>
            </a:r>
            <a:r>
              <a:rPr lang="en-US" dirty="0"/>
              <a:t>.</a:t>
            </a:r>
          </a:p>
          <a:p>
            <a:pPr algn="just"/>
            <a:r>
              <a:rPr lang="en-US" dirty="0"/>
              <a:t>This release focuses on enabling teams to </a:t>
            </a:r>
            <a:r>
              <a:rPr lang="en-US" b="1" dirty="0"/>
              <a:t>move from prototype to production reliably</a:t>
            </a:r>
            <a:r>
              <a:rPr lang="en-US" dirty="0"/>
              <a:t>, with strong emphasis on </a:t>
            </a:r>
            <a:r>
              <a:rPr lang="en-US" b="1" dirty="0"/>
              <a:t>security, observability, and operational control</a:t>
            </a:r>
            <a:r>
              <a:rPr lang="en-US" dirty="0"/>
              <a:t>.</a:t>
            </a:r>
          </a:p>
          <a:p>
            <a:pPr algn="just"/>
            <a:endParaRPr lang="en-US" dirty="0"/>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pPr algn="just"/>
            <a:r>
              <a:rPr lang="en-US" sz="1000" dirty="0">
                <a:hlinkClick r:id="rId2"/>
              </a:rPr>
              <a:t>Now in Foundry: </a:t>
            </a:r>
            <a:r>
              <a:rPr lang="en-US" sz="1000" dirty="0" err="1">
                <a:hlinkClick r:id="rId2"/>
              </a:rPr>
              <a:t>VibeVoice</a:t>
            </a:r>
            <a:r>
              <a:rPr lang="en-US" sz="1000" dirty="0">
                <a:hlinkClick r:id="rId2"/>
              </a:rPr>
              <a:t>-ASR, </a:t>
            </a:r>
            <a:r>
              <a:rPr lang="en-US" sz="1000" dirty="0" err="1">
                <a:hlinkClick r:id="rId2"/>
              </a:rPr>
              <a:t>MiniMax</a:t>
            </a:r>
            <a:r>
              <a:rPr lang="en-US" sz="1000" dirty="0">
                <a:hlinkClick r:id="rId2"/>
              </a:rPr>
              <a:t> M2.5, Qwen3.5-9B</a:t>
            </a:r>
            <a:endParaRPr lang="en-US" sz="1000" dirty="0"/>
          </a:p>
          <a:p>
            <a:pPr algn="just"/>
            <a:r>
              <a:rPr lang="en-US" sz="1000" dirty="0"/>
              <a:t>This week’s Model Mondays highlights three new models now available in Microsoft Foundry, each advancing long-context and multi-step AI capabilities. Microsoft’s </a:t>
            </a:r>
            <a:r>
              <a:rPr lang="en-US" sz="1000" dirty="0" err="1"/>
              <a:t>VibeVoice</a:t>
            </a:r>
            <a:r>
              <a:rPr lang="en-US" sz="1000" dirty="0"/>
              <a:t>-ASR introduces a unified speech-to-text model capable of processing up to 60 minutes of continuous audio in a single pass. It includes built-in speaker </a:t>
            </a:r>
            <a:r>
              <a:rPr lang="en-US" sz="1000" dirty="0" err="1"/>
              <a:t>diarisation</a:t>
            </a:r>
            <a:r>
              <a:rPr lang="en-US" sz="1000" dirty="0"/>
              <a:t> and timestamping, eliminating the need for chunking and simplifying audio processing workflows.</a:t>
            </a:r>
          </a:p>
          <a:p>
            <a:pPr algn="just"/>
            <a:r>
              <a:rPr lang="en-US" sz="1000" dirty="0" err="1"/>
              <a:t>MiniMaxAI’s</a:t>
            </a:r>
            <a:r>
              <a:rPr lang="en-US" sz="1000" dirty="0"/>
              <a:t> MiniMax-M2.5 represents a new generation of frontier agentic models, delivering strong performance in coding and tool-use tasks. It achieves results comparable to leading proprietary models while maintaining significantly lower cost. Compared to its predecessor, M2.5 completes SWE-Bench Verified tasks 37% faster and reduces tool-use iterations by 20%, improving both efficiency and execution speed.</a:t>
            </a:r>
          </a:p>
          <a:p>
            <a:pPr algn="just"/>
            <a:r>
              <a:rPr lang="en-US" sz="1000" dirty="0"/>
              <a:t>Qwen’s Qwen3.5-9B, the largest model in the Qwen3.5 Small Series, brings powerful multimodal reasoning capabilities to consumer-grade hardware. Despite its relatively compact size, it outperforms many larger models, making advanced AI more accessible and cost-effective.</a:t>
            </a:r>
          </a:p>
          <a:p>
            <a:pPr algn="just"/>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3"/>
              </a:rPr>
              <a:t>NVIDIA </a:t>
            </a:r>
            <a:r>
              <a:rPr lang="en-US" dirty="0" err="1">
                <a:hlinkClick r:id="rId3"/>
              </a:rPr>
              <a:t>Nemotron</a:t>
            </a:r>
            <a:r>
              <a:rPr lang="en-US" dirty="0">
                <a:hlinkClick r:id="rId3"/>
              </a:rPr>
              <a:t> 3 Super Now Available on Microsoft Foundry: Open, Efficient Reasoning for Agentic AI</a:t>
            </a:r>
            <a:endParaRPr lang="en-US" dirty="0"/>
          </a:p>
          <a:p>
            <a:pPr algn="just"/>
            <a:r>
              <a:rPr lang="en-US" dirty="0"/>
              <a:t>Microsoft has announced the availability of NVIDIA </a:t>
            </a:r>
            <a:r>
              <a:rPr lang="en-US" dirty="0" err="1"/>
              <a:t>Nemotron</a:t>
            </a:r>
            <a:r>
              <a:rPr lang="en-US" dirty="0"/>
              <a:t> 3 Super NIM in Microsoft Foundry, expanding access to high-performance open reasoning models for agentic AI systems. This model is designed to support the shift from simple chatbots to advanced, multi-step autonomous agents that require deep reasoning and long-context understanding. </a:t>
            </a:r>
            <a:r>
              <a:rPr lang="en-US" dirty="0" err="1"/>
              <a:t>Nemotron</a:t>
            </a:r>
            <a:r>
              <a:rPr lang="en-US" dirty="0"/>
              <a:t> 3 Super addresses key challenges such as context explosion and the high cost of continuous reasoning, often referred to as the “thinking tax.”</a:t>
            </a:r>
          </a:p>
          <a:p>
            <a:pPr algn="just"/>
            <a:r>
              <a:rPr lang="en-US" dirty="0"/>
              <a:t>With a native 1-million-token context window, the model enables agents to maintain long-term state and operate across large datasets and complex workflows. Its hybrid mixture-of-experts architecture improves efficiency, allowing scalable reasoning without excessive compute costs. Compared to its predecessor, it delivers up to 4× faster token generation and significantly higher throughput, making it suitable for production-grade deployments.</a:t>
            </a:r>
          </a:p>
          <a:p>
            <a:pPr algn="just"/>
            <a:r>
              <a:rPr lang="en-US" dirty="0"/>
              <a:t>The model introduces a predictable “thinking budget,” helping organizations better control inference cost and latency. It is fully open, providing flexibility for customization and integration into domain-specific solutions. </a:t>
            </a:r>
            <a:r>
              <a:rPr lang="en-US" dirty="0" err="1"/>
              <a:t>Nemotron</a:t>
            </a:r>
            <a:r>
              <a:rPr lang="en-US" dirty="0"/>
              <a:t> 3 Super is particularly well suited for use cases such as research analysis, software development agents, enterprise automation, and long-context document processing.</a:t>
            </a:r>
          </a:p>
          <a:p>
            <a:pPr algn="just"/>
            <a:endParaRPr lang="en-US" dirty="0"/>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51C19-26D9-F0EC-D258-E03F4480B96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17E32E8D-64A0-E920-A41E-F85F4412591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3A7A328E-9FAE-90A5-47FC-D76F4B57B99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605F26D-C766-BADD-96A7-69DE7AF10B9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E6A30BB-2292-9F3C-31D8-001F91B8B143}"/>
              </a:ext>
            </a:extLst>
          </p:cNvPr>
          <p:cNvSpPr>
            <a:spLocks noGrp="1"/>
          </p:cNvSpPr>
          <p:nvPr>
            <p:ph type="body" sz="quarter" idx="16"/>
          </p:nvPr>
        </p:nvSpPr>
        <p:spPr/>
        <p:txBody>
          <a:bodyPr/>
          <a:lstStyle/>
          <a:p>
            <a:pPr algn="just"/>
            <a:r>
              <a:rPr lang="en-US" dirty="0">
                <a:hlinkClick r:id="rId2"/>
              </a:rPr>
              <a:t>Introducing OpenAI’s GPT-5.4 mini and GPT-5.4 nano for low-latency AI</a:t>
            </a:r>
            <a:endParaRPr lang="en-US" dirty="0"/>
          </a:p>
          <a:p>
            <a:pPr algn="just"/>
            <a:r>
              <a:rPr lang="en-US" dirty="0"/>
              <a:t>Microsoft is introducing </a:t>
            </a:r>
            <a:r>
              <a:rPr lang="en-US" b="1" dirty="0"/>
              <a:t>GPT-5.4 mini and GPT-5.4 nano</a:t>
            </a:r>
            <a:r>
              <a:rPr lang="en-US" dirty="0"/>
              <a:t> in Microsoft Foundry, designed to support efficient, multi-model AI architectures for agentic workloads. As developers build advanced agents that combine retrieval, reasoning, and tool orchestration, latency can quickly become a challenge—especially in interactive scenarios. To address this, many teams adopt a layered approach, using larger models for planning and smaller models for fast execution.</a:t>
            </a:r>
          </a:p>
          <a:p>
            <a:pPr marL="171450" indent="-171450" algn="just">
              <a:buFont typeface="Arial" panose="020B0604020202020204" pitchFamily="34" charset="0"/>
              <a:buChar char="•"/>
            </a:pPr>
            <a:r>
              <a:rPr lang="en-US" b="1" dirty="0"/>
              <a:t>GPT-5.4 mini</a:t>
            </a:r>
            <a:r>
              <a:rPr lang="en-US" dirty="0"/>
              <a:t> brings strong reasoning, coding, and multimodal capabilities into a more efficient model that runs about 2× faster than GPT-5 mini. It supports text and image inputs, reliable tool and function calling, web and file search integration, and even computer-use scenarios. This makes it ideal for developer copilots, coding assistants, multimodal workflows, and sub-agents that execute tasks within larger agent systems.</a:t>
            </a:r>
          </a:p>
          <a:p>
            <a:pPr marL="171450" indent="-171450" algn="just">
              <a:buFont typeface="Arial" panose="020B0604020202020204" pitchFamily="34" charset="0"/>
              <a:buChar char="•"/>
            </a:pPr>
            <a:r>
              <a:rPr lang="en-US" b="1" dirty="0"/>
              <a:t>GPT-5.4 nano</a:t>
            </a:r>
            <a:r>
              <a:rPr lang="en-US" dirty="0"/>
              <a:t>, the smallest and fastest variant, is optimized for ultra-low latency and high-throughput scenarios. It excels at short, well-defined tasks such as classification, extraction, ranking, and lightweight automation. With strong instruction following, tool calling, and basic multimodal support, it enables cost-efficient scaling for high-volume workloads.</a:t>
            </a:r>
          </a:p>
          <a:p>
            <a:pPr algn="just"/>
            <a:endParaRPr lang="en-US" dirty="0"/>
          </a:p>
        </p:txBody>
      </p:sp>
    </p:spTree>
    <p:extLst>
      <p:ext uri="{BB962C8B-B14F-4D97-AF65-F5344CB8AC3E}">
        <p14:creationId xmlns:p14="http://schemas.microsoft.com/office/powerpoint/2010/main" val="36561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42BB-AC6C-2AA7-DD8D-F72AA7FFC43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C0F9F86E-2A6D-BDAE-C8EE-EE788A5258D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EF72EEE0-19C4-3124-5429-91324F7E9595}"/>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B669D008-31EC-793D-3B56-C9E4F2AE37D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CB4E159-3299-1205-ACAC-F0A50D9B2BFA}"/>
              </a:ext>
            </a:extLst>
          </p:cNvPr>
          <p:cNvSpPr>
            <a:spLocks noGrp="1"/>
          </p:cNvSpPr>
          <p:nvPr>
            <p:ph type="body" sz="quarter" idx="16"/>
          </p:nvPr>
        </p:nvSpPr>
        <p:spPr/>
        <p:txBody>
          <a:bodyPr/>
          <a:lstStyle/>
          <a:p>
            <a:pPr algn="just"/>
            <a:r>
              <a:rPr lang="en-US" dirty="0">
                <a:hlinkClick r:id="rId2"/>
              </a:rPr>
              <a:t>Retirement: Azure Sphere will be retired on July 31, 2031</a:t>
            </a:r>
            <a:endParaRPr lang="en-US" dirty="0"/>
          </a:p>
          <a:p>
            <a:pPr algn="just"/>
            <a:r>
              <a:rPr lang="en-US" dirty="0"/>
              <a:t>The Azure Sphere service is retiring and will stop supporting all customer application, OS, bug and security updates, along with DAA certificate issuance, on July 31, 2031. </a:t>
            </a:r>
          </a:p>
        </p:txBody>
      </p:sp>
    </p:spTree>
    <p:extLst>
      <p:ext uri="{BB962C8B-B14F-4D97-AF65-F5344CB8AC3E}">
        <p14:creationId xmlns:p14="http://schemas.microsoft.com/office/powerpoint/2010/main" val="124760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1010</TotalTime>
  <Words>4454</Words>
  <Application>Microsoft Office PowerPoint</Application>
  <PresentationFormat>On-screen Show (16:9)</PresentationFormat>
  <Paragraphs>212</Paragraphs>
  <Slides>33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Human Sans</vt:lpstr>
      <vt:lpstr>Human Sans Regular</vt:lpstr>
      <vt:lpstr>Continuum Theme</vt:lpstr>
      <vt:lpstr>Azure Times #198</vt:lpstr>
      <vt:lpstr>PowerPoint Presentation</vt:lpstr>
      <vt:lpstr>Security &amp; Identity Updates</vt:lpstr>
      <vt:lpstr>PowerPoint Presentation</vt:lpstr>
      <vt:lpstr>Management &amp; Governance Updates</vt:lpstr>
      <vt:lpstr>Management &amp; Governance Updates</vt:lpstr>
      <vt:lpstr>PowerPoint Presentation</vt:lpstr>
      <vt:lpstr>Compute Updates</vt:lpstr>
      <vt:lpstr>Compute Updates</vt:lpstr>
      <vt:lpstr>Compute Updates</vt:lpstr>
      <vt:lpstr>Compute Updates</vt:lpstr>
      <vt:lpstr>Compute Updates</vt:lpstr>
      <vt:lpstr>Compute Updates</vt:lpstr>
      <vt:lpstr>Compute Updates</vt:lpstr>
      <vt:lpstr>PowerPoint Presentation</vt:lpstr>
      <vt:lpstr>Storage &amp; Data Updates</vt:lpstr>
      <vt:lpstr>PowerPoint Presentation</vt:lpstr>
      <vt:lpstr>Databases Updates</vt:lpstr>
      <vt:lpstr>Databases Updates</vt:lpstr>
      <vt:lpstr>Databases Updates</vt:lpstr>
      <vt:lpstr>Databases Updates</vt:lpstr>
      <vt:lpstr>Databases Updates</vt:lpstr>
      <vt:lpstr>Databases Updates</vt:lpstr>
      <vt:lpstr>Databases Updates</vt:lpstr>
      <vt:lpstr>PowerPoint Presentation</vt:lpstr>
      <vt:lpstr>ML &amp; AI &amp; IOT Updates</vt:lpstr>
      <vt:lpstr>ML &amp; AI &amp; IOT Updates</vt:lpstr>
      <vt:lpstr>ML &amp; AI &amp; IOT Updates</vt:lpstr>
      <vt:lpstr>ML &amp; AI &amp; IOT Updates</vt:lpstr>
      <vt:lpstr>ML &amp; AI &amp; IOT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194</cp:revision>
  <dcterms:created xsi:type="dcterms:W3CDTF">2018-01-26T19:23:30Z</dcterms:created>
  <dcterms:modified xsi:type="dcterms:W3CDTF">2026-03-21T13:14:41Z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