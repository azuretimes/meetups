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9"/>
  </p:notesMasterIdLst>
  <p:handoutMasterIdLst>
    <p:handoutMasterId r:id="rId30"/>
  </p:handoutMasterIdLst>
  <p:sldIdLst>
    <p:sldId id="2142532340" r:id="rId5"/>
    <p:sldId id="2146847045" r:id="rId6"/>
    <p:sldId id="10657" r:id="rId7"/>
    <p:sldId id="2146847046" r:id="rId8"/>
    <p:sldId id="2146847129" r:id="rId9"/>
    <p:sldId id="2146847048" r:id="rId10"/>
    <p:sldId id="2146847049" r:id="rId11"/>
    <p:sldId id="2146847133" r:id="rId12"/>
    <p:sldId id="2146847050" r:id="rId13"/>
    <p:sldId id="2146847096" r:id="rId14"/>
    <p:sldId id="2146847135" r:id="rId15"/>
    <p:sldId id="2146847136" r:id="rId16"/>
    <p:sldId id="2146847054" r:id="rId17"/>
    <p:sldId id="2146847103" r:id="rId18"/>
    <p:sldId id="2146847056" r:id="rId19"/>
    <p:sldId id="2146847107" r:id="rId20"/>
    <p:sldId id="2146847058" r:id="rId21"/>
    <p:sldId id="2146847111" r:id="rId22"/>
    <p:sldId id="2146847146" r:id="rId23"/>
    <p:sldId id="2146847147" r:id="rId24"/>
    <p:sldId id="2146847148" r:id="rId25"/>
    <p:sldId id="2146847085" r:id="rId26"/>
    <p:sldId id="2146847084" r:id="rId27"/>
    <p:sldId id="2146847064" r:id="rId2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129"/>
          </p14:sldIdLst>
        </p14:section>
        <p14:section name="Management &amp; Governance" id="{34181601-6D48-4406-A525-C7B5A12C6C5B}">
          <p14:sldIdLst>
            <p14:sldId id="2146847048"/>
            <p14:sldId id="2146847049"/>
            <p14:sldId id="2146847133"/>
          </p14:sldIdLst>
        </p14:section>
        <p14:section name="Compute" id="{05AA80BB-8802-49AB-8336-A884227CE2F7}">
          <p14:sldIdLst>
            <p14:sldId id="2146847050"/>
            <p14:sldId id="2146847096"/>
            <p14:sldId id="2146847135"/>
            <p14:sldId id="2146847136"/>
          </p14:sldIdLst>
        </p14:section>
        <p14:section name="Storage &amp; Data" id="{1F159046-CE0A-45BC-9D5B-6E6C95980F78}">
          <p14:sldIdLst/>
        </p14:section>
        <p14:section name="Databases" id="{AEAFAE72-AD56-48F3-926B-38BAE269038F}">
          <p14:sldIdLst>
            <p14:sldId id="2146847054"/>
            <p14:sldId id="2146847103"/>
          </p14:sldIdLst>
        </p14:section>
        <p14:section name="Integration" id="{ACBD46A3-6F1C-451B-A154-0A056E0DEFF6}">
          <p14:sldIdLst>
            <p14:sldId id="2146847056"/>
            <p14:sldId id="2146847107"/>
          </p14:sldIdLst>
        </p14:section>
        <p14:section name="ML &amp; AI &amp; IOT" id="{F4E1EAF1-55E9-4CA4-8ADC-28B69C1D66D2}">
          <p14:sldIdLst>
            <p14:sldId id="2146847058"/>
            <p14:sldId id="2146847111"/>
            <p14:sldId id="2146847146"/>
            <p14:sldId id="2146847147"/>
            <p14:sldId id="2146847148"/>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7/19/2026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67402"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zure.microsoft.com/ru-ru/updates?id=567527"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azure.microsoft.com/ru-ru/updates?id=567726"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azure.microsoft.com/ru-ru/updates?id=567362"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azure.microsoft.com/ru-ru/updates?id=567651"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67444" TargetMode="External"/><Relationship Id="rId2" Type="http://schemas.openxmlformats.org/officeDocument/2006/relationships/hyperlink" Target="https://azure.microsoft.com/ru-ru/updates?id=567787"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azure.microsoft.com/ru-ru/updates?id=567646"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azure.microsoft.com/ru-ru/updates?id=567426"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techcommunity.microsoft.com/blog/messagingonazureblog/announcing-public-preview-of-autoscale-for-azure-event-grid-namespaces/4537851"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63561" TargetMode="External"/><Relationship Id="rId2" Type="http://schemas.openxmlformats.org/officeDocument/2006/relationships/hyperlink" Target="https://azure.microsoft.com/ru-ru/updates?id=563556"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Announcing:%20CodeAct%20pattern%20and%20Hyperlight%20containers%20in%20Microsoft%20Agent%20Framework" TargetMode="External"/><Relationship Id="rId2" Type="http://schemas.openxmlformats.org/officeDocument/2006/relationships/hyperlink" Target="https://azure.microsoft.com/ru-ru/updates?id=564071"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azure.microsoft.com/ru-ru/updates?id=564312" TargetMode="External"/><Relationship Id="rId2" Type="http://schemas.openxmlformats.org/officeDocument/2006/relationships/hyperlink" Target="https://azure.microsoft.com/ru-ru/updates?id=563571"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azure.microsoft.com/ru-ru/updates?id=563701"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#215</a:t>
            </a:r>
          </a:p>
        </p:txBody>
      </p:sp>
      <p:sp>
        <p:nvSpPr>
          <p:cNvPr id="4" name="Text Placeholder 3"/>
          <p:cNvSpPr>
            <a:spLocks noGrp="1"/>
          </p:cNvSpPr>
          <p:nvPr>
            <p:ph type="body" sz="quarter" idx="11"/>
          </p:nvPr>
        </p:nvSpPr>
        <p:spPr/>
        <p:txBody>
          <a:bodyPr/>
          <a:lstStyle/>
          <a:p>
            <a:r>
              <a:rPr lang="en-US" spc="300" dirty="0"/>
              <a:t>June 22,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56E32C-301E-742F-F34C-CB987E7FEA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Networking</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Front Door edge actions</a:t>
            </a:r>
            <a:endParaRPr lang="en-US" dirty="0"/>
          </a:p>
          <a:p>
            <a:pPr algn="just"/>
            <a:r>
              <a:rPr lang="en-US" b="1" dirty="0"/>
              <a:t>Azure Front Door Edge Actions</a:t>
            </a:r>
            <a:r>
              <a:rPr lang="en-US" dirty="0"/>
              <a:t> are now available in </a:t>
            </a:r>
            <a:r>
              <a:rPr lang="en-US" b="1" dirty="0"/>
              <a:t>public preview</a:t>
            </a:r>
            <a:r>
              <a:rPr lang="en-US" dirty="0"/>
              <a:t>, bringing </a:t>
            </a:r>
            <a:r>
              <a:rPr lang="en-US" b="1" dirty="0"/>
              <a:t>serverless compute directly to Microsoft's global edge network</a:t>
            </a:r>
            <a:r>
              <a:rPr lang="en-US" dirty="0"/>
              <a:t>. The feature enables developers to execute lightweight JavaScript functions during request processing, allowing real-time decisions to be made closer to end users, reducing latency and minimizing the need for additional processing at the origin.</a:t>
            </a:r>
          </a:p>
          <a:p>
            <a:pPr algn="just"/>
            <a:r>
              <a:rPr lang="en-US" dirty="0"/>
              <a:t>Edge Actions support a wide range of scenarios, including </a:t>
            </a:r>
            <a:r>
              <a:rPr lang="en-US" b="1" dirty="0"/>
              <a:t>A/B testing, canary deployments, URL rewrites, request and response header manipulation, authentication, request filtering, and dynamic origin selection</a:t>
            </a:r>
            <a:r>
              <a:rPr lang="en-US" dirty="0"/>
              <a:t>. The capability integrates natively with existing Azure Front Door features such as the </a:t>
            </a:r>
            <a:r>
              <a:rPr lang="en-US" b="1" dirty="0"/>
              <a:t>Rules Engine, caching, routing, and Web Application Firewall (WAF)</a:t>
            </a:r>
            <a:r>
              <a:rPr lang="en-US" dirty="0"/>
              <a:t>, enabling advanced traffic management and security without additional infrastructure.</a:t>
            </a:r>
          </a:p>
          <a:p>
            <a:pPr algn="just"/>
            <a:r>
              <a:rPr lang="en-US" dirty="0"/>
              <a:t>Built on </a:t>
            </a:r>
            <a:r>
              <a:rPr lang="en-US" b="1" dirty="0"/>
              <a:t>Hyperlight</a:t>
            </a:r>
            <a:r>
              <a:rPr lang="en-US" dirty="0"/>
              <a:t>, Microsoft's hardware-backed secure micro-VM technology, Edge Actions provide strong isolation for customer code execution while maintaining high performance. This enhancement allows organizations to implement application logic at the network edge, improving responsiveness, simplifying application architectures, and delivering more flexible and secure global web applications.</a:t>
            </a:r>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568778-FA5D-0368-E208-4FAB7C1EA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solidFill>
                  <a:schemeClr val="bg1"/>
                </a:solidFill>
              </a:rPr>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2"/>
              </a:rPr>
              <a:t>Generally Available: Microsoft Defender security assessments for Azure Database for PostgreSQL Flexible Server</a:t>
            </a:r>
            <a:endParaRPr lang="en-US" dirty="0"/>
          </a:p>
          <a:p>
            <a:pPr algn="just"/>
            <a:r>
              <a:rPr lang="en-US" dirty="0"/>
              <a:t>Microsoft Defender Cloud Security Posture Management (CSPM) assessments for Azure Database for PostgreSQL Flexible Server are now generally available. It is possible to use assessments to continuously evaluate the security posture of your Azure PostgreSQL flexible servers and identify vulnerabilities and misconfigurations that may cause security risks. The assessments are tailored to PostgreSQL-specific security best practices and provide actionable recommendations to help strengthen your security baseline, prioritize remediation efforts, and support compliance requirements. </a:t>
            </a:r>
          </a:p>
          <a:p>
            <a:pPr algn="just"/>
            <a:r>
              <a:rPr lang="en-US" dirty="0"/>
              <a:t>If you already have Microsoft Defender CSPM enabled for your Azure PostgreSQL flexible server, no additional setup is required to start using these assessments. An initial set of built-in assessments is available today, with additional assessment coverage planned for future releases. You can see all findings and recommendations in the Azure portal on the resource blade of your Azure Database for PostgreSQL flexible server or the main Defender for Cloud experience, and the Microsoft Defender portal.</a:t>
            </a:r>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Advanced platform metrics in Azure Monitor</a:t>
            </a:r>
            <a:endParaRPr lang="en-US" dirty="0"/>
          </a:p>
          <a:p>
            <a:pPr algn="just"/>
            <a:r>
              <a:rPr lang="en-US" dirty="0"/>
              <a:t>Starting July 15, 2026, advanced platform metrics are available in Public Preview. This update provides enhanced visibility into platform performance, resource health, and operational trends across supported Azure services. With advanced platform metrics, organizations can access additional telemetry and monitoring signals to help identify potential issues more quickly, improve troubleshooting efficiency, and gain deeper operational insights into their Azure environments. The preview enables customers to evaluate the new metrics experience and provide feedback before general availability. </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 (General Available)</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Generally Available: Expanding Azure Arc SQL Migration with SQL Server on Azure Virtual Machines</a:t>
            </a:r>
            <a:endParaRPr lang="en-US" dirty="0"/>
          </a:p>
          <a:p>
            <a:pPr algn="just"/>
            <a:r>
              <a:rPr lang="en-US" dirty="0"/>
              <a:t>The Azure Arc migration solution now supports SQL Server on Azure Virtual Machines as a migration target. Arc-enabled SQL Server instances can now be migrated to both Azure SQL Managed Instance and SQL Server on Azure infrastructure using the same unified workflow.</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Functions Support for PowerShell 7.6</a:t>
            </a:r>
            <a:endParaRPr lang="en-US" dirty="0"/>
          </a:p>
          <a:p>
            <a:pPr algn="just"/>
            <a:r>
              <a:rPr lang="en-US" b="1" dirty="0"/>
              <a:t>Azure Functions</a:t>
            </a:r>
            <a:r>
              <a:rPr lang="en-US" dirty="0"/>
              <a:t> now supports </a:t>
            </a:r>
            <a:r>
              <a:rPr lang="en-US" b="1" dirty="0"/>
              <a:t>PowerShell 7.6</a:t>
            </a:r>
            <a:r>
              <a:rPr lang="en-US" dirty="0"/>
              <a:t> in public preview, allowing developers to build, test, and deploy serverless applications using the latest version of PowerShell. Developers can create and run PowerShell 7.6 function apps locally and deploy them across supported Azure Functions hosting plans.</a:t>
            </a:r>
          </a:p>
          <a:p>
            <a:pPr algn="just"/>
            <a:r>
              <a:rPr lang="en-US" dirty="0"/>
              <a:t>The update gives customers access to the latest PowerShell language enhancements, performance improvements, and compatibility updates while maintaining the familiar Azure Functions programming model. This enables administrators and developers to modernize PowerShell-based automation, operational scripts, and serverless workflows using the newest runtime.</a:t>
            </a:r>
          </a:p>
          <a:p>
            <a:pPr algn="just"/>
            <a:r>
              <a:rPr lang="en-US" dirty="0"/>
              <a:t>For organizations that rely on PowerShell for cloud automation and infrastructure management, this preview provides an early opportunity to validate PowerShell 7.6, prepare for future production adoption, and take advantage of the latest PowerShell capabilities in Azure Functions.</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Encryption in Transit for Azure Files NFS Shares in Azure Kubernetes Service (AKS)</a:t>
            </a:r>
            <a:endParaRPr lang="en-US" sz="1000" dirty="0"/>
          </a:p>
          <a:p>
            <a:pPr algn="just"/>
            <a:r>
              <a:rPr lang="en-US" sz="1000" dirty="0"/>
              <a:t>Azure Kubernetes Service (AKS) now generally supports Encryption in Transit (EiT) for Azure Files NFS v4.1 volumes through the Azure File CSI driver. With EiT enabled, data transferred between AKS workloads and Azure Files NFS shares is encrypted using TLS, helping customers meet security and compliance requirements for production workloads. The capability is integrated with the AZNFS mount helper and </a:t>
            </a:r>
            <a:r>
              <a:rPr lang="en-US" sz="1000" dirty="0" err="1"/>
              <a:t>Stunnel</a:t>
            </a:r>
            <a:r>
              <a:rPr lang="en-US" sz="1000" dirty="0"/>
              <a:t> and can be enabled through storage class configuration without requiring application changes. This capability is available in all Azure regions that support Azure Files Premium (SSD).</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Azure Databricks SQL Serverless in UK West</a:t>
            </a:r>
            <a:endParaRPr lang="en-US" dirty="0"/>
          </a:p>
          <a:p>
            <a:pPr algn="just"/>
            <a:r>
              <a:rPr lang="en-US" b="1" dirty="0"/>
              <a:t>Azure Databricks SQL Serverless</a:t>
            </a:r>
            <a:r>
              <a:rPr lang="en-US" dirty="0"/>
              <a:t> is now available in the </a:t>
            </a:r>
            <a:r>
              <a:rPr lang="en-US" b="1" dirty="0"/>
              <a:t>UK West</a:t>
            </a:r>
            <a:r>
              <a:rPr lang="en-US" dirty="0"/>
              <a:t> region, enabling organizations to run analytics workloads without managing compute infrastructure. Serverless SQL warehouses provide </a:t>
            </a:r>
            <a:r>
              <a:rPr lang="en-US" b="1" dirty="0"/>
              <a:t>instant startup, automatic scaling, and automated resource management</a:t>
            </a:r>
            <a:r>
              <a:rPr lang="en-US" dirty="0"/>
              <a:t>, allowing users to focus on data analysis rather than infrastructure provisioning.</a:t>
            </a:r>
          </a:p>
          <a:p>
            <a:pPr algn="just"/>
            <a:r>
              <a:rPr lang="en-US" dirty="0"/>
              <a:t>For eligible workspaces, </a:t>
            </a:r>
            <a:r>
              <a:rPr lang="en-US" b="1" dirty="0"/>
              <a:t>Serverless</a:t>
            </a:r>
            <a:r>
              <a:rPr lang="en-US" dirty="0"/>
              <a:t> becomes the default option when creating new SQL warehouses, while </a:t>
            </a:r>
            <a:r>
              <a:rPr lang="en-US" b="1" dirty="0"/>
              <a:t>Classic</a:t>
            </a:r>
            <a:r>
              <a:rPr lang="en-US" dirty="0"/>
              <a:t> and </a:t>
            </a:r>
            <a:r>
              <a:rPr lang="en-US" b="1" dirty="0"/>
              <a:t>Pro</a:t>
            </a:r>
            <a:r>
              <a:rPr lang="en-US" dirty="0"/>
              <a:t> warehouse types remain available for workloads with specific performance or configuration requirements. Customers with the appropriate permissions can create serverless SQL warehouses, subject to workspace eligibility and account configuration.</a:t>
            </a:r>
          </a:p>
          <a:p>
            <a:pPr algn="just"/>
            <a:endParaRPr lang="en-US" dirty="0"/>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 (General Available)</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2"/>
              </a:rPr>
              <a:t>Generally Available: Azure Functions support for Python 3.14</a:t>
            </a:r>
            <a:endParaRPr lang="en-US" dirty="0"/>
          </a:p>
          <a:p>
            <a:pPr algn="just"/>
            <a:r>
              <a:rPr lang="en-US" b="1" dirty="0"/>
              <a:t>Azure Functions</a:t>
            </a:r>
            <a:r>
              <a:rPr lang="en-US" dirty="0"/>
              <a:t> now supports </a:t>
            </a:r>
            <a:r>
              <a:rPr lang="en-US" b="1" dirty="0"/>
              <a:t>Python 3.14</a:t>
            </a:r>
            <a:r>
              <a:rPr lang="en-US" dirty="0"/>
              <a:t> for local development and deployment to </a:t>
            </a:r>
            <a:r>
              <a:rPr lang="en-US" b="1" dirty="0"/>
              <a:t>Linux-based Azure Functions hosting plans</a:t>
            </a:r>
            <a:r>
              <a:rPr lang="en-US" dirty="0"/>
              <a:t>. Developers can build, test, and deploy serverless applications using the latest Python runtime while maintaining compatibility with the Azure Functions runtime and development tools.</a:t>
            </a:r>
          </a:p>
          <a:p>
            <a:pPr algn="just"/>
            <a:r>
              <a:rPr lang="en-US" dirty="0"/>
              <a:t>Upgrading to Python 3.14 provides access to the latest language improvements, security enhancements, performance optimizations, and a longer support lifecycle. This enables development teams to modernize existing Python-based serverless applications while ensuring they remain aligned with current Python releases.</a:t>
            </a:r>
          </a:p>
          <a:p>
            <a:pPr algn="just"/>
            <a:r>
              <a:rPr lang="en-US" dirty="0"/>
              <a:t>For organizations building cloud-native applications, APIs, and automation solutions, Python 3.14 support simplifies adoption of the latest Python features without requiring changes to the Azure Functions programming model. The update helps improve application maintainability, security, and long-term support for Python workloads running on Azure.</a:t>
            </a:r>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C0756-30F1-C5A0-AC58-437AF10EE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Databases</a:t>
            </a:r>
          </a:p>
        </p:txBody>
      </p:sp>
    </p:spTree>
    <p:extLst>
      <p:ext uri="{BB962C8B-B14F-4D97-AF65-F5344CB8AC3E}">
        <p14:creationId xmlns:p14="http://schemas.microsoft.com/office/powerpoint/2010/main" val="124095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SQL updates for mid-July 2026</a:t>
            </a:r>
            <a:endParaRPr lang="en-US" dirty="0"/>
          </a:p>
          <a:p>
            <a:pPr algn="just"/>
            <a:r>
              <a:rPr lang="en-US" dirty="0"/>
              <a:t>In mid-July 2026, the following updates and enhancements were made to Azure SQL: </a:t>
            </a:r>
          </a:p>
          <a:p>
            <a:pPr marL="171450" indent="-171450" algn="just">
              <a:buFont typeface="Arial" panose="020B0604020202020204" pitchFamily="34" charset="0"/>
              <a:buChar char="•"/>
            </a:pPr>
            <a:r>
              <a:rPr lang="en-US" dirty="0"/>
              <a:t>Shortcut Configuration lets customize keyboard shortcuts for Quick Queries, the Results Grid, and the Query Editor directly within Visual Studio Code—without leaving your editor. It is possible to execute queries, navigate more efficiently, and discover available commands more easily, helping you complete your data tasks faster.  </a:t>
            </a:r>
          </a:p>
          <a:p>
            <a:pPr marL="171450" indent="-171450" algn="just">
              <a:buFont typeface="Arial" panose="020B0604020202020204" pitchFamily="34" charset="0"/>
              <a:buChar char="•"/>
            </a:pPr>
            <a:r>
              <a:rPr lang="en-US" dirty="0"/>
              <a:t>The new Results Grid introduces enhanced state management for improved performance and responsiveness, along with expanded column customization options. You can now freeze, hide, and show columns to better tailor the grid to your workflow. Try it now—enable the Beta Results Grid preview in MSSQL Settings.  </a:t>
            </a:r>
          </a:p>
          <a:p>
            <a:pPr algn="just"/>
            <a:endParaRPr lang="en-US" dirty="0"/>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F7611D-9ADD-B577-7122-32EA1F69F2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Integration</a:t>
            </a:r>
          </a:p>
        </p:txBody>
      </p:sp>
    </p:spTree>
    <p:extLst>
      <p:ext uri="{BB962C8B-B14F-4D97-AF65-F5344CB8AC3E}">
        <p14:creationId xmlns:p14="http://schemas.microsoft.com/office/powerpoint/2010/main" val="596233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Public Preview of </a:t>
            </a:r>
            <a:r>
              <a:rPr lang="en-US" dirty="0" err="1">
                <a:hlinkClick r:id="rId2"/>
              </a:rPr>
              <a:t>Autoscale</a:t>
            </a:r>
            <a:r>
              <a:rPr lang="en-US" dirty="0">
                <a:hlinkClick r:id="rId2"/>
              </a:rPr>
              <a:t> for Azure Event Grid Namespaces</a:t>
            </a:r>
            <a:endParaRPr lang="en-US" dirty="0"/>
          </a:p>
          <a:p>
            <a:pPr algn="just"/>
            <a:r>
              <a:rPr lang="en-US" dirty="0"/>
              <a:t>With this capability, an Event Grid namespace in the Standard tier automatically adjusts its throughput unit (TU) allocation in response to real-time workload utilization. This removes the need to manually provision capacity ahead of traffic changes or react to throttling after the fact.</a:t>
            </a:r>
          </a:p>
          <a:p>
            <a:pPr algn="just"/>
            <a:r>
              <a:rPr lang="en-US" dirty="0" err="1"/>
              <a:t>Autoscale</a:t>
            </a:r>
            <a:r>
              <a:rPr lang="en-US" dirty="0"/>
              <a:t> builds on this model. It automates the adjustment of Throughput Unit count based on observed utilization. Customers still control the boundaries: a minimum Throughput Unit floor that guarantees baseline capacity, and a maximum Throughput Unit ceiling that caps cost. Event Grid handles all scaling decisions within those bounds. No manual intervention is required. </a:t>
            </a:r>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Announcing: Agent Channel for Microsoft Agent Framework multi-agent communication</a:t>
            </a:r>
            <a:endParaRPr lang="en-US" sz="1000" dirty="0"/>
          </a:p>
          <a:p>
            <a:pPr algn="just"/>
            <a:r>
              <a:rPr lang="en-US" sz="1000" dirty="0"/>
              <a:t>Microsoft Agent Framework introduces Agent Channel in public preview, a built-in primitive that lets agents send structured messages to each other without bespoke routing code. Channels carry typed messages, support request and response or fire-and-forget patterns, and propagate trace context so multi-agent runs show up as a single conversation in Foundry observability. The capability targets developers building specialist-plus-coordinator patterns, parallel research swarms, and human-in-the-loop review flows on top of the framework. Channels run in the same process for local development and across the network for distributed deployments, so teams use one API for both. Public preview ships with .NET and Python bindings through the framework on GitHub.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Announcing: Episodic procedural memory in Microsoft Agent Framework</a:t>
            </a:r>
            <a:endParaRPr lang="en-US" dirty="0"/>
          </a:p>
          <a:p>
            <a:pPr algn="just"/>
            <a:r>
              <a:rPr lang="en-US" dirty="0"/>
              <a:t>Microsoft Agent Framework adds episodic procedural memory in public preview, a built-in store that lets agents remember successful task patterns and replay them on similar future requests. The framework records action sequences, tool selections, and intermediate decisions as episodes, then retrieves the closest match when a new user request looks similar. Agents become measurably faster and cheaper at recurring tasks because they reuse proven plans instead of re-deriving them from scratch on every run. The capability targets agent developers who currently bolt on custom caching layers or manual few-shot prompts to get this behavior. Episodic memory is configurable per agent, ships in .NET and Python through the framework on GitHub, and integrates with the existing tracing pipeline. </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Announcing: Tracing for Microsoft Agent Framework (Python and .NET)</a:t>
            </a:r>
            <a:endParaRPr lang="en-US" sz="1000" dirty="0"/>
          </a:p>
          <a:p>
            <a:pPr algn="just"/>
            <a:r>
              <a:rPr lang="en-US" sz="1000" dirty="0"/>
              <a:t>In public preview, Microsoft Foundry now offers tracing for the Microsoft Agent Framework in both Python and .NET, helping developers observe how agents reason, call tools, and interact with models during execution. This release is part of the broader hosted agents update and emits </a:t>
            </a:r>
            <a:r>
              <a:rPr lang="en-US" sz="1000" dirty="0" err="1"/>
              <a:t>OpenTelemetry</a:t>
            </a:r>
            <a:r>
              <a:rPr lang="en-US" sz="1000" dirty="0"/>
              <a:t>-compatible spans that you can route to Application Insights or other compatible backends, making it easier to debug failures, identify latency hotspots, and validate behavior before deploying to production. The preview is intended for evaluation and may evolve as schemas, attributes, and sampling controls are finalized ahead of general availability. By giving early access to tracing, Microsoft Foundry helps teams accelerate innovation on multi-step agent workflows without building custom instrumentation. To get started, enable tracing in the Microsoft Agent Framework SDK for Python or .NET and connect your preferred </a:t>
            </a:r>
            <a:r>
              <a:rPr lang="en-US" sz="1000" dirty="0" err="1"/>
              <a:t>OpenTelemetry</a:t>
            </a:r>
            <a:r>
              <a:rPr lang="en-US" sz="1000" dirty="0"/>
              <a:t> exporter. </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Announcing: </a:t>
            </a:r>
            <a:r>
              <a:rPr lang="en-US" dirty="0" err="1">
                <a:hlinkClick r:id="rId3"/>
              </a:rPr>
              <a:t>CodeAct</a:t>
            </a:r>
            <a:r>
              <a:rPr lang="en-US" dirty="0">
                <a:hlinkClick r:id="rId3"/>
              </a:rPr>
              <a:t> pattern and Hyperlight containers in Microsoft Agent Framework</a:t>
            </a:r>
            <a:endParaRPr lang="en-US" dirty="0"/>
          </a:p>
          <a:p>
            <a:pPr algn="just"/>
            <a:r>
              <a:rPr lang="en-US" dirty="0"/>
              <a:t>Microsoft Agent Framework adds the </a:t>
            </a:r>
            <a:r>
              <a:rPr lang="en-US" dirty="0" err="1"/>
              <a:t>CodeAct</a:t>
            </a:r>
            <a:r>
              <a:rPr lang="en-US" dirty="0"/>
              <a:t> pattern in public preview, which lets agents collapse a multi-step plan into a single executable code block rather than chaining one tool call at a time. In representative workloads, </a:t>
            </a:r>
            <a:r>
              <a:rPr lang="en-US" dirty="0" err="1"/>
              <a:t>CodeAct</a:t>
            </a:r>
            <a:r>
              <a:rPr lang="en-US" dirty="0"/>
              <a:t> cut end-to-end latency by roughly 50 percent and token use by more than 60 percent compared with step-by-step orchestration. The framework runs </a:t>
            </a:r>
            <a:r>
              <a:rPr lang="en-US" dirty="0" err="1"/>
              <a:t>CodeAct</a:t>
            </a:r>
            <a:r>
              <a:rPr lang="en-US" dirty="0"/>
              <a:t> programs inside Hyperlight, a Microsoft-built sandboxed container runtime that boots in milliseconds and isolates each execution from the host and from other agents. Developers get the productivity of letting the model write code without giving up the safety properties that enterprises require for production agents. Both capabilities ship through the framework on GitHub in .NET and Python. </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pPr algn="just"/>
            <a:r>
              <a:rPr lang="en-US" sz="1000" dirty="0">
                <a:hlinkClick r:id="rId2"/>
              </a:rPr>
              <a:t>Announcing: Multi-agent orchestration patterns including </a:t>
            </a:r>
            <a:r>
              <a:rPr lang="en-US" sz="1000" dirty="0" err="1">
                <a:hlinkClick r:id="rId2"/>
              </a:rPr>
              <a:t>Magentic</a:t>
            </a:r>
            <a:r>
              <a:rPr lang="en-US" sz="1000" dirty="0">
                <a:hlinkClick r:id="rId2"/>
              </a:rPr>
              <a:t> in Microsoft Agent Framework</a:t>
            </a:r>
            <a:endParaRPr lang="en-US" sz="1000" dirty="0"/>
          </a:p>
          <a:p>
            <a:pPr algn="just"/>
            <a:r>
              <a:rPr lang="en-US" sz="1000" dirty="0"/>
              <a:t>Microsoft Agent Framework reaches general availability for multi-agent orchestration patterns, including the dynamic </a:t>
            </a:r>
            <a:r>
              <a:rPr lang="en-US" sz="1000" dirty="0" err="1"/>
              <a:t>Magentic</a:t>
            </a:r>
            <a:r>
              <a:rPr lang="en-US" sz="1000" dirty="0"/>
              <a:t> pattern that delivered 38 percent on GAIA and competitive results on </a:t>
            </a:r>
            <a:r>
              <a:rPr lang="en-US" sz="1000" dirty="0" err="1"/>
              <a:t>AssistantBench</a:t>
            </a:r>
            <a:r>
              <a:rPr lang="en-US" sz="1000" dirty="0"/>
              <a:t> and </a:t>
            </a:r>
            <a:r>
              <a:rPr lang="en-US" sz="1000" dirty="0" err="1"/>
              <a:t>WebArena</a:t>
            </a:r>
            <a:r>
              <a:rPr lang="en-US" sz="1000" dirty="0"/>
              <a:t> in published benchmarks. The GA release covers sequential pipelines, parallel collaboration, and </a:t>
            </a:r>
            <a:r>
              <a:rPr lang="en-US" sz="1000" dirty="0" err="1"/>
              <a:t>Magentic</a:t>
            </a:r>
            <a:r>
              <a:rPr lang="en-US" sz="1000" dirty="0"/>
              <a:t>-style coordination, all expressed in the same framework API so teams can swap patterns without rewriting agent code. Customers running complex research, document processing, and operations workflows can now build specialist agents and let the framework handle planning, hand-off, and recovery. The release ships in .NET and Python through the framework on GitHub, with backward compatibility for the preview API and SLA-backed support for production deployments. </a:t>
            </a:r>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3"/>
              </a:rPr>
              <a:t>Announcing: Multi-agent orchestration SDK with the Microsoft Foundry Agent Framework in C# and Python</a:t>
            </a:r>
            <a:endParaRPr lang="en-US" dirty="0"/>
          </a:p>
          <a:p>
            <a:pPr algn="just"/>
            <a:r>
              <a:rPr lang="en-US" dirty="0"/>
              <a:t>Microsoft Foundry is now introducing Agent Framework, a unified multi-agent orchestration SDK for C# and Python. This release consolidates patterns previously spread across </a:t>
            </a:r>
            <a:r>
              <a:rPr lang="en-US" dirty="0" err="1"/>
              <a:t>AutoGen</a:t>
            </a:r>
            <a:r>
              <a:rPr lang="en-US" dirty="0"/>
              <a:t> and Semantic Kernel, giving developers a consistent set of abstractions for building, coordinating, and deploying agents. The Microsoft Foundry Agent Framework reduces integration complexity, helps teams avoid conflicting libraries, and streamlines long-term maintenance by providing a single, well-supported model for multi-agent workloads. This release applies to scenarios that require deterministic coordination across tasks, tools, and models, while maintaining language parity for mixed-ecosystem teams. To start using the Microsoft Foundry Agent Framework, install the C# or Python packages and review the integration guidance. </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p:txBody>
          <a:bodyPr/>
          <a:lstStyle/>
          <a:p>
            <a:pPr algn="just"/>
            <a:r>
              <a:rPr lang="en-US" dirty="0">
                <a:hlinkClick r:id="rId2"/>
              </a:rPr>
              <a:t>Announcing: GitHub Copilot and Claude Code connectors in Microsoft Agent Framework</a:t>
            </a:r>
            <a:endParaRPr lang="en-US" dirty="0"/>
          </a:p>
          <a:p>
            <a:pPr algn="just"/>
            <a:r>
              <a:rPr lang="en-US" dirty="0"/>
              <a:t>Microsoft Agent Framework now ships generally available connectors for GitHub Copilot and Claude Code, so developers can build .NET and Python agents that delegate coding tasks to either system without writing custom adapter code. The connectors plug into Agent Framework's standard tool surface, which means the same agent definition can route work to GitHub Copilot for repository-aware suggestions or to Claude Code for longer reasoning chains, then return results to the orchestrating agent. Teams already using Agent Framework with Microsoft Foundry, OpenAI, or Azure OpenAI can add the new connectors without changing their session, middleware, or telemetry setup. The connectors honor existing identity, content safety, and observability policies, so coding-agent traffic shows up in the same traces and dashboards as the rest of the fleet. </a:t>
            </a:r>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898</TotalTime>
  <Words>2419</Words>
  <Application>Microsoft Office PowerPoint</Application>
  <PresentationFormat>On-screen Show (16:9)</PresentationFormat>
  <Paragraphs>73</Paragraphs>
  <Slides>24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Human Sans</vt:lpstr>
      <vt:lpstr>Human Sans Regular</vt:lpstr>
      <vt:lpstr>Continuum Theme</vt:lpstr>
      <vt:lpstr>Azure Times #215</vt:lpstr>
      <vt:lpstr>PowerPoint Presentation</vt:lpstr>
      <vt:lpstr>Networking Updates (Preview)</vt:lpstr>
      <vt:lpstr>PowerPoint Presentation</vt:lpstr>
      <vt:lpstr>Security &amp; Identity Updates (General Available)</vt:lpstr>
      <vt:lpstr>PowerPoint Presentation</vt:lpstr>
      <vt:lpstr>Management &amp; Governance Updates (Preview)</vt:lpstr>
      <vt:lpstr>Management &amp; Governance Updates (General Available)</vt:lpstr>
      <vt:lpstr>PowerPoint Presentation</vt:lpstr>
      <vt:lpstr>Compute Updates (Preview)</vt:lpstr>
      <vt:lpstr>Compute Updates (General Available)</vt:lpstr>
      <vt:lpstr>Compute Updates (General Available)</vt:lpstr>
      <vt:lpstr>PowerPoint Presentation</vt:lpstr>
      <vt:lpstr>Databases Updates (Preview)</vt:lpstr>
      <vt:lpstr>PowerPoint Presentation</vt:lpstr>
      <vt:lpstr>Integration Updates (Preview)</vt:lpstr>
      <vt:lpstr>PowerPoint Presentation</vt:lpstr>
      <vt:lpstr>ML &amp; AI &amp; IOT Updates (Preview)</vt:lpstr>
      <vt:lpstr>ML &amp; AI &amp; IOT Updates (Preview)</vt:lpstr>
      <vt:lpstr>ML &amp; AI &amp; IOT Updates (General Available)</vt:lpstr>
      <vt:lpstr>ML &amp; AI &amp; IOT Updates (General Available)</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142</cp:revision>
  <dcterms:created xsi:type="dcterms:W3CDTF">2018-01-26T19:23:30Z</dcterms:created>
  <dcterms:modified xsi:type="dcterms:W3CDTF">2026-07-19T18:32:55Z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