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2"/>
  </p:notesMasterIdLst>
  <p:handoutMasterIdLst>
    <p:handoutMasterId r:id="rId23"/>
  </p:handoutMasterIdLst>
  <p:sldIdLst>
    <p:sldId id="2142532340" r:id="rId5"/>
    <p:sldId id="2146847046" r:id="rId6"/>
    <p:sldId id="2146847089" r:id="rId7"/>
    <p:sldId id="2146847130" r:id="rId8"/>
    <p:sldId id="2146847048" r:id="rId9"/>
    <p:sldId id="2146847049" r:id="rId10"/>
    <p:sldId id="2146847050" r:id="rId11"/>
    <p:sldId id="2146847096" r:id="rId12"/>
    <p:sldId id="2146847135" r:id="rId13"/>
    <p:sldId id="2146847052" r:id="rId14"/>
    <p:sldId id="2146847100" r:id="rId15"/>
    <p:sldId id="2146847137" r:id="rId16"/>
    <p:sldId id="2146847056" r:id="rId17"/>
    <p:sldId id="2146847107" r:id="rId18"/>
    <p:sldId id="2146847085" r:id="rId19"/>
    <p:sldId id="2146847084" r:id="rId20"/>
    <p:sldId id="2146847064" r:id="rId2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ldId id="2146847046"/>
            <p14:sldId id="2146847089"/>
            <p14:sldId id="2146847130"/>
          </p14:sldIdLst>
        </p14:section>
        <p14:section name="Management &amp; Governance" id="{34181601-6D48-4406-A525-C7B5A12C6C5B}">
          <p14:sldIdLst>
            <p14:sldId id="2146847048"/>
            <p14:sldId id="2146847049"/>
          </p14:sldIdLst>
        </p14:section>
        <p14:section name="Compute" id="{05AA80BB-8802-49AB-8336-A884227CE2F7}">
          <p14:sldIdLst>
            <p14:sldId id="2146847050"/>
            <p14:sldId id="2146847096"/>
            <p14:sldId id="2146847135"/>
          </p14:sldIdLst>
        </p14:section>
        <p14:section name="Storage &amp; Data" id="{1F159046-CE0A-45BC-9D5B-6E6C95980F78}">
          <p14:sldIdLst>
            <p14:sldId id="2146847052"/>
            <p14:sldId id="2146847100"/>
            <p14:sldId id="2146847137"/>
          </p14:sldIdLst>
        </p14:section>
        <p14:section name="Databases" id="{AEAFAE72-AD56-48F3-926B-38BAE269038F}">
          <p14:sldIdLst/>
        </p14:section>
        <p14:section name="Integration" id="{ACBD46A3-6F1C-451B-A154-0A056E0DEFF6}">
          <p14:sldIdLst>
            <p14:sldId id="2146847056"/>
            <p14:sldId id="2146847107"/>
          </p14:sldIdLst>
        </p14:section>
        <p14:section name="ML &amp; AI &amp; IOT" id="{F4E1EAF1-55E9-4CA4-8ADC-28B69C1D66D2}">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99" d="100"/>
          <a:sy n="199" d="100"/>
        </p:scale>
        <p:origin x="3228" y="15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techcommunity.microsoft.com/blog/microsoft-security-blog/public-preview-ip-network-firewalls-for-azure-managed-hsm/4484475"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echcommunity.microsoft.com/blog/microsoftsentinelblog/announcing-unified-sox--dora-compliance-solutions-in-microsoft-sentinel/4484802"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echcommunity.microsoft.com/blog/azuremigrationblog/azure-arc-portal-update-simplifying-onboarding-and-management-at-scale/4477355"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techcommunity.microsoft.com/blog/azurevirtualdesktopblog/now-in-public-preview-azure-virtual-desktop-regional-host-pools/4474598"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azure.microsoft.com/ru-ru/updates?id=536550" TargetMode="External"/><Relationship Id="rId2" Type="http://schemas.openxmlformats.org/officeDocument/2006/relationships/hyperlink" Target="https://techcommunity.microsoft.com/blog/appsonazureblog/secure-unique-default-hostnames-now-ga-for-functions-and-logic-apps/4484237"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techcommunity.microsoft.com/blog/azurestorageblog/announcing-public-preview-of-user-delegation-sas-for-azure-tables-azure-files-an/4485693"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techcommunity.microsoft.com/blog/azurestorageblog/azure-file-sync-azure-arc-integration-additional-regions-and-secure-syncing/4486050"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techcommunity.microsoft.com/blog/messagingonazureblog/introducing-administration-client-support-for-the-azure-service-bus-emulator/4486433"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#190</a:t>
            </a:r>
          </a:p>
        </p:txBody>
      </p:sp>
      <p:sp>
        <p:nvSpPr>
          <p:cNvPr id="4" name="Text Placeholder 3"/>
          <p:cNvSpPr>
            <a:spLocks noGrp="1"/>
          </p:cNvSpPr>
          <p:nvPr>
            <p:ph type="body" sz="quarter" idx="11"/>
          </p:nvPr>
        </p:nvSpPr>
        <p:spPr/>
        <p:txBody>
          <a:bodyPr/>
          <a:lstStyle/>
          <a:p>
            <a:r>
              <a:rPr lang="en-US" spc="300" dirty="0"/>
              <a:t>January 19,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IP Network Firewalls for Azure Managed HSM</a:t>
            </a:r>
            <a:endParaRPr lang="en-US" dirty="0"/>
          </a:p>
          <a:p>
            <a:pPr algn="just"/>
            <a:r>
              <a:rPr lang="en-US" dirty="0"/>
              <a:t>MS announced the public preview of IP Network Firewalls for Azure Key Vault Managed HSM, now available in East US, West US, West US 2, West Central US, UK South, and West Europe.</a:t>
            </a:r>
          </a:p>
          <a:p>
            <a:pPr algn="just"/>
            <a:r>
              <a:rPr lang="en-US" dirty="0"/>
              <a:t>This feature lets you restrict data plane access to Managed HSM by allowing specific IPv4 CIDR ranges (up to 10) in the Managed HSM firewall—ideal for services with static or well-known IP addresses.</a:t>
            </a:r>
          </a:p>
          <a:p>
            <a:pPr algn="just"/>
            <a:r>
              <a:rPr lang="en-US" dirty="0"/>
              <a:t>Key notes:</a:t>
            </a:r>
          </a:p>
          <a:p>
            <a:pPr marL="171450" indent="-171450" algn="just">
              <a:buFont typeface="Arial" panose="020B0604020202020204" pitchFamily="34" charset="0"/>
              <a:buChar char="•"/>
            </a:pPr>
            <a:r>
              <a:rPr lang="en-US" dirty="0"/>
              <a:t>Firewall rules apply only to data plane operations (control plane is unaffected).</a:t>
            </a:r>
          </a:p>
          <a:p>
            <a:pPr marL="171450" indent="-171450" algn="just">
              <a:buFont typeface="Arial" panose="020B0604020202020204" pitchFamily="34" charset="0"/>
              <a:buChar char="•"/>
            </a:pPr>
            <a:r>
              <a:rPr lang="en-US" dirty="0"/>
              <a:t>Only IPv4 is supported in this preview.</a:t>
            </a:r>
          </a:p>
          <a:p>
            <a:pPr marL="171450" indent="-171450" algn="just">
              <a:buFont typeface="Arial" panose="020B0604020202020204" pitchFamily="34" charset="0"/>
              <a:buChar char="•"/>
            </a:pPr>
            <a:r>
              <a:rPr lang="en-US" dirty="0"/>
              <a:t>To access data via tools like the Azure portal, you must connect from within the configured trusted network boundary.</a:t>
            </a:r>
          </a:p>
          <a:p>
            <a:pPr algn="just"/>
            <a:r>
              <a:rPr lang="en-US" dirty="0"/>
              <a:t>This enhancement strengthens network security for Managed HSM while maintaining operational flexibility.</a:t>
            </a:r>
          </a:p>
          <a:p>
            <a:pPr algn="just"/>
            <a:r>
              <a:rPr lang="en-US" dirty="0"/>
              <a:t>There is a limit of 10 IP address or address ranges you can add per resource.</a:t>
            </a: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a:xfrm>
            <a:off x="342900" y="855080"/>
            <a:ext cx="3955312" cy="1155643"/>
          </a:xfrm>
        </p:spPr>
        <p:txBody>
          <a:bodyPr/>
          <a:lstStyle/>
          <a:p>
            <a:pPr algn="just"/>
            <a:r>
              <a:rPr lang="en-US" dirty="0">
                <a:hlinkClick r:id="rId2"/>
              </a:rPr>
              <a:t>Announcing Unified SOX &amp; DORA Compliance Solutions in Microsoft Sentinel</a:t>
            </a:r>
            <a:endParaRPr lang="en-US" dirty="0"/>
          </a:p>
          <a:p>
            <a:pPr algn="just"/>
            <a:r>
              <a:rPr lang="en-US" dirty="0"/>
              <a:t>As regulatory demands intensify, SOX and DORA have become critical compliance frameworks for financial organizations. Microsoft Sentinel now provides dedicated solutions for both, helping security and compliance teams maintain continuous, audit-ready compliance across cloud and enterprise environments.</a:t>
            </a:r>
          </a:p>
        </p:txBody>
      </p:sp>
      <p:pic>
        <p:nvPicPr>
          <p:cNvPr id="3" name="Picture 2">
            <a:extLst>
              <a:ext uri="{FF2B5EF4-FFF2-40B4-BE49-F238E27FC236}">
                <a16:creationId xmlns:a16="http://schemas.microsoft.com/office/drawing/2014/main" id="{F2B42777-D72E-75CF-C1F4-E606D608E728}"/>
              </a:ext>
            </a:extLst>
          </p:cNvPr>
          <p:cNvPicPr>
            <a:picLocks noChangeAspect="1"/>
          </p:cNvPicPr>
          <p:nvPr/>
        </p:nvPicPr>
        <p:blipFill>
          <a:blip r:embed="rId3"/>
          <a:stretch>
            <a:fillRect/>
          </a:stretch>
        </p:blipFill>
        <p:spPr>
          <a:xfrm>
            <a:off x="342900" y="2163248"/>
            <a:ext cx="3958388" cy="2125172"/>
          </a:xfrm>
          <a:prstGeom prst="rect">
            <a:avLst/>
          </a:prstGeom>
        </p:spPr>
      </p:pic>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620024"/>
          </a:xfrm>
        </p:spPr>
        <p:txBody>
          <a:bodyPr/>
          <a:lstStyle/>
          <a:p>
            <a:r>
              <a:rPr lang="en-US" dirty="0">
                <a:hlinkClick r:id="rId2"/>
              </a:rPr>
              <a:t>Azure Arc Portal Update: Simplifying Onboarding and Management at Scale</a:t>
            </a:r>
            <a:endParaRPr lang="ru-RU" dirty="0"/>
          </a:p>
          <a:p>
            <a:pPr marL="171450" indent="-171450">
              <a:buFont typeface="Arial" panose="020B0604020202020204" pitchFamily="34" charset="0"/>
              <a:buChar char="•"/>
            </a:pPr>
            <a:r>
              <a:rPr lang="en-US" dirty="0"/>
              <a:t>Improved Learnability &amp; Discoverability:</a:t>
            </a:r>
          </a:p>
          <a:p>
            <a:pPr marL="514350" lvl="1" indent="-171450">
              <a:buFont typeface="Arial" panose="020B0604020202020204" pitchFamily="34" charset="0"/>
              <a:buChar char="•"/>
            </a:pPr>
            <a:r>
              <a:rPr lang="en-US" sz="1000" dirty="0">
                <a:latin typeface="+mj-lt"/>
              </a:rPr>
              <a:t>Redesigned Landing Page</a:t>
            </a:r>
          </a:p>
          <a:p>
            <a:pPr marL="514350" lvl="1" indent="-171450">
              <a:buFont typeface="Arial" panose="020B0604020202020204" pitchFamily="34" charset="0"/>
              <a:buChar char="•"/>
            </a:pPr>
            <a:r>
              <a:rPr lang="en-US" sz="1000" dirty="0">
                <a:latin typeface="+mj-lt"/>
              </a:rPr>
              <a:t>Guided Onboarding</a:t>
            </a:r>
          </a:p>
          <a:p>
            <a:pPr marL="514350" lvl="1" indent="-171450">
              <a:buFont typeface="Arial" panose="020B0604020202020204" pitchFamily="34" charset="0"/>
              <a:buChar char="•"/>
            </a:pPr>
            <a:r>
              <a:rPr lang="en-US" sz="1000" dirty="0">
                <a:latin typeface="+mj-lt"/>
              </a:rPr>
              <a:t>Refreshed Navigation</a:t>
            </a:r>
          </a:p>
          <a:p>
            <a:pPr marL="171450" indent="-171450">
              <a:buFont typeface="Arial" panose="020B0604020202020204" pitchFamily="34" charset="0"/>
              <a:buChar char="•"/>
            </a:pPr>
            <a:r>
              <a:rPr lang="en-US" dirty="0"/>
              <a:t>Unified Machine Onboarding</a:t>
            </a:r>
          </a:p>
          <a:p>
            <a:pPr marL="171450" indent="-171450">
              <a:buFont typeface="Arial" panose="020B0604020202020204" pitchFamily="34" charset="0"/>
              <a:buChar char="•"/>
            </a:pPr>
            <a:r>
              <a:rPr lang="en-US" dirty="0"/>
              <a:t>More Actionable Arc Portal Dashboards</a:t>
            </a:r>
          </a:p>
          <a:p>
            <a:endParaRPr lang="ru-RU" sz="1250" dirty="0"/>
          </a:p>
        </p:txBody>
      </p:sp>
      <p:pic>
        <p:nvPicPr>
          <p:cNvPr id="3" name="Picture 2">
            <a:extLst>
              <a:ext uri="{FF2B5EF4-FFF2-40B4-BE49-F238E27FC236}">
                <a16:creationId xmlns:a16="http://schemas.microsoft.com/office/drawing/2014/main" id="{EECF9AAA-A055-3E04-B4A0-78E6871A41FF}"/>
              </a:ext>
            </a:extLst>
          </p:cNvPr>
          <p:cNvPicPr>
            <a:picLocks noChangeAspect="1"/>
          </p:cNvPicPr>
          <p:nvPr/>
        </p:nvPicPr>
        <p:blipFill>
          <a:blip r:embed="rId3"/>
          <a:stretch>
            <a:fillRect/>
          </a:stretch>
        </p:blipFill>
        <p:spPr>
          <a:xfrm>
            <a:off x="781664" y="2475105"/>
            <a:ext cx="2650926" cy="1919795"/>
          </a:xfrm>
          <a:prstGeom prst="rect">
            <a:avLst/>
          </a:prstGeom>
        </p:spPr>
      </p:pic>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Now in public preview: Azure Virtual Desktop regional host pools</a:t>
            </a:r>
            <a:endParaRPr lang="en-US" dirty="0"/>
          </a:p>
          <a:p>
            <a:pPr algn="just"/>
            <a:r>
              <a:rPr lang="en-US" dirty="0"/>
              <a:t>Azure Virtual Desktop is moving from a geography-based metadata model to a regional model to improve resiliency and data sovereignty. Previously, a single metadata database per Azure geography served multiple regions, creating cross-region dependencies where issues in one region could affect users in others.</a:t>
            </a:r>
          </a:p>
          <a:p>
            <a:pPr algn="just"/>
            <a:r>
              <a:rPr lang="en-US" dirty="0"/>
              <a:t>With this update, Azure Virtual Desktop metadata and infrastructure are being deployed in every supported Azure region. As a result, any service issue will be isolated to host pools within the same region, significantly reducing blast radius. In total, this introduces ~40 regional databases across Azure.</a:t>
            </a:r>
          </a:p>
          <a:p>
            <a:pPr algn="just"/>
            <a:r>
              <a:rPr lang="en-US" dirty="0"/>
              <a:t>The new model also strengthens data sovereignty, as host pool metadata is stored in the selected Azure region. For resilience, metadata continues to be replicated across availability zones locally and to a paired region for cross-region failover.</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Secure Unique Default Hostnames Now GA for Functions and Logic Apps</a:t>
            </a:r>
            <a:endParaRPr lang="en-US" sz="1000" dirty="0"/>
          </a:p>
          <a:p>
            <a:pPr algn="just"/>
            <a:r>
              <a:rPr lang="en-US" sz="1000" dirty="0"/>
              <a:t>We’re pleased to announce that Secure Unique Default Hostnames are now generally available for Azure Functions and Logic Apps (Standard). This enhancement extends the secure hostname model from Web Apps to the entire App Service ecosystem, delivering stronger security and consistent, standardized hostname behavior across all workloads.</a:t>
            </a:r>
          </a:p>
          <a:p>
            <a:pPr marL="171450" indent="-171450" algn="just">
              <a:buFont typeface="Arial" panose="020B0604020202020204" pitchFamily="34" charset="0"/>
              <a:buChar char="•"/>
            </a:pPr>
            <a:r>
              <a:rPr lang="en-US" sz="1000" dirty="0"/>
              <a:t>Before: &lt;</a:t>
            </a:r>
            <a:r>
              <a:rPr lang="en-US" sz="1000" dirty="0" err="1"/>
              <a:t>SiteName</a:t>
            </a:r>
            <a:r>
              <a:rPr lang="en-US" sz="1000" dirty="0"/>
              <a:t>&gt;.azurewebsites.net </a:t>
            </a:r>
          </a:p>
          <a:p>
            <a:pPr marL="171450" indent="-171450" algn="just">
              <a:buFont typeface="Arial" panose="020B0604020202020204" pitchFamily="34" charset="0"/>
              <a:buChar char="•"/>
            </a:pPr>
            <a:r>
              <a:rPr lang="en-US" sz="1000" dirty="0"/>
              <a:t>After: &lt;</a:t>
            </a:r>
            <a:r>
              <a:rPr lang="en-US" sz="1000" dirty="0" err="1"/>
              <a:t>SiteName</a:t>
            </a:r>
            <a:r>
              <a:rPr lang="en-US" sz="1000" dirty="0"/>
              <a:t>&gt;-&lt;Hash&gt;.&lt;Region&gt;.azurewebsites.net </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Generally Available: Ubuntu 24.04 support in AKS</a:t>
            </a:r>
            <a:endParaRPr lang="en-US" dirty="0"/>
          </a:p>
          <a:p>
            <a:pPr algn="just"/>
            <a:r>
              <a:rPr lang="en-US" dirty="0"/>
              <a:t>Ubuntu 24.04 is now </a:t>
            </a:r>
            <a:r>
              <a:rPr lang="en-US" b="1" dirty="0"/>
              <a:t>generally available on AKS</a:t>
            </a:r>
            <a:r>
              <a:rPr lang="en-US" dirty="0"/>
              <a:t> starting with </a:t>
            </a:r>
            <a:r>
              <a:rPr lang="en-US" b="1" dirty="0"/>
              <a:t>Kubernetes v1.32+</a:t>
            </a:r>
            <a:r>
              <a:rPr lang="en-US" dirty="0"/>
              <a:t>, with </a:t>
            </a:r>
            <a:r>
              <a:rPr lang="en-US" b="1" dirty="0" err="1"/>
              <a:t>containerd</a:t>
            </a:r>
            <a:r>
              <a:rPr lang="en-US" b="1" dirty="0"/>
              <a:t> 2.0 enabled by default</a:t>
            </a:r>
            <a:r>
              <a:rPr lang="en-US" dirty="0"/>
              <a:t>. From </a:t>
            </a:r>
            <a:r>
              <a:rPr lang="en-US" b="1" dirty="0"/>
              <a:t>Kubernetes v1.35 onward</a:t>
            </a:r>
            <a:r>
              <a:rPr lang="en-US" dirty="0"/>
              <a:t>, Ubuntu 24.04 becomes the </a:t>
            </a:r>
            <a:r>
              <a:rPr lang="en-US" b="1" dirty="0"/>
              <a:t>default OS</a:t>
            </a:r>
            <a:r>
              <a:rPr lang="en-US" dirty="0"/>
              <a:t> when using the Ubuntu OS SKU.</a:t>
            </a:r>
          </a:p>
          <a:p>
            <a:pPr marL="171450" indent="-171450" algn="just">
              <a:buFont typeface="Arial" panose="020B0604020202020204" pitchFamily="34" charset="0"/>
              <a:buChar char="•"/>
            </a:pPr>
            <a:r>
              <a:rPr lang="en-US" b="1" dirty="0"/>
              <a:t>Kubernetes v1.32+</a:t>
            </a:r>
            <a:r>
              <a:rPr lang="en-US" dirty="0"/>
              <a:t>: Use the Ubuntu2404 OS SKU to migrate existing clusters ahead of the default switch.</a:t>
            </a:r>
          </a:p>
          <a:p>
            <a:pPr marL="171450" indent="-171450" algn="just">
              <a:buFont typeface="Arial" panose="020B0604020202020204" pitchFamily="34" charset="0"/>
              <a:buChar char="•"/>
            </a:pPr>
            <a:r>
              <a:rPr lang="en-US" b="1" dirty="0"/>
              <a:t>Kubernetes v1.35+</a:t>
            </a:r>
            <a:r>
              <a:rPr lang="en-US" dirty="0"/>
              <a:t>: Use the Ubuntu OS SKU (defaults to Ubuntu 24.04). Existing clusters using Ubuntu will automatically migrate when upgrading to v1.35+.</a:t>
            </a:r>
          </a:p>
          <a:p>
            <a:pPr algn="just"/>
            <a:r>
              <a:rPr lang="en-US" b="1" dirty="0"/>
              <a:t>Rollback option</a:t>
            </a:r>
            <a:endParaRPr lang="en-US" dirty="0"/>
          </a:p>
          <a:p>
            <a:pPr marL="171450" indent="-171450" algn="just">
              <a:buFont typeface="Arial" panose="020B0604020202020204" pitchFamily="34" charset="0"/>
              <a:buChar char="•"/>
            </a:pPr>
            <a:r>
              <a:rPr lang="en-US" dirty="0"/>
              <a:t>You can roll back to </a:t>
            </a:r>
            <a:r>
              <a:rPr lang="en-US" b="1" dirty="0"/>
              <a:t>Ubuntu 22.04</a:t>
            </a:r>
            <a:r>
              <a:rPr lang="en-US" dirty="0"/>
              <a:t> using the new Ubuntu2204 OS SKU on </a:t>
            </a:r>
            <a:r>
              <a:rPr lang="en-US" b="1" dirty="0"/>
              <a:t>Kubernetes v1.25–1.36</a:t>
            </a:r>
            <a:r>
              <a:rPr lang="en-US" dirty="0"/>
              <a:t>, without changing the Kubernetes version.</a:t>
            </a:r>
          </a:p>
          <a:p>
            <a:pPr algn="just"/>
            <a:r>
              <a:rPr lang="en-US" dirty="0"/>
              <a:t>This provides more flexibility for testing, upgrades, and controlled OS transitions on AKS.</a:t>
            </a:r>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Public Preview of User delegation SAS for Azure Tables, Azure Files, and Azure Queues</a:t>
            </a:r>
            <a:endParaRPr lang="en-US" dirty="0"/>
          </a:p>
          <a:p>
            <a:pPr algn="just"/>
            <a:r>
              <a:rPr lang="en-US" dirty="0"/>
              <a:t>User Delegation (UD) SAS is now available in public preview for Azure Tables, Azure Files, and Azure Queues across all public regions. Building on existing support for Azure Blobs, this enhancement allows SAS tokens to be securely tied to a user’s Microsoft Entra ID, rather than storage account keys.</a:t>
            </a:r>
          </a:p>
          <a:p>
            <a:pPr algn="just"/>
            <a:r>
              <a:rPr lang="en-US" dirty="0"/>
              <a:t>With UD SAS, organizations can delegate limited, RBAC-controlled access via pre-authorized URLs, enabling finer-grained and more secure access to storage resources such as tables, entities, queues, messages, file shares, and individual files—without exposing account credentials.</a:t>
            </a:r>
          </a:p>
          <a:p>
            <a:pPr algn="just"/>
            <a:endParaRPr lang="en-US" dirty="0"/>
          </a:p>
          <a:p>
            <a:pPr algn="just"/>
            <a:endParaRPr lang="en-US" dirty="0"/>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r>
              <a:rPr lang="en-US" dirty="0">
                <a:hlinkClick r:id="rId2"/>
              </a:rPr>
              <a:t>Azure File Sync available in 4 new regions</a:t>
            </a:r>
            <a:endParaRPr lang="en-US" dirty="0"/>
          </a:p>
          <a:p>
            <a:r>
              <a:rPr lang="en-US" dirty="0"/>
              <a:t>Azure File Sync is now generally available in Italy North, New Zealand North, Poland Central, and Spain Central</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0"/>
            <a:ext cx="3955312" cy="1883333"/>
          </a:xfrm>
        </p:spPr>
        <p:txBody>
          <a:bodyPr/>
          <a:lstStyle/>
          <a:p>
            <a:pPr algn="just"/>
            <a:r>
              <a:rPr lang="en-US" dirty="0">
                <a:hlinkClick r:id="rId2"/>
              </a:rPr>
              <a:t>Introducing Administration Client Support for the Azure Service Bus Emulator</a:t>
            </a:r>
            <a:endParaRPr lang="en-US" dirty="0"/>
          </a:p>
          <a:p>
            <a:pPr algn="just"/>
            <a:r>
              <a:rPr lang="en-US" dirty="0"/>
              <a:t>MS announced administration client support for the Azure Service Bus emulator, expanding it beyond messaging to include local management operations such as creating, updating, and deleting entities.</a:t>
            </a:r>
          </a:p>
          <a:p>
            <a:pPr algn="just"/>
            <a:r>
              <a:rPr lang="en-US" dirty="0"/>
              <a:t>Azure Service Bus is a fully managed enterprise message broker for reliable queue- and topic-based messaging. While the local emulator already enabled developers to test message flows, this update now supports end-to-end local workflows that rely on management operations during application startup or deployment—making local development and testing even more complete.</a:t>
            </a:r>
          </a:p>
          <a:p>
            <a:pPr algn="just"/>
            <a:endParaRPr lang="en-US" dirty="0"/>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2.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3.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1483</TotalTime>
  <Words>915</Words>
  <Application>Microsoft Office PowerPoint</Application>
  <PresentationFormat>On-screen Show (16:9)</PresentationFormat>
  <Paragraphs>61</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Human Sans</vt:lpstr>
      <vt:lpstr>Human Sans Regular</vt:lpstr>
      <vt:lpstr>Continuum Theme</vt:lpstr>
      <vt:lpstr>Azure Times #190</vt:lpstr>
      <vt:lpstr>PowerPoint Presentation</vt:lpstr>
      <vt:lpstr>Security &amp; Identity Updates</vt:lpstr>
      <vt:lpstr>Security &amp; Identity Updates</vt:lpstr>
      <vt:lpstr>PowerPoint Presentation</vt:lpstr>
      <vt:lpstr>Management &amp; Governance Updates</vt:lpstr>
      <vt:lpstr>PowerPoint Presentation</vt:lpstr>
      <vt:lpstr>Compute Updates</vt:lpstr>
      <vt:lpstr>Compute Updates</vt:lpstr>
      <vt:lpstr>PowerPoint Presentation</vt:lpstr>
      <vt:lpstr>Storage &amp; Data Updates</vt:lpstr>
      <vt:lpstr>Storage &amp; Data Updates</vt:lpstr>
      <vt:lpstr>PowerPoint Presentation</vt:lpstr>
      <vt:lpstr>Integration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92</cp:revision>
  <dcterms:created xsi:type="dcterms:W3CDTF">2018-01-26T19:23:30Z</dcterms:created>
  <dcterms:modified xsi:type="dcterms:W3CDTF">2026-01-17T07:22:02Z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