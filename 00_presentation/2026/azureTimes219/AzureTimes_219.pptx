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8"/>
  </p:notesMasterIdLst>
  <p:handoutMasterIdLst>
    <p:handoutMasterId r:id="rId29"/>
  </p:handoutMasterIdLst>
  <p:sldIdLst>
    <p:sldId id="2142532340" r:id="rId5"/>
    <p:sldId id="2146847045" r:id="rId6"/>
    <p:sldId id="10657" r:id="rId7"/>
    <p:sldId id="2146847126" r:id="rId8"/>
    <p:sldId id="2146847046" r:id="rId9"/>
    <p:sldId id="2146847089" r:id="rId10"/>
    <p:sldId id="2146847156" r:id="rId11"/>
    <p:sldId id="2146847157" r:id="rId12"/>
    <p:sldId id="2146847128" r:id="rId13"/>
    <p:sldId id="2146847048" r:id="rId14"/>
    <p:sldId id="2146847133" r:id="rId15"/>
    <p:sldId id="2146847050" r:id="rId16"/>
    <p:sldId id="2146847096" r:id="rId17"/>
    <p:sldId id="2146847135" r:id="rId18"/>
    <p:sldId id="2146847052" r:id="rId19"/>
    <p:sldId id="2146847138" r:id="rId20"/>
    <p:sldId id="2146847054" r:id="rId21"/>
    <p:sldId id="2146847142" r:id="rId22"/>
    <p:sldId id="2146847058" r:id="rId23"/>
    <p:sldId id="2146847147" r:id="rId24"/>
    <p:sldId id="2146847085" r:id="rId25"/>
    <p:sldId id="2146847084" r:id="rId26"/>
    <p:sldId id="2146847064" r:id="rId2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6"/>
          </p14:sldIdLst>
        </p14:section>
        <p14:section name="Security &amp; Identity" id="{1AA42572-B3BD-44F7-813B-C2C647DDBB3C}">
          <p14:sldIdLst>
            <p14:sldId id="2146847046"/>
            <p14:sldId id="2146847089"/>
            <p14:sldId id="2146847156"/>
            <p14:sldId id="2146847157"/>
            <p14:sldId id="2146847128"/>
          </p14:sldIdLst>
        </p14:section>
        <p14:section name="Management &amp; Governance" id="{34181601-6D48-4406-A525-C7B5A12C6C5B}">
          <p14:sldIdLst>
            <p14:sldId id="2146847048"/>
            <p14:sldId id="2146847133"/>
          </p14:sldIdLst>
        </p14:section>
        <p14:section name="Compute" id="{05AA80BB-8802-49AB-8336-A884227CE2F7}">
          <p14:sldIdLst>
            <p14:sldId id="2146847050"/>
            <p14:sldId id="2146847096"/>
            <p14:sldId id="2146847135"/>
          </p14:sldIdLst>
        </p14:section>
        <p14:section name="Storage &amp; Data" id="{1F159046-CE0A-45BC-9D5B-6E6C95980F78}">
          <p14:sldIdLst>
            <p14:sldId id="2146847052"/>
            <p14:sldId id="2146847138"/>
          </p14:sldIdLst>
        </p14:section>
        <p14:section name="Databases" id="{AEAFAE72-AD56-48F3-926B-38BAE269038F}">
          <p14:sldIdLst>
            <p14:sldId id="2146847054"/>
            <p14:sldId id="2146847142"/>
          </p14:sldIdLst>
        </p14:section>
        <p14:section name="Integration" id="{ACBD46A3-6F1C-451B-A154-0A056E0DEFF6}">
          <p14:sldIdLst/>
        </p14:section>
        <p14:section name="ML &amp; AI &amp; IOT" id="{F4E1EAF1-55E9-4CA4-8ADC-28B69C1D66D2}">
          <p14:sldIdLst>
            <p14:sldId id="2146847058"/>
            <p14:sldId id="2146847147"/>
          </p14:sldIdLst>
        </p14:section>
        <p14:section name="DevOps &amp; IaC &amp; Automation" id="{A1B23FE8-BD24-477B-81AD-FE484F08F19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6C82F0-8B75-434D-8622-197D53DE0216}" v="17" dt="2026-08-14T19:52:40.4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8/15/2026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69251"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ru-ru/updates?id=569256" TargetMode="External"/><Relationship Id="rId2" Type="http://schemas.openxmlformats.org/officeDocument/2006/relationships/hyperlink" Target="https://azure.microsoft.com/ru-ru/updates?id=569246"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learn.microsoft.com/en-us/azure/defender-for-cloud/release-notes#foundational-cspm-moves-to-opt-in-model-for-new-azure-subscription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azure/defender-for-cloud/release-notes#database-level-recommendations-for-sql-vulnerability-assessment-ga" TargetMode="External"/><Relationship Id="rId2" Type="http://schemas.openxmlformats.org/officeDocument/2006/relationships/hyperlink" Target="https://learn.microsoft.com/en-us/azure/defender-for-cloud/release-notes#new-container-security-capabilities-are-now-generally-available" TargetMode="External"/><Relationship Id="rId1" Type="http://schemas.openxmlformats.org/officeDocument/2006/relationships/slideLayout" Target="../slideLayouts/slideLayout7.xml"/><Relationship Id="rId4" Type="http://schemas.openxmlformats.org/officeDocument/2006/relationships/hyperlink" Target="https://learn.microsoft.com/en-us/azure/defender-for-cloud/transition-grouped-individual-recommendations#microsoft-defender-for-database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azure/defender-for-cloud/release-notes#kubernetes-misconfiguration-enforcement-in-defender-for-containers-is-now-generally-available" TargetMode="External"/><Relationship Id="rId2" Type="http://schemas.openxmlformats.org/officeDocument/2006/relationships/hyperlink" Target="https://learn.microsoft.com/en-us/azure/defender-for-cloud/release-notes#discovery-and-posture-for-serverless-container-workloads-is-now-generally-available"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azure/defender-for-cloud/release-notes#deprecation-completed-legacy-grouped-recommendations-removed-from-azure-portal" TargetMode="External"/><Relationship Id="rId2" Type="http://schemas.openxmlformats.org/officeDocument/2006/relationships/hyperlink" Target="https://learn.microsoft.com/en-us/azure/defender-for-cloud/release-notes#plan-enablement-api-now-blocks-onboarding-to-five-deprecated-defender-plans"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zure.microsoft.com/ru-ru/updates?id=569140"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azure.microsoft.com/ru-ru/updates?id=568979"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69353" TargetMode="External"/><Relationship Id="rId2" Type="http://schemas.openxmlformats.org/officeDocument/2006/relationships/hyperlink" Target="https://azure.microsoft.com/ru-ru/updates?id=568830"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zure.microsoft.com/ru-ru/updates?id=569281"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8419" TargetMode="External"/><Relationship Id="rId2" Type="http://schemas.openxmlformats.org/officeDocument/2006/relationships/hyperlink" Target="https://techcommunity.microsoft.com/blog/sqlserver/announcing-sql-server-management-studio-ssms-22-9-0/4546020"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techcommunity.microsoft.com/blog/iotblog/announcing-new-security-enhancements-across-azure-iot-services/4545648"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#219</a:t>
            </a:r>
          </a:p>
        </p:txBody>
      </p:sp>
      <p:sp>
        <p:nvSpPr>
          <p:cNvPr id="4" name="Text Placeholder 3"/>
          <p:cNvSpPr>
            <a:spLocks noGrp="1"/>
          </p:cNvSpPr>
          <p:nvPr>
            <p:ph type="body" sz="quarter" idx="11"/>
          </p:nvPr>
        </p:nvSpPr>
        <p:spPr/>
        <p:txBody>
          <a:bodyPr/>
          <a:lstStyle/>
          <a:p>
            <a:r>
              <a:rPr lang="en-US" spc="300" dirty="0"/>
              <a:t>August 17,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685800"/>
            <a:ext cx="3955312" cy="4114800"/>
          </a:xfrm>
        </p:spPr>
        <p:txBody>
          <a:bodyPr/>
          <a:lstStyle/>
          <a:p>
            <a:r>
              <a:rPr lang="en-US" dirty="0">
                <a:hlinkClick r:id="rId2"/>
              </a:rPr>
              <a:t>Public Preview: Azure Front Door mutual TLS</a:t>
            </a:r>
            <a:endParaRPr lang="en-US" dirty="0"/>
          </a:p>
          <a:p>
            <a:pPr algn="just"/>
            <a:r>
              <a:rPr lang="en-US" dirty="0"/>
              <a:t>Mutual TLS, also known as client certificate authentication, enables Azure Front Door to authenticate clients using X.509 certificates before requests reach an application. It helps protect sensitive applications and APIs across business-to-business, Internet of Things, financial services, VPN, and enterprise network scenarios.  </a:t>
            </a:r>
          </a:p>
          <a:p>
            <a:r>
              <a:rPr lang="en-US" dirty="0"/>
              <a:t>Customers can choose from four client certificate validation modes: </a:t>
            </a:r>
          </a:p>
          <a:p>
            <a:pPr marL="171450" indent="-171450" algn="just">
              <a:buFont typeface="Arial" panose="020B0604020202020204" pitchFamily="34" charset="0"/>
              <a:buChar char="•"/>
            </a:pPr>
            <a:r>
              <a:rPr lang="en-US" dirty="0"/>
              <a:t>Require and validate: A client certificate is mandatory. Azure Front Door validates the certificate at the edge and forwards it to the origin in the X-Azure-</a:t>
            </a:r>
            <a:r>
              <a:rPr lang="en-US" dirty="0" err="1"/>
              <a:t>ClientCertificate</a:t>
            </a:r>
            <a:r>
              <a:rPr lang="en-US" dirty="0"/>
              <a:t> request header. </a:t>
            </a:r>
          </a:p>
          <a:p>
            <a:pPr marL="171450" indent="-171450" algn="just">
              <a:buFont typeface="Arial" panose="020B0604020202020204" pitchFamily="34" charset="0"/>
              <a:buChar char="•"/>
            </a:pPr>
            <a:r>
              <a:rPr lang="en-US" dirty="0"/>
              <a:t>Require without validation: A client certificate is mandatory, but Azure Front Door does not validate it. The certificate is forwarded in the X-Azure-</a:t>
            </a:r>
            <a:r>
              <a:rPr lang="en-US" dirty="0" err="1"/>
              <a:t>ClientCertificate</a:t>
            </a:r>
            <a:r>
              <a:rPr lang="en-US" dirty="0"/>
              <a:t> header for validation by the origin. </a:t>
            </a:r>
          </a:p>
          <a:p>
            <a:pPr marL="171450" indent="-171450" algn="just">
              <a:buFont typeface="Arial" panose="020B0604020202020204" pitchFamily="34" charset="0"/>
              <a:buChar char="•"/>
            </a:pPr>
            <a:r>
              <a:rPr lang="en-US" dirty="0"/>
              <a:t>Validate when presented: A client certificate is optional. When a certificate is presented, Azure Front Door validates it and forwards it to the origin. Requests without a certificate are allowed to continue. </a:t>
            </a:r>
          </a:p>
          <a:p>
            <a:pPr marL="171450" indent="-171450" algn="just">
              <a:buFont typeface="Arial" panose="020B0604020202020204" pitchFamily="34" charset="0"/>
              <a:buChar char="•"/>
            </a:pPr>
            <a:r>
              <a:rPr lang="en-US" dirty="0"/>
              <a:t>Pass through to the origin: A client certificate is optional. Azure Front Door does not validate it but forwards it to the origin when presented, allowing the origin to perform validation.  </a:t>
            </a:r>
          </a:p>
          <a:p>
            <a:r>
              <a:rPr lang="en-US" dirty="0"/>
              <a:t>Azure Front Door supports client certificates issued by public and private certificate authorities. Customers upload the trusted certificate authority chain to Azure Key Vault and associate it with a Front Door custom domain. </a:t>
            </a:r>
          </a:p>
          <a:p>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pPr algn="just"/>
            <a:r>
              <a:rPr lang="en-US" sz="1000" dirty="0">
                <a:hlinkClick r:id="rId2"/>
              </a:rPr>
              <a:t>Generally Available: Batch rule updates for Azure Front Door</a:t>
            </a:r>
            <a:endParaRPr lang="en-US" sz="1000" dirty="0"/>
          </a:p>
          <a:p>
            <a:pPr algn="just"/>
            <a:r>
              <a:rPr lang="en-US" sz="1000" dirty="0"/>
              <a:t>Batch rule updates are now generally available for Azure Front Door Standard and Premium. This capability enables customers to add, update, delete, or reorder multiple rules in a rule set as a coordinated operation, ensuring that all changes are applied together or not applied at all. </a:t>
            </a:r>
          </a:p>
          <a:p>
            <a:pPr algn="just"/>
            <a:r>
              <a:rPr lang="en-US" sz="1000" dirty="0"/>
              <a:t>Batch rule updates improve deployment safety and predictability for customers managing large or complex rule sets through Terraform and other Infrastructure-as-Code workflows. They help prevent partial rule states, rule-order conflicts, deployment retries, and rollback complexity that can occur when related rules are updated individually. </a:t>
            </a:r>
          </a:p>
          <a:p>
            <a:pPr algn="just"/>
            <a:r>
              <a:rPr lang="en-US" sz="1000" dirty="0"/>
              <a:t>Customers explicitly enable batch mode when creating a new rule set and submit the complete desired rule configuration. Azure Front Door then applies the changes together at the rule-set level. Existing rule sets continue to use classic rule management by default, preserving full backward compatibility. </a:t>
            </a:r>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3"/>
              </a:rPr>
              <a:t>Generally Available: 2.2X IDPS performance optimization in Azure Firewall</a:t>
            </a:r>
            <a:endParaRPr lang="en-US" dirty="0"/>
          </a:p>
          <a:p>
            <a:pPr algn="just"/>
            <a:r>
              <a:rPr lang="en-US" dirty="0"/>
              <a:t>Azure Firewall Premium now delivers up to 22 Gbps throughput with TLS inspection and IDPS in Deny mode, a 120% increase from 10 Gbps, and up to 600 Mbps per TCP connection with IDPS enabled in either Alert or Deny mode (doubled from 300 Mbps). </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68778-FA5D-0368-E208-4FAB7C1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solidFill>
                  <a:schemeClr val="bg1"/>
                </a:solidFill>
              </a:rPr>
              <a:t>Security &amp; Identity</a:t>
            </a:r>
          </a:p>
        </p:txBody>
      </p:sp>
    </p:spTree>
    <p:extLst>
      <p:ext uri="{BB962C8B-B14F-4D97-AF65-F5344CB8AC3E}">
        <p14:creationId xmlns:p14="http://schemas.microsoft.com/office/powerpoint/2010/main" val="311792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2"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3774069"/>
          </a:xfrm>
        </p:spPr>
        <p:txBody>
          <a:bodyPr/>
          <a:lstStyle/>
          <a:p>
            <a:pPr algn="just"/>
            <a:r>
              <a:rPr lang="en-US" dirty="0">
                <a:hlinkClick r:id="rId2"/>
              </a:rPr>
              <a:t>Foundational CSPM moves to opt-in model for new Azure subscriptions</a:t>
            </a:r>
            <a:endParaRPr lang="en-US" dirty="0"/>
          </a:p>
          <a:p>
            <a:pPr algn="just"/>
            <a:r>
              <a:rPr lang="en-US" dirty="0"/>
              <a:t>Starting October 27, 2026, Foundational CSPM will move to an opt-in model and will no longer be enabled by default for new Azure subscriptions. This change gives you more control over how security posture management is configured for each new Azure subscription and is part of the transition of cloud security posture management to the Microsoft Defender portal.</a:t>
            </a:r>
          </a:p>
          <a:p>
            <a:pPr algn="just"/>
            <a:r>
              <a:rPr lang="en-US" dirty="0"/>
              <a:t>Foundational CSPM will continue to be available at no cost and can be enabled at any time based on your organization's needs.</a:t>
            </a:r>
          </a:p>
          <a:p>
            <a:pPr algn="just"/>
            <a:r>
              <a:rPr lang="en-US" dirty="0"/>
              <a:t>This change applies only to new Azure subscriptions. Existing Azure subscriptions keep their current configuration, and AWS and GCP environments aren't affected.</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r>
              <a:rPr lang="en-US" sz="1000" dirty="0">
                <a:hlinkClick r:id="rId2"/>
              </a:rPr>
              <a:t>New container security capabilities are now generally available</a:t>
            </a:r>
            <a:endParaRPr lang="en-US" sz="1000" dirty="0"/>
          </a:p>
          <a:p>
            <a:r>
              <a:rPr lang="en-US" sz="1000" dirty="0"/>
              <a:t>The following container security capabilities in Microsoft Defender for Cloud are now generally available:</a:t>
            </a:r>
          </a:p>
          <a:p>
            <a:pPr marL="171450" indent="-171450">
              <a:buFont typeface="Arial" panose="020B0604020202020204" pitchFamily="34" charset="0"/>
              <a:buChar char="•"/>
            </a:pPr>
            <a:r>
              <a:rPr lang="en-US" sz="1000" dirty="0"/>
              <a:t>Container-level misconfiguration recommendations for Kubernetes: Agentless, container-level KSPM recommendations in Defender CSPM that assess individual containers rather than entire clusters. </a:t>
            </a:r>
          </a:p>
          <a:p>
            <a:pPr marL="171450" indent="-171450">
              <a:buFont typeface="Arial" panose="020B0604020202020204" pitchFamily="34" charset="0"/>
              <a:buChar char="•"/>
            </a:pPr>
            <a:r>
              <a:rPr lang="en-US" sz="1000" dirty="0"/>
              <a:t>Upgrade Azure Kubernetes Service Version recommendation: Actionable recommendation to remediate vulnerabilities in AKS-managed system pods by identifying the minimum AKS version upgrade required.</a:t>
            </a:r>
          </a:p>
          <a:p>
            <a:pPr marL="171450" indent="-171450">
              <a:buFont typeface="Arial" panose="020B0604020202020204" pitchFamily="34" charset="0"/>
              <a:buChar char="•"/>
            </a:pPr>
            <a:r>
              <a:rPr lang="en-US" sz="1000" dirty="0"/>
              <a:t>Vulnerability assessment for runtime-discovered container images on EKS and GKE: Extends vulnerability assessment to runtime-discovered images on Amazon EKS and Google GKE, providing unified coverage across Azure, AWS, and GCP.</a:t>
            </a:r>
          </a:p>
          <a:p>
            <a:pPr marL="171450" indent="-171450">
              <a:buFont typeface="Arial" panose="020B0604020202020204" pitchFamily="34" charset="0"/>
              <a:buChar char="•"/>
            </a:pPr>
            <a:r>
              <a:rPr lang="en-US" sz="1000" dirty="0"/>
              <a:t>Kubernetes node vulnerability assessment for EKS and GKE: Extends Kubernetes node (host) vulnerability assessment to EKS and GKE, bringing parity with the existing AKS capability.</a:t>
            </a:r>
          </a:p>
          <a:p>
            <a:pPr marL="171450" indent="-171450">
              <a:buFont typeface="Arial" panose="020B0604020202020204" pitchFamily="34" charset="0"/>
              <a:buChar char="•"/>
            </a:pPr>
            <a:r>
              <a:rPr lang="en-US" sz="1000" dirty="0"/>
              <a:t>Scanning support for Docker Hardened container images: Extends vulnerability scanning coverage to Docker Hardened container images</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Database-level recommendations for SQL Vulnerability Assessment (GA)</a:t>
            </a:r>
            <a:endParaRPr lang="en-US" dirty="0"/>
          </a:p>
          <a:p>
            <a:pPr algn="just"/>
            <a:r>
              <a:rPr lang="en-US" dirty="0"/>
              <a:t>The SQL vulnerability assessment recommendations created as part of the transition from grouped to individual recommendations are now generally available. Each SQL vulnerability assessment rule is surfaced as its own recommendation, reported directly on the affected SQL database resource. For a deeper explanation of this change, see </a:t>
            </a:r>
            <a:r>
              <a:rPr lang="en-US" dirty="0">
                <a:hlinkClick r:id="rId4"/>
              </a:rPr>
              <a:t>Transition from grouped to individual recommendations</a:t>
            </a:r>
            <a:r>
              <a:rPr lang="en-US" dirty="0"/>
              <a:t>. </a:t>
            </a:r>
          </a:p>
          <a:p>
            <a:pPr algn="just"/>
            <a:r>
              <a:rPr lang="en-US" dirty="0"/>
              <a:t>These recommendations affect the risk-based </a:t>
            </a:r>
            <a:r>
              <a:rPr lang="en-US" b="1" dirty="0"/>
              <a:t>Cloud Score</a:t>
            </a:r>
            <a:r>
              <a:rPr lang="en-US" dirty="0"/>
              <a:t>. They don't affect the classic </a:t>
            </a:r>
            <a:r>
              <a:rPr lang="en-US" b="1" dirty="0"/>
              <a:t>Secure Score</a:t>
            </a:r>
            <a:r>
              <a:rPr lang="en-US" dirty="0"/>
              <a:t>.</a:t>
            </a:r>
          </a:p>
        </p:txBody>
      </p:sp>
    </p:spTree>
    <p:extLst>
      <p:ext uri="{BB962C8B-B14F-4D97-AF65-F5344CB8AC3E}">
        <p14:creationId xmlns:p14="http://schemas.microsoft.com/office/powerpoint/2010/main" val="321973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pPr algn="just"/>
            <a:r>
              <a:rPr lang="en-US" sz="1000" dirty="0">
                <a:hlinkClick r:id="rId2"/>
              </a:rPr>
              <a:t>Discovery and posture for serverless container workloads is now generally available</a:t>
            </a:r>
            <a:endParaRPr lang="en-US" sz="1000" dirty="0"/>
          </a:p>
          <a:p>
            <a:pPr algn="just"/>
            <a:r>
              <a:rPr lang="en-US" sz="1000" dirty="0"/>
              <a:t>Discovery and posture for serverless container workloads is now generally available in Microsoft Defender for Cloud.</a:t>
            </a:r>
          </a:p>
          <a:p>
            <a:pPr algn="just"/>
            <a:r>
              <a:rPr lang="en-US" sz="1000" dirty="0"/>
              <a:t>This capability provides inventory visibility, security recommendations for misconfigurations and vulnerability assessment findings, and attack path analysis for Azure Container Apps, Azure Container Instances, and Amazon Elastic Container Service (ECS) on AWS Fargate.</a:t>
            </a:r>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3"/>
              </a:rPr>
              <a:t>Kubernetes misconfiguration enforcement in Defender for Containers is now generally available</a:t>
            </a:r>
            <a:endParaRPr lang="en-US" dirty="0"/>
          </a:p>
          <a:p>
            <a:pPr algn="just"/>
            <a:r>
              <a:rPr lang="en-US" dirty="0"/>
              <a:t>Kubernetes misconfiguration enforcement in Microsoft Defender for Containers is now generally available. This feature evaluates Kubernetes resource configurations at admission time and can audit or block deployments that don't meet Microsoft security best-practice rules.</a:t>
            </a:r>
          </a:p>
          <a:p>
            <a:pPr algn="just"/>
            <a:r>
              <a:rPr lang="en-US" dirty="0"/>
              <a:t>With this release, Kubernetes misconfiguration enforcement is available through automatic provisioning.</a:t>
            </a:r>
          </a:p>
          <a:p>
            <a:pPr marL="171450" lvl="0" indent="-171450" algn="just">
              <a:buFont typeface="Arial" panose="020B0604020202020204" pitchFamily="34" charset="0"/>
              <a:buChar char="•"/>
            </a:pPr>
            <a:r>
              <a:rPr lang="en-US" b="1" dirty="0"/>
              <a:t>AKS and Azure Arc-enabled Kubernetes</a:t>
            </a:r>
            <a:r>
              <a:rPr lang="en-US" dirty="0"/>
              <a:t>: Enable Defender for Containers with Kubernetes API access.</a:t>
            </a:r>
          </a:p>
          <a:p>
            <a:pPr marL="171450" lvl="0" indent="-171450" algn="just">
              <a:buFont typeface="Arial" panose="020B0604020202020204" pitchFamily="34" charset="0"/>
              <a:buChar char="•"/>
            </a:pPr>
            <a:r>
              <a:rPr lang="en-US" b="1" dirty="0"/>
              <a:t>AWS and GCP</a:t>
            </a:r>
            <a:r>
              <a:rPr lang="en-US" dirty="0"/>
              <a:t>: Enable Defender for Containers with Agentless threat protection.</a:t>
            </a:r>
          </a:p>
          <a:p>
            <a:pPr algn="just"/>
            <a:r>
              <a:rPr lang="en-US" dirty="0"/>
              <a:t>Manual deployment with Helm is still supported.</a:t>
            </a:r>
          </a:p>
          <a:p>
            <a:pPr algn="just"/>
            <a:endParaRPr lang="en-US" dirty="0"/>
          </a:p>
        </p:txBody>
      </p:sp>
    </p:spTree>
    <p:extLst>
      <p:ext uri="{BB962C8B-B14F-4D97-AF65-F5344CB8AC3E}">
        <p14:creationId xmlns:p14="http://schemas.microsoft.com/office/powerpoint/2010/main" val="3067863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4" name="Text Placeholder 11">
            <a:extLst>
              <a:ext uri="{FF2B5EF4-FFF2-40B4-BE49-F238E27FC236}">
                <a16:creationId xmlns:a16="http://schemas.microsoft.com/office/drawing/2014/main" id="{50DAD61C-3233-0680-62C8-B75B10C976F7}"/>
              </a:ext>
            </a:extLst>
          </p:cNvPr>
          <p:cNvSpPr>
            <a:spLocks noGrp="1"/>
          </p:cNvSpPr>
          <p:nvPr>
            <p:ph type="body" sz="quarter" idx="10"/>
          </p:nvPr>
        </p:nvSpPr>
        <p:spPr>
          <a:xfrm>
            <a:off x="4433776" y="855081"/>
            <a:ext cx="4365038" cy="1603448"/>
          </a:xfrm>
        </p:spPr>
        <p:txBody>
          <a:bodyPr/>
          <a:lstStyle/>
          <a:p>
            <a:pPr algn="just"/>
            <a:r>
              <a:rPr lang="en-US" sz="1000" dirty="0">
                <a:hlinkClick r:id="rId2"/>
              </a:rPr>
              <a:t>Plan enablement API now blocks onboarding to five deprecated Defender plans</a:t>
            </a:r>
            <a:endParaRPr lang="en-US" sz="1000" dirty="0"/>
          </a:p>
          <a:p>
            <a:pPr algn="just"/>
            <a:r>
              <a:rPr lang="en-US" sz="1000" dirty="0"/>
              <a:t>Effective immediately, onboarding is blocked through the plan-enablement API for five deprecated Microsoft Defender for Cloud pricing plans. This update aligns with Microsoft deprecation policy and matches existing portal behavior, where these plans are already blocked in the UI.</a:t>
            </a:r>
          </a:p>
          <a:p>
            <a:pPr algn="just"/>
            <a:r>
              <a:rPr lang="en-US" sz="1000" dirty="0"/>
              <a:t>This update applies to new enablement only. Existing subscriptions on these plans continue to receive product access, value, and billing with no immediate change to their current experience.</a:t>
            </a:r>
          </a:p>
          <a:p>
            <a:pPr algn="just"/>
            <a:endParaRPr lang="en-US" sz="1000" dirty="0"/>
          </a:p>
        </p:txBody>
      </p:sp>
      <p:sp>
        <p:nvSpPr>
          <p:cNvPr id="5" name="Text Placeholder 13">
            <a:extLst>
              <a:ext uri="{FF2B5EF4-FFF2-40B4-BE49-F238E27FC236}">
                <a16:creationId xmlns:a16="http://schemas.microsoft.com/office/drawing/2014/main" id="{730F2271-955F-3ACC-E3A1-FF03FFED8320}"/>
              </a:ext>
            </a:extLst>
          </p:cNvPr>
          <p:cNvSpPr>
            <a:spLocks noGrp="1"/>
          </p:cNvSpPr>
          <p:nvPr>
            <p:ph type="body" sz="quarter" idx="16"/>
          </p:nvPr>
        </p:nvSpPr>
        <p:spPr>
          <a:xfrm>
            <a:off x="342900" y="855080"/>
            <a:ext cx="3955312" cy="3774069"/>
          </a:xfrm>
        </p:spPr>
        <p:txBody>
          <a:bodyPr/>
          <a:lstStyle/>
          <a:p>
            <a:r>
              <a:rPr lang="en-US" dirty="0">
                <a:hlinkClick r:id="rId3"/>
              </a:rPr>
              <a:t>Deprecation completed: Legacy grouped recommendations removed from Azure portal</a:t>
            </a:r>
            <a:endParaRPr lang="en-US" dirty="0"/>
          </a:p>
          <a:p>
            <a:r>
              <a:rPr lang="en-US" dirty="0"/>
              <a:t>Retirement of legacy grouped recommendations (sub-assessments) has started. Customers can no longer access the deprecated data through the API. The Azure portal and Azure Resource Graph might take a few days to reflect the change. Individual recommendations replace the legacy grouped recommendations, as announced in May 2026. Customers who previously relied on grouped recommendations should validate existing automation, reporting, governance workflows, and queries, and migrate any remaining disable rules to exemptions. </a:t>
            </a:r>
          </a:p>
        </p:txBody>
      </p:sp>
      <p:graphicFrame>
        <p:nvGraphicFramePr>
          <p:cNvPr id="7" name="Table 6">
            <a:extLst>
              <a:ext uri="{FF2B5EF4-FFF2-40B4-BE49-F238E27FC236}">
                <a16:creationId xmlns:a16="http://schemas.microsoft.com/office/drawing/2014/main" id="{F934DA29-7FF0-3FA8-AB63-E2EB6D0668DB}"/>
              </a:ext>
            </a:extLst>
          </p:cNvPr>
          <p:cNvGraphicFramePr>
            <a:graphicFrameLocks noGrp="1"/>
          </p:cNvGraphicFramePr>
          <p:nvPr>
            <p:extLst>
              <p:ext uri="{D42A27DB-BD31-4B8C-83A1-F6EECF244321}">
                <p14:modId xmlns:p14="http://schemas.microsoft.com/office/powerpoint/2010/main" val="4048078519"/>
              </p:ext>
            </p:extLst>
          </p:nvPr>
        </p:nvGraphicFramePr>
        <p:xfrm>
          <a:off x="4578522" y="2503265"/>
          <a:ext cx="4075546" cy="2125884"/>
        </p:xfrm>
        <a:graphic>
          <a:graphicData uri="http://schemas.openxmlformats.org/drawingml/2006/table">
            <a:tbl>
              <a:tblPr/>
              <a:tblGrid>
                <a:gridCol w="2037773">
                  <a:extLst>
                    <a:ext uri="{9D8B030D-6E8A-4147-A177-3AD203B41FA5}">
                      <a16:colId xmlns:a16="http://schemas.microsoft.com/office/drawing/2014/main" val="3401151866"/>
                    </a:ext>
                  </a:extLst>
                </a:gridCol>
                <a:gridCol w="2037773">
                  <a:extLst>
                    <a:ext uri="{9D8B030D-6E8A-4147-A177-3AD203B41FA5}">
                      <a16:colId xmlns:a16="http://schemas.microsoft.com/office/drawing/2014/main" val="3843728995"/>
                    </a:ext>
                  </a:extLst>
                </a:gridCol>
              </a:tblGrid>
              <a:tr h="229454">
                <a:tc>
                  <a:txBody>
                    <a:bodyPr/>
                    <a:lstStyle/>
                    <a:p>
                      <a:pPr algn="l" fontAlgn="t">
                        <a:buNone/>
                      </a:pPr>
                      <a:r>
                        <a:rPr lang="en-US" sz="1100" b="0" i="0" dirty="0">
                          <a:solidFill>
                            <a:srgbClr val="161616"/>
                          </a:solidFill>
                          <a:effectLst/>
                          <a:latin typeface="Segoe UI" panose="020B0502040204020203" pitchFamily="34" charset="0"/>
                        </a:rPr>
                        <a:t>Deprecated plan</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0" i="0">
                          <a:solidFill>
                            <a:srgbClr val="161616"/>
                          </a:solidFill>
                          <a:effectLst/>
                          <a:latin typeface="Segoe UI" panose="020B0502040204020203" pitchFamily="34" charset="0"/>
                        </a:rPr>
                        <a:t>Migration path</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4912580"/>
                  </a:ext>
                </a:extLst>
              </a:tr>
              <a:tr h="388040">
                <a:tc>
                  <a:txBody>
                    <a:bodyPr/>
                    <a:lstStyle/>
                    <a:p>
                      <a:pPr algn="l" fontAlgn="t">
                        <a:buNone/>
                      </a:pPr>
                      <a:r>
                        <a:rPr lang="en-US" sz="1100" b="0" i="0">
                          <a:solidFill>
                            <a:srgbClr val="161616"/>
                          </a:solidFill>
                          <a:effectLst/>
                          <a:latin typeface="Segoe UI" panose="020B0502040204020203" pitchFamily="34" charset="0"/>
                        </a:rPr>
                        <a:t>Microsoft Defender for Azure Kubernetes Service</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0" i="0">
                          <a:solidFill>
                            <a:srgbClr val="161616"/>
                          </a:solidFill>
                          <a:effectLst/>
                          <a:latin typeface="Segoe UI" panose="020B0502040204020203" pitchFamily="34" charset="0"/>
                        </a:rPr>
                        <a:t>Defender for Containers</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762642991"/>
                  </a:ext>
                </a:extLst>
              </a:tr>
              <a:tr h="388040">
                <a:tc>
                  <a:txBody>
                    <a:bodyPr/>
                    <a:lstStyle/>
                    <a:p>
                      <a:pPr algn="l" fontAlgn="t">
                        <a:buNone/>
                      </a:pPr>
                      <a:r>
                        <a:rPr lang="en-US" sz="1100" b="0" i="0" dirty="0">
                          <a:solidFill>
                            <a:srgbClr val="161616"/>
                          </a:solidFill>
                          <a:effectLst/>
                          <a:latin typeface="Segoe UI" panose="020B0502040204020203" pitchFamily="34" charset="0"/>
                        </a:rPr>
                        <a:t>Microsoft Defender for Azure Container Registry</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0" i="0">
                          <a:solidFill>
                            <a:srgbClr val="161616"/>
                          </a:solidFill>
                          <a:effectLst/>
                          <a:latin typeface="Segoe UI" panose="020B0502040204020203" pitchFamily="34" charset="0"/>
                        </a:rPr>
                        <a:t>Defender for Containers</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607453512"/>
                  </a:ext>
                </a:extLst>
              </a:tr>
              <a:tr h="229454">
                <a:tc>
                  <a:txBody>
                    <a:bodyPr/>
                    <a:lstStyle/>
                    <a:p>
                      <a:pPr algn="l" fontAlgn="t">
                        <a:buNone/>
                      </a:pPr>
                      <a:r>
                        <a:rPr lang="en-US" sz="1100" b="0" i="0" dirty="0">
                          <a:solidFill>
                            <a:srgbClr val="161616"/>
                          </a:solidFill>
                          <a:effectLst/>
                          <a:latin typeface="Segoe UI" panose="020B0502040204020203" pitchFamily="34" charset="0"/>
                        </a:rPr>
                        <a:t>Microsoft Defender for Key Vault</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0" i="0">
                          <a:solidFill>
                            <a:srgbClr val="161616"/>
                          </a:solidFill>
                          <a:effectLst/>
                          <a:latin typeface="Segoe UI" panose="020B0502040204020203" pitchFamily="34" charset="0"/>
                        </a:rPr>
                        <a:t>Fixed pricing model</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743304294"/>
                  </a:ext>
                </a:extLst>
              </a:tr>
              <a:tr h="229454">
                <a:tc>
                  <a:txBody>
                    <a:bodyPr/>
                    <a:lstStyle/>
                    <a:p>
                      <a:pPr algn="l" fontAlgn="t">
                        <a:buNone/>
                      </a:pPr>
                      <a:r>
                        <a:rPr lang="en-US" sz="1100" b="0" i="0">
                          <a:solidFill>
                            <a:srgbClr val="161616"/>
                          </a:solidFill>
                          <a:effectLst/>
                          <a:latin typeface="Segoe UI" panose="020B0502040204020203" pitchFamily="34" charset="0"/>
                        </a:rPr>
                        <a:t>Microsoft Defender for DNS</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0" i="0">
                          <a:solidFill>
                            <a:srgbClr val="161616"/>
                          </a:solidFill>
                          <a:effectLst/>
                          <a:latin typeface="Segoe UI" panose="020B0502040204020203" pitchFamily="34" charset="0"/>
                        </a:rPr>
                        <a:t>Defender for Servers</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961098360"/>
                  </a:ext>
                </a:extLst>
              </a:tr>
              <a:tr h="388040">
                <a:tc>
                  <a:txBody>
                    <a:bodyPr/>
                    <a:lstStyle/>
                    <a:p>
                      <a:pPr algn="l" fontAlgn="t">
                        <a:buNone/>
                      </a:pPr>
                      <a:r>
                        <a:rPr lang="en-US" sz="1100" b="0" i="0">
                          <a:solidFill>
                            <a:srgbClr val="161616"/>
                          </a:solidFill>
                          <a:effectLst/>
                          <a:latin typeface="Segoe UI" panose="020B0502040204020203" pitchFamily="34" charset="0"/>
                        </a:rPr>
                        <a:t>Microsoft Defender for Azure Resource Manager</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0" i="0" dirty="0">
                          <a:solidFill>
                            <a:srgbClr val="161616"/>
                          </a:solidFill>
                          <a:effectLst/>
                          <a:latin typeface="Segoe UI" panose="020B0502040204020203" pitchFamily="34" charset="0"/>
                        </a:rPr>
                        <a:t>Fixed pricing model</a:t>
                      </a:r>
                    </a:p>
                  </a:txBody>
                  <a:tcPr marL="74913" marR="74913" marT="37457" marB="37457">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630335673"/>
                  </a:ext>
                </a:extLst>
              </a:tr>
            </a:tbl>
          </a:graphicData>
        </a:graphic>
      </p:graphicFrame>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Announcing: Microsoft Fabric Item Recovery will be enabled by default for tenants without an explicit setting</a:t>
            </a:r>
            <a:endParaRPr lang="en-US" dirty="0"/>
          </a:p>
          <a:p>
            <a:pPr algn="just"/>
            <a:r>
              <a:rPr lang="en-US" dirty="0"/>
              <a:t>Starting August 23, 2026, Microsoft Fabric will enable Item Recovery by default for tenants that have not explicitly configured the setting. Supported item types will have a 3-day recovery window by default. Admins can review or change this setting in the Fabric admin portal under Tenant settings &gt; Item Recovery.</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Markdown for Agents in Azure App Service</a:t>
            </a:r>
            <a:endParaRPr lang="en-US" dirty="0"/>
          </a:p>
          <a:p>
            <a:pPr algn="just"/>
            <a:r>
              <a:rPr lang="en-US" dirty="0"/>
              <a:t>MS announced the public preview of Markdown for Agents in Azure App Service. This feature gives AI agents and other tools a cleaner way to consume content from an App Service app. When a client requests Markdown, App Service can automatically convert the app's HTML response to Markdown without requiring changes to the application code. </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Control plane metrics collection for AKS with Managed Prometheus</a:t>
            </a:r>
            <a:endParaRPr lang="en-US" sz="1000" dirty="0"/>
          </a:p>
          <a:p>
            <a:pPr algn="just"/>
            <a:r>
              <a:rPr lang="en-US" sz="1000" dirty="0"/>
              <a:t>Control plane metrics collection for Azure Kubernetes Service (AKS), powered by Azure Monitor Managed Service for Prometheus, is now generally available.</a:t>
            </a:r>
          </a:p>
          <a:p>
            <a:pPr algn="just"/>
            <a:r>
              <a:rPr lang="en-US" sz="1000" dirty="0"/>
              <a:t>This capability gives AKS customers native observability into key managed control plane components, including the API server, </a:t>
            </a:r>
            <a:r>
              <a:rPr lang="en-US" sz="1000" dirty="0" err="1"/>
              <a:t>etcd</a:t>
            </a:r>
            <a:r>
              <a:rPr lang="en-US" sz="1000" dirty="0"/>
              <a:t>, </a:t>
            </a:r>
            <a:r>
              <a:rPr lang="en-US" sz="1000" dirty="0" err="1"/>
              <a:t>kube</a:t>
            </a:r>
            <a:r>
              <a:rPr lang="en-US" sz="1000" dirty="0"/>
              <a:t>-scheduler, </a:t>
            </a:r>
            <a:r>
              <a:rPr lang="en-US" sz="1000" dirty="0" err="1"/>
              <a:t>kube</a:t>
            </a:r>
            <a:r>
              <a:rPr lang="en-US" sz="1000" dirty="0"/>
              <a:t>-controller-manager, cluster </a:t>
            </a:r>
            <a:r>
              <a:rPr lang="en-US" sz="1000" dirty="0" err="1"/>
              <a:t>autoscaler</a:t>
            </a:r>
            <a:r>
              <a:rPr lang="en-US" sz="1000" dirty="0"/>
              <a:t>, and node auto-provisioning.</a:t>
            </a:r>
          </a:p>
          <a:p>
            <a:pPr algn="just"/>
            <a:r>
              <a:rPr lang="en-US" sz="1000" dirty="0"/>
              <a:t>With these metrics, platform teams can better understand how workloads, controllers, automation, and scaling activity interact with the AKS control plane over time.</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Announcing: Azure Databricks Runtime 10.4 LTS will reach end of life on November 1, 2026</a:t>
            </a:r>
            <a:endParaRPr lang="en-US" dirty="0"/>
          </a:p>
          <a:p>
            <a:pPr algn="just"/>
            <a:r>
              <a:rPr lang="en-US" dirty="0"/>
              <a:t>Azure Databricks Runtime 10.4 LTS, a Databricks-managed runtime available on Azure Databricks, reached end of support on March 18, 2025 and will reach end of life on November 1, 2026. After this date, Databricks Runtime 10.4 LTS will no longer be available or usable, and workloads remaining on this version will no longer run. To avoid disruption, migrate affected clusters and workloads to a supported Databricks Runtime version before November 1, 2026.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4A7C3-5FB1-1142-43BB-C9D9D2F5F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Storage &amp; Data</a:t>
            </a:r>
          </a:p>
        </p:txBody>
      </p:sp>
    </p:spTree>
    <p:extLst>
      <p:ext uri="{BB962C8B-B14F-4D97-AF65-F5344CB8AC3E}">
        <p14:creationId xmlns:p14="http://schemas.microsoft.com/office/powerpoint/2010/main" val="218814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 (General Available)</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r>
              <a:rPr lang="en-US" dirty="0">
                <a:hlinkClick r:id="rId2"/>
              </a:rPr>
              <a:t>Generally Available: Live Resize for Shared Premium SSD v2 and Ultra Data Disks</a:t>
            </a:r>
            <a:endParaRPr lang="en-US" dirty="0"/>
          </a:p>
          <a:p>
            <a:r>
              <a:rPr lang="en-US" dirty="0"/>
              <a:t> This feature allows you to dynamically expand the storage capacity of your disks without any disruption to applications. To optimize costs, you can start with smaller disks and gradually increase their storage capacity as needed, all without experiencing any downtime.  </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SQL Server Management Studio (SSMS) 22.9</a:t>
            </a:r>
            <a:endParaRPr lang="en-US" sz="1000" dirty="0"/>
          </a:p>
          <a:p>
            <a:pPr algn="just"/>
            <a:r>
              <a:rPr lang="en-US" sz="1000" dirty="0"/>
              <a:t>Microsoft has released </a:t>
            </a:r>
            <a:r>
              <a:rPr lang="en-US" sz="1000" b="1" dirty="0"/>
              <a:t>SQL Server Management Studio (SSMS) 22.9</a:t>
            </a:r>
            <a:r>
              <a:rPr lang="en-US" sz="1000" dirty="0"/>
              <a:t>, delivering the latest updates to its primary database administration and development tool for SQL Server and Azure SQL. The release includes performance improvements, bug fixes, and enhanced support for the latest SQL Server and Azure SQL capabilities, providing a more stable and productive experience for database administrators and developers.</a:t>
            </a:r>
          </a:p>
          <a:p>
            <a:pPr algn="just"/>
            <a:r>
              <a:rPr lang="en-US" sz="1000" dirty="0"/>
              <a:t>SSMS 22.9 improves compatibility with modern SQL Server features, enhances query editing and management workflows, and includes reliability updates across core administration tasks such as backup, restore, security management, and performance monitoring. The release also incorporates updates to underlying components to improve security and overall usability.</a:t>
            </a:r>
          </a:p>
          <a:p>
            <a:pPr algn="just"/>
            <a:r>
              <a:rPr lang="en-US" sz="1000" dirty="0"/>
              <a:t>For organizations managing SQL Server and Azure SQL environments, upgrading to SSMS 22.9 ensures continued compatibility with the latest platform features, improved operational efficiency, and ongoing security and support updates. It remains Microsoft's recommended management tool for administering SQL Server-based workloads.</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Pre-upgrade validation checks for Azure Database for PostgreSQL Flexible Server</a:t>
            </a:r>
            <a:endParaRPr lang="en-US" dirty="0"/>
          </a:p>
          <a:p>
            <a:pPr algn="just"/>
            <a:r>
              <a:rPr lang="en-US" dirty="0"/>
              <a:t>Pre-upgrade validation checks are now generally available for Azure Database for PostgreSQL flexible server, helping you proactively validate major version upgrade (MVU) readiness before initiating the actual upgrade process. With the general availability of this update, you can now run these checks from both the Azure portal and Azure CLI using the new --validate-only option. </a:t>
            </a:r>
          </a:p>
          <a:p>
            <a:pPr algn="just"/>
            <a:r>
              <a:rPr lang="en-US" dirty="0"/>
              <a:t>With pre-upgrade validation checks, you can independently run upgrade compatibility validations and identify potential blockers ahead of time, helping reduce failed upgrade attempts and improve operational predictability. The validation process checks your server against Azure PostgreSQL upgrade policies and PostgreSQL </a:t>
            </a:r>
            <a:r>
              <a:rPr lang="en-US" dirty="0" err="1"/>
              <a:t>pg_upgrade</a:t>
            </a:r>
            <a:r>
              <a:rPr lang="en-US" dirty="0"/>
              <a:t> --check compatibility requirements, surfacing actionable guidance for issues such as unsupported extensions, replication slots, prepared transactions, configuration mismatches, and other upgrade constraints. </a:t>
            </a:r>
          </a:p>
          <a:p>
            <a:pPr algn="just"/>
            <a:r>
              <a:rPr lang="en-US" dirty="0"/>
              <a:t>By shifting validation from inline execution during upgrade to a proactive pre-flight step, this capability helps improve first-time upgrade success rates, reduce troubleshooting effort, and simplify upgrade planning for production workloads. You can resolve identified issues, rerun validations as needed, and proceed with the upgrade only when your environment is ready. </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Azure IoT Services – New Security Enhancements</a:t>
            </a:r>
            <a:endParaRPr lang="en-US" dirty="0"/>
          </a:p>
          <a:p>
            <a:pPr algn="just"/>
            <a:r>
              <a:rPr lang="en-US" dirty="0"/>
              <a:t>Microsoft has introduced </a:t>
            </a:r>
            <a:r>
              <a:rPr lang="en-US" b="1" dirty="0"/>
              <a:t>new security enhancements across Azure IoT services</a:t>
            </a:r>
            <a:r>
              <a:rPr lang="en-US" dirty="0"/>
              <a:t>, strengthening the protection of connected devices, IoT infrastructure, and communication between edge devices and the cloud. The updates focus on improving identity management, authentication, certificate handling, and secure device connectivity to help organizations better defend IoT environments against evolving cyber threats.</a:t>
            </a:r>
          </a:p>
          <a:p>
            <a:pPr algn="just"/>
            <a:r>
              <a:rPr lang="en-US" dirty="0"/>
              <a:t>The enhancements simplify the implementation of security best practices by providing stronger controls for </a:t>
            </a:r>
            <a:r>
              <a:rPr lang="en-US" b="1" dirty="0"/>
              <a:t>device authentication, certificate lifecycle management, secure communications, and access governance</a:t>
            </a:r>
            <a:r>
              <a:rPr lang="en-US" dirty="0"/>
              <a:t> across Azure IoT services. These capabilities help organizations reduce operational complexity while maintaining a consistent security posture throughout the device lifecycle.</a:t>
            </a:r>
          </a:p>
          <a:p>
            <a:pPr algn="just"/>
            <a:r>
              <a:rPr lang="en-US" dirty="0"/>
              <a:t>For enterprises operating large-scale IoT deployments, the new features improve resilience, simplify compliance with industry security standards, and strengthen Zero Trust architectures for connected devices. This release reinforces Microsoft's ongoing investment in securing industrial, manufacturing, energy, healthcare, and other mission-critical IoT solutions running on Azure.</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removed="0"/>
  <clbl:label id="{2fc13e34-f03f-498b-982a-7cb446e25bc6}" enabled="0" method="" siteId="{2fc13e34-f03f-498b-982a-7cb446e25bc6}" removed="1"/>
</clbl:labelList>
</file>

<file path=docProps/app.xml><?xml version="1.0" encoding="utf-8"?>
<Properties xmlns="http://schemas.openxmlformats.org/officeDocument/2006/extended-properties" xmlns:vt="http://schemas.openxmlformats.org/officeDocument/2006/docPropsVTypes">
  <Template>Covers</Template>
  <TotalTime>588</TotalTime>
  <Words>2272</Words>
  <Application>Microsoft Office PowerPoint</Application>
  <PresentationFormat>On-screen Show (16:9)</PresentationFormat>
  <Paragraphs>105</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Human Sans</vt:lpstr>
      <vt:lpstr>Human Sans Regular</vt:lpstr>
      <vt:lpstr>Segoe UI</vt:lpstr>
      <vt:lpstr>Continuum Theme</vt:lpstr>
      <vt:lpstr>Azure Times #219</vt:lpstr>
      <vt:lpstr>PowerPoint Presentation</vt:lpstr>
      <vt:lpstr>Networking Updates (Preview)</vt:lpstr>
      <vt:lpstr>Networking Updates (General Available)</vt:lpstr>
      <vt:lpstr>PowerPoint Presentation</vt:lpstr>
      <vt:lpstr>Security &amp; Identity Updates (General Available)</vt:lpstr>
      <vt:lpstr>Databases Updates (General Available)</vt:lpstr>
      <vt:lpstr>Security &amp; Identity Updates (General Available)</vt:lpstr>
      <vt:lpstr>Security &amp; Identity Updates (General Available)</vt:lpstr>
      <vt:lpstr>PowerPoint Presentation</vt:lpstr>
      <vt:lpstr>Management &amp; Governance Updates (General Available)</vt:lpstr>
      <vt:lpstr>PowerPoint Presentation</vt:lpstr>
      <vt:lpstr>Compute Updates (Preview)</vt:lpstr>
      <vt:lpstr>Compute Updates (General Available)</vt:lpstr>
      <vt:lpstr>PowerPoint Presentation</vt:lpstr>
      <vt:lpstr>Storage &amp; Data Updates (General Available)</vt:lpstr>
      <vt:lpstr>PowerPoint Presentation</vt:lpstr>
      <vt:lpstr>Databases Updates (General Available)</vt:lpstr>
      <vt:lpstr>PowerPoint Presentation</vt:lpstr>
      <vt:lpstr>ML &amp; AI &amp; IOT Updates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87</cp:revision>
  <dcterms:created xsi:type="dcterms:W3CDTF">2018-01-26T19:23:30Z</dcterms:created>
  <dcterms:modified xsi:type="dcterms:W3CDTF">2026-08-15T10:47:14Z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