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5"/>
  </p:notesMasterIdLst>
  <p:handoutMasterIdLst>
    <p:handoutMasterId r:id="rId26"/>
  </p:handoutMasterIdLst>
  <p:sldIdLst>
    <p:sldId id="2142532340" r:id="rId5"/>
    <p:sldId id="2146847045" r:id="rId6"/>
    <p:sldId id="10657" r:id="rId7"/>
    <p:sldId id="2146847126" r:id="rId8"/>
    <p:sldId id="2146847048" r:id="rId9"/>
    <p:sldId id="2146847133" r:id="rId10"/>
    <p:sldId id="2146847050" r:id="rId11"/>
    <p:sldId id="2146847096" r:id="rId12"/>
    <p:sldId id="2146847135" r:id="rId13"/>
    <p:sldId id="2146847136" r:id="rId14"/>
    <p:sldId id="2146847054" r:id="rId15"/>
    <p:sldId id="2146847103" r:id="rId16"/>
    <p:sldId id="2146847142" r:id="rId17"/>
    <p:sldId id="2146847058" r:id="rId18"/>
    <p:sldId id="2146847147" r:id="rId19"/>
    <p:sldId id="2146847119" r:id="rId20"/>
    <p:sldId id="2146847151" r:id="rId21"/>
    <p:sldId id="2146847085" r:id="rId22"/>
    <p:sldId id="2146847084" r:id="rId23"/>
    <p:sldId id="2146847064" r:id="rId2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6"/>
          </p14:sldIdLst>
        </p14:section>
        <p14:section name="Security &amp; Identity" id="{1AA42572-B3BD-44F7-813B-C2C647DDBB3C}">
          <p14:sldIdLst/>
        </p14:section>
        <p14:section name="Management &amp; Governance" id="{34181601-6D48-4406-A525-C7B5A12C6C5B}">
          <p14:sldIdLst>
            <p14:sldId id="2146847048"/>
            <p14:sldId id="2146847133"/>
          </p14:sldIdLst>
        </p14:section>
        <p14:section name="Compute" id="{05AA80BB-8802-49AB-8336-A884227CE2F7}">
          <p14:sldIdLst>
            <p14:sldId id="2146847050"/>
            <p14:sldId id="2146847096"/>
            <p14:sldId id="2146847135"/>
            <p14:sldId id="2146847136"/>
          </p14:sldIdLst>
        </p14:section>
        <p14:section name="Storage &amp; Data" id="{1F159046-CE0A-45BC-9D5B-6E6C95980F78}">
          <p14:sldIdLst/>
        </p14:section>
        <p14:section name="Databases" id="{AEAFAE72-AD56-48F3-926B-38BAE269038F}">
          <p14:sldIdLst>
            <p14:sldId id="2146847054"/>
            <p14:sldId id="2146847103"/>
            <p14:sldId id="2146847142"/>
          </p14:sldIdLst>
        </p14:section>
        <p14:section name="Integration" id="{ACBD46A3-6F1C-451B-A154-0A056E0DEFF6}">
          <p14:sldIdLst/>
        </p14:section>
        <p14:section name="ML &amp; AI &amp; IOT" id="{F4E1EAF1-55E9-4CA4-8ADC-28B69C1D66D2}">
          <p14:sldIdLst>
            <p14:sldId id="2146847058"/>
            <p14:sldId id="2146847147"/>
          </p14:sldIdLst>
        </p14:section>
        <p14:section name="DevOps &amp; IaC &amp; Automation" id="{A1B23FE8-BD24-477B-81AD-FE484F08F197}">
          <p14:sldIdLst>
            <p14:sldId id="2146847119"/>
            <p14:sldId id="2146847151"/>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8/22/2026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8/22/2026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69520" TargetMode="External"/><Relationship Id="rId2" Type="http://schemas.openxmlformats.org/officeDocument/2006/relationships/hyperlink" Target="https://techcommunity.microsoft.com/blog/azurenetworkingblog/azure-dns-introduces-traffic-manager-linked-records-public-preview/4547112"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azure.microsoft.com/ru-ru/updates?id=569743"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69515"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69376" TargetMode="External"/><Relationship Id="rId2" Type="http://schemas.openxmlformats.org/officeDocument/2006/relationships/hyperlink" Target="https://techcommunity.microsoft.com/blog/appsonazureblog/announcing-azure-web-pubsub-chat-in-public-preview/4548907"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techcommunity.microsoft.com/blog/azurecompute/announcing-general-availability-of-disable-multithreading-and-configurable-const/4547908" TargetMode="External"/><Relationship Id="rId2" Type="http://schemas.openxmlformats.org/officeDocument/2006/relationships/hyperlink" Target="https://azure.microsoft.com/ru-ru/updates?id=568952"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9535" TargetMode="External"/><Relationship Id="rId2" Type="http://schemas.openxmlformats.org/officeDocument/2006/relationships/hyperlink" Target="https://azure.microsoft.com/ru-ru/updates?id=569684"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ru-ru/updates?id=569155" TargetMode="External"/><Relationship Id="rId2" Type="http://schemas.openxmlformats.org/officeDocument/2006/relationships/hyperlink" Target="https://techcommunity.microsoft.com/blog/azuresqlblog/public-preview-zone-redundant-next-gen-general-purpose-for-azure-sql-managed-ins/4547525"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69145" TargetMode="External"/><Relationship Id="rId2" Type="http://schemas.openxmlformats.org/officeDocument/2006/relationships/hyperlink" Target="https://azure.microsoft.com/ru-ru/updates?id=569160"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57775"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techcommunity.microsoft.com/blog/azuregovernanceandmanagementblog/now-generally-available-what-if-for-azure-deployment-stacks/4547614"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#220</a:t>
            </a:r>
          </a:p>
        </p:txBody>
      </p:sp>
      <p:sp>
        <p:nvSpPr>
          <p:cNvPr id="4" name="Text Placeholder 3"/>
          <p:cNvSpPr>
            <a:spLocks noGrp="1"/>
          </p:cNvSpPr>
          <p:nvPr>
            <p:ph type="body" sz="quarter" idx="11"/>
          </p:nvPr>
        </p:nvSpPr>
        <p:spPr/>
        <p:txBody>
          <a:bodyPr/>
          <a:lstStyle/>
          <a:p>
            <a:r>
              <a:rPr lang="en-US" spc="300" dirty="0"/>
              <a:t>August 24,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Azure DNS introduces Traffic Manager linked records (Public Preview)</a:t>
            </a:r>
            <a:endParaRPr lang="en-US" sz="1000" dirty="0"/>
          </a:p>
          <a:p>
            <a:pPr algn="just"/>
            <a:r>
              <a:rPr lang="en-US" sz="1000" b="1" dirty="0"/>
              <a:t>Azure DNS</a:t>
            </a:r>
            <a:r>
              <a:rPr lang="en-US" sz="1000" dirty="0"/>
              <a:t> now supports </a:t>
            </a:r>
            <a:r>
              <a:rPr lang="en-US" sz="1000" b="1" dirty="0"/>
              <a:t>Traffic Manager Linked Records</a:t>
            </a:r>
            <a:r>
              <a:rPr lang="en-US" sz="1000" dirty="0"/>
              <a:t> in </a:t>
            </a:r>
            <a:r>
              <a:rPr lang="en-US" sz="1000" b="1" dirty="0"/>
              <a:t>public preview</a:t>
            </a:r>
            <a:r>
              <a:rPr lang="en-US" sz="1000" dirty="0"/>
              <a:t>, simplifying the integration between </a:t>
            </a:r>
            <a:r>
              <a:rPr lang="en-US" sz="1000" b="1" dirty="0"/>
              <a:t>Azure DNS</a:t>
            </a:r>
            <a:r>
              <a:rPr lang="en-US" sz="1000" dirty="0"/>
              <a:t> and </a:t>
            </a:r>
            <a:r>
              <a:rPr lang="en-US" sz="1000" b="1" dirty="0"/>
              <a:t>Azure Traffic Manager</a:t>
            </a:r>
            <a:r>
              <a:rPr lang="en-US" sz="1000" dirty="0"/>
              <a:t>. Instead of manually managing DNS records that point to Traffic Manager profiles, administrators can create linked records that automatically reference the associated Traffic Manager endpoint.</a:t>
            </a:r>
          </a:p>
          <a:p>
            <a:pPr algn="just"/>
            <a:r>
              <a:rPr lang="en-US" sz="1000" dirty="0"/>
              <a:t>This capability reduces operational overhead by keeping DNS and Traffic Manager configurations synchronized, minimizing the risk of configuration errors and simplifying updates when Traffic Manager profiles change. It also streamlines deployment and lifecycle management for global applications using Azure Traffic Manager for </a:t>
            </a:r>
            <a:r>
              <a:rPr lang="en-US" sz="1000" b="1" dirty="0"/>
              <a:t>DNS-based load balancing, failover, and traffic routing</a:t>
            </a:r>
            <a:r>
              <a:rPr lang="en-US" sz="1000" dirty="0"/>
              <a:t>.</a:t>
            </a:r>
          </a:p>
          <a:p>
            <a:pPr algn="just"/>
            <a:r>
              <a:rPr lang="en-US" sz="1000" dirty="0"/>
              <a:t>For organizations operating globally distributed applications, Linked Records improve automation, simplify DNS management, and enhance the reliability of traffic routing. The feature makes it easier to deploy and maintain highly available applications while reducing the administrative effort required to manage Azure DNS and Traffic Manager together.</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Ipv6 support in Azure Firewall</a:t>
            </a:r>
            <a:endParaRPr lang="en-US" dirty="0"/>
          </a:p>
          <a:p>
            <a:pPr algn="just"/>
            <a:r>
              <a:rPr lang="en-US" dirty="0"/>
              <a:t>Azure Firewall now supports IPv6 in public preview, enabling customers to configure Azure Firewall and Firewall Policy in dual-stack mode for both IPv4 and IPv6 traffic. This preview allows native IPv6 network-rule filtering and DNS Proxy support, helping organizations secure cloud, hybrid, and internal IPv6 traffic as they modernize toward dual-stack architectures. </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 (General Available)</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2"/>
              </a:rPr>
              <a:t>Generally Available: Summarized advertised gateway prefixes for route advertisement</a:t>
            </a:r>
            <a:endParaRPr lang="en-US" dirty="0"/>
          </a:p>
          <a:p>
            <a:pPr algn="just"/>
            <a:r>
              <a:rPr lang="en-US" b="1" dirty="0"/>
              <a:t>Summarized Gateway Prefixes</a:t>
            </a:r>
            <a:r>
              <a:rPr lang="en-US" dirty="0"/>
              <a:t> for route advertisement are now </a:t>
            </a:r>
            <a:r>
              <a:rPr lang="en-US" b="1" dirty="0"/>
              <a:t>generally available</a:t>
            </a:r>
            <a:r>
              <a:rPr lang="en-US" dirty="0"/>
              <a:t> for both </a:t>
            </a:r>
            <a:r>
              <a:rPr lang="en-US" b="1" dirty="0"/>
              <a:t>Azure ExpressRoute Gateway</a:t>
            </a:r>
            <a:r>
              <a:rPr lang="en-US" dirty="0"/>
              <a:t> and </a:t>
            </a:r>
            <a:r>
              <a:rPr lang="en-US" b="1" dirty="0"/>
              <a:t>Azure VPN Gateway</a:t>
            </a:r>
            <a:r>
              <a:rPr lang="en-US" dirty="0"/>
              <a:t>. The feature allows organizations to advertise </a:t>
            </a:r>
            <a:r>
              <a:rPr lang="en-US" b="1" dirty="0"/>
              <a:t>aggregated IP prefixes</a:t>
            </a:r>
            <a:r>
              <a:rPr lang="en-US" dirty="0"/>
              <a:t> (route summarization) to on-premises networks instead of advertising every individual Azure virtual network address space. Both </a:t>
            </a:r>
            <a:r>
              <a:rPr lang="en-US" b="1" dirty="0"/>
              <a:t>IPv4 and IPv6</a:t>
            </a:r>
            <a:r>
              <a:rPr lang="en-US" dirty="0"/>
              <a:t> address spaces are supported.</a:t>
            </a:r>
          </a:p>
          <a:p>
            <a:pPr algn="just"/>
            <a:r>
              <a:rPr lang="en-US" dirty="0"/>
              <a:t>This capability is particularly valuable for </a:t>
            </a:r>
            <a:r>
              <a:rPr lang="en-US" b="1" dirty="0"/>
              <a:t>large hub-and-spoke network architectures</a:t>
            </a:r>
            <a:r>
              <a:rPr lang="en-US" dirty="0"/>
              <a:t>, where the number of advertised routes can approach the limits of ExpressRoute or VPN Gateway as additional spoke </a:t>
            </a:r>
            <a:r>
              <a:rPr lang="en-US" dirty="0" err="1"/>
              <a:t>VNets</a:t>
            </a:r>
            <a:r>
              <a:rPr lang="en-US" dirty="0"/>
              <a:t> are deployed. By advertising a single summarized prefix (for example, </a:t>
            </a:r>
            <a:r>
              <a:rPr lang="en-US" b="1" dirty="0"/>
              <a:t>10.0.0.0/16</a:t>
            </a:r>
            <a:r>
              <a:rPr lang="en-US" dirty="0"/>
              <a:t>) instead of hundreds of individual VNet prefixes, organizations can significantly reduce route table size, simplify network management, and continue scaling their Azure environment without redesigning the IP addressing scheme.</a:t>
            </a:r>
          </a:p>
          <a:p>
            <a:pPr algn="just"/>
            <a:r>
              <a:rPr lang="en-US" dirty="0"/>
              <a:t>The feature preserves existing connectivity by automatically continuing to advertise any address spaces that fall outside the summarized prefix. This provides a seamless migration path while improving network scalability, reducing route complexity, and simplifying hybrid connectivity between Azure and on-premises environments.</a:t>
            </a:r>
          </a:p>
          <a:p>
            <a:pPr algn="just"/>
            <a:endParaRPr lang="en-US" dirty="0"/>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Generally Available: BYON (Bring Your Own NIC) in Azure Site Recovery</a:t>
            </a:r>
            <a:endParaRPr lang="en-US" dirty="0"/>
          </a:p>
          <a:p>
            <a:pPr algn="just"/>
            <a:r>
              <a:rPr lang="en-US" b="1" dirty="0"/>
              <a:t>Azure Site Recovery (ASR)</a:t>
            </a:r>
            <a:r>
              <a:rPr lang="en-US" dirty="0"/>
              <a:t> now supports using </a:t>
            </a:r>
            <a:r>
              <a:rPr lang="en-US" b="1" dirty="0"/>
              <a:t>pre-provisioned Network Interface Cards (NICs)</a:t>
            </a:r>
            <a:r>
              <a:rPr lang="en-US" dirty="0"/>
              <a:t> during </a:t>
            </a:r>
            <a:r>
              <a:rPr lang="en-US" b="1" dirty="0"/>
              <a:t>Azure-to-Azure</a:t>
            </a:r>
            <a:r>
              <a:rPr lang="en-US" dirty="0"/>
              <a:t> disaster recovery for both </a:t>
            </a:r>
            <a:r>
              <a:rPr lang="en-US" b="1" dirty="0"/>
              <a:t>test failover</a:t>
            </a:r>
            <a:r>
              <a:rPr lang="en-US" dirty="0"/>
              <a:t> and </a:t>
            </a:r>
            <a:r>
              <a:rPr lang="en-US" b="1" dirty="0"/>
              <a:t>planned/unplanned failover</a:t>
            </a:r>
            <a:r>
              <a:rPr lang="en-US" dirty="0"/>
              <a:t>. Previously, ASR always created a new NIC during recovery, requiring post-failover network reconfiguration.</a:t>
            </a:r>
          </a:p>
          <a:p>
            <a:pPr algn="just"/>
            <a:r>
              <a:rPr lang="en-US" dirty="0"/>
              <a:t>With this enhancement, organizations can pre-create NICs in the target region and configure protected virtual machines to use them during failover. This preserves </a:t>
            </a:r>
            <a:r>
              <a:rPr lang="en-US" b="1" dirty="0"/>
              <a:t>static IP addresses, Network Security Group (NSG) associations, and other preconfigured network settings</a:t>
            </a:r>
            <a:r>
              <a:rPr lang="en-US" dirty="0"/>
              <a:t>, reducing recovery time and ensuring consistent network configurations across primary and disaster recovery environments.</a:t>
            </a:r>
          </a:p>
          <a:p>
            <a:pPr algn="just"/>
            <a:r>
              <a:rPr lang="en-US" dirty="0"/>
              <a:t>The feature simplifies disaster recovery planning by allowing organizations to maintain predefined networking, security policies, and IP addressing during failover while remaining fully backward compatible—if no target NIC is specified, Azure Site Recovery continues to automatically create a new NIC as before. This improves recovery predictability and reduces operational effort during disaster recovery events.</a:t>
            </a:r>
          </a:p>
          <a:p>
            <a:pPr algn="just"/>
            <a:endParaRPr lang="en-US" dirty="0"/>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Announcing Azure Web </a:t>
            </a:r>
            <a:r>
              <a:rPr lang="en-US" sz="1000" dirty="0" err="1">
                <a:hlinkClick r:id="rId2"/>
              </a:rPr>
              <a:t>PubSub</a:t>
            </a:r>
            <a:r>
              <a:rPr lang="en-US" sz="1000" dirty="0">
                <a:hlinkClick r:id="rId2"/>
              </a:rPr>
              <a:t> chat in public preview</a:t>
            </a:r>
            <a:endParaRPr lang="en-US" sz="1000" dirty="0"/>
          </a:p>
          <a:p>
            <a:pPr algn="just"/>
            <a:r>
              <a:rPr lang="en-US" sz="1000" b="1" dirty="0"/>
              <a:t>Azure Web </a:t>
            </a:r>
            <a:r>
              <a:rPr lang="en-US" sz="1000" b="1" dirty="0" err="1"/>
              <a:t>PubSub</a:t>
            </a:r>
            <a:r>
              <a:rPr lang="en-US" sz="1000" b="1" dirty="0"/>
              <a:t> Chat</a:t>
            </a:r>
            <a:r>
              <a:rPr lang="en-US" sz="1000" dirty="0"/>
              <a:t> is now available in </a:t>
            </a:r>
            <a:r>
              <a:rPr lang="en-US" sz="1000" b="1" dirty="0"/>
              <a:t>public preview</a:t>
            </a:r>
            <a:r>
              <a:rPr lang="en-US" sz="1000" dirty="0"/>
              <a:t>, providing developers with a fully managed foundation for building </a:t>
            </a:r>
            <a:r>
              <a:rPr lang="en-US" sz="1000" b="1" dirty="0"/>
              <a:t>real-time chat experiences</a:t>
            </a:r>
            <a:r>
              <a:rPr lang="en-US" sz="1000" dirty="0"/>
              <a:t> on Azure. The service delivers built-in capabilities for messaging, user presence, conversation management, and real-time communication, eliminating much of the infrastructure and backend code traditionally required to develop chat applications.</a:t>
            </a:r>
          </a:p>
          <a:p>
            <a:pPr algn="just"/>
            <a:r>
              <a:rPr lang="en-US" sz="1000" dirty="0"/>
              <a:t>Built on </a:t>
            </a:r>
            <a:r>
              <a:rPr lang="en-US" sz="1000" b="1" dirty="0"/>
              <a:t>Azure Web </a:t>
            </a:r>
            <a:r>
              <a:rPr lang="en-US" sz="1000" b="1" dirty="0" err="1"/>
              <a:t>PubSub</a:t>
            </a:r>
            <a:r>
              <a:rPr lang="en-US" sz="1000" dirty="0"/>
              <a:t>, the new chat service enables developers to rapidly integrate real-time messaging into web, mobile, and AI-powered applications while benefiting from Azure-managed scalability, reliability, and security. It supports common collaboration scenarios such as customer support, team messaging, AI assistant conversations, and live collaboration experiences.</a:t>
            </a:r>
          </a:p>
          <a:p>
            <a:pPr algn="just"/>
            <a:r>
              <a:rPr lang="en-US" sz="1000" dirty="0"/>
              <a:t>For organizations building conversational applications, Azure Web </a:t>
            </a:r>
            <a:r>
              <a:rPr lang="en-US" sz="1000" dirty="0" err="1"/>
              <a:t>PubSub</a:t>
            </a:r>
            <a:r>
              <a:rPr lang="en-US" sz="1000" dirty="0"/>
              <a:t> Chat significantly reduces development effort by providing a managed, scalable chat platform that integrates seamlessly with Azure services and AI solutions. This enables teams to focus on application logic and user experience rather than implementing and operating the underlying real-time messaging infrastructure.</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Linux on WSL</a:t>
            </a:r>
            <a:endParaRPr lang="en-US" dirty="0"/>
          </a:p>
          <a:p>
            <a:pPr algn="just"/>
            <a:r>
              <a:rPr lang="en-US" b="1" dirty="0"/>
              <a:t>Azure Linux</a:t>
            </a:r>
            <a:r>
              <a:rPr lang="en-US" dirty="0"/>
              <a:t> is now available on </a:t>
            </a:r>
            <a:r>
              <a:rPr lang="en-US" b="1" dirty="0"/>
              <a:t>Windows Subsystem for Linux (WSL)</a:t>
            </a:r>
            <a:r>
              <a:rPr lang="en-US" dirty="0"/>
              <a:t> in </a:t>
            </a:r>
            <a:r>
              <a:rPr lang="en-US" b="1" dirty="0"/>
              <a:t>public preview</a:t>
            </a:r>
            <a:r>
              <a:rPr lang="en-US" dirty="0"/>
              <a:t>, allowing developers to use Microsoft's Azure-optimized Linux distribution directly on their Windows workstations. By using the same operating system across development, testing, and production, teams can validate applications against production-aligned environments, reproduce issues more consistently, and reduce troubleshooting caused by environment differences.</a:t>
            </a:r>
          </a:p>
          <a:p>
            <a:pPr algn="just"/>
            <a:r>
              <a:rPr lang="en-US" dirty="0"/>
              <a:t>Developers can continue using familiar tools such as </a:t>
            </a:r>
            <a:r>
              <a:rPr lang="en-US" b="1" dirty="0"/>
              <a:t>Visual Studio Code</a:t>
            </a:r>
            <a:r>
              <a:rPr lang="en-US" dirty="0"/>
              <a:t>, </a:t>
            </a:r>
            <a:r>
              <a:rPr lang="en-US" b="1" dirty="0"/>
              <a:t>Git</a:t>
            </a:r>
            <a:r>
              <a:rPr lang="en-US" dirty="0"/>
              <a:t>, and the WSL ecosystem while targeting Azure services including </a:t>
            </a:r>
            <a:r>
              <a:rPr lang="en-US" b="1" dirty="0"/>
              <a:t>Virtual Machines, Azure Kubernetes Service (AKS), and containers</a:t>
            </a:r>
            <a:r>
              <a:rPr lang="en-US" dirty="0"/>
              <a:t>. This provides a consistent Microsoft-supported Linux platform from local development through cloud deployment.</a:t>
            </a:r>
          </a:p>
          <a:p>
            <a:pPr algn="just"/>
            <a:r>
              <a:rPr lang="en-US" dirty="0"/>
              <a:t>For organizations standardizing on Azure Linux, WSL support simplifies the developer experience, improves application consistency across environments, and accelerates the development lifecycle by reducing cross-platform compatibility issues.</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Managed Instance on Azure App Service</a:t>
            </a:r>
            <a:endParaRPr lang="en-US" sz="1000" dirty="0"/>
          </a:p>
          <a:p>
            <a:pPr algn="just"/>
            <a:r>
              <a:rPr lang="en-US" sz="1000" b="1" dirty="0"/>
              <a:t>Managed Instance for Azure App Service</a:t>
            </a:r>
            <a:r>
              <a:rPr lang="en-US" sz="1000" dirty="0"/>
              <a:t> is now </a:t>
            </a:r>
            <a:r>
              <a:rPr lang="en-US" sz="1000" b="1" dirty="0"/>
              <a:t>generally available</a:t>
            </a:r>
            <a:r>
              <a:rPr lang="en-US" sz="1000" dirty="0"/>
              <a:t>, enabling organizations to migrate existing </a:t>
            </a:r>
            <a:r>
              <a:rPr lang="en-US" sz="1000" b="1" dirty="0"/>
              <a:t>Windows web applications</a:t>
            </a:r>
            <a:r>
              <a:rPr lang="en-US" sz="1000" dirty="0"/>
              <a:t> to a fully managed Platform-as-a-Service (PaaS) environment with </a:t>
            </a:r>
            <a:r>
              <a:rPr lang="en-US" sz="1000" b="1" dirty="0"/>
              <a:t>minimal configuration and no code changes</a:t>
            </a:r>
            <a:r>
              <a:rPr lang="en-US" sz="1000" dirty="0"/>
              <a:t>. The service is designed for applications running on-premises or on virtual machines that depend on Windows-specific components such as </a:t>
            </a:r>
            <a:r>
              <a:rPr lang="en-US" sz="1000" b="1" dirty="0"/>
              <a:t>.NET Framework, Windows services, custom runtimes, and third-party libraries</a:t>
            </a:r>
            <a:r>
              <a:rPr lang="en-US" sz="1000" dirty="0"/>
              <a:t>.</a:t>
            </a:r>
          </a:p>
          <a:p>
            <a:pPr algn="just"/>
            <a:r>
              <a:rPr lang="en-US" sz="1000" dirty="0"/>
              <a:t>Managed Instance combines the operational benefits of Azure App Service—including </a:t>
            </a:r>
            <a:r>
              <a:rPr lang="en-US" sz="1000" b="1" dirty="0"/>
              <a:t>autoscaling, high availability, zone redundancy, and native Azure service integration</a:t>
            </a:r>
            <a:r>
              <a:rPr lang="en-US" sz="1000" dirty="0"/>
              <a:t>—with the administrative flexibility needed for complex enterprise applications. It also provides </a:t>
            </a:r>
            <a:r>
              <a:rPr lang="en-US" sz="1000" b="1" dirty="0"/>
              <a:t>Azure Bastion-enabled RDP access, custom scripting, registry support, storage mounts, and identity management</a:t>
            </a:r>
            <a:r>
              <a:rPr lang="en-US" sz="1000" dirty="0"/>
              <a:t>, helping organizations modernize workloads without sacrificing compatibility.</a:t>
            </a:r>
          </a:p>
          <a:p>
            <a:pPr algn="just"/>
            <a:r>
              <a:rPr lang="en-US" sz="1000" dirty="0"/>
              <a:t>For enterprises modernizing legacy .NET applications, Managed Instance offers an easier migration path while reducing infrastructure management overhead. With support for </a:t>
            </a:r>
            <a:r>
              <a:rPr lang="en-US" sz="1000" b="1" dirty="0"/>
              <a:t>99.95% SLA, Premium v4 performance, Microsoft Defender for Cloud, Azure Policy, and Infrastructure-as-Code deployment using ARM, Bicep, and Terraform</a:t>
            </a:r>
            <a:r>
              <a:rPr lang="en-US" sz="1000" dirty="0"/>
              <a:t>, it provides a production-ready platform for running business-critical Windows applications in Azure.</a:t>
            </a:r>
          </a:p>
          <a:p>
            <a:pPr algn="just"/>
            <a:endParaRPr lang="en-US" sz="1000" dirty="0"/>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Announcing General Availability of Disable Multithreading and Configurable Constrained Cores</a:t>
            </a:r>
            <a:endParaRPr lang="en-US" dirty="0"/>
          </a:p>
          <a:p>
            <a:pPr algn="just"/>
            <a:r>
              <a:rPr lang="en-US" dirty="0"/>
              <a:t>Microsoft has announced the </a:t>
            </a:r>
            <a:r>
              <a:rPr lang="en-US" b="1" dirty="0"/>
              <a:t>general availability</a:t>
            </a:r>
            <a:r>
              <a:rPr lang="en-US" dirty="0"/>
              <a:t> of </a:t>
            </a:r>
            <a:r>
              <a:rPr lang="en-US" b="1" dirty="0"/>
              <a:t>Disable Multithreading</a:t>
            </a:r>
            <a:r>
              <a:rPr lang="en-US" dirty="0"/>
              <a:t> and </a:t>
            </a:r>
            <a:r>
              <a:rPr lang="en-US" b="1" dirty="0"/>
              <a:t>Configurable Core Count</a:t>
            </a:r>
            <a:r>
              <a:rPr lang="en-US" dirty="0"/>
              <a:t> for supported </a:t>
            </a:r>
            <a:r>
              <a:rPr lang="en-US" b="1" dirty="0"/>
              <a:t>Azure Virtual Machines</a:t>
            </a:r>
            <a:r>
              <a:rPr lang="en-US" dirty="0"/>
              <a:t>. These capabilities allow organizations to customize the number of visible vCPUs and disable simultaneous multithreading (SMT/Hyper-Threading) without changing the selected VM size, providing greater control over performance, licensing, and workload isolation.</a:t>
            </a:r>
          </a:p>
          <a:p>
            <a:pPr algn="just"/>
            <a:r>
              <a:rPr lang="en-US" b="1" dirty="0"/>
              <a:t>Configurable Core Count</a:t>
            </a:r>
            <a:r>
              <a:rPr lang="en-US" dirty="0"/>
              <a:t> enables customers to expose only the required number of processor cores while retaining the VM's full memory, storage, and network bandwidth. This is particularly beneficial for workloads with </a:t>
            </a:r>
            <a:r>
              <a:rPr lang="en-US" b="1" dirty="0"/>
              <a:t>per-core software licensing</a:t>
            </a:r>
            <a:r>
              <a:rPr lang="en-US" dirty="0"/>
              <a:t>, allowing organizations to optimize licensing costs without sacrificing infrastructure capacity. </a:t>
            </a:r>
            <a:r>
              <a:rPr lang="en-US" b="1" dirty="0"/>
              <a:t>Disable Multithreading</a:t>
            </a:r>
            <a:r>
              <a:rPr lang="en-US" dirty="0"/>
              <a:t> allows workloads to run using only physical cores, which can improve performance consistency for latency-sensitive applications and help meet software vendor certification or compliance requirements.</a:t>
            </a:r>
          </a:p>
          <a:p>
            <a:pPr algn="just"/>
            <a:r>
              <a:rPr lang="en-US" dirty="0"/>
              <a:t>These capabilities are especially valuable for </a:t>
            </a:r>
            <a:r>
              <a:rPr lang="en-US" b="1" dirty="0"/>
              <a:t>enterprise databases, SAP, HPC, and commercial software with core-based licensing models</a:t>
            </a:r>
            <a:r>
              <a:rPr lang="en-US" dirty="0"/>
              <a:t>, giving customers greater flexibility to optimize performance, licensing costs, and workload efficiency while continuing to leverage Azure's managed infrastructure.</a:t>
            </a:r>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a:xfrm>
            <a:off x="342900" y="910497"/>
            <a:ext cx="3886200" cy="3774069"/>
          </a:xfrm>
        </p:spPr>
        <p:txBody>
          <a:bodyPr/>
          <a:lstStyle/>
          <a:p>
            <a:pPr algn="just"/>
            <a:r>
              <a:rPr lang="en-US" sz="1000" dirty="0">
                <a:hlinkClick r:id="rId2"/>
              </a:rPr>
              <a:t>Generally Available: Azure Databricks </a:t>
            </a:r>
            <a:r>
              <a:rPr lang="en-US" sz="1000" dirty="0" err="1">
                <a:hlinkClick r:id="rId2"/>
              </a:rPr>
              <a:t>Lakebase</a:t>
            </a:r>
            <a:r>
              <a:rPr lang="en-US" sz="1000" dirty="0">
                <a:hlinkClick r:id="rId2"/>
              </a:rPr>
              <a:t> in four additional regions</a:t>
            </a:r>
            <a:endParaRPr lang="en-US" sz="1000" dirty="0"/>
          </a:p>
          <a:p>
            <a:pPr algn="just"/>
            <a:r>
              <a:rPr lang="en-US" sz="1000" b="1" dirty="0"/>
              <a:t>Azure </a:t>
            </a:r>
            <a:r>
              <a:rPr lang="en-US" sz="1000" b="1" dirty="0" err="1"/>
              <a:t>Lakebase</a:t>
            </a:r>
            <a:r>
              <a:rPr lang="en-US" sz="1000" dirty="0"/>
              <a:t> is now </a:t>
            </a:r>
            <a:r>
              <a:rPr lang="en-US" sz="1000" b="1" dirty="0"/>
              <a:t>generally available</a:t>
            </a:r>
            <a:r>
              <a:rPr lang="en-US" sz="1000" dirty="0"/>
              <a:t> in four additional Azure regions: </a:t>
            </a:r>
            <a:r>
              <a:rPr lang="en-US" sz="1000" b="1" dirty="0"/>
              <a:t>North Central US</a:t>
            </a:r>
            <a:r>
              <a:rPr lang="en-US" sz="1000" dirty="0"/>
              <a:t>, </a:t>
            </a:r>
            <a:r>
              <a:rPr lang="en-US" sz="1000" b="1" dirty="0"/>
              <a:t>France Central</a:t>
            </a:r>
            <a:r>
              <a:rPr lang="en-US" sz="1000" dirty="0"/>
              <a:t>, </a:t>
            </a:r>
            <a:r>
              <a:rPr lang="en-US" sz="1000" b="1" dirty="0"/>
              <a:t>Germany West Central</a:t>
            </a:r>
            <a:r>
              <a:rPr lang="en-US" sz="1000" dirty="0"/>
              <a:t>, and </a:t>
            </a:r>
            <a:r>
              <a:rPr lang="en-US" sz="1000" b="1" dirty="0"/>
              <a:t>East Asia</a:t>
            </a:r>
            <a:r>
              <a:rPr lang="en-US" sz="1000" dirty="0"/>
              <a:t>. This regional expansion increases the global availability of </a:t>
            </a:r>
            <a:r>
              <a:rPr lang="en-US" sz="1000" dirty="0" err="1"/>
              <a:t>Lakebase</a:t>
            </a:r>
            <a:r>
              <a:rPr lang="en-US" sz="1000" dirty="0"/>
              <a:t>, allowing organizations to deploy PostgreSQL-compatible database workloads closer to their users and applications.</a:t>
            </a:r>
          </a:p>
          <a:p>
            <a:pPr algn="just"/>
            <a:r>
              <a:rPr lang="en-US" sz="1000" dirty="0"/>
              <a:t>The additional regions help customers meet </a:t>
            </a:r>
            <a:r>
              <a:rPr lang="en-US" sz="1000" b="1" dirty="0"/>
              <a:t>data residency</a:t>
            </a:r>
            <a:r>
              <a:rPr lang="en-US" sz="1000" dirty="0"/>
              <a:t>, </a:t>
            </a:r>
            <a:r>
              <a:rPr lang="en-US" sz="1000" b="1" dirty="0"/>
              <a:t>regulatory compliance</a:t>
            </a:r>
            <a:r>
              <a:rPr lang="en-US" sz="1000" dirty="0"/>
              <a:t>, and </a:t>
            </a:r>
            <a:r>
              <a:rPr lang="en-US" sz="1000" b="1" dirty="0"/>
              <a:t>low-latency</a:t>
            </a:r>
            <a:r>
              <a:rPr lang="en-US" sz="1000" dirty="0"/>
              <a:t> requirements while providing greater flexibility for designing globally distributed and resilient database architectures. Organizations can now deploy </a:t>
            </a:r>
            <a:r>
              <a:rPr lang="en-US" sz="1000" dirty="0" err="1"/>
              <a:t>Lakebase</a:t>
            </a:r>
            <a:r>
              <a:rPr lang="en-US" sz="1000" dirty="0"/>
              <a:t> workloads in more geographic locations without changing the managed service experience.</a:t>
            </a:r>
          </a:p>
          <a:p>
            <a:pPr algn="just"/>
            <a:r>
              <a:rPr lang="en-US" sz="1000" dirty="0"/>
              <a:t>With this expansion, Microsoft continues to strengthen Azure </a:t>
            </a:r>
            <a:r>
              <a:rPr lang="en-US" sz="1000" dirty="0" err="1"/>
              <a:t>Lakebase</a:t>
            </a:r>
            <a:r>
              <a:rPr lang="en-US" sz="1000" dirty="0"/>
              <a:t> as a globally available, enterprise-ready database platform, enabling customers to scale AI-powered and mission-critical applications across more Azure regions with improved performance and regional coverage.</a:t>
            </a:r>
          </a:p>
          <a:p>
            <a:pPr algn="just"/>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a:xfrm>
            <a:off x="4765964" y="892741"/>
            <a:ext cx="4104249" cy="3774069"/>
          </a:xfrm>
        </p:spPr>
        <p:txBody>
          <a:bodyPr/>
          <a:lstStyle/>
          <a:p>
            <a:pPr algn="just"/>
            <a:r>
              <a:rPr lang="en-US" dirty="0">
                <a:hlinkClick r:id="rId3"/>
              </a:rPr>
              <a:t>Retirement: Azure VMware Solution License-included service will be retired August 30, 2027</a:t>
            </a:r>
            <a:endParaRPr lang="en-US" dirty="0"/>
          </a:p>
          <a:p>
            <a:pPr algn="just"/>
            <a:r>
              <a:rPr lang="en-US" dirty="0"/>
              <a:t>Microsoft has announced the retirement of the </a:t>
            </a:r>
            <a:r>
              <a:rPr lang="en-US" b="1" dirty="0"/>
              <a:t>Azure VMware Solution (AVS) license-included offering</a:t>
            </a:r>
            <a:r>
              <a:rPr lang="en-US" dirty="0"/>
              <a:t> following Broadcom's changes to </a:t>
            </a:r>
            <a:r>
              <a:rPr lang="en-US" b="1" dirty="0"/>
              <a:t>VMware Cloud Foundation (VCF)</a:t>
            </a:r>
            <a:r>
              <a:rPr lang="en-US" dirty="0"/>
              <a:t> licensing. Effective </a:t>
            </a:r>
            <a:r>
              <a:rPr lang="en-US" b="1" dirty="0"/>
              <a:t>August 30, 2027</a:t>
            </a:r>
            <a:r>
              <a:rPr lang="en-US" dirty="0"/>
              <a:t>, customers will no longer be able to use Microsoft-provided VMware licenses and must either </a:t>
            </a:r>
            <a:r>
              <a:rPr lang="en-US" b="1" dirty="0"/>
              <a:t>bring their own Broadcom VCF licenses (BYOL)</a:t>
            </a:r>
            <a:r>
              <a:rPr lang="en-US" dirty="0"/>
              <a:t> or migrate off Azure VMware Solution to avoid service disruption.</a:t>
            </a:r>
          </a:p>
          <a:p>
            <a:pPr algn="just"/>
            <a:r>
              <a:rPr lang="en-US" dirty="0"/>
              <a:t>Organizations currently using </a:t>
            </a:r>
            <a:r>
              <a:rPr lang="en-US" b="1" dirty="0"/>
              <a:t>license-included Reserved Instance (RI)</a:t>
            </a:r>
            <a:r>
              <a:rPr lang="en-US" dirty="0"/>
              <a:t> or </a:t>
            </a:r>
            <a:r>
              <a:rPr lang="en-US" b="1" dirty="0"/>
              <a:t>Pay-As-You-Go (</a:t>
            </a:r>
            <a:r>
              <a:rPr lang="en-US" b="1" dirty="0" err="1"/>
              <a:t>PayGo</a:t>
            </a:r>
            <a:r>
              <a:rPr lang="en-US" b="1" dirty="0"/>
              <a:t>)</a:t>
            </a:r>
            <a:r>
              <a:rPr lang="en-US" dirty="0"/>
              <a:t> SKUs should begin planning their transition now. </a:t>
            </a:r>
            <a:r>
              <a:rPr lang="en-US" b="1" dirty="0" err="1"/>
              <a:t>PayGo</a:t>
            </a:r>
            <a:r>
              <a:rPr lang="en-US" b="1" dirty="0"/>
              <a:t> SKUs retire on October 31, 2026</a:t>
            </a:r>
            <a:r>
              <a:rPr lang="en-US" dirty="0"/>
              <a:t>, while all remaining </a:t>
            </a:r>
            <a:r>
              <a:rPr lang="en-US" b="1" dirty="0"/>
              <a:t>license-included services</a:t>
            </a:r>
            <a:r>
              <a:rPr lang="en-US" dirty="0"/>
              <a:t>, including the </a:t>
            </a:r>
            <a:r>
              <a:rPr lang="en-US" b="1" dirty="0"/>
              <a:t>AV36 SKU</a:t>
            </a:r>
            <a:r>
              <a:rPr lang="en-US" dirty="0"/>
              <a:t>, will end on </a:t>
            </a:r>
            <a:r>
              <a:rPr lang="en-US" b="1" dirty="0"/>
              <a:t>August 30, 2027</a:t>
            </a:r>
            <a:r>
              <a:rPr lang="en-US" dirty="0"/>
              <a:t>. Existing Reserved Instances extending beyond the retirement date can be exchanged, but workloads must ultimately transition to </a:t>
            </a:r>
            <a:r>
              <a:rPr lang="en-US" b="1" dirty="0"/>
              <a:t>AVS VCF BYOL</a:t>
            </a:r>
            <a:r>
              <a:rPr lang="en-US" dirty="0"/>
              <a:t> or an alternative platform.</a:t>
            </a:r>
          </a:p>
          <a:p>
            <a:pPr algn="just"/>
            <a:r>
              <a:rPr lang="en-US" dirty="0"/>
              <a:t>This announcement has significant implications for VMware customers running production workloads on Azure. Organizations should assess licensing requirements, engage Broadcom to procure portable VCF licenses if remaining on AVS, or evaluate modernization and migration strategies to Azure-native services well in advance of the retirement deadlines to ensure a smooth transition and avoid service interruptions.</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Zone-Redundant Next-Gen General Purpose for Azure SQL Managed Instance</a:t>
            </a:r>
            <a:endParaRPr lang="en-US" sz="1000" dirty="0"/>
          </a:p>
          <a:p>
            <a:pPr algn="just"/>
            <a:r>
              <a:rPr lang="en-US" sz="1000" dirty="0"/>
              <a:t>Microsoft has announced the </a:t>
            </a:r>
            <a:r>
              <a:rPr lang="en-US" sz="1000" b="1" dirty="0"/>
              <a:t>public preview of Zone-Redundant Next-Generation General Purpose</a:t>
            </a:r>
            <a:r>
              <a:rPr lang="en-US" sz="1000" dirty="0"/>
              <a:t> for </a:t>
            </a:r>
            <a:r>
              <a:rPr lang="en-US" sz="1000" b="1" dirty="0"/>
              <a:t>Azure SQL Managed Instance</a:t>
            </a:r>
            <a:r>
              <a:rPr lang="en-US" sz="1000" dirty="0"/>
              <a:t>, bringing </a:t>
            </a:r>
            <a:r>
              <a:rPr lang="en-US" sz="1000" b="1" dirty="0"/>
              <a:t>Availability Zone resilience</a:t>
            </a:r>
            <a:r>
              <a:rPr lang="en-US" sz="1000" dirty="0"/>
              <a:t> to the next-generation General Purpose service tier. The new offering combines the cost efficiency of the General Purpose tier with enhanced protection against datacenter failures by distributing the service across multiple Availability Zones within a region.</a:t>
            </a:r>
          </a:p>
          <a:p>
            <a:pPr algn="just"/>
            <a:r>
              <a:rPr lang="en-US" sz="1000" dirty="0"/>
              <a:t>The next-generation architecture also delivers improved performance and scalability while maintaining the managed experience of Azure SQL Managed Instance. Customers can deploy business-critical SQL workloads with higher availability, reduced downtime risk, and automatic resilience against zonal outages without the complexity of managing SQL Server clusters or Always On Availability Groups.</a:t>
            </a:r>
          </a:p>
          <a:p>
            <a:pPr algn="just"/>
            <a:r>
              <a:rPr lang="en-US" sz="1000" dirty="0"/>
              <a:t>This enhancement enables organizations to build more resilient database platforms for mission-critical applications while benefiting from lower operational overhead and Azure-managed high availability. For enterprises modernizing SQL Server workloads, it provides a compelling balance between </a:t>
            </a:r>
            <a:r>
              <a:rPr lang="en-US" sz="1000" b="1" dirty="0"/>
              <a:t>performance, availability, and cost</a:t>
            </a:r>
            <a:r>
              <a:rPr lang="en-US" sz="1000" dirty="0"/>
              <a:t> within the Azure SQL Managed Instance platform.</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SQL Formatter in MSSQL extension</a:t>
            </a:r>
            <a:endParaRPr lang="en-US" dirty="0"/>
          </a:p>
          <a:p>
            <a:pPr algn="just"/>
            <a:r>
              <a:rPr lang="en-US" b="1" dirty="0"/>
              <a:t>SQL Formatter</a:t>
            </a:r>
            <a:r>
              <a:rPr lang="en-US" dirty="0"/>
              <a:t> is now available in </a:t>
            </a:r>
            <a:r>
              <a:rPr lang="en-US" b="1" dirty="0"/>
              <a:t>public preview</a:t>
            </a:r>
            <a:r>
              <a:rPr lang="en-US" dirty="0"/>
              <a:t>, enabling developers to automatically format SQL scripts directly within </a:t>
            </a:r>
            <a:r>
              <a:rPr lang="en-US" b="1" dirty="0"/>
              <a:t>Visual Studio Code</a:t>
            </a:r>
            <a:r>
              <a:rPr lang="en-US" dirty="0"/>
              <a:t>. The feature helps produce cleaner, more consistent, and easier-to-read SQL code, improving readability and maintainability across development teams.</a:t>
            </a:r>
          </a:p>
          <a:p>
            <a:pPr algn="just"/>
            <a:r>
              <a:rPr lang="en-US" dirty="0"/>
              <a:t>The formatter includes </a:t>
            </a:r>
            <a:r>
              <a:rPr lang="en-US" b="1" dirty="0"/>
              <a:t>customizable formatting options</a:t>
            </a:r>
            <a:r>
              <a:rPr lang="en-US" dirty="0"/>
              <a:t>, allowing developers to tailor indentation, spacing, capitalization, and other style preferences to match organizational coding standards or personal workflows. This helps standardize SQL code across projects and reduces the effort required for manual formatting during development and code reviews.</a:t>
            </a:r>
          </a:p>
          <a:p>
            <a:pPr algn="just"/>
            <a:r>
              <a:rPr lang="en-US" dirty="0"/>
              <a:t>For database developers and administrators, SQL Formatter improves productivity by simplifying SQL editing and promoting consistent coding practices. It complements the growing set of SQL development tools in Visual Studio Code, making it easier to write, review, and maintain high-quality SQL scripts.</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Azure SQL Database provisioning in MSSQL extension</a:t>
            </a:r>
            <a:endParaRPr lang="en-US" sz="1000" dirty="0"/>
          </a:p>
          <a:p>
            <a:pPr algn="just"/>
            <a:r>
              <a:rPr lang="en-US" sz="1000" b="1" dirty="0"/>
              <a:t>Azure SQL Database provisioning</a:t>
            </a:r>
            <a:r>
              <a:rPr lang="en-US" sz="1000" dirty="0"/>
              <a:t> is now </a:t>
            </a:r>
            <a:r>
              <a:rPr lang="en-US" sz="1000" b="1" dirty="0"/>
              <a:t>generally available</a:t>
            </a:r>
            <a:r>
              <a:rPr lang="en-US" sz="1000" dirty="0"/>
              <a:t> in the </a:t>
            </a:r>
            <a:r>
              <a:rPr lang="en-US" sz="1000" b="1" dirty="0"/>
              <a:t>Visual Studio Code MSSQL extension</a:t>
            </a:r>
            <a:r>
              <a:rPr lang="en-US" sz="1000" dirty="0"/>
              <a:t>, enabling developers to create and connect to a fully managed </a:t>
            </a:r>
            <a:r>
              <a:rPr lang="en-US" sz="1000" b="1" dirty="0"/>
              <a:t>Azure SQL Database</a:t>
            </a:r>
            <a:r>
              <a:rPr lang="en-US" sz="1000" dirty="0"/>
              <a:t> directly from their editor, including support for the free tier. The feature streamlines the setup process, allowing developers to provision cloud databases without leaving Visual Studio Code.</a:t>
            </a:r>
          </a:p>
          <a:p>
            <a:pPr algn="just"/>
            <a:r>
              <a:rPr lang="en-US" sz="1000" dirty="0"/>
              <a:t>The GA release also introduces </a:t>
            </a:r>
            <a:r>
              <a:rPr lang="en-US" sz="1000" b="1" dirty="0"/>
              <a:t>ready-to-use ARM, Bicep, and Terraform templates</a:t>
            </a:r>
            <a:r>
              <a:rPr lang="en-US" sz="1000" dirty="0"/>
              <a:t>, making it easier to automate and standardize Azure SQL deployments using Infrastructure-as-Code. These templates support repeatable, consistent deployments across development, testing, and production environments.</a:t>
            </a:r>
          </a:p>
          <a:p>
            <a:pPr algn="just"/>
            <a:r>
              <a:rPr lang="en-US" sz="1000" dirty="0"/>
              <a:t>By combining in-editor provisioning with Infrastructure-as-Code support, the MSSQL extension accelerates application development and database onboarding while simplifying cloud deployment and automation workflows for developers and platform teams.</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 (General Available)</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Azure SQL updates for mid-August 2026</a:t>
            </a:r>
            <a:endParaRPr lang="en-US" dirty="0"/>
          </a:p>
          <a:p>
            <a:pPr algn="just"/>
            <a:r>
              <a:rPr lang="en-US" dirty="0"/>
              <a:t>The </a:t>
            </a:r>
            <a:r>
              <a:rPr lang="en-US" b="1" dirty="0"/>
              <a:t>Azure SQL extension for Visual Studio Code</a:t>
            </a:r>
            <a:r>
              <a:rPr lang="en-US" dirty="0"/>
              <a:t> now includes </a:t>
            </a:r>
            <a:r>
              <a:rPr lang="en-US" b="1" dirty="0"/>
              <a:t>Shortcut Configuration</a:t>
            </a:r>
            <a:r>
              <a:rPr lang="en-US" dirty="0"/>
              <a:t>, allowing developers to customize keyboard shortcuts for </a:t>
            </a:r>
            <a:r>
              <a:rPr lang="en-US" b="1" dirty="0"/>
              <a:t>Quick Queries</a:t>
            </a:r>
            <a:r>
              <a:rPr lang="en-US" dirty="0"/>
              <a:t>, the </a:t>
            </a:r>
            <a:r>
              <a:rPr lang="en-US" b="1" dirty="0"/>
              <a:t>Results Grid</a:t>
            </a:r>
            <a:r>
              <a:rPr lang="en-US" dirty="0"/>
              <a:t>, and the </a:t>
            </a:r>
            <a:r>
              <a:rPr lang="en-US" b="1" dirty="0"/>
              <a:t>Query Editor</a:t>
            </a:r>
            <a:r>
              <a:rPr lang="en-US" dirty="0"/>
              <a:t> directly within the editor. This eliminates the need to switch between menus or settings, making common database tasks faster and more efficient.</a:t>
            </a:r>
          </a:p>
          <a:p>
            <a:pPr algn="just"/>
            <a:r>
              <a:rPr lang="en-US" dirty="0"/>
              <a:t>By enabling personalized keyboard shortcuts, the feature helps developers streamline SQL development workflows, improve productivity, and tailor the editor to their preferred working style. It is particularly beneficial for users who frequently execute queries and navigate large SQL projects, providing a more efficient and customizable development experience.</a:t>
            </a:r>
          </a:p>
          <a:p>
            <a:pPr algn="just"/>
            <a:endParaRPr lang="en-US" dirty="0"/>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Generally Available: Dragon Copilot Physician Apps and Agents on Microsoft Marketplace</a:t>
            </a:r>
            <a:endParaRPr lang="en-US" dirty="0"/>
          </a:p>
          <a:p>
            <a:pPr algn="just"/>
            <a:r>
              <a:rPr lang="en-US" b="1" dirty="0"/>
              <a:t>Dragon Copilot AI Apps and Agents</a:t>
            </a:r>
            <a:r>
              <a:rPr lang="en-US" dirty="0"/>
              <a:t> are now available through </a:t>
            </a:r>
            <a:r>
              <a:rPr lang="en-US" b="1" dirty="0"/>
              <a:t>Microsoft Marketplace</a:t>
            </a:r>
            <a:r>
              <a:rPr lang="en-US" dirty="0"/>
              <a:t>, providing healthcare organizations in the </a:t>
            </a:r>
            <a:r>
              <a:rPr lang="en-US" b="1" dirty="0"/>
              <a:t>United States</a:t>
            </a:r>
            <a:r>
              <a:rPr lang="en-US" dirty="0"/>
              <a:t> with a new way to discover, evaluate, and purchase AI-powered clinical solutions. Customers can now procure Dragon Copilot applications directly through Microsoft, simplifying purchasing and consolidating billing without onboarding additional vendors.</a:t>
            </a:r>
          </a:p>
          <a:p>
            <a:pPr algn="just"/>
            <a:r>
              <a:rPr lang="en-US" dirty="0"/>
              <a:t>Dragon Copilot applications leverage AI to enhance clinical workflows by assisting with </a:t>
            </a:r>
            <a:r>
              <a:rPr lang="en-US" b="1" dirty="0"/>
              <a:t>medical documentation, information retrieval, summarization, task automation, and data analysis</a:t>
            </a:r>
            <a:r>
              <a:rPr lang="en-US" dirty="0"/>
              <a:t>. These capabilities help improve clinician productivity, reduce administrative burden, and support better patient care while operating on Microsoft's secure healthcare platform.</a:t>
            </a:r>
          </a:p>
          <a:p>
            <a:pPr algn="just"/>
            <a:r>
              <a:rPr lang="en-US" dirty="0"/>
              <a:t>For healthcare organizations, Microsoft Marketplace integration streamlines procurement and deployment of Dragon Copilot solutions while enabling faster adoption of AI-driven clinical assistants. This reinforces Microsoft's strategy of expanding enterprise AI distribution through Marketplace and accelerating the adoption of industry-specific AI solutions.</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F9B1C-792B-99EC-B7CD-0AF8D296B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solidFill>
                  <a:schemeClr val="bg1"/>
                </a:solidFill>
              </a:rPr>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6D8C-1CF7-CFC9-5082-9B054DB0E4B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CBCE21E-6E97-4575-224A-07A9BE04CC1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13ABE3E-5CF4-60DA-7E03-258003FB6E61}"/>
              </a:ext>
            </a:extLst>
          </p:cNvPr>
          <p:cNvSpPr>
            <a:spLocks noGrp="1"/>
          </p:cNvSpPr>
          <p:nvPr>
            <p:ph type="title"/>
          </p:nvPr>
        </p:nvSpPr>
        <p:spPr/>
        <p:txBody>
          <a:bodyPr/>
          <a:lstStyle/>
          <a:p>
            <a:r>
              <a:rPr lang="en-US" sz="1800" dirty="0"/>
              <a:t>DevOps &amp; IaC &amp; Automation (General Available)</a:t>
            </a:r>
          </a:p>
        </p:txBody>
      </p:sp>
      <p:sp>
        <p:nvSpPr>
          <p:cNvPr id="13" name="Text Placeholder 12">
            <a:extLst>
              <a:ext uri="{FF2B5EF4-FFF2-40B4-BE49-F238E27FC236}">
                <a16:creationId xmlns:a16="http://schemas.microsoft.com/office/drawing/2014/main" id="{F39435DB-59FA-A2E5-622B-52C33AFF770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7C64A-30C7-BF38-06B4-45C2009206FC}"/>
              </a:ext>
            </a:extLst>
          </p:cNvPr>
          <p:cNvSpPr>
            <a:spLocks noGrp="1"/>
          </p:cNvSpPr>
          <p:nvPr>
            <p:ph type="body" sz="quarter" idx="16"/>
          </p:nvPr>
        </p:nvSpPr>
        <p:spPr/>
        <p:txBody>
          <a:bodyPr/>
          <a:lstStyle/>
          <a:p>
            <a:pPr algn="just"/>
            <a:r>
              <a:rPr lang="en-US" dirty="0">
                <a:hlinkClick r:id="rId2"/>
              </a:rPr>
              <a:t>[Now Generally Available] What-If for Azure Deployment Stacks</a:t>
            </a:r>
            <a:endParaRPr lang="en-US" dirty="0"/>
          </a:p>
          <a:p>
            <a:pPr algn="just"/>
            <a:r>
              <a:rPr lang="en-US" b="1" dirty="0"/>
              <a:t>What-If</a:t>
            </a:r>
            <a:r>
              <a:rPr lang="en-US" dirty="0"/>
              <a:t> support for </a:t>
            </a:r>
            <a:r>
              <a:rPr lang="en-US" b="1" dirty="0"/>
              <a:t>Azure Deployment Stacks</a:t>
            </a:r>
            <a:r>
              <a:rPr lang="en-US" dirty="0"/>
              <a:t> is now </a:t>
            </a:r>
            <a:r>
              <a:rPr lang="en-US" b="1" dirty="0"/>
              <a:t>generally available</a:t>
            </a:r>
            <a:r>
              <a:rPr lang="en-US" dirty="0"/>
              <a:t>, enabling organizations to preview infrastructure changes before applying updates to deployment stacks. The feature analyzes the proposed deployment and shows which Azure resources will be </a:t>
            </a:r>
            <a:r>
              <a:rPr lang="en-US" b="1" dirty="0"/>
              <a:t>created, modified, or deleted</a:t>
            </a:r>
            <a:r>
              <a:rPr lang="en-US" dirty="0"/>
              <a:t>, allowing administrators to validate the impact before executing the deployment.</a:t>
            </a:r>
          </a:p>
          <a:p>
            <a:pPr algn="just"/>
            <a:r>
              <a:rPr lang="en-US" dirty="0"/>
              <a:t>By providing a pre-deployment view of infrastructure changes, What-If helps platform teams detect unintended modifications, reduce deployment risks, and improve change management for Infrastructure-as-Code (IaC) environments. This is particularly valuable when managing large-scale Azure environments with </a:t>
            </a:r>
            <a:r>
              <a:rPr lang="en-US" b="1" dirty="0"/>
              <a:t>Bicep, ARM templates, and Deployment Stacks</a:t>
            </a:r>
            <a:r>
              <a:rPr lang="en-US" dirty="0"/>
              <a:t>, where a single deployment can affect multiple interconnected resources.</a:t>
            </a:r>
          </a:p>
          <a:p>
            <a:pPr algn="just"/>
            <a:r>
              <a:rPr lang="en-US" dirty="0"/>
              <a:t>For enterprise platform teams, What-If enhances governance, operational confidence, and deployment safety by enabling predictable, auditable infrastructure changes. It supports safer production deployments while strengthening Azure's Infrastructure-as-Code capabilities for standardized and controlled cloud operations.</a:t>
            </a:r>
          </a:p>
          <a:p>
            <a:pPr algn="just"/>
            <a:endParaRPr lang="en-US" dirty="0"/>
          </a:p>
        </p:txBody>
      </p:sp>
    </p:spTree>
    <p:extLst>
      <p:ext uri="{BB962C8B-B14F-4D97-AF65-F5344CB8AC3E}">
        <p14:creationId xmlns:p14="http://schemas.microsoft.com/office/powerpoint/2010/main" val="108268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909</TotalTime>
  <Words>2703</Words>
  <Application>Microsoft Office PowerPoint</Application>
  <PresentationFormat>On-screen Show (16:9)</PresentationFormat>
  <Paragraphs>86</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Human Sans</vt:lpstr>
      <vt:lpstr>Human Sans Regular</vt:lpstr>
      <vt:lpstr>Continuum Theme</vt:lpstr>
      <vt:lpstr>Azure Times #220</vt:lpstr>
      <vt:lpstr>PowerPoint Presentation</vt:lpstr>
      <vt:lpstr>Networking Updates (Preview)</vt:lpstr>
      <vt:lpstr>Networking Updates (General Available)</vt:lpstr>
      <vt:lpstr>PowerPoint Presentation</vt:lpstr>
      <vt:lpstr>Management &amp; Governance Updates (General Available)</vt:lpstr>
      <vt:lpstr>PowerPoint Presentation</vt:lpstr>
      <vt:lpstr>Compute Updates (Preview)</vt:lpstr>
      <vt:lpstr>Compute Updates (General Available)</vt:lpstr>
      <vt:lpstr>Compute Updates (General Available)</vt:lpstr>
      <vt:lpstr>PowerPoint Presentation</vt:lpstr>
      <vt:lpstr>Databases Updates (Preview)</vt:lpstr>
      <vt:lpstr>Databases Updates (General Available)</vt:lpstr>
      <vt:lpstr>PowerPoint Presentation</vt:lpstr>
      <vt:lpstr>ML &amp; AI &amp; IOT Updates (General Available)</vt:lpstr>
      <vt:lpstr>PowerPoint Presentation</vt:lpstr>
      <vt:lpstr>DevOps &amp; IaC &amp; Automation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120</cp:revision>
  <dcterms:created xsi:type="dcterms:W3CDTF">2018-01-26T19:23:30Z</dcterms:created>
  <dcterms:modified xsi:type="dcterms:W3CDTF">2026-08-22T11:04:02Z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