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9"/>
  </p:notesMasterIdLst>
  <p:handoutMasterIdLst>
    <p:handoutMasterId r:id="rId30"/>
  </p:handoutMasterIdLst>
  <p:sldIdLst>
    <p:sldId id="2142532340" r:id="rId5"/>
    <p:sldId id="2146847045" r:id="rId6"/>
    <p:sldId id="10657" r:id="rId7"/>
    <p:sldId id="2146847046" r:id="rId8"/>
    <p:sldId id="2146847089" r:id="rId9"/>
    <p:sldId id="2146847048" r:id="rId10"/>
    <p:sldId id="2146847049" r:id="rId11"/>
    <p:sldId id="2146847050" r:id="rId12"/>
    <p:sldId id="2146847096" r:id="rId13"/>
    <p:sldId id="2146847134" r:id="rId14"/>
    <p:sldId id="2146847136" r:id="rId15"/>
    <p:sldId id="2146847052" r:id="rId16"/>
    <p:sldId id="2146847100" r:id="rId17"/>
    <p:sldId id="2146847054" r:id="rId18"/>
    <p:sldId id="2146847103" r:id="rId19"/>
    <p:sldId id="2146847141" r:id="rId20"/>
    <p:sldId id="2146847142" r:id="rId21"/>
    <p:sldId id="2146847056" r:id="rId22"/>
    <p:sldId id="2146847107" r:id="rId23"/>
    <p:sldId id="2146847119" r:id="rId24"/>
    <p:sldId id="2146847150" r:id="rId25"/>
    <p:sldId id="2146847085" r:id="rId26"/>
    <p:sldId id="2146847084" r:id="rId27"/>
    <p:sldId id="2146847064" r:id="rId2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Lst>
        </p14:section>
        <p14:section name="Compute" id="{05AA80BB-8802-49AB-8336-A884227CE2F7}">
          <p14:sldIdLst>
            <p14:sldId id="2146847050"/>
            <p14:sldId id="2146847096"/>
            <p14:sldId id="2146847134"/>
            <p14:sldId id="2146847136"/>
          </p14:sldIdLst>
        </p14:section>
        <p14:section name="Storage &amp; Data" id="{1F159046-CE0A-45BC-9D5B-6E6C95980F78}">
          <p14:sldIdLst>
            <p14:sldId id="2146847052"/>
            <p14:sldId id="2146847100"/>
          </p14:sldIdLst>
        </p14:section>
        <p14:section name="Databases" id="{AEAFAE72-AD56-48F3-926B-38BAE269038F}">
          <p14:sldIdLst>
            <p14:sldId id="2146847054"/>
            <p14:sldId id="2146847103"/>
            <p14:sldId id="2146847141"/>
            <p14:sldId id="2146847142"/>
          </p14:sldIdLst>
        </p14:section>
        <p14:section name="Integration" id="{ACBD46A3-6F1C-451B-A154-0A056E0DEFF6}">
          <p14:sldIdLst>
            <p14:sldId id="2146847056"/>
            <p14:sldId id="2146847107"/>
          </p14:sldIdLst>
        </p14:section>
        <p14:section name="ML &amp; AI &amp; IOT" id="{F4E1EAF1-55E9-4CA4-8ADC-28B69C1D66D2}">
          <p14:sldIdLst>
            <p14:sldId id="2146847119"/>
            <p14:sldId id="214684715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88" d="100"/>
          <a:sy n="188" d="100"/>
        </p:scale>
        <p:origin x="3558" y="372"/>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2/28/2026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57416"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57694"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52808" TargetMode="External"/><Relationship Id="rId2" Type="http://schemas.openxmlformats.org/officeDocument/2006/relationships/hyperlink" Target="https://techcommunity.microsoft.com/blog/azurearcblog/announcing-public-preview-simplified-machine-provisioning-for-azure-local/4496811"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57897" TargetMode="External"/><Relationship Id="rId2" Type="http://schemas.openxmlformats.org/officeDocument/2006/relationships/hyperlink" Target="https://azure.microsoft.com/ru-ru/updates?id=558051"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techcommunity.microsoft.com/blog/azuredataexplorer/introducing-data-series-colors-tell-clearer-stories-with-adx-dashboards/4495831"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57224" TargetMode="External"/><Relationship Id="rId2" Type="http://schemas.openxmlformats.org/officeDocument/2006/relationships/hyperlink" Target="https://azure.microsoft.com/ru-ru/updates?id=555839"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azure.microsoft.com/ru-ru/updates?id=558078"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ru-ru/updates?id=557522" TargetMode="External"/><Relationship Id="rId2" Type="http://schemas.openxmlformats.org/officeDocument/2006/relationships/hyperlink" Target="https://azure.microsoft.com/ru-ru/updates?id=557532"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57517" TargetMode="External"/><Relationship Id="rId2" Type="http://schemas.openxmlformats.org/officeDocument/2006/relationships/hyperlink" Target="https://techcommunity.microsoft.com/blog/adforpostgresql/dashboards-with-grafana---now-in-azure-portal-for-postgresql/4497607" TargetMode="Externa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hyperlink" Target="https://techcommunity.microsoft.com/blog/oracleonazureblog/oracle-databaseazure-is-now-generally-available-in-west-europe-amsterdam/4497632"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techcommunity.microsoft.com/blog/integrationsonazureblog/new-azure-api-management-service-limits/4497574"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techcommunity.microsoft.com/blog/appsonazureblog/azure-container-registry-premium-sku-now-supports-100-tib-storage/4497651"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#195</a:t>
            </a:r>
          </a:p>
        </p:txBody>
      </p:sp>
      <p:sp>
        <p:nvSpPr>
          <p:cNvPr id="4" name="Text Placeholder 3"/>
          <p:cNvSpPr>
            <a:spLocks noGrp="1"/>
          </p:cNvSpPr>
          <p:nvPr>
            <p:ph type="body" sz="quarter" idx="11"/>
          </p:nvPr>
        </p:nvSpPr>
        <p:spPr/>
        <p:txBody>
          <a:bodyPr/>
          <a:lstStyle/>
          <a:p>
            <a:r>
              <a:rPr lang="en-US" spc="300" dirty="0"/>
              <a:t>March 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1461400"/>
          </a:xfrm>
        </p:spPr>
        <p:txBody>
          <a:bodyPr/>
          <a:lstStyle/>
          <a:p>
            <a:pPr algn="just"/>
            <a:r>
              <a:rPr lang="en-US" dirty="0">
                <a:hlinkClick r:id="rId2"/>
              </a:rPr>
              <a:t>Public Preview: WAF Insights for Application Gateway</a:t>
            </a:r>
            <a:endParaRPr lang="en-US" dirty="0"/>
          </a:p>
          <a:p>
            <a:pPr algn="just"/>
            <a:r>
              <a:rPr lang="en-US" dirty="0"/>
              <a:t>Announcing the public preview of Application Gateway WAF Insights. Azure Application Gateway WAF now offers WAF Insights, providing an interactive view of logs and metrics. </a:t>
            </a:r>
          </a:p>
          <a:p>
            <a:pPr algn="just"/>
            <a:r>
              <a:rPr lang="en-US" dirty="0"/>
              <a:t>WAF Insights enables quick investigation of blocked requests, analysis of attack patterns, and easy access to details like rule IDs and client IPs. Enhanced filters and visualizations make troubleshooting more efficient and help identify false positives, streamlining WAF tuning. </a:t>
            </a:r>
          </a:p>
        </p:txBody>
      </p:sp>
      <p:pic>
        <p:nvPicPr>
          <p:cNvPr id="1026" name="Picture 2" descr="Screenshot of the monitor tab of the WAF insights dashboard.">
            <a:extLst>
              <a:ext uri="{FF2B5EF4-FFF2-40B4-BE49-F238E27FC236}">
                <a16:creationId xmlns:a16="http://schemas.microsoft.com/office/drawing/2014/main" id="{FED12282-18D6-308A-38AF-CCF0CD3015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8040" y="2316480"/>
            <a:ext cx="283845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2"/>
              </a:rPr>
              <a:t>Public Preview: Restrict usage of user delegation SAS to an Entra ID identity</a:t>
            </a:r>
            <a:endParaRPr lang="en-US" dirty="0"/>
          </a:p>
          <a:p>
            <a:pPr algn="just"/>
            <a:r>
              <a:rPr lang="en-US" dirty="0"/>
              <a:t>MS announced the addition of enhanced secure authentication in Azure Storage that combines the flexibility of user-delegation shared access signature (SAS) with the user-bound access of Entra ID. User-bound user delegation SAS is now in preview for all regions. </a:t>
            </a:r>
          </a:p>
          <a:p>
            <a:pPr algn="just"/>
            <a:r>
              <a:rPr lang="en-US" dirty="0"/>
              <a:t>User delegation SAS is an existing feature that allows users to create secure SAS tokens that are tied to the delegator, meaning the delegator must verify their identity with Entra to create the token. The resulting token can be traced to the delegator and can only be valid for up to 7 days. This feature is an extension of user delegation (UD) SAS, which is already generally available for Azure Blobs and in public preview for Azure Files, Azure Tables, and Azure Queues. User-bound user delegation SAS allows users to create a more secure SAS token than account SAS, service SAS, or normal user delegation SAS by restricting the usage of the SAS token to an end user identity. This will help enforce that the user delegated SAS can only be used by intended users. </a:t>
            </a:r>
          </a:p>
          <a:p>
            <a:r>
              <a:rPr lang="en-US" dirty="0"/>
              <a:t>There is no additional cost to use user-bound user delegation SAS.</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1"/>
            <a:ext cx="4365038" cy="2457080"/>
          </a:xfrm>
        </p:spPr>
        <p:txBody>
          <a:bodyPr/>
          <a:lstStyle/>
          <a:p>
            <a:pPr algn="just"/>
            <a:r>
              <a:rPr lang="en-US" sz="1000" dirty="0">
                <a:hlinkClick r:id="rId2"/>
              </a:rPr>
              <a:t>Announcing Public Preview: Simplified Machine Provisioning for Azure Local</a:t>
            </a:r>
            <a:endParaRPr lang="en-US" sz="1000" dirty="0"/>
          </a:p>
          <a:p>
            <a:pPr algn="just"/>
            <a:r>
              <a:rPr lang="en-US" sz="1000" dirty="0"/>
              <a:t>A new way to provision Azure Local hardware with minimal onsite interaction, while maintaining centralized control through Azure. This new approach enables customers to provision hardware by racking, powering on, and letting Azure do the rest.</a:t>
            </a:r>
          </a:p>
          <a:p>
            <a:pPr algn="just"/>
            <a:r>
              <a:rPr lang="en-US" sz="1000" dirty="0"/>
              <a:t>Simplified machine provisioning shifts configuration to Azure, reducing the need for technical expertise on-site.</a:t>
            </a:r>
          </a:p>
          <a:p>
            <a:pPr algn="just"/>
            <a:r>
              <a:rPr lang="en-US" sz="1000" dirty="0"/>
              <a:t>Instead of manually configuring each server locally, IT teams can now:</a:t>
            </a:r>
          </a:p>
          <a:p>
            <a:pPr marL="171450" indent="-171450" algn="just">
              <a:buFont typeface="Arial" panose="020B0604020202020204" pitchFamily="34" charset="0"/>
              <a:buChar char="•"/>
            </a:pPr>
            <a:r>
              <a:rPr lang="en-US" sz="1000" dirty="0"/>
              <a:t>Define provisioning configuration centrally in Azure</a:t>
            </a:r>
          </a:p>
          <a:p>
            <a:pPr marL="171450" indent="-171450" algn="just">
              <a:buFont typeface="Arial" panose="020B0604020202020204" pitchFamily="34" charset="0"/>
              <a:buChar char="•"/>
            </a:pPr>
            <a:r>
              <a:rPr lang="en-US" sz="1000" dirty="0"/>
              <a:t>Securely complete provisioning remotely with minimal steps</a:t>
            </a:r>
          </a:p>
          <a:p>
            <a:pPr marL="171450" indent="-171450" algn="just">
              <a:buFont typeface="Arial" panose="020B0604020202020204" pitchFamily="34" charset="0"/>
              <a:buChar char="•"/>
            </a:pPr>
            <a:r>
              <a:rPr lang="en-US" sz="1000" dirty="0"/>
              <a:t>Automate provisioning workflows using ARM templates and ensure consistency across sites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3"/>
              </a:rPr>
              <a:t>Public Preview: Secure ingestion and pod placement for Azure Monitor pipeline</a:t>
            </a:r>
            <a:endParaRPr lang="en-US" dirty="0"/>
          </a:p>
          <a:p>
            <a:r>
              <a:rPr lang="en-US" dirty="0"/>
              <a:t>MS announced several capabilities in public preview with the Azure Monitor pipeline. </a:t>
            </a:r>
          </a:p>
          <a:p>
            <a:pPr marL="171450" indent="-171450">
              <a:buFont typeface="Arial" panose="020B0604020202020204" pitchFamily="34" charset="0"/>
              <a:buChar char="•"/>
            </a:pPr>
            <a:r>
              <a:rPr lang="en-US" dirty="0"/>
              <a:t>Secure Ingress to Azure Monitor pipeline from external endpoints (TLS/</a:t>
            </a:r>
            <a:r>
              <a:rPr lang="en-US" dirty="0" err="1"/>
              <a:t>mTLS</a:t>
            </a:r>
            <a:r>
              <a:rPr lang="en-US" dirty="0"/>
              <a:t>) with Bring Your Own Certificates: Monitor pipeline supports both TLS and mutual TLS (</a:t>
            </a:r>
            <a:r>
              <a:rPr lang="en-US" dirty="0" err="1"/>
              <a:t>mTLS</a:t>
            </a:r>
            <a:r>
              <a:rPr lang="en-US" dirty="0"/>
              <a:t>) for TCP-based receivers, allowing customers to:  </a:t>
            </a:r>
          </a:p>
          <a:p>
            <a:pPr marL="514350" lvl="2" indent="-171450">
              <a:buFont typeface="Arial" panose="020B0604020202020204" pitchFamily="34" charset="0"/>
              <a:buChar char="•"/>
              <a:tabLst>
                <a:tab pos="2438400" algn="l"/>
              </a:tabLst>
            </a:pPr>
            <a:r>
              <a:rPr lang="en-US" sz="1000" dirty="0">
                <a:latin typeface="+mj-lt"/>
              </a:rPr>
              <a:t>Configure </a:t>
            </a:r>
            <a:r>
              <a:rPr lang="en-US" sz="1000" dirty="0" err="1">
                <a:latin typeface="+mj-lt"/>
              </a:rPr>
              <a:t>mTLS</a:t>
            </a:r>
            <a:r>
              <a:rPr lang="en-US" sz="1000" dirty="0">
                <a:latin typeface="+mj-lt"/>
              </a:rPr>
              <a:t> with their own certificates for client and server authentication  </a:t>
            </a:r>
          </a:p>
          <a:p>
            <a:pPr marL="514350" lvl="2" indent="-171450">
              <a:buFont typeface="Arial" panose="020B0604020202020204" pitchFamily="34" charset="0"/>
              <a:buChar char="•"/>
              <a:tabLst>
                <a:tab pos="2438400" algn="l"/>
              </a:tabLst>
            </a:pPr>
            <a:r>
              <a:rPr lang="en-US" sz="1000" dirty="0">
                <a:latin typeface="+mj-lt"/>
              </a:rPr>
              <a:t>Configure TLS with their own server certificates and client CA certificate </a:t>
            </a:r>
          </a:p>
          <a:p>
            <a:pPr marL="171450" indent="-171450">
              <a:buFont typeface="Arial" panose="020B0604020202020204" pitchFamily="34" charset="0"/>
              <a:buChar char="•"/>
            </a:pPr>
            <a:r>
              <a:rPr lang="en-US" dirty="0"/>
              <a:t>Pod placement: Azure Monitor pipeline provides native controls for managing how Azure Monitor pipeline instances are scheduled across Kubernetes cluster nodes. </a:t>
            </a:r>
          </a:p>
          <a:p>
            <a:pPr marL="514350" lvl="2" indent="-171450">
              <a:buFont typeface="Arial" panose="020B0604020202020204" pitchFamily="34" charset="0"/>
              <a:buChar char="•"/>
              <a:tabLst>
                <a:tab pos="2438400" algn="l"/>
              </a:tabLst>
            </a:pPr>
            <a:r>
              <a:rPr lang="en-US" sz="1000" dirty="0">
                <a:latin typeface="+mj-lt"/>
              </a:rPr>
              <a:t>Target specific nodes based on their capabilities (e.g., high-resource nodes, specific zones)  </a:t>
            </a:r>
          </a:p>
          <a:p>
            <a:pPr marL="514350" lvl="2" indent="-171450">
              <a:buFont typeface="Arial" panose="020B0604020202020204" pitchFamily="34" charset="0"/>
              <a:buChar char="•"/>
              <a:tabLst>
                <a:tab pos="2438400" algn="l"/>
              </a:tabLst>
            </a:pPr>
            <a:r>
              <a:rPr lang="en-US" sz="1000" dirty="0">
                <a:latin typeface="+mj-lt"/>
              </a:rPr>
              <a:t>Control instance distribution to prevent resource contention  </a:t>
            </a:r>
          </a:p>
          <a:p>
            <a:pPr marL="514350" lvl="2" indent="-171450">
              <a:buFont typeface="Arial" panose="020B0604020202020204" pitchFamily="34" charset="0"/>
              <a:buChar char="•"/>
              <a:tabLst>
                <a:tab pos="2438400" algn="l"/>
              </a:tabLst>
            </a:pPr>
            <a:r>
              <a:rPr lang="en-US" sz="1000" dirty="0">
                <a:latin typeface="+mj-lt"/>
              </a:rPr>
              <a:t>Enforce isolation policies for high-scale deployments </a:t>
            </a:r>
          </a:p>
          <a:p>
            <a:endParaRPr lang="en-US" dirty="0"/>
          </a:p>
        </p:txBody>
      </p:sp>
      <p:pic>
        <p:nvPicPr>
          <p:cNvPr id="3" name="Picture 2">
            <a:extLst>
              <a:ext uri="{FF2B5EF4-FFF2-40B4-BE49-F238E27FC236}">
                <a16:creationId xmlns:a16="http://schemas.microsoft.com/office/drawing/2014/main" id="{8D8E96D1-9626-1B98-104B-0BEC109F458B}"/>
              </a:ext>
            </a:extLst>
          </p:cNvPr>
          <p:cNvPicPr>
            <a:picLocks noChangeAspect="1"/>
          </p:cNvPicPr>
          <p:nvPr/>
        </p:nvPicPr>
        <p:blipFill>
          <a:blip r:embed="rId4"/>
          <a:stretch>
            <a:fillRect/>
          </a:stretch>
        </p:blipFill>
        <p:spPr>
          <a:xfrm>
            <a:off x="4681516" y="3312161"/>
            <a:ext cx="4010364" cy="1369337"/>
          </a:xfrm>
          <a:prstGeom prst="rect">
            <a:avLst/>
          </a:prstGeom>
        </p:spPr>
      </p:pic>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Generally Available: DCesv6, DCedsv6, ECesv6, and ECedsv6 confidential VMs</a:t>
            </a:r>
            <a:endParaRPr lang="en-US" sz="1000" dirty="0"/>
          </a:p>
          <a:p>
            <a:pPr algn="just"/>
            <a:r>
              <a:rPr lang="en-US" sz="1000" dirty="0"/>
              <a:t>The DCesv6, DCedsv6, ECesv6, and ECedsv6 series are Azure’s next generation of confidential Virtual Machines (VMs) based on 5th Gen Intel® Xeon® processors with Intel® Trust Domain Extensions (Intel® TDX). These new confidential VMs help organizations to move their most sensitive workloads to the cloud—without requiring any application code changes. Available today for production deployments across both general-purpose (DCesv6, DCedsv6) and memory-optimized (ECesv6, ECedsv6) VM families, this release delivers a powerful combination of performance, scalability, and hardware-enforced security.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716670"/>
          </a:xfrm>
        </p:spPr>
        <p:txBody>
          <a:bodyPr/>
          <a:lstStyle/>
          <a:p>
            <a:pPr algn="just"/>
            <a:r>
              <a:rPr lang="en-US" dirty="0">
                <a:hlinkClick r:id="rId3"/>
              </a:rPr>
              <a:t>Generally Available: Azure Red Hat OpenShift is now available in Malaysia West, New Zealand North, and Mexico Central</a:t>
            </a:r>
            <a:endParaRPr lang="en-US" dirty="0"/>
          </a:p>
          <a:p>
            <a:pPr algn="just"/>
            <a:r>
              <a:rPr lang="en-US" dirty="0"/>
              <a:t>Azure Red Hat OpenShift is now generally available in three additional Azure regions: Malaysia West, New Zealand North, and Mexico Central.</a:t>
            </a:r>
          </a:p>
          <a:p>
            <a:pPr algn="just"/>
            <a:r>
              <a:rPr lang="en-US" dirty="0"/>
              <a:t>This expansion strengthens Azure Red Hat OpenShift’s presence across Asia Pacific and Latin America, enabling customers to deploy managed OpenShift clusters closer to their users and data to help reduce latency and support data residency and regional regulatory compliance requirements, while maintaining a consistent, enterprise-grade Kubernetes experience on Azure.</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1"/>
            <a:ext cx="3955312" cy="2121800"/>
          </a:xfrm>
        </p:spPr>
        <p:txBody>
          <a:bodyPr/>
          <a:lstStyle/>
          <a:p>
            <a:pPr algn="just"/>
            <a:r>
              <a:rPr lang="en-US" dirty="0">
                <a:hlinkClick r:id="rId2"/>
              </a:rPr>
              <a:t>Introducing Data Series Colors: tell clearer stories with ADX Dashboards</a:t>
            </a:r>
            <a:endParaRPr lang="en-US" dirty="0"/>
          </a:p>
          <a:p>
            <a:pPr algn="just"/>
            <a:r>
              <a:rPr lang="en-US" dirty="0"/>
              <a:t>Until now, color assignments in ADX dashboards were largely automatic. While this worked for basic scenarios, it often fell short in operational and reporting use cases where color isn’t decoration - it’s meaning. MS introduced Data Series Colors, a new capability that gives editors direct control over how colors are applied to their visuals.</a:t>
            </a:r>
          </a:p>
          <a:p>
            <a:pPr algn="just"/>
            <a:r>
              <a:rPr lang="en-US" dirty="0"/>
              <a:t>With Data Series Colors, dashboard editors can now:</a:t>
            </a:r>
          </a:p>
          <a:p>
            <a:pPr marL="171450" indent="-171450" algn="just">
              <a:buFont typeface="Arial" panose="020B0604020202020204" pitchFamily="34" charset="0"/>
              <a:buChar char="•"/>
            </a:pPr>
            <a:r>
              <a:rPr lang="en-US" dirty="0"/>
              <a:t>Assign colors directly to each data series</a:t>
            </a:r>
          </a:p>
          <a:p>
            <a:pPr marL="171450" indent="-171450" algn="just">
              <a:buFont typeface="Arial" panose="020B0604020202020204" pitchFamily="34" charset="0"/>
              <a:buChar char="•"/>
            </a:pPr>
            <a:r>
              <a:rPr lang="en-US" dirty="0"/>
              <a:t>Override system defaults with intentional choices</a:t>
            </a:r>
          </a:p>
          <a:p>
            <a:pPr marL="171450" indent="-171450" algn="just">
              <a:buFont typeface="Arial" panose="020B0604020202020204" pitchFamily="34" charset="0"/>
              <a:buChar char="•"/>
            </a:pPr>
            <a:r>
              <a:rPr lang="en-US" dirty="0"/>
              <a:t>Maintain consistency across visuals and dashboards</a:t>
            </a:r>
          </a:p>
        </p:txBody>
      </p:sp>
      <p:pic>
        <p:nvPicPr>
          <p:cNvPr id="3" name="Picture 2">
            <a:extLst>
              <a:ext uri="{FF2B5EF4-FFF2-40B4-BE49-F238E27FC236}">
                <a16:creationId xmlns:a16="http://schemas.microsoft.com/office/drawing/2014/main" id="{CF305A00-53AD-6301-73C6-5167FF0CF92F}"/>
              </a:ext>
            </a:extLst>
          </p:cNvPr>
          <p:cNvPicPr>
            <a:picLocks noChangeAspect="1"/>
          </p:cNvPicPr>
          <p:nvPr/>
        </p:nvPicPr>
        <p:blipFill>
          <a:blip r:embed="rId3"/>
          <a:stretch>
            <a:fillRect/>
          </a:stretch>
        </p:blipFill>
        <p:spPr>
          <a:xfrm>
            <a:off x="484165" y="2976881"/>
            <a:ext cx="3672781" cy="1654724"/>
          </a:xfrm>
          <a:prstGeom prst="rect">
            <a:avLst/>
          </a:prstGeom>
        </p:spPr>
      </p:pic>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Retirement: Managed NGINX Ingress with Application Routing Add-on Retiring November 2026</a:t>
            </a:r>
            <a:endParaRPr lang="en-US" sz="1000" dirty="0"/>
          </a:p>
          <a:p>
            <a:pPr algn="just"/>
            <a:r>
              <a:rPr lang="en-US" sz="1000" dirty="0"/>
              <a:t>The upstream Ingress-NGINX project is being deprecated and will stop receiving updates after March 2026. Microsoft will continue providing critical security patches through 30 November 2026, after which the NGINX ingress controller will no longer be supported within the Application Routing add-on. Supported alternatives include Gateway API with Application Routing (in development), Application Gateway for Containers, and Istio Service Mesh</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Retirement: Windows Server Annual Channel (preview)</a:t>
            </a:r>
            <a:endParaRPr lang="en-US" dirty="0"/>
          </a:p>
          <a:p>
            <a:pPr algn="just"/>
            <a:r>
              <a:rPr lang="en-US" dirty="0"/>
              <a:t>Windows Server Annual Channel (Preview) on AKS will be retired on May 15, 2026, please transition to Long Term Servicing Channel (LTSC) by that date.  MS encourage to transition to Long Term Servicing Channel (LTSC) prior to the retirement date to experience the benefits of LTSC, including longer support cycles and increased stability.  </a:t>
            </a:r>
          </a:p>
          <a:p>
            <a:pPr algn="just"/>
            <a:r>
              <a:rPr lang="en-US" dirty="0"/>
              <a:t>From now to May 15, 2026 you can continue to use Windows Server Annual Channel (Preview) without disruption. On May 15, 2026, AKS will no longer produce new Windows Server Annual Channel node images or provide security patches. You will not be able to create new node pools with Windows Server Annual Channel. On May 15, 2027, AKS will remove all existing Windows Annual Channel node images, which will cause scaling and remediation (reimage and redeploy) operations to fail</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Generally available: Azure Premium SSD v2 Disk Storage is now available in a third Availability Zone in New Zealan North</a:t>
            </a:r>
            <a:endParaRPr lang="en-US" dirty="0"/>
          </a:p>
          <a:p>
            <a:pPr algn="just"/>
            <a:r>
              <a:rPr lang="en-US" dirty="0"/>
              <a:t>Azure Premium SSD v2 is now available in a third Availability Zone in New Zealand North.  </a:t>
            </a:r>
          </a:p>
          <a:p>
            <a:pPr algn="just"/>
            <a:r>
              <a:rPr lang="en-US" dirty="0"/>
              <a:t>Azure Premium SSD v2 disk, a next-generation general-purpose block storage option for Azure virtual machines, offers sub-millisecond latencies and exceptional price performance for IO-intensive workloads at a low cost. Premium SSD v2 is suited for a broad range of enterprise production scenarios, including SQL Server, Oracle, MariaDB, SAP, Cassandra, MongoDB, big data/analytics, and gaming on virtual machines or stateful containers.  </a:t>
            </a:r>
          </a:p>
          <a:p>
            <a:pPr algn="just"/>
            <a:endParaRPr lang="en-US" dirty="0"/>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Geo‑redundant backups for Premium SSD v2 in Azure Database for PostgreSQL</a:t>
            </a:r>
            <a:endParaRPr lang="en-US" sz="1000" dirty="0"/>
          </a:p>
          <a:p>
            <a:pPr algn="just"/>
            <a:r>
              <a:rPr lang="en-US" sz="1000" dirty="0"/>
              <a:t>It is now possible to configure geo‑redundant backups with Premium SSD v2 disks for Azure Database for PostgreSQL, giving an additional layer of disaster recovery for mission‑critical workloads. With this release, automated backups are securely stored in a paired Azure region, so you can restore flexible server in another region if an outage occurs. This update is especially valuable if you run regulated, business‑critical, or customer‑facing applications that require stronger resilience and data protection beyond a single region.</a:t>
            </a:r>
          </a:p>
          <a:p>
            <a:pPr algn="just"/>
            <a:r>
              <a:rPr lang="en-US" sz="1000" dirty="0"/>
              <a:t>By combining geo‑redundant backups with the performance and scalability benefits of Premium SSD v2 disks, you get high‑throughput storage along with improved recovery options, without having to manage or operate standby infrastructure in the secondary region.</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SQL updates for late-February 2026</a:t>
            </a:r>
            <a:endParaRPr lang="en-US" dirty="0"/>
          </a:p>
          <a:p>
            <a:pPr algn="just"/>
            <a:r>
              <a:rPr lang="en-US" dirty="0"/>
              <a:t>In late-February 2026, the following updates and enhancements were made to Azure SQL: </a:t>
            </a:r>
          </a:p>
          <a:p>
            <a:pPr marL="171450" indent="-171450" algn="just">
              <a:buFont typeface="Arial" panose="020B0604020202020204" pitchFamily="34" charset="0"/>
              <a:buChar char="•"/>
            </a:pPr>
            <a:r>
              <a:rPr lang="en-US" dirty="0"/>
              <a:t>Manage databases directly from the dialog using actions such as Name, Rename, and Drop.  </a:t>
            </a:r>
          </a:p>
          <a:p>
            <a:pPr marL="171450" indent="-171450" algn="just">
              <a:buFont typeface="Arial" panose="020B0604020202020204" pitchFamily="34" charset="0"/>
              <a:buChar char="•"/>
            </a:pPr>
            <a:r>
              <a:rPr lang="en-US" dirty="0"/>
              <a:t>Import a flat file to database in the MSSQL Extension for Visual Studio Code.  </a:t>
            </a:r>
          </a:p>
          <a:p>
            <a:pPr marL="171450" indent="-171450" algn="just">
              <a:buFont typeface="Arial" panose="020B0604020202020204" pitchFamily="34" charset="0"/>
              <a:buChar char="•"/>
            </a:pPr>
            <a:r>
              <a:rPr lang="en-US" dirty="0"/>
              <a:t>Database Backup dialog now provides options for backup type, destination, compression, encryption, and other advanced settings.  </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a:xfrm>
            <a:off x="4433776" y="855081"/>
            <a:ext cx="4365038" cy="1187080"/>
          </a:xfrm>
        </p:spPr>
        <p:txBody>
          <a:bodyPr/>
          <a:lstStyle/>
          <a:p>
            <a:r>
              <a:rPr lang="en-US" sz="1000" dirty="0">
                <a:hlinkClick r:id="rId2"/>
              </a:rPr>
              <a:t>Dashboards with Grafana - Now in Azure Portal for PostgreSQL</a:t>
            </a:r>
            <a:endParaRPr lang="en-US" sz="1000" dirty="0"/>
          </a:p>
          <a:p>
            <a:pPr algn="just"/>
            <a:r>
              <a:rPr lang="en-US" sz="1000" dirty="0"/>
              <a:t>MS announced that Azure Database for PostgreSQL users can now access prebuilt Grafana dashboards directly within the Azure portal - with no additional cost or configuration required. This integration eliminates the complexity of deploying and administering self-hosted or managed Grafana instances. Grafana’s powerful visualization capabilities are now embedded directly in the Azure experience</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Generally Available: Azure SQL updates for late-February 2026</a:t>
            </a:r>
            <a:endParaRPr lang="en-US" dirty="0"/>
          </a:p>
          <a:p>
            <a:pPr algn="just"/>
            <a:r>
              <a:rPr lang="en-US" dirty="0"/>
              <a:t>In late-February 2026, the following updates and enhancements were made to Azure SQL:  </a:t>
            </a:r>
          </a:p>
          <a:p>
            <a:pPr marL="171450" indent="-171450" algn="just">
              <a:buFont typeface="Arial" panose="020B0604020202020204" pitchFamily="34" charset="0"/>
              <a:buChar char="•"/>
            </a:pPr>
            <a:r>
              <a:rPr lang="en-US" dirty="0"/>
              <a:t>Introducing Search Database Objects in the MSSQL extension for Visual Studio Code. Instantly find tables, views, functions, and procedures with full scripting options across your SQL database. </a:t>
            </a:r>
          </a:p>
          <a:p>
            <a:pPr marL="171450" indent="-171450" algn="just">
              <a:buFont typeface="Arial" panose="020B0604020202020204" pitchFamily="34" charset="0"/>
              <a:buChar char="•"/>
            </a:pPr>
            <a:r>
              <a:rPr lang="en-US" dirty="0"/>
              <a:t>Import your settings and keyboard shortcuts from Azure Data Studio to the MSSQL Extension. </a:t>
            </a:r>
          </a:p>
          <a:p>
            <a:pPr algn="just"/>
            <a:endParaRPr lang="en-US" dirty="0"/>
          </a:p>
        </p:txBody>
      </p:sp>
      <p:pic>
        <p:nvPicPr>
          <p:cNvPr id="3" name="Picture 2">
            <a:extLst>
              <a:ext uri="{FF2B5EF4-FFF2-40B4-BE49-F238E27FC236}">
                <a16:creationId xmlns:a16="http://schemas.microsoft.com/office/drawing/2014/main" id="{62F30171-41B8-7CB2-4628-276DF4AEA5FD}"/>
              </a:ext>
            </a:extLst>
          </p:cNvPr>
          <p:cNvPicPr>
            <a:picLocks noChangeAspect="1"/>
          </p:cNvPicPr>
          <p:nvPr/>
        </p:nvPicPr>
        <p:blipFill>
          <a:blip r:embed="rId4"/>
          <a:stretch>
            <a:fillRect/>
          </a:stretch>
        </p:blipFill>
        <p:spPr>
          <a:xfrm>
            <a:off x="4681609" y="2211442"/>
            <a:ext cx="4117205" cy="1920032"/>
          </a:xfrm>
          <a:prstGeom prst="rect">
            <a:avLst/>
          </a:prstGeom>
        </p:spPr>
      </p:pic>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a:xfrm>
            <a:off x="342900" y="855081"/>
            <a:ext cx="3955312" cy="1568080"/>
          </a:xfrm>
        </p:spPr>
        <p:txBody>
          <a:bodyPr/>
          <a:lstStyle/>
          <a:p>
            <a:pPr algn="just"/>
            <a:r>
              <a:rPr lang="en-US" dirty="0">
                <a:hlinkClick r:id="rId2"/>
              </a:rPr>
              <a:t>Oracle </a:t>
            </a:r>
            <a:r>
              <a:rPr lang="en-US" dirty="0" err="1">
                <a:hlinkClick r:id="rId2"/>
              </a:rPr>
              <a:t>Database@Azure</a:t>
            </a:r>
            <a:r>
              <a:rPr lang="en-US" dirty="0">
                <a:hlinkClick r:id="rId2"/>
              </a:rPr>
              <a:t> Is Now Generally Available in West Europe (Amsterdam)</a:t>
            </a:r>
            <a:endParaRPr lang="en-US" dirty="0"/>
          </a:p>
          <a:p>
            <a:pPr algn="just"/>
            <a:r>
              <a:rPr lang="en-US" b="1" dirty="0"/>
              <a:t>Oracle </a:t>
            </a:r>
            <a:r>
              <a:rPr lang="en-US" b="1" dirty="0" err="1"/>
              <a:t>Database@Azure</a:t>
            </a:r>
            <a:r>
              <a:rPr lang="en-US" b="1" dirty="0"/>
              <a:t> is now generally available in the West Europe (Amsterdam) Azure region</a:t>
            </a:r>
            <a:r>
              <a:rPr lang="en-US" dirty="0"/>
              <a:t>. </a:t>
            </a:r>
          </a:p>
          <a:p>
            <a:pPr algn="just"/>
            <a:r>
              <a:rPr lang="en-US" dirty="0"/>
              <a:t>This new region enables customers across Western Europe to run mission‑critical Oracle databases closer to their Azure applications—meeting stringent regional compliance requirements while benefiting from ultra‑low latency and a fully integrated Azure experience.</a:t>
            </a:r>
          </a:p>
          <a:p>
            <a:pPr algn="just"/>
            <a:endParaRPr lang="en-US" dirty="0"/>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755280"/>
          </a:xfrm>
        </p:spPr>
        <p:txBody>
          <a:bodyPr/>
          <a:lstStyle/>
          <a:p>
            <a:r>
              <a:rPr lang="en-US" dirty="0">
                <a:hlinkClick r:id="rId2"/>
              </a:rPr>
              <a:t>New Azure API management service limits</a:t>
            </a:r>
            <a:endParaRPr lang="en-US" dirty="0"/>
          </a:p>
          <a:p>
            <a:pPr algn="just"/>
            <a:r>
              <a:rPr lang="en-US" dirty="0"/>
              <a:t>Starting in March 2026 and over the following several months, Azure API Management is introducing updated resource limits for instances across all tiers. The limits are shown in the following table.</a:t>
            </a:r>
          </a:p>
          <a:p>
            <a:br>
              <a:rPr lang="en-US" dirty="0"/>
            </a:br>
            <a:endParaRPr lang="en-US" dirty="0"/>
          </a:p>
        </p:txBody>
      </p:sp>
      <p:graphicFrame>
        <p:nvGraphicFramePr>
          <p:cNvPr id="2" name="Table 1">
            <a:extLst>
              <a:ext uri="{FF2B5EF4-FFF2-40B4-BE49-F238E27FC236}">
                <a16:creationId xmlns:a16="http://schemas.microsoft.com/office/drawing/2014/main" id="{3CD550E4-6F59-707B-A892-FE3694058F78}"/>
              </a:ext>
            </a:extLst>
          </p:cNvPr>
          <p:cNvGraphicFramePr>
            <a:graphicFrameLocks noGrp="1"/>
          </p:cNvGraphicFramePr>
          <p:nvPr>
            <p:extLst>
              <p:ext uri="{D42A27DB-BD31-4B8C-83A1-F6EECF244321}">
                <p14:modId xmlns:p14="http://schemas.microsoft.com/office/powerpoint/2010/main" val="4108127609"/>
              </p:ext>
            </p:extLst>
          </p:nvPr>
        </p:nvGraphicFramePr>
        <p:xfrm>
          <a:off x="342900" y="1651001"/>
          <a:ext cx="6164580" cy="2900677"/>
        </p:xfrm>
        <a:graphic>
          <a:graphicData uri="http://schemas.openxmlformats.org/drawingml/2006/table">
            <a:tbl>
              <a:tblPr/>
              <a:tblGrid>
                <a:gridCol w="1027430">
                  <a:extLst>
                    <a:ext uri="{9D8B030D-6E8A-4147-A177-3AD203B41FA5}">
                      <a16:colId xmlns:a16="http://schemas.microsoft.com/office/drawing/2014/main" val="1338299073"/>
                    </a:ext>
                  </a:extLst>
                </a:gridCol>
                <a:gridCol w="1027430">
                  <a:extLst>
                    <a:ext uri="{9D8B030D-6E8A-4147-A177-3AD203B41FA5}">
                      <a16:colId xmlns:a16="http://schemas.microsoft.com/office/drawing/2014/main" val="1560130004"/>
                    </a:ext>
                  </a:extLst>
                </a:gridCol>
                <a:gridCol w="1027430">
                  <a:extLst>
                    <a:ext uri="{9D8B030D-6E8A-4147-A177-3AD203B41FA5}">
                      <a16:colId xmlns:a16="http://schemas.microsoft.com/office/drawing/2014/main" val="2646989273"/>
                    </a:ext>
                  </a:extLst>
                </a:gridCol>
                <a:gridCol w="1027430">
                  <a:extLst>
                    <a:ext uri="{9D8B030D-6E8A-4147-A177-3AD203B41FA5}">
                      <a16:colId xmlns:a16="http://schemas.microsoft.com/office/drawing/2014/main" val="3030986296"/>
                    </a:ext>
                  </a:extLst>
                </a:gridCol>
                <a:gridCol w="1027430">
                  <a:extLst>
                    <a:ext uri="{9D8B030D-6E8A-4147-A177-3AD203B41FA5}">
                      <a16:colId xmlns:a16="http://schemas.microsoft.com/office/drawing/2014/main" val="4075339016"/>
                    </a:ext>
                  </a:extLst>
                </a:gridCol>
                <a:gridCol w="1027430">
                  <a:extLst>
                    <a:ext uri="{9D8B030D-6E8A-4147-A177-3AD203B41FA5}">
                      <a16:colId xmlns:a16="http://schemas.microsoft.com/office/drawing/2014/main" val="3086965730"/>
                    </a:ext>
                  </a:extLst>
                </a:gridCol>
              </a:tblGrid>
              <a:tr h="388544">
                <a:tc>
                  <a:txBody>
                    <a:bodyPr/>
                    <a:lstStyle/>
                    <a:p>
                      <a:pPr algn="l" fontAlgn="ctr">
                        <a:buNone/>
                      </a:pPr>
                      <a:r>
                        <a:rPr lang="en-US" sz="800" dirty="0">
                          <a:effectLst/>
                        </a:rPr>
                        <a:t>Entity/Resource</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algn="l" fontAlgn="ctr">
                        <a:buNone/>
                      </a:pPr>
                      <a:r>
                        <a:rPr lang="en-US" sz="800">
                          <a:effectLst/>
                        </a:rPr>
                        <a:t>Consumption</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algn="l" fontAlgn="ctr">
                        <a:buNone/>
                      </a:pPr>
                      <a:r>
                        <a:rPr lang="en-US" sz="800">
                          <a:effectLst/>
                        </a:rPr>
                        <a:t>Developer</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algn="l" fontAlgn="ctr">
                        <a:buNone/>
                      </a:pPr>
                      <a:r>
                        <a:rPr lang="en-US" sz="800">
                          <a:effectLst/>
                        </a:rPr>
                        <a:t>Basic/</a:t>
                      </a:r>
                      <a:br>
                        <a:rPr lang="en-US" sz="800">
                          <a:effectLst/>
                        </a:rPr>
                      </a:br>
                      <a:r>
                        <a:rPr lang="en-US" sz="800">
                          <a:effectLst/>
                        </a:rPr>
                        <a:t>Basic v2</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algn="l" fontAlgn="ctr">
                        <a:buNone/>
                      </a:pPr>
                      <a:r>
                        <a:rPr lang="en-US" sz="800">
                          <a:effectLst/>
                        </a:rPr>
                        <a:t>Standard/</a:t>
                      </a:r>
                      <a:br>
                        <a:rPr lang="en-US" sz="800">
                          <a:effectLst/>
                        </a:rPr>
                      </a:br>
                      <a:r>
                        <a:rPr lang="en-US" sz="800">
                          <a:effectLst/>
                        </a:rPr>
                        <a:t>Standard v2</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algn="l" fontAlgn="ctr">
                        <a:buNone/>
                      </a:pPr>
                      <a:r>
                        <a:rPr lang="en-US" sz="800">
                          <a:effectLst/>
                        </a:rPr>
                        <a:t>Premium/</a:t>
                      </a:r>
                      <a:br>
                        <a:rPr lang="en-US" sz="800">
                          <a:effectLst/>
                        </a:rPr>
                      </a:br>
                      <a:r>
                        <a:rPr lang="en-US" sz="800">
                          <a:effectLst/>
                        </a:rPr>
                        <a:t>Premium v2</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2117307444"/>
                  </a:ext>
                </a:extLst>
              </a:tr>
              <a:tr h="224417">
                <a:tc>
                  <a:txBody>
                    <a:bodyPr/>
                    <a:lstStyle/>
                    <a:p>
                      <a:pPr fontAlgn="ctr">
                        <a:buNone/>
                      </a:pPr>
                      <a:r>
                        <a:rPr lang="en-US" sz="800">
                          <a:effectLst/>
                        </a:rPr>
                        <a:t>API operations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3,000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3,000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50,000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75,000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2245091529"/>
                  </a:ext>
                </a:extLst>
              </a:tr>
              <a:tr h="224417">
                <a:tc>
                  <a:txBody>
                    <a:bodyPr/>
                    <a:lstStyle/>
                    <a:p>
                      <a:pPr fontAlgn="ctr">
                        <a:buNone/>
                      </a:pPr>
                      <a:r>
                        <a:rPr lang="en-US" sz="800">
                          <a:effectLst/>
                        </a:rPr>
                        <a:t>API tags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1,500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dirty="0">
                          <a:effectLst/>
                        </a:rPr>
                        <a:t>1,500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1,500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2,500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2746264860"/>
                  </a:ext>
                </a:extLst>
              </a:tr>
              <a:tr h="224417">
                <a:tc>
                  <a:txBody>
                    <a:bodyPr/>
                    <a:lstStyle/>
                    <a:p>
                      <a:pPr fontAlgn="ctr">
                        <a:buNone/>
                      </a:pPr>
                      <a:r>
                        <a:rPr lang="en-US" sz="800">
                          <a:effectLst/>
                        </a:rPr>
                        <a:t>Named values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18,000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3687832827"/>
                  </a:ext>
                </a:extLst>
              </a:tr>
              <a:tr h="224417">
                <a:tc>
                  <a:txBody>
                    <a:bodyPr/>
                    <a:lstStyle/>
                    <a:p>
                      <a:pPr fontAlgn="ctr">
                        <a:buNone/>
                      </a:pPr>
                      <a:r>
                        <a:rPr lang="en-US" sz="800">
                          <a:effectLst/>
                        </a:rPr>
                        <a:t>Loggers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200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400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1218855793"/>
                  </a:ext>
                </a:extLst>
              </a:tr>
              <a:tr h="224417">
                <a:tc>
                  <a:txBody>
                    <a:bodyPr/>
                    <a:lstStyle/>
                    <a:p>
                      <a:pPr fontAlgn="ctr">
                        <a:buNone/>
                      </a:pPr>
                      <a:r>
                        <a:rPr lang="en-US" sz="800">
                          <a:effectLst/>
                        </a:rPr>
                        <a:t>Products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200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500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2,000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891588400"/>
                  </a:ext>
                </a:extLst>
              </a:tr>
              <a:tr h="224417">
                <a:tc>
                  <a:txBody>
                    <a:bodyPr/>
                    <a:lstStyle/>
                    <a:p>
                      <a:pPr fontAlgn="ctr">
                        <a:buNone/>
                      </a:pPr>
                      <a:r>
                        <a:rPr lang="en-US" sz="800">
                          <a:effectLst/>
                        </a:rPr>
                        <a:t>Subscriptions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10,000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15,000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25,000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75,000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2525275326"/>
                  </a:ext>
                </a:extLst>
              </a:tr>
              <a:tr h="224417">
                <a:tc>
                  <a:txBody>
                    <a:bodyPr/>
                    <a:lstStyle/>
                    <a:p>
                      <a:pPr fontAlgn="ctr">
                        <a:buNone/>
                      </a:pPr>
                      <a:r>
                        <a:rPr lang="en-US" sz="800">
                          <a:effectLst/>
                        </a:rPr>
                        <a:t>Users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20,000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20,000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50,000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75,000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333341434"/>
                  </a:ext>
                </a:extLst>
              </a:tr>
              <a:tr h="552670">
                <a:tc>
                  <a:txBody>
                    <a:bodyPr/>
                    <a:lstStyle/>
                    <a:p>
                      <a:pPr fontAlgn="ctr">
                        <a:buNone/>
                      </a:pPr>
                      <a:r>
                        <a:rPr lang="en-US" sz="800">
                          <a:effectLst/>
                        </a:rPr>
                        <a:t>Workspaces per workspace gateway</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30</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2495019150"/>
                  </a:ext>
                </a:extLst>
              </a:tr>
              <a:tr h="388544">
                <a:tc>
                  <a:txBody>
                    <a:bodyPr/>
                    <a:lstStyle/>
                    <a:p>
                      <a:pPr fontAlgn="ctr">
                        <a:buNone/>
                      </a:pPr>
                      <a:r>
                        <a:rPr lang="en-US" sz="800">
                          <a:effectLst/>
                        </a:rPr>
                        <a:t>Self-hosted gateways</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5</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a:effectLst/>
                        </a:rPr>
                        <a:t>N/A</a:t>
                      </a: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tc>
                  <a:txBody>
                    <a:bodyPr/>
                    <a:lstStyle/>
                    <a:p>
                      <a:pPr fontAlgn="ctr">
                        <a:buNone/>
                      </a:pPr>
                      <a:r>
                        <a:rPr lang="en-US" sz="800" dirty="0">
                          <a:effectLst/>
                        </a:rPr>
                        <a:t>100</a:t>
                      </a:r>
                      <a:r>
                        <a:rPr lang="en-US" sz="800" baseline="30000" dirty="0">
                          <a:effectLst/>
                        </a:rPr>
                        <a:t>1</a:t>
                      </a:r>
                      <a:endParaRPr lang="en-US" sz="800" dirty="0">
                        <a:effectLst/>
                      </a:endParaRPr>
                    </a:p>
                  </a:txBody>
                  <a:tcPr marL="36389" marR="36389" marT="36389" marB="36389" anchor="ctr">
                    <a:lnL w="7620" cap="flat" cmpd="sng" algn="ctr">
                      <a:solidFill>
                        <a:srgbClr val="707070"/>
                      </a:solidFill>
                      <a:prstDash val="solid"/>
                      <a:round/>
                      <a:headEnd type="none" w="med" len="med"/>
                      <a:tailEnd type="none" w="med" len="med"/>
                    </a:lnL>
                    <a:lnR w="7620" cap="flat" cmpd="sng" algn="ctr">
                      <a:solidFill>
                        <a:srgbClr val="707070"/>
                      </a:solidFill>
                      <a:prstDash val="solid"/>
                      <a:round/>
                      <a:headEnd type="none" w="med" len="med"/>
                      <a:tailEnd type="none" w="med" len="med"/>
                    </a:lnR>
                    <a:lnT w="7620" cap="flat" cmpd="sng" algn="ctr">
                      <a:solidFill>
                        <a:srgbClr val="707070"/>
                      </a:solidFill>
                      <a:prstDash val="solid"/>
                      <a:round/>
                      <a:headEnd type="none" w="med" len="med"/>
                      <a:tailEnd type="none" w="med" len="med"/>
                    </a:lnT>
                    <a:lnB w="7620" cap="flat" cmpd="sng" algn="ctr">
                      <a:solidFill>
                        <a:srgbClr val="707070"/>
                      </a:solidFill>
                      <a:prstDash val="solid"/>
                      <a:round/>
                      <a:headEnd type="none" w="med" len="med"/>
                      <a:tailEnd type="none" w="med" len="med"/>
                    </a:lnB>
                    <a:solidFill>
                      <a:srgbClr val="FFFFFF"/>
                    </a:solidFill>
                  </a:tcPr>
                </a:tc>
                <a:extLst>
                  <a:ext uri="{0D108BD9-81ED-4DB2-BD59-A6C34878D82A}">
                    <a16:rowId xmlns:a16="http://schemas.microsoft.com/office/drawing/2014/main" val="2054996985"/>
                  </a:ext>
                </a:extLst>
              </a:tr>
            </a:tbl>
          </a:graphicData>
        </a:graphic>
      </p:graphicFrame>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166B-5F98-EE8E-5B62-AEAB3F55337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ACB0A5D-ABFF-FDBA-2981-B5840044FB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6AAAE0B-0E99-B9BA-C719-42AF0D574738}"/>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E12F1E69-46C9-B918-9382-5DFF0FC578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B295C0-8FE1-D74E-47AD-C2C789F6372C}"/>
              </a:ext>
            </a:extLst>
          </p:cNvPr>
          <p:cNvSpPr>
            <a:spLocks noGrp="1"/>
          </p:cNvSpPr>
          <p:nvPr>
            <p:ph type="body" sz="quarter" idx="16"/>
          </p:nvPr>
        </p:nvSpPr>
        <p:spPr>
          <a:xfrm>
            <a:off x="342900" y="855081"/>
            <a:ext cx="3955312" cy="856880"/>
          </a:xfrm>
        </p:spPr>
        <p:txBody>
          <a:bodyPr/>
          <a:lstStyle/>
          <a:p>
            <a:r>
              <a:rPr lang="en-US" dirty="0">
                <a:hlinkClick r:id="rId2"/>
              </a:rPr>
              <a:t>Azure Container Registry Premium SKU Now Supports 100 TiB Storage</a:t>
            </a:r>
            <a:endParaRPr lang="en-US" dirty="0"/>
          </a:p>
          <a:p>
            <a:r>
              <a:rPr lang="en-US" dirty="0"/>
              <a:t>MS announced that Azure Container Registry Premium SKU now supports up to 100 TiB of registry storage—a 2.5x increase from the previous 40 TiB limit, and a 5x increase from the original 20 TiB limit just two years ago. </a:t>
            </a:r>
          </a:p>
          <a:p>
            <a:endParaRPr lang="en-US" dirty="0"/>
          </a:p>
          <a:p>
            <a:endParaRPr lang="en-US" dirty="0"/>
          </a:p>
        </p:txBody>
      </p:sp>
      <p:pic>
        <p:nvPicPr>
          <p:cNvPr id="3" name="Picture 2">
            <a:extLst>
              <a:ext uri="{FF2B5EF4-FFF2-40B4-BE49-F238E27FC236}">
                <a16:creationId xmlns:a16="http://schemas.microsoft.com/office/drawing/2014/main" id="{A15C33EA-F248-09E4-3022-21E38C761278}"/>
              </a:ext>
            </a:extLst>
          </p:cNvPr>
          <p:cNvPicPr>
            <a:picLocks noChangeAspect="1"/>
          </p:cNvPicPr>
          <p:nvPr/>
        </p:nvPicPr>
        <p:blipFill>
          <a:blip r:embed="rId3"/>
          <a:stretch>
            <a:fillRect/>
          </a:stretch>
        </p:blipFill>
        <p:spPr>
          <a:xfrm>
            <a:off x="411746" y="1772922"/>
            <a:ext cx="3817620" cy="2027288"/>
          </a:xfrm>
          <a:prstGeom prst="rect">
            <a:avLst/>
          </a:prstGeom>
        </p:spPr>
      </p:pic>
    </p:spTree>
    <p:extLst>
      <p:ext uri="{BB962C8B-B14F-4D97-AF65-F5344CB8AC3E}">
        <p14:creationId xmlns:p14="http://schemas.microsoft.com/office/powerpoint/2010/main" val="1359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765</TotalTime>
  <Words>1905</Words>
  <Application>Microsoft Office PowerPoint</Application>
  <PresentationFormat>On-screen Show (16:9)</PresentationFormat>
  <Paragraphs>151</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Human Sans</vt:lpstr>
      <vt:lpstr>Human Sans Regular</vt:lpstr>
      <vt:lpstr>Continuum Theme</vt:lpstr>
      <vt:lpstr>Azure Times #195</vt:lpstr>
      <vt:lpstr>PowerPoint Presentation</vt:lpstr>
      <vt:lpstr>Networking Updates</vt:lpstr>
      <vt:lpstr>PowerPoint Presentation</vt:lpstr>
      <vt:lpstr>Security &amp; Identity Updates</vt:lpstr>
      <vt:lpstr>PowerPoint Presentation</vt:lpstr>
      <vt:lpstr>Management &amp; Governance Updates</vt:lpstr>
      <vt:lpstr>PowerPoint Presentation</vt:lpstr>
      <vt:lpstr>Compute Updates</vt:lpstr>
      <vt:lpstr>Compute Updates</vt:lpstr>
      <vt:lpstr>Compute Updates</vt:lpstr>
      <vt:lpstr>PowerPoint Presentation</vt:lpstr>
      <vt:lpstr>Storage &amp; Data Updates</vt:lpstr>
      <vt:lpstr>PowerPoint Presentation</vt:lpstr>
      <vt:lpstr>Databases Updates</vt:lpstr>
      <vt:lpstr>Databases Updates</vt:lpstr>
      <vt:lpstr>Databases Updates</vt:lpstr>
      <vt:lpstr>PowerPoint Presentation</vt:lpstr>
      <vt:lpstr>Integration Updates</vt:lpstr>
      <vt:lpstr>PowerPoint Presentation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120</cp:revision>
  <dcterms:created xsi:type="dcterms:W3CDTF">2018-01-26T19:23:30Z</dcterms:created>
  <dcterms:modified xsi:type="dcterms:W3CDTF">2026-02-28T09:06:13Z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