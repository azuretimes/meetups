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34"/>
  </p:notesMasterIdLst>
  <p:handoutMasterIdLst>
    <p:handoutMasterId r:id="rId35"/>
  </p:handoutMasterIdLst>
  <p:sldIdLst>
    <p:sldId id="2142532340" r:id="rId5"/>
    <p:sldId id="2146847046" r:id="rId6"/>
    <p:sldId id="2146847158" r:id="rId7"/>
    <p:sldId id="2146847157" r:id="rId8"/>
    <p:sldId id="2146847159" r:id="rId9"/>
    <p:sldId id="2146847160" r:id="rId10"/>
    <p:sldId id="2146847161" r:id="rId11"/>
    <p:sldId id="2146847130" r:id="rId12"/>
    <p:sldId id="2146847129" r:id="rId13"/>
    <p:sldId id="2146847128" r:id="rId14"/>
    <p:sldId id="2146847156" r:id="rId15"/>
    <p:sldId id="2146847048" r:id="rId16"/>
    <p:sldId id="2146847132" r:id="rId17"/>
    <p:sldId id="2146847050" r:id="rId18"/>
    <p:sldId id="2146847096" r:id="rId19"/>
    <p:sldId id="2146847134" r:id="rId20"/>
    <p:sldId id="2146847052" r:id="rId21"/>
    <p:sldId id="2146847100" r:id="rId22"/>
    <p:sldId id="2146847054" r:id="rId23"/>
    <p:sldId id="2146847103" r:id="rId24"/>
    <p:sldId id="2146847141" r:id="rId25"/>
    <p:sldId id="2146847058" r:id="rId26"/>
    <p:sldId id="2146847111" r:id="rId27"/>
    <p:sldId id="2146847146" r:id="rId28"/>
    <p:sldId id="2146847119" r:id="rId29"/>
    <p:sldId id="2146847150" r:id="rId30"/>
    <p:sldId id="2146847085" r:id="rId31"/>
    <p:sldId id="2146847084" r:id="rId32"/>
    <p:sldId id="2146847064" r:id="rId33"/>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ection>
        <p14:section name="Security &amp; Identity" id="{1AA42572-B3BD-44F7-813B-C2C647DDBB3C}">
          <p14:sldIdLst>
            <p14:sldId id="2146847046"/>
            <p14:sldId id="2146847158"/>
            <p14:sldId id="2146847157"/>
            <p14:sldId id="2146847159"/>
            <p14:sldId id="2146847160"/>
            <p14:sldId id="2146847161"/>
            <p14:sldId id="2146847130"/>
            <p14:sldId id="2146847129"/>
            <p14:sldId id="2146847128"/>
            <p14:sldId id="2146847156"/>
          </p14:sldIdLst>
        </p14:section>
        <p14:section name="Management &amp; Governance" id="{34181601-6D48-4406-A525-C7B5A12C6C5B}">
          <p14:sldIdLst>
            <p14:sldId id="2146847048"/>
            <p14:sldId id="2146847132"/>
          </p14:sldIdLst>
        </p14:section>
        <p14:section name="Compute" id="{05AA80BB-8802-49AB-8336-A884227CE2F7}">
          <p14:sldIdLst>
            <p14:sldId id="2146847050"/>
            <p14:sldId id="2146847096"/>
            <p14:sldId id="2146847134"/>
          </p14:sldIdLst>
        </p14:section>
        <p14:section name="Storage &amp; Data" id="{1F159046-CE0A-45BC-9D5B-6E6C95980F78}">
          <p14:sldIdLst>
            <p14:sldId id="2146847052"/>
            <p14:sldId id="2146847100"/>
          </p14:sldIdLst>
        </p14:section>
        <p14:section name="Databases" id="{AEAFAE72-AD56-48F3-926B-38BAE269038F}">
          <p14:sldIdLst>
            <p14:sldId id="2146847054"/>
            <p14:sldId id="2146847103"/>
            <p14:sldId id="2146847141"/>
          </p14:sldIdLst>
        </p14:section>
        <p14:section name="Integration" id="{ACBD46A3-6F1C-451B-A154-0A056E0DEFF6}">
          <p14:sldIdLst/>
        </p14:section>
        <p14:section name="ML &amp; AI &amp; IOT" id="{F4E1EAF1-55E9-4CA4-8ADC-28B69C1D66D2}">
          <p14:sldIdLst>
            <p14:sldId id="2146847058"/>
            <p14:sldId id="2146847111"/>
            <p14:sldId id="2146847146"/>
            <p14:sldId id="2146847119"/>
            <p14:sldId id="2146847150"/>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94"/>
  </p:normalViewPr>
  <p:slideViewPr>
    <p:cSldViewPr snapToGrid="0">
      <p:cViewPr>
        <p:scale>
          <a:sx n="125" d="100"/>
          <a:sy n="125" d="100"/>
        </p:scale>
        <p:origin x="3048" y="33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3/13/2026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3/13/2026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learn.microsoft.com/en-us/entra/fundamentals/whats-new#public-preview---new-end-user-homepage-in-my-account" TargetMode="External"/><Relationship Id="rId2" Type="http://schemas.openxmlformats.org/officeDocument/2006/relationships/hyperlink" Target="https://learn.microsoft.com/en-us/entra/fundamentals/whats-new#public-preview---byod-support-for-windows-client-using-microsoft-entra-registration"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https://learn.microsoft.com/en-us/entra/fundamentals/whats-new#upcoming-changes---jailbreak-detection-in-authenticator-app"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learn.microsoft.com/en-us/entra/fundamentals/whats-new#general-availability---revoke-previously-approved-access-package-assignments-in-my-access" TargetMode="External"/><Relationship Id="rId2" Type="http://schemas.openxmlformats.org/officeDocument/2006/relationships/hyperlink" Target="https://learn.microsoft.com/en-us/entra/fundamentals/whats-new#general-availability---microsoft-entra-provisioning-service-available-in-microsoft-azure-operated-by-21vianet"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learn.microsoft.com/en-us/entra/fundamentals/whats-new#general-availability---microsoft-entra-connect-sync-now-supports-windows-server-2025" TargetMode="External"/><Relationship Id="rId2" Type="http://schemas.openxmlformats.org/officeDocument/2006/relationships/hyperlink" Target="https://learn.microsoft.com/en-us/entra/fundamentals/whats-new#general-availability---custom-block-pages" TargetMode="External"/><Relationship Id="rId1" Type="http://schemas.openxmlformats.org/officeDocument/2006/relationships/slideLayout" Target="../slideLayouts/slideLayout7.xml"/><Relationship Id="rId4" Type="http://schemas.openxmlformats.org/officeDocument/2006/relationships/hyperlink" Target="https://www.microsoft.com/evalcenter/download-windows-server-2025"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learn.microsoft.com/en-us/entra/fundamentals/whats-new#general-availability---custom-banned-password-lists-supported-in-microsoft-entra-external-id" TargetMode="External"/><Relationship Id="rId2" Type="http://schemas.openxmlformats.org/officeDocument/2006/relationships/hyperlink" Target="https://learn.microsoft.com/en-us/entra/fundamentals/whats-new#general-availability---external-auth-methods-is-generally-available"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learn.microsoft.com/en-us/azure/sentinel/automation/generate-playbook" TargetMode="External"/><Relationship Id="rId2" Type="http://schemas.openxmlformats.org/officeDocument/2006/relationships/hyperlink" Target="https://learn.microsoft.com/en-us/azure/sentinel/whats-new?tabs=defender-portal#microsoft-sentinel-ueba-behaviors-layer-is-now-generally-available"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learn.microsoft.com/en-us/azure/defender-for-cloud/release-notes#container-runtime-antimalware-detection-and-blocking-preview" TargetMode="External"/><Relationship Id="rId2" Type="http://schemas.openxmlformats.org/officeDocument/2006/relationships/hyperlink" Target="https://learn.microsoft.com/en-us/azure/defender-for-cloud/release-notes#binary-drift-now-supports-blocking-preview"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learn.microsoft.com/en-us/azure/defender-for-cloud/release-notes#database-level-recommendations-experience-for-sql-vulnerability-assessment-preview" TargetMode="External"/><Relationship Id="rId2" Type="http://schemas.openxmlformats.org/officeDocument/2006/relationships/hyperlink" Target="https://learn.microsoft.com/en-us/azure/defender-for-cloud/release-notes#scanning-support-for-minimus-and-photon-os-container-images" TargetMode="External"/><Relationship Id="rId1" Type="http://schemas.openxmlformats.org/officeDocument/2006/relationships/slideLayout" Target="../slideLayouts/slideLayout7.xml"/><Relationship Id="rId4" Type="http://schemas.openxmlformats.org/officeDocument/2006/relationships/hyperlink" Target="https://learn.microsoft.com/en-us/azure/defender-for-cloud/sql-azure-vulnerability-assessment-rules"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Simulate%20alerts%20for%20SQL%20servers%20on%20machines" TargetMode="External"/><Relationship Id="rId2" Type="http://schemas.openxmlformats.org/officeDocument/2006/relationships/hyperlink" Target="https://learn.microsoft.com/en-us/azure/defender-for-cloud/release-notes#updated-ciem-recommendation-logic"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azure.microsoft.com/ru-ru/updates?id=558656" TargetMode="External"/><Relationship Id="rId2" Type="http://schemas.openxmlformats.org/officeDocument/2006/relationships/hyperlink" Target="https://techcommunity.microsoft.com/blog/azureobservabilityblog/introducing-azure-managed-grafana-12/4500673"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techcommunity.microsoft.com/blog/windowsservernewsandbestpractices/introducing-the-windows-nvme-of-initiator-preview-in-windows-server-insiders-bui/4501344"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learn.microsoft.com/en-us/windows-365/enterprise/whats-new" TargetMode="External"/><Relationship Id="rId2" Type="http://schemas.openxmlformats.org/officeDocument/2006/relationships/hyperlink" Target="https://techcommunity.microsoft.com/blog/windows-itpro-blog/frontline-shared-mode-expands-to-germany-west-central--switzerland-north/4499800"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azure.microsoft.com/ru-ru/updates?id=558651" TargetMode="External"/><Relationship Id="rId2" Type="http://schemas.openxmlformats.org/officeDocument/2006/relationships/hyperlink" Target="https://techcommunity.microsoft.com/blog/azurestorageblog/enterprise-identity-meets-secure-file-transfer-entra-id-public-preview-on-azure-/4501937"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azure.microsoft.com/ru-ru/updates?id=557527" TargetMode="External"/><Relationship Id="rId2" Type="http://schemas.openxmlformats.org/officeDocument/2006/relationships/hyperlink" Target="https://azure.microsoft.com/ru-ru/updates?id=558164"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hyperlink" Target="https://azure.microsoft.com/ru-ru/updates?id=558140"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devblogs.microsoft.com/foundry/whats-new-in-microsoft-foundry-feb-2026/"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hyperlink" Target="https://azure.microsoft.com/ru-ru/updates?id=558321"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azure.microsoft.com/ru-ru/updates?id=558145"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a:t>
            </a:r>
            <a:r>
              <a:rPr lang="ru-RU" sz="5400" dirty="0"/>
              <a:t>197</a:t>
            </a:r>
            <a:endParaRPr lang="en-US" sz="5400" dirty="0"/>
          </a:p>
        </p:txBody>
      </p:sp>
      <p:sp>
        <p:nvSpPr>
          <p:cNvPr id="4" name="Text Placeholder 3"/>
          <p:cNvSpPr>
            <a:spLocks noGrp="1"/>
          </p:cNvSpPr>
          <p:nvPr>
            <p:ph type="body" sz="quarter" idx="11"/>
          </p:nvPr>
        </p:nvSpPr>
        <p:spPr/>
        <p:txBody>
          <a:bodyPr/>
          <a:lstStyle/>
          <a:p>
            <a:r>
              <a:rPr lang="en-US" spc="300" dirty="0"/>
              <a:t>March 16,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t>Security &amp; Identity</a:t>
            </a:r>
          </a:p>
        </p:txBody>
      </p:sp>
    </p:spTree>
    <p:extLst>
      <p:ext uri="{BB962C8B-B14F-4D97-AF65-F5344CB8AC3E}">
        <p14:creationId xmlns:p14="http://schemas.microsoft.com/office/powerpoint/2010/main" val="3117920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D93D5-7657-AF9C-59D0-9EBCA8ED6A91}"/>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6CCFDCA4-79A3-F41A-A8B1-51611991D966}"/>
              </a:ext>
            </a:extLst>
          </p:cNvPr>
          <p:cNvSpPr>
            <a:spLocks noGrp="1"/>
          </p:cNvSpPr>
          <p:nvPr>
            <p:ph type="body" sz="quarter" idx="10"/>
          </p:nvPr>
        </p:nvSpPr>
        <p:spPr/>
        <p:txBody>
          <a:bodyPr/>
          <a:lstStyle/>
          <a:p>
            <a:pPr algn="just"/>
            <a:r>
              <a:rPr lang="en-US" sz="1000" dirty="0">
                <a:hlinkClick r:id="rId2"/>
              </a:rPr>
              <a:t>Public Preview - BYOD support for Windows client using Microsoft Entra registration</a:t>
            </a:r>
            <a:endParaRPr lang="en-US" sz="1000" dirty="0"/>
          </a:p>
          <a:p>
            <a:pPr algn="just"/>
            <a:r>
              <a:rPr lang="en-US" sz="1000" dirty="0"/>
              <a:t>Bring Your Own Device (BYOD) support for Windows using Microsoft Entra‑registered devices is now available in public preview. Users and partners can access corporate resources from their own devices. Admins can assign the Private Application traffic profile to internal accounts, including internal guest users.</a:t>
            </a:r>
          </a:p>
        </p:txBody>
      </p:sp>
      <p:sp>
        <p:nvSpPr>
          <p:cNvPr id="11" name="Title 10">
            <a:extLst>
              <a:ext uri="{FF2B5EF4-FFF2-40B4-BE49-F238E27FC236}">
                <a16:creationId xmlns:a16="http://schemas.microsoft.com/office/drawing/2014/main" id="{EA4123A0-0B8D-DF4B-D3C7-2395E33E6CEF}"/>
              </a:ext>
            </a:extLst>
          </p:cNvPr>
          <p:cNvSpPr>
            <a:spLocks noGrp="1"/>
          </p:cNvSpPr>
          <p:nvPr>
            <p:ph type="title"/>
          </p:nvPr>
        </p:nvSpPr>
        <p:spPr/>
        <p:txBody>
          <a:bodyPr/>
          <a:lstStyle/>
          <a:p>
            <a:r>
              <a:rPr lang="en-US" sz="1800" dirty="0"/>
              <a:t>Entra Updates</a:t>
            </a:r>
            <a:endParaRPr lang="en-US" dirty="0"/>
          </a:p>
        </p:txBody>
      </p:sp>
      <p:sp>
        <p:nvSpPr>
          <p:cNvPr id="13" name="Text Placeholder 12">
            <a:extLst>
              <a:ext uri="{FF2B5EF4-FFF2-40B4-BE49-F238E27FC236}">
                <a16:creationId xmlns:a16="http://schemas.microsoft.com/office/drawing/2014/main" id="{D777F561-DFE0-1EDD-95DE-F110A1D9CA7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7065EAE7-82AE-B291-E89F-E3F7D415722A}"/>
              </a:ext>
            </a:extLst>
          </p:cNvPr>
          <p:cNvSpPr>
            <a:spLocks noGrp="1"/>
          </p:cNvSpPr>
          <p:nvPr>
            <p:ph type="body" sz="quarter" idx="16"/>
          </p:nvPr>
        </p:nvSpPr>
        <p:spPr/>
        <p:txBody>
          <a:bodyPr/>
          <a:lstStyle/>
          <a:p>
            <a:pPr algn="just"/>
            <a:r>
              <a:rPr lang="en-US" dirty="0">
                <a:hlinkClick r:id="rId3"/>
              </a:rPr>
              <a:t>Public Preview - New end user homepage in My Account</a:t>
            </a:r>
            <a:endParaRPr lang="en-US" dirty="0"/>
          </a:p>
          <a:p>
            <a:pPr algn="just"/>
            <a:r>
              <a:rPr lang="en-US" dirty="0"/>
              <a:t>The homepage at https://myaccount.microsoft.com has been updated to provide a more task-focused experience. Users will see pending actions like renewing expiring groups, approving access package requests, and setting up MFA directly on the homepage. Quick links to apps, groups, access packages, and sign-in details will be easier to find and use. This change is designed to streamline account management and help users stay on top of access and security tasks.</a:t>
            </a:r>
          </a:p>
          <a:p>
            <a:pPr algn="just"/>
            <a:br>
              <a:rPr lang="en-US" dirty="0"/>
            </a:br>
            <a:endParaRPr lang="en-US" dirty="0"/>
          </a:p>
        </p:txBody>
      </p:sp>
    </p:spTree>
    <p:extLst>
      <p:ext uri="{BB962C8B-B14F-4D97-AF65-F5344CB8AC3E}">
        <p14:creationId xmlns:p14="http://schemas.microsoft.com/office/powerpoint/2010/main" val="1129319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8382C-B877-5C86-1BCD-468D081D6E2D}"/>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76B05408-5DBE-FFB6-CE98-82A87C825D63}"/>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A52772EA-5517-A322-1F1D-9CF0FDA75297}"/>
              </a:ext>
            </a:extLst>
          </p:cNvPr>
          <p:cNvSpPr>
            <a:spLocks noGrp="1"/>
          </p:cNvSpPr>
          <p:nvPr>
            <p:ph type="title"/>
          </p:nvPr>
        </p:nvSpPr>
        <p:spPr/>
        <p:txBody>
          <a:bodyPr/>
          <a:lstStyle/>
          <a:p>
            <a:r>
              <a:rPr lang="en-US" sz="1800" dirty="0"/>
              <a:t>Entra Updates</a:t>
            </a:r>
            <a:endParaRPr lang="en-US" dirty="0"/>
          </a:p>
        </p:txBody>
      </p:sp>
      <p:sp>
        <p:nvSpPr>
          <p:cNvPr id="13" name="Text Placeholder 12">
            <a:extLst>
              <a:ext uri="{FF2B5EF4-FFF2-40B4-BE49-F238E27FC236}">
                <a16:creationId xmlns:a16="http://schemas.microsoft.com/office/drawing/2014/main" id="{96301EDF-3A59-258E-9345-2863F39C570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25DC7AEC-73D1-89EC-2AAC-38D138CB94EA}"/>
              </a:ext>
            </a:extLst>
          </p:cNvPr>
          <p:cNvSpPr>
            <a:spLocks noGrp="1"/>
          </p:cNvSpPr>
          <p:nvPr>
            <p:ph type="body" sz="quarter" idx="16"/>
          </p:nvPr>
        </p:nvSpPr>
        <p:spPr/>
        <p:txBody>
          <a:bodyPr/>
          <a:lstStyle/>
          <a:p>
            <a:r>
              <a:rPr lang="en-US" dirty="0">
                <a:hlinkClick r:id="rId2"/>
              </a:rPr>
              <a:t>Upcoming Changes - Jailbreak Detection in Authenticator App</a:t>
            </a:r>
            <a:endParaRPr lang="en-US" dirty="0"/>
          </a:p>
          <a:p>
            <a:r>
              <a:rPr lang="en-US" dirty="0"/>
              <a:t>Starting February 2026, Microsoft Authenticator will introduce jailbreak/root detection for Microsoft Entra credentials in the Android app. The rollout progresses from warning mode → blocking mode → wipe mode. Users must move to compliant devices to continue using Microsoft Entra accounts in Authenticator.</a:t>
            </a:r>
          </a:p>
        </p:txBody>
      </p:sp>
    </p:spTree>
    <p:extLst>
      <p:ext uri="{BB962C8B-B14F-4D97-AF65-F5344CB8AC3E}">
        <p14:creationId xmlns:p14="http://schemas.microsoft.com/office/powerpoint/2010/main" val="2534496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E8082-436D-6E5E-8FFC-9BE58A925227}"/>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8F8EEBBF-29C3-E216-F981-8A662D7EA5E2}"/>
              </a:ext>
            </a:extLst>
          </p:cNvPr>
          <p:cNvSpPr>
            <a:spLocks noGrp="1"/>
          </p:cNvSpPr>
          <p:nvPr>
            <p:ph type="body" sz="quarter" idx="10"/>
          </p:nvPr>
        </p:nvSpPr>
        <p:spPr/>
        <p:txBody>
          <a:bodyPr/>
          <a:lstStyle/>
          <a:p>
            <a:pPr algn="just"/>
            <a:r>
              <a:rPr lang="en-US" sz="1000" dirty="0">
                <a:hlinkClick r:id="rId2"/>
              </a:rPr>
              <a:t>General Availability - Microsoft Entra Provisioning Service available in Microsoft Azure operated by 21Vianet</a:t>
            </a:r>
            <a:endParaRPr lang="en-US" sz="1000" dirty="0"/>
          </a:p>
          <a:p>
            <a:pPr algn="just"/>
            <a:r>
              <a:rPr lang="en-US" dirty="0"/>
              <a:t>The Microsoft Entra provisioning service can be used in the 21Vianet / China cloud for the following scenarios: API-driven provisioning, Cloud Sync, Cross-tenant sync between China tenants, SCIM provisioning for the non-gallery / custom application, and on-premises app provisioning (ECMA). Specific gallery connectors such as Workday, SuccessFactors, and AWS aren't onboarded to the environment.</a:t>
            </a:r>
            <a:endParaRPr lang="en-US" sz="1000" dirty="0"/>
          </a:p>
        </p:txBody>
      </p:sp>
      <p:sp>
        <p:nvSpPr>
          <p:cNvPr id="11" name="Title 10">
            <a:extLst>
              <a:ext uri="{FF2B5EF4-FFF2-40B4-BE49-F238E27FC236}">
                <a16:creationId xmlns:a16="http://schemas.microsoft.com/office/drawing/2014/main" id="{4BC16356-E2D1-9F64-195B-4C1EECAC8B1D}"/>
              </a:ext>
            </a:extLst>
          </p:cNvPr>
          <p:cNvSpPr>
            <a:spLocks noGrp="1"/>
          </p:cNvSpPr>
          <p:nvPr>
            <p:ph type="title"/>
          </p:nvPr>
        </p:nvSpPr>
        <p:spPr/>
        <p:txBody>
          <a:bodyPr/>
          <a:lstStyle/>
          <a:p>
            <a:r>
              <a:rPr lang="en-US" sz="1800" dirty="0"/>
              <a:t>Entra Updates</a:t>
            </a:r>
            <a:endParaRPr lang="en-US" dirty="0"/>
          </a:p>
        </p:txBody>
      </p:sp>
      <p:sp>
        <p:nvSpPr>
          <p:cNvPr id="13" name="Text Placeholder 12">
            <a:extLst>
              <a:ext uri="{FF2B5EF4-FFF2-40B4-BE49-F238E27FC236}">
                <a16:creationId xmlns:a16="http://schemas.microsoft.com/office/drawing/2014/main" id="{8762C37B-53FF-1B51-DC0D-CE3553F7A70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F89EF3FD-66DB-1AC7-42DE-472221894FBE}"/>
              </a:ext>
            </a:extLst>
          </p:cNvPr>
          <p:cNvSpPr>
            <a:spLocks noGrp="1"/>
          </p:cNvSpPr>
          <p:nvPr>
            <p:ph type="body" sz="quarter" idx="16"/>
          </p:nvPr>
        </p:nvSpPr>
        <p:spPr/>
        <p:txBody>
          <a:bodyPr/>
          <a:lstStyle/>
          <a:p>
            <a:pPr algn="just"/>
            <a:r>
              <a:rPr lang="en-US" dirty="0">
                <a:hlinkClick r:id="rId3"/>
              </a:rPr>
              <a:t>General Availability - Revoke previously approved access package assignments in My Access</a:t>
            </a:r>
            <a:endParaRPr lang="en-US" dirty="0"/>
          </a:p>
          <a:p>
            <a:pPr algn="just"/>
            <a:r>
              <a:rPr lang="en-US" dirty="0"/>
              <a:t>By end of March Microsoft Entra ID Governance approvers can now revoke access to an access package after an approval has already been granted. This gives approvers greater control to respond to changes, mistakes, or updated business needs. With this update, an approver can undo a prior approval decision, immediately removing the requestor’s access to the access package. Only the approver who originally approved the request can revoke it, even if multiple approvers belong to the same approver group.</a:t>
            </a:r>
          </a:p>
          <a:p>
            <a:pPr algn="just"/>
            <a:endParaRPr lang="en-US" dirty="0"/>
          </a:p>
        </p:txBody>
      </p:sp>
    </p:spTree>
    <p:extLst>
      <p:ext uri="{BB962C8B-B14F-4D97-AF65-F5344CB8AC3E}">
        <p14:creationId xmlns:p14="http://schemas.microsoft.com/office/powerpoint/2010/main" val="810785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2B34B-7022-B66B-E144-1975F24B435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3254BF57-FBEE-4A21-A9DE-61D8CD353DB0}"/>
              </a:ext>
            </a:extLst>
          </p:cNvPr>
          <p:cNvSpPr>
            <a:spLocks noGrp="1"/>
          </p:cNvSpPr>
          <p:nvPr>
            <p:ph type="body" sz="quarter" idx="10"/>
          </p:nvPr>
        </p:nvSpPr>
        <p:spPr/>
        <p:txBody>
          <a:bodyPr/>
          <a:lstStyle/>
          <a:p>
            <a:pPr algn="just"/>
            <a:r>
              <a:rPr lang="en-US" sz="1000" dirty="0">
                <a:hlinkClick r:id="rId2"/>
              </a:rPr>
              <a:t>General Availability - Custom Block pages</a:t>
            </a:r>
            <a:endParaRPr lang="en-US" sz="1000" dirty="0"/>
          </a:p>
          <a:p>
            <a:pPr algn="just"/>
            <a:r>
              <a:rPr lang="en-US" sz="1000" dirty="0"/>
              <a:t>When you configure policies blocking users from accessing a risky, NSFW, or unsanctioned sites or apps in GSA, they receive a clear HTML error message with Microsoft Entra Internet Access branding. </a:t>
            </a:r>
          </a:p>
          <a:p>
            <a:pPr algn="just"/>
            <a:r>
              <a:rPr lang="en-US" sz="1000" dirty="0"/>
              <a:t>Now Global Secure Access now offers customized block pages for Internet Access. In the Microsoft Graph API, Admins can now:</a:t>
            </a:r>
          </a:p>
          <a:p>
            <a:pPr marL="171450" indent="-171450" algn="just">
              <a:buFont typeface="Arial" panose="020B0604020202020204" pitchFamily="34" charset="0"/>
              <a:buChar char="•"/>
            </a:pPr>
            <a:r>
              <a:rPr lang="en-US" sz="1000" dirty="0"/>
              <a:t>Configure the  tenant-wide body text of the GSA block page.</a:t>
            </a:r>
          </a:p>
          <a:p>
            <a:pPr marL="171450" indent="-171450" algn="just">
              <a:buFont typeface="Arial" panose="020B0604020202020204" pitchFamily="34" charset="0"/>
              <a:buChar char="•"/>
            </a:pPr>
            <a:r>
              <a:rPr lang="en-US" sz="1000" dirty="0"/>
              <a:t>Add hyperlinks via limited markdown to reference Terms of Use,  ServiceNow/IT ticketing services, or even MyAccess for ID Governance workflow integration.</a:t>
            </a:r>
          </a:p>
          <a:p>
            <a:pPr algn="just"/>
            <a:endParaRPr lang="en-US" sz="1000" dirty="0"/>
          </a:p>
        </p:txBody>
      </p:sp>
      <p:sp>
        <p:nvSpPr>
          <p:cNvPr id="11" name="Title 10">
            <a:extLst>
              <a:ext uri="{FF2B5EF4-FFF2-40B4-BE49-F238E27FC236}">
                <a16:creationId xmlns:a16="http://schemas.microsoft.com/office/drawing/2014/main" id="{32DDD15D-AB66-5FB9-D82D-22A3FD462F99}"/>
              </a:ext>
            </a:extLst>
          </p:cNvPr>
          <p:cNvSpPr>
            <a:spLocks noGrp="1"/>
          </p:cNvSpPr>
          <p:nvPr>
            <p:ph type="title"/>
          </p:nvPr>
        </p:nvSpPr>
        <p:spPr/>
        <p:txBody>
          <a:bodyPr/>
          <a:lstStyle/>
          <a:p>
            <a:r>
              <a:rPr lang="en-US" sz="1800" dirty="0"/>
              <a:t>Entra Updates</a:t>
            </a:r>
            <a:endParaRPr lang="en-US" dirty="0"/>
          </a:p>
        </p:txBody>
      </p:sp>
      <p:sp>
        <p:nvSpPr>
          <p:cNvPr id="13" name="Text Placeholder 12">
            <a:extLst>
              <a:ext uri="{FF2B5EF4-FFF2-40B4-BE49-F238E27FC236}">
                <a16:creationId xmlns:a16="http://schemas.microsoft.com/office/drawing/2014/main" id="{325047F2-6FEE-0BAF-74AB-51BEE696A3DB}"/>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23B7904E-9681-3741-DE05-4CD81DD3C3F8}"/>
              </a:ext>
            </a:extLst>
          </p:cNvPr>
          <p:cNvSpPr>
            <a:spLocks noGrp="1"/>
          </p:cNvSpPr>
          <p:nvPr>
            <p:ph type="body" sz="quarter" idx="16"/>
          </p:nvPr>
        </p:nvSpPr>
        <p:spPr/>
        <p:txBody>
          <a:bodyPr/>
          <a:lstStyle/>
          <a:p>
            <a:pPr algn="just"/>
            <a:r>
              <a:rPr lang="en-US" dirty="0">
                <a:hlinkClick r:id="rId3"/>
              </a:rPr>
              <a:t>General Availability - Microsoft Entra Connect Sync now supports Windows Server 2025</a:t>
            </a:r>
            <a:endParaRPr lang="en-US" dirty="0"/>
          </a:p>
          <a:p>
            <a:pPr algn="just"/>
            <a:r>
              <a:rPr lang="en-US" dirty="0"/>
              <a:t>Microsoft Entra Connect Sync now officially supports </a:t>
            </a:r>
            <a:r>
              <a:rPr lang="en-US" dirty="0">
                <a:hlinkClick r:id="rId4"/>
              </a:rPr>
              <a:t>Windows Server 2025</a:t>
            </a:r>
            <a:r>
              <a:rPr lang="en-US" dirty="0"/>
              <a:t>. This means you can confidently install and run Microsoft Entra Connect Sync on servers running Windows Server 2025, enabling your hybrid identity environment to take full advantage of the latest Windows Server enhancements.</a:t>
            </a:r>
          </a:p>
        </p:txBody>
      </p:sp>
    </p:spTree>
    <p:extLst>
      <p:ext uri="{BB962C8B-B14F-4D97-AF65-F5344CB8AC3E}">
        <p14:creationId xmlns:p14="http://schemas.microsoft.com/office/powerpoint/2010/main" val="3077702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CEC3F1F-F6FD-ECC5-2383-B6A196AE8E26}"/>
              </a:ext>
            </a:extLst>
          </p:cNvPr>
          <p:cNvSpPr>
            <a:spLocks noGrp="1"/>
          </p:cNvSpPr>
          <p:nvPr>
            <p:ph type="body" sz="quarter" idx="10"/>
          </p:nvPr>
        </p:nvSpPr>
        <p:spPr/>
        <p:txBody>
          <a:bodyPr/>
          <a:lstStyle/>
          <a:p>
            <a:r>
              <a:rPr lang="en-US" dirty="0">
                <a:hlinkClick r:id="rId2"/>
              </a:rPr>
              <a:t>General Availability - External Auth Methods is Generally Available</a:t>
            </a:r>
            <a:endParaRPr lang="en-US" dirty="0"/>
          </a:p>
          <a:p>
            <a:pPr algn="just"/>
            <a:r>
              <a:rPr lang="en-US" sz="1000" dirty="0"/>
              <a:t>MS announced that External Authentication Methods (EAM) in Microsoft Entra ID has reached General Availability. EAM enables organizations to integrate their preferred third-party MFA solutions seamlessly with Microsoft Entra ID for enhanced security and flexibility.</a:t>
            </a:r>
          </a:p>
          <a:p>
            <a:pPr algn="just"/>
            <a:endParaRPr lang="en-US" sz="1000" dirty="0"/>
          </a:p>
        </p:txBody>
      </p:sp>
      <p:sp>
        <p:nvSpPr>
          <p:cNvPr id="3" name="Title 2">
            <a:extLst>
              <a:ext uri="{FF2B5EF4-FFF2-40B4-BE49-F238E27FC236}">
                <a16:creationId xmlns:a16="http://schemas.microsoft.com/office/drawing/2014/main" id="{BB7C6466-02DB-9380-1260-B69D7676E725}"/>
              </a:ext>
            </a:extLst>
          </p:cNvPr>
          <p:cNvSpPr>
            <a:spLocks noGrp="1"/>
          </p:cNvSpPr>
          <p:nvPr>
            <p:ph type="title"/>
          </p:nvPr>
        </p:nvSpPr>
        <p:spPr/>
        <p:txBody>
          <a:bodyPr/>
          <a:lstStyle/>
          <a:p>
            <a:r>
              <a:rPr lang="en-US" sz="1600" dirty="0"/>
              <a:t>Entra Updates</a:t>
            </a:r>
            <a:endParaRPr lang="en-US" dirty="0"/>
          </a:p>
        </p:txBody>
      </p:sp>
      <p:sp>
        <p:nvSpPr>
          <p:cNvPr id="4" name="Text Placeholder 3">
            <a:extLst>
              <a:ext uri="{FF2B5EF4-FFF2-40B4-BE49-F238E27FC236}">
                <a16:creationId xmlns:a16="http://schemas.microsoft.com/office/drawing/2014/main" id="{98DE7ABD-DD00-A682-DFC7-1BF1C15CADD1}"/>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6C99F5FB-F3C2-591D-9E5D-3778BD671AB9}"/>
              </a:ext>
            </a:extLst>
          </p:cNvPr>
          <p:cNvSpPr>
            <a:spLocks noGrp="1"/>
          </p:cNvSpPr>
          <p:nvPr>
            <p:ph type="body" sz="quarter" idx="16"/>
          </p:nvPr>
        </p:nvSpPr>
        <p:spPr/>
        <p:txBody>
          <a:bodyPr/>
          <a:lstStyle/>
          <a:p>
            <a:pPr algn="just"/>
            <a:r>
              <a:rPr lang="en-US" dirty="0">
                <a:hlinkClick r:id="rId3"/>
              </a:rPr>
              <a:t>General Availability - Custom banned password lists supported in Microsoft Entra External ID</a:t>
            </a:r>
            <a:endParaRPr lang="en-US" dirty="0"/>
          </a:p>
          <a:p>
            <a:pPr algn="just"/>
            <a:r>
              <a:rPr lang="en-US" dirty="0"/>
              <a:t>In addition to the global banned password lists already supported, EEID admins can now add specific strings to block during password creation and reset.</a:t>
            </a:r>
          </a:p>
        </p:txBody>
      </p:sp>
    </p:spTree>
    <p:extLst>
      <p:ext uri="{BB962C8B-B14F-4D97-AF65-F5344CB8AC3E}">
        <p14:creationId xmlns:p14="http://schemas.microsoft.com/office/powerpoint/2010/main" val="4212571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4E758-0E9C-1A59-D8C1-58D462C987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4EFDCEC-74D7-CC9F-3A0E-1009C7BB635B}"/>
              </a:ext>
            </a:extLst>
          </p:cNvPr>
          <p:cNvSpPr>
            <a:spLocks noGrp="1"/>
          </p:cNvSpPr>
          <p:nvPr>
            <p:ph type="body" sz="quarter" idx="10"/>
          </p:nvPr>
        </p:nvSpPr>
        <p:spPr/>
        <p:txBody>
          <a:bodyPr/>
          <a:lstStyle/>
          <a:p>
            <a:pPr algn="just"/>
            <a:r>
              <a:rPr lang="en-US" sz="1000" dirty="0">
                <a:hlinkClick r:id="rId2"/>
              </a:rPr>
              <a:t>Generate playbooks using AI in Microsoft Sentinel (preview)</a:t>
            </a:r>
            <a:endParaRPr lang="en-US" sz="1000" dirty="0"/>
          </a:p>
          <a:p>
            <a:pPr algn="just"/>
            <a:r>
              <a:rPr lang="en-US" dirty="0"/>
              <a:t>It is now possible to </a:t>
            </a:r>
            <a:r>
              <a:rPr lang="en-US" dirty="0">
                <a:hlinkClick r:id="rId3"/>
              </a:rPr>
              <a:t>generate playbooks using AI in Microsoft Sentinel</a:t>
            </a:r>
            <a:r>
              <a:rPr lang="en-US" dirty="0"/>
              <a:t>. The SOAR playbook generator creates Python-based automation workflows coauthored through a conversational experience with Cline, an AI coding agent</a:t>
            </a:r>
            <a:endParaRPr lang="en-US" sz="1000" dirty="0"/>
          </a:p>
        </p:txBody>
      </p:sp>
      <p:sp>
        <p:nvSpPr>
          <p:cNvPr id="11" name="Title 10">
            <a:extLst>
              <a:ext uri="{FF2B5EF4-FFF2-40B4-BE49-F238E27FC236}">
                <a16:creationId xmlns:a16="http://schemas.microsoft.com/office/drawing/2014/main" id="{108EB9BC-7C8E-C179-D7B3-FA8C3832EAD4}"/>
              </a:ext>
            </a:extLst>
          </p:cNvPr>
          <p:cNvSpPr>
            <a:spLocks noGrp="1"/>
          </p:cNvSpPr>
          <p:nvPr>
            <p:ph type="title"/>
          </p:nvPr>
        </p:nvSpPr>
        <p:spPr/>
        <p:txBody>
          <a:bodyPr/>
          <a:lstStyle/>
          <a:p>
            <a:r>
              <a:rPr lang="en-US" sz="1800" dirty="0"/>
              <a:t>Sentinel Updates</a:t>
            </a:r>
            <a:endParaRPr lang="en-US" dirty="0"/>
          </a:p>
        </p:txBody>
      </p:sp>
      <p:sp>
        <p:nvSpPr>
          <p:cNvPr id="13" name="Text Placeholder 12">
            <a:extLst>
              <a:ext uri="{FF2B5EF4-FFF2-40B4-BE49-F238E27FC236}">
                <a16:creationId xmlns:a16="http://schemas.microsoft.com/office/drawing/2014/main" id="{5B52A8BE-107A-17D0-9868-4A2D8C2F4337}"/>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25CF61-DD31-42B7-98F6-ACEF3D4AB8DC}"/>
              </a:ext>
            </a:extLst>
          </p:cNvPr>
          <p:cNvSpPr>
            <a:spLocks noGrp="1"/>
          </p:cNvSpPr>
          <p:nvPr>
            <p:ph type="body" sz="quarter" idx="16"/>
          </p:nvPr>
        </p:nvSpPr>
        <p:spPr/>
        <p:txBody>
          <a:bodyPr/>
          <a:lstStyle/>
          <a:p>
            <a:pPr algn="just"/>
            <a:r>
              <a:rPr lang="en-US" dirty="0">
                <a:hlinkClick r:id="rId2"/>
              </a:rPr>
              <a:t>Microsoft Sentinel UEBA behaviors layer is now generally available</a:t>
            </a:r>
            <a:endParaRPr lang="en-US" dirty="0"/>
          </a:p>
          <a:p>
            <a:pPr algn="just"/>
            <a:r>
              <a:rPr lang="en-US" dirty="0"/>
              <a:t>The UEBA behaviors layer in Microsoft Sentinel is now generally available, summarizing clear, human‑readable behavioral insights from high-volume, raw security logs. The behaviors layer aggregates and sequences related events into normalized behaviors, helping analysts more quickly understand who did what to whom without manually correlating raw logs.</a:t>
            </a:r>
          </a:p>
          <a:p>
            <a:pPr algn="just"/>
            <a:r>
              <a:rPr lang="en-US" b="1" dirty="0"/>
              <a:t>New UEBA behaviors workbook</a:t>
            </a:r>
          </a:p>
          <a:p>
            <a:pPr algn="just"/>
            <a:r>
              <a:rPr lang="en-US" dirty="0"/>
              <a:t>To help SOC teams get value from behaviors from day one, Microsoft Sentinel now provides the </a:t>
            </a:r>
            <a:r>
              <a:rPr lang="en-US" b="1" dirty="0"/>
              <a:t>behaviors workbook</a:t>
            </a:r>
            <a:r>
              <a:rPr lang="en-US" dirty="0"/>
              <a:t> as part of the UEBA essentials solution. The workbook offers guided views and prebuilt, customizable analytics that turn rich behavioral data into actionable insights across three core SOC workflows:</a:t>
            </a:r>
          </a:p>
          <a:p>
            <a:pPr marL="171450" indent="-171450" algn="just">
              <a:buFont typeface="Arial" panose="020B0604020202020204" pitchFamily="34" charset="0"/>
              <a:buChar char="•"/>
            </a:pPr>
            <a:r>
              <a:rPr lang="en-US" b="1" dirty="0"/>
              <a:t>Overview</a:t>
            </a:r>
            <a:r>
              <a:rPr lang="en-US" dirty="0"/>
              <a:t>: High‑level metrics and trends that give SOC managers and leadership quick situational awareness</a:t>
            </a:r>
          </a:p>
          <a:p>
            <a:pPr marL="171450" indent="-171450" algn="just">
              <a:buFont typeface="Arial" panose="020B0604020202020204" pitchFamily="34" charset="0"/>
              <a:buChar char="•"/>
            </a:pPr>
            <a:r>
              <a:rPr lang="en-US" b="1" dirty="0"/>
              <a:t>Investigation</a:t>
            </a:r>
            <a:r>
              <a:rPr lang="en-US" dirty="0"/>
              <a:t>: Deep‑dive, entity‑centric timelines that help analysts accelerate incident response</a:t>
            </a:r>
          </a:p>
          <a:p>
            <a:pPr marL="171450" indent="-171450" algn="just">
              <a:buFont typeface="Arial" panose="020B0604020202020204" pitchFamily="34" charset="0"/>
              <a:buChar char="•"/>
            </a:pPr>
            <a:r>
              <a:rPr lang="en-US" b="1" dirty="0"/>
              <a:t>Hunting</a:t>
            </a:r>
            <a:r>
              <a:rPr lang="en-US" dirty="0"/>
              <a:t>: Proactive threat discovery for threat hunters using anomaly detection and attack‑chain analysis</a:t>
            </a:r>
          </a:p>
          <a:p>
            <a:pPr algn="just"/>
            <a:endParaRPr lang="en-US" dirty="0"/>
          </a:p>
        </p:txBody>
      </p:sp>
    </p:spTree>
    <p:extLst>
      <p:ext uri="{BB962C8B-B14F-4D97-AF65-F5344CB8AC3E}">
        <p14:creationId xmlns:p14="http://schemas.microsoft.com/office/powerpoint/2010/main" val="2813364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DF80C-C4B2-CA2E-DC53-D014432A0FB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53E3FAB3-0EAA-3876-F96C-F85CCCDCCDD7}"/>
              </a:ext>
            </a:extLst>
          </p:cNvPr>
          <p:cNvSpPr>
            <a:spLocks noGrp="1"/>
          </p:cNvSpPr>
          <p:nvPr>
            <p:ph type="body" sz="quarter" idx="10"/>
          </p:nvPr>
        </p:nvSpPr>
        <p:spPr/>
        <p:txBody>
          <a:bodyPr/>
          <a:lstStyle/>
          <a:p>
            <a:pPr algn="just"/>
            <a:r>
              <a:rPr lang="en-US" sz="1000" dirty="0">
                <a:hlinkClick r:id="rId2"/>
              </a:rPr>
              <a:t>Binary drift now supports blocking (Preview)</a:t>
            </a:r>
            <a:endParaRPr lang="en-US" sz="1000" dirty="0"/>
          </a:p>
          <a:p>
            <a:pPr algn="just"/>
            <a:r>
              <a:rPr lang="en-US" dirty="0"/>
              <a:t>Binary drift now supports blocking in preview. With this update, you can configure binary drift policies to not only detect but also block unauthorized changes to container images at runtime. This enhancement helps prevent potential security breaches by stopping the execution of binaries within the containers that have been tampered with or contain unexpected modifications, providing an additional layer of protection for your containerized workloads.</a:t>
            </a:r>
            <a:endParaRPr lang="en-US" sz="1000" dirty="0"/>
          </a:p>
        </p:txBody>
      </p:sp>
      <p:sp>
        <p:nvSpPr>
          <p:cNvPr id="11" name="Title 10">
            <a:extLst>
              <a:ext uri="{FF2B5EF4-FFF2-40B4-BE49-F238E27FC236}">
                <a16:creationId xmlns:a16="http://schemas.microsoft.com/office/drawing/2014/main" id="{F0B3E087-D7E0-A826-1AA8-170A462C1EA4}"/>
              </a:ext>
            </a:extLst>
          </p:cNvPr>
          <p:cNvSpPr>
            <a:spLocks noGrp="1"/>
          </p:cNvSpPr>
          <p:nvPr>
            <p:ph type="title"/>
          </p:nvPr>
        </p:nvSpPr>
        <p:spPr/>
        <p:txBody>
          <a:bodyPr/>
          <a:lstStyle/>
          <a:p>
            <a:r>
              <a:rPr lang="en-US" sz="1800" dirty="0"/>
              <a:t>Defender for Cloud Updates</a:t>
            </a:r>
            <a:endParaRPr lang="en-US" dirty="0"/>
          </a:p>
        </p:txBody>
      </p:sp>
      <p:sp>
        <p:nvSpPr>
          <p:cNvPr id="13" name="Text Placeholder 12">
            <a:extLst>
              <a:ext uri="{FF2B5EF4-FFF2-40B4-BE49-F238E27FC236}">
                <a16:creationId xmlns:a16="http://schemas.microsoft.com/office/drawing/2014/main" id="{7848980B-3A78-D666-3450-DFE39787814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3B30361-210F-0C86-1A80-ECA062F48EE8}"/>
              </a:ext>
            </a:extLst>
          </p:cNvPr>
          <p:cNvSpPr>
            <a:spLocks noGrp="1"/>
          </p:cNvSpPr>
          <p:nvPr>
            <p:ph type="body" sz="quarter" idx="16"/>
          </p:nvPr>
        </p:nvSpPr>
        <p:spPr/>
        <p:txBody>
          <a:bodyPr/>
          <a:lstStyle/>
          <a:p>
            <a:pPr algn="just"/>
            <a:r>
              <a:rPr lang="en-US" dirty="0">
                <a:hlinkClick r:id="rId3"/>
              </a:rPr>
              <a:t>Container runtime antimalware detection and blocking (Preview)</a:t>
            </a:r>
            <a:endParaRPr lang="en-US" dirty="0"/>
          </a:p>
          <a:p>
            <a:pPr algn="just"/>
            <a:r>
              <a:rPr lang="en-US" dirty="0"/>
              <a:t>Microsoft Defender for Cloud is announcing container runtime anti-malware detection and prevention in preview. This feature provides real-time detection and prevention of malware in containerized workloads across Azure Kubernetes Service (AKS), Amazon Elastic Kubernetes Service (EKS), and Google Kubernetes Engine (GKE) environments. With this release, you can create anti-malware rules to define conditions for generating alerts and blocking malware, helping you protect your clusters from threats while minimizing false positives.</a:t>
            </a:r>
          </a:p>
        </p:txBody>
      </p:sp>
    </p:spTree>
    <p:extLst>
      <p:ext uri="{BB962C8B-B14F-4D97-AF65-F5344CB8AC3E}">
        <p14:creationId xmlns:p14="http://schemas.microsoft.com/office/powerpoint/2010/main" val="199692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EDDB4-7621-798A-090B-3F48CD980D51}"/>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EA49D73-280D-0307-3C1A-932883BD3815}"/>
              </a:ext>
            </a:extLst>
          </p:cNvPr>
          <p:cNvSpPr>
            <a:spLocks noGrp="1"/>
          </p:cNvSpPr>
          <p:nvPr>
            <p:ph type="body" sz="quarter" idx="10"/>
          </p:nvPr>
        </p:nvSpPr>
        <p:spPr/>
        <p:txBody>
          <a:bodyPr/>
          <a:lstStyle/>
          <a:p>
            <a:pPr algn="just"/>
            <a:r>
              <a:rPr lang="en-US" sz="1000" dirty="0">
                <a:hlinkClick r:id="rId2"/>
              </a:rPr>
              <a:t>Scanning support for </a:t>
            </a:r>
            <a:r>
              <a:rPr lang="en-US" sz="1000" dirty="0" err="1">
                <a:hlinkClick r:id="rId2"/>
              </a:rPr>
              <a:t>Minimus</a:t>
            </a:r>
            <a:r>
              <a:rPr lang="en-US" sz="1000" dirty="0">
                <a:hlinkClick r:id="rId2"/>
              </a:rPr>
              <a:t> and Photon OS container images</a:t>
            </a:r>
            <a:endParaRPr lang="en-US" sz="1000" dirty="0"/>
          </a:p>
          <a:p>
            <a:pPr algn="just"/>
            <a:r>
              <a:rPr lang="en-US" sz="1000" dirty="0"/>
              <a:t>Microsoft Defender for Cloud's vulnerability scanner, powered by Microsoft Defender Vulnerability Management, is extending its scanning coverage to </a:t>
            </a:r>
            <a:r>
              <a:rPr lang="en-US" sz="1000" dirty="0" err="1"/>
              <a:t>Minimus</a:t>
            </a:r>
            <a:r>
              <a:rPr lang="en-US" sz="1000" dirty="0"/>
              <a:t> and Photon OS container images, and identify vulnerabilities in </a:t>
            </a:r>
            <a:r>
              <a:rPr lang="en-US" sz="1000" dirty="0" err="1"/>
              <a:t>Minimus</a:t>
            </a:r>
            <a:r>
              <a:rPr lang="en-US" sz="1000" dirty="0"/>
              <a:t> Images and Photos OS to validate that they're shipping the most secure builds possible. As additional image types are being scanned, your bill might increase.</a:t>
            </a:r>
          </a:p>
        </p:txBody>
      </p:sp>
      <p:sp>
        <p:nvSpPr>
          <p:cNvPr id="11" name="Title 10">
            <a:extLst>
              <a:ext uri="{FF2B5EF4-FFF2-40B4-BE49-F238E27FC236}">
                <a16:creationId xmlns:a16="http://schemas.microsoft.com/office/drawing/2014/main" id="{9812FFA8-51B7-6884-CF0E-C93CC8AFDF47}"/>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181E9D90-FC8D-4BB4-1192-06287944D69A}"/>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7653CBA-7798-1DDA-935D-84A87F7469B1}"/>
              </a:ext>
            </a:extLst>
          </p:cNvPr>
          <p:cNvSpPr>
            <a:spLocks noGrp="1"/>
          </p:cNvSpPr>
          <p:nvPr>
            <p:ph type="body" sz="quarter" idx="16"/>
          </p:nvPr>
        </p:nvSpPr>
        <p:spPr/>
        <p:txBody>
          <a:bodyPr/>
          <a:lstStyle/>
          <a:p>
            <a:r>
              <a:rPr lang="en-US" dirty="0">
                <a:hlinkClick r:id="rId3"/>
              </a:rPr>
              <a:t>Database-level recommendations experience for SQL Vulnerability Assessment (Preview)</a:t>
            </a:r>
            <a:endParaRPr lang="en-US" dirty="0"/>
          </a:p>
          <a:p>
            <a:pPr algn="just"/>
            <a:r>
              <a:rPr lang="en-US" dirty="0"/>
              <a:t>This update applies to SQL VA across all supported database types (PaaS and IaaS), including both classic and express configurations.</a:t>
            </a:r>
          </a:p>
          <a:p>
            <a:pPr algn="just"/>
            <a:r>
              <a:rPr lang="en-US" dirty="0"/>
              <a:t>In this experience, each SQL Vulnerability Assessment rule generates a separate assessment for each affected database. Assessments are displayed and managed as recommendations in the Defender for Cloud </a:t>
            </a:r>
            <a:r>
              <a:rPr lang="en-US" b="1" dirty="0"/>
              <a:t>Recommendations</a:t>
            </a:r>
            <a:r>
              <a:rPr lang="en-US" dirty="0"/>
              <a:t> page.</a:t>
            </a:r>
          </a:p>
          <a:p>
            <a:pPr algn="just"/>
            <a:r>
              <a:rPr lang="en-US" dirty="0"/>
              <a:t>The database-level experience keeps the same security capabilities and doesn’t affect SQL VA scanning logic, rules, queries, scan schedules, APIs, or pricing. It only provides another way to consume and manage findings that's consistent with all Defender for Cloud recommendations.</a:t>
            </a:r>
          </a:p>
          <a:p>
            <a:pPr algn="just"/>
            <a:r>
              <a:rPr lang="en-US" dirty="0"/>
              <a:t>During preview, the new database-level assessments don’t affect Secure Score in the Azure portal but do contribute to Secure Score in the Defender portal.</a:t>
            </a:r>
          </a:p>
          <a:p>
            <a:pPr algn="just"/>
            <a:r>
              <a:rPr lang="en-US" dirty="0"/>
              <a:t>The SQL </a:t>
            </a:r>
            <a:r>
              <a:rPr lang="en-US" dirty="0">
                <a:hlinkClick r:id="rId4"/>
              </a:rPr>
              <a:t>vulnerability assessment rules reference</a:t>
            </a:r>
            <a:r>
              <a:rPr lang="en-US" dirty="0"/>
              <a:t> has been updated to include the new database-level recommendation names and assessment identifiers.</a:t>
            </a:r>
          </a:p>
          <a:p>
            <a:pPr algn="just"/>
            <a:r>
              <a:rPr lang="en-US" dirty="0"/>
              <a:t>The existing server-level (aggregated) experience remains available during preview.</a:t>
            </a:r>
          </a:p>
          <a:p>
            <a:endParaRPr lang="en-US" dirty="0"/>
          </a:p>
        </p:txBody>
      </p:sp>
    </p:spTree>
    <p:extLst>
      <p:ext uri="{BB962C8B-B14F-4D97-AF65-F5344CB8AC3E}">
        <p14:creationId xmlns:p14="http://schemas.microsoft.com/office/powerpoint/2010/main" val="3107719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247821F-CCC3-D85E-C752-FECBFB1B740B}"/>
              </a:ext>
            </a:extLst>
          </p:cNvPr>
          <p:cNvSpPr>
            <a:spLocks noGrp="1"/>
          </p:cNvSpPr>
          <p:nvPr>
            <p:ph type="body" sz="quarter" idx="10"/>
          </p:nvPr>
        </p:nvSpPr>
        <p:spPr/>
        <p:txBody>
          <a:bodyPr/>
          <a:lstStyle/>
          <a:p>
            <a:pPr algn="just"/>
            <a:r>
              <a:rPr lang="en-US" sz="1000" dirty="0">
                <a:hlinkClick r:id="rId2"/>
              </a:rPr>
              <a:t>Updated CIEM recommendation logic</a:t>
            </a:r>
            <a:endParaRPr lang="en-US" sz="1000" dirty="0"/>
          </a:p>
          <a:p>
            <a:pPr algn="just"/>
            <a:r>
              <a:rPr lang="en-US" sz="1000" dirty="0"/>
              <a:t>Cloud Infrastructure Entitlement Management (CIEM) recommendations are now available as a native capability in Microsoft Defender for Cloud across Azure, Amazon Web Services (AWS), and Google Cloud Platform (GCP).</a:t>
            </a:r>
          </a:p>
          <a:p>
            <a:pPr algn="just"/>
            <a:r>
              <a:rPr lang="en-US" sz="1000" dirty="0"/>
              <a:t>This update changes how inactive identities and over-permissioned roles are evaluated and improves recommendation accuracy. It may affect existing recommendation results.</a:t>
            </a:r>
          </a:p>
        </p:txBody>
      </p:sp>
      <p:sp>
        <p:nvSpPr>
          <p:cNvPr id="3" name="Title 2">
            <a:extLst>
              <a:ext uri="{FF2B5EF4-FFF2-40B4-BE49-F238E27FC236}">
                <a16:creationId xmlns:a16="http://schemas.microsoft.com/office/drawing/2014/main" id="{A4397C39-042A-2F0C-49C2-B74E46E546B2}"/>
              </a:ext>
            </a:extLst>
          </p:cNvPr>
          <p:cNvSpPr>
            <a:spLocks noGrp="1"/>
          </p:cNvSpPr>
          <p:nvPr>
            <p:ph type="title"/>
          </p:nvPr>
        </p:nvSpPr>
        <p:spPr/>
        <p:txBody>
          <a:bodyPr/>
          <a:lstStyle/>
          <a:p>
            <a:r>
              <a:rPr lang="en-US" sz="1600" dirty="0"/>
              <a:t>Security &amp; Identity Updates</a:t>
            </a:r>
            <a:endParaRPr lang="en-US" dirty="0"/>
          </a:p>
        </p:txBody>
      </p:sp>
      <p:sp>
        <p:nvSpPr>
          <p:cNvPr id="4" name="Text Placeholder 3">
            <a:extLst>
              <a:ext uri="{FF2B5EF4-FFF2-40B4-BE49-F238E27FC236}">
                <a16:creationId xmlns:a16="http://schemas.microsoft.com/office/drawing/2014/main" id="{9E0B287F-0304-737E-2A1C-3096CA758D62}"/>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3F6E15E0-75C1-357C-A34B-905A95B64355}"/>
              </a:ext>
            </a:extLst>
          </p:cNvPr>
          <p:cNvSpPr>
            <a:spLocks noGrp="1"/>
          </p:cNvSpPr>
          <p:nvPr>
            <p:ph type="body" sz="quarter" idx="16"/>
          </p:nvPr>
        </p:nvSpPr>
        <p:spPr/>
        <p:txBody>
          <a:bodyPr/>
          <a:lstStyle/>
          <a:p>
            <a:pPr algn="just"/>
            <a:r>
              <a:rPr lang="en-US" dirty="0">
                <a:hlinkClick r:id="rId3" action="ppaction://hlinkfile"/>
              </a:rPr>
              <a:t>Simulate alerts for SQL servers on machines</a:t>
            </a:r>
            <a:endParaRPr lang="en-US" dirty="0"/>
          </a:p>
          <a:p>
            <a:pPr algn="just"/>
            <a:r>
              <a:rPr lang="en-US" dirty="0"/>
              <a:t>Microsoft Defender for Cloud’s SQL simulated alerts is now generally available. Simulated alerts allow security teams safely validate SQL protection, detections, and automated response workflows without introducing real risk.</a:t>
            </a:r>
          </a:p>
          <a:p>
            <a:pPr algn="just"/>
            <a:r>
              <a:rPr lang="en-US" dirty="0"/>
              <a:t>Simulated alerts generates realistic alerts with full SQL and machine context on Azure VMs or Arc‑connected machines, enabling end‑to‑end testing of playbooks and SOC readiness. All alerts are produced locally using a safe script extension, with no external payloads or impact to production resources.</a:t>
            </a:r>
          </a:p>
        </p:txBody>
      </p:sp>
    </p:spTree>
    <p:extLst>
      <p:ext uri="{BB962C8B-B14F-4D97-AF65-F5344CB8AC3E}">
        <p14:creationId xmlns:p14="http://schemas.microsoft.com/office/powerpoint/2010/main" val="2235301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2A5C-E35F-E18E-05A4-B6AF8CF698D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21B0A37-B626-6209-EE63-BDBE1E100FF0}"/>
              </a:ext>
            </a:extLst>
          </p:cNvPr>
          <p:cNvSpPr>
            <a:spLocks noGrp="1"/>
          </p:cNvSpPr>
          <p:nvPr>
            <p:ph type="body" sz="quarter" idx="10"/>
          </p:nvPr>
        </p:nvSpPr>
        <p:spPr>
          <a:xfrm>
            <a:off x="4433776" y="855081"/>
            <a:ext cx="4365038" cy="2116720"/>
          </a:xfrm>
        </p:spPr>
        <p:txBody>
          <a:bodyPr/>
          <a:lstStyle/>
          <a:p>
            <a:pPr algn="just"/>
            <a:r>
              <a:rPr lang="en-US" sz="1000" dirty="0">
                <a:hlinkClick r:id="rId2"/>
              </a:rPr>
              <a:t>Introducing Azure Managed Grafana 12</a:t>
            </a:r>
            <a:endParaRPr lang="en-US" sz="1000" dirty="0"/>
          </a:p>
          <a:p>
            <a:pPr algn="just"/>
            <a:r>
              <a:rPr lang="en-US" sz="1000" dirty="0"/>
              <a:t>What’s new in Azure Managed Grafana 12</a:t>
            </a:r>
          </a:p>
          <a:p>
            <a:pPr marL="171450" indent="-171450" algn="just">
              <a:buFont typeface="Arial" panose="020B0604020202020204" pitchFamily="34" charset="0"/>
              <a:buChar char="•"/>
            </a:pPr>
            <a:r>
              <a:rPr lang="en-US" sz="1000" dirty="0"/>
              <a:t>Use current-user Entra authentication for supported Azure data sources to query with the signed-in user’s permissions.</a:t>
            </a:r>
          </a:p>
          <a:p>
            <a:pPr marL="171450" indent="-171450" algn="just">
              <a:buFont typeface="Arial" panose="020B0604020202020204" pitchFamily="34" charset="0"/>
              <a:buChar char="•"/>
            </a:pPr>
            <a:r>
              <a:rPr lang="en-US" sz="1000" dirty="0"/>
              <a:t>Analyze Azure Monitor logs faster with a new query builder and improved visualization and Explore experiences.</a:t>
            </a:r>
          </a:p>
          <a:p>
            <a:pPr marL="171450" indent="-171450" algn="just">
              <a:buFont typeface="Arial" panose="020B0604020202020204" pitchFamily="34" charset="0"/>
              <a:buChar char="•"/>
            </a:pPr>
            <a:r>
              <a:rPr lang="en-US" sz="1000" dirty="0"/>
              <a:t>Explore Prometheus metrics with improved drill-down, prefix and suffix filters, group-by label support, plus </a:t>
            </a:r>
            <a:r>
              <a:rPr lang="en-US" sz="1000" dirty="0" err="1"/>
              <a:t>OpenTelemetry</a:t>
            </a:r>
            <a:r>
              <a:rPr lang="en-US" sz="1000" dirty="0"/>
              <a:t> and native histogram support.</a:t>
            </a:r>
          </a:p>
          <a:p>
            <a:pPr marL="171450" indent="-171450" algn="just">
              <a:buFont typeface="Arial" panose="020B0604020202020204" pitchFamily="34" charset="0"/>
              <a:buChar char="•"/>
            </a:pPr>
            <a:r>
              <a:rPr lang="en-US" sz="1000" dirty="0"/>
              <a:t>Use updated, pre-built database monitoring dashboards for Azure PostgreSQL, Azure SQL, and SQL Managed Instance (SQL MI).</a:t>
            </a:r>
          </a:p>
        </p:txBody>
      </p:sp>
      <p:sp>
        <p:nvSpPr>
          <p:cNvPr id="11" name="Title 10">
            <a:extLst>
              <a:ext uri="{FF2B5EF4-FFF2-40B4-BE49-F238E27FC236}">
                <a16:creationId xmlns:a16="http://schemas.microsoft.com/office/drawing/2014/main" id="{89DE73F3-4A2F-648B-BD17-44C88CDB5688}"/>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1A20683A-1573-CC2D-401E-61BAED70A144}"/>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5FF973-31C8-BEFD-DC1E-6209231AED94}"/>
              </a:ext>
            </a:extLst>
          </p:cNvPr>
          <p:cNvSpPr>
            <a:spLocks noGrp="1"/>
          </p:cNvSpPr>
          <p:nvPr>
            <p:ph type="body" sz="quarter" idx="16"/>
          </p:nvPr>
        </p:nvSpPr>
        <p:spPr/>
        <p:txBody>
          <a:bodyPr/>
          <a:lstStyle/>
          <a:p>
            <a:pPr algn="just"/>
            <a:r>
              <a:rPr lang="en-US" dirty="0">
                <a:hlinkClick r:id="rId3"/>
              </a:rPr>
              <a:t>Generally Available: Summary rules in Log Analytics workspace now support manual “Retry bin”</a:t>
            </a:r>
            <a:endParaRPr lang="en-US" dirty="0"/>
          </a:p>
          <a:p>
            <a:pPr algn="just"/>
            <a:r>
              <a:rPr lang="en-US" dirty="0"/>
              <a:t>Microsoft introduced the </a:t>
            </a:r>
            <a:r>
              <a:rPr lang="en-US" b="1" dirty="0"/>
              <a:t>“Retry bin” capability for Summary Rules</a:t>
            </a:r>
            <a:r>
              <a:rPr lang="en-US" dirty="0"/>
              <a:t> in Azure Monitor Log Analytics.</a:t>
            </a:r>
            <a:br>
              <a:rPr lang="en-US" dirty="0"/>
            </a:br>
            <a:r>
              <a:rPr lang="en-US" dirty="0"/>
              <a:t>This feature allows administrators to </a:t>
            </a:r>
            <a:r>
              <a:rPr lang="en-US" b="1" dirty="0"/>
              <a:t>reprocess a specific failed aggregation time bin</a:t>
            </a:r>
            <a:r>
              <a:rPr lang="en-US" dirty="0"/>
              <a:t> without modifying the rule or rebuilding the summarized dataset.</a:t>
            </a:r>
          </a:p>
        </p:txBody>
      </p:sp>
    </p:spTree>
    <p:extLst>
      <p:ext uri="{BB962C8B-B14F-4D97-AF65-F5344CB8AC3E}">
        <p14:creationId xmlns:p14="http://schemas.microsoft.com/office/powerpoint/2010/main" val="2370736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Introducing the Windows </a:t>
            </a:r>
            <a:r>
              <a:rPr lang="en-US" dirty="0" err="1">
                <a:hlinkClick r:id="rId2"/>
              </a:rPr>
              <a:t>NVMe-oF</a:t>
            </a:r>
            <a:r>
              <a:rPr lang="en-US" dirty="0">
                <a:hlinkClick r:id="rId2"/>
              </a:rPr>
              <a:t> Initiator Preview in Windows Server Insiders Builds</a:t>
            </a:r>
            <a:endParaRPr lang="en-US" dirty="0"/>
          </a:p>
          <a:p>
            <a:pPr algn="just"/>
            <a:r>
              <a:rPr lang="en-US" dirty="0"/>
              <a:t>MS announced that a basic </a:t>
            </a:r>
            <a:r>
              <a:rPr lang="en-US" dirty="0" err="1"/>
              <a:t>NVMe</a:t>
            </a:r>
            <a:r>
              <a:rPr lang="en-US" dirty="0"/>
              <a:t>-over-Fabrics (</a:t>
            </a:r>
            <a:r>
              <a:rPr lang="en-US" dirty="0" err="1"/>
              <a:t>NVMe-oF</a:t>
            </a:r>
            <a:r>
              <a:rPr lang="en-US" dirty="0"/>
              <a:t>) initiator is now available in the latest Windows Server Insiders build. This release introduces an in-box Windows initiator for </a:t>
            </a:r>
            <a:r>
              <a:rPr lang="en-US" dirty="0" err="1"/>
              <a:t>NVMe</a:t>
            </a:r>
            <a:r>
              <a:rPr lang="en-US" dirty="0"/>
              <a:t>/TCP and </a:t>
            </a:r>
            <a:r>
              <a:rPr lang="en-US" dirty="0" err="1"/>
              <a:t>NVMe</a:t>
            </a:r>
            <a:r>
              <a:rPr lang="en-US" dirty="0"/>
              <a:t>/RDMA, enabling early evaluation of networked </a:t>
            </a:r>
            <a:r>
              <a:rPr lang="en-US" dirty="0" err="1"/>
              <a:t>NVMe</a:t>
            </a:r>
            <a:r>
              <a:rPr lang="en-US" dirty="0"/>
              <a:t> storage using native Windows Server components. </a:t>
            </a:r>
          </a:p>
          <a:p>
            <a:pPr algn="just"/>
            <a:r>
              <a:rPr lang="en-US" b="1" dirty="0" err="1"/>
              <a:t>NVMe</a:t>
            </a:r>
            <a:r>
              <a:rPr lang="en-US" b="1" dirty="0"/>
              <a:t>-over-Fabrics (</a:t>
            </a:r>
            <a:r>
              <a:rPr lang="en-US" b="1" dirty="0" err="1"/>
              <a:t>NVMe-oF</a:t>
            </a:r>
            <a:r>
              <a:rPr lang="en-US" b="1" dirty="0"/>
              <a:t>)</a:t>
            </a:r>
            <a:r>
              <a:rPr lang="en-US" dirty="0"/>
              <a:t> extends the </a:t>
            </a:r>
            <a:r>
              <a:rPr lang="en-US" dirty="0" err="1"/>
              <a:t>NVMe</a:t>
            </a:r>
            <a:r>
              <a:rPr lang="en-US" dirty="0"/>
              <a:t> protocol—originally designed for local PCIe-attached SSDs—across a network fabric. Instead of using legacy SCSI-based protocols such as iSCSI or </a:t>
            </a:r>
            <a:r>
              <a:rPr lang="en-US" dirty="0" err="1"/>
              <a:t>Fibre</a:t>
            </a:r>
            <a:r>
              <a:rPr lang="en-US" dirty="0"/>
              <a:t> Channel, </a:t>
            </a:r>
            <a:r>
              <a:rPr lang="en-US" dirty="0" err="1"/>
              <a:t>NVMe-oF</a:t>
            </a:r>
            <a:r>
              <a:rPr lang="en-US" dirty="0"/>
              <a:t> allows a host to communicate directly with </a:t>
            </a:r>
            <a:r>
              <a:rPr lang="en-US" b="1" dirty="0"/>
              <a:t>remote </a:t>
            </a:r>
            <a:r>
              <a:rPr lang="en-US" b="1" dirty="0" err="1"/>
              <a:t>NVMe</a:t>
            </a:r>
            <a:r>
              <a:rPr lang="en-US" b="1" dirty="0"/>
              <a:t> controllers</a:t>
            </a:r>
            <a:r>
              <a:rPr lang="en-US" dirty="0"/>
              <a:t> using the same </a:t>
            </a:r>
            <a:r>
              <a:rPr lang="en-US" dirty="0" err="1"/>
              <a:t>NVMe</a:t>
            </a:r>
            <a:r>
              <a:rPr lang="en-US" dirty="0"/>
              <a:t> command set used for local devices. In this Insider build, Windows Server supports:</a:t>
            </a:r>
          </a:p>
          <a:p>
            <a:pPr marL="171450" indent="-171450" algn="just">
              <a:buFont typeface="Arial" panose="020B0604020202020204" pitchFamily="34" charset="0"/>
              <a:buChar char="•"/>
            </a:pPr>
            <a:r>
              <a:rPr lang="en-US" b="1" dirty="0" err="1"/>
              <a:t>NVMe-oF</a:t>
            </a:r>
            <a:r>
              <a:rPr lang="en-US" b="1" dirty="0"/>
              <a:t> over TCP (</a:t>
            </a:r>
            <a:r>
              <a:rPr lang="en-US" b="1" dirty="0" err="1"/>
              <a:t>NVMe</a:t>
            </a:r>
            <a:r>
              <a:rPr lang="en-US" b="1" dirty="0"/>
              <a:t>/TCP)</a:t>
            </a:r>
            <a:r>
              <a:rPr lang="en-US" dirty="0"/>
              <a:t>, allowing </a:t>
            </a:r>
            <a:r>
              <a:rPr lang="en-US" dirty="0" err="1"/>
              <a:t>NVMe-oF</a:t>
            </a:r>
            <a:r>
              <a:rPr lang="en-US" dirty="0"/>
              <a:t> to run over standard Ethernet networks without specialized hardware.</a:t>
            </a:r>
          </a:p>
          <a:p>
            <a:pPr marL="171450" indent="-171450" algn="just">
              <a:buFont typeface="Arial" panose="020B0604020202020204" pitchFamily="34" charset="0"/>
              <a:buChar char="•"/>
            </a:pPr>
            <a:r>
              <a:rPr lang="en-US" b="1" dirty="0" err="1"/>
              <a:t>NVMe-oF</a:t>
            </a:r>
            <a:r>
              <a:rPr lang="en-US" b="1" dirty="0"/>
              <a:t> over RDMA (</a:t>
            </a:r>
            <a:r>
              <a:rPr lang="en-US" b="1" dirty="0" err="1"/>
              <a:t>NVMe</a:t>
            </a:r>
            <a:r>
              <a:rPr lang="en-US" b="1" dirty="0"/>
              <a:t>/RDMA)</a:t>
            </a:r>
            <a:r>
              <a:rPr lang="en-US" dirty="0"/>
              <a:t>, enabling low-latency, high-throughput </a:t>
            </a:r>
            <a:r>
              <a:rPr lang="en-US" dirty="0" err="1"/>
              <a:t>NVMe</a:t>
            </a:r>
            <a:r>
              <a:rPr lang="en-US" dirty="0"/>
              <a:t> access over RDMA-capable networks (for example, RoCE or </a:t>
            </a:r>
            <a:r>
              <a:rPr lang="en-US" dirty="0" err="1"/>
              <a:t>iWARP</a:t>
            </a:r>
            <a:r>
              <a:rPr lang="en-US" dirty="0"/>
              <a:t>) using supported RDMA NICs.</a:t>
            </a:r>
          </a:p>
          <a:p>
            <a:pPr algn="just"/>
            <a:endParaRPr lang="en-US" dirty="0"/>
          </a:p>
          <a:p>
            <a:pPr algn="just"/>
            <a:endParaRPr lang="en-US" dirty="0"/>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736A2DE-B6FD-C635-9880-42440690A8EF}"/>
              </a:ext>
            </a:extLst>
          </p:cNvPr>
          <p:cNvSpPr>
            <a:spLocks noGrp="1"/>
          </p:cNvSpPr>
          <p:nvPr>
            <p:ph type="body" sz="quarter" idx="10"/>
          </p:nvPr>
        </p:nvSpPr>
        <p:spPr/>
        <p:txBody>
          <a:bodyPr/>
          <a:lstStyle/>
          <a:p>
            <a:pPr algn="just"/>
            <a:r>
              <a:rPr lang="en-US" sz="1000" dirty="0">
                <a:hlinkClick r:id="rId2"/>
              </a:rPr>
              <a:t>Frontline shared mode expands to Germany West Central &amp; Switzerland North</a:t>
            </a:r>
            <a:endParaRPr lang="ru-RU" sz="1000" dirty="0"/>
          </a:p>
          <a:p>
            <a:pPr algn="just"/>
            <a:r>
              <a:rPr lang="en-US" sz="1000" dirty="0"/>
              <a:t>MS announced that Windows 365 Frontline in shared mode is now available in Germany, West Central, and Switzerland North within the Europe geography, bringing Cloud PCs even closer to customers across Europe.</a:t>
            </a:r>
          </a:p>
          <a:p>
            <a:pPr algn="just"/>
            <a:r>
              <a:rPr lang="en-US" sz="1000" dirty="0"/>
              <a:t>With Germany West Central and Switzerland North now supported, customers can place Cloud PCs closer to users to realize lower latency and local data residency through the Microsoft Cloud.</a:t>
            </a:r>
          </a:p>
          <a:p>
            <a:pPr algn="just"/>
            <a:r>
              <a:rPr lang="en-US" sz="1000" dirty="0"/>
              <a:t>This expansion strengthens global coverage and helps customers who need to keep data within national borders, meet industry or government compliance expectations, or provide users with faster, more consistent Cloud PC experiences. </a:t>
            </a:r>
          </a:p>
        </p:txBody>
      </p:sp>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dirty="0"/>
              <a:t>Windows 365 Enterprise Updates</a:t>
            </a:r>
            <a:br>
              <a:rPr lang="en-US" dirty="0"/>
            </a:b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a:xfrm>
            <a:off x="342900" y="855080"/>
            <a:ext cx="3955312" cy="1850645"/>
          </a:xfrm>
        </p:spPr>
        <p:txBody>
          <a:bodyPr/>
          <a:lstStyle/>
          <a:p>
            <a:pPr marL="171450" indent="-171450">
              <a:buFont typeface="Arial" panose="020B0604020202020204" pitchFamily="34" charset="0"/>
              <a:buChar char="•"/>
            </a:pPr>
            <a:r>
              <a:rPr lang="en-US" dirty="0">
                <a:hlinkClick r:id="rId3"/>
              </a:rPr>
              <a:t>Windows first sign-in restore experience now available</a:t>
            </a:r>
          </a:p>
          <a:p>
            <a:pPr marL="171450" indent="-171450">
              <a:buFont typeface="Arial" panose="020B0604020202020204" pitchFamily="34" charset="0"/>
              <a:buChar char="•"/>
            </a:pPr>
            <a:r>
              <a:rPr lang="en-US" dirty="0">
                <a:hlinkClick r:id="rId3"/>
              </a:rPr>
              <a:t>Custom images from an Azure Compute Gallery (Public Preview)</a:t>
            </a:r>
          </a:p>
          <a:p>
            <a:pPr marL="171450" indent="-171450">
              <a:buFont typeface="Arial" panose="020B0604020202020204" pitchFamily="34" charset="0"/>
              <a:buChar char="•"/>
            </a:pPr>
            <a:r>
              <a:rPr lang="en-US" dirty="0">
                <a:hlinkClick r:id="rId3"/>
              </a:rPr>
              <a:t>Windows 365 support for New Zealand North</a:t>
            </a:r>
          </a:p>
          <a:p>
            <a:pPr marL="171450" indent="-171450">
              <a:buFont typeface="Arial" panose="020B0604020202020204" pitchFamily="34" charset="0"/>
              <a:buChar char="•"/>
            </a:pPr>
            <a:r>
              <a:rPr lang="en-US" dirty="0">
                <a:hlinkClick r:id="rId3"/>
              </a:rPr>
              <a:t>Region flexibility for Cloud PC provisioning</a:t>
            </a:r>
          </a:p>
          <a:p>
            <a:pPr marL="171450" indent="-171450">
              <a:buFont typeface="Arial" panose="020B0604020202020204" pitchFamily="34" charset="0"/>
              <a:buChar char="•"/>
            </a:pPr>
            <a:r>
              <a:rPr lang="en-US" dirty="0">
                <a:hlinkClick r:id="rId3"/>
              </a:rPr>
              <a:t>Centralized RDP </a:t>
            </a:r>
            <a:r>
              <a:rPr lang="en-US" dirty="0" err="1">
                <a:hlinkClick r:id="rId3"/>
              </a:rPr>
              <a:t>Shortpath</a:t>
            </a:r>
            <a:r>
              <a:rPr lang="en-US" dirty="0">
                <a:hlinkClick r:id="rId3"/>
              </a:rPr>
              <a:t> configuration for Cloud PCs is now generally available</a:t>
            </a:r>
          </a:p>
          <a:p>
            <a:pPr marL="171450" indent="-171450">
              <a:buFont typeface="Arial" panose="020B0604020202020204" pitchFamily="34" charset="0"/>
              <a:buChar char="•"/>
            </a:pPr>
            <a:r>
              <a:rPr lang="en-US" dirty="0">
                <a:hlinkClick r:id="rId3"/>
              </a:rPr>
              <a:t>Migration API now generally available</a:t>
            </a:r>
            <a:endParaRPr lang="en-US" dirty="0"/>
          </a:p>
        </p:txBody>
      </p:sp>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Storage &amp; Data</a:t>
            </a:r>
          </a:p>
        </p:txBody>
      </p:sp>
    </p:spTree>
    <p:extLst>
      <p:ext uri="{BB962C8B-B14F-4D97-AF65-F5344CB8AC3E}">
        <p14:creationId xmlns:p14="http://schemas.microsoft.com/office/powerpoint/2010/main" val="21881407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r>
              <a:rPr lang="en-US" sz="1000" dirty="0">
                <a:hlinkClick r:id="rId2"/>
              </a:rPr>
              <a:t>Enterprise Identity Meets Secure File Transfer: Entra ID Public Preview on Azure Blob Storage SFTP</a:t>
            </a:r>
            <a:endParaRPr lang="en-US" sz="1000" dirty="0"/>
          </a:p>
          <a:p>
            <a:r>
              <a:rPr lang="en-US" sz="1000" dirty="0"/>
              <a:t>MS announced the public preview of Entra ID-based access for Azure Blob Storage SFTP. This new capability enables to use Microsoft Entra ID (formerly Azure Active Directory) identities (including guest users via Entra External Identities) to securely connect to Azure Blob Storage via SFTP without needing local users. This feature eliminates the operational overhead of managing local SFTP users and passwords by introducing enterprise-grade identity management powered by Microsoft Entra ID.</a:t>
            </a:r>
          </a:p>
          <a:p>
            <a:r>
              <a:rPr lang="en-US" sz="1000" dirty="0"/>
              <a:t>For IT administrators and security teams, this means no more creating, tracking, rotating, or decommissioning local SFTP credentials. For developers and architects, it means seamless integration with existing identity infrastructure. For business users, it means faster, more secure access to the data they need, all while maintaining compliance with enterprise security policies.</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Azure Storage Mover enables private data transfers from AWS S3 to Azure Blob</a:t>
            </a:r>
            <a:endParaRPr lang="en-US" dirty="0"/>
          </a:p>
          <a:p>
            <a:pPr algn="just"/>
            <a:r>
              <a:rPr lang="en-US" dirty="0"/>
              <a:t>Microsoft announced an enhancement to </a:t>
            </a:r>
            <a:r>
              <a:rPr lang="en-US" b="1" dirty="0"/>
              <a:t>Azure Storage Mover</a:t>
            </a:r>
            <a:r>
              <a:rPr lang="en-US" dirty="0"/>
              <a:t> that enables </a:t>
            </a:r>
            <a:r>
              <a:rPr lang="en-US" b="1" dirty="0"/>
              <a:t>direct migration from AWS S3 in a Virtual Private Cloud (VPC) to Azure Blob Storage using private networking</a:t>
            </a:r>
            <a:r>
              <a:rPr lang="en-US" dirty="0"/>
              <a:t>.</a:t>
            </a:r>
          </a:p>
          <a:p>
            <a:pPr algn="just"/>
            <a:r>
              <a:rPr lang="en-US" dirty="0"/>
              <a:t>Previously, Azure Storage Mover supported </a:t>
            </a:r>
            <a:r>
              <a:rPr lang="en-US" b="1" dirty="0"/>
              <a:t>AWS → Azure transfers over public internet</a:t>
            </a:r>
            <a:r>
              <a:rPr lang="en-US" dirty="0"/>
              <a:t>.</a:t>
            </a:r>
            <a:br>
              <a:rPr lang="en-US" dirty="0"/>
            </a:br>
            <a:r>
              <a:rPr lang="en-US" dirty="0"/>
              <a:t>This update allows </a:t>
            </a:r>
            <a:r>
              <a:rPr lang="en-US" b="1" dirty="0"/>
              <a:t>secure private connectivity</a:t>
            </a:r>
            <a:r>
              <a:rPr lang="en-US" dirty="0"/>
              <a:t>, removing the need for custom migration pipelines or third-party tools.</a:t>
            </a:r>
          </a:p>
          <a:p>
            <a:pPr algn="just"/>
            <a:endParaRPr lang="en-US" dirty="0"/>
          </a:p>
        </p:txBody>
      </p:sp>
    </p:spTree>
    <p:extLst>
      <p:ext uri="{BB962C8B-B14F-4D97-AF65-F5344CB8AC3E}">
        <p14:creationId xmlns:p14="http://schemas.microsoft.com/office/powerpoint/2010/main" val="3259403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Query Profiler in MSSQL extension for Visual Studio Code</a:t>
            </a:r>
            <a:endParaRPr lang="en-US" sz="1000" dirty="0"/>
          </a:p>
          <a:p>
            <a:pPr algn="just"/>
            <a:r>
              <a:rPr lang="en-US" sz="1000" dirty="0"/>
              <a:t>Microsoft introduced </a:t>
            </a:r>
            <a:r>
              <a:rPr lang="en-US" sz="1000" b="1" dirty="0"/>
              <a:t>Query Profiler</a:t>
            </a:r>
            <a:r>
              <a:rPr lang="en-US" sz="1000" dirty="0"/>
              <a:t> in </a:t>
            </a:r>
            <a:r>
              <a:rPr lang="en-US" sz="1000" b="1" dirty="0"/>
              <a:t>public preview</a:t>
            </a:r>
            <a:r>
              <a:rPr lang="en-US" sz="1000" dirty="0"/>
              <a:t> for the MSSQL Extension for Visual Studio Code.</a:t>
            </a:r>
          </a:p>
          <a:p>
            <a:pPr algn="just"/>
            <a:r>
              <a:rPr lang="en-US" sz="1000" dirty="0"/>
              <a:t>This feature enables </a:t>
            </a:r>
            <a:r>
              <a:rPr lang="en-US" sz="1000" b="1" dirty="0"/>
              <a:t>real-time database activity monitoring directly inside the editor</a:t>
            </a:r>
            <a:r>
              <a:rPr lang="en-US" sz="1000" dirty="0"/>
              <a:t>, helping developers and database engineers quickly analyze query performance while developing or testing applications.</a:t>
            </a:r>
          </a:p>
          <a:p>
            <a:pPr algn="just"/>
            <a:r>
              <a:rPr lang="en-US" sz="1000" dirty="0"/>
              <a:t>Query Profiler allows to </a:t>
            </a:r>
            <a:r>
              <a:rPr lang="en-US" sz="1000" b="1" dirty="0"/>
              <a:t>capture and analyze database activity as it happens</a:t>
            </a:r>
            <a:r>
              <a:rPr lang="en-US" sz="1000" dirty="0"/>
              <a:t> without leaving Visual Studio Code.</a:t>
            </a:r>
          </a:p>
          <a:p>
            <a:pPr algn="just"/>
            <a:r>
              <a:rPr lang="en-US" sz="1000" dirty="0"/>
              <a:t>It provides insight into:</a:t>
            </a:r>
          </a:p>
          <a:p>
            <a:pPr marL="171450" indent="-171450" algn="just">
              <a:buFont typeface="Arial" panose="020B0604020202020204" pitchFamily="34" charset="0"/>
              <a:buChar char="•"/>
            </a:pPr>
            <a:r>
              <a:rPr lang="en-US" sz="1000" dirty="0"/>
              <a:t>Active database sessions</a:t>
            </a:r>
          </a:p>
          <a:p>
            <a:pPr marL="171450" indent="-171450" algn="just">
              <a:buFont typeface="Arial" panose="020B0604020202020204" pitchFamily="34" charset="0"/>
              <a:buChar char="•"/>
            </a:pPr>
            <a:r>
              <a:rPr lang="en-US" sz="1000" dirty="0"/>
              <a:t>Running queries</a:t>
            </a:r>
          </a:p>
          <a:p>
            <a:pPr marL="171450" indent="-171450" algn="just">
              <a:buFont typeface="Arial" panose="020B0604020202020204" pitchFamily="34" charset="0"/>
              <a:buChar char="•"/>
            </a:pPr>
            <a:r>
              <a:rPr lang="en-US" sz="1000" dirty="0"/>
              <a:t>Query execution behavior</a:t>
            </a:r>
          </a:p>
          <a:p>
            <a:pPr marL="171450" indent="-171450" algn="just">
              <a:buFont typeface="Arial" panose="020B0604020202020204" pitchFamily="34" charset="0"/>
              <a:buChar char="•"/>
            </a:pPr>
            <a:r>
              <a:rPr lang="en-US" sz="1000" dirty="0"/>
              <a:t>Performance bottlenecks</a:t>
            </a:r>
          </a:p>
          <a:p>
            <a:pPr marL="171450" indent="-171450" algn="just">
              <a:buFont typeface="Arial" panose="020B0604020202020204" pitchFamily="34" charset="0"/>
              <a:buChar char="•"/>
            </a:pPr>
            <a:r>
              <a:rPr lang="en-US" sz="1000" dirty="0"/>
              <a:t>Slow or resource-intensive operations</a:t>
            </a:r>
          </a:p>
          <a:p>
            <a:pPr algn="just"/>
            <a:r>
              <a:rPr lang="en-US" sz="1000" dirty="0"/>
              <a:t>This helps developers understand </a:t>
            </a:r>
            <a:r>
              <a:rPr lang="en-US" sz="1000" b="1" dirty="0"/>
              <a:t>how applications interact with the database during runtime</a:t>
            </a:r>
            <a:r>
              <a:rPr lang="en-US" sz="1000" dirty="0"/>
              <a:t>.</a:t>
            </a:r>
          </a:p>
          <a:p>
            <a:pPr algn="just"/>
            <a:endParaRPr lang="en-US" sz="1000" dirty="0"/>
          </a:p>
          <a:p>
            <a:pPr algn="just"/>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Customer‑managed encryption keys now supported on Premium SSD v2 disks for Azure Database for PostgreSQL</a:t>
            </a:r>
            <a:endParaRPr lang="en-US" dirty="0"/>
          </a:p>
          <a:p>
            <a:pPr algn="just"/>
            <a:r>
              <a:rPr lang="en-US" dirty="0"/>
              <a:t>It is now possible to enhance data security for Azure Database for PostgreSQL workloads by using customer-managed keys (CMKs) with Premium SSD v2 disks. Available in public preview, this update gives greater control over how data at rest is encrypted, allowing to use own keys stored in Azure Key Vault while continuing to take advantage of the high performance and scalability of Premium SSD v2 storage. CMKs are especially valuable if you operate in regulated industries or need to meet internal compliance requirements that specify customer‑controlled encryption and separation of duties. </a:t>
            </a:r>
          </a:p>
        </p:txBody>
      </p:sp>
    </p:spTree>
    <p:extLst>
      <p:ext uri="{BB962C8B-B14F-4D97-AF65-F5344CB8AC3E}">
        <p14:creationId xmlns:p14="http://schemas.microsoft.com/office/powerpoint/2010/main" val="177697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93715-9869-88DC-2CB8-A7701BFB332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9D1DAA-5541-5F8D-D325-1706397A6A43}"/>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B05E9534-3C35-9313-C6E7-9E564BDFC466}"/>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DE6CD169-A2F9-0F7E-49EE-EC7FAE204B1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510AD9-2A44-5DDF-30FA-DE4500EB2760}"/>
              </a:ext>
            </a:extLst>
          </p:cNvPr>
          <p:cNvSpPr>
            <a:spLocks noGrp="1"/>
          </p:cNvSpPr>
          <p:nvPr>
            <p:ph type="body" sz="quarter" idx="16"/>
          </p:nvPr>
        </p:nvSpPr>
        <p:spPr/>
        <p:txBody>
          <a:bodyPr/>
          <a:lstStyle/>
          <a:p>
            <a:pPr algn="just"/>
            <a:r>
              <a:rPr lang="en-US" dirty="0">
                <a:hlinkClick r:id="rId2"/>
              </a:rPr>
              <a:t>Generally Available: Azure Database for PostgreSQL dashboards with Grafana</a:t>
            </a:r>
            <a:endParaRPr lang="en-US" dirty="0"/>
          </a:p>
          <a:p>
            <a:pPr algn="just"/>
            <a:r>
              <a:rPr lang="en-US" dirty="0"/>
              <a:t>It is now possible to monitor  Azure Database for PostgreSQL with rich, built-in Grafana dashboards—right from the Azure portal. This native integration with Azure Monitor means you no longer need to set up or manage a separate Grafana instance to get deep visibility into database performance. </a:t>
            </a:r>
            <a:br>
              <a:rPr lang="en-US" dirty="0"/>
            </a:br>
            <a:r>
              <a:rPr lang="en-US" dirty="0"/>
              <a:t>With just a few clicks, you can see prebuilt dashboards showing real-time metrics like CPU usage, storage, active connections, query throughput, and more. You can also correlate metrics with PostgreSQL logs, helping you troubleshoot slow queries and spikes instantly. Grafana Explore is available too, so you can dive deeper into your data when needed. </a:t>
            </a:r>
          </a:p>
        </p:txBody>
      </p:sp>
    </p:spTree>
    <p:extLst>
      <p:ext uri="{BB962C8B-B14F-4D97-AF65-F5344CB8AC3E}">
        <p14:creationId xmlns:p14="http://schemas.microsoft.com/office/powerpoint/2010/main" val="58001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marL="171450" indent="-171450">
              <a:buFont typeface="Arial" panose="020B0604020202020204" pitchFamily="34" charset="0"/>
              <a:buChar char="•"/>
            </a:pPr>
            <a:r>
              <a:rPr lang="en-US" sz="1000" dirty="0"/>
              <a:t>AI Toolkit for VS Code v0.30.0: Tool Catalog, Agent Inspector with F5 debugging, and a redesigned Agent Builder.</a:t>
            </a:r>
          </a:p>
          <a:p>
            <a:pPr marL="171450" indent="-171450">
              <a:buFont typeface="Arial" panose="020B0604020202020204" pitchFamily="34" charset="0"/>
              <a:buChar char="•"/>
            </a:pPr>
            <a:r>
              <a:rPr lang="en-US" sz="1000" dirty="0"/>
              <a:t>Foundry REST API (GA): The core Foundry REST surface — the /</a:t>
            </a:r>
            <a:r>
              <a:rPr lang="en-US" sz="1000" dirty="0" err="1"/>
              <a:t>openai</a:t>
            </a:r>
            <a:r>
              <a:rPr lang="en-US" sz="1000" dirty="0"/>
              <a:t>/v1/ routes — is now production-ready. SDKs across all languages are building on it in pre-release — GA announcements imminent.</a:t>
            </a:r>
          </a:p>
          <a:p>
            <a:pPr marL="171450" indent="-171450">
              <a:buFont typeface="Arial" panose="020B0604020202020204" pitchFamily="34" charset="0"/>
              <a:buChar char="•"/>
            </a:pPr>
            <a:r>
              <a:rPr lang="en-US" sz="1000" dirty="0"/>
              <a:t>SDK releases across all languages: Python (2.0.0b4), .NET (2.0.0-beta.1), JS/TS (2.0.0-beta.4), and Java (2.0.0-beta.1) all shipped new betas targeting the GA REST surface with significant breaking changes — tool class renames, credential updates, and preview feature opt-in flags.</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r>
              <a:rPr lang="en-US" dirty="0">
                <a:hlinkClick r:id="rId2"/>
              </a:rPr>
              <a:t>What’s new in Microsoft Foundry | February 2026</a:t>
            </a:r>
            <a:endParaRPr lang="en-US" dirty="0"/>
          </a:p>
          <a:p>
            <a:pPr marL="171450" indent="-171450" algn="just">
              <a:buFont typeface="Arial" panose="020B0604020202020204" pitchFamily="34" charset="0"/>
              <a:buChar char="•"/>
            </a:pPr>
            <a:r>
              <a:rPr lang="en-US" dirty="0"/>
              <a:t>Claude Opus 4.6 + Sonnet 4.6: </a:t>
            </a:r>
            <a:r>
              <a:rPr lang="en-US" dirty="0" err="1"/>
              <a:t>Anthropic’s</a:t>
            </a:r>
            <a:r>
              <a:rPr lang="en-US" dirty="0"/>
              <a:t> frontier models arrive in Foundry with 1M-token context (beta), adaptive thinking, and context compaction — Opus for deep reasoning, Sonnet for cost-efficient scale.</a:t>
            </a:r>
          </a:p>
          <a:p>
            <a:pPr marL="171450" indent="-171450" algn="just">
              <a:buFont typeface="Arial" panose="020B0604020202020204" pitchFamily="34" charset="0"/>
              <a:buChar char="•"/>
            </a:pPr>
            <a:r>
              <a:rPr lang="en-US" dirty="0"/>
              <a:t>GPT-Realtime-1.5 &amp; GPT-Audio-1.5: Next-gen audio models with +7% instruction following, better multilingual support, and +10% alphanumeric transcription accuracy.</a:t>
            </a:r>
          </a:p>
          <a:p>
            <a:pPr marL="171450" indent="-171450" algn="just">
              <a:buFont typeface="Arial" panose="020B0604020202020204" pitchFamily="34" charset="0"/>
              <a:buChar char="•"/>
            </a:pPr>
            <a:r>
              <a:rPr lang="en-US" dirty="0"/>
              <a:t>Grok 4.0 (GA) + Grok 4.1 Fast (Preview): </a:t>
            </a:r>
            <a:r>
              <a:rPr lang="en-US" dirty="0" err="1"/>
              <a:t>xAI’s</a:t>
            </a:r>
            <a:r>
              <a:rPr lang="en-US" dirty="0"/>
              <a:t> reasoning model graduates to GA; the new Fast variant lands at $0.20/M input tokens for high-throughput non-reasoning workloads.</a:t>
            </a:r>
          </a:p>
          <a:p>
            <a:pPr marL="171450" indent="-171450" algn="just">
              <a:buFont typeface="Arial" panose="020B0604020202020204" pitchFamily="34" charset="0"/>
              <a:buChar char="•"/>
            </a:pPr>
            <a:r>
              <a:rPr lang="en-US" dirty="0"/>
              <a:t>FLUX.2 Flex: Text-heavy image generation purpose-built for UI prototyping and typography at $0.05/megapixel.</a:t>
            </a:r>
          </a:p>
          <a:p>
            <a:pPr marL="171450" indent="-171450" algn="just">
              <a:buFont typeface="Arial" panose="020B0604020202020204" pitchFamily="34" charset="0"/>
              <a:buChar char="•"/>
            </a:pPr>
            <a:r>
              <a:rPr lang="en-US" dirty="0"/>
              <a:t>Microsoft Agent Framework (RC): 1.0.0rc1 for Python — API surface locked. Major breaking changes in credentials, sessions, and response patterns. Migration guide published.</a:t>
            </a:r>
          </a:p>
          <a:p>
            <a:pPr marL="171450" indent="-171450" algn="just">
              <a:buFont typeface="Arial" panose="020B0604020202020204" pitchFamily="34" charset="0"/>
              <a:buChar char="•"/>
            </a:pPr>
            <a:r>
              <a:rPr lang="en-US" dirty="0"/>
              <a:t>Durable Agent Orchestration: New HITL pattern pairs Azure Durable Functions with Agent Framework and </a:t>
            </a:r>
            <a:r>
              <a:rPr lang="en-US" dirty="0" err="1"/>
              <a:t>SignalR</a:t>
            </a:r>
            <a:r>
              <a:rPr lang="en-US" dirty="0"/>
              <a:t> for agents that survive restarts and wait days for human approval.</a:t>
            </a:r>
          </a:p>
          <a:p>
            <a:pPr marL="171450" indent="-171450" algn="just">
              <a:buFont typeface="Arial" panose="020B0604020202020204" pitchFamily="34" charset="0"/>
              <a:buChar char="•"/>
            </a:pPr>
            <a:r>
              <a:rPr lang="en-US" dirty="0"/>
              <a:t>Foundry Local — Sovereign Cloud: Large multimodal models now run fully disconnected on local hardware with APIs that mirror the cloud surface.</a:t>
            </a:r>
          </a:p>
        </p:txBody>
      </p:sp>
    </p:spTree>
    <p:extLst>
      <p:ext uri="{BB962C8B-B14F-4D97-AF65-F5344CB8AC3E}">
        <p14:creationId xmlns:p14="http://schemas.microsoft.com/office/powerpoint/2010/main" val="3732754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2ADB6-113C-7F12-FA61-67D8C365299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028B91B-AE7C-2437-0508-F4249B752765}"/>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EE84B67F-7026-D091-4F4B-F5819D59C9E7}"/>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55AD8010-EE62-F57B-5CA1-B8E7B6C0ECD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B331A00-CF62-F468-BCCC-F6840B7358F5}"/>
              </a:ext>
            </a:extLst>
          </p:cNvPr>
          <p:cNvSpPr>
            <a:spLocks noGrp="1"/>
          </p:cNvSpPr>
          <p:nvPr>
            <p:ph type="body" sz="quarter" idx="16"/>
          </p:nvPr>
        </p:nvSpPr>
        <p:spPr/>
        <p:txBody>
          <a:bodyPr/>
          <a:lstStyle/>
          <a:p>
            <a:pPr algn="just"/>
            <a:r>
              <a:rPr lang="en-US" dirty="0">
                <a:hlinkClick r:id="rId2"/>
              </a:rPr>
              <a:t>Generally Available: Azure SRE Agent with new capabilities</a:t>
            </a:r>
            <a:endParaRPr lang="en-US" dirty="0"/>
          </a:p>
          <a:p>
            <a:pPr algn="just"/>
            <a:r>
              <a:rPr lang="en-US" dirty="0"/>
              <a:t>Microsoft announced the </a:t>
            </a:r>
            <a:r>
              <a:rPr lang="en-US" b="1" dirty="0"/>
              <a:t>General Availability (GA)</a:t>
            </a:r>
            <a:r>
              <a:rPr lang="en-US" dirty="0"/>
              <a:t> of the </a:t>
            </a:r>
            <a:r>
              <a:rPr lang="en-US" b="1" dirty="0"/>
              <a:t>Azure SRE Agent</a:t>
            </a:r>
            <a:r>
              <a:rPr lang="en-US" dirty="0"/>
              <a:t>, an </a:t>
            </a:r>
            <a:r>
              <a:rPr lang="en-US" b="1" dirty="0"/>
              <a:t>AI-powered operations assistant</a:t>
            </a:r>
            <a:r>
              <a:rPr lang="en-US" dirty="0"/>
              <a:t> designed to help Site Reliability Engineering (SRE) and platform teams </a:t>
            </a:r>
            <a:r>
              <a:rPr lang="en-US" b="1" dirty="0"/>
              <a:t>diagnose incidents faster, automate responses, and reduce operational toil</a:t>
            </a:r>
            <a:r>
              <a:rPr lang="en-US" dirty="0"/>
              <a:t>.</a:t>
            </a:r>
          </a:p>
          <a:p>
            <a:pPr algn="just"/>
            <a:r>
              <a:rPr lang="en-US" dirty="0"/>
              <a:t>The agent combines </a:t>
            </a:r>
            <a:r>
              <a:rPr lang="en-US" b="1" dirty="0"/>
              <a:t>AI reasoning, operational context, and automation capabilities</a:t>
            </a:r>
            <a:r>
              <a:rPr lang="en-US" dirty="0"/>
              <a:t> to assist with troubleshooting and system operations.</a:t>
            </a:r>
          </a:p>
          <a:p>
            <a:pPr algn="just"/>
            <a:endParaRPr lang="en-US" dirty="0"/>
          </a:p>
        </p:txBody>
      </p:sp>
    </p:spTree>
    <p:extLst>
      <p:ext uri="{BB962C8B-B14F-4D97-AF65-F5344CB8AC3E}">
        <p14:creationId xmlns:p14="http://schemas.microsoft.com/office/powerpoint/2010/main" val="586386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4748646" cy="1714500"/>
          </a:xfrm>
        </p:spPr>
        <p:txBody>
          <a:bodyPr/>
          <a:lstStyle/>
          <a:p>
            <a:r>
              <a:rPr lang="en-US" sz="4000" dirty="0"/>
              <a:t>DevOps &amp; IaC &amp; Automation</a:t>
            </a:r>
          </a:p>
        </p:txBody>
      </p:sp>
    </p:spTree>
    <p:extLst>
      <p:ext uri="{BB962C8B-B14F-4D97-AF65-F5344CB8AC3E}">
        <p14:creationId xmlns:p14="http://schemas.microsoft.com/office/powerpoint/2010/main" val="6537846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E166B-5F98-EE8E-5B62-AEAB3F55337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ACB0A5D-ABFF-FDBA-2981-B5840044FB65}"/>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16AAAE0B-0E99-B9BA-C719-42AF0D574738}"/>
              </a:ext>
            </a:extLst>
          </p:cNvPr>
          <p:cNvSpPr>
            <a:spLocks noGrp="1"/>
          </p:cNvSpPr>
          <p:nvPr>
            <p:ph type="title"/>
          </p:nvPr>
        </p:nvSpPr>
        <p:spPr/>
        <p:txBody>
          <a:bodyPr/>
          <a:lstStyle/>
          <a:p>
            <a:r>
              <a:rPr lang="en-US" sz="1800" dirty="0"/>
              <a:t>DevOps &amp; IaC &amp; Automation</a:t>
            </a:r>
          </a:p>
        </p:txBody>
      </p:sp>
      <p:sp>
        <p:nvSpPr>
          <p:cNvPr id="13" name="Text Placeholder 12">
            <a:extLst>
              <a:ext uri="{FF2B5EF4-FFF2-40B4-BE49-F238E27FC236}">
                <a16:creationId xmlns:a16="http://schemas.microsoft.com/office/drawing/2014/main" id="{E12F1E69-46C9-B918-9382-5DFF0FC578B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CB295C0-8FE1-D74E-47AD-C2C789F6372C}"/>
              </a:ext>
            </a:extLst>
          </p:cNvPr>
          <p:cNvSpPr>
            <a:spLocks noGrp="1"/>
          </p:cNvSpPr>
          <p:nvPr>
            <p:ph type="body" sz="quarter" idx="16"/>
          </p:nvPr>
        </p:nvSpPr>
        <p:spPr/>
        <p:txBody>
          <a:bodyPr/>
          <a:lstStyle/>
          <a:p>
            <a:pPr algn="just"/>
            <a:r>
              <a:rPr lang="en-US" dirty="0">
                <a:hlinkClick r:id="rId2"/>
              </a:rPr>
              <a:t>Generally Available: Terraform, Bicep, Ansible support for elastic clusters on Azure Database for PostgreSQL</a:t>
            </a:r>
            <a:endParaRPr lang="en-US" dirty="0"/>
          </a:p>
          <a:p>
            <a:pPr algn="just"/>
            <a:r>
              <a:rPr lang="en-US" dirty="0"/>
              <a:t>Microsoft announced </a:t>
            </a:r>
            <a:r>
              <a:rPr lang="en-US" b="1" dirty="0"/>
              <a:t>General Availability of Infrastructure-as-Code (IaC) support</a:t>
            </a:r>
            <a:r>
              <a:rPr lang="en-US" dirty="0"/>
              <a:t> for </a:t>
            </a:r>
            <a:r>
              <a:rPr lang="en-US" b="1" dirty="0"/>
              <a:t>PostgreSQL Elastic Clusters</a:t>
            </a:r>
            <a:r>
              <a:rPr lang="en-US" dirty="0"/>
              <a:t> using:</a:t>
            </a:r>
          </a:p>
          <a:p>
            <a:pPr marL="171450" indent="-171450" algn="just">
              <a:buFont typeface="Arial" panose="020B0604020202020204" pitchFamily="34" charset="0"/>
              <a:buChar char="•"/>
            </a:pPr>
            <a:r>
              <a:rPr lang="en-US" dirty="0"/>
              <a:t>Terraform</a:t>
            </a:r>
          </a:p>
          <a:p>
            <a:pPr marL="171450" indent="-171450" algn="just">
              <a:buFont typeface="Arial" panose="020B0604020202020204" pitchFamily="34" charset="0"/>
              <a:buChar char="•"/>
            </a:pPr>
            <a:r>
              <a:rPr lang="en-US" dirty="0"/>
              <a:t>Bicep</a:t>
            </a:r>
          </a:p>
          <a:p>
            <a:pPr marL="171450" indent="-171450" algn="just">
              <a:buFont typeface="Arial" panose="020B0604020202020204" pitchFamily="34" charset="0"/>
              <a:buChar char="•"/>
            </a:pPr>
            <a:r>
              <a:rPr lang="en-US" dirty="0"/>
              <a:t>Ansible</a:t>
            </a:r>
          </a:p>
          <a:p>
            <a:pPr algn="just"/>
            <a:r>
              <a:rPr lang="en-US" dirty="0"/>
              <a:t>This allows organizations to </a:t>
            </a:r>
            <a:r>
              <a:rPr lang="en-US" b="1" dirty="0"/>
              <a:t>provision, scale, and manage distributed PostgreSQL clusters using automated deployment pipelines</a:t>
            </a:r>
            <a:r>
              <a:rPr lang="en-US" dirty="0"/>
              <a:t>, eliminating manual configuration.</a:t>
            </a:r>
          </a:p>
          <a:p>
            <a:pPr algn="just"/>
            <a:endParaRPr lang="en-US" dirty="0"/>
          </a:p>
        </p:txBody>
      </p:sp>
    </p:spTree>
    <p:extLst>
      <p:ext uri="{BB962C8B-B14F-4D97-AF65-F5344CB8AC3E}">
        <p14:creationId xmlns:p14="http://schemas.microsoft.com/office/powerpoint/2010/main" val="1359911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E04B39D-0CBA-4F8F-8809-785207E87965}">
  <ds:schemaRefs>
    <ds:schemaRef ds:uri="http://schemas.microsoft.com/sharepoint/v3/contenttype/forms"/>
  </ds:schemaRefs>
</ds:datastoreItem>
</file>

<file path=customXml/itemProps2.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1426</TotalTime>
  <Words>3044</Words>
  <Application>Microsoft Office PowerPoint</Application>
  <PresentationFormat>On-screen Show (16:9)</PresentationFormat>
  <Paragraphs>146</Paragraphs>
  <Slides>29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Human Sans</vt:lpstr>
      <vt:lpstr>Human Sans Regular</vt:lpstr>
      <vt:lpstr>Continuum Theme</vt:lpstr>
      <vt:lpstr>Azure Times #197</vt:lpstr>
      <vt:lpstr>PowerPoint Presentation</vt:lpstr>
      <vt:lpstr>Entra Updates</vt:lpstr>
      <vt:lpstr>Entra Updates</vt:lpstr>
      <vt:lpstr>Entra Updates</vt:lpstr>
      <vt:lpstr>Entra Updates</vt:lpstr>
      <vt:lpstr>Entra Updates</vt:lpstr>
      <vt:lpstr>Sentinel Updates</vt:lpstr>
      <vt:lpstr>Defender for Cloud Updates</vt:lpstr>
      <vt:lpstr>Security &amp; Identity Updates</vt:lpstr>
      <vt:lpstr>Security &amp; Identity Updates</vt:lpstr>
      <vt:lpstr>PowerPoint Presentation</vt:lpstr>
      <vt:lpstr>Management &amp; Governance Updates</vt:lpstr>
      <vt:lpstr>PowerPoint Presentation</vt:lpstr>
      <vt:lpstr>Compute Updates</vt:lpstr>
      <vt:lpstr>Windows 365 Enterprise Updates </vt:lpstr>
      <vt:lpstr>PowerPoint Presentation</vt:lpstr>
      <vt:lpstr>Storage &amp; Data Updates</vt:lpstr>
      <vt:lpstr>PowerPoint Presentation</vt:lpstr>
      <vt:lpstr>Databases Updates</vt:lpstr>
      <vt:lpstr>Databases Updates</vt:lpstr>
      <vt:lpstr>PowerPoint Presentation</vt:lpstr>
      <vt:lpstr>ML &amp; AI &amp; IOT Updates</vt:lpstr>
      <vt:lpstr>ML &amp; AI &amp; IOT Updates</vt:lpstr>
      <vt:lpstr>PowerPoint Presentation</vt:lpstr>
      <vt:lpstr>DevOps &amp; IaC &amp; Automation</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149</cp:revision>
  <dcterms:created xsi:type="dcterms:W3CDTF">2018-01-26T19:23:30Z</dcterms:created>
  <dcterms:modified xsi:type="dcterms:W3CDTF">2026-03-14T08:46:24Z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