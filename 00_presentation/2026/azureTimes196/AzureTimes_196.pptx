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28"/>
  </p:notesMasterIdLst>
  <p:handoutMasterIdLst>
    <p:handoutMasterId r:id="rId29"/>
  </p:handoutMasterIdLst>
  <p:sldIdLst>
    <p:sldId id="2142532340" r:id="rId5"/>
    <p:sldId id="2146847045" r:id="rId6"/>
    <p:sldId id="10657" r:id="rId7"/>
    <p:sldId id="2146847046" r:id="rId8"/>
    <p:sldId id="2146847089" r:id="rId9"/>
    <p:sldId id="2146847048" r:id="rId10"/>
    <p:sldId id="2146847132" r:id="rId11"/>
    <p:sldId id="2146847131" r:id="rId12"/>
    <p:sldId id="2146847050" r:id="rId13"/>
    <p:sldId id="2146847096" r:id="rId14"/>
    <p:sldId id="2146847135" r:id="rId15"/>
    <p:sldId id="2146847054" r:id="rId16"/>
    <p:sldId id="2146847103" r:id="rId17"/>
    <p:sldId id="2146847141" r:id="rId18"/>
    <p:sldId id="2146847058" r:id="rId19"/>
    <p:sldId id="2146847111" r:id="rId20"/>
    <p:sldId id="2146847146" r:id="rId21"/>
    <p:sldId id="2146847062" r:id="rId22"/>
    <p:sldId id="2146847115" r:id="rId23"/>
    <p:sldId id="2146847153" r:id="rId24"/>
    <p:sldId id="2146847085" r:id="rId25"/>
    <p:sldId id="2146847084" r:id="rId26"/>
    <p:sldId id="2146847064" r:id="rId27"/>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ldId id="2146847045"/>
            <p14:sldId id="10657"/>
          </p14:sldIdLst>
        </p14:section>
        <p14:section name="Security &amp; Identity" id="{1AA42572-B3BD-44F7-813B-C2C647DDBB3C}">
          <p14:sldIdLst>
            <p14:sldId id="2146847046"/>
            <p14:sldId id="2146847089"/>
          </p14:sldIdLst>
        </p14:section>
        <p14:section name="Management &amp; Governance" id="{34181601-6D48-4406-A525-C7B5A12C6C5B}">
          <p14:sldIdLst>
            <p14:sldId id="2146847048"/>
            <p14:sldId id="2146847132"/>
            <p14:sldId id="2146847131"/>
          </p14:sldIdLst>
        </p14:section>
        <p14:section name="Compute" id="{05AA80BB-8802-49AB-8336-A884227CE2F7}">
          <p14:sldIdLst>
            <p14:sldId id="2146847050"/>
            <p14:sldId id="2146847096"/>
            <p14:sldId id="2146847135"/>
          </p14:sldIdLst>
        </p14:section>
        <p14:section name="Storage &amp; Data" id="{1F159046-CE0A-45BC-9D5B-6E6C95980F78}">
          <p14:sldIdLst/>
        </p14:section>
        <p14:section name="Databases" id="{AEAFAE72-AD56-48F3-926B-38BAE269038F}">
          <p14:sldIdLst>
            <p14:sldId id="2146847054"/>
            <p14:sldId id="2146847103"/>
            <p14:sldId id="2146847141"/>
          </p14:sldIdLst>
        </p14:section>
        <p14:section name="Integration" id="{ACBD46A3-6F1C-451B-A154-0A056E0DEFF6}">
          <p14:sldIdLst/>
        </p14:section>
        <p14:section name="ML &amp; AI &amp; IOT" id="{F4E1EAF1-55E9-4CA4-8ADC-28B69C1D66D2}">
          <p14:sldIdLst>
            <p14:sldId id="2146847058"/>
            <p14:sldId id="2146847111"/>
            <p14:sldId id="2146847146"/>
          </p14:sldIdLst>
        </p14:section>
        <p14:section name="Miscellaneous" id="{A1456D7A-93BE-4023-90AA-7269D2F177BA}">
          <p14:sldIdLst>
            <p14:sldId id="2146847062"/>
            <p14:sldId id="2146847115"/>
            <p14:sldId id="2146847153"/>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D43"/>
    <a:srgbClr val="CADC49"/>
    <a:srgbClr val="E53B2E"/>
    <a:srgbClr val="FFC000"/>
    <a:srgbClr val="D35D47"/>
    <a:srgbClr val="008ACF"/>
    <a:srgbClr val="76CDD8"/>
    <a:srgbClr val="75A0A6"/>
    <a:srgbClr val="569BA5"/>
    <a:srgbClr val="EDC1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94"/>
  </p:normalViewPr>
  <p:slideViewPr>
    <p:cSldViewPr snapToGrid="0">
      <p:cViewPr>
        <p:scale>
          <a:sx n="150" d="100"/>
          <a:sy n="150" d="100"/>
        </p:scale>
        <p:origin x="2328" y="-276"/>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commentAuthors" Target="commentAuthors.xml"/><Relationship Id="rId35" Type="http://schemas.microsoft.com/office/2015/10/relationships/revisionInfo" Target="revisionInfo.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3/7/2026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3/7/2026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azure.microsoft.com/ru-ru/updates?id=558072"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techcommunity.microsoft.com/blog/coreinfrastructureandsecurityblog/the-future-of-identity-self-service-account-recovery-preview-in-microsoft-entra/4499749"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techcommunity.microsoft.com/blog/azurearcblog/announcing-the-general-availability-of-the-azure-arc-gateway-for-arc-enabled-kub/4498561"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hyperlink" Target="https://azure.microsoft.com/ru-ru/updates?id=558102"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azure.microsoft.com/ru-ru/updates?id=558060" TargetMode="External"/><Relationship Id="rId2" Type="http://schemas.openxmlformats.org/officeDocument/2006/relationships/hyperlink" Target="https://azure.microsoft.com/ru-ru/updates?id=557991"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techcommunity.microsoft.com/blog/microsoftteamsblog/announcing-public-preview-new-microsoft-teams-vdi-optimization-for-omnissa/4499735"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techcommunity.microsoft.com/blog/azuresqlblog/managed-identity-support-for-azure-sql-database-import--export-services-preview/4498732"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hyperlink" Target="https://techcommunity.microsoft.com/blog/azuresqlblog/ga-of-update-policy-sql-server-2025-for-azure-sql-managed-instance/4498802"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techcommunity.microsoft.com/blog/skills-hub-blog/the-ai-job-boom-is-here-are-you-ready-to-showcase-your-skills/4494128"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techcommunity.microsoft.com/blog/azure-ai-foundry-blog/introducing-gpt-5-4-in-microsoft-foundry/4499785" TargetMode="External"/><Relationship Id="rId2" Type="http://schemas.openxmlformats.org/officeDocument/2006/relationships/hyperlink" Target="https://techcommunity.microsoft.com/blog/azure-ai-foundry-blog/now-in-foundry-qwen3-5-medium-model-series/4498640"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devblogs.microsoft.com/commandline/windows-terminal-preview-1-25-release/"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learn.microsoft.com/en-us/rest/api/maps/search/get-geocode-autocomplete?view=rest-maps-2026-01-01&amp;tabs=HTTP" TargetMode="External"/><Relationship Id="rId2" Type="http://schemas.openxmlformats.org/officeDocument/2006/relationships/hyperlink" Target="https://techcommunity.microsoft.com/blog/azuremapsblog/announcing-the-general-availability-of-the-azure-maps-geocode-autocomplete-api/4499242" TargetMode="Externa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#196</a:t>
            </a:r>
          </a:p>
        </p:txBody>
      </p:sp>
      <p:sp>
        <p:nvSpPr>
          <p:cNvPr id="4" name="Text Placeholder 3"/>
          <p:cNvSpPr>
            <a:spLocks noGrp="1"/>
          </p:cNvSpPr>
          <p:nvPr>
            <p:ph type="body" sz="quarter" idx="11"/>
          </p:nvPr>
        </p:nvSpPr>
        <p:spPr/>
        <p:txBody>
          <a:bodyPr/>
          <a:lstStyle/>
          <a:p>
            <a:r>
              <a:rPr lang="en-US" spc="300"/>
              <a:t>March 9, 2026</a:t>
            </a:r>
            <a:endParaRPr lang="en-US" spc="300" dirty="0"/>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Networking </a:t>
            </a:r>
          </a:p>
        </p:txBody>
      </p:sp>
    </p:spTree>
    <p:extLst>
      <p:ext uri="{BB962C8B-B14F-4D97-AF65-F5344CB8AC3E}">
        <p14:creationId xmlns:p14="http://schemas.microsoft.com/office/powerpoint/2010/main" val="4021054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a:xfrm>
            <a:off x="4433776" y="855081"/>
            <a:ext cx="4365038" cy="1857640"/>
          </a:xfrm>
        </p:spPr>
        <p:txBody>
          <a:bodyPr/>
          <a:lstStyle/>
          <a:p>
            <a:pPr marL="171450" indent="-171450">
              <a:buFont typeface="Arial" panose="020B0604020202020204" pitchFamily="34" charset="0"/>
              <a:buChar char="•"/>
            </a:pPr>
            <a:r>
              <a:rPr lang="en-US" sz="1000" dirty="0"/>
              <a:t>A draft is created as a clone of the currently applied policy. Any changes made to the applied policy after the creation of the draft isn't reflected in the draft unless manually updated.</a:t>
            </a:r>
          </a:p>
          <a:p>
            <a:pPr marL="171450" indent="-171450">
              <a:buFont typeface="Arial" panose="020B0604020202020204" pitchFamily="34" charset="0"/>
              <a:buChar char="•"/>
            </a:pPr>
            <a:r>
              <a:rPr lang="en-US" sz="1000" dirty="0"/>
              <a:t>Deploying a draft replaces the entire applied policy. Changes made to the applied policy after the draft is created aren't preserved unless they're also added to the draft.</a:t>
            </a:r>
          </a:p>
          <a:p>
            <a:pPr marL="171450" indent="-171450">
              <a:buFont typeface="Arial" panose="020B0604020202020204" pitchFamily="34" charset="0"/>
              <a:buChar char="•"/>
            </a:pPr>
            <a:r>
              <a:rPr lang="en-US" sz="1000" dirty="0"/>
              <a:t>Creating a new Rule Collection Group (RCG) isn't supported directly within a policy draft.</a:t>
            </a:r>
          </a:p>
          <a:p>
            <a:pPr marL="171450" indent="-171450">
              <a:buFont typeface="Arial" panose="020B0604020202020204" pitchFamily="34" charset="0"/>
              <a:buChar char="•"/>
            </a:pPr>
            <a:r>
              <a:rPr lang="en-US" sz="1000" dirty="0"/>
              <a:t>Only one draft can exist for a policy at any given time.</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1"/>
            <a:ext cx="3955312" cy="1857640"/>
          </a:xfrm>
        </p:spPr>
        <p:txBody>
          <a:bodyPr/>
          <a:lstStyle/>
          <a:p>
            <a:r>
              <a:rPr lang="en-US" dirty="0">
                <a:hlinkClick r:id="rId2"/>
              </a:rPr>
              <a:t>Generally Available: Draft &amp; Deploy on Azure Firewall</a:t>
            </a:r>
            <a:endParaRPr lang="en-US" dirty="0"/>
          </a:p>
          <a:p>
            <a:pPr algn="just"/>
            <a:r>
              <a:rPr lang="en-US" dirty="0"/>
              <a:t>The new Draft &amp; Deploy feature for Azure Firewall Policy introduces a streamlined, two-phase approach to managing firewall policies, significantly reducing deployment time and disruption. Traditionally, any policy update would trigger a full deployment of both the policy and the attached firewall, taking 2–4 minutes per change.   </a:t>
            </a:r>
          </a:p>
          <a:p>
            <a:pPr algn="just"/>
            <a:r>
              <a:rPr lang="en-US" dirty="0"/>
              <a:t>With Draft &amp; Deploy, users can collaboratively make multiple changes in a draft version cloned from the current policy without affecting the live environment. Once finalized, all changes can be deployed at once, replacing the existing policy. </a:t>
            </a:r>
          </a:p>
        </p:txBody>
      </p:sp>
      <p:pic>
        <p:nvPicPr>
          <p:cNvPr id="1026" name="Picture 2" descr="Screenshot showing drafting changes.">
            <a:extLst>
              <a:ext uri="{FF2B5EF4-FFF2-40B4-BE49-F238E27FC236}">
                <a16:creationId xmlns:a16="http://schemas.microsoft.com/office/drawing/2014/main" id="{0DF3C3B1-2945-392A-19B8-557DD6DF1B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0" y="2735861"/>
            <a:ext cx="3293110" cy="223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8580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4" grpId="0" build="p"/>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t>Security &amp; Identity</a:t>
            </a:r>
          </a:p>
        </p:txBody>
      </p:sp>
    </p:spTree>
    <p:extLst>
      <p:ext uri="{BB962C8B-B14F-4D97-AF65-F5344CB8AC3E}">
        <p14:creationId xmlns:p14="http://schemas.microsoft.com/office/powerpoint/2010/main" val="3117920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a:xfrm>
            <a:off x="4433776" y="855080"/>
            <a:ext cx="4365038" cy="773695"/>
          </a:xfrm>
        </p:spPr>
        <p:txBody>
          <a:bodyPr/>
          <a:lstStyle/>
          <a:p>
            <a:pPr marL="171450" indent="-171450" algn="just">
              <a:buFont typeface="Arial" panose="020B0604020202020204" pitchFamily="34" charset="0"/>
              <a:buChar char="•"/>
            </a:pPr>
            <a:r>
              <a:rPr lang="en-US" sz="1000" b="1" dirty="0"/>
              <a:t>Issuance of a Verified ID</a:t>
            </a:r>
          </a:p>
          <a:p>
            <a:pPr marL="171450" indent="-171450" algn="just">
              <a:buFont typeface="Arial" panose="020B0604020202020204" pitchFamily="34" charset="0"/>
              <a:buChar char="•"/>
            </a:pPr>
            <a:r>
              <a:rPr lang="en-US" sz="1000" b="1" dirty="0"/>
              <a:t>The Final Handshake: Face Check</a:t>
            </a:r>
          </a:p>
          <a:p>
            <a:pPr marL="171450" indent="-171450" algn="just">
              <a:buFont typeface="Arial" panose="020B0604020202020204" pitchFamily="34" charset="0"/>
              <a:buChar char="•"/>
            </a:pPr>
            <a:r>
              <a:rPr lang="en-US" sz="1000" b="1" dirty="0"/>
              <a:t>Bootstrapping the New Device</a:t>
            </a:r>
          </a:p>
          <a:p>
            <a:endParaRPr lang="en-US" dirty="0"/>
          </a:p>
          <a:p>
            <a:endParaRPr lang="en-US" dirty="0"/>
          </a:p>
          <a:p>
            <a:endParaRPr lang="en-US" sz="1000" dirty="0"/>
          </a:p>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The Future of Identity: Self-Service Account Recovery (Preview) in Microsoft Entra</a:t>
            </a:r>
            <a:endParaRPr lang="en-US" dirty="0"/>
          </a:p>
          <a:p>
            <a:pPr algn="just"/>
            <a:r>
              <a:rPr lang="en-US" dirty="0"/>
              <a:t>Most organizations currently rely on one of two methods for recovery, both of which have significant drawbacks:</a:t>
            </a:r>
          </a:p>
          <a:p>
            <a:pPr marL="171450" indent="-171450" algn="just">
              <a:buFont typeface="Arial" panose="020B0604020202020204" pitchFamily="34" charset="0"/>
              <a:buChar char="•"/>
            </a:pPr>
            <a:r>
              <a:rPr lang="en-US" b="1" dirty="0"/>
              <a:t>Self-Service Password Reset (SSPR):</a:t>
            </a:r>
            <a:r>
              <a:rPr lang="en-US" dirty="0"/>
              <a:t> Often relies on "weak" factors like SMS codes or security questions. These are easily intercepted or guessed and don't help a user who is trying to move away from passwords entirely.</a:t>
            </a:r>
          </a:p>
          <a:p>
            <a:pPr marL="171450" indent="-171450" algn="just">
              <a:buFont typeface="Arial" panose="020B0604020202020204" pitchFamily="34" charset="0"/>
              <a:buChar char="•"/>
            </a:pPr>
            <a:r>
              <a:rPr lang="en-US" b="1" dirty="0"/>
              <a:t>The Help Desk:</a:t>
            </a:r>
            <a:r>
              <a:rPr lang="en-US" dirty="0"/>
              <a:t> Requires an agent to "vouch" for a user. Attackers can impersonate employees, use voice-cloning technology, or provide leaked personal information to trick an agent into issuing a Temporary Access Pass (TAP).</a:t>
            </a:r>
          </a:p>
          <a:p>
            <a:pPr algn="just"/>
            <a:r>
              <a:rPr lang="en-US" dirty="0"/>
              <a:t>The new Entra flow removes the human element from the validation process, ensuring that the person regaining access is exactly who they claim to be.</a:t>
            </a:r>
          </a:p>
          <a:p>
            <a:pPr algn="just"/>
            <a:r>
              <a:rPr lang="en-US" dirty="0"/>
              <a:t>The recovery process is built on the concept of "identity proofing," utilizing government-issued documents and biometric liveness checks.</a:t>
            </a:r>
          </a:p>
          <a:p>
            <a:pPr marL="171450" indent="-171450" algn="just">
              <a:buFont typeface="Arial" panose="020B0604020202020204" pitchFamily="34" charset="0"/>
              <a:buChar char="•"/>
            </a:pPr>
            <a:r>
              <a:rPr lang="en-US" b="1" dirty="0"/>
              <a:t>Integration with Verification Partners</a:t>
            </a:r>
          </a:p>
          <a:p>
            <a:pPr marL="171450" indent="-171450" algn="just">
              <a:buFont typeface="Arial" panose="020B0604020202020204" pitchFamily="34" charset="0"/>
              <a:buChar char="•"/>
            </a:pPr>
            <a:r>
              <a:rPr lang="en-US" b="1" dirty="0"/>
              <a:t>The Verification Process</a:t>
            </a:r>
            <a:endParaRPr lang="en-US" dirty="0"/>
          </a:p>
          <a:p>
            <a:pPr marL="171450" indent="-171450" algn="just">
              <a:buFont typeface="Arial" panose="020B0604020202020204" pitchFamily="34" charset="0"/>
              <a:buChar char="•"/>
            </a:pPr>
            <a:endParaRPr lang="en-US" dirty="0"/>
          </a:p>
          <a:p>
            <a:pPr algn="just"/>
            <a:endParaRPr lang="en-US" dirty="0"/>
          </a:p>
          <a:p>
            <a:pPr algn="just"/>
            <a:endParaRPr lang="en-US" dirty="0"/>
          </a:p>
          <a:p>
            <a:pPr algn="just"/>
            <a:endParaRPr lang="en-US" dirty="0"/>
          </a:p>
          <a:p>
            <a:pPr algn="just"/>
            <a:endParaRPr lang="en-US" dirty="0"/>
          </a:p>
        </p:txBody>
      </p:sp>
      <p:pic>
        <p:nvPicPr>
          <p:cNvPr id="3" name="Picture 2">
            <a:extLst>
              <a:ext uri="{FF2B5EF4-FFF2-40B4-BE49-F238E27FC236}">
                <a16:creationId xmlns:a16="http://schemas.microsoft.com/office/drawing/2014/main" id="{9A4B35B1-544F-A2ED-8BEE-C61E90A2A584}"/>
              </a:ext>
            </a:extLst>
          </p:cNvPr>
          <p:cNvPicPr>
            <a:picLocks noChangeAspect="1"/>
          </p:cNvPicPr>
          <p:nvPr/>
        </p:nvPicPr>
        <p:blipFill>
          <a:blip r:embed="rId3"/>
          <a:stretch>
            <a:fillRect/>
          </a:stretch>
        </p:blipFill>
        <p:spPr>
          <a:xfrm>
            <a:off x="4694640" y="1614033"/>
            <a:ext cx="4104174" cy="2256162"/>
          </a:xfrm>
          <a:prstGeom prst="rect">
            <a:avLst/>
          </a:prstGeom>
        </p:spPr>
      </p:pic>
    </p:spTree>
    <p:extLst>
      <p:ext uri="{BB962C8B-B14F-4D97-AF65-F5344CB8AC3E}">
        <p14:creationId xmlns:p14="http://schemas.microsoft.com/office/powerpoint/2010/main" val="49331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xEl>
                                              <p:pRg st="1" end="1"/>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4" grpId="0" build="p"/>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t>Management &amp; Governance</a:t>
            </a:r>
          </a:p>
        </p:txBody>
      </p:sp>
    </p:spTree>
    <p:extLst>
      <p:ext uri="{BB962C8B-B14F-4D97-AF65-F5344CB8AC3E}">
        <p14:creationId xmlns:p14="http://schemas.microsoft.com/office/powerpoint/2010/main" val="3479183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B2A5C-E35F-E18E-05A4-B6AF8CF698D5}"/>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89DE73F3-4A2F-648B-BD17-44C88CDB5688}"/>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1A20683A-1573-CC2D-401E-61BAED70A144}"/>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5FF973-31C8-BEFD-DC1E-6209231AED94}"/>
              </a:ext>
            </a:extLst>
          </p:cNvPr>
          <p:cNvSpPr>
            <a:spLocks noGrp="1"/>
          </p:cNvSpPr>
          <p:nvPr>
            <p:ph type="body" sz="quarter" idx="16"/>
          </p:nvPr>
        </p:nvSpPr>
        <p:spPr/>
        <p:txBody>
          <a:bodyPr/>
          <a:lstStyle/>
          <a:p>
            <a:pPr algn="just"/>
            <a:r>
              <a:rPr lang="en-US" dirty="0">
                <a:hlinkClick r:id="rId2"/>
              </a:rPr>
              <a:t>Announcing the General Availability of the Azure Arc Gateway for Arc-enabled Kubernetes!</a:t>
            </a:r>
            <a:endParaRPr lang="en-US" dirty="0"/>
          </a:p>
          <a:p>
            <a:pPr algn="just"/>
            <a:r>
              <a:rPr lang="en-US" dirty="0"/>
              <a:t>The </a:t>
            </a:r>
            <a:r>
              <a:rPr lang="en-US" b="1" dirty="0"/>
              <a:t>Arc Gateway for Arc-enabled Kubernetes</a:t>
            </a:r>
            <a:r>
              <a:rPr lang="en-US" dirty="0"/>
              <a:t> is now </a:t>
            </a:r>
            <a:r>
              <a:rPr lang="en-US" b="1" dirty="0"/>
              <a:t>Generally Available (GA)</a:t>
            </a:r>
            <a:r>
              <a:rPr lang="en-US" dirty="0"/>
              <a:t>.</a:t>
            </a:r>
          </a:p>
          <a:p>
            <a:pPr algn="just"/>
            <a:r>
              <a:rPr lang="en-US" dirty="0"/>
              <a:t>It significantly </a:t>
            </a:r>
            <a:r>
              <a:rPr lang="en-US" b="1" dirty="0"/>
              <a:t>simplifies network connectivity requirements</a:t>
            </a:r>
            <a:r>
              <a:rPr lang="en-US" dirty="0"/>
              <a:t> when connecting Kubernetes clusters to Azure Arc.</a:t>
            </a:r>
          </a:p>
          <a:p>
            <a:pPr algn="just"/>
            <a:r>
              <a:rPr lang="en-US" dirty="0"/>
              <a:t>Previously, organizations had to allow many outbound endpoints for Azure Arc services. With the </a:t>
            </a:r>
            <a:r>
              <a:rPr lang="en-US" b="1" dirty="0"/>
              <a:t>Arc Gateway</a:t>
            </a:r>
            <a:r>
              <a:rPr lang="en-US" dirty="0"/>
              <a:t>, traffic is consolidated through a </a:t>
            </a:r>
            <a:r>
              <a:rPr lang="en-US" b="1" dirty="0"/>
              <a:t>smaller, predictable set of endpoints</a:t>
            </a:r>
            <a:r>
              <a:rPr lang="en-US" dirty="0"/>
              <a:t>, reducing complexity for </a:t>
            </a:r>
            <a:r>
              <a:rPr lang="en-US" b="1" dirty="0"/>
              <a:t>enterprise networking and security teams</a:t>
            </a:r>
            <a:r>
              <a:rPr lang="en-US" dirty="0"/>
              <a:t>.</a:t>
            </a:r>
          </a:p>
          <a:p>
            <a:pPr algn="just"/>
            <a:r>
              <a:rPr lang="en-US" dirty="0"/>
              <a:t>For enterprises running Kubernetes clusters behind </a:t>
            </a:r>
            <a:r>
              <a:rPr lang="en-US" b="1" dirty="0"/>
              <a:t>strict firewalls, proxies, or egress filtering</a:t>
            </a:r>
            <a:r>
              <a:rPr lang="en-US" dirty="0"/>
              <a:t>, onboarding Azure Arc often required:</a:t>
            </a:r>
          </a:p>
          <a:p>
            <a:pPr marL="171450" indent="-171450" algn="just">
              <a:buFont typeface="Arial" panose="020B0604020202020204" pitchFamily="34" charset="0"/>
              <a:buChar char="•"/>
            </a:pPr>
            <a:r>
              <a:rPr lang="en-US" dirty="0"/>
              <a:t>Multiple firewall change requests</a:t>
            </a:r>
          </a:p>
          <a:p>
            <a:pPr marL="171450" indent="-171450" algn="just">
              <a:buFont typeface="Arial" panose="020B0604020202020204" pitchFamily="34" charset="0"/>
              <a:buChar char="•"/>
            </a:pPr>
            <a:r>
              <a:rPr lang="en-US" dirty="0"/>
              <a:t>Security team approvals</a:t>
            </a:r>
          </a:p>
          <a:p>
            <a:pPr marL="171450" indent="-171450" algn="just">
              <a:buFont typeface="Arial" panose="020B0604020202020204" pitchFamily="34" charset="0"/>
              <a:buChar char="•"/>
            </a:pPr>
            <a:r>
              <a:rPr lang="en-US" dirty="0"/>
              <a:t>Complex proxy configurations</a:t>
            </a:r>
          </a:p>
          <a:p>
            <a:pPr algn="just"/>
            <a:r>
              <a:rPr lang="en-US" dirty="0"/>
              <a:t>With </a:t>
            </a:r>
            <a:r>
              <a:rPr lang="en-US" b="1" dirty="0"/>
              <a:t>Arc Gateway</a:t>
            </a:r>
            <a:r>
              <a:rPr lang="en-US" dirty="0"/>
              <a:t>, outbound traffic is </a:t>
            </a:r>
            <a:r>
              <a:rPr lang="en-US" b="1" dirty="0"/>
              <a:t>aggregated through fewer endpoints</a:t>
            </a:r>
            <a:r>
              <a:rPr lang="en-US" dirty="0"/>
              <a:t>, making connectivity easier to manage.</a:t>
            </a:r>
          </a:p>
          <a:p>
            <a:pPr algn="just"/>
            <a:endParaRPr lang="en-US" dirty="0"/>
          </a:p>
          <a:p>
            <a:pPr algn="just"/>
            <a:endParaRPr lang="en-US" dirty="0"/>
          </a:p>
        </p:txBody>
      </p:sp>
      <p:pic>
        <p:nvPicPr>
          <p:cNvPr id="3" name="Picture 2">
            <a:extLst>
              <a:ext uri="{FF2B5EF4-FFF2-40B4-BE49-F238E27FC236}">
                <a16:creationId xmlns:a16="http://schemas.microsoft.com/office/drawing/2014/main" id="{1DD0EE55-3BFA-A1F0-663C-AD4BC41ACF0F}"/>
              </a:ext>
            </a:extLst>
          </p:cNvPr>
          <p:cNvPicPr>
            <a:picLocks noChangeAspect="1"/>
          </p:cNvPicPr>
          <p:nvPr/>
        </p:nvPicPr>
        <p:blipFill>
          <a:blip r:embed="rId3"/>
          <a:stretch>
            <a:fillRect/>
          </a:stretch>
        </p:blipFill>
        <p:spPr>
          <a:xfrm>
            <a:off x="4572000" y="1276349"/>
            <a:ext cx="4427388" cy="2478745"/>
          </a:xfrm>
          <a:prstGeom prst="rect">
            <a:avLst/>
          </a:prstGeom>
        </p:spPr>
      </p:pic>
    </p:spTree>
    <p:extLst>
      <p:ext uri="{BB962C8B-B14F-4D97-AF65-F5344CB8AC3E}">
        <p14:creationId xmlns:p14="http://schemas.microsoft.com/office/powerpoint/2010/main" val="2370736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9EACE-2947-B6B2-9E8D-58D66D66FE2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0E0244-34EC-E9DD-ACD9-50A13C40D4E3}"/>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F799D386-8FFB-9287-3092-EBC4EED0ED44}"/>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3ECB1CBE-D19D-DB22-C144-06273C1863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9E41336-3964-F676-4CD6-656D0DDBD34A}"/>
              </a:ext>
            </a:extLst>
          </p:cNvPr>
          <p:cNvSpPr>
            <a:spLocks noGrp="1"/>
          </p:cNvSpPr>
          <p:nvPr>
            <p:ph type="body" sz="quarter" idx="16"/>
          </p:nvPr>
        </p:nvSpPr>
        <p:spPr/>
        <p:txBody>
          <a:bodyPr/>
          <a:lstStyle/>
          <a:p>
            <a:pPr algn="just"/>
            <a:r>
              <a:rPr lang="en-US" dirty="0">
                <a:hlinkClick r:id="rId2"/>
              </a:rPr>
              <a:t>Retirement: Azure Policy faster enforcement and retirement of login/logout workaround</a:t>
            </a:r>
            <a:endParaRPr lang="en-US" dirty="0"/>
          </a:p>
          <a:p>
            <a:pPr algn="just"/>
            <a:r>
              <a:rPr lang="en-US" dirty="0"/>
              <a:t>In light of cache refresh optimizations that are now in place, we’re removing the ‘login/logout workaround’ that triggered faster propagation of policy changes in your environment.</a:t>
            </a:r>
          </a:p>
          <a:p>
            <a:pPr algn="just"/>
            <a:r>
              <a:rPr lang="en-US" dirty="0"/>
              <a:t>Starting April 30, 2026, the ‘login/logout’ workaround will no longer be available, enabling further enhancements in performance and reliability for all customers.</a:t>
            </a:r>
          </a:p>
        </p:txBody>
      </p:sp>
    </p:spTree>
    <p:extLst>
      <p:ext uri="{BB962C8B-B14F-4D97-AF65-F5344CB8AC3E}">
        <p14:creationId xmlns:p14="http://schemas.microsoft.com/office/powerpoint/2010/main" val="3089708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Compute</a:t>
            </a:r>
          </a:p>
        </p:txBody>
      </p:sp>
    </p:spTree>
    <p:extLst>
      <p:ext uri="{BB962C8B-B14F-4D97-AF65-F5344CB8AC3E}">
        <p14:creationId xmlns:p14="http://schemas.microsoft.com/office/powerpoint/2010/main" val="274742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Generally Available: Azure Databricks </a:t>
            </a:r>
            <a:r>
              <a:rPr lang="en-US" sz="1000" dirty="0" err="1">
                <a:hlinkClick r:id="rId2"/>
              </a:rPr>
              <a:t>Lakebase</a:t>
            </a:r>
            <a:endParaRPr lang="en-US" sz="1000" dirty="0"/>
          </a:p>
          <a:p>
            <a:pPr algn="just"/>
            <a:r>
              <a:rPr lang="en-US" sz="1000" dirty="0"/>
              <a:t>MS announced the General Availability of Azure Databricks </a:t>
            </a:r>
            <a:r>
              <a:rPr lang="en-US" sz="1000" dirty="0" err="1"/>
              <a:t>Lakebase</a:t>
            </a:r>
            <a:r>
              <a:rPr lang="en-US" sz="1000" dirty="0"/>
              <a:t>, a managed PostgreSQL environment with next-generation separation of storage and compute for OLTP, providing instant availability, instant clones, and scale-to-zero. </a:t>
            </a:r>
            <a:r>
              <a:rPr lang="en-US" sz="1000" dirty="0" err="1"/>
              <a:t>Lakebase</a:t>
            </a:r>
            <a:r>
              <a:rPr lang="en-US" sz="1000" dirty="0"/>
              <a:t> lets us build intelligent, transactional applications and AI agents on the same governed data foundation already used for analytics, BI, and machine learning in Azure Databricks. </a:t>
            </a:r>
          </a:p>
          <a:p>
            <a:pPr algn="just"/>
            <a:r>
              <a:rPr lang="en-US" sz="1000" dirty="0"/>
              <a:t>With </a:t>
            </a:r>
            <a:r>
              <a:rPr lang="en-US" sz="1000" dirty="0" err="1"/>
              <a:t>Lakebase</a:t>
            </a:r>
            <a:r>
              <a:rPr lang="en-US" sz="1000" dirty="0"/>
              <a:t>, operational data is written directly to </a:t>
            </a:r>
            <a:r>
              <a:rPr lang="en-US" sz="1000" dirty="0" err="1"/>
              <a:t>lakehouse</a:t>
            </a:r>
            <a:r>
              <a:rPr lang="en-US" sz="1000" dirty="0"/>
              <a:t> storage instead of siloed OLTP systems and shadow databases. This eliminates brittle ETL pipelines, reduces data duplication, and enables real‑time insights and AI on fresh operational data without complex data movement. </a:t>
            </a:r>
          </a:p>
          <a:p>
            <a:pPr algn="just"/>
            <a:r>
              <a:rPr lang="en-US" sz="1000" dirty="0"/>
              <a:t>Developers can use familiar Postgres tools and libraries while Azure handles security, identity, networking, and compliance. </a:t>
            </a:r>
            <a:r>
              <a:rPr lang="en-US" sz="1000" dirty="0" err="1"/>
              <a:t>Lakebase</a:t>
            </a:r>
            <a:r>
              <a:rPr lang="en-US" sz="1000" dirty="0"/>
              <a:t> offers autoscaling, scale‑to‑zero, point‑in‑time recovery, and instant database branching so teams can move faster from prototype to production while maintaining enterprise‑grade reliability. </a:t>
            </a:r>
          </a:p>
          <a:p>
            <a:pPr algn="just"/>
            <a:r>
              <a:rPr lang="en-US" sz="1000" dirty="0"/>
              <a:t>Running on Azure Databricks, </a:t>
            </a:r>
            <a:r>
              <a:rPr lang="en-US" sz="1000" dirty="0" err="1"/>
              <a:t>Lakebase</a:t>
            </a:r>
            <a:r>
              <a:rPr lang="en-US" sz="1000" dirty="0"/>
              <a:t> unifies operational and analytical workloads on open data formats, making it easier to power AI‑driven customer experiences, real‑time operational analytics, and modern line‑of‑business applications—all with the global scale and enterprise trust of the Microsoft cloud. </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Generally Available: Azure Databricks update workspace network configuration</a:t>
            </a:r>
            <a:endParaRPr lang="en-US" dirty="0"/>
          </a:p>
          <a:p>
            <a:pPr algn="just"/>
            <a:r>
              <a:rPr lang="en-US" dirty="0"/>
              <a:t>Azure Databricks workspaces have two network configurations – Azure Databricks-managed VNet and VNet Injection. The ability to update the Network Configuration of your workspace is now generally available.</a:t>
            </a:r>
          </a:p>
          <a:p>
            <a:pPr algn="just"/>
            <a:r>
              <a:rPr lang="en-US" dirty="0"/>
              <a:t>This enhancement provides greater flexibility and control over Azure Databricks Network Configuration, enabling users to meet evolving security and compliance requirements.  </a:t>
            </a:r>
          </a:p>
          <a:p>
            <a:pPr algn="just"/>
            <a:r>
              <a:rPr lang="en-US" dirty="0"/>
              <a:t>With this capability, it is possible to transition an Azure Databricks-managed VNet to own VNet via VNet injection.</a:t>
            </a:r>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98EE-BBE3-B9BF-C218-E4DEA9A76D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082964C-E8A1-73CC-B206-1A488254620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DDE59A08-9A25-40C0-DC79-D2FB88CF728E}"/>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4D7D0670-36E5-9279-0AB3-70FC83D5A9F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9AC89A86-0455-61DD-7A55-DACDA81B83B1}"/>
              </a:ext>
            </a:extLst>
          </p:cNvPr>
          <p:cNvSpPr>
            <a:spLocks noGrp="1"/>
          </p:cNvSpPr>
          <p:nvPr>
            <p:ph type="body" sz="quarter" idx="16"/>
          </p:nvPr>
        </p:nvSpPr>
        <p:spPr>
          <a:xfrm>
            <a:off x="342900" y="855081"/>
            <a:ext cx="3955312" cy="2245308"/>
          </a:xfrm>
        </p:spPr>
        <p:txBody>
          <a:bodyPr/>
          <a:lstStyle/>
          <a:p>
            <a:pPr algn="just"/>
            <a:r>
              <a:rPr lang="en-US" dirty="0">
                <a:hlinkClick r:id="rId2"/>
              </a:rPr>
              <a:t>Announcing Public Preview: New Microsoft Teams VDI Optimization for </a:t>
            </a:r>
            <a:r>
              <a:rPr lang="en-US" dirty="0" err="1">
                <a:hlinkClick r:id="rId2"/>
              </a:rPr>
              <a:t>Omnissa</a:t>
            </a:r>
            <a:endParaRPr lang="en-US" dirty="0"/>
          </a:p>
          <a:p>
            <a:pPr algn="just"/>
            <a:r>
              <a:rPr lang="en-US" dirty="0"/>
              <a:t>MS announced the tech preview of the new Microsoft Teams VDI optimization for </a:t>
            </a:r>
            <a:r>
              <a:rPr lang="en-US" dirty="0" err="1"/>
              <a:t>Omnissa</a:t>
            </a:r>
            <a:r>
              <a:rPr lang="en-US" dirty="0"/>
              <a:t> Horizon environments, bringing a modern, high-performance collaboration experience to customers running Teams in virtual desktops.</a:t>
            </a:r>
          </a:p>
          <a:p>
            <a:pPr algn="just"/>
            <a:r>
              <a:rPr lang="en-US" dirty="0"/>
              <a:t>With thew new optimization now in available in tech preview for </a:t>
            </a:r>
            <a:r>
              <a:rPr lang="en-US" dirty="0" err="1"/>
              <a:t>Omnissa</a:t>
            </a:r>
            <a:r>
              <a:rPr lang="en-US" dirty="0"/>
              <a:t> Horizon, customers can deliver a </a:t>
            </a:r>
            <a:r>
              <a:rPr lang="en-US" b="1" dirty="0"/>
              <a:t>native-like Teams experience</a:t>
            </a:r>
            <a:r>
              <a:rPr lang="en-US" dirty="0"/>
              <a:t> while continuing to benefit from the operational and security advantages of VDI.</a:t>
            </a:r>
          </a:p>
          <a:p>
            <a:pPr algn="just"/>
            <a:r>
              <a:rPr lang="en-US" dirty="0"/>
              <a:t>This release brings </a:t>
            </a:r>
            <a:r>
              <a:rPr lang="en-US" dirty="0" err="1"/>
              <a:t>Omnissa</a:t>
            </a:r>
            <a:r>
              <a:rPr lang="en-US" dirty="0"/>
              <a:t> customers onto the same </a:t>
            </a:r>
            <a:r>
              <a:rPr lang="en-US" b="1" dirty="0"/>
              <a:t>next generation optimization architecture</a:t>
            </a:r>
            <a:r>
              <a:rPr lang="en-US" dirty="0"/>
              <a:t> already powering Teams across other supported VDI platforms.</a:t>
            </a:r>
          </a:p>
          <a:p>
            <a:pPr algn="just"/>
            <a:endParaRPr lang="en-US" dirty="0"/>
          </a:p>
        </p:txBody>
      </p:sp>
      <p:pic>
        <p:nvPicPr>
          <p:cNvPr id="3" name="Picture 2">
            <a:extLst>
              <a:ext uri="{FF2B5EF4-FFF2-40B4-BE49-F238E27FC236}">
                <a16:creationId xmlns:a16="http://schemas.microsoft.com/office/drawing/2014/main" id="{E6CAED0A-57B1-A9E3-FF2D-D1012037F5DF}"/>
              </a:ext>
            </a:extLst>
          </p:cNvPr>
          <p:cNvPicPr>
            <a:picLocks noChangeAspect="1"/>
          </p:cNvPicPr>
          <p:nvPr/>
        </p:nvPicPr>
        <p:blipFill>
          <a:blip r:embed="rId3"/>
          <a:stretch>
            <a:fillRect/>
          </a:stretch>
        </p:blipFill>
        <p:spPr>
          <a:xfrm>
            <a:off x="660825" y="3072150"/>
            <a:ext cx="3319462" cy="1556999"/>
          </a:xfrm>
          <a:prstGeom prst="rect">
            <a:avLst/>
          </a:prstGeom>
        </p:spPr>
      </p:pic>
    </p:spTree>
    <p:extLst>
      <p:ext uri="{BB962C8B-B14F-4D97-AF65-F5344CB8AC3E}">
        <p14:creationId xmlns:p14="http://schemas.microsoft.com/office/powerpoint/2010/main" val="187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Databases</a:t>
            </a:r>
          </a:p>
        </p:txBody>
      </p:sp>
    </p:spTree>
    <p:extLst>
      <p:ext uri="{BB962C8B-B14F-4D97-AF65-F5344CB8AC3E}">
        <p14:creationId xmlns:p14="http://schemas.microsoft.com/office/powerpoint/2010/main" val="1240959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Managed Identity Support for Azure SQL Database Import &amp; Export services (preview)</a:t>
            </a:r>
            <a:endParaRPr lang="en-US" dirty="0"/>
          </a:p>
          <a:p>
            <a:pPr algn="just"/>
            <a:r>
              <a:rPr lang="en-US" dirty="0"/>
              <a:t>Azure SQL Database </a:t>
            </a:r>
            <a:r>
              <a:rPr lang="en-US" b="1" dirty="0"/>
              <a:t>Import &amp; Export services now support authentication using User-Assigned Managed Identity (UAMI)</a:t>
            </a:r>
            <a:r>
              <a:rPr lang="en-US" dirty="0"/>
              <a:t>.</a:t>
            </a:r>
          </a:p>
          <a:p>
            <a:pPr algn="just"/>
            <a:r>
              <a:rPr lang="en-US" dirty="0"/>
              <a:t>This eliminates the need to store or manage credentials such as:</a:t>
            </a:r>
          </a:p>
          <a:p>
            <a:pPr marL="171450" indent="-171450" algn="just">
              <a:buFont typeface="Arial" panose="020B0604020202020204" pitchFamily="34" charset="0"/>
              <a:buChar char="•"/>
            </a:pPr>
            <a:r>
              <a:rPr lang="en-US" dirty="0"/>
              <a:t>SQL passwords</a:t>
            </a:r>
          </a:p>
          <a:p>
            <a:pPr marL="171450" indent="-171450" algn="just">
              <a:buFont typeface="Arial" panose="020B0604020202020204" pitchFamily="34" charset="0"/>
              <a:buChar char="•"/>
            </a:pPr>
            <a:r>
              <a:rPr lang="en-US" dirty="0"/>
              <a:t>Storage account access keys</a:t>
            </a:r>
          </a:p>
          <a:p>
            <a:pPr marL="171450" indent="-171450" algn="just">
              <a:buFont typeface="Arial" panose="020B0604020202020204" pitchFamily="34" charset="0"/>
              <a:buChar char="•"/>
            </a:pPr>
            <a:r>
              <a:rPr lang="en-US" dirty="0"/>
              <a:t>SAS tokens</a:t>
            </a:r>
          </a:p>
          <a:p>
            <a:pPr algn="just"/>
            <a:r>
              <a:rPr lang="en-US" dirty="0"/>
              <a:t>Import and export operations can now securely access </a:t>
            </a:r>
            <a:r>
              <a:rPr lang="en-US" b="1" dirty="0"/>
              <a:t>Azure SQL Database and Azure Storage using Azure AD-based identity</a:t>
            </a:r>
            <a:r>
              <a:rPr lang="en-US" dirty="0"/>
              <a:t>.</a:t>
            </a:r>
          </a:p>
          <a:p>
            <a:pPr algn="just"/>
            <a:endParaRPr lang="en-US" dirty="0"/>
          </a:p>
        </p:txBody>
      </p:sp>
    </p:spTree>
    <p:extLst>
      <p:ext uri="{BB962C8B-B14F-4D97-AF65-F5344CB8AC3E}">
        <p14:creationId xmlns:p14="http://schemas.microsoft.com/office/powerpoint/2010/main" val="1776979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93715-9869-88DC-2CB8-A7701BFB332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9D1DAA-5541-5F8D-D325-1706397A6A43}"/>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B05E9534-3C35-9313-C6E7-9E564BDFC466}"/>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DE6CD169-A2F9-0F7E-49EE-EC7FAE204B1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510AD9-2A44-5DDF-30FA-DE4500EB2760}"/>
              </a:ext>
            </a:extLst>
          </p:cNvPr>
          <p:cNvSpPr>
            <a:spLocks noGrp="1"/>
          </p:cNvSpPr>
          <p:nvPr>
            <p:ph type="body" sz="quarter" idx="16"/>
          </p:nvPr>
        </p:nvSpPr>
        <p:spPr/>
        <p:txBody>
          <a:bodyPr/>
          <a:lstStyle/>
          <a:p>
            <a:r>
              <a:rPr lang="en-US" dirty="0">
                <a:hlinkClick r:id="rId2"/>
              </a:rPr>
              <a:t>GA of update policy SQL Server 2025 for Azure SQL Managed Instance</a:t>
            </a:r>
            <a:endParaRPr lang="en-US" dirty="0"/>
          </a:p>
          <a:p>
            <a:r>
              <a:rPr lang="en-US" dirty="0"/>
              <a:t>Microsoft announced </a:t>
            </a:r>
            <a:r>
              <a:rPr lang="en-US" b="1" dirty="0"/>
              <a:t>General Availability of the SQL Server 2025 update policy</a:t>
            </a:r>
            <a:r>
              <a:rPr lang="en-US" dirty="0"/>
              <a:t> for Azure SQL Managed Instance.</a:t>
            </a:r>
            <a:br>
              <a:rPr lang="en-US" dirty="0"/>
            </a:br>
            <a:r>
              <a:rPr lang="en-US" dirty="0"/>
              <a:t>This policy allows organizations to </a:t>
            </a:r>
            <a:r>
              <a:rPr lang="en-US" b="1" dirty="0"/>
              <a:t>use the newest SQL engine innovations while maintaining compatibility with SQL Server 2025</a:t>
            </a:r>
            <a:r>
              <a:rPr lang="en-US" dirty="0"/>
              <a:t>.</a:t>
            </a:r>
          </a:p>
          <a:p>
            <a:r>
              <a:rPr lang="en-US" dirty="0"/>
              <a:t>This is particularly relevant for environments where </a:t>
            </a:r>
            <a:r>
              <a:rPr lang="en-US" b="1" dirty="0"/>
              <a:t>database portability to on-prem SQL Server versions must be preserved</a:t>
            </a:r>
            <a:r>
              <a:rPr lang="en-US" dirty="0"/>
              <a:t>, while still leveraging Azure SQL platform capabilities.</a:t>
            </a:r>
          </a:p>
          <a:p>
            <a:r>
              <a:rPr lang="en-US" dirty="0"/>
              <a:t>Instances configured with </a:t>
            </a:r>
            <a:r>
              <a:rPr lang="en-US" b="1" dirty="0"/>
              <a:t>SQL Server 2025 update policy</a:t>
            </a:r>
            <a:r>
              <a:rPr lang="en-US" dirty="0"/>
              <a:t> receive all SQL engine innovations introduced in the </a:t>
            </a:r>
            <a:r>
              <a:rPr lang="en-US" b="1" dirty="0"/>
              <a:t>Always-up-to-date policy over recent years</a:t>
            </a:r>
            <a:r>
              <a:rPr lang="en-US" dirty="0"/>
              <a:t>.</a:t>
            </a:r>
          </a:p>
          <a:p>
            <a:pPr marL="171450" indent="-171450">
              <a:buFont typeface="Arial" panose="020B0604020202020204" pitchFamily="34" charset="0"/>
              <a:buChar char="•"/>
            </a:pPr>
            <a:r>
              <a:rPr lang="en-US" dirty="0"/>
              <a:t>Optimized Locking</a:t>
            </a:r>
          </a:p>
          <a:p>
            <a:pPr marL="171450" indent="-171450">
              <a:buFont typeface="Arial" panose="020B0604020202020204" pitchFamily="34" charset="0"/>
              <a:buChar char="•"/>
            </a:pPr>
            <a:r>
              <a:rPr lang="en-US" dirty="0"/>
              <a:t>Mirroring in Microsoft Fabric</a:t>
            </a:r>
          </a:p>
          <a:p>
            <a:pPr marL="171450" indent="-171450">
              <a:buFont typeface="Arial" panose="020B0604020202020204" pitchFamily="34" charset="0"/>
              <a:buChar char="•"/>
            </a:pPr>
            <a:r>
              <a:rPr lang="en-US" dirty="0"/>
              <a:t>Regular Expression Functions</a:t>
            </a:r>
          </a:p>
          <a:p>
            <a:pPr marL="171450" indent="-171450">
              <a:buFont typeface="Arial" panose="020B0604020202020204" pitchFamily="34" charset="0"/>
              <a:buChar char="•"/>
            </a:pPr>
            <a:r>
              <a:rPr lang="en-US" dirty="0"/>
              <a:t>Vector Data Type and Functions</a:t>
            </a:r>
          </a:p>
          <a:p>
            <a:pPr marL="171450" indent="-171450">
              <a:buFont typeface="Arial" panose="020B0604020202020204" pitchFamily="34" charset="0"/>
              <a:buChar char="•"/>
            </a:pPr>
            <a:r>
              <a:rPr lang="en-US" dirty="0"/>
              <a:t>JSON Data Type and Aggregation Functions</a:t>
            </a:r>
          </a:p>
          <a:p>
            <a:pPr marL="171450" indent="-171450">
              <a:buFont typeface="Arial" panose="020B0604020202020204" pitchFamily="34" charset="0"/>
              <a:buChar char="•"/>
            </a:pPr>
            <a:r>
              <a:rPr lang="en-US" dirty="0"/>
              <a:t>HTTP REST Endpoint Invocation</a:t>
            </a:r>
          </a:p>
          <a:p>
            <a:pPr marL="171450" indent="-171450">
              <a:buFont typeface="Arial" panose="020B0604020202020204" pitchFamily="34" charset="0"/>
              <a:buChar char="•"/>
            </a:pPr>
            <a:r>
              <a:rPr lang="en-US" dirty="0"/>
              <a:t>Backup to Immutable Azure Blob Storage</a:t>
            </a:r>
          </a:p>
          <a:p>
            <a:pPr marL="171450" indent="-171450">
              <a:buFont typeface="Arial" panose="020B0604020202020204" pitchFamily="34" charset="0"/>
              <a:buChar char="•"/>
            </a:pPr>
            <a:r>
              <a:rPr lang="en-US" dirty="0"/>
              <a:t>Change Event Streaming (Private Preview)</a:t>
            </a:r>
          </a:p>
          <a:p>
            <a:endParaRPr lang="en-US" dirty="0"/>
          </a:p>
        </p:txBody>
      </p:sp>
    </p:spTree>
    <p:extLst>
      <p:ext uri="{BB962C8B-B14F-4D97-AF65-F5344CB8AC3E}">
        <p14:creationId xmlns:p14="http://schemas.microsoft.com/office/powerpoint/2010/main" val="580018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ML &amp; AI &amp; IOT</a:t>
            </a:r>
          </a:p>
        </p:txBody>
      </p:sp>
    </p:spTree>
    <p:extLst>
      <p:ext uri="{BB962C8B-B14F-4D97-AF65-F5344CB8AC3E}">
        <p14:creationId xmlns:p14="http://schemas.microsoft.com/office/powerpoint/2010/main" val="35148783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1"/>
            <a:ext cx="3955312" cy="859420"/>
          </a:xfrm>
        </p:spPr>
        <p:txBody>
          <a:bodyPr/>
          <a:lstStyle/>
          <a:p>
            <a:r>
              <a:rPr lang="en-US" dirty="0">
                <a:hlinkClick r:id="rId2"/>
              </a:rPr>
              <a:t>What’s new in cloud, AI, and security Certifications</a:t>
            </a:r>
            <a:endParaRPr lang="en-US" dirty="0"/>
          </a:p>
          <a:p>
            <a:r>
              <a:rPr lang="en-US" dirty="0"/>
              <a:t>The new Certification exams roll out in beta beginning this month, with additional releases following over the next few months and are expected to go live later this year.</a:t>
            </a:r>
          </a:p>
        </p:txBody>
      </p:sp>
      <p:pic>
        <p:nvPicPr>
          <p:cNvPr id="3" name="Picture 2">
            <a:extLst>
              <a:ext uri="{FF2B5EF4-FFF2-40B4-BE49-F238E27FC236}">
                <a16:creationId xmlns:a16="http://schemas.microsoft.com/office/drawing/2014/main" id="{1AB4081D-14FD-0DEB-6E70-32D56ED5DD4F}"/>
              </a:ext>
            </a:extLst>
          </p:cNvPr>
          <p:cNvPicPr>
            <a:picLocks noChangeAspect="1"/>
          </p:cNvPicPr>
          <p:nvPr/>
        </p:nvPicPr>
        <p:blipFill>
          <a:blip r:embed="rId3"/>
          <a:stretch>
            <a:fillRect/>
          </a:stretch>
        </p:blipFill>
        <p:spPr>
          <a:xfrm>
            <a:off x="402900" y="1714501"/>
            <a:ext cx="3767934" cy="2085974"/>
          </a:xfrm>
          <a:prstGeom prst="rect">
            <a:avLst/>
          </a:prstGeom>
        </p:spPr>
      </p:pic>
    </p:spTree>
    <p:extLst>
      <p:ext uri="{BB962C8B-B14F-4D97-AF65-F5344CB8AC3E}">
        <p14:creationId xmlns:p14="http://schemas.microsoft.com/office/powerpoint/2010/main" val="3732754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2ADB6-113C-7F12-FA61-67D8C365299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028B91B-AE7C-2437-0508-F4249B752765}"/>
              </a:ext>
            </a:extLst>
          </p:cNvPr>
          <p:cNvSpPr>
            <a:spLocks noGrp="1"/>
          </p:cNvSpPr>
          <p:nvPr>
            <p:ph type="body" sz="quarter" idx="10"/>
          </p:nvPr>
        </p:nvSpPr>
        <p:spPr/>
        <p:txBody>
          <a:bodyPr/>
          <a:lstStyle/>
          <a:p>
            <a:pPr algn="just"/>
            <a:r>
              <a:rPr lang="en-US" sz="1000" dirty="0">
                <a:hlinkClick r:id="rId2"/>
              </a:rPr>
              <a:t>Now in Foundry: Qwen3.5 Medium Model Series</a:t>
            </a:r>
            <a:endParaRPr lang="en-US" sz="1000" dirty="0"/>
          </a:p>
          <a:p>
            <a:pPr algn="just"/>
            <a:r>
              <a:rPr lang="en-US" sz="1000" dirty="0"/>
              <a:t>Qwen3.5 Medium Model Series, now available in Microsoft Foundry.  All three models are Vision Language Models (VLMs) built with early-fusion multimodal training, a 262K native context window, and support for 201 languages, released under Apache 2.0. They range from a 27B dense model optimized for latency-sensitive deployments to a 122B sparse Mixture-of-Experts (</a:t>
            </a:r>
            <a:r>
              <a:rPr lang="en-US" sz="1000" dirty="0" err="1"/>
              <a:t>MoE</a:t>
            </a:r>
            <a:r>
              <a:rPr lang="en-US" sz="1000" dirty="0"/>
              <a:t>) model that activates only 10B parameters per inference call, delivering frontier-class multimodal performance at lower inference cost.</a:t>
            </a:r>
          </a:p>
          <a:p>
            <a:pPr marL="171450" indent="-171450" algn="just">
              <a:buFont typeface="Arial" panose="020B0604020202020204" pitchFamily="34" charset="0"/>
              <a:buChar char="•"/>
            </a:pPr>
            <a:r>
              <a:rPr lang="en-US" sz="1000" b="1" dirty="0"/>
              <a:t>Unified Vision-Language training (early fusion): </a:t>
            </a:r>
            <a:r>
              <a:rPr lang="en-US" sz="1000" dirty="0"/>
              <a:t>Rather than attaching a separate vision encoder to a text model as an afterthought, Qwen3.5 trains on text and image tokens together from the beginning. This can enable stronger reasoning over diagrams, charts, and documents compared to prior Qwen3-VL models, which used a separate vision pipeline.</a:t>
            </a:r>
          </a:p>
          <a:p>
            <a:pPr marL="171450" indent="-171450" algn="just">
              <a:buFont typeface="Arial" panose="020B0604020202020204" pitchFamily="34" charset="0"/>
              <a:buChar char="•"/>
            </a:pPr>
            <a:r>
              <a:rPr lang="en-US" sz="1000" b="1" dirty="0"/>
              <a:t>Gated Delta Networks: </a:t>
            </a:r>
            <a:r>
              <a:rPr lang="en-US" sz="1000" dirty="0"/>
              <a:t>A novel linear attention mechanism that replaces standard self-attention in most transformer layers. Combined with sparse </a:t>
            </a:r>
            <a:r>
              <a:rPr lang="en-US" sz="1000" dirty="0" err="1"/>
              <a:t>MoE</a:t>
            </a:r>
            <a:r>
              <a:rPr lang="en-US" sz="1000" dirty="0"/>
              <a:t> routing in the two larger models, this hybrid can deliver high-throughput inference at lower latency than equivalent dense architectures.</a:t>
            </a:r>
          </a:p>
          <a:p>
            <a:pPr marL="171450" indent="-171450" algn="just">
              <a:buFont typeface="Arial" panose="020B0604020202020204" pitchFamily="34" charset="0"/>
              <a:buChar char="•"/>
            </a:pPr>
            <a:r>
              <a:rPr lang="en-US" sz="1000" b="1" dirty="0"/>
              <a:t>Scalable RL across agent environments: </a:t>
            </a:r>
            <a:r>
              <a:rPr lang="en-US" sz="1000" dirty="0"/>
              <a:t>Post-training uses reinforcement learning scaled across large multi-agent environments, contributing to strong performance on instruction-following and agentic task benchmarks.</a:t>
            </a:r>
          </a:p>
        </p:txBody>
      </p:sp>
      <p:sp>
        <p:nvSpPr>
          <p:cNvPr id="11" name="Title 10">
            <a:extLst>
              <a:ext uri="{FF2B5EF4-FFF2-40B4-BE49-F238E27FC236}">
                <a16:creationId xmlns:a16="http://schemas.microsoft.com/office/drawing/2014/main" id="{EE84B67F-7026-D091-4F4B-F5819D59C9E7}"/>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55AD8010-EE62-F57B-5CA1-B8E7B6C0ECD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B331A00-CF62-F468-BCCC-F6840B7358F5}"/>
              </a:ext>
            </a:extLst>
          </p:cNvPr>
          <p:cNvSpPr>
            <a:spLocks noGrp="1"/>
          </p:cNvSpPr>
          <p:nvPr>
            <p:ph type="body" sz="quarter" idx="16"/>
          </p:nvPr>
        </p:nvSpPr>
        <p:spPr/>
        <p:txBody>
          <a:bodyPr/>
          <a:lstStyle/>
          <a:p>
            <a:pPr algn="just"/>
            <a:r>
              <a:rPr lang="en-US" dirty="0">
                <a:hlinkClick r:id="rId3"/>
              </a:rPr>
              <a:t>Introducing GPT-5.4 in Microsoft Foundry</a:t>
            </a:r>
            <a:endParaRPr lang="en-US" dirty="0"/>
          </a:p>
          <a:p>
            <a:pPr algn="just"/>
            <a:r>
              <a:rPr lang="en-US" dirty="0"/>
              <a:t>OpenAI’s GPT‑5.4 is now generally available in Microsoft Foundry: a model designed to help organizations move from planning work to reliably completing it in production environments. As AI agents are applied to longer, more complex workflows, consistency and follow‑through become as important as raw intelligence. GPT‑5.4 combines stronger reasoning with built in computer use capabilities to support automation scenarios, and dependable execution across tools, files, and multi‑step workflows at scale.</a:t>
            </a:r>
          </a:p>
          <a:p>
            <a:pPr algn="just"/>
            <a:r>
              <a:rPr lang="en-US" dirty="0"/>
              <a:t>GPT-5.4 introduces advancements that aim for production grade AI:</a:t>
            </a:r>
          </a:p>
          <a:p>
            <a:pPr marL="171450" indent="-171450" algn="just">
              <a:buFont typeface="Arial" panose="020B0604020202020204" pitchFamily="34" charset="0"/>
              <a:buChar char="•"/>
            </a:pPr>
            <a:r>
              <a:rPr lang="en-US" b="1" dirty="0"/>
              <a:t>More consistent reasoning over time,</a:t>
            </a:r>
            <a:r>
              <a:rPr lang="en-US" dirty="0"/>
              <a:t> helping maintain intent across multi‑turn and multi‑step interactions</a:t>
            </a:r>
          </a:p>
          <a:p>
            <a:pPr marL="171450" indent="-171450" algn="just">
              <a:buFont typeface="Arial" panose="020B0604020202020204" pitchFamily="34" charset="0"/>
              <a:buChar char="•"/>
            </a:pPr>
            <a:r>
              <a:rPr lang="en-US" b="1" dirty="0"/>
              <a:t>Enhanced instruction alignment</a:t>
            </a:r>
            <a:r>
              <a:rPr lang="en-US" dirty="0"/>
              <a:t> to reduce prompt tuning and oversight</a:t>
            </a:r>
          </a:p>
          <a:p>
            <a:pPr marL="171450" indent="-171450" algn="just">
              <a:buFont typeface="Arial" panose="020B0604020202020204" pitchFamily="34" charset="0"/>
              <a:buChar char="•"/>
            </a:pPr>
            <a:r>
              <a:rPr lang="en-US" b="1" dirty="0"/>
              <a:t>Latency improved performance</a:t>
            </a:r>
            <a:r>
              <a:rPr lang="en-US" dirty="0"/>
              <a:t> for responsive, real-time workflows</a:t>
            </a:r>
          </a:p>
          <a:p>
            <a:pPr marL="171450" indent="-171450" algn="just">
              <a:buFont typeface="Arial" panose="020B0604020202020204" pitchFamily="34" charset="0"/>
              <a:buChar char="•"/>
            </a:pPr>
            <a:r>
              <a:rPr lang="en-US" b="1" dirty="0"/>
              <a:t>Integrated computer use capabilities</a:t>
            </a:r>
            <a:r>
              <a:rPr lang="en-US" dirty="0"/>
              <a:t> for structured orchestration of tools, file access, data extraction, guarded code execution, and agent handoffs</a:t>
            </a:r>
          </a:p>
          <a:p>
            <a:pPr marL="171450" indent="-171450" algn="just">
              <a:buFont typeface="Arial" panose="020B0604020202020204" pitchFamily="34" charset="0"/>
              <a:buChar char="•"/>
            </a:pPr>
            <a:r>
              <a:rPr lang="en-US" b="1" dirty="0"/>
              <a:t>More dependable tool invocation</a:t>
            </a:r>
            <a:r>
              <a:rPr lang="en-US" dirty="0"/>
              <a:t> reducing prompt tuning and human oversight</a:t>
            </a:r>
          </a:p>
          <a:p>
            <a:pPr marL="171450" indent="-171450" algn="just">
              <a:buFont typeface="Arial" panose="020B0604020202020204" pitchFamily="34" charset="0"/>
              <a:buChar char="•"/>
            </a:pPr>
            <a:r>
              <a:rPr lang="en-US" b="1" dirty="0"/>
              <a:t>Higher‑quality generated artifacts, </a:t>
            </a:r>
            <a:r>
              <a:rPr lang="en-US" dirty="0"/>
              <a:t>including documents, spreadsheets, and presentations with more consistent structure</a:t>
            </a:r>
          </a:p>
          <a:p>
            <a:pPr algn="just"/>
            <a:r>
              <a:rPr lang="en-US" dirty="0"/>
              <a:t>.</a:t>
            </a:r>
          </a:p>
          <a:p>
            <a:pPr algn="just"/>
            <a:endParaRPr lang="en-US" dirty="0"/>
          </a:p>
        </p:txBody>
      </p:sp>
    </p:spTree>
    <p:extLst>
      <p:ext uri="{BB962C8B-B14F-4D97-AF65-F5344CB8AC3E}">
        <p14:creationId xmlns:p14="http://schemas.microsoft.com/office/powerpoint/2010/main" val="586386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xEl>
                                              <p:pRg st="0" end="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1" end="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3" end="3"/>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Miscellaneous</a:t>
            </a:r>
          </a:p>
        </p:txBody>
      </p:sp>
    </p:spTree>
    <p:extLst>
      <p:ext uri="{BB962C8B-B14F-4D97-AF65-F5344CB8AC3E}">
        <p14:creationId xmlns:p14="http://schemas.microsoft.com/office/powerpoint/2010/main" val="15884181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Miscellaneous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Windows Terminal Preview 1.25 Release</a:t>
            </a:r>
            <a:endParaRPr lang="en-US" dirty="0"/>
          </a:p>
          <a:p>
            <a:pPr algn="just"/>
            <a:r>
              <a:rPr lang="en-US" dirty="0"/>
              <a:t>Microsoft has resumed the regular release cycle and introduced </a:t>
            </a:r>
            <a:r>
              <a:rPr lang="en-US" b="1" dirty="0"/>
              <a:t>Windows Terminal 1.25 (Preview)</a:t>
            </a:r>
            <a:r>
              <a:rPr lang="en-US" dirty="0"/>
              <a:t> while updating the </a:t>
            </a:r>
            <a:r>
              <a:rPr lang="en-US" b="1" dirty="0"/>
              <a:t>stable channel to version 1.24</a:t>
            </a:r>
            <a:r>
              <a:rPr lang="en-US" dirty="0"/>
              <a:t>.</a:t>
            </a:r>
          </a:p>
          <a:p>
            <a:pPr algn="just"/>
            <a:r>
              <a:rPr lang="en-US" dirty="0"/>
              <a:t>This release focuses on </a:t>
            </a:r>
            <a:r>
              <a:rPr lang="en-US" b="1" dirty="0"/>
              <a:t>usability improvements, extensibility, and terminal rendering performance</a:t>
            </a:r>
            <a:r>
              <a:rPr lang="en-US" dirty="0"/>
              <a:t>.</a:t>
            </a:r>
          </a:p>
          <a:p>
            <a:pPr marL="171450" indent="-171450" algn="just">
              <a:buFont typeface="Arial" panose="020B0604020202020204" pitchFamily="34" charset="0"/>
              <a:buChar char="•"/>
            </a:pPr>
            <a:r>
              <a:rPr lang="en-US" dirty="0"/>
              <a:t>Improved Command Palette Language Support</a:t>
            </a:r>
          </a:p>
          <a:p>
            <a:pPr marL="171450" indent="-171450" algn="just">
              <a:buFont typeface="Arial" panose="020B0604020202020204" pitchFamily="34" charset="0"/>
              <a:buChar char="•"/>
            </a:pPr>
            <a:r>
              <a:rPr lang="en-US" dirty="0"/>
              <a:t>New Extensions Settings Page</a:t>
            </a:r>
          </a:p>
          <a:p>
            <a:pPr marL="171450" indent="-171450" algn="just">
              <a:buFont typeface="Arial" panose="020B0604020202020204" pitchFamily="34" charset="0"/>
              <a:buChar char="•"/>
            </a:pPr>
            <a:r>
              <a:rPr lang="en-US" dirty="0"/>
              <a:t>Synchronized Output Support</a:t>
            </a:r>
          </a:p>
          <a:p>
            <a:pPr algn="just"/>
            <a:endParaRPr lang="en-US" dirty="0"/>
          </a:p>
        </p:txBody>
      </p:sp>
    </p:spTree>
    <p:extLst>
      <p:ext uri="{BB962C8B-B14F-4D97-AF65-F5344CB8AC3E}">
        <p14:creationId xmlns:p14="http://schemas.microsoft.com/office/powerpoint/2010/main" val="954020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F6376-AFAE-7966-3832-BF94E416269A}"/>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2FB73DF5-B435-B08A-FA0B-4E67E050E300}"/>
              </a:ext>
            </a:extLst>
          </p:cNvPr>
          <p:cNvSpPr>
            <a:spLocks noGrp="1"/>
          </p:cNvSpPr>
          <p:nvPr>
            <p:ph type="title"/>
          </p:nvPr>
        </p:nvSpPr>
        <p:spPr/>
        <p:txBody>
          <a:bodyPr/>
          <a:lstStyle/>
          <a:p>
            <a:r>
              <a:rPr lang="en-US" sz="1800" dirty="0"/>
              <a:t>Miscellaneous Updates</a:t>
            </a:r>
            <a:endParaRPr lang="en-US" dirty="0"/>
          </a:p>
        </p:txBody>
      </p:sp>
      <p:sp>
        <p:nvSpPr>
          <p:cNvPr id="13" name="Text Placeholder 12">
            <a:extLst>
              <a:ext uri="{FF2B5EF4-FFF2-40B4-BE49-F238E27FC236}">
                <a16:creationId xmlns:a16="http://schemas.microsoft.com/office/drawing/2014/main" id="{34A31A64-CCC6-D99D-7AF9-F1B68C99CE8F}"/>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28244EA9-AA7C-544B-0E10-45F0A7930630}"/>
              </a:ext>
            </a:extLst>
          </p:cNvPr>
          <p:cNvSpPr>
            <a:spLocks noGrp="1"/>
          </p:cNvSpPr>
          <p:nvPr>
            <p:ph type="body" sz="quarter" idx="16"/>
          </p:nvPr>
        </p:nvSpPr>
        <p:spPr/>
        <p:txBody>
          <a:bodyPr/>
          <a:lstStyle/>
          <a:p>
            <a:pPr algn="just"/>
            <a:r>
              <a:rPr lang="en-US" dirty="0">
                <a:hlinkClick r:id="rId2"/>
              </a:rPr>
              <a:t>Announcing the General Availability of the Azure Maps Geocode Autocomplete API</a:t>
            </a:r>
            <a:endParaRPr lang="en-US" dirty="0"/>
          </a:p>
          <a:p>
            <a:pPr algn="just"/>
            <a:r>
              <a:rPr lang="en-US" dirty="0"/>
              <a:t>MS announced the </a:t>
            </a:r>
            <a:r>
              <a:rPr lang="en-US" b="1" dirty="0"/>
              <a:t>general availability (GA)</a:t>
            </a:r>
            <a:r>
              <a:rPr lang="en-US" dirty="0"/>
              <a:t> of the </a:t>
            </a:r>
            <a:r>
              <a:rPr lang="en-US" b="1" dirty="0">
                <a:hlinkClick r:id="rId3"/>
              </a:rPr>
              <a:t>Azure Maps Geocode Autocomplete API</a:t>
            </a:r>
            <a:r>
              <a:rPr lang="en-US" b="1" dirty="0"/>
              <a:t>, </a:t>
            </a:r>
            <a:r>
              <a:rPr lang="en-US" dirty="0"/>
              <a:t>a production‑ready REST service that delivers fast, intelligent, and structured location suggestions.</a:t>
            </a:r>
          </a:p>
          <a:p>
            <a:pPr algn="just"/>
            <a:r>
              <a:rPr lang="en-US" dirty="0"/>
              <a:t>Today’s applications increasingly rely on smart, real‑time location suggestions, whether for store locators, delivery routing, rideshare dispatch, address entry, or dynamic search UIs. The Azure Maps Geocode Autocomplete API brings:</a:t>
            </a:r>
          </a:p>
          <a:p>
            <a:pPr marL="171450" indent="-171450" algn="just">
              <a:buFont typeface="Arial" panose="020B0604020202020204" pitchFamily="34" charset="0"/>
              <a:buChar char="•"/>
            </a:pPr>
            <a:r>
              <a:rPr lang="en-US" b="1" dirty="0"/>
              <a:t>Instant, relevant, typed‑ahead suggestions</a:t>
            </a:r>
            <a:endParaRPr lang="en-US" dirty="0"/>
          </a:p>
          <a:p>
            <a:pPr marL="171450" indent="-171450" algn="just">
              <a:buFont typeface="Arial" panose="020B0604020202020204" pitchFamily="34" charset="0"/>
              <a:buChar char="•"/>
            </a:pPr>
            <a:r>
              <a:rPr lang="en-US" b="1" dirty="0"/>
              <a:t>Granular result type filtering</a:t>
            </a:r>
            <a:r>
              <a:rPr lang="en-US" dirty="0"/>
              <a:t> for Place or Address categories or even subtypes of Place category</a:t>
            </a:r>
          </a:p>
          <a:p>
            <a:pPr marL="171450" indent="-171450" algn="just">
              <a:buFont typeface="Arial" panose="020B0604020202020204" pitchFamily="34" charset="0"/>
              <a:buChar char="•"/>
            </a:pPr>
            <a:r>
              <a:rPr lang="en-US" b="1" dirty="0"/>
              <a:t>Structured, developer‑friendly outputs</a:t>
            </a:r>
            <a:endParaRPr lang="en-US" dirty="0"/>
          </a:p>
          <a:p>
            <a:pPr marL="171450" indent="-171450" algn="just">
              <a:buFont typeface="Arial" panose="020B0604020202020204" pitchFamily="34" charset="0"/>
              <a:buChar char="•"/>
            </a:pPr>
            <a:r>
              <a:rPr lang="en-US" b="1" dirty="0"/>
              <a:t>Support for multilingual experiences and localized ranking</a:t>
            </a:r>
            <a:endParaRPr lang="en-US" dirty="0"/>
          </a:p>
          <a:p>
            <a:pPr marL="171450" indent="-171450" algn="just">
              <a:buFont typeface="Arial" panose="020B0604020202020204" pitchFamily="34" charset="0"/>
              <a:buChar char="•"/>
            </a:pPr>
            <a:r>
              <a:rPr lang="en-US" b="1" dirty="0"/>
              <a:t>Proximity‑aware and popularity‑aware results</a:t>
            </a:r>
            <a:endParaRPr lang="en-US" dirty="0"/>
          </a:p>
          <a:p>
            <a:pPr algn="just"/>
            <a:endParaRPr lang="en-US" dirty="0"/>
          </a:p>
        </p:txBody>
      </p:sp>
      <p:pic>
        <p:nvPicPr>
          <p:cNvPr id="3" name="Picture 2">
            <a:extLst>
              <a:ext uri="{FF2B5EF4-FFF2-40B4-BE49-F238E27FC236}">
                <a16:creationId xmlns:a16="http://schemas.microsoft.com/office/drawing/2014/main" id="{222BAB6C-3B88-5751-ADE6-4F0C9426E395}"/>
              </a:ext>
            </a:extLst>
          </p:cNvPr>
          <p:cNvPicPr>
            <a:picLocks noChangeAspect="1"/>
          </p:cNvPicPr>
          <p:nvPr/>
        </p:nvPicPr>
        <p:blipFill>
          <a:blip r:embed="rId4"/>
          <a:stretch>
            <a:fillRect/>
          </a:stretch>
        </p:blipFill>
        <p:spPr>
          <a:xfrm>
            <a:off x="4717802" y="914400"/>
            <a:ext cx="4228002" cy="2793205"/>
          </a:xfrm>
          <a:prstGeom prst="rect">
            <a:avLst/>
          </a:prstGeom>
        </p:spPr>
      </p:pic>
    </p:spTree>
    <p:extLst>
      <p:ext uri="{BB962C8B-B14F-4D97-AF65-F5344CB8AC3E}">
        <p14:creationId xmlns:p14="http://schemas.microsoft.com/office/powerpoint/2010/main" val="3277490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E04B39D-0CBA-4F8F-8809-785207E87965}">
  <ds:schemaRefs>
    <ds:schemaRef ds:uri="http://schemas.microsoft.com/sharepoint/v3/contenttype/forms"/>
  </ds:schemaRefs>
</ds:datastoreItem>
</file>

<file path=customXml/itemProps2.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894</TotalTime>
  <Words>1904</Words>
  <Application>Microsoft Office PowerPoint</Application>
  <PresentationFormat>On-screen Show (16:9)</PresentationFormat>
  <Paragraphs>124</Paragraphs>
  <Slides>23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Human Sans</vt:lpstr>
      <vt:lpstr>Human Sans Regular</vt:lpstr>
      <vt:lpstr>Continuum Theme</vt:lpstr>
      <vt:lpstr>Azure Times #196</vt:lpstr>
      <vt:lpstr>PowerPoint Presentation</vt:lpstr>
      <vt:lpstr>Networking Updates</vt:lpstr>
      <vt:lpstr>PowerPoint Presentation</vt:lpstr>
      <vt:lpstr>Security &amp; Identity Updates</vt:lpstr>
      <vt:lpstr>PowerPoint Presentation</vt:lpstr>
      <vt:lpstr>Management &amp; Governance Updates</vt:lpstr>
      <vt:lpstr>Management &amp; Governance Updates</vt:lpstr>
      <vt:lpstr>PowerPoint Presentation</vt:lpstr>
      <vt:lpstr>Compute Updates</vt:lpstr>
      <vt:lpstr>Compute Updates</vt:lpstr>
      <vt:lpstr>PowerPoint Presentation</vt:lpstr>
      <vt:lpstr>Databases Updates</vt:lpstr>
      <vt:lpstr>Databases Updates</vt:lpstr>
      <vt:lpstr>PowerPoint Presentation</vt:lpstr>
      <vt:lpstr>ML &amp; AI &amp; IOT Updates</vt:lpstr>
      <vt:lpstr>ML &amp; AI &amp; IOT Updates</vt:lpstr>
      <vt:lpstr>PowerPoint Presentation</vt:lpstr>
      <vt:lpstr>Miscellaneous Updates</vt:lpstr>
      <vt:lpstr>Miscellaneous Updates</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112</cp:revision>
  <dcterms:created xsi:type="dcterms:W3CDTF">2018-01-26T19:23:30Z</dcterms:created>
  <dcterms:modified xsi:type="dcterms:W3CDTF">2026-03-07T12:37:20Z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