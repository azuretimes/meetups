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36"/>
  </p:notesMasterIdLst>
  <p:handoutMasterIdLst>
    <p:handoutMasterId r:id="rId37"/>
  </p:handoutMasterIdLst>
  <p:sldIdLst>
    <p:sldId id="2142532340" r:id="rId5"/>
    <p:sldId id="2146847045" r:id="rId6"/>
    <p:sldId id="10657" r:id="rId7"/>
    <p:sldId id="2146847127" r:id="rId8"/>
    <p:sldId id="2146847126" r:id="rId9"/>
    <p:sldId id="2146847125" r:id="rId10"/>
    <p:sldId id="2146847048" r:id="rId11"/>
    <p:sldId id="2146847132" r:id="rId12"/>
    <p:sldId id="2146847050" r:id="rId13"/>
    <p:sldId id="2146847096" r:id="rId14"/>
    <p:sldId id="2146847156" r:id="rId15"/>
    <p:sldId id="2146847136" r:id="rId16"/>
    <p:sldId id="2146847134" r:id="rId17"/>
    <p:sldId id="2146847135" r:id="rId18"/>
    <p:sldId id="2146847052" r:id="rId19"/>
    <p:sldId id="2146847137" r:id="rId20"/>
    <p:sldId id="2146847138" r:id="rId21"/>
    <p:sldId id="2146847139" r:id="rId22"/>
    <p:sldId id="2146847054" r:id="rId23"/>
    <p:sldId id="2146847141" r:id="rId24"/>
    <p:sldId id="2146847056" r:id="rId25"/>
    <p:sldId id="2146847143" r:id="rId26"/>
    <p:sldId id="2146847144" r:id="rId27"/>
    <p:sldId id="2146847107" r:id="rId28"/>
    <p:sldId id="2146847058" r:id="rId29"/>
    <p:sldId id="2146847111" r:id="rId30"/>
    <p:sldId id="2146847119" r:id="rId31"/>
    <p:sldId id="2146847120" r:id="rId32"/>
    <p:sldId id="2146847085" r:id="rId33"/>
    <p:sldId id="2146847084" r:id="rId34"/>
    <p:sldId id="2146847064" r:id="rId35"/>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10657"/>
            <p14:sldId id="2146847127"/>
            <p14:sldId id="2146847126"/>
            <p14:sldId id="2146847125"/>
          </p14:sldIdLst>
        </p14:section>
        <p14:section name="Security &amp; Identity" id="{1AA42572-B3BD-44F7-813B-C2C647DDBB3C}">
          <p14:sldIdLst/>
        </p14:section>
        <p14:section name="Management &amp; Governance" id="{34181601-6D48-4406-A525-C7B5A12C6C5B}">
          <p14:sldIdLst>
            <p14:sldId id="2146847048"/>
            <p14:sldId id="2146847132"/>
          </p14:sldIdLst>
        </p14:section>
        <p14:section name="Compute" id="{05AA80BB-8802-49AB-8336-A884227CE2F7}">
          <p14:sldIdLst>
            <p14:sldId id="2146847050"/>
            <p14:sldId id="2146847096"/>
            <p14:sldId id="2146847156"/>
            <p14:sldId id="2146847136"/>
            <p14:sldId id="2146847134"/>
            <p14:sldId id="2146847135"/>
          </p14:sldIdLst>
        </p14:section>
        <p14:section name="Storage &amp; Data" id="{1F159046-CE0A-45BC-9D5B-6E6C95980F78}">
          <p14:sldIdLst>
            <p14:sldId id="2146847052"/>
            <p14:sldId id="2146847137"/>
            <p14:sldId id="2146847138"/>
            <p14:sldId id="2146847139"/>
          </p14:sldIdLst>
        </p14:section>
        <p14:section name="Databases" id="{AEAFAE72-AD56-48F3-926B-38BAE269038F}">
          <p14:sldIdLst>
            <p14:sldId id="2146847054"/>
            <p14:sldId id="2146847141"/>
          </p14:sldIdLst>
        </p14:section>
        <p14:section name="Integration" id="{ACBD46A3-6F1C-451B-A154-0A056E0DEFF6}">
          <p14:sldIdLst>
            <p14:sldId id="2146847056"/>
            <p14:sldId id="2146847143"/>
            <p14:sldId id="2146847144"/>
            <p14:sldId id="2146847107"/>
          </p14:sldIdLst>
        </p14:section>
        <p14:section name="ML &amp; AI &amp; IOT" id="{F4E1EAF1-55E9-4CA4-8ADC-28B69C1D66D2}">
          <p14:sldIdLst>
            <p14:sldId id="2146847058"/>
            <p14:sldId id="2146847111"/>
            <p14:sldId id="2146847119"/>
            <p14:sldId id="2146847120"/>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94"/>
  </p:normalViewPr>
  <p:slideViewPr>
    <p:cSldViewPr snapToGrid="0">
      <p:cViewPr varScale="1">
        <p:scale>
          <a:sx n="199" d="100"/>
          <a:sy n="199" d="100"/>
        </p:scale>
        <p:origin x="3228" y="15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5/23/2026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5/23/2026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azure.microsoft.com/ru-ru/updates?id=562813"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azure.microsoft.com/ru-ru/updates?id=562548" TargetMode="External"/><Relationship Id="rId2" Type="http://schemas.openxmlformats.org/officeDocument/2006/relationships/hyperlink" Target="https://azure.microsoft.com/ru-ru/updates?id=562695"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azure.microsoft.com/ru-ru/updates?id=562705" TargetMode="External"/><Relationship Id="rId2" Type="http://schemas.openxmlformats.org/officeDocument/2006/relationships/hyperlink" Target="https://azure.microsoft.com/ru-ru/updates?id=564460"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hyperlink" Target="https://azure.microsoft.com/ru-ru/updates?id=562690"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azure.microsoft.com/ru-ru/updates?id=561771"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azure.microsoft.com/ru-ru/updates?id=561049" TargetMode="External"/><Relationship Id="rId2" Type="http://schemas.openxmlformats.org/officeDocument/2006/relationships/hyperlink" Target="https://azure.microsoft.com/ru-ru/updates?id=562808"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techcommunity.microsoft.com/blog/windows-itpro-blog/admin-insights-for-windows-365-stay-on-top-of-what-needs-attention-%E2%80%94-now-in-publ/4517570" TargetMode="External"/><Relationship Id="rId2" Type="http://schemas.openxmlformats.org/officeDocument/2006/relationships/hyperlink" Target="https://techcommunity.microsoft.com/blog/appsonazureblog/safe-rollouts-start-with-signals-introducing-scorecards-in-azure-app-configurati/4520881"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azure.microsoft.com/ru-ru/updates?id=562079" TargetMode="External"/><Relationship Id="rId2" Type="http://schemas.openxmlformats.org/officeDocument/2006/relationships/hyperlink" Target="https://techcommunity.microsoft.com/blog/azurenetworkingblog/metrics-filtering-and-log-aggregation-now-ga-for-advanced-container-networking-s/4516508"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azure.microsoft.com/ru-ru/updates?id=562049" TargetMode="External"/><Relationship Id="rId2" Type="http://schemas.openxmlformats.org/officeDocument/2006/relationships/hyperlink" Target="https://azure.microsoft.com/ru-ru/updates?id=562074"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hyperlink" Target="https://azure.microsoft.com/ru-ru/updates?id=557852"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azure.microsoft.com/ru-ru/updates?id=559494" TargetMode="External"/><Relationship Id="rId2" Type="http://schemas.openxmlformats.org/officeDocument/2006/relationships/hyperlink" Target="https://azure.microsoft.com/ru-ru/updates?id=562359"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azure.microsoft.com/ru-ru/updates?id=562259" TargetMode="External"/><Relationship Id="rId2" Type="http://schemas.openxmlformats.org/officeDocument/2006/relationships/hyperlink" Target="https://azure.microsoft.com/ru-ru/updates?id=562254"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azure.microsoft.com/ru-ru/updates?id=562622" TargetMode="External"/><Relationship Id="rId2" Type="http://schemas.openxmlformats.org/officeDocument/2006/relationships/hyperlink" Target="https://azure.microsoft.com/ru-ru/updates?id=562753"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azure.microsoft.com/ru-ru/updates?id=562094"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azure.microsoft.com/ru-ru/updates?id=562970"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hyperlink" Target="https://azure.microsoft.com/ru-ru/updates?id=562240"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hyperlink" Target="https://techcommunity.microsoft.com/blog/integrationsonazureblog/azure-api-center-portal-is-now-generally-available/4521339"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aka.ms/hf/foundry-models" TargetMode="External"/><Relationship Id="rId2" Type="http://schemas.openxmlformats.org/officeDocument/2006/relationships/hyperlink" Target="https://techcommunity.microsoft.com/blog/azure-ai-foundry-blog/now-in-foundry-tongyi-mai-z-image-turbo-with-flux-1-schnell-and-sdxl-base-1-0/4520199" TargetMode="External"/><Relationship Id="rId1" Type="http://schemas.openxmlformats.org/officeDocument/2006/relationships/slideLayout" Target="../slideLayouts/slideLayout7.xml"/><Relationship Id="rId4" Type="http://schemas.openxmlformats.org/officeDocument/2006/relationships/hyperlink" Target="https://ai.azure.com/explore/models"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techcommunity.microsoft.com/blog/appsonazureblog/announcing-public-preview-of-argo-cd-extension-in-aks-azure-portal-experience/4521618" TargetMode="Externa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#207</a:t>
            </a:r>
          </a:p>
        </p:txBody>
      </p:sp>
      <p:sp>
        <p:nvSpPr>
          <p:cNvPr id="4" name="Text Placeholder 3"/>
          <p:cNvSpPr>
            <a:spLocks noGrp="1"/>
          </p:cNvSpPr>
          <p:nvPr>
            <p:ph type="body" sz="quarter" idx="11"/>
          </p:nvPr>
        </p:nvSpPr>
        <p:spPr/>
        <p:txBody>
          <a:bodyPr/>
          <a:lstStyle/>
          <a:p>
            <a:r>
              <a:rPr lang="en-US" spc="300" dirty="0"/>
              <a:t>May 25,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Networking </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Summarized advertised gateway prefixes for route advertisement</a:t>
            </a:r>
            <a:endParaRPr lang="en-US" dirty="0"/>
          </a:p>
          <a:p>
            <a:pPr algn="just"/>
            <a:r>
              <a:rPr lang="en-US" dirty="0"/>
              <a:t>Summarized advertised gateway prefixes for route advertisement is now in public preview, enabling you to define summarized prefixes that Azure gateways, including ExpressRoute and VPN Gateway, advertise to on-premises networks, instead of advertising all individual virtual network address spaces.</a:t>
            </a:r>
          </a:p>
          <a:p>
            <a:pPr algn="just"/>
            <a:r>
              <a:rPr lang="en-US" dirty="0"/>
              <a:t>With this capability, you can reduce the number of prefixes advertised to on-premises in large hub-and-spoke topologies, staying within ExpressRoute and VPN Gateway advertised-prefix quota. Instead of advertising hundreds of individual spoke prefixes, you can advertise covering prefixes (for example, 10.0.0.0/16), enabling larger-scale Azure environments without redesigning address plans or splitting virtual networks. Spoke address spaces not covered by the summarized prefix continue to be advertised individually, ensuring backward compatibility.</a:t>
            </a:r>
          </a:p>
          <a:p>
            <a:pPr algn="just"/>
            <a:r>
              <a:rPr lang="en-US" dirty="0"/>
              <a:t>It supports both IPv4 and IPv6 configurations and works across ExpressRoute Gateway and VPN Gateway.</a:t>
            </a:r>
          </a:p>
        </p:txBody>
      </p:sp>
    </p:spTree>
    <p:extLst>
      <p:ext uri="{BB962C8B-B14F-4D97-AF65-F5344CB8AC3E}">
        <p14:creationId xmlns:p14="http://schemas.microsoft.com/office/powerpoint/2010/main" val="365858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EEE44-A3A9-5916-28C3-73C176E34A58}"/>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8381F3B-4FD0-B81E-E9ED-5F1037B0948F}"/>
              </a:ext>
            </a:extLst>
          </p:cNvPr>
          <p:cNvSpPr>
            <a:spLocks noGrp="1"/>
          </p:cNvSpPr>
          <p:nvPr>
            <p:ph type="body" sz="quarter" idx="10"/>
          </p:nvPr>
        </p:nvSpPr>
        <p:spPr/>
        <p:txBody>
          <a:bodyPr/>
          <a:lstStyle/>
          <a:p>
            <a:r>
              <a:rPr lang="en-US" sz="1000" dirty="0">
                <a:hlinkClick r:id="rId2"/>
              </a:rPr>
              <a:t>Generally Available: Azure Virtual Network updates – default limits increased for NSGs and route tables</a:t>
            </a:r>
            <a:endParaRPr lang="en-US" sz="1000" dirty="0"/>
          </a:p>
          <a:p>
            <a:r>
              <a:rPr lang="en-US" sz="1000" dirty="0"/>
              <a:t>Azure Virtual Network has increased the default platform limits for network security groups (NSGs) and route tables. The new defaults are now 2,000 security rules per NSG, 6,000 addresses or ports per NSG rule, 1,000 routes per route table, and 600 route tables per subscription.</a:t>
            </a:r>
          </a:p>
          <a:p>
            <a:endParaRPr lang="en-US" sz="1000" dirty="0"/>
          </a:p>
        </p:txBody>
      </p:sp>
      <p:sp>
        <p:nvSpPr>
          <p:cNvPr id="11" name="Title 10">
            <a:extLst>
              <a:ext uri="{FF2B5EF4-FFF2-40B4-BE49-F238E27FC236}">
                <a16:creationId xmlns:a16="http://schemas.microsoft.com/office/drawing/2014/main" id="{C735E067-643C-4669-293E-B1878549EE12}"/>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FDBC16BD-C9C7-ACBB-576D-EBDB3A535BE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6D884AE-3074-77B9-2821-DC774A2B2C02}"/>
              </a:ext>
            </a:extLst>
          </p:cNvPr>
          <p:cNvSpPr>
            <a:spLocks noGrp="1"/>
          </p:cNvSpPr>
          <p:nvPr>
            <p:ph type="body" sz="quarter" idx="16"/>
          </p:nvPr>
        </p:nvSpPr>
        <p:spPr/>
        <p:txBody>
          <a:bodyPr/>
          <a:lstStyle/>
          <a:p>
            <a:pPr algn="just"/>
            <a:r>
              <a:rPr lang="en-US" dirty="0">
                <a:hlinkClick r:id="rId3"/>
              </a:rPr>
              <a:t>Generally Available: Azure Front Door WebSocket</a:t>
            </a:r>
            <a:endParaRPr lang="en-US" dirty="0"/>
          </a:p>
          <a:p>
            <a:pPr algn="just"/>
            <a:r>
              <a:rPr lang="en-US" dirty="0"/>
              <a:t>Azure Front Door Standard and Premium now support WebSocket in general availability. WebSocket is enabled by default and requires no additional configuration. </a:t>
            </a:r>
          </a:p>
          <a:p>
            <a:pPr algn="just"/>
            <a:r>
              <a:rPr lang="en-US" dirty="0"/>
              <a:t>WebSocket provides full-duplex communication over a single, long-lived TCP connection, enabling efficient, low-latency data exchange without the need for polling. This reduces overhead and improves resource utilization for real-time applications. </a:t>
            </a:r>
          </a:p>
          <a:p>
            <a:pPr algn="just"/>
            <a:r>
              <a:rPr lang="en-US" dirty="0"/>
              <a:t>With native WebSocket support, Azure Front Door can power interactive and real-time scenarios such as chat applications, live dashboards, financial data streaming, gaming, and other continuous data workloads. </a:t>
            </a:r>
          </a:p>
          <a:p>
            <a:pPr marL="171450" indent="-171450" algn="just">
              <a:buFont typeface="Arial" panose="020B0604020202020204" pitchFamily="34" charset="0"/>
              <a:buChar char="•"/>
            </a:pPr>
            <a:r>
              <a:rPr lang="en-US" dirty="0"/>
              <a:t>Front Door does not support Server-Sent Events (SSE)</a:t>
            </a:r>
          </a:p>
          <a:p>
            <a:pPr marL="171450" indent="-171450" algn="just">
              <a:buFont typeface="Arial" panose="020B0604020202020204" pitchFamily="34" charset="0"/>
              <a:buChar char="•"/>
            </a:pPr>
            <a:r>
              <a:rPr lang="en-US" dirty="0"/>
              <a:t>The idle timeout is 5 minutes. If Azure Front Door doesn't detect any data transmission from the origin or the client within the past 5 minutes, the connection is considered idle and is closed</a:t>
            </a:r>
          </a:p>
          <a:p>
            <a:pPr marL="171450" indent="-171450" algn="just">
              <a:buFont typeface="Arial" panose="020B0604020202020204" pitchFamily="34" charset="0"/>
              <a:buChar char="•"/>
            </a:pPr>
            <a:r>
              <a:rPr lang="en-US" dirty="0"/>
              <a:t>Currently, WebSocket connections on Azure Front Door remain open for no longer than 4 hours.</a:t>
            </a:r>
          </a:p>
        </p:txBody>
      </p:sp>
    </p:spTree>
    <p:extLst>
      <p:ext uri="{BB962C8B-B14F-4D97-AF65-F5344CB8AC3E}">
        <p14:creationId xmlns:p14="http://schemas.microsoft.com/office/powerpoint/2010/main" val="2890623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DD891-4CE7-3684-E998-D623020E5F58}"/>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4226539-98A3-C40F-4648-61D3893ECB98}"/>
              </a:ext>
            </a:extLst>
          </p:cNvPr>
          <p:cNvSpPr>
            <a:spLocks noGrp="1"/>
          </p:cNvSpPr>
          <p:nvPr>
            <p:ph type="body" sz="quarter" idx="10"/>
          </p:nvPr>
        </p:nvSpPr>
        <p:spPr/>
        <p:txBody>
          <a:bodyPr/>
          <a:lstStyle/>
          <a:p>
            <a:r>
              <a:rPr lang="en-US" sz="1000" dirty="0">
                <a:hlinkClick r:id="rId2"/>
              </a:rPr>
              <a:t>Generally Available: User Groups and IP address pools for P2S connections</a:t>
            </a:r>
            <a:endParaRPr lang="en-US" sz="1000" dirty="0"/>
          </a:p>
          <a:p>
            <a:r>
              <a:rPr lang="en-US" sz="1000" dirty="0"/>
              <a:t>User Groups and IP Address Pools for Point-to-Site connections in VPN Gateway enable customers to assign distinct IP address pools to remote users based on their credentials. </a:t>
            </a:r>
          </a:p>
          <a:p>
            <a:r>
              <a:rPr lang="en-US" sz="1000" dirty="0"/>
              <a:t>With this capability, customers can organize remote users into separate groups and assign a unique IP address range to each group, enabling more granular access control for Azure workloads. User groups within a VPN Gateway can be defined based on Microsoft Entra ID group membership, certificate common name domains, or custom RADIUS attributes. </a:t>
            </a:r>
          </a:p>
          <a:p>
            <a:r>
              <a:rPr lang="en-US" sz="1000" dirty="0"/>
              <a:t>This feature helps customers strengthen security, enabling finer-grained access segmentation and policy enforcement for Azure workloads. </a:t>
            </a:r>
          </a:p>
        </p:txBody>
      </p:sp>
      <p:sp>
        <p:nvSpPr>
          <p:cNvPr id="11" name="Title 10">
            <a:extLst>
              <a:ext uri="{FF2B5EF4-FFF2-40B4-BE49-F238E27FC236}">
                <a16:creationId xmlns:a16="http://schemas.microsoft.com/office/drawing/2014/main" id="{498EDA87-FEEC-7025-3A81-E2B223F8F83C}"/>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FD842EA0-D1D6-E5CA-35A9-265810B8410B}"/>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72E1AC-FDA0-FB61-4BF0-E75C2B8A1664}"/>
              </a:ext>
            </a:extLst>
          </p:cNvPr>
          <p:cNvSpPr>
            <a:spLocks noGrp="1"/>
          </p:cNvSpPr>
          <p:nvPr>
            <p:ph type="body" sz="quarter" idx="16"/>
          </p:nvPr>
        </p:nvSpPr>
        <p:spPr/>
        <p:txBody>
          <a:bodyPr/>
          <a:lstStyle/>
          <a:p>
            <a:pPr algn="just"/>
            <a:r>
              <a:rPr lang="en-US" dirty="0">
                <a:hlinkClick r:id="rId3"/>
              </a:rPr>
              <a:t>Generally Available: site-to-site VPN connections with certificate authentication</a:t>
            </a:r>
            <a:endParaRPr lang="en-US" dirty="0"/>
          </a:p>
          <a:p>
            <a:pPr algn="just"/>
            <a:r>
              <a:rPr lang="en-US" dirty="0"/>
              <a:t>Azure Site-to-Site VPN with digital certificate authentication provides an alternative to the traditional pre-shared key (PSK) model by using a certificate-based asymmetric trust model. In this configuration, Azure and the on-premises VPN device authenticate each other by using separate inbound and outbound certificates. The outbound authentication certificate is stored in Azure Key Vault and is accessed by the VPN Gateway through a user-assigned managed identity with the required Role-Based Access Control (RBAC) permissions. Because X.509 certificates use asymmetric keys and a trusted certificate chain to validate identity, this approach helps reduce the risk of impersonation and Internet Key Exchange (IKE) negotiation tampering. </a:t>
            </a:r>
          </a:p>
        </p:txBody>
      </p:sp>
    </p:spTree>
    <p:extLst>
      <p:ext uri="{BB962C8B-B14F-4D97-AF65-F5344CB8AC3E}">
        <p14:creationId xmlns:p14="http://schemas.microsoft.com/office/powerpoint/2010/main" val="91133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91198-4444-C6B1-140D-8916FEC9B50E}"/>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68952F5-D06C-E0D7-28AC-797FD89721DA}"/>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A79C8179-59B9-DF40-00C8-FD5A42441919}"/>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5E4E3F08-4B4F-45E1-D7D6-F7727240D82B}"/>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90D984B5-E2FA-DC1A-3DBB-005524F182F3}"/>
              </a:ext>
            </a:extLst>
          </p:cNvPr>
          <p:cNvSpPr>
            <a:spLocks noGrp="1"/>
          </p:cNvSpPr>
          <p:nvPr>
            <p:ph type="body" sz="quarter" idx="16"/>
          </p:nvPr>
        </p:nvSpPr>
        <p:spPr/>
        <p:txBody>
          <a:bodyPr/>
          <a:lstStyle/>
          <a:p>
            <a:pPr algn="just"/>
            <a:r>
              <a:rPr lang="en-US" dirty="0">
                <a:hlinkClick r:id="rId2"/>
              </a:rPr>
              <a:t>Generally Available: Network Watcher rule impact </a:t>
            </a:r>
            <a:r>
              <a:rPr lang="en-US" dirty="0" err="1">
                <a:hlinkClick r:id="rId2"/>
              </a:rPr>
              <a:t>analyser</a:t>
            </a:r>
            <a:endParaRPr lang="en-US" dirty="0"/>
          </a:p>
          <a:p>
            <a:pPr algn="just"/>
            <a:r>
              <a:rPr lang="en-US" dirty="0"/>
              <a:t>Azure Network Watcher rule impact analyzer is now generally available, enabling you to assess the potential impact of your network security group (NSG) or security admin rule changes on live network traffic before applying them. </a:t>
            </a:r>
          </a:p>
          <a:p>
            <a:pPr algn="just"/>
            <a:r>
              <a:rPr lang="en-US" dirty="0"/>
              <a:t>With this capability, you can evaluate how proposed NSG or network manager rule modifications would affect your existing traffic patterns, helping you fine-tune configurations, avoid unintended disruptions, and deploy changes with confidence. </a:t>
            </a:r>
          </a:p>
          <a:p>
            <a:pPr algn="just"/>
            <a:r>
              <a:rPr lang="en-US" dirty="0"/>
              <a:t>This feature is accessible through the Azure portal and leverages Azure Network Watcher traffic analytics and virtual network flow logs to deliver data-driven visibility into how NSG or network manager rule updates could influence your current network behavior. </a:t>
            </a:r>
          </a:p>
          <a:p>
            <a:pPr algn="just"/>
            <a:endParaRPr lang="en-US" dirty="0"/>
          </a:p>
        </p:txBody>
      </p:sp>
    </p:spTree>
    <p:extLst>
      <p:ext uri="{BB962C8B-B14F-4D97-AF65-F5344CB8AC3E}">
        <p14:creationId xmlns:p14="http://schemas.microsoft.com/office/powerpoint/2010/main" val="1221167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t>Management &amp; Governance</a:t>
            </a:r>
          </a:p>
        </p:txBody>
      </p:sp>
    </p:spTree>
    <p:extLst>
      <p:ext uri="{BB962C8B-B14F-4D97-AF65-F5344CB8AC3E}">
        <p14:creationId xmlns:p14="http://schemas.microsoft.com/office/powerpoint/2010/main" val="3479183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2A5C-E35F-E18E-05A4-B6AF8CF698D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21B0A37-B626-6209-EE63-BDBE1E100FF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89DE73F3-4A2F-648B-BD17-44C88CDB5688}"/>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1A20683A-1573-CC2D-401E-61BAED70A144}"/>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5FF973-31C8-BEFD-DC1E-6209231AED94}"/>
              </a:ext>
            </a:extLst>
          </p:cNvPr>
          <p:cNvSpPr>
            <a:spLocks noGrp="1"/>
          </p:cNvSpPr>
          <p:nvPr>
            <p:ph type="body" sz="quarter" idx="16"/>
          </p:nvPr>
        </p:nvSpPr>
        <p:spPr/>
        <p:txBody>
          <a:bodyPr/>
          <a:lstStyle/>
          <a:p>
            <a:pPr algn="just"/>
            <a:r>
              <a:rPr lang="en-US" dirty="0">
                <a:hlinkClick r:id="rId2"/>
              </a:rPr>
              <a:t>Generally Available: Auto activation for SaaS subscriptions in Microsoft Marketplace</a:t>
            </a:r>
            <a:endParaRPr lang="en-US" dirty="0"/>
          </a:p>
          <a:p>
            <a:pPr algn="just"/>
            <a:r>
              <a:rPr lang="en-US" dirty="0"/>
              <a:t>Auto activation for SaaS solutions is now available in Microsoft Marketplace, making it faster and easier to get the value from SaaS products. When auto activation is enabled, subscription—and billing cycle—begins the moment you complete your purchase, removing the need for post-purchase activation steps. </a:t>
            </a:r>
          </a:p>
          <a:p>
            <a:pPr algn="just"/>
            <a:r>
              <a:rPr lang="en-US" dirty="0"/>
              <a:t>Because auto activation is a partner‑controlled setting, availability may vary by offer. </a:t>
            </a:r>
          </a:p>
        </p:txBody>
      </p:sp>
    </p:spTree>
    <p:extLst>
      <p:ext uri="{BB962C8B-B14F-4D97-AF65-F5344CB8AC3E}">
        <p14:creationId xmlns:p14="http://schemas.microsoft.com/office/powerpoint/2010/main" val="2370736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TLS/SSL certificate support for Azure Functions Flex Consumption</a:t>
            </a:r>
            <a:endParaRPr lang="en-US" sz="1000" dirty="0"/>
          </a:p>
          <a:p>
            <a:pPr algn="just"/>
            <a:r>
              <a:rPr lang="en-US" sz="1000" dirty="0"/>
              <a:t>Flex Consumption introduces a site-scoped certificate model in public preview in all the regions where Flex Consumption is available. Unlike webspace-scoped certificates on other hosting plans which are shared across apps in the same region + resource group, Flex certificates are scoped to an individual function app. </a:t>
            </a:r>
          </a:p>
          <a:p>
            <a:pPr algn="just"/>
            <a:r>
              <a:rPr lang="en-US" sz="1000" dirty="0"/>
              <a:t>Each function app can hold up to 3 private (.</a:t>
            </a:r>
            <a:r>
              <a:rPr lang="en-US" sz="1000" dirty="0" err="1"/>
              <a:t>pfx</a:t>
            </a:r>
            <a:r>
              <a:rPr lang="en-US" sz="1000" dirty="0"/>
              <a:t>) and 3 public (.</a:t>
            </a:r>
            <a:r>
              <a:rPr lang="en-US" sz="1000" dirty="0" err="1"/>
              <a:t>cer</a:t>
            </a:r>
            <a:r>
              <a:rPr lang="en-US" sz="1000" dirty="0"/>
              <a:t>) certificates uploaded directly, imported from Azure Key Vault, or issued as free App Service Managed Certificates to enable custom domains, client-certificate authentication, and mutual TLS scenarios on Flex Consumption. </a:t>
            </a:r>
          </a:p>
          <a:p>
            <a:pPr algn="just"/>
            <a:r>
              <a:rPr lang="en-US" sz="1000" dirty="0"/>
              <a:t>To access certificates from code Flex Consumption uses a per-certificate "Accessible to app code" toggle in the portal instead of the WEBSITE_LOAD_CERTIFICATES app setting used on other plans. Because Flex Consumption runs on Linux, code reads certificates from file paths (/var/</a:t>
            </a:r>
            <a:r>
              <a:rPr lang="en-US" sz="1000" dirty="0" err="1"/>
              <a:t>ssl</a:t>
            </a:r>
            <a:r>
              <a:rPr lang="en-US" sz="1000" dirty="0"/>
              <a:t>/certs for public, /var/</a:t>
            </a:r>
            <a:r>
              <a:rPr lang="en-US" sz="1000" dirty="0" err="1"/>
              <a:t>ssl</a:t>
            </a:r>
            <a:r>
              <a:rPr lang="en-US" sz="1000" dirty="0"/>
              <a:t>/private for private) rather than from a Windows certificate store. </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Evaluate feature rollouts with Azure App Configuration Scorecards</a:t>
            </a:r>
            <a:endParaRPr lang="en-US" dirty="0"/>
          </a:p>
          <a:p>
            <a:pPr algn="just"/>
            <a:r>
              <a:rPr lang="en-US" dirty="0"/>
              <a:t>Azure App Configuration now supports a scorecards capability in public preview. Scorecards provide a telemetry-driven view of how feature flag variants are performing in production, helping teams identify measurable changes after a rollout without manually comparing telemetry across dashboards.</a:t>
            </a:r>
          </a:p>
          <a:p>
            <a:pPr algn="just"/>
            <a:r>
              <a:rPr lang="en-US" dirty="0"/>
              <a:t>Built on Azure App Configuration Feature Management and Application Insights telemetry, scorecards help teams use production signals to evaluate rollout impact and guide next steps. Learn how scorecards can help evaluate feature rollouts.</a:t>
            </a:r>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F6AEC7E-7DE6-B773-FAB9-A52BBDDF8D9C}"/>
              </a:ext>
            </a:extLst>
          </p:cNvPr>
          <p:cNvSpPr>
            <a:spLocks noGrp="1"/>
          </p:cNvSpPr>
          <p:nvPr>
            <p:ph type="body" sz="quarter" idx="10"/>
          </p:nvPr>
        </p:nvSpPr>
        <p:spPr/>
        <p:txBody>
          <a:bodyPr/>
          <a:lstStyle/>
          <a:p>
            <a:pPr algn="just"/>
            <a:r>
              <a:rPr lang="en-US" sz="1000" dirty="0">
                <a:hlinkClick r:id="rId2"/>
              </a:rPr>
              <a:t>Safe Rollouts Start with Signals: Introducing Scorecards in Azure App Configuration</a:t>
            </a:r>
            <a:endParaRPr lang="en-US" sz="1000" dirty="0"/>
          </a:p>
          <a:p>
            <a:pPr algn="just"/>
            <a:r>
              <a:rPr lang="en-US" sz="1000" dirty="0"/>
              <a:t>Azure App Configuration now introduces Scorecards, helping teams perform safer application rollouts by using operational signals and health indicators. Scorecards provide visibility into the impact of configuration and feature flag changes during deployments. They help identify issues early by tracking application behavior, performance, and rollout health. This enables teams to make data-driven rollout decisions and reduce the risk of failed deployments. The feature improves progressive delivery practices and strengthens deployment reliability and operational governance.</a:t>
            </a:r>
          </a:p>
        </p:txBody>
      </p:sp>
      <p:sp>
        <p:nvSpPr>
          <p:cNvPr id="3" name="Title 2">
            <a:extLst>
              <a:ext uri="{FF2B5EF4-FFF2-40B4-BE49-F238E27FC236}">
                <a16:creationId xmlns:a16="http://schemas.microsoft.com/office/drawing/2014/main" id="{2A4D2A74-3391-D667-DAD6-E8CB7CFBA979}"/>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051E6D69-0851-A355-CD95-735FAEE55143}"/>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BEE2294D-DE85-FE17-6D8B-6E4C87236519}"/>
              </a:ext>
            </a:extLst>
          </p:cNvPr>
          <p:cNvSpPr>
            <a:spLocks noGrp="1"/>
          </p:cNvSpPr>
          <p:nvPr>
            <p:ph type="body" sz="quarter" idx="16"/>
          </p:nvPr>
        </p:nvSpPr>
        <p:spPr/>
        <p:txBody>
          <a:bodyPr/>
          <a:lstStyle/>
          <a:p>
            <a:pPr algn="just"/>
            <a:r>
              <a:rPr lang="en-US" dirty="0">
                <a:hlinkClick r:id="rId3"/>
              </a:rPr>
              <a:t>Admin Insights for Windows 365: Stay on top of what needs attention — now in public preview</a:t>
            </a:r>
            <a:endParaRPr lang="en-US" dirty="0"/>
          </a:p>
          <a:p>
            <a:pPr algn="just"/>
            <a:r>
              <a:rPr lang="en-US" dirty="0"/>
              <a:t>Admin Insights for </a:t>
            </a:r>
            <a:r>
              <a:rPr lang="en-US" b="1" dirty="0"/>
              <a:t>Windows 365</a:t>
            </a:r>
            <a:r>
              <a:rPr lang="en-US" dirty="0"/>
              <a:t> is now in </a:t>
            </a:r>
            <a:r>
              <a:rPr lang="en-US" b="1" dirty="0"/>
              <a:t>public preview</a:t>
            </a:r>
            <a:r>
              <a:rPr lang="en-US" dirty="0"/>
              <a:t>, providing administrators with centralized visibility into issues and operational health across Cloud PC environments. It helps identify </a:t>
            </a:r>
            <a:r>
              <a:rPr lang="en-US" b="1" dirty="0"/>
              <a:t>devices, users, and configurations that require attention</a:t>
            </a:r>
            <a:r>
              <a:rPr lang="en-US" dirty="0"/>
              <a:t> through proactive insights and recommendations. The feature improves operational efficiency by surfacing </a:t>
            </a:r>
            <a:r>
              <a:rPr lang="en-US" b="1" dirty="0"/>
              <a:t>performance, connectivity, and management-related issues</a:t>
            </a:r>
            <a:r>
              <a:rPr lang="en-US" dirty="0"/>
              <a:t> in a single experience. Administrators can more quickly prioritize remediation actions and maintain service quality. This enhances monitoring and governance for </a:t>
            </a:r>
            <a:r>
              <a:rPr lang="en-US" b="1" dirty="0"/>
              <a:t>Windows 365 deployments at scale</a:t>
            </a:r>
            <a:r>
              <a:rPr lang="en-US" dirty="0"/>
              <a:t>.</a:t>
            </a:r>
          </a:p>
        </p:txBody>
      </p:sp>
    </p:spTree>
    <p:extLst>
      <p:ext uri="{BB962C8B-B14F-4D97-AF65-F5344CB8AC3E}">
        <p14:creationId xmlns:p14="http://schemas.microsoft.com/office/powerpoint/2010/main" val="4112146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817E1-BA7F-D700-A07D-CF35C50119C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95ECF59-E5F0-A908-6FBA-7B62FCFAAF59}"/>
              </a:ext>
            </a:extLst>
          </p:cNvPr>
          <p:cNvSpPr>
            <a:spLocks noGrp="1"/>
          </p:cNvSpPr>
          <p:nvPr>
            <p:ph type="body" sz="quarter" idx="10"/>
          </p:nvPr>
        </p:nvSpPr>
        <p:spPr/>
        <p:txBody>
          <a:bodyPr/>
          <a:lstStyle/>
          <a:p>
            <a:r>
              <a:rPr lang="en-US" sz="1000" dirty="0">
                <a:hlinkClick r:id="rId2"/>
              </a:rPr>
              <a:t>Metrics Filtering and Log Aggregation Now GA for Advanced Container Networking Services</a:t>
            </a:r>
            <a:endParaRPr lang="en-US" sz="1000" dirty="0"/>
          </a:p>
          <a:p>
            <a:r>
              <a:rPr lang="en-US" sz="1000" dirty="0"/>
              <a:t>Metrics filtering and log aggregation for </a:t>
            </a:r>
            <a:r>
              <a:rPr lang="en-US" sz="1000" b="1" dirty="0"/>
              <a:t>Advanced Container Networking Services (ACNS)</a:t>
            </a:r>
            <a:r>
              <a:rPr lang="en-US" sz="1000" dirty="0"/>
              <a:t> are now generally available. These capabilities improve </a:t>
            </a:r>
            <a:r>
              <a:rPr lang="en-US" sz="1000" b="1" dirty="0"/>
              <a:t>network observability for Kubernetes environments</a:t>
            </a:r>
            <a:r>
              <a:rPr lang="en-US" sz="1000" dirty="0"/>
              <a:t> by reducing telemetry noise and optimizing data collection. Metrics filtering allows organizations to </a:t>
            </a:r>
            <a:r>
              <a:rPr lang="en-US" sz="1000" b="1" dirty="0"/>
              <a:t>capture only relevant network metrics</a:t>
            </a:r>
            <a:r>
              <a:rPr lang="en-US" sz="1000" dirty="0"/>
              <a:t>, helping lower monitoring and ingestion costs. Log aggregation centralizes and consolidates network logs, simplifying troubleshooting and operational analysis. This enhances visibility into </a:t>
            </a:r>
            <a:r>
              <a:rPr lang="en-US" sz="1000" b="1" dirty="0"/>
              <a:t>large-scale AKS and container networking environments</a:t>
            </a:r>
            <a:r>
              <a:rPr lang="en-US" sz="1000" dirty="0"/>
              <a:t> while improving efficiency and scalability.</a:t>
            </a:r>
          </a:p>
        </p:txBody>
      </p:sp>
      <p:sp>
        <p:nvSpPr>
          <p:cNvPr id="11" name="Title 10">
            <a:extLst>
              <a:ext uri="{FF2B5EF4-FFF2-40B4-BE49-F238E27FC236}">
                <a16:creationId xmlns:a16="http://schemas.microsoft.com/office/drawing/2014/main" id="{F56FF68D-660F-2CAA-B09A-5A59259AACC4}"/>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1749C152-D6B4-AF3B-2578-E699D30AD2F0}"/>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49104E40-B616-5259-A98B-8099EE2331BE}"/>
              </a:ext>
            </a:extLst>
          </p:cNvPr>
          <p:cNvSpPr>
            <a:spLocks noGrp="1"/>
          </p:cNvSpPr>
          <p:nvPr>
            <p:ph type="body" sz="quarter" idx="16"/>
          </p:nvPr>
        </p:nvSpPr>
        <p:spPr/>
        <p:txBody>
          <a:bodyPr/>
          <a:lstStyle/>
          <a:p>
            <a:pPr algn="just"/>
            <a:r>
              <a:rPr lang="en-US" dirty="0">
                <a:hlinkClick r:id="rId3"/>
              </a:rPr>
              <a:t>Update: Microsoft Entra ID token refresh support for Python, .NET, and JavaScript in Azure Database for PostgreSQL</a:t>
            </a:r>
            <a:endParaRPr lang="en-US" dirty="0"/>
          </a:p>
          <a:p>
            <a:pPr algn="just"/>
            <a:r>
              <a:rPr lang="en-US" dirty="0"/>
              <a:t>It is now possible to take advantage of Microsoft Entra ID token refresh support in Python, .NET, and JavaScript client libraries to simplify authentication in applications backed by Azure Database for PostgreSQL. With this release, applications can automatically refresh access tokens, helping you avoid authentication interruptions caused by token expiration. This update makes it easier for you to build resilient, long‑running services and background workloads without adding custom token‑management logic. </a:t>
            </a:r>
          </a:p>
        </p:txBody>
      </p:sp>
    </p:spTree>
    <p:extLst>
      <p:ext uri="{BB962C8B-B14F-4D97-AF65-F5344CB8AC3E}">
        <p14:creationId xmlns:p14="http://schemas.microsoft.com/office/powerpoint/2010/main" val="16393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736A2DE-B6FD-C635-9880-42440690A8EF}"/>
              </a:ext>
            </a:extLst>
          </p:cNvPr>
          <p:cNvSpPr>
            <a:spLocks noGrp="1"/>
          </p:cNvSpPr>
          <p:nvPr>
            <p:ph type="body" sz="quarter" idx="10"/>
          </p:nvPr>
        </p:nvSpPr>
        <p:spPr/>
        <p:txBody>
          <a:bodyPr/>
          <a:lstStyle/>
          <a:p>
            <a:pPr algn="just"/>
            <a:r>
              <a:rPr lang="en-US" sz="1000" dirty="0">
                <a:hlinkClick r:id="rId2"/>
              </a:rPr>
              <a:t>Generally Available: </a:t>
            </a:r>
            <a:r>
              <a:rPr lang="en-US" sz="1000" dirty="0" err="1">
                <a:hlinkClick r:id="rId2"/>
              </a:rPr>
              <a:t>langchain</a:t>
            </a:r>
            <a:r>
              <a:rPr lang="en-US" sz="1000" dirty="0">
                <a:hlinkClick r:id="rId2"/>
              </a:rPr>
              <a:t>-azure-</a:t>
            </a:r>
            <a:r>
              <a:rPr lang="en-US" sz="1000" dirty="0" err="1">
                <a:hlinkClick r:id="rId2"/>
              </a:rPr>
              <a:t>cosmosdb</a:t>
            </a:r>
            <a:r>
              <a:rPr lang="en-US" sz="1000" dirty="0">
                <a:hlinkClick r:id="rId2"/>
              </a:rPr>
              <a:t> python package for Azure Cosmos DB</a:t>
            </a:r>
            <a:endParaRPr lang="en-US" sz="1000" dirty="0"/>
          </a:p>
          <a:p>
            <a:pPr algn="just"/>
            <a:r>
              <a:rPr lang="en-US" sz="1000" dirty="0"/>
              <a:t>It is now possible to build production-ready AI and agent applications faster using the new </a:t>
            </a:r>
            <a:r>
              <a:rPr lang="en-US" sz="1000" dirty="0" err="1"/>
              <a:t>LangChain</a:t>
            </a:r>
            <a:r>
              <a:rPr lang="en-US" sz="1000" dirty="0"/>
              <a:t> and </a:t>
            </a:r>
            <a:r>
              <a:rPr lang="en-US" sz="1000" dirty="0" err="1"/>
              <a:t>LangGraph</a:t>
            </a:r>
            <a:r>
              <a:rPr lang="en-US" sz="1000" dirty="0"/>
              <a:t> integration for Azure Cosmos DB. This Python package enables to directly use Cosmos DB for vector and hybrid search, semantic caching, chat history storage, checkpointing, and long-term memory, all within familiar </a:t>
            </a:r>
            <a:r>
              <a:rPr lang="en-US" sz="1000" dirty="0" err="1"/>
              <a:t>LangChain</a:t>
            </a:r>
            <a:r>
              <a:rPr lang="en-US" sz="1000" dirty="0"/>
              <a:t> and </a:t>
            </a:r>
            <a:r>
              <a:rPr lang="en-US" sz="1000" dirty="0" err="1"/>
              <a:t>LangGraph</a:t>
            </a:r>
            <a:r>
              <a:rPr lang="en-US" sz="1000" dirty="0"/>
              <a:t> workflows.</a:t>
            </a:r>
          </a:p>
          <a:p>
            <a:pPr algn="just"/>
            <a:r>
              <a:rPr lang="en-US" sz="1000" dirty="0"/>
              <a:t>It is possible to store and retrieve embeddings, combine full-text and vector search for more relevant results, cache LLM responses to reduce cost and latency, persist conversational history, and manage agent state with checkpointing for reliable execution. You no longer need to stitch together multiple services or databases for retrieval, memory, and orchestration.</a:t>
            </a:r>
          </a:p>
        </p:txBody>
      </p:sp>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D5C20627-BF61-394B-61E8-E9F6702CBB52}"/>
              </a:ext>
            </a:extLst>
          </p:cNvPr>
          <p:cNvSpPr>
            <a:spLocks noGrp="1"/>
          </p:cNvSpPr>
          <p:nvPr>
            <p:ph type="body" sz="quarter" idx="16"/>
          </p:nvPr>
        </p:nvSpPr>
        <p:spPr/>
        <p:txBody>
          <a:bodyPr/>
          <a:lstStyle/>
          <a:p>
            <a:pPr algn="just"/>
            <a:r>
              <a:rPr lang="en-US" dirty="0">
                <a:hlinkClick r:id="rId3"/>
              </a:rPr>
              <a:t>Generally Available: Application Insights Auto-instrumentation for Azure Kubernetes Service apps</a:t>
            </a:r>
            <a:endParaRPr lang="en-US" dirty="0"/>
          </a:p>
          <a:p>
            <a:pPr algn="just"/>
            <a:r>
              <a:rPr lang="en-US" dirty="0"/>
              <a:t>Azure Monitor Application Insights auto-instrumentation for Azure Kubernetes Service (AKS) apps is now generally available, making it easier to monitor applications without modifying source code. With just a few configuration steps, it is possible to automatically instrument Java and Node.js workloads running on AKS and start collecting telemetry with Application Insights.</a:t>
            </a:r>
          </a:p>
          <a:p>
            <a:pPr algn="just"/>
            <a:r>
              <a:rPr lang="en-US" dirty="0"/>
              <a:t>This capability helps teams quickly unlock Application Insights experiences such as application maps, end-to-end transaction diagnostics, distributed tracing, and log analysis without the time and effort of manual code changes. By using auto-instrumentation with the Azure Monitor </a:t>
            </a:r>
            <a:r>
              <a:rPr lang="en-US" dirty="0" err="1"/>
              <a:t>OpenTelemetry</a:t>
            </a:r>
            <a:r>
              <a:rPr lang="en-US" dirty="0"/>
              <a:t> Distro, you can accelerate troubleshooting, improve visibility into application health, and simplify observability for cloud-native workloads on AKS.</a:t>
            </a:r>
          </a:p>
        </p:txBody>
      </p:sp>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p:txBody>
          <a:bodyPr/>
          <a:lstStyle/>
          <a:p>
            <a:pPr algn="just"/>
            <a:r>
              <a:rPr lang="en-US" dirty="0">
                <a:hlinkClick r:id="rId2"/>
              </a:rPr>
              <a:t>Retirement: TLS 1.0 and TLS 1.1 in Azure App Service, Azure Functions, and Azure Logic Apps</a:t>
            </a:r>
            <a:endParaRPr lang="en-US" dirty="0"/>
          </a:p>
          <a:p>
            <a:pPr algn="just"/>
            <a:r>
              <a:rPr lang="en-US" dirty="0"/>
              <a:t>As part of Azure’s ongoing security improvements, App Service, Functions, and Logic Apps will no longer accept connections using TLS 1.0 or TLS 1.1 after May 31, 2027. Any client, application, or service that continues to use these legacy TLS versions will be unable to connect to these services after his date. </a:t>
            </a:r>
          </a:p>
          <a:p>
            <a:pPr algn="just"/>
            <a:r>
              <a:rPr lang="en-US" dirty="0"/>
              <a:t>Customers should review the applications and services that connect to App Service, Functions, or Logic Apps and ensure they support TLS 1.2 or later prior to this date. </a:t>
            </a:r>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Storage &amp; Data</a:t>
            </a:r>
          </a:p>
        </p:txBody>
      </p:sp>
    </p:spTree>
    <p:extLst>
      <p:ext uri="{BB962C8B-B14F-4D97-AF65-F5344CB8AC3E}">
        <p14:creationId xmlns:p14="http://schemas.microsoft.com/office/powerpoint/2010/main" val="21881407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BC30-BE9D-D666-D8EC-C477902CDD33}"/>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089CA58-5DC8-3994-AD5C-78748D2555F0}"/>
              </a:ext>
            </a:extLst>
          </p:cNvPr>
          <p:cNvSpPr>
            <a:spLocks noGrp="1"/>
          </p:cNvSpPr>
          <p:nvPr>
            <p:ph type="body" sz="quarter" idx="10"/>
          </p:nvPr>
        </p:nvSpPr>
        <p:spPr/>
        <p:txBody>
          <a:bodyPr/>
          <a:lstStyle/>
          <a:p>
            <a:pPr algn="just"/>
            <a:r>
              <a:rPr lang="en-US" sz="1000" dirty="0">
                <a:hlinkClick r:id="rId2"/>
              </a:rPr>
              <a:t>Generally Available: Entra-only identities with Azure Files</a:t>
            </a:r>
            <a:endParaRPr lang="en-US" sz="1000" dirty="0"/>
          </a:p>
          <a:p>
            <a:pPr algn="just"/>
            <a:r>
              <a:rPr lang="en-US" sz="1000" dirty="0"/>
              <a:t>Azure Files announces general availability of Entra-only identities for SMB access, enabling organizations to securely access file shares using cloud-native identities without requiring Active Directory or hybrid identity infrastructure. With Microsoft Entra ID as the authentication authority, users can access Azure Files using Kerberos-based authentication backed entirely by cloud identities - eliminating dependency on domain controllers and simplifying storage and identity architecture.  </a:t>
            </a:r>
          </a:p>
          <a:p>
            <a:pPr algn="just"/>
            <a:r>
              <a:rPr lang="en-US" sz="1000" dirty="0"/>
              <a:t>Key capabilities </a:t>
            </a:r>
          </a:p>
          <a:p>
            <a:pPr marL="171450" indent="-171450" algn="just">
              <a:buFont typeface="Arial" panose="020B0604020202020204" pitchFamily="34" charset="0"/>
              <a:buChar char="•"/>
            </a:pPr>
            <a:r>
              <a:rPr lang="en-US" sz="1000" dirty="0"/>
              <a:t>Cloud-native authentication with Entra ID: Secure SMB access using Kerberos without Active Directory or domain controllers </a:t>
            </a:r>
          </a:p>
          <a:p>
            <a:pPr marL="171450" indent="-171450" algn="just">
              <a:buFont typeface="Arial" panose="020B0604020202020204" pitchFamily="34" charset="0"/>
              <a:buChar char="•"/>
            </a:pPr>
            <a:r>
              <a:rPr lang="en-US" sz="1000" dirty="0"/>
              <a:t>Simplified permissions management: Configure granular NTFS ACLs for Entra users and groups directly through the Azure portal </a:t>
            </a:r>
          </a:p>
          <a:p>
            <a:pPr marL="171450" indent="-171450" algn="just">
              <a:buFont typeface="Arial" panose="020B0604020202020204" pitchFamily="34" charset="0"/>
              <a:buChar char="•"/>
            </a:pPr>
            <a:r>
              <a:rPr lang="en-US" sz="1000" dirty="0"/>
              <a:t>Role-based access control (RBAC): Assign share-level access using built-in roles for least-privilege administration </a:t>
            </a:r>
          </a:p>
          <a:p>
            <a:pPr marL="171450" indent="-171450" algn="just">
              <a:buFont typeface="Arial" panose="020B0604020202020204" pitchFamily="34" charset="0"/>
              <a:buChar char="•"/>
            </a:pPr>
            <a:r>
              <a:rPr lang="en-US" sz="1000" dirty="0"/>
              <a:t>Secure access from anywhere: Enable identity-based access over the internet without VPN dependencies </a:t>
            </a:r>
          </a:p>
          <a:p>
            <a:pPr marL="171450" indent="-171450" algn="just">
              <a:buFont typeface="Arial" panose="020B0604020202020204" pitchFamily="34" charset="0"/>
              <a:buChar char="•"/>
            </a:pPr>
            <a:r>
              <a:rPr lang="en-US" sz="1000" dirty="0"/>
              <a:t>Support for modern workloads: Power Azure Virtual Desktop (AVD), general-purpose file sharing, and distributed collaboration scenarios </a:t>
            </a:r>
          </a:p>
        </p:txBody>
      </p:sp>
      <p:sp>
        <p:nvSpPr>
          <p:cNvPr id="11" name="Title 10">
            <a:extLst>
              <a:ext uri="{FF2B5EF4-FFF2-40B4-BE49-F238E27FC236}">
                <a16:creationId xmlns:a16="http://schemas.microsoft.com/office/drawing/2014/main" id="{9338C940-1C5A-F159-79FA-059EBE1E77FE}"/>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79819030-1C59-2813-CD9C-4D9347E3D50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6F37A70-680F-B50D-A1A9-E9D2AE2C922F}"/>
              </a:ext>
            </a:extLst>
          </p:cNvPr>
          <p:cNvSpPr>
            <a:spLocks noGrp="1"/>
          </p:cNvSpPr>
          <p:nvPr>
            <p:ph type="body" sz="quarter" idx="16"/>
          </p:nvPr>
        </p:nvSpPr>
        <p:spPr/>
        <p:txBody>
          <a:bodyPr/>
          <a:lstStyle/>
          <a:p>
            <a:pPr algn="just"/>
            <a:r>
              <a:rPr lang="en-US" dirty="0">
                <a:hlinkClick r:id="rId3"/>
              </a:rPr>
              <a:t>Generally Available: Mock runs for Azure Storage Actions – Validate before you execute</a:t>
            </a:r>
            <a:endParaRPr lang="en-US" dirty="0"/>
          </a:p>
          <a:p>
            <a:pPr algn="just"/>
            <a:r>
              <a:rPr lang="en-US" dirty="0"/>
              <a:t>Azure Storage Actions, MS fully managed platform that transforms how organizations automate data management tasks for Azure Blob and Data Lake Storage, now supports mock runs - a new way to simulate task execution at full scale without modifying any data. </a:t>
            </a:r>
          </a:p>
          <a:p>
            <a:pPr algn="just"/>
            <a:r>
              <a:rPr lang="en-US" dirty="0"/>
              <a:t>Mock runs enable you to validate your task conditions by scanning and evaluating billions of objects against your storage accounts, generating a detailed report showing exactly which blobs would be affected and what operations would be performed without making any changes. Mock runs validate across every blob in scope, giving you complete confidence before committing to irreversible blob operations. Combining full-scale validation with detailed CSV reporting, mock runs eliminate guesswork and drive safe, predictable automation.</a:t>
            </a:r>
          </a:p>
        </p:txBody>
      </p:sp>
    </p:spTree>
    <p:extLst>
      <p:ext uri="{BB962C8B-B14F-4D97-AF65-F5344CB8AC3E}">
        <p14:creationId xmlns:p14="http://schemas.microsoft.com/office/powerpoint/2010/main" val="670539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152D9-DBC8-1BB3-CB3A-906BE1CABE4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42DF6D2C-F56A-685B-1BF3-E4EBF4C6CDA8}"/>
              </a:ext>
            </a:extLst>
          </p:cNvPr>
          <p:cNvSpPr>
            <a:spLocks noGrp="1"/>
          </p:cNvSpPr>
          <p:nvPr>
            <p:ph type="body" sz="quarter" idx="10"/>
          </p:nvPr>
        </p:nvSpPr>
        <p:spPr/>
        <p:txBody>
          <a:bodyPr/>
          <a:lstStyle/>
          <a:p>
            <a:pPr algn="just"/>
            <a:r>
              <a:rPr lang="en-US" sz="1000" dirty="0">
                <a:hlinkClick r:id="rId2"/>
              </a:rPr>
              <a:t>Generally Available: Azure NetApp Files object REST API</a:t>
            </a:r>
            <a:endParaRPr lang="en-US" sz="1000" dirty="0"/>
          </a:p>
          <a:p>
            <a:pPr algn="just"/>
            <a:r>
              <a:rPr lang="en-US" sz="1000" dirty="0"/>
              <a:t>The Object REST API (an S3-compatible REST API) on Azure NetApp Files bridges the gap between traditional file-based storage and modern cloud services, enabling you to use your existing data in new ways. With the Object REST API, you can seamlessly integrate Azure NetApp Files data with Microsoft Fabric, Azure AI services, and other Azure offerings without the need to move or replicate data. This unlocks new use cases such as advanced analytics, machine learning, and real-time business intelligence, while reducing costs and accelerating innovation. </a:t>
            </a:r>
          </a:p>
          <a:p>
            <a:pPr algn="just"/>
            <a:r>
              <a:rPr lang="en-US" sz="1000" dirty="0"/>
              <a:t>The Object REST API introduces native S3-compatible read/write access, allowing modern applications to interact with your data directly and efficiently. Enterprises benefit from simplified integration, enhanced productivity, and improved data security, as data remains in place and protected by Azure NetApp Files’ robust security measures. This feature is ideal for organizations looking to leverage AI-driven insights, streamline workflows, and maintain compliance with industry standards.  </a:t>
            </a:r>
          </a:p>
          <a:p>
            <a:pPr algn="just"/>
            <a:r>
              <a:rPr lang="en-US" sz="1000" dirty="0"/>
              <a:t>This feature is now generally available in all Azure NetApp Files regions. </a:t>
            </a:r>
          </a:p>
        </p:txBody>
      </p:sp>
      <p:sp>
        <p:nvSpPr>
          <p:cNvPr id="11" name="Title 10">
            <a:extLst>
              <a:ext uri="{FF2B5EF4-FFF2-40B4-BE49-F238E27FC236}">
                <a16:creationId xmlns:a16="http://schemas.microsoft.com/office/drawing/2014/main" id="{04047DB6-1854-02E5-91AF-2A84CBC86224}"/>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D3C9CC31-A12C-B5F1-6B1A-86D3C7CE03BA}"/>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F082C05-93E4-F01C-DC62-70427109EFEE}"/>
              </a:ext>
            </a:extLst>
          </p:cNvPr>
          <p:cNvSpPr>
            <a:spLocks noGrp="1"/>
          </p:cNvSpPr>
          <p:nvPr>
            <p:ph type="body" sz="quarter" idx="16"/>
          </p:nvPr>
        </p:nvSpPr>
        <p:spPr/>
        <p:txBody>
          <a:bodyPr/>
          <a:lstStyle/>
          <a:p>
            <a:pPr algn="just"/>
            <a:r>
              <a:rPr lang="en-US" dirty="0">
                <a:hlinkClick r:id="rId3"/>
              </a:rPr>
              <a:t>Generally Available: Azure NetApp Files cache volumes</a:t>
            </a:r>
            <a:endParaRPr lang="en-US" dirty="0"/>
          </a:p>
          <a:p>
            <a:pPr algn="just"/>
            <a:r>
              <a:rPr lang="en-US" dirty="0"/>
              <a:t>Azure NetApp Files cache volumes are now Generally Available. Azure NetApp Files now supports cache volumes, which are cloud-based caches of an external origin volume that contain only the most actively accessed data. This brings data and files closer to the user for faster throughput with a smaller footprint. Azure NetApp Files cache volumes simplify file distribution, reduces WAN latency, and lowers WAN/ExpressRoute bandwidth costs. </a:t>
            </a:r>
          </a:p>
        </p:txBody>
      </p:sp>
    </p:spTree>
    <p:extLst>
      <p:ext uri="{BB962C8B-B14F-4D97-AF65-F5344CB8AC3E}">
        <p14:creationId xmlns:p14="http://schemas.microsoft.com/office/powerpoint/2010/main" val="3507518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E7A46-37FC-DE37-B781-F6CD941A9DA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AE795B7-0C4D-6CAC-2F9E-29152EF52D4D}"/>
              </a:ext>
            </a:extLst>
          </p:cNvPr>
          <p:cNvSpPr>
            <a:spLocks noGrp="1"/>
          </p:cNvSpPr>
          <p:nvPr>
            <p:ph type="body" sz="quarter" idx="10"/>
          </p:nvPr>
        </p:nvSpPr>
        <p:spPr>
          <a:xfrm>
            <a:off x="4433776" y="855080"/>
            <a:ext cx="4365038" cy="4047120"/>
          </a:xfrm>
        </p:spPr>
        <p:txBody>
          <a:bodyPr/>
          <a:lstStyle/>
          <a:p>
            <a:r>
              <a:rPr lang="en-US" sz="1000" dirty="0">
                <a:hlinkClick r:id="rId2"/>
              </a:rPr>
              <a:t>Generally Available: Azure Storage Mover Blob-to-Blob migration</a:t>
            </a:r>
            <a:endParaRPr lang="en-US" sz="1000" dirty="0"/>
          </a:p>
          <a:p>
            <a:r>
              <a:rPr lang="en-US" sz="1000" dirty="0"/>
              <a:t>Azure Storage Mover now supports Blob container-to-Blob container data transfers, enabling customers to move data seamlessly across regions, subscriptions, and accounts with a fully managed experience.  </a:t>
            </a:r>
          </a:p>
          <a:p>
            <a:r>
              <a:rPr lang="en-US" sz="1000" dirty="0"/>
              <a:t>Customers can now use Azure Storage Mover to migrate data directly between Azure Blob containers with: </a:t>
            </a:r>
          </a:p>
          <a:p>
            <a:pPr marL="171450" indent="-171450">
              <a:buFont typeface="Arial" panose="020B0604020202020204" pitchFamily="34" charset="0"/>
              <a:buChar char="•"/>
            </a:pPr>
            <a:r>
              <a:rPr lang="en-US" sz="1000" dirty="0"/>
              <a:t>Agentless, fully managed transfers—no infrastructure deployment required </a:t>
            </a:r>
          </a:p>
          <a:p>
            <a:pPr marL="171450" indent="-171450">
              <a:buFont typeface="Arial" panose="020B0604020202020204" pitchFamily="34" charset="0"/>
              <a:buChar char="•"/>
            </a:pPr>
            <a:r>
              <a:rPr lang="en-US" sz="1000" dirty="0"/>
              <a:t>Support for large-scale parallel data movement, optimized for high throughput migrations </a:t>
            </a:r>
          </a:p>
          <a:p>
            <a:pPr marL="171450" indent="-171450">
              <a:buFont typeface="Arial" panose="020B0604020202020204" pitchFamily="34" charset="0"/>
              <a:buChar char="•"/>
            </a:pPr>
            <a:r>
              <a:rPr lang="en-US" sz="1000" dirty="0"/>
              <a:t>Integrated job management, including progress tracking, resumability, and reliability controls across migrations. </a:t>
            </a:r>
          </a:p>
          <a:p>
            <a:pPr marL="171450" indent="-171450">
              <a:buFont typeface="Arial" panose="020B0604020202020204" pitchFamily="34" charset="0"/>
              <a:buChar char="•"/>
            </a:pPr>
            <a:r>
              <a:rPr lang="en-US" sz="1000" dirty="0"/>
              <a:t>Support for both flat namespace (FNS) and hierarchical namespace (HNS) accounts  </a:t>
            </a:r>
          </a:p>
          <a:p>
            <a:r>
              <a:rPr lang="en-US" sz="1000" dirty="0"/>
              <a:t>Azure Storage Mover is optimized for high-throughput data transfer scenarios: </a:t>
            </a:r>
          </a:p>
          <a:p>
            <a:pPr marL="171450" indent="-171450">
              <a:buFont typeface="Arial" panose="020B0604020202020204" pitchFamily="34" charset="0"/>
              <a:buChar char="•"/>
            </a:pPr>
            <a:r>
              <a:rPr lang="en-US" sz="1000" dirty="0"/>
              <a:t>Proven performance with multi-GB/s transfer speeds depending on workload characteristics and region topology  </a:t>
            </a:r>
          </a:p>
          <a:p>
            <a:pPr marL="171450" indent="-171450">
              <a:buFont typeface="Arial" panose="020B0604020202020204" pitchFamily="34" charset="0"/>
              <a:buChar char="•"/>
            </a:pPr>
            <a:r>
              <a:rPr lang="en-US" sz="1000" dirty="0"/>
              <a:t>Ability to handle large object counts and deep directory structures, enabling enterprise-grade migrations at scale  </a:t>
            </a:r>
          </a:p>
          <a:p>
            <a:pPr marL="171450" indent="-171450">
              <a:buFont typeface="Arial" panose="020B0604020202020204" pitchFamily="34" charset="0"/>
              <a:buChar char="•"/>
            </a:pPr>
            <a:r>
              <a:rPr lang="en-US" sz="1000" dirty="0"/>
              <a:t>Support for parallel job execution to maximize throughput across multiple workloads </a:t>
            </a:r>
          </a:p>
        </p:txBody>
      </p:sp>
      <p:sp>
        <p:nvSpPr>
          <p:cNvPr id="11" name="Title 10">
            <a:extLst>
              <a:ext uri="{FF2B5EF4-FFF2-40B4-BE49-F238E27FC236}">
                <a16:creationId xmlns:a16="http://schemas.microsoft.com/office/drawing/2014/main" id="{F3F52A13-614F-F618-4B9C-591B009977B2}"/>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95405789-54A1-B49A-B9F4-2BC26AD8154F}"/>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84D6F84-88AB-C63B-5FD4-B461BDD233D2}"/>
              </a:ext>
            </a:extLst>
          </p:cNvPr>
          <p:cNvSpPr>
            <a:spLocks noGrp="1"/>
          </p:cNvSpPr>
          <p:nvPr>
            <p:ph type="body" sz="quarter" idx="16"/>
          </p:nvPr>
        </p:nvSpPr>
        <p:spPr/>
        <p:txBody>
          <a:bodyPr/>
          <a:lstStyle/>
          <a:p>
            <a:pPr algn="just"/>
            <a:r>
              <a:rPr lang="en-US" dirty="0">
                <a:hlinkClick r:id="rId3"/>
              </a:rPr>
              <a:t>Generally Available: Schedule one-time or recurring migrations with Azure Storage Mover</a:t>
            </a:r>
            <a:endParaRPr lang="en-US" dirty="0"/>
          </a:p>
          <a:p>
            <a:pPr algn="just"/>
            <a:r>
              <a:rPr lang="en-US" dirty="0"/>
              <a:t>Azure Storage Mover now supports built-in job scheduling, giving customers more control over when migrations run and making it easier to automate repeatable data transfers into Azure. Customers can configure jobs to start automatically at a specific date and time, or set up recurring runs to keep their target storage in sync with data from on-premises environments.</a:t>
            </a:r>
          </a:p>
          <a:p>
            <a:pPr algn="just"/>
            <a:r>
              <a:rPr lang="en-US" dirty="0"/>
              <a:t>In the portal, customers can choose No schedule, a one-time schedule, or a recurring schedule. Recurring schedules support daily, weekly, and monthly frequency options. Schedules can also be enabled or disabled as needed, giving teams flexibility to align migrations with maintenance windows, business operations, or phased cutover plans. </a:t>
            </a:r>
          </a:p>
        </p:txBody>
      </p:sp>
    </p:spTree>
    <p:extLst>
      <p:ext uri="{BB962C8B-B14F-4D97-AF65-F5344CB8AC3E}">
        <p14:creationId xmlns:p14="http://schemas.microsoft.com/office/powerpoint/2010/main" val="2281606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93715-9869-88DC-2CB8-A7701BFB332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9D1DAA-5541-5F8D-D325-1706397A6A43}"/>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B05E9534-3C35-9313-C6E7-9E564BDFC466}"/>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DE6CD169-A2F9-0F7E-49EE-EC7FAE204B1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510AD9-2A44-5DDF-30FA-DE4500EB2760}"/>
              </a:ext>
            </a:extLst>
          </p:cNvPr>
          <p:cNvSpPr>
            <a:spLocks noGrp="1"/>
          </p:cNvSpPr>
          <p:nvPr>
            <p:ph type="body" sz="quarter" idx="16"/>
          </p:nvPr>
        </p:nvSpPr>
        <p:spPr/>
        <p:txBody>
          <a:bodyPr/>
          <a:lstStyle/>
          <a:p>
            <a:pPr algn="just"/>
            <a:r>
              <a:rPr lang="en-US" dirty="0">
                <a:hlinkClick r:id="rId2"/>
              </a:rPr>
              <a:t>Generally Available: SQL Server on Azure VMs in Malaysia West, Indonesia Central</a:t>
            </a:r>
            <a:endParaRPr lang="en-US" dirty="0"/>
          </a:p>
          <a:p>
            <a:pPr algn="just"/>
            <a:r>
              <a:rPr lang="en-US" dirty="0"/>
              <a:t>SQL Server on Azure Virtual Machines is now generally available in the Malaysia West and Indonesia Central Azure regions. With this regional expansion, it is possible to deploy and manage SQL Server workloads closer to users while helping meet data residency requirements in Malaysia and Indonesia.</a:t>
            </a:r>
          </a:p>
          <a:p>
            <a:pPr algn="just"/>
            <a:endParaRPr lang="en-US" dirty="0"/>
          </a:p>
        </p:txBody>
      </p:sp>
    </p:spTree>
    <p:extLst>
      <p:ext uri="{BB962C8B-B14F-4D97-AF65-F5344CB8AC3E}">
        <p14:creationId xmlns:p14="http://schemas.microsoft.com/office/powerpoint/2010/main" val="580018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Integration</a:t>
            </a:r>
          </a:p>
        </p:txBody>
      </p:sp>
    </p:spTree>
    <p:extLst>
      <p:ext uri="{BB962C8B-B14F-4D97-AF65-F5344CB8AC3E}">
        <p14:creationId xmlns:p14="http://schemas.microsoft.com/office/powerpoint/2010/main" val="5962330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78F22-A9E3-2B6E-58E1-F0D0E1E104E0}"/>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70409C6D-0E1D-A764-A4B4-2D3FADB4EE0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1A1E796A-EE79-410E-046D-1D63E445E96B}"/>
              </a:ext>
            </a:extLst>
          </p:cNvPr>
          <p:cNvSpPr>
            <a:spLocks noGrp="1"/>
          </p:cNvSpPr>
          <p:nvPr>
            <p:ph type="title"/>
          </p:nvPr>
        </p:nvSpPr>
        <p:spPr/>
        <p:txBody>
          <a:bodyPr/>
          <a:lstStyle/>
          <a:p>
            <a:r>
              <a:rPr lang="en-US" sz="1800" dirty="0"/>
              <a:t>Integration Updates</a:t>
            </a:r>
            <a:endParaRPr lang="en-US" dirty="0"/>
          </a:p>
        </p:txBody>
      </p:sp>
      <p:sp>
        <p:nvSpPr>
          <p:cNvPr id="13" name="Text Placeholder 12">
            <a:extLst>
              <a:ext uri="{FF2B5EF4-FFF2-40B4-BE49-F238E27FC236}">
                <a16:creationId xmlns:a16="http://schemas.microsoft.com/office/drawing/2014/main" id="{AED4F9DC-B482-0291-E516-FC62C0D1927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C3960749-A6C0-6C05-2CF4-B9E16BFA36F2}"/>
              </a:ext>
            </a:extLst>
          </p:cNvPr>
          <p:cNvSpPr>
            <a:spLocks noGrp="1"/>
          </p:cNvSpPr>
          <p:nvPr>
            <p:ph type="body" sz="quarter" idx="16"/>
          </p:nvPr>
        </p:nvSpPr>
        <p:spPr/>
        <p:txBody>
          <a:bodyPr/>
          <a:lstStyle/>
          <a:p>
            <a:pPr algn="just"/>
            <a:r>
              <a:rPr lang="en-US" dirty="0">
                <a:hlinkClick r:id="rId2"/>
              </a:rPr>
              <a:t>Public Preview: Azure Event Grid Subscription Identifiers</a:t>
            </a:r>
            <a:endParaRPr lang="en-US" dirty="0"/>
          </a:p>
          <a:p>
            <a:pPr algn="just"/>
            <a:r>
              <a:rPr lang="en-US" dirty="0"/>
              <a:t>Gain more flexibility in message handling with Subscription Identifiers by enabling subscribers to identify which subscription triggered delivery, helping streamline client-side processing in more advanced MQTT scenarios.  </a:t>
            </a:r>
          </a:p>
          <a:p>
            <a:pPr algn="just"/>
            <a:r>
              <a:rPr lang="en-US" dirty="0"/>
              <a:t>Together, these enhancements strengthen Azure Event Grid namespaces as a powerful foundation for modern MQTT messaging—making it easier to connect devices, applications, and cloud services with greater scale, flexibility, and operational simplicity. </a:t>
            </a:r>
          </a:p>
        </p:txBody>
      </p:sp>
    </p:spTree>
    <p:extLst>
      <p:ext uri="{BB962C8B-B14F-4D97-AF65-F5344CB8AC3E}">
        <p14:creationId xmlns:p14="http://schemas.microsoft.com/office/powerpoint/2010/main" val="58293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027F4-E37F-9EF5-D9EA-7AA6B2B87EEE}"/>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7B3499D8-7C6B-2114-C57A-CC1635D2264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9A87B58C-445F-0F9C-16BF-B45E2CAC6389}"/>
              </a:ext>
            </a:extLst>
          </p:cNvPr>
          <p:cNvSpPr>
            <a:spLocks noGrp="1"/>
          </p:cNvSpPr>
          <p:nvPr>
            <p:ph type="title"/>
          </p:nvPr>
        </p:nvSpPr>
        <p:spPr/>
        <p:txBody>
          <a:bodyPr/>
          <a:lstStyle/>
          <a:p>
            <a:r>
              <a:rPr lang="en-US" sz="1800" dirty="0"/>
              <a:t>Integration Updates</a:t>
            </a:r>
            <a:endParaRPr lang="en-US" dirty="0"/>
          </a:p>
        </p:txBody>
      </p:sp>
      <p:sp>
        <p:nvSpPr>
          <p:cNvPr id="13" name="Text Placeholder 12">
            <a:extLst>
              <a:ext uri="{FF2B5EF4-FFF2-40B4-BE49-F238E27FC236}">
                <a16:creationId xmlns:a16="http://schemas.microsoft.com/office/drawing/2014/main" id="{CD428E81-1DDF-1C0F-CE1C-114C2430C20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256488B-5839-91E1-8F71-2D334A0D3442}"/>
              </a:ext>
            </a:extLst>
          </p:cNvPr>
          <p:cNvSpPr>
            <a:spLocks noGrp="1"/>
          </p:cNvSpPr>
          <p:nvPr>
            <p:ph type="body" sz="quarter" idx="16"/>
          </p:nvPr>
        </p:nvSpPr>
        <p:spPr/>
        <p:txBody>
          <a:bodyPr/>
          <a:lstStyle/>
          <a:p>
            <a:pPr algn="just"/>
            <a:r>
              <a:rPr lang="en-US" dirty="0">
                <a:hlinkClick r:id="rId2"/>
              </a:rPr>
              <a:t>Generally Available: Azure Event Grid releases for April 2026</a:t>
            </a:r>
            <a:endParaRPr lang="en-US" dirty="0"/>
          </a:p>
          <a:p>
            <a:pPr algn="just"/>
            <a:r>
              <a:rPr lang="en-US" dirty="0"/>
              <a:t>Azure Event Grid namespaces are expanding MQTT capabilities to help organizations build more connected, scalable, and MQTT V5 standards-based real-time solutions. These updates make it easier to deliver responsive device experiences, simplify backend integration, and accelerate modern IoT application development. </a:t>
            </a:r>
          </a:p>
          <a:p>
            <a:pPr marL="171450" indent="-171450" algn="just">
              <a:buFont typeface="Arial" panose="020B0604020202020204" pitchFamily="34" charset="0"/>
              <a:buChar char="•"/>
            </a:pPr>
            <a:r>
              <a:rPr lang="en-US" dirty="0"/>
              <a:t>MQTT Retain support: Deliver a better subscriber experience by ensuring new subscribers can immediately receive the latest known state for a topic, without waiting for the next message. </a:t>
            </a:r>
          </a:p>
          <a:p>
            <a:pPr marL="171450" indent="-171450" algn="just">
              <a:buFont typeface="Arial" panose="020B0604020202020204" pitchFamily="34" charset="0"/>
              <a:buChar char="•"/>
            </a:pPr>
            <a:r>
              <a:rPr lang="en-US" dirty="0"/>
              <a:t>Shared Subscriptions: Scale message processing more efficiently by distributing traffic across multiple consumers in the same subscription group, helping support higher throughput and more resilient architectures. </a:t>
            </a:r>
          </a:p>
          <a:p>
            <a:pPr marL="171450" indent="-171450" algn="just">
              <a:buFont typeface="Arial" panose="020B0604020202020204" pitchFamily="34" charset="0"/>
              <a:buChar char="•"/>
            </a:pPr>
            <a:r>
              <a:rPr lang="en-US" dirty="0"/>
              <a:t>HTTP Publish of MQTT messages: Bring HTTP-based applications into MQTT workflows with a simple publishing path that helps connect backend services, business applications, and device ecosystems more seamlessly. </a:t>
            </a:r>
          </a:p>
        </p:txBody>
      </p:sp>
    </p:spTree>
    <p:extLst>
      <p:ext uri="{BB962C8B-B14F-4D97-AF65-F5344CB8AC3E}">
        <p14:creationId xmlns:p14="http://schemas.microsoft.com/office/powerpoint/2010/main" val="806284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Integration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r>
              <a:rPr lang="en-US" dirty="0">
                <a:hlinkClick r:id="rId2"/>
              </a:rPr>
              <a:t>Azure API Center portal is now generally available</a:t>
            </a:r>
            <a:endParaRPr lang="en-US" dirty="0"/>
          </a:p>
          <a:p>
            <a:r>
              <a:rPr lang="en-US" dirty="0"/>
              <a:t>The API Center portal is a hosted, provisioned and managed by Azure, where developers across your organization can discover, explore, and consume APIs. The API Center portal provides a multi-gateway, organization-wide view of every API and AI asset (e.g. plugins, MCP servers, skills </a:t>
            </a:r>
            <a:r>
              <a:rPr lang="en-US" dirty="0" err="1"/>
              <a:t>etc</a:t>
            </a:r>
            <a:r>
              <a:rPr lang="en-US" dirty="0"/>
              <a:t>).</a:t>
            </a:r>
          </a:p>
          <a:p>
            <a:r>
              <a:rPr lang="en-US" dirty="0"/>
              <a:t>Key Capabilities</a:t>
            </a:r>
          </a:p>
          <a:p>
            <a:pPr marL="171450" indent="-171450">
              <a:buFont typeface="Arial" panose="020B0604020202020204" pitchFamily="34" charset="0"/>
              <a:buChar char="•"/>
            </a:pPr>
            <a:r>
              <a:rPr lang="en-US" dirty="0"/>
              <a:t>Search and filter your full API inventory</a:t>
            </a:r>
          </a:p>
          <a:p>
            <a:pPr marL="171450" indent="-171450">
              <a:buFont typeface="Arial" panose="020B0604020202020204" pitchFamily="34" charset="0"/>
              <a:buChar char="•"/>
            </a:pPr>
            <a:r>
              <a:rPr lang="en-US" dirty="0"/>
              <a:t>Rich API details at a glance</a:t>
            </a:r>
          </a:p>
          <a:p>
            <a:pPr marL="171450" indent="-171450">
              <a:buFont typeface="Arial" panose="020B0604020202020204" pitchFamily="34" charset="0"/>
              <a:buChar char="•"/>
            </a:pPr>
            <a:r>
              <a:rPr lang="en-US" dirty="0"/>
              <a:t>Discovering and testing MCP servers</a:t>
            </a:r>
          </a:p>
          <a:p>
            <a:pPr marL="171450" indent="-171450">
              <a:buFont typeface="Arial" panose="020B0604020202020204" pitchFamily="34" charset="0"/>
              <a:buChar char="•"/>
            </a:pPr>
            <a:r>
              <a:rPr lang="en-US" dirty="0"/>
              <a:t>Studio Code environment</a:t>
            </a:r>
          </a:p>
          <a:p>
            <a:pPr marL="171450" indent="-171450">
              <a:buFont typeface="Arial" panose="020B0604020202020204" pitchFamily="34" charset="0"/>
              <a:buChar char="•"/>
            </a:pPr>
            <a:r>
              <a:rPr lang="en-US" dirty="0"/>
              <a:t>Discovering Skills and assessment results</a:t>
            </a:r>
          </a:p>
          <a:p>
            <a:pPr marL="171450" indent="-171450">
              <a:buFont typeface="Arial" panose="020B0604020202020204" pitchFamily="34" charset="0"/>
              <a:buChar char="•"/>
            </a:pPr>
            <a:r>
              <a:rPr lang="en-US" dirty="0"/>
              <a:t>Flexible access control</a:t>
            </a:r>
          </a:p>
          <a:p>
            <a:pPr marL="171450" indent="-171450">
              <a:buFont typeface="Arial" panose="020B0604020202020204" pitchFamily="34" charset="0"/>
              <a:buChar char="•"/>
            </a:pPr>
            <a:r>
              <a:rPr lang="en-US" dirty="0"/>
              <a:t>Customizable visibility rules</a:t>
            </a:r>
          </a:p>
        </p:txBody>
      </p:sp>
    </p:spTree>
    <p:extLst>
      <p:ext uri="{BB962C8B-B14F-4D97-AF65-F5344CB8AC3E}">
        <p14:creationId xmlns:p14="http://schemas.microsoft.com/office/powerpoint/2010/main" val="4065945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ML &amp; AI &amp; IOT</a:t>
            </a:r>
          </a:p>
        </p:txBody>
      </p:sp>
    </p:spTree>
    <p:extLst>
      <p:ext uri="{BB962C8B-B14F-4D97-AF65-F5344CB8AC3E}">
        <p14:creationId xmlns:p14="http://schemas.microsoft.com/office/powerpoint/2010/main" val="35148783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Now in Foundry: </a:t>
            </a:r>
            <a:r>
              <a:rPr lang="en-US" dirty="0" err="1">
                <a:hlinkClick r:id="rId2"/>
              </a:rPr>
              <a:t>Tongyi</a:t>
            </a:r>
            <a:r>
              <a:rPr lang="en-US" dirty="0">
                <a:hlinkClick r:id="rId2"/>
              </a:rPr>
              <a:t>-MAI Z-Image-Turbo, with FLUX.1-schnell and SDXL base 1.0</a:t>
            </a:r>
            <a:endParaRPr lang="en-US" dirty="0"/>
          </a:p>
          <a:p>
            <a:pPr algn="just"/>
            <a:r>
              <a:rPr lang="en-US" dirty="0"/>
              <a:t>Three models available through the</a:t>
            </a:r>
            <a:r>
              <a:rPr lang="en-US" dirty="0">
                <a:hlinkClick r:id="rId3"/>
              </a:rPr>
              <a:t> Hugging Face collection</a:t>
            </a:r>
            <a:r>
              <a:rPr lang="en-US" dirty="0"/>
              <a:t> in </a:t>
            </a:r>
            <a:r>
              <a:rPr lang="en-US" dirty="0">
                <a:hlinkClick r:id="rId4"/>
              </a:rPr>
              <a:t>Microsoft Foundry</a:t>
            </a:r>
            <a:r>
              <a:rPr lang="en-US" dirty="0"/>
              <a:t>: </a:t>
            </a:r>
            <a:r>
              <a:rPr lang="en-US" b="1" dirty="0" err="1"/>
              <a:t>Tongyi</a:t>
            </a:r>
            <a:r>
              <a:rPr lang="en-US" b="1" dirty="0"/>
              <a:t>-MAI's Z-Image-Turbo, </a:t>
            </a:r>
            <a:r>
              <a:rPr lang="en-US" dirty="0"/>
              <a:t>a new designed for lower latency on a single GPU and native bilingual text rendering; </a:t>
            </a:r>
            <a:r>
              <a:rPr lang="en-US" b="1" dirty="0"/>
              <a:t>Black Forest Labs' FLUX.1-schnell,</a:t>
            </a:r>
            <a:r>
              <a:rPr lang="en-US" dirty="0"/>
              <a:t> a 12B rectified flow transformer distilled to 1–4 step inference and one of the most adopted open-weight image models since its 2024 release; and </a:t>
            </a:r>
            <a:r>
              <a:rPr lang="en-US" b="1" dirty="0"/>
              <a:t>Stability AI's stable-diffusion-xl-base-1.0 (SDXL),</a:t>
            </a:r>
            <a:r>
              <a:rPr lang="en-US" dirty="0"/>
              <a:t> a latent diffusion research model that can be used to generate and modify images based on text prompts.</a:t>
            </a:r>
          </a:p>
        </p:txBody>
      </p:sp>
    </p:spTree>
    <p:extLst>
      <p:ext uri="{BB962C8B-B14F-4D97-AF65-F5344CB8AC3E}">
        <p14:creationId xmlns:p14="http://schemas.microsoft.com/office/powerpoint/2010/main" val="3732754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4748646" cy="1714500"/>
          </a:xfrm>
        </p:spPr>
        <p:txBody>
          <a:bodyPr/>
          <a:lstStyle/>
          <a:p>
            <a:r>
              <a:rPr lang="en-US" sz="4000" dirty="0"/>
              <a:t>DevOps &amp; IaC &amp; Automation</a:t>
            </a:r>
          </a:p>
        </p:txBody>
      </p:sp>
    </p:spTree>
    <p:extLst>
      <p:ext uri="{BB962C8B-B14F-4D97-AF65-F5344CB8AC3E}">
        <p14:creationId xmlns:p14="http://schemas.microsoft.com/office/powerpoint/2010/main" val="6537846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DevOps &amp; IaC &amp; Automation</a:t>
            </a:r>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Announcing Public Preview of Argo CD extension in AKS Azure Portal Experience</a:t>
            </a:r>
            <a:endParaRPr lang="en-US" dirty="0"/>
          </a:p>
          <a:p>
            <a:pPr algn="just"/>
            <a:r>
              <a:rPr lang="en-US" dirty="0"/>
              <a:t>MS announced the public preview of Argo CD in the Azure Portal for Azure Kubernetes Service.</a:t>
            </a:r>
          </a:p>
          <a:p>
            <a:pPr algn="just"/>
            <a:r>
              <a:rPr lang="en-US" dirty="0"/>
              <a:t>As GitOps becomes the standard for deploying and operating applications at scale, customers need a way to adopt GitOps with simpler onboarding, secure defaults, and integrated workflows. With Argo CD now available directly in the Portal, teams can enable and manage GitOps without the complexity of manual setup.</a:t>
            </a:r>
          </a:p>
          <a:p>
            <a:pPr algn="just"/>
            <a:endParaRPr lang="en-US" dirty="0"/>
          </a:p>
        </p:txBody>
      </p:sp>
    </p:spTree>
    <p:extLst>
      <p:ext uri="{BB962C8B-B14F-4D97-AF65-F5344CB8AC3E}">
        <p14:creationId xmlns:p14="http://schemas.microsoft.com/office/powerpoint/2010/main" val="1921881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customXml/itemProps3.xml><?xml version="1.0" encoding="utf-8"?>
<ds:datastoreItem xmlns:ds="http://schemas.openxmlformats.org/officeDocument/2006/customXml" ds:itemID="{EE04B39D-0CBA-4F8F-8809-785207E87965}">
  <ds:schemaRefs>
    <ds:schemaRef ds:uri="http://schemas.microsoft.com/sharepoint/v3/contenttype/forms"/>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608</TotalTime>
  <Words>3410</Words>
  <Application>Microsoft Office PowerPoint</Application>
  <PresentationFormat>On-screen Show (16:9)</PresentationFormat>
  <Paragraphs>140</Paragraphs>
  <Slides>31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Human Sans</vt:lpstr>
      <vt:lpstr>Human Sans Regular</vt:lpstr>
      <vt:lpstr>Continuum Theme</vt:lpstr>
      <vt:lpstr>Azure Times #207</vt:lpstr>
      <vt:lpstr>PowerPoint Presentation</vt:lpstr>
      <vt:lpstr>Networking Updates</vt:lpstr>
      <vt:lpstr>Networking Updates</vt:lpstr>
      <vt:lpstr>Networking Updates</vt:lpstr>
      <vt:lpstr>Networking Updates</vt:lpstr>
      <vt:lpstr>PowerPoint Presentation</vt:lpstr>
      <vt:lpstr>Management &amp; Governance Updates</vt:lpstr>
      <vt:lpstr>PowerPoint Presentation</vt:lpstr>
      <vt:lpstr>Compute Updates</vt:lpstr>
      <vt:lpstr>Compute Updates</vt:lpstr>
      <vt:lpstr>Compute Updates</vt:lpstr>
      <vt:lpstr>Compute Updates</vt:lpstr>
      <vt:lpstr>Compute Updates</vt:lpstr>
      <vt:lpstr>PowerPoint Presentation</vt:lpstr>
      <vt:lpstr>Storage &amp; Data Updates</vt:lpstr>
      <vt:lpstr>Storage &amp; Data Updates</vt:lpstr>
      <vt:lpstr>Storage &amp; Data Updates</vt:lpstr>
      <vt:lpstr>PowerPoint Presentation</vt:lpstr>
      <vt:lpstr>Databases Updates</vt:lpstr>
      <vt:lpstr>PowerPoint Presentation</vt:lpstr>
      <vt:lpstr>Integration Updates</vt:lpstr>
      <vt:lpstr>Integration Updates</vt:lpstr>
      <vt:lpstr>Integration Updates</vt:lpstr>
      <vt:lpstr>PowerPoint Presentation</vt:lpstr>
      <vt:lpstr>ML &amp; AI &amp; IOT Updates</vt:lpstr>
      <vt:lpstr>PowerPoint Presentation</vt:lpstr>
      <vt:lpstr>DevOps &amp; IaC &amp; Automation</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162</cp:revision>
  <dcterms:created xsi:type="dcterms:W3CDTF">2018-01-26T19:23:30Z</dcterms:created>
  <dcterms:modified xsi:type="dcterms:W3CDTF">2026-05-23T11:02:39Z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