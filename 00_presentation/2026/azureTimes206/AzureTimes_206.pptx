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9"/>
  </p:notesMasterIdLst>
  <p:handoutMasterIdLst>
    <p:handoutMasterId r:id="rId30"/>
  </p:handoutMasterIdLst>
  <p:sldIdLst>
    <p:sldId id="2142532340" r:id="rId5"/>
    <p:sldId id="2146847045" r:id="rId6"/>
    <p:sldId id="2146847127" r:id="rId7"/>
    <p:sldId id="2146847046" r:id="rId8"/>
    <p:sldId id="2146847089" r:id="rId9"/>
    <p:sldId id="2146847130" r:id="rId10"/>
    <p:sldId id="2146847048" r:id="rId11"/>
    <p:sldId id="2146847132" r:id="rId12"/>
    <p:sldId id="2146847050" r:id="rId13"/>
    <p:sldId id="2146847096" r:id="rId14"/>
    <p:sldId id="2146847134" r:id="rId15"/>
    <p:sldId id="2146847052" r:id="rId16"/>
    <p:sldId id="2146847138" r:id="rId17"/>
    <p:sldId id="2146847137" r:id="rId18"/>
    <p:sldId id="2146847056" r:id="rId19"/>
    <p:sldId id="2146847143" r:id="rId20"/>
    <p:sldId id="2146847144" r:id="rId21"/>
    <p:sldId id="2146847058" r:id="rId22"/>
    <p:sldId id="2146847146" r:id="rId23"/>
    <p:sldId id="2146847119" r:id="rId24"/>
    <p:sldId id="2146847120" r:id="rId25"/>
    <p:sldId id="2146847085" r:id="rId26"/>
    <p:sldId id="2146847084" r:id="rId27"/>
    <p:sldId id="2146847064" r:id="rId2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2146847127"/>
          </p14:sldIdLst>
        </p14:section>
        <p14:section name="Security &amp; Identity" id="{1AA42572-B3BD-44F7-813B-C2C647DDBB3C}">
          <p14:sldIdLst>
            <p14:sldId id="2146847046"/>
            <p14:sldId id="2146847089"/>
            <p14:sldId id="2146847130"/>
          </p14:sldIdLst>
        </p14:section>
        <p14:section name="Management &amp; Governance" id="{34181601-6D48-4406-A525-C7B5A12C6C5B}">
          <p14:sldIdLst>
            <p14:sldId id="2146847048"/>
            <p14:sldId id="2146847132"/>
          </p14:sldIdLst>
        </p14:section>
        <p14:section name="Compute" id="{05AA80BB-8802-49AB-8336-A884227CE2F7}">
          <p14:sldIdLst>
            <p14:sldId id="2146847050"/>
            <p14:sldId id="2146847096"/>
            <p14:sldId id="2146847134"/>
          </p14:sldIdLst>
        </p14:section>
        <p14:section name="Storage &amp; Data" id="{1F159046-CE0A-45BC-9D5B-6E6C95980F78}">
          <p14:sldIdLst>
            <p14:sldId id="2146847052"/>
            <p14:sldId id="2146847138"/>
            <p14:sldId id="2146847137"/>
          </p14:sldIdLst>
        </p14:section>
        <p14:section name="Databases" id="{AEAFAE72-AD56-48F3-926B-38BAE269038F}">
          <p14:sldIdLst/>
        </p14:section>
        <p14:section name="Integration" id="{ACBD46A3-6F1C-451B-A154-0A056E0DEFF6}">
          <p14:sldIdLst>
            <p14:sldId id="2146847056"/>
            <p14:sldId id="2146847143"/>
            <p14:sldId id="2146847144"/>
          </p14:sldIdLst>
        </p14:section>
        <p14:section name="ML &amp; AI &amp; IOT" id="{F4E1EAF1-55E9-4CA4-8ADC-28B69C1D66D2}">
          <p14:sldIdLst>
            <p14:sldId id="2146847058"/>
            <p14:sldId id="2146847146"/>
            <p14:sldId id="2146847119"/>
            <p14:sldId id="2146847120"/>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03" d="100"/>
          <a:sy n="103" d="100"/>
        </p:scale>
        <p:origin x="1013" y="82"/>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5/17/2026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5/17/2026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62010"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techcommunity.microsoft.com/blog/azurecompute/announcing-the-general-availability-of-azure-integrated-hardware-security-module/4517103"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azure.microsoft.com/ru-ru/updates?id=561510" TargetMode="External"/><Relationship Id="rId2" Type="http://schemas.openxmlformats.org/officeDocument/2006/relationships/hyperlink" Target="https://azure.microsoft.com/ru-ru/updates?id=562533"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zure.microsoft.com/ru-ru/updates?id=561564"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azure.microsoft.com/ru-ru/updates?id=559242"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techcommunity.microsoft.com/blog/azurecompute/announcing-the-general-availability-of-the-next-generation-of-azure-boost/4519136"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61722" TargetMode="External"/><Relationship Id="rId2" Type="http://schemas.openxmlformats.org/officeDocument/2006/relationships/hyperlink" Target="https://azure.microsoft.com/ru-ru/updates?id=562516" TargetMode="External"/><Relationship Id="rId1" Type="http://schemas.openxmlformats.org/officeDocument/2006/relationships/slideLayout" Target="../slideLayouts/slideLayout7.xml"/><Relationship Id="rId4" Type="http://schemas.openxmlformats.org/officeDocument/2006/relationships/hyperlink" Target="https://learn.microsoft.com/azure/azure-netapp-files/azure-netapp-files-resource-limits"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azure.microsoft.com/ru-ru/updates?id=562350"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techcommunity.microsoft.com/blog/messagingonazureblog/announcing-general-availability-of-confidential-computing-for-azure-service-bus-/4517931" TargetMode="External"/><Relationship Id="rId2" Type="http://schemas.openxmlformats.org/officeDocument/2006/relationships/hyperlink" Target="https://azure.microsoft.com/ru-ru/updates?id=561947"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61942" TargetMode="External"/><Relationship Id="rId2" Type="http://schemas.openxmlformats.org/officeDocument/2006/relationships/hyperlink" Target="https://techcommunity.microsoft.com/blog/messagingonazureblog/stripe-events--azure-event-grid-now-generally-available/4518499"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techcommunity.microsoft.com/blog/azureobservabilityblog/public-preview-update-azure-copilot-observability-agent/4517871" TargetMode="External"/><Relationship Id="rId2" Type="http://schemas.openxmlformats.org/officeDocument/2006/relationships/hyperlink" Target="https://techcommunity.microsoft.com/blog/azure-ai-foundry-blog/introducing-grok-4-3-on-microsoft-foundry-latest-generation-agentic-capabilities/4517096"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devblogs.microsoft.com/azure-sdk/from-beta-to-stable-announcing-the-azure-sdk-for-rust-ga/"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#206</a:t>
            </a:r>
          </a:p>
        </p:txBody>
      </p:sp>
      <p:sp>
        <p:nvSpPr>
          <p:cNvPr id="4" name="Text Placeholder 3"/>
          <p:cNvSpPr>
            <a:spLocks noGrp="1"/>
          </p:cNvSpPr>
          <p:nvPr>
            <p:ph type="body" sz="quarter" idx="11"/>
          </p:nvPr>
        </p:nvSpPr>
        <p:spPr/>
        <p:txBody>
          <a:bodyPr/>
          <a:lstStyle/>
          <a:p>
            <a:r>
              <a:rPr lang="en-US" spc="300" dirty="0"/>
              <a:t>May 18,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8381F3B-4FD0-B81E-E9ED-5F1037B0948F}"/>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6D884AE-3074-77B9-2821-DC774A2B2C02}"/>
              </a:ext>
            </a:extLst>
          </p:cNvPr>
          <p:cNvSpPr>
            <a:spLocks noGrp="1"/>
          </p:cNvSpPr>
          <p:nvPr>
            <p:ph type="body" sz="quarter" idx="16"/>
          </p:nvPr>
        </p:nvSpPr>
        <p:spPr/>
        <p:txBody>
          <a:bodyPr/>
          <a:lstStyle/>
          <a:p>
            <a:pPr algn="just"/>
            <a:r>
              <a:rPr lang="en-US" dirty="0">
                <a:hlinkClick r:id="rId2"/>
              </a:rPr>
              <a:t>Generally Available: Azure Virtual Network Manager rule impact analyzer</a:t>
            </a:r>
            <a:endParaRPr lang="en-US" dirty="0"/>
          </a:p>
          <a:p>
            <a:pPr algn="just"/>
            <a:r>
              <a:rPr lang="en-US" dirty="0"/>
              <a:t>Azure Virtual Network Manager Rule Impact Analyzer is now </a:t>
            </a:r>
            <a:r>
              <a:rPr lang="en-US" b="1" dirty="0"/>
              <a:t>generally available</a:t>
            </a:r>
            <a:r>
              <a:rPr lang="en-US" dirty="0"/>
              <a:t>, allowing organizations to </a:t>
            </a:r>
            <a:r>
              <a:rPr lang="en-US" b="1" dirty="0"/>
              <a:t>simulate the effect of security admin rules before deployment</a:t>
            </a:r>
            <a:r>
              <a:rPr lang="en-US" dirty="0"/>
              <a:t>. It helps validate how new rules may impact </a:t>
            </a:r>
            <a:r>
              <a:rPr lang="en-US" b="1" dirty="0"/>
              <a:t>existing traffic flows and connectivity</a:t>
            </a:r>
            <a:r>
              <a:rPr lang="en-US" dirty="0"/>
              <a:t> across virtual networks. The feature uses </a:t>
            </a:r>
            <a:r>
              <a:rPr lang="en-US" b="1" dirty="0"/>
              <a:t>Azure Network Watcher traffic analytics and flow logs</a:t>
            </a:r>
            <a:r>
              <a:rPr lang="en-US" dirty="0"/>
              <a:t> to provide data-driven insights. Administrators can adjust rules in advance to reduce the risk of unexpected disruptions. This improves </a:t>
            </a:r>
            <a:r>
              <a:rPr lang="en-US" b="1" dirty="0"/>
              <a:t>change management, network governance, and operational reliability</a:t>
            </a:r>
            <a:r>
              <a:rPr lang="en-US" dirty="0"/>
              <a:t>.</a:t>
            </a:r>
          </a:p>
        </p:txBody>
      </p:sp>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the general availability of Azure Integrated Hardware Security Module</a:t>
            </a:r>
            <a:endParaRPr lang="en-US" dirty="0"/>
          </a:p>
          <a:p>
            <a:pPr algn="just"/>
            <a:r>
              <a:rPr lang="en-US" dirty="0"/>
              <a:t>Azure Integrated Hardware Security Module (HSM) is now </a:t>
            </a:r>
            <a:r>
              <a:rPr lang="en-US" b="1" dirty="0"/>
              <a:t>generally available</a:t>
            </a:r>
            <a:r>
              <a:rPr lang="en-US" dirty="0"/>
              <a:t> for supported AMD v7 Virtual Machines, providing a </a:t>
            </a:r>
            <a:r>
              <a:rPr lang="en-US" b="1" dirty="0"/>
              <a:t>local hardware-backed key cache and cryptographic offload capability</a:t>
            </a:r>
            <a:r>
              <a:rPr lang="en-US" dirty="0"/>
              <a:t>. It enables cryptographic operations to run directly on the VM host, reducing latency by eliminating repeated network calls to Azure Key Vault or Managed HSM. The solution supports </a:t>
            </a:r>
            <a:r>
              <a:rPr lang="en-US" b="1" dirty="0"/>
              <a:t>Secure Key Release (SKR)</a:t>
            </a:r>
            <a:r>
              <a:rPr lang="en-US" dirty="0"/>
              <a:t>, allowing keys to be securely transferred into the local HSM only after platform attestation. Keys remain protected within a </a:t>
            </a:r>
            <a:r>
              <a:rPr lang="en-US" b="1" dirty="0"/>
              <a:t>FIPS 140-3 Level 3 validated hardware boundary</a:t>
            </a:r>
            <a:r>
              <a:rPr lang="en-US" dirty="0"/>
              <a:t> and are never exposed to VM memory. This is especially valuable for </a:t>
            </a:r>
            <a:r>
              <a:rPr lang="en-US" b="1" dirty="0"/>
              <a:t>high-performance encryption, signing, TLS, and regulated workloads</a:t>
            </a:r>
            <a:r>
              <a:rPr lang="en-US" dirty="0"/>
              <a:t> requiring strict security and low latency. It also supports </a:t>
            </a:r>
            <a:r>
              <a:rPr lang="en-US" b="1" dirty="0"/>
              <a:t>Bring Your Own Key (BYOK)</a:t>
            </a:r>
            <a:r>
              <a:rPr lang="en-US" dirty="0"/>
              <a:t> scenarios while maintaining strong key ownership and compliance controls.</a:t>
            </a: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pPr algn="just"/>
            <a:r>
              <a:rPr lang="en-US" sz="1000" dirty="0">
                <a:hlinkClick r:id="rId2"/>
              </a:rPr>
              <a:t>Update: Microsoft Foundry built-in RBAC role naming and enhancements</a:t>
            </a:r>
            <a:endParaRPr lang="ru-RU" sz="1000" dirty="0"/>
          </a:p>
          <a:p>
            <a:pPr algn="just"/>
            <a:r>
              <a:rPr lang="en-US" sz="1000" dirty="0"/>
              <a:t>Role names in Microsoft Foundry have been updated to align with the product brand. The following built-in roles are now renamed:</a:t>
            </a:r>
          </a:p>
          <a:p>
            <a:pPr marL="171450" indent="-171450" algn="just">
              <a:buFont typeface="Arial" panose="020B0604020202020204" pitchFamily="34" charset="0"/>
              <a:buChar char="•"/>
            </a:pPr>
            <a:r>
              <a:rPr lang="en-US" sz="1000" dirty="0"/>
              <a:t>Azure AI Account Owner → Foundry Account Owner</a:t>
            </a:r>
          </a:p>
          <a:p>
            <a:pPr marL="171450" indent="-171450" algn="just">
              <a:buFont typeface="Arial" panose="020B0604020202020204" pitchFamily="34" charset="0"/>
              <a:buChar char="•"/>
            </a:pPr>
            <a:r>
              <a:rPr lang="en-US" sz="1000" dirty="0"/>
              <a:t>Azure AI Owner → Foundry Owner</a:t>
            </a:r>
          </a:p>
          <a:p>
            <a:pPr marL="171450" indent="-171450" algn="just">
              <a:buFont typeface="Arial" panose="020B0604020202020204" pitchFamily="34" charset="0"/>
              <a:buChar char="•"/>
            </a:pPr>
            <a:r>
              <a:rPr lang="en-US" sz="1000" dirty="0"/>
              <a:t>Azure AI User → Foundry User</a:t>
            </a:r>
          </a:p>
          <a:p>
            <a:pPr marL="171450" indent="-171450" algn="just">
              <a:buFont typeface="Arial" panose="020B0604020202020204" pitchFamily="34" charset="0"/>
              <a:buChar char="•"/>
            </a:pPr>
            <a:r>
              <a:rPr lang="en-US" sz="1000" dirty="0"/>
              <a:t>Azure AI Project Manager → Foundry Project Manager</a:t>
            </a:r>
          </a:p>
          <a:p>
            <a:pPr algn="just"/>
            <a:r>
              <a:rPr lang="en-US" sz="1000" dirty="0"/>
              <a:t>In addition, role management capabilities have been enhanced to support evolving Foundry scenarios. Foundry Account Owner and Foundry Owner roles now include the ability to assign select dependent roles needed for common workflows, such as deploying hosted agents and accessing trace data. These roles can assign the following roles to themselves and others (conditional access):</a:t>
            </a:r>
          </a:p>
          <a:p>
            <a:pPr marL="171450" indent="-171450" algn="just">
              <a:buFont typeface="Arial" panose="020B0604020202020204" pitchFamily="34" charset="0"/>
              <a:buChar char="•"/>
            </a:pPr>
            <a:r>
              <a:rPr lang="en-US" sz="1000" dirty="0"/>
              <a:t>Foundry User</a:t>
            </a:r>
          </a:p>
          <a:p>
            <a:pPr marL="171450" indent="-171450" algn="just">
              <a:buFont typeface="Arial" panose="020B0604020202020204" pitchFamily="34" charset="0"/>
              <a:buChar char="•"/>
            </a:pPr>
            <a:r>
              <a:rPr lang="en-US" sz="1000" dirty="0"/>
              <a:t>Container Registry Contributor and Data Access Configuration Administrator</a:t>
            </a:r>
          </a:p>
          <a:p>
            <a:pPr marL="171450" indent="-171450" algn="just">
              <a:buFont typeface="Arial" panose="020B0604020202020204" pitchFamily="34" charset="0"/>
              <a:buChar char="•"/>
            </a:pPr>
            <a:r>
              <a:rPr lang="en-US" sz="1000" dirty="0"/>
              <a:t>Container Registry Repository Writer</a:t>
            </a:r>
          </a:p>
          <a:p>
            <a:pPr marL="171450" indent="-171450" algn="just">
              <a:buFont typeface="Arial" panose="020B0604020202020204" pitchFamily="34" charset="0"/>
              <a:buChar char="•"/>
            </a:pPr>
            <a:r>
              <a:rPr lang="en-US" sz="1000" dirty="0"/>
              <a:t>Log Analytics Reader</a:t>
            </a:r>
          </a:p>
          <a:p>
            <a:pPr algn="just"/>
            <a:r>
              <a:rPr lang="en-US" sz="1000" dirty="0"/>
              <a:t>Permissions for Foundry User and Foundry Project Manager remain unchanged.</a:t>
            </a:r>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p:txBody>
          <a:bodyPr/>
          <a:lstStyle/>
          <a:p>
            <a:pPr algn="just"/>
            <a:r>
              <a:rPr lang="en-US" dirty="0">
                <a:hlinkClick r:id="rId3"/>
              </a:rPr>
              <a:t>Generally Available: Sentinel TI - improved pattern parsing &amp; revoke reliability</a:t>
            </a:r>
            <a:endParaRPr lang="en-US" dirty="0"/>
          </a:p>
          <a:p>
            <a:pPr algn="just"/>
            <a:r>
              <a:rPr lang="en-US" dirty="0"/>
              <a:t>MS  rolled out two important improvements to enhance accuracy and control in pattern-based workflows: </a:t>
            </a:r>
          </a:p>
          <a:p>
            <a:pPr marL="171450" indent="-171450" algn="just">
              <a:buFont typeface="Arial" panose="020B0604020202020204" pitchFamily="34" charset="0"/>
              <a:buChar char="•"/>
            </a:pPr>
            <a:r>
              <a:rPr lang="en-US" dirty="0"/>
              <a:t>Revoke fix: Resolved an issue where revoke actions were not consistently applied, ensuring changes now take effect reliably and as intended. </a:t>
            </a:r>
          </a:p>
          <a:p>
            <a:pPr marL="171450" indent="-171450" algn="just">
              <a:buFont typeface="Arial" panose="020B0604020202020204" pitchFamily="34" charset="0"/>
              <a:buChar char="•"/>
            </a:pPr>
            <a:r>
              <a:rPr lang="en-US" dirty="0"/>
              <a:t>Support for AND in pattern parsing: You can now combine conditions using AND, enabling more precise and expressive pattern definitions. </a:t>
            </a:r>
          </a:p>
          <a:p>
            <a:pPr algn="just"/>
            <a:r>
              <a:rPr lang="en-US" dirty="0"/>
              <a:t>These updates help you manage indicators and patterns with greater confidence and precision. </a:t>
            </a:r>
          </a:p>
          <a:p>
            <a:pPr algn="just"/>
            <a:endParaRPr lang="en-US" dirty="0"/>
          </a:p>
        </p:txBody>
      </p:sp>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2"/>
              </a:rPr>
              <a:t>Generally Available: Azure Monitor dashboards with Grafana in Public, Government (Fairfax) and China</a:t>
            </a:r>
            <a:endParaRPr lang="en-US" dirty="0"/>
          </a:p>
          <a:p>
            <a:pPr algn="just"/>
            <a:r>
              <a:rPr lang="en-US" dirty="0"/>
              <a:t>Azure Monitor dashboards with Grafana are now generally available, bringing native Grafana visualization capabilities directly into the Azure Portal. Organizations can create and manage Grafana dashboards without deploying separate infrastructure, simplifying observability operations. The solution supports visualization of Azure Monitor metrics, logs, traces, Prometheus, Azure Resource Graph, and Azure Data Explorer data within a unified experience. It also includes enhanced integrations for services such as AKS, Application Insights, and PostgreSQL, along with additional prebuilt dashboards. Support for advanced workflows like Grafana Explore and Kubernetes monitoring improves troubleshooting and analysis. The service is available across Azure Public, Government, and China clouds, enabling consistent observability in regulated environments.</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Container Apps Express</a:t>
            </a:r>
            <a:endParaRPr lang="en-US" dirty="0"/>
          </a:p>
          <a:p>
            <a:pPr algn="just"/>
            <a:r>
              <a:rPr lang="en-US" dirty="0"/>
              <a:t>Azure Container Apps Express is now available in public preview. It is the simplest and fastest way to launch and scale powerful applications on Azure, from zero to hyperscale, without infrastructure decisions. It represents the first Azure compute platform purpose-built for agent and developer use alike. </a:t>
            </a:r>
          </a:p>
          <a:p>
            <a:pPr algn="just"/>
            <a:r>
              <a:rPr lang="en-US" dirty="0"/>
              <a:t>Express is based on years of experience running Azure Container Apps at a large scale. We have learned that most developers working on web apps, APIs and agents want to deploy quickly, have automatic scaling, and avoid dealing with complex infrastructure. Express provides these features. It sets up your environment in seconds, can handle any amount of traffic, and removes complicated settings. This helps teams move from writing code to having a production-ready app in just minutes, not hours. </a:t>
            </a:r>
          </a:p>
          <a:p>
            <a:pPr algn="just"/>
            <a:r>
              <a:rPr lang="en-US" dirty="0"/>
              <a:t>Express is purpose-built for workloads serving developers and agents alike. It provides opinionated, production-grade defaults: autoscaling, per-second billing, managed identity, secrets management, custom domains, container registry integration, revision management, and built-in observability. Just bring your container, Azure Container Apps Express handles everything else. </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2"/>
              </a:rPr>
              <a:t>Announcing the General Availability of the Next Generation of Azure Boost</a:t>
            </a:r>
            <a:endParaRPr lang="en-US" dirty="0"/>
          </a:p>
          <a:p>
            <a:pPr algn="just"/>
            <a:r>
              <a:rPr lang="en-US" dirty="0"/>
              <a:t>The new </a:t>
            </a:r>
            <a:r>
              <a:rPr lang="en-US" b="1" dirty="0"/>
              <a:t>Azure Esv7, Dsv7, and Dlsv7 VM families</a:t>
            </a:r>
            <a:r>
              <a:rPr lang="en-US" dirty="0"/>
              <a:t> are now generally available, powered by a new generation of </a:t>
            </a:r>
            <a:r>
              <a:rPr lang="en-US" b="1" dirty="0"/>
              <a:t>Azure Boost</a:t>
            </a:r>
            <a:r>
              <a:rPr lang="en-US" dirty="0"/>
              <a:t> hardware acceleration technology. This platform introduces a redesigned architecture with a </a:t>
            </a:r>
            <a:r>
              <a:rPr lang="en-US" b="1" dirty="0"/>
              <a:t>custom ASIC/FPGA accelerator, Microsoft Azure Network Adapter (MANA), and isolated control-plane SoC</a:t>
            </a:r>
            <a:r>
              <a:rPr lang="en-US" dirty="0"/>
              <a:t>, delivering significant gains in networking, storage, and compute performance. The VMs support up to </a:t>
            </a:r>
            <a:r>
              <a:rPr lang="en-US" b="1" dirty="0"/>
              <a:t>400 Gbps networking, 800K remote storage IOPS, and millions of local </a:t>
            </a:r>
            <a:r>
              <a:rPr lang="en-US" b="1" dirty="0" err="1"/>
              <a:t>NVMe</a:t>
            </a:r>
            <a:r>
              <a:rPr lang="en-US" b="1" dirty="0"/>
              <a:t> IOPS</a:t>
            </a:r>
            <a:r>
              <a:rPr lang="en-US" dirty="0"/>
              <a:t>, making them suitable for databases, AI, analytics, and high-throughput workloads. Azure Boost also strengthens security with </a:t>
            </a:r>
            <a:r>
              <a:rPr lang="en-US" b="1" dirty="0"/>
              <a:t>hardware-rooted trust and confidential I/O capabilities</a:t>
            </a:r>
            <a:r>
              <a:rPr lang="en-US" dirty="0"/>
              <a:t> built directly into silicon. The platform reduces virtualization overhead, returning more CPU capacity to customer workloads while improving latency and efficiency. These VM families are the first to expose the next-generation Azure Boost capabilities, with additional features planned for future releases. </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pPr algn="just"/>
            <a:r>
              <a:rPr lang="en-US" sz="1000" dirty="0">
                <a:hlinkClick r:id="rId2"/>
              </a:rPr>
              <a:t>Generally Available: Azure Blob Storage SDK for Rust</a:t>
            </a:r>
            <a:endParaRPr lang="en-US" sz="1000" dirty="0"/>
          </a:p>
          <a:p>
            <a:pPr algn="just"/>
            <a:r>
              <a:rPr lang="en-US" sz="1000" dirty="0"/>
              <a:t>The Azure Blob Storage SDK for Rust is now generally available. The Rust SDK allows you to connect to an Azure Blob Storage account and perform operations on containers and blobs, including uploading, downloading, listing, and managing blobs. This release brings production-grade capabilities for secure, reliable access to Blob Storage from Rust, such as Microsoft Entra ID authentication, automatic retries on transient failures, and distributed tracing through </a:t>
            </a:r>
            <a:r>
              <a:rPr lang="en-US" sz="1000" dirty="0" err="1"/>
              <a:t>OpenTelemetry</a:t>
            </a:r>
            <a:r>
              <a:rPr lang="en-US" sz="1000" dirty="0"/>
              <a:t>. You now have stable APIs backed by </a:t>
            </a:r>
            <a:r>
              <a:rPr lang="en-US" sz="1000" dirty="0" err="1"/>
              <a:t>semver</a:t>
            </a:r>
            <a:r>
              <a:rPr lang="en-US" sz="1000" dirty="0"/>
              <a:t> guarantees, a pluggable async runtime, and the same familiar design patterns used across the Azure SDKs for .NET, Java, Python, JavaScript, Go, and C++. </a:t>
            </a:r>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pPr algn="just"/>
            <a:r>
              <a:rPr lang="en-US" dirty="0">
                <a:hlinkClick r:id="rId3"/>
              </a:rPr>
              <a:t>Generally Available: Support for workloads with large files in Azure NetApp Files</a:t>
            </a:r>
            <a:endParaRPr lang="en-US" dirty="0"/>
          </a:p>
          <a:p>
            <a:pPr algn="just"/>
            <a:r>
              <a:rPr lang="en-US" dirty="0"/>
              <a:t>To support seamless migration and operation of workloads that use large files including Azure VMware Solution (AVS) virtual machines with large VMDK disks, </a:t>
            </a:r>
            <a:r>
              <a:rPr lang="en-US" u="sng" dirty="0">
                <a:hlinkClick r:id="rId4"/>
              </a:rPr>
              <a:t>Azure NetApp Files now supports file sizes of up to 64 TiB for regular volume</a:t>
            </a:r>
            <a:r>
              <a:rPr lang="en-US" dirty="0"/>
              <a:t>s. This enhancement enables the migration of on‑premises workloads with large virtual machine disks to Azure VMware Solution and supports ongoing operation of data‑intensive workloads in Azure. The capability is available in all Azure NetApp Files enabled regions across the Flexible, Standard, Premium, and Ultra service levels.  </a:t>
            </a:r>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pPr algn="just"/>
            <a:r>
              <a:rPr lang="en-US" dirty="0">
                <a:hlinkClick r:id="rId2"/>
              </a:rPr>
              <a:t>Generally Available: Managed Identity Support for Azure Files SMB Is now GA</a:t>
            </a:r>
            <a:endParaRPr lang="en-US" dirty="0"/>
          </a:p>
          <a:p>
            <a:pPr algn="just"/>
            <a:r>
              <a:rPr lang="en-US" dirty="0"/>
              <a:t>Azure Files now supports Managed Identities for SMB access, enabling applications and services to authenticate without storing static credentials or account keys. This feature aligns with Zero Trust principles, allowing workloads to use Entra-issued tokens for secure, short-lived access to file shares.  </a:t>
            </a:r>
          </a:p>
          <a:p>
            <a:pPr algn="just"/>
            <a:r>
              <a:rPr lang="en-US" dirty="0"/>
              <a:t>By leveraging Managed Identities, organizations can eliminate service principal secrets and reduce credential sprawl, simplifying compliance and improving security posture.</a:t>
            </a:r>
          </a:p>
          <a:p>
            <a:pPr algn="just"/>
            <a:r>
              <a:rPr lang="en-US" dirty="0"/>
              <a:t>This capability is especially impactful for cloud-native workloads that require persistent storage, including:  </a:t>
            </a:r>
          </a:p>
          <a:p>
            <a:pPr marL="171450" indent="-171450" algn="just">
              <a:buFont typeface="Arial" panose="020B0604020202020204" pitchFamily="34" charset="0"/>
              <a:buChar char="•"/>
            </a:pPr>
            <a:r>
              <a:rPr lang="en-US" dirty="0"/>
              <a:t>AKS clusters with persistent volumes with managed and workload identities  </a:t>
            </a:r>
          </a:p>
          <a:p>
            <a:pPr marL="171450" indent="-171450" algn="just">
              <a:buFont typeface="Arial" panose="020B0604020202020204" pitchFamily="34" charset="0"/>
              <a:buChar char="•"/>
            </a:pPr>
            <a:r>
              <a:rPr lang="en-US" dirty="0"/>
              <a:t>CI/CD pipelines and automation scripts  </a:t>
            </a:r>
          </a:p>
          <a:p>
            <a:pPr marL="171450" indent="-171450" algn="just">
              <a:buFont typeface="Arial" panose="020B0604020202020204" pitchFamily="34" charset="0"/>
              <a:buChar char="•"/>
            </a:pPr>
            <a:r>
              <a:rPr lang="en-US" dirty="0"/>
              <a:t>Native Application or VM (device) identity access  </a:t>
            </a:r>
          </a:p>
          <a:p>
            <a:pPr algn="just"/>
            <a:r>
              <a:rPr lang="en-US" dirty="0"/>
              <a:t>Managed Identities provide seamless integration with Azure RBAC, enabling fine-grained access control and centralized policy enforcement without manual key rotation. </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78F22-A9E3-2B6E-58E1-F0D0E1E104E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0409C6D-0E1D-A764-A4B4-2D3FADB4EE00}"/>
              </a:ext>
            </a:extLst>
          </p:cNvPr>
          <p:cNvSpPr>
            <a:spLocks noGrp="1"/>
          </p:cNvSpPr>
          <p:nvPr>
            <p:ph type="body" sz="quarter" idx="10"/>
          </p:nvPr>
        </p:nvSpPr>
        <p:spPr/>
        <p:txBody>
          <a:bodyPr/>
          <a:lstStyle/>
          <a:p>
            <a:pPr algn="just"/>
            <a:r>
              <a:rPr lang="en-US" sz="1000" dirty="0">
                <a:hlinkClick r:id="rId2"/>
              </a:rPr>
              <a:t>Update: 99.99% uptime for all Azure Service Bus Premium namespaces in Availability Zone regions</a:t>
            </a:r>
            <a:endParaRPr lang="en-US" sz="1000" dirty="0"/>
          </a:p>
          <a:p>
            <a:pPr algn="just"/>
            <a:r>
              <a:rPr lang="en-US" sz="1000" dirty="0"/>
              <a:t>Starting May 1, 2026, all </a:t>
            </a:r>
            <a:r>
              <a:rPr lang="en-US" sz="1000" b="1" dirty="0"/>
              <a:t>Azure Service Bus Premium namespaces</a:t>
            </a:r>
            <a:r>
              <a:rPr lang="en-US" sz="1000" dirty="0"/>
              <a:t> deployed in </a:t>
            </a:r>
            <a:r>
              <a:rPr lang="en-US" sz="1000" b="1" dirty="0"/>
              <a:t>Availability Zone (AZ) regions</a:t>
            </a:r>
            <a:r>
              <a:rPr lang="en-US" sz="1000" dirty="0"/>
              <a:t> will automatically qualify for a </a:t>
            </a:r>
            <a:r>
              <a:rPr lang="en-US" sz="1000" b="1" dirty="0"/>
              <a:t>99.99% uptime SLA</a:t>
            </a:r>
            <a:r>
              <a:rPr lang="en-US" sz="1000" dirty="0"/>
              <a:t>. The previous requirement to enable </a:t>
            </a:r>
            <a:r>
              <a:rPr lang="en-US" sz="1000" b="1" dirty="0"/>
              <a:t>partitioned namespaces</a:t>
            </a:r>
            <a:r>
              <a:rPr lang="en-US" sz="1000" dirty="0"/>
              <a:t> for the higher SLA has been removed. Premium namespaces in AZ-enabled regions already run across </a:t>
            </a:r>
            <a:r>
              <a:rPr lang="en-US" sz="1000" b="1" dirty="0"/>
              <a:t>multiple physically separate datacenters</a:t>
            </a:r>
            <a:r>
              <a:rPr lang="en-US" sz="1000" dirty="0"/>
              <a:t>, improving resiliency against datacenter failures. No configuration changes are required for existing deployments to benefit from the updated SLA. Partitioned namespaces remain available for workloads requiring </a:t>
            </a:r>
            <a:r>
              <a:rPr lang="en-US" sz="1000" b="1" dirty="0"/>
              <a:t>higher throughput and broker distribution</a:t>
            </a:r>
            <a:r>
              <a:rPr lang="en-US" sz="1000" dirty="0"/>
              <a:t>, but are no longer tied to SLA eligibility.</a:t>
            </a:r>
          </a:p>
        </p:txBody>
      </p:sp>
      <p:sp>
        <p:nvSpPr>
          <p:cNvPr id="11" name="Title 10">
            <a:extLst>
              <a:ext uri="{FF2B5EF4-FFF2-40B4-BE49-F238E27FC236}">
                <a16:creationId xmlns:a16="http://schemas.microsoft.com/office/drawing/2014/main" id="{1A1E796A-EE79-410E-046D-1D63E445E96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ED4F9DC-B482-0291-E516-FC62C0D1927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3960749-A6C0-6C05-2CF4-B9E16BFA36F2}"/>
              </a:ext>
            </a:extLst>
          </p:cNvPr>
          <p:cNvSpPr>
            <a:spLocks noGrp="1"/>
          </p:cNvSpPr>
          <p:nvPr>
            <p:ph type="body" sz="quarter" idx="16"/>
          </p:nvPr>
        </p:nvSpPr>
        <p:spPr/>
        <p:txBody>
          <a:bodyPr/>
          <a:lstStyle/>
          <a:p>
            <a:pPr algn="just"/>
            <a:r>
              <a:rPr lang="en-US" dirty="0">
                <a:hlinkClick r:id="rId3"/>
              </a:rPr>
              <a:t>Announcing general availability of confidential computing for Azure Service Bus Premium</a:t>
            </a:r>
            <a:endParaRPr lang="en-US" dirty="0"/>
          </a:p>
          <a:p>
            <a:pPr algn="just"/>
            <a:r>
              <a:rPr lang="en-US" dirty="0"/>
              <a:t>Confidential computing for </a:t>
            </a:r>
            <a:r>
              <a:rPr lang="en-US" b="1" dirty="0"/>
              <a:t>Azure Service Bus Premium</a:t>
            </a:r>
            <a:r>
              <a:rPr lang="en-US" dirty="0"/>
              <a:t> is now generally available, enabling message processing inside </a:t>
            </a:r>
            <a:r>
              <a:rPr lang="en-US" b="1" dirty="0"/>
              <a:t>hardware-based Trusted Execution Environments (TEEs)</a:t>
            </a:r>
            <a:r>
              <a:rPr lang="en-US" dirty="0"/>
              <a:t>. This adds protection for </a:t>
            </a:r>
            <a:r>
              <a:rPr lang="en-US" b="1" dirty="0"/>
              <a:t>data in use</a:t>
            </a:r>
            <a:r>
              <a:rPr lang="en-US" dirty="0"/>
              <a:t>, complementing existing encryption at rest and in transit. All queues, topics, and subscriptions within the namespace automatically benefit from hardware-isolated processing without requiring application changes. The feature is configured at the </a:t>
            </a:r>
            <a:r>
              <a:rPr lang="en-US" b="1" dirty="0"/>
              <a:t>namespace level</a:t>
            </a:r>
            <a:r>
              <a:rPr lang="en-US" dirty="0"/>
              <a:t> and remains immutable after creation. It is especially valuable for </a:t>
            </a:r>
            <a:r>
              <a:rPr lang="en-US" b="1" dirty="0"/>
              <a:t>regulated and sensitive workloads</a:t>
            </a:r>
            <a:r>
              <a:rPr lang="en-US" dirty="0"/>
              <a:t> requiring stronger security guarantees. Combined with </a:t>
            </a:r>
            <a:r>
              <a:rPr lang="en-US" b="1" dirty="0"/>
              <a:t>customer-managed keys, private endpoints, and managed identities</a:t>
            </a:r>
            <a:r>
              <a:rPr lang="en-US" dirty="0"/>
              <a:t>, it provides a defense-in-depth security model for enterprise messaging workloads.</a:t>
            </a:r>
          </a:p>
        </p:txBody>
      </p:sp>
    </p:spTree>
    <p:extLst>
      <p:ext uri="{BB962C8B-B14F-4D97-AF65-F5344CB8AC3E}">
        <p14:creationId xmlns:p14="http://schemas.microsoft.com/office/powerpoint/2010/main" val="5829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027F4-E37F-9EF5-D9EA-7AA6B2B87EE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B3499D8-7C6B-2114-C57A-CC1635D22640}"/>
              </a:ext>
            </a:extLst>
          </p:cNvPr>
          <p:cNvSpPr>
            <a:spLocks noGrp="1"/>
          </p:cNvSpPr>
          <p:nvPr>
            <p:ph type="body" sz="quarter" idx="10"/>
          </p:nvPr>
        </p:nvSpPr>
        <p:spPr/>
        <p:txBody>
          <a:bodyPr/>
          <a:lstStyle/>
          <a:p>
            <a:pPr algn="just"/>
            <a:r>
              <a:rPr lang="en-US" sz="1000" dirty="0">
                <a:hlinkClick r:id="rId2"/>
              </a:rPr>
              <a:t>Stripe Events + Azure Event Grid: Now Generally Available</a:t>
            </a:r>
            <a:endParaRPr lang="en-US" sz="1000" dirty="0"/>
          </a:p>
          <a:p>
            <a:pPr algn="just"/>
            <a:r>
              <a:rPr lang="en-US" sz="1000" dirty="0"/>
              <a:t>Stripe events integration with </a:t>
            </a:r>
            <a:r>
              <a:rPr lang="en-US" sz="1000" b="1" dirty="0"/>
              <a:t>Azure Event Grid</a:t>
            </a:r>
            <a:r>
              <a:rPr lang="en-US" sz="1000" dirty="0"/>
              <a:t> is now generally available, enabling real-time, event-driven payment workflows on Azure. Stripe events such as </a:t>
            </a:r>
            <a:r>
              <a:rPr lang="en-US" sz="1000" b="1" dirty="0"/>
              <a:t>payments, refunds, subscriptions, and disputes</a:t>
            </a:r>
            <a:r>
              <a:rPr lang="en-US" sz="1000" dirty="0"/>
              <a:t> can now be routed directly into Azure without managing custom webhook infrastructure. Organizations can automate workflows using </a:t>
            </a:r>
            <a:r>
              <a:rPr lang="en-US" sz="1000" b="1" dirty="0"/>
              <a:t>Azure Functions and Logic Apps</a:t>
            </a:r>
            <a:r>
              <a:rPr lang="en-US" sz="1000" dirty="0"/>
              <a:t>, stream events for analytics with </a:t>
            </a:r>
            <a:r>
              <a:rPr lang="en-US" sz="1000" b="1" dirty="0"/>
              <a:t>Event Hubs and Microsoft Fabric</a:t>
            </a:r>
            <a:r>
              <a:rPr lang="en-US" sz="1000" dirty="0"/>
              <a:t>, and scale processing through </a:t>
            </a:r>
            <a:r>
              <a:rPr lang="en-US" sz="1000" b="1" dirty="0"/>
              <a:t>Service Bus or Storage Queues</a:t>
            </a:r>
            <a:r>
              <a:rPr lang="en-US" sz="1000" dirty="0"/>
              <a:t>. The integration also supports broadcasting events to multiple consumers using </a:t>
            </a:r>
            <a:r>
              <a:rPr lang="en-US" sz="1000" b="1" dirty="0"/>
              <a:t>Event Grid Namespace Topics</a:t>
            </a:r>
            <a:r>
              <a:rPr lang="en-US" sz="1000" dirty="0"/>
              <a:t>. This simplifies the design of </a:t>
            </a:r>
            <a:r>
              <a:rPr lang="en-US" sz="1000" b="1" dirty="0"/>
              <a:t>scalable, decoupled, and reactive payment architectures</a:t>
            </a:r>
            <a:r>
              <a:rPr lang="en-US" sz="1000" dirty="0"/>
              <a:t> on Azure.</a:t>
            </a:r>
          </a:p>
        </p:txBody>
      </p:sp>
      <p:sp>
        <p:nvSpPr>
          <p:cNvPr id="11" name="Title 10">
            <a:extLst>
              <a:ext uri="{FF2B5EF4-FFF2-40B4-BE49-F238E27FC236}">
                <a16:creationId xmlns:a16="http://schemas.microsoft.com/office/drawing/2014/main" id="{9A87B58C-445F-0F9C-16BF-B45E2CAC6389}"/>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CD428E81-1DDF-1C0F-CE1C-114C2430C20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256488B-5839-91E1-8F71-2D334A0D3442}"/>
              </a:ext>
            </a:extLst>
          </p:cNvPr>
          <p:cNvSpPr>
            <a:spLocks noGrp="1"/>
          </p:cNvSpPr>
          <p:nvPr>
            <p:ph type="body" sz="quarter" idx="16"/>
          </p:nvPr>
        </p:nvSpPr>
        <p:spPr/>
        <p:txBody>
          <a:bodyPr/>
          <a:lstStyle/>
          <a:p>
            <a:pPr algn="just"/>
            <a:r>
              <a:rPr lang="en-US" dirty="0">
                <a:hlinkClick r:id="rId3"/>
              </a:rPr>
              <a:t>Generally Available: Confidential computing for Azure Service Bus Premium</a:t>
            </a:r>
            <a:endParaRPr lang="en-US" dirty="0"/>
          </a:p>
          <a:p>
            <a:pPr algn="just"/>
            <a:r>
              <a:rPr lang="en-US" dirty="0"/>
              <a:t>Confidential computing for </a:t>
            </a:r>
            <a:r>
              <a:rPr lang="en-US" b="1" dirty="0"/>
              <a:t>Azure Service Bus Premium</a:t>
            </a:r>
            <a:r>
              <a:rPr lang="en-US" dirty="0"/>
              <a:t> is now generally available in </a:t>
            </a:r>
            <a:r>
              <a:rPr lang="en-US" b="1" dirty="0"/>
              <a:t>Korea Central and UAE North</a:t>
            </a:r>
            <a:r>
              <a:rPr lang="en-US" dirty="0"/>
              <a:t>. It enables message processing inside </a:t>
            </a:r>
            <a:r>
              <a:rPr lang="en-US" b="1" dirty="0"/>
              <a:t>hardware-based Trusted Execution Environments (TEEs)</a:t>
            </a:r>
            <a:r>
              <a:rPr lang="en-US" dirty="0"/>
              <a:t>, protecting </a:t>
            </a:r>
            <a:r>
              <a:rPr lang="en-US" b="1" dirty="0"/>
              <a:t>data in use</a:t>
            </a:r>
            <a:r>
              <a:rPr lang="en-US" dirty="0"/>
              <a:t> in addition to encryption at rest and in transit. The capability provides </a:t>
            </a:r>
            <a:r>
              <a:rPr lang="en-US" b="1" dirty="0"/>
              <a:t>hardware-level isolation</a:t>
            </a:r>
            <a:r>
              <a:rPr lang="en-US" dirty="0"/>
              <a:t> for queues, topics, and subscriptions without requiring application changes. It integrates with existing security features such as </a:t>
            </a:r>
            <a:r>
              <a:rPr lang="en-US" b="1" dirty="0"/>
              <a:t>customer-managed keys, private endpoints, managed identities, and TLS encryption</a:t>
            </a:r>
            <a:r>
              <a:rPr lang="en-US" dirty="0"/>
              <a:t>. For highly regulated workloads, combining confidential computing with </a:t>
            </a:r>
            <a:r>
              <a:rPr lang="en-US" b="1" dirty="0"/>
              <a:t>Azure Key Vault Managed HSM</a:t>
            </a:r>
            <a:r>
              <a:rPr lang="en-US" dirty="0"/>
              <a:t> delivers end-to-end protection across data at rest, in transit, and in use.</a:t>
            </a:r>
          </a:p>
        </p:txBody>
      </p:sp>
    </p:spTree>
    <p:extLst>
      <p:ext uri="{BB962C8B-B14F-4D97-AF65-F5344CB8AC3E}">
        <p14:creationId xmlns:p14="http://schemas.microsoft.com/office/powerpoint/2010/main" val="80628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Introducing Grok 4.3 on Microsoft Foundry: Latest Generation Agentic Capabilities</a:t>
            </a:r>
            <a:endParaRPr lang="en-US" sz="1000" dirty="0"/>
          </a:p>
          <a:p>
            <a:pPr algn="just"/>
            <a:r>
              <a:rPr lang="en-US" sz="1000" dirty="0"/>
              <a:t>Grok 4.3 is now available in Microsoft Foundry, providing enterprises with a powerful model optimized for agentic AI workflows and advanced reasoning tasks. The model supports tool calling, long-context conversations (up to 200k tokens), multimodal analysis, and reduced hallucination, making it suitable for production-grade AI agents. It also includes native capabilities such as web search, Python execution, RAG-based file search, and document generation for end-to-end workflows. Grok 4.3 demonstrates strong performance in domains like software development, legal analysis, and financial reasoning. Running within Microsoft Foundry enables organizations to leverage enterprise governance, monitoring, and operational controls while experimenting and deploying AI solutions at scale.</a:t>
            </a:r>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Public Preview Update: Azure Copilot Observability Agent</a:t>
            </a:r>
            <a:endParaRPr lang="en-US" dirty="0"/>
          </a:p>
          <a:p>
            <a:pPr algn="just"/>
            <a:r>
              <a:rPr lang="en-US" dirty="0"/>
              <a:t>The </a:t>
            </a:r>
            <a:r>
              <a:rPr lang="en-US" b="1" dirty="0"/>
              <a:t>Azure Monitor Observability Agent</a:t>
            </a:r>
            <a:r>
              <a:rPr lang="en-US" dirty="0"/>
              <a:t> provides an AI-powered chat experience to help teams investigate telemetry across metrics, logs, traces, alerts, and platform signals. It supports deep investigations across </a:t>
            </a:r>
            <a:r>
              <a:rPr lang="en-US" b="1" dirty="0"/>
              <a:t>applications, AKS, virtual machines, infrastructure, and Azure platform events</a:t>
            </a:r>
            <a:r>
              <a:rPr lang="en-US" dirty="0"/>
              <a:t>. The agent correlates anomalies using ML and LLM reasoning to identify likely root causes and recommend next steps. Investigations can start directly from Azure Monitor alerts, logs, activity logs, or agent chat. It generates structured reports with findings, supporting signals, queries, and recommended actions. This helps reduce troubleshooting time, operational toil, and customer impact during incidents.</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From beta to stable: Announcing the Azure SDK for Rust</a:t>
            </a:r>
            <a:endParaRPr lang="ru-RU" dirty="0"/>
          </a:p>
          <a:p>
            <a:pPr algn="just"/>
            <a:r>
              <a:rPr lang="en-US" dirty="0"/>
              <a:t>The </a:t>
            </a:r>
            <a:r>
              <a:rPr lang="en-US" b="1" dirty="0"/>
              <a:t>Azure SDK for Rust</a:t>
            </a:r>
            <a:r>
              <a:rPr lang="en-US" dirty="0"/>
              <a:t> is now officially stable, providing production-ready libraries with </a:t>
            </a:r>
            <a:r>
              <a:rPr lang="en-US" b="1" dirty="0"/>
              <a:t>stable APIs and semantic versioning guarantees</a:t>
            </a:r>
            <a:r>
              <a:rPr lang="en-US" dirty="0"/>
              <a:t>. The release includes support for core Azure services such as </a:t>
            </a:r>
            <a:r>
              <a:rPr lang="en-US" b="1" dirty="0"/>
              <a:t>Identity, Key Vault, and Storage Blobs/Queues</a:t>
            </a:r>
            <a:r>
              <a:rPr lang="en-US" dirty="0"/>
              <a:t>, enabling developers to build secure, high-performance Rust applications on Azure. The SDK emphasizes </a:t>
            </a:r>
            <a:r>
              <a:rPr lang="en-US" b="1" dirty="0"/>
              <a:t>low memory usage, fast startup times, and compile-time safety</a:t>
            </a:r>
            <a:r>
              <a:rPr lang="en-US" dirty="0"/>
              <a:t>, making it well suited for containers, edge computing, and event-driven workloads. It also introduces improvements such as </a:t>
            </a:r>
            <a:r>
              <a:rPr lang="en-US" b="1" dirty="0"/>
              <a:t>unified async primitives, automatic retries, managed identity support, and </a:t>
            </a:r>
            <a:r>
              <a:rPr lang="en-US" b="1" dirty="0" err="1"/>
              <a:t>OpenTelemetry</a:t>
            </a:r>
            <a:r>
              <a:rPr lang="en-US" b="1" dirty="0"/>
              <a:t>-based observability</a:t>
            </a:r>
            <a:r>
              <a:rPr lang="en-US" dirty="0"/>
              <a:t>. Developers benefit from familiar Azure SDK patterns consistent with other languages while leveraging Rust’s performance and safety advantages. Additional services such as </a:t>
            </a:r>
            <a:r>
              <a:rPr lang="en-US" b="1" dirty="0"/>
              <a:t>Event Hubs and Cosmos DB</a:t>
            </a:r>
            <a:r>
              <a:rPr lang="en-US" dirty="0"/>
              <a:t> are planned for future stable releases.</a:t>
            </a:r>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544</TotalTime>
  <Words>2351</Words>
  <Application>Microsoft Office PowerPoint</Application>
  <PresentationFormat>On-screen Show (16:9)</PresentationFormat>
  <Paragraphs>82</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Human Sans</vt:lpstr>
      <vt:lpstr>Human Sans Regular</vt:lpstr>
      <vt:lpstr>Continuum Theme</vt:lpstr>
      <vt:lpstr>Azure Times #206</vt:lpstr>
      <vt:lpstr>PowerPoint Presentation</vt:lpstr>
      <vt:lpstr>Networking Updates</vt:lpstr>
      <vt:lpstr>PowerPoint Presentation</vt:lpstr>
      <vt:lpstr>Security &amp; Identity Updates</vt:lpstr>
      <vt:lpstr>Security &amp; Identity Updates</vt:lpstr>
      <vt:lpstr>PowerPoint Presentation</vt:lpstr>
      <vt:lpstr>Management &amp; Governance Updates</vt:lpstr>
      <vt:lpstr>PowerPoint Presentation</vt:lpstr>
      <vt:lpstr>Compute Updates</vt:lpstr>
      <vt:lpstr>Compute Updates</vt:lpstr>
      <vt:lpstr>PowerPoint Presentation</vt:lpstr>
      <vt:lpstr>Storage &amp; Data Updates</vt:lpstr>
      <vt:lpstr>Storage &amp; Data Updates</vt:lpstr>
      <vt:lpstr>PowerPoint Presentation</vt:lpstr>
      <vt:lpstr>Integration Updates</vt:lpstr>
      <vt:lpstr>Integration Updates</vt:lpstr>
      <vt:lpstr>PowerPoint Presentation</vt:lpstr>
      <vt:lpstr>ML &amp; AI &amp; IOT Updates</vt:lpstr>
      <vt:lpstr>PowerPoint Presentation</vt:lpstr>
      <vt:lpstr>DevOps &amp; IaC &amp; Automation</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112</cp:revision>
  <dcterms:created xsi:type="dcterms:W3CDTF">2018-01-26T19:23:30Z</dcterms:created>
  <dcterms:modified xsi:type="dcterms:W3CDTF">2026-05-17T18:21:22Z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