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4"/>
  </p:sldMasterIdLst>
  <p:notesMasterIdLst>
    <p:notesMasterId r:id="rId37"/>
  </p:notesMasterIdLst>
  <p:handoutMasterIdLst>
    <p:handoutMasterId r:id="rId38"/>
  </p:handoutMasterIdLst>
  <p:sldIdLst>
    <p:sldId id="2142532340" r:id="rId5"/>
    <p:sldId id="2146847046" r:id="rId6"/>
    <p:sldId id="2146847089" r:id="rId7"/>
    <p:sldId id="2146847130" r:id="rId8"/>
    <p:sldId id="2146847129" r:id="rId9"/>
    <p:sldId id="2146847128" r:id="rId10"/>
    <p:sldId id="2146847157" r:id="rId11"/>
    <p:sldId id="2146847158" r:id="rId12"/>
    <p:sldId id="2146847048" r:id="rId13"/>
    <p:sldId id="2146847132" r:id="rId14"/>
    <p:sldId id="2146847050" r:id="rId15"/>
    <p:sldId id="2146847096" r:id="rId16"/>
    <p:sldId id="2146847052" r:id="rId17"/>
    <p:sldId id="2146847100" r:id="rId18"/>
    <p:sldId id="2146847156" r:id="rId19"/>
    <p:sldId id="2146847137" r:id="rId20"/>
    <p:sldId id="2146847054" r:id="rId21"/>
    <p:sldId id="2146847103" r:id="rId22"/>
    <p:sldId id="2146847141" r:id="rId23"/>
    <p:sldId id="2146847142" r:id="rId24"/>
    <p:sldId id="2146847056" r:id="rId25"/>
    <p:sldId id="2146847143" r:id="rId26"/>
    <p:sldId id="2146847058" r:id="rId27"/>
    <p:sldId id="2146847111" r:id="rId28"/>
    <p:sldId id="2146847146" r:id="rId29"/>
    <p:sldId id="2146847119" r:id="rId30"/>
    <p:sldId id="2146847120" r:id="rId31"/>
    <p:sldId id="2146847062" r:id="rId32"/>
    <p:sldId id="2146847115" r:id="rId33"/>
    <p:sldId id="2146847085" r:id="rId34"/>
    <p:sldId id="2146847084" r:id="rId35"/>
    <p:sldId id="2146847064" r:id="rId36"/>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752CF65-4D58-4370-B229-5F4CB000B44D}">
          <p14:sldIdLst>
            <p14:sldId id="2142532340"/>
          </p14:sldIdLst>
        </p14:section>
        <p14:section name="Networking" id="{8B3AEA99-85F7-477B-B976-48DC47AA1A88}">
          <p14:sldIdLst/>
        </p14:section>
        <p14:section name="Security &amp; Identity" id="{1AA42572-B3BD-44F7-813B-C2C647DDBB3C}">
          <p14:sldIdLst>
            <p14:sldId id="2146847046"/>
            <p14:sldId id="2146847089"/>
            <p14:sldId id="2146847130"/>
            <p14:sldId id="2146847129"/>
            <p14:sldId id="2146847128"/>
            <p14:sldId id="2146847157"/>
            <p14:sldId id="2146847158"/>
          </p14:sldIdLst>
        </p14:section>
        <p14:section name="Management &amp; Governance" id="{34181601-6D48-4406-A525-C7B5A12C6C5B}">
          <p14:sldIdLst>
            <p14:sldId id="2146847048"/>
            <p14:sldId id="2146847132"/>
          </p14:sldIdLst>
        </p14:section>
        <p14:section name="Compute" id="{05AA80BB-8802-49AB-8336-A884227CE2F7}">
          <p14:sldIdLst>
            <p14:sldId id="2146847050"/>
            <p14:sldId id="2146847096"/>
          </p14:sldIdLst>
        </p14:section>
        <p14:section name="Storage &amp; Data" id="{1F159046-CE0A-45BC-9D5B-6E6C95980F78}">
          <p14:sldIdLst>
            <p14:sldId id="2146847052"/>
            <p14:sldId id="2146847100"/>
            <p14:sldId id="2146847156"/>
            <p14:sldId id="2146847137"/>
          </p14:sldIdLst>
        </p14:section>
        <p14:section name="Databases" id="{AEAFAE72-AD56-48F3-926B-38BAE269038F}">
          <p14:sldIdLst>
            <p14:sldId id="2146847054"/>
            <p14:sldId id="2146847103"/>
            <p14:sldId id="2146847141"/>
            <p14:sldId id="2146847142"/>
          </p14:sldIdLst>
        </p14:section>
        <p14:section name="Integration" id="{ACBD46A3-6F1C-451B-A154-0A056E0DEFF6}">
          <p14:sldIdLst>
            <p14:sldId id="2146847056"/>
            <p14:sldId id="2146847143"/>
          </p14:sldIdLst>
        </p14:section>
        <p14:section name="ML &amp; AI &amp; IOT" id="{F4E1EAF1-55E9-4CA4-8ADC-28B69C1D66D2}">
          <p14:sldIdLst>
            <p14:sldId id="2146847058"/>
            <p14:sldId id="2146847111"/>
            <p14:sldId id="2146847146"/>
            <p14:sldId id="2146847119"/>
            <p14:sldId id="2146847120"/>
          </p14:sldIdLst>
        </p14:section>
        <p14:section name="Miscellaneous" id="{A1456D7A-93BE-4023-90AA-7269D2F177BA}">
          <p14:sldIdLst>
            <p14:sldId id="2146847062"/>
            <p14:sldId id="2146847115"/>
          </p14:sldIdLst>
        </p14:section>
        <p14:section name="End" id="{82899442-2AC4-4699-95EB-48D45B913575}">
          <p14:sldIdLst>
            <p14:sldId id="2146847085"/>
            <p14:sldId id="2146847084"/>
            <p14:sldId id="2146847064"/>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736" userDrawn="1">
          <p15:clr>
            <a:srgbClr val="A4A3A4"/>
          </p15:clr>
        </p15:guide>
        <p15:guide id="2" pos="1477"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Emily Catuzzi" initials="EC" lastIdx="19" clrIdx="9">
    <p:extLst>
      <p:ext uri="{19B8F6BF-5375-455C-9EA6-DF929625EA0E}">
        <p15:presenceInfo xmlns:p15="http://schemas.microsoft.com/office/powerpoint/2012/main" userId="S::Emily_Catuzzi@epam.com::b46d6ad4-ac70-4125-82a7-0ece5134c360" providerId="AD"/>
      </p:ext>
    </p:extLst>
  </p:cmAuthor>
  <p:cmAuthor id="1" name="Laura Brady" initials="LB" lastIdx="52" clrIdx="3">
    <p:extLst>
      <p:ext uri="{19B8F6BF-5375-455C-9EA6-DF929625EA0E}">
        <p15:presenceInfo xmlns:p15="http://schemas.microsoft.com/office/powerpoint/2012/main" userId="S::Laura_Brady@epam.com::b18c91b0-83fb-4c27-875b-18626d50463b" providerId="AD"/>
      </p:ext>
    </p:extLst>
  </p:cmAuthor>
  <p:cmAuthor id="8" name="Gretchen Rice" initials="GR" lastIdx="4" clrIdx="10">
    <p:extLst>
      <p:ext uri="{19B8F6BF-5375-455C-9EA6-DF929625EA0E}">
        <p15:presenceInfo xmlns:p15="http://schemas.microsoft.com/office/powerpoint/2012/main" userId="S::gretchen_rice@epam.com::e279efbb-a837-440d-b0bd-684dd084c605" providerId="AD"/>
      </p:ext>
    </p:extLst>
  </p:cmAuthor>
  <p:cmAuthor id="2" name="Amy Legere" initials="AL" lastIdx="5" clrIdx="5">
    <p:extLst>
      <p:ext uri="{19B8F6BF-5375-455C-9EA6-DF929625EA0E}">
        <p15:presenceInfo xmlns:p15="http://schemas.microsoft.com/office/powerpoint/2012/main" userId="S::Amy_Legere@epam.com::36c3e91a-2059-4c30-8d42-5285dd7a2555" providerId="AD"/>
      </p:ext>
    </p:extLst>
  </p:cmAuthor>
  <p:cmAuthor id="9" name="Jennifer Markowitz" initials="JM" lastIdx="1" clrIdx="11">
    <p:extLst>
      <p:ext uri="{19B8F6BF-5375-455C-9EA6-DF929625EA0E}">
        <p15:presenceInfo xmlns:p15="http://schemas.microsoft.com/office/powerpoint/2012/main" userId="S::jennifer_markowitz@epam.com::f9148081-3671-49e1-8328-0a911bc72bfd" providerId="AD"/>
      </p:ext>
    </p:extLst>
  </p:cmAuthor>
  <p:cmAuthor id="3" name="John Hatz" initials="JH" lastIdx="1" clrIdx="4">
    <p:extLst>
      <p:ext uri="{19B8F6BF-5375-455C-9EA6-DF929625EA0E}">
        <p15:presenceInfo xmlns:p15="http://schemas.microsoft.com/office/powerpoint/2012/main" userId="S-1-5-21-2676001572-3131771074-2776907194-23347" providerId="AD"/>
      </p:ext>
    </p:extLst>
  </p:cmAuthor>
  <p:cmAuthor id="10" name="Nastassia Smolskaya" initials="NS" lastIdx="11" clrIdx="12">
    <p:extLst>
      <p:ext uri="{19B8F6BF-5375-455C-9EA6-DF929625EA0E}">
        <p15:presenceInfo xmlns:p15="http://schemas.microsoft.com/office/powerpoint/2012/main" userId="S::Nastassia_Smolskaya@epam.com::8ff1f7bc-3066-491e-a683-ea021ab0c825" providerId="AD"/>
      </p:ext>
    </p:extLst>
  </p:cmAuthor>
  <p:cmAuthor id="4" name="John Hatz" initials="JH [2]" lastIdx="3" clrIdx="6">
    <p:extLst>
      <p:ext uri="{19B8F6BF-5375-455C-9EA6-DF929625EA0E}">
        <p15:presenceInfo xmlns:p15="http://schemas.microsoft.com/office/powerpoint/2012/main" userId="S::john_hatz@epam.com::7f3a8b4b-4b1e-493d-b3f9-196adf0a1de0" providerId="AD"/>
      </p:ext>
    </p:extLst>
  </p:cmAuthor>
  <p:cmAuthor id="5" name="Mariette Kouwenberg-Mooney" initials="MK" lastIdx="19" clrIdx="7">
    <p:extLst>
      <p:ext uri="{19B8F6BF-5375-455C-9EA6-DF929625EA0E}">
        <p15:presenceInfo xmlns:p15="http://schemas.microsoft.com/office/powerpoint/2012/main" userId="S::Mariette_Kouwenberg-Mooney@epam.com::e2a13c51-a5c6-436b-ad7f-addd34212f51" providerId="AD"/>
      </p:ext>
    </p:extLst>
  </p:cmAuthor>
  <p:cmAuthor id="6" name="Julie Hansberry" initials="JH" lastIdx="13" clrIdx="8">
    <p:extLst>
      <p:ext uri="{19B8F6BF-5375-455C-9EA6-DF929625EA0E}">
        <p15:presenceInfo xmlns:p15="http://schemas.microsoft.com/office/powerpoint/2012/main" userId="S::julie_hansberry@epam.com::6cd6a8f9-b761-4260-92e9-1b9e9757868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5D43"/>
    <a:srgbClr val="CADC49"/>
    <a:srgbClr val="E53B2E"/>
    <a:srgbClr val="FFC000"/>
    <a:srgbClr val="D35D47"/>
    <a:srgbClr val="008ACF"/>
    <a:srgbClr val="76CDD8"/>
    <a:srgbClr val="75A0A6"/>
    <a:srgbClr val="569BA5"/>
    <a:srgbClr val="EDC1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B79132-3F09-4EB7-9156-AFD2ABE5B897}" v="37" dt="2021-04-12T18:27:46.9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91" autoAdjust="0"/>
    <p:restoredTop sz="94694"/>
  </p:normalViewPr>
  <p:slideViewPr>
    <p:cSldViewPr snapToGrid="0">
      <p:cViewPr varScale="1">
        <p:scale>
          <a:sx n="199" d="100"/>
          <a:sy n="199" d="100"/>
        </p:scale>
        <p:origin x="3228" y="150"/>
      </p:cViewPr>
      <p:guideLst/>
    </p:cSldViewPr>
  </p:slideViewPr>
  <p:notesTextViewPr>
    <p:cViewPr>
      <p:scale>
        <a:sx n="1" d="1"/>
        <a:sy n="1" d="1"/>
      </p:scale>
      <p:origin x="0" y="0"/>
    </p:cViewPr>
  </p:notesTextViewPr>
  <p:notesViewPr>
    <p:cSldViewPr snapToGrid="0">
      <p:cViewPr varScale="1">
        <p:scale>
          <a:sx n="121" d="100"/>
          <a:sy n="121" d="100"/>
        </p:scale>
        <p:origin x="7662" y="90"/>
      </p:cViewPr>
      <p:guideLst>
        <p:guide orient="horz" pos="2736"/>
        <p:guide pos="1477"/>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commentAuthors" Target="commentAuthor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DC14FC-A894-4869-A797-1EC82735D106}" type="datetimeFigureOut">
              <a:rPr lang="en-US" smtClean="0"/>
              <a:t>1/10/2026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D33E97-F2BE-44DB-A57D-0C85E2CBF508}" type="slidenum">
              <a:rPr lang="en-US" smtClean="0"/>
              <a:t>‹#›</a:t>
            </a:fld>
            <a:endParaRPr lang="en-US"/>
          </a:p>
        </p:txBody>
      </p:sp>
    </p:spTree>
    <p:extLst>
      <p:ext uri="{BB962C8B-B14F-4D97-AF65-F5344CB8AC3E}">
        <p14:creationId xmlns:p14="http://schemas.microsoft.com/office/powerpoint/2010/main" val="2967778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F99C05-63F9-4248-8E20-3ACD9DF9DE7F}" type="datetimeFigureOut">
              <a:rPr lang="en-US" smtClean="0"/>
              <a:t>1/10/2026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74FABB-6DBE-47C4-B626-20167906F475}" type="slidenum">
              <a:rPr lang="en-US" smtClean="0"/>
              <a:t>‹#›</a:t>
            </a:fld>
            <a:endParaRPr lang="en-US"/>
          </a:p>
        </p:txBody>
      </p:sp>
    </p:spTree>
    <p:extLst>
      <p:ext uri="{BB962C8B-B14F-4D97-AF65-F5344CB8AC3E}">
        <p14:creationId xmlns:p14="http://schemas.microsoft.com/office/powerpoint/2010/main" val="427486402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74FABB-6DBE-47C4-B626-20167906F475}" type="slidenum">
              <a:rPr lang="en-US" smtClean="0"/>
              <a:t>1</a:t>
            </a:fld>
            <a:endParaRPr lang="en-US"/>
          </a:p>
        </p:txBody>
      </p:sp>
    </p:spTree>
    <p:extLst>
      <p:ext uri="{BB962C8B-B14F-4D97-AF65-F5344CB8AC3E}">
        <p14:creationId xmlns:p14="http://schemas.microsoft.com/office/powerpoint/2010/main" val="4144144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Cover Tex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42900" y="1200151"/>
            <a:ext cx="8458200" cy="2228850"/>
          </a:xfrm>
        </p:spPr>
        <p:txBody>
          <a:bodyPr lIns="0" tIns="0" rIns="0" bIns="0" anchor="b">
            <a:noAutofit/>
          </a:bodyPr>
          <a:lstStyle>
            <a:lvl1pPr algn="l">
              <a:lnSpc>
                <a:spcPct val="85000"/>
              </a:lnSpc>
              <a:defRPr sz="9000" b="0" i="0">
                <a:solidFill>
                  <a:schemeClr val="accent3"/>
                </a:solidFill>
                <a:latin typeface="+mj-lt"/>
                <a:ea typeface="Human Sans Thin" pitchFamily="2" charset="77"/>
                <a:cs typeface="Human Sans Thin" pitchFamily="2" charset="77"/>
              </a:defRPr>
            </a:lvl1pPr>
          </a:lstStyle>
          <a:p>
            <a:r>
              <a:rPr lang="en-US"/>
              <a:t>Proposal</a:t>
            </a:r>
            <a:br>
              <a:rPr lang="en-US"/>
            </a:br>
            <a:r>
              <a:rPr lang="en-US"/>
              <a:t>Title</a:t>
            </a:r>
          </a:p>
        </p:txBody>
      </p:sp>
      <p:sp>
        <p:nvSpPr>
          <p:cNvPr id="8" name="Text Placeholder 7"/>
          <p:cNvSpPr>
            <a:spLocks noGrp="1"/>
          </p:cNvSpPr>
          <p:nvPr>
            <p:ph type="body" sz="quarter" idx="11" hasCustomPrompt="1"/>
          </p:nvPr>
        </p:nvSpPr>
        <p:spPr>
          <a:xfrm>
            <a:off x="342900" y="3600450"/>
            <a:ext cx="8455914" cy="171450"/>
          </a:xfrm>
        </p:spPr>
        <p:txBody>
          <a:bodyPr lIns="0" tIns="0" rIns="0" bIns="0" anchor="t">
            <a:noAutofit/>
          </a:bodyPr>
          <a:lstStyle>
            <a:lvl1pPr marL="0" indent="0">
              <a:lnSpc>
                <a:spcPct val="100000"/>
              </a:lnSpc>
              <a:spcBef>
                <a:spcPts val="0"/>
              </a:spcBef>
              <a:spcAft>
                <a:spcPts val="0"/>
              </a:spcAft>
              <a:buNone/>
              <a:defRPr sz="1200" b="0" i="0" baseline="0">
                <a:solidFill>
                  <a:schemeClr val="bg1"/>
                </a:solidFill>
                <a:latin typeface="+mn-lt"/>
                <a:ea typeface="Calibri" panose="020F0502020204030204" pitchFamily="34" charset="0"/>
                <a:cs typeface="Calibri" panose="020F0502020204030204" pitchFamily="34" charset="0"/>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r>
              <a:rPr lang="en-US"/>
              <a:t>Subtitle description</a:t>
            </a:r>
          </a:p>
        </p:txBody>
      </p:sp>
      <p:sp>
        <p:nvSpPr>
          <p:cNvPr id="5" name="Text Placeholder 4"/>
          <p:cNvSpPr>
            <a:spLocks noGrp="1"/>
          </p:cNvSpPr>
          <p:nvPr>
            <p:ph type="body" sz="quarter" idx="12" hasCustomPrompt="1"/>
          </p:nvPr>
        </p:nvSpPr>
        <p:spPr>
          <a:xfrm>
            <a:off x="342900" y="3864095"/>
            <a:ext cx="1988344" cy="171450"/>
          </a:xfrm>
        </p:spPr>
        <p:txBody>
          <a:bodyPr/>
          <a:lstStyle>
            <a:lvl1pPr>
              <a:lnSpc>
                <a:spcPct val="100000"/>
              </a:lnSpc>
              <a:spcBef>
                <a:spcPts val="0"/>
              </a:spcBef>
              <a:defRPr sz="900" b="0" i="0" cap="all" baseline="0">
                <a:solidFill>
                  <a:schemeClr val="bg1"/>
                </a:solidFill>
                <a:latin typeface="+mn-lt"/>
              </a:defRPr>
            </a:lvl1pPr>
          </a:lstStyle>
          <a:p>
            <a:pPr lvl="0"/>
            <a:r>
              <a:rPr lang="en-US"/>
              <a:t>Date</a:t>
            </a:r>
          </a:p>
        </p:txBody>
      </p:sp>
    </p:spTree>
    <p:extLst>
      <p:ext uri="{BB962C8B-B14F-4D97-AF65-F5344CB8AC3E}">
        <p14:creationId xmlns:p14="http://schemas.microsoft.com/office/powerpoint/2010/main" val="303777942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p:bg>
      <p:bgPr>
        <a:solidFill>
          <a:schemeClr val="tx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342901" y="3429000"/>
            <a:ext cx="4148137" cy="1200150"/>
          </a:xfrm>
        </p:spPr>
        <p:txBody>
          <a:bodyPr lIns="0" tIns="0" rIns="0" bIns="0" anchor="t">
            <a:normAutofit/>
          </a:bodyPr>
          <a:lstStyle>
            <a:lvl1pPr marL="0" indent="0" algn="l">
              <a:lnSpc>
                <a:spcPct val="110000"/>
              </a:lnSpc>
              <a:spcBef>
                <a:spcPts val="450"/>
              </a:spcBef>
              <a:spcAft>
                <a:spcPts val="0"/>
              </a:spcAft>
              <a:buNone/>
              <a:defRPr sz="900" b="0" i="0" baseline="0">
                <a:solidFill>
                  <a:schemeClr val="bg1"/>
                </a:solidFill>
                <a:latin typeface="+mn-lt"/>
                <a:ea typeface="Calibri" panose="020F0502020204030204" pitchFamily="34" charset="0"/>
                <a:cs typeface="Calibri" panose="020F05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type section description</a:t>
            </a:r>
          </a:p>
        </p:txBody>
      </p:sp>
      <p:sp>
        <p:nvSpPr>
          <p:cNvPr id="8" name="Text Placeholder 7"/>
          <p:cNvSpPr>
            <a:spLocks noGrp="1"/>
          </p:cNvSpPr>
          <p:nvPr>
            <p:ph type="body" sz="quarter" idx="12" hasCustomPrompt="1"/>
          </p:nvPr>
        </p:nvSpPr>
        <p:spPr>
          <a:xfrm>
            <a:off x="342901" y="2743200"/>
            <a:ext cx="6299597" cy="514350"/>
          </a:xfrm>
        </p:spPr>
        <p:txBody>
          <a:bodyPr/>
          <a:lstStyle>
            <a:lvl1pPr marL="0" indent="0">
              <a:lnSpc>
                <a:spcPct val="100000"/>
              </a:lnSpc>
              <a:spcBef>
                <a:spcPts val="0"/>
              </a:spcBef>
              <a:spcAft>
                <a:spcPts val="0"/>
              </a:spcAft>
              <a:buNone/>
              <a:defRPr sz="3600" b="0" i="0" baseline="0">
                <a:solidFill>
                  <a:schemeClr val="accent3"/>
                </a:solidFill>
                <a:latin typeface="+mj-lt"/>
                <a:ea typeface="Calibri Light" charset="0"/>
                <a:cs typeface="Calibri Light" charset="0"/>
              </a:defRPr>
            </a:lvl1pPr>
          </a:lstStyle>
          <a:p>
            <a:pPr lvl="0"/>
            <a:r>
              <a:rPr lang="en-US"/>
              <a:t>Section Header</a:t>
            </a:r>
          </a:p>
        </p:txBody>
      </p:sp>
      <p:sp>
        <p:nvSpPr>
          <p:cNvPr id="11" name="Text Placeholder 10"/>
          <p:cNvSpPr>
            <a:spLocks noGrp="1"/>
          </p:cNvSpPr>
          <p:nvPr>
            <p:ph type="body" sz="quarter" idx="13" hasCustomPrompt="1"/>
          </p:nvPr>
        </p:nvSpPr>
        <p:spPr>
          <a:xfrm>
            <a:off x="252845" y="1285875"/>
            <a:ext cx="4148138" cy="1714500"/>
          </a:xfrm>
        </p:spPr>
        <p:txBody>
          <a:bodyPr wrap="square" anchor="b"/>
          <a:lstStyle>
            <a:lvl1pPr>
              <a:lnSpc>
                <a:spcPct val="100000"/>
              </a:lnSpc>
              <a:spcBef>
                <a:spcPts val="0"/>
              </a:spcBef>
              <a:spcAft>
                <a:spcPts val="0"/>
              </a:spcAft>
              <a:defRPr sz="16500" b="0" i="0">
                <a:solidFill>
                  <a:schemeClr val="accent3"/>
                </a:solidFill>
                <a:latin typeface="+mj-lt"/>
                <a:ea typeface="Human Sans Thin" pitchFamily="2" charset="77"/>
                <a:cs typeface="Human Sans Thin" pitchFamily="2" charset="77"/>
              </a:defRPr>
            </a:lvl1pPr>
          </a:lstStyle>
          <a:p>
            <a:pPr lvl="0"/>
            <a:r>
              <a:rPr lang="en-US"/>
              <a:t>0</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mn-lt"/>
              </a:rPr>
              <a:pPr/>
              <a:t>‹#›</a:t>
            </a:fld>
            <a:endParaRPr lang="en-US" sz="600" b="0" i="0">
              <a:solidFill>
                <a:schemeClr val="bg1"/>
              </a:solidFill>
              <a:latin typeface="+mn-lt"/>
            </a:endParaRPr>
          </a:p>
        </p:txBody>
      </p:sp>
    </p:spTree>
    <p:extLst>
      <p:ext uri="{BB962C8B-B14F-4D97-AF65-F5344CB8AC3E}">
        <p14:creationId xmlns:p14="http://schemas.microsoft.com/office/powerpoint/2010/main" val="251329198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358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30546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21397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7022306" cy="3774069"/>
          </a:xfrm>
        </p:spPr>
        <p:txBody>
          <a:bodyPr lIns="0" tIns="0" rIns="0" bIns="0"/>
          <a:lstStyle>
            <a:lvl1pPr marL="0" indent="0">
              <a:lnSpc>
                <a:spcPct val="110000"/>
              </a:lnSpc>
              <a:spcAft>
                <a:spcPts val="0"/>
              </a:spcAft>
              <a:buNone/>
              <a:tabLst>
                <a:tab pos="2438400" algn="l"/>
              </a:tabLst>
              <a:defRPr sz="1200" b="0" i="0" baseline="0">
                <a:latin typeface="+mn-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40278692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4433776" y="855080"/>
            <a:ext cx="4365038" cy="3774069"/>
          </a:xfrm>
        </p:spPr>
        <p:txBody>
          <a:bodyPr lIns="0" tIns="0" rIns="0" bIns="0"/>
          <a:lstStyle>
            <a:lvl1pPr marL="0" indent="0">
              <a:lnSpc>
                <a:spcPct val="110000"/>
              </a:lnSpc>
              <a:spcAft>
                <a:spcPts val="0"/>
              </a:spcAft>
              <a:buNone/>
              <a:tabLst>
                <a:tab pos="2438400" algn="l"/>
              </a:tabLst>
              <a:defRPr sz="12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j-lt"/>
              </a:defRPr>
            </a:lvl1pPr>
          </a:lstStyle>
          <a:p>
            <a:r>
              <a:rPr lang="en-US" dirty="0"/>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j-lt"/>
              </a:defRPr>
            </a:lvl1pPr>
          </a:lstStyle>
          <a:p>
            <a:pPr lvl="0"/>
            <a:r>
              <a:rPr lang="en-US"/>
              <a:t>Click to add section title</a:t>
            </a:r>
          </a:p>
        </p:txBody>
      </p:sp>
      <p:sp>
        <p:nvSpPr>
          <p:cNvPr id="6" name="Text Placeholder 9">
            <a:extLst>
              <a:ext uri="{FF2B5EF4-FFF2-40B4-BE49-F238E27FC236}">
                <a16:creationId xmlns:a16="http://schemas.microsoft.com/office/drawing/2014/main" id="{47BF3F39-D94F-BC48-8482-2214B9D8033C}"/>
              </a:ext>
            </a:extLst>
          </p:cNvPr>
          <p:cNvSpPr>
            <a:spLocks noGrp="1"/>
          </p:cNvSpPr>
          <p:nvPr>
            <p:ph type="body" sz="quarter" idx="16"/>
          </p:nvPr>
        </p:nvSpPr>
        <p:spPr>
          <a:xfrm>
            <a:off x="342900" y="855080"/>
            <a:ext cx="3955312"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Tree>
    <p:extLst>
      <p:ext uri="{BB962C8B-B14F-4D97-AF65-F5344CB8AC3E}">
        <p14:creationId xmlns:p14="http://schemas.microsoft.com/office/powerpoint/2010/main" val="229121768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85822259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 Text">
    <p:bg>
      <p:bgPr>
        <a:solidFill>
          <a:schemeClr val="tx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6600" b="0" i="0" baseline="0">
                <a:solidFill>
                  <a:schemeClr val="bg1"/>
                </a:solidFill>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solidFill>
                  <a:schemeClr val="bg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
        <p:nvSpPr>
          <p:cNvPr id="8" name="Slide Number Placeholder 13">
            <a:extLst>
              <a:ext uri="{FF2B5EF4-FFF2-40B4-BE49-F238E27FC236}">
                <a16:creationId xmlns:a16="http://schemas.microsoft.com/office/drawing/2014/main" id="{841CA2A1-3D39-2344-A5FA-9709C1FE6425}"/>
              </a:ext>
            </a:extLst>
          </p:cNvPr>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Human Sans Regular" pitchFamily="2" charset="77"/>
              </a:rPr>
              <a:pPr/>
              <a:t>‹#›</a:t>
            </a:fld>
            <a:endParaRPr lang="en-US" sz="600" b="0" i="0">
              <a:solidFill>
                <a:schemeClr val="bg1"/>
              </a:solidFill>
              <a:latin typeface="Human Sans Regular" pitchFamily="2" charset="77"/>
            </a:endParaRPr>
          </a:p>
        </p:txBody>
      </p:sp>
    </p:spTree>
    <p:extLst>
      <p:ext uri="{BB962C8B-B14F-4D97-AF65-F5344CB8AC3E}">
        <p14:creationId xmlns:p14="http://schemas.microsoft.com/office/powerpoint/2010/main" val="148169182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1" y="342900"/>
            <a:ext cx="7020408" cy="3429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42901" y="859971"/>
            <a:ext cx="7022306" cy="376917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latin typeface="Calibri" panose="020F0502020204030204" pitchFamily="34" charset="0"/>
                <a:cs typeface="Calibri" panose="020F0502020204030204" pitchFamily="34" charset="0"/>
              </a:rPr>
              <a:pPr/>
              <a:t>‹#›</a:t>
            </a:fld>
            <a:endParaRPr lang="en-US" sz="600" b="0" i="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27938063"/>
      </p:ext>
    </p:extLst>
  </p:cSld>
  <p:clrMap bg1="lt1" tx1="dk1" bg2="lt2" tx2="dk2" accent1="accent1" accent2="accent2" accent3="accent3" accent4="accent4" accent5="accent5" accent6="accent6" hlink="hlink" folHlink="folHlink"/>
  <p:sldLayoutIdLst>
    <p:sldLayoutId id="2147483863" r:id="rId1"/>
    <p:sldLayoutId id="2147483816" r:id="rId2"/>
    <p:sldLayoutId id="2147483822" r:id="rId3"/>
    <p:sldLayoutId id="2147483823" r:id="rId4"/>
    <p:sldLayoutId id="2147483824" r:id="rId5"/>
    <p:sldLayoutId id="2147483825" r:id="rId6"/>
    <p:sldLayoutId id="2147483826" r:id="rId7"/>
    <p:sldLayoutId id="2147483828" r:id="rId8"/>
    <p:sldLayoutId id="2147483829" r:id="rId9"/>
  </p:sldLayoutIdLst>
  <p:hf hdr="0" dt="0"/>
  <p:txStyles>
    <p:titleStyle>
      <a:lvl1pPr algn="l" defTabSz="685800" rtl="0" eaLnBrk="1" latinLnBrk="0" hangingPunct="1">
        <a:lnSpc>
          <a:spcPct val="100000"/>
        </a:lnSpc>
        <a:spcBef>
          <a:spcPct val="0"/>
        </a:spcBef>
        <a:buNone/>
        <a:defRPr sz="1650" b="0" i="0" kern="1200">
          <a:solidFill>
            <a:schemeClr val="tx1"/>
          </a:solidFill>
          <a:latin typeface="+mn-lt"/>
          <a:ea typeface="Calibri" panose="020F0502020204030204" pitchFamily="34" charset="0"/>
          <a:cs typeface="Calibri" panose="020F0502020204030204" pitchFamily="34" charset="0"/>
        </a:defRPr>
      </a:lvl1pPr>
    </p:titleStyle>
    <p:bodyStyle>
      <a:lvl1pPr marL="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1pPr>
      <a:lvl2pPr marL="5143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2pPr>
      <a:lvl3pPr marL="8572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3pPr>
      <a:lvl4pPr marL="12001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4pPr>
      <a:lvl5pPr marL="15430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16" orient="horz" pos="144">
          <p15:clr>
            <a:srgbClr val="F26B43"/>
          </p15:clr>
        </p15:guide>
        <p15:guide id="17" orient="horz" pos="288">
          <p15:clr>
            <a:srgbClr val="F26B43"/>
          </p15:clr>
        </p15:guide>
        <p15:guide id="18" orient="horz" pos="432">
          <p15:clr>
            <a:srgbClr val="F26B43"/>
          </p15:clr>
        </p15:guide>
        <p15:guide id="19" orient="horz" pos="576">
          <p15:clr>
            <a:srgbClr val="F26B43"/>
          </p15:clr>
        </p15:guide>
        <p15:guide id="20" orient="horz" pos="720">
          <p15:clr>
            <a:srgbClr val="F26B43"/>
          </p15:clr>
        </p15:guide>
        <p15:guide id="21" orient="horz" pos="864">
          <p15:clr>
            <a:srgbClr val="F26B43"/>
          </p15:clr>
        </p15:guide>
        <p15:guide id="22" orient="horz" pos="1008">
          <p15:clr>
            <a:srgbClr val="F26B43"/>
          </p15:clr>
        </p15:guide>
        <p15:guide id="23" orient="horz" pos="1152">
          <p15:clr>
            <a:srgbClr val="F26B43"/>
          </p15:clr>
        </p15:guide>
        <p15:guide id="24" orient="horz" pos="1296">
          <p15:clr>
            <a:srgbClr val="F26B43"/>
          </p15:clr>
        </p15:guide>
        <p15:guide id="25" orient="horz" pos="1440">
          <p15:clr>
            <a:srgbClr val="F26B43"/>
          </p15:clr>
        </p15:guide>
        <p15:guide id="26" orient="horz" pos="1584">
          <p15:clr>
            <a:srgbClr val="F26B43"/>
          </p15:clr>
        </p15:guide>
        <p15:guide id="27" orient="horz" pos="1728">
          <p15:clr>
            <a:srgbClr val="F26B43"/>
          </p15:clr>
        </p15:guide>
        <p15:guide id="28" orient="horz" pos="1872">
          <p15:clr>
            <a:srgbClr val="F26B43"/>
          </p15:clr>
        </p15:guide>
        <p15:guide id="29" orient="horz" pos="2016">
          <p15:clr>
            <a:srgbClr val="F26B43"/>
          </p15:clr>
        </p15:guide>
        <p15:guide id="30" orient="horz" pos="2304">
          <p15:clr>
            <a:srgbClr val="F26B43"/>
          </p15:clr>
        </p15:guide>
        <p15:guide id="31" orient="horz" pos="2448">
          <p15:clr>
            <a:srgbClr val="F26B43"/>
          </p15:clr>
        </p15:guide>
        <p15:guide id="32" orient="horz" pos="2592">
          <p15:clr>
            <a:srgbClr val="F26B43"/>
          </p15:clr>
        </p15:guide>
        <p15:guide id="33" orient="horz" pos="2736">
          <p15:clr>
            <a:srgbClr val="F26B43"/>
          </p15:clr>
        </p15:guide>
        <p15:guide id="34" orient="horz" pos="2880">
          <p15:clr>
            <a:srgbClr val="F26B43"/>
          </p15:clr>
        </p15:guide>
        <p15:guide id="35" orient="horz" pos="3024">
          <p15:clr>
            <a:srgbClr val="F26B43"/>
          </p15:clr>
        </p15:guide>
        <p15:guide id="36" orient="horz" pos="3168">
          <p15:clr>
            <a:srgbClr val="F26B43"/>
          </p15:clr>
        </p15:guide>
        <p15:guide id="37" orient="horz" pos="3312">
          <p15:clr>
            <a:srgbClr val="F26B43"/>
          </p15:clr>
        </p15:guide>
        <p15:guide id="38" orient="horz" pos="3456">
          <p15:clr>
            <a:srgbClr val="F26B43"/>
          </p15:clr>
        </p15:guide>
        <p15:guide id="39" orient="horz" pos="3600">
          <p15:clr>
            <a:srgbClr val="F26B43"/>
          </p15:clr>
        </p15:guide>
        <p15:guide id="40" orient="horz" pos="3744">
          <p15:clr>
            <a:srgbClr val="F26B43"/>
          </p15:clr>
        </p15:guide>
        <p15:guide id="41" orient="horz" pos="3888">
          <p15:clr>
            <a:srgbClr val="F26B43"/>
          </p15:clr>
        </p15:guide>
        <p15:guide id="43" orient="horz" pos="4176">
          <p15:clr>
            <a:srgbClr val="F26B43"/>
          </p15:clr>
        </p15:guide>
        <p15:guide id="56" orient="horz">
          <p15:clr>
            <a:srgbClr val="F26B43"/>
          </p15:clr>
        </p15:guide>
        <p15:guide id="57" orient="horz" pos="4320">
          <p15:clr>
            <a:srgbClr val="F26B43"/>
          </p15:clr>
        </p15:guide>
        <p15:guide id="58" orient="horz" pos="4032">
          <p15:clr>
            <a:srgbClr val="F26B43"/>
          </p15:clr>
        </p15:guide>
        <p15:guide id="59" pos="288">
          <p15:clr>
            <a:srgbClr val="F26B43"/>
          </p15:clr>
        </p15:guide>
        <p15:guide id="61" pos="7392">
          <p15:clr>
            <a:srgbClr val="F26B43"/>
          </p15:clr>
        </p15:guide>
        <p15:guide id="62" pos="894">
          <p15:clr>
            <a:srgbClr val="F26B43"/>
          </p15:clr>
        </p15:guide>
        <p15:guide id="63" pos="750">
          <p15:clr>
            <a:srgbClr val="F26B43"/>
          </p15:clr>
        </p15:guide>
        <p15:guide id="64" pos="1354">
          <p15:clr>
            <a:srgbClr val="F26B43"/>
          </p15:clr>
        </p15:guide>
        <p15:guide id="65" pos="1498">
          <p15:clr>
            <a:srgbClr val="F26B43"/>
          </p15:clr>
        </p15:guide>
        <p15:guide id="66" pos="1958">
          <p15:clr>
            <a:srgbClr val="F26B43"/>
          </p15:clr>
        </p15:guide>
        <p15:guide id="67" pos="2104">
          <p15:clr>
            <a:srgbClr val="F26B43"/>
          </p15:clr>
        </p15:guide>
        <p15:guide id="68" pos="2710">
          <p15:clr>
            <a:srgbClr val="F26B43"/>
          </p15:clr>
        </p15:guide>
        <p15:guide id="69" pos="2565">
          <p15:clr>
            <a:srgbClr val="F26B43"/>
          </p15:clr>
        </p15:guide>
        <p15:guide id="70" pos="3310">
          <p15:clr>
            <a:srgbClr val="F26B43"/>
          </p15:clr>
        </p15:guide>
        <p15:guide id="71" pos="3168">
          <p15:clr>
            <a:srgbClr val="F26B43"/>
          </p15:clr>
        </p15:guide>
        <p15:guide id="72" pos="3772">
          <p15:clr>
            <a:srgbClr val="F26B43"/>
          </p15:clr>
        </p15:guide>
        <p15:guide id="73" pos="3919">
          <p15:clr>
            <a:srgbClr val="F26B43"/>
          </p15:clr>
        </p15:guide>
        <p15:guide id="74" pos="4376">
          <p15:clr>
            <a:srgbClr val="F26B43"/>
          </p15:clr>
        </p15:guide>
        <p15:guide id="75" pos="4523">
          <p15:clr>
            <a:srgbClr val="F26B43"/>
          </p15:clr>
        </p15:guide>
        <p15:guide id="76" pos="5128">
          <p15:clr>
            <a:srgbClr val="F26B43"/>
          </p15:clr>
        </p15:guide>
        <p15:guide id="77" pos="4981">
          <p15:clr>
            <a:srgbClr val="F26B43"/>
          </p15:clr>
        </p15:guide>
        <p15:guide id="78" pos="5579">
          <p15:clr>
            <a:srgbClr val="F26B43"/>
          </p15:clr>
        </p15:guide>
        <p15:guide id="79" pos="5726">
          <p15:clr>
            <a:srgbClr val="F26B43"/>
          </p15:clr>
        </p15:guide>
        <p15:guide id="80" pos="6186">
          <p15:clr>
            <a:srgbClr val="F26B43"/>
          </p15:clr>
        </p15:guide>
        <p15:guide id="81" pos="6330">
          <p15:clr>
            <a:srgbClr val="F26B43"/>
          </p15:clr>
        </p15:guide>
        <p15:guide id="82" pos="6793">
          <p15:clr>
            <a:srgbClr val="F26B43"/>
          </p15:clr>
        </p15:guide>
        <p15:guide id="83" pos="6933">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techcommunity.microsoft.com/blog/appsonazureblog/industry-wide-certificate-changes-impacting-azure-app-service-certificates/4477924" TargetMode="External"/><Relationship Id="rId2" Type="http://schemas.openxmlformats.org/officeDocument/2006/relationships/hyperlink" Target="https://learn.microsoft.com/en-us/entra/fundamentals/whats-new#public-preview---data-exploration-using-microsoft-security-copilot-in-entra" TargetMode="Externa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hyperlink" Target="https://learn.microsoft.com/en-us/entra/fundamentals/whats-new#public-preview---b2b-guest-access-support-in-global-secure-access" TargetMode="External"/><Relationship Id="rId2" Type="http://schemas.openxmlformats.org/officeDocument/2006/relationships/hyperlink" Target="https://learn.microsoft.com/en-us/entra/fundamentals/whats-new#public-preview---protect-enterprise-generative-ai-applications-with-prompt-shield" TargetMode="Externa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hyperlink" Target="https://learn.microsoft.com/en-us/entra/fundamentals/whats-new#public-preview-of-just-in-time-password-migration-to-microsoft-entra-external-id"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learn.microsoft.com/en-us/entra/fundamentals/whats-new#general-availability---microsoft-entra-connect-security-hardening-to-prevent-user-account-takeover" TargetMode="External"/><Relationship Id="rId2" Type="http://schemas.openxmlformats.org/officeDocument/2006/relationships/hyperlink" Target="https://learn.microsoft.com/en-us/entra/fundamentals/whats-new#general-availability---modernizing-microsoft-entra-id-auth-flows-with-webview2-in-windows-11" TargetMode="External"/><Relationship Id="rId1" Type="http://schemas.openxmlformats.org/officeDocument/2006/relationships/slideLayout" Target="../slideLayouts/slideLayout7.xml"/><Relationship Id="rId4" Type="http://schemas.openxmlformats.org/officeDocument/2006/relationships/hyperlink" Target="https://learn.microsoft.com/en-us/powershell/module/microsoft.entra.directorymanagement/set-entradirsyncfeature?view=entra-powershell"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learn.microsoft.com/en-us/azure/defender-for-cloud/release-notes#aws-cloudtrail-ingestion-preview" TargetMode="External"/><Relationship Id="rId2" Type="http://schemas.openxmlformats.org/officeDocument/2006/relationships/hyperlink" Target="https://learn.microsoft.com/en-us/azure/defender-for-cloud/release-notes#cloud-posture-management-adds-serverless-protection-for-azure-and-aws-preview" TargetMode="Externa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hyperlink" Target="https://learn.microsoft.com/en-us/azure/defender-for-cloud/release-notes#general-availability-of-the-endor-labs-integration"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azure.microsoft.com/ru-ru/updates?id=536560"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azure.microsoft.com/ru-ru/updates?id=541427" TargetMode="External"/><Relationship Id="rId2" Type="http://schemas.openxmlformats.org/officeDocument/2006/relationships/hyperlink" Target="https://techcommunity.microsoft.com/blog/azurehighperformancecomputingblog/announcing-azure-cyclecloud-workspace-for-slurm-version-2025-12-01-release/4481953"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azure.microsoft.com/ru-ru/updates?id=542813" TargetMode="External"/><Relationship Id="rId2" Type="http://schemas.openxmlformats.org/officeDocument/2006/relationships/hyperlink" Target="https://azure.microsoft.com/ru-ru/updates?id=536699"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techcommunity.microsoft.com/blog/azurestorageblog/secure-seamless-access-using-managed-identities-with-azure-files-smb/4477565"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azure.microsoft.com/ru-ru/updates?id=537106" TargetMode="External"/><Relationship Id="rId1" Type="http://schemas.openxmlformats.org/officeDocument/2006/relationships/slideLayout" Target="../slideLayouts/slideLayout7.xml"/><Relationship Id="rId4" Type="http://schemas.openxmlformats.org/officeDocument/2006/relationships/hyperlink" Target="https://azure.microsoft.com/ru-ru/updates?id=544080"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techcommunity.microsoft.com/blog/sqlserver/odbc-driver-18-6-for-sql-server-released/4478880" TargetMode="External"/><Relationship Id="rId2" Type="http://schemas.openxmlformats.org/officeDocument/2006/relationships/hyperlink" Target="https://devblogs.microsoft.com/cosmosdb/cosmos-db-mirroring-private-endpoints/"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techcommunity.microsoft.com/blog/AzureSQLBlog/identify-causes-of-auto-resuming-serverless-workloads-in-azure-sql-database/4452741"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hyperlink" Target="https://techcommunity.microsoft.com/blog/adformysql/announcing-azure-database-for-mysql-support-for-resource-move-with-private-link/4464351" TargetMode="External"/><Relationship Id="rId2" Type="http://schemas.openxmlformats.org/officeDocument/2006/relationships/hyperlink" Target="https://techcommunity.microsoft.com/blog/adformysql/now-generally-available-azure-database-for-mysql-triggers-for-azure-functions/4459633" TargetMode="Externa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techcommunity.microsoft.com/blog/messagingonazureblog/announcing-general-availability-of-geo-replication-for-azure-service-bus-premium/4413164" TargetMode="Externa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azure.microsoft.com/ru-ru/updates?id=541813" TargetMode="External"/><Relationship Id="rId2" Type="http://schemas.openxmlformats.org/officeDocument/2006/relationships/hyperlink" Target="https://techcommunity.microsoft.com/blog/azure-ai-foundry-blog/introducing-deepseek-v3-2-and-deepseek-v3-2-speciale-in-microsoft-foundry/4477549" TargetMode="Externa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hyperlink" Target="https://azure.microsoft.com/en-us/blog/introducing-gpt-5-2-in-microsoft-foundry-the-new-standard-for-enterprise-ai/" TargetMode="Externa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techcommunity.microsoft.com/blog/appsonazureblog/ai-assisted-load-test-authoring-in-azure-load-testing/4480652" TargetMode="Externa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azure.microsoft.com/ru-ru/updates?id=513892" TargetMode="Externa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github.com/azureTimes" TargetMode="Externa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81666" y="1200151"/>
            <a:ext cx="8458200" cy="2228850"/>
          </a:xfrm>
        </p:spPr>
        <p:txBody>
          <a:bodyPr/>
          <a:lstStyle/>
          <a:p>
            <a:r>
              <a:rPr lang="en-US" sz="5400" dirty="0"/>
              <a:t>Azure Times #189</a:t>
            </a:r>
          </a:p>
        </p:txBody>
      </p:sp>
      <p:sp>
        <p:nvSpPr>
          <p:cNvPr id="4" name="Text Placeholder 3"/>
          <p:cNvSpPr>
            <a:spLocks noGrp="1"/>
          </p:cNvSpPr>
          <p:nvPr>
            <p:ph type="body" sz="quarter" idx="11"/>
          </p:nvPr>
        </p:nvSpPr>
        <p:spPr/>
        <p:txBody>
          <a:bodyPr/>
          <a:lstStyle/>
          <a:p>
            <a:r>
              <a:rPr lang="en-US" spc="300" dirty="0"/>
              <a:t>January 12, 2026</a:t>
            </a:r>
          </a:p>
        </p:txBody>
      </p:sp>
      <p:sp>
        <p:nvSpPr>
          <p:cNvPr id="3" name="TextBox 2">
            <a:extLst>
              <a:ext uri="{FF2B5EF4-FFF2-40B4-BE49-F238E27FC236}">
                <a16:creationId xmlns:a16="http://schemas.microsoft.com/office/drawing/2014/main" id="{ED924944-231A-274C-AB8B-3C574947B123}"/>
              </a:ext>
            </a:extLst>
          </p:cNvPr>
          <p:cNvSpPr txBox="1"/>
          <p:nvPr/>
        </p:nvSpPr>
        <p:spPr>
          <a:xfrm>
            <a:off x="539318" y="4887158"/>
            <a:ext cx="0" cy="0"/>
          </a:xfrm>
          <a:prstGeom prst="rect">
            <a:avLst/>
          </a:prstGeom>
          <a:noFill/>
        </p:spPr>
        <p:txBody>
          <a:bodyPr wrap="none" lIns="0" tIns="0" rIns="0" bIns="0" rtlCol="0">
            <a:noAutofit/>
          </a:bodyPr>
          <a:lstStyle/>
          <a:p>
            <a:pPr>
              <a:lnSpc>
                <a:spcPct val="110000"/>
              </a:lnSpc>
              <a:spcBef>
                <a:spcPts val="450"/>
              </a:spcBef>
            </a:pPr>
            <a:endParaRPr lang="en-US" sz="900" err="1">
              <a:ea typeface="Human Sans" charset="0"/>
              <a:cs typeface="Human Sans" charset="0"/>
            </a:endParaRPr>
          </a:p>
        </p:txBody>
      </p:sp>
    </p:spTree>
    <p:extLst>
      <p:ext uri="{BB962C8B-B14F-4D97-AF65-F5344CB8AC3E}">
        <p14:creationId xmlns:p14="http://schemas.microsoft.com/office/powerpoint/2010/main" val="44755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6271326" cy="1714500"/>
          </a:xfrm>
        </p:spPr>
        <p:txBody>
          <a:bodyPr/>
          <a:lstStyle/>
          <a:p>
            <a:r>
              <a:rPr lang="en-US" sz="4000" dirty="0"/>
              <a:t>Security &amp; Identity</a:t>
            </a:r>
          </a:p>
        </p:txBody>
      </p:sp>
    </p:spTree>
    <p:extLst>
      <p:ext uri="{BB962C8B-B14F-4D97-AF65-F5344CB8AC3E}">
        <p14:creationId xmlns:p14="http://schemas.microsoft.com/office/powerpoint/2010/main" val="3117920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a:xfrm>
            <a:off x="4433776" y="855081"/>
            <a:ext cx="4365038" cy="1500770"/>
          </a:xfrm>
        </p:spPr>
        <p:txBody>
          <a:bodyPr/>
          <a:lstStyle/>
          <a:p>
            <a:pPr algn="just"/>
            <a:r>
              <a:rPr lang="en-US" sz="1000" dirty="0">
                <a:hlinkClick r:id="rId2"/>
              </a:rPr>
              <a:t>Public Preview - Data exploration using Microsoft Security Copilot in Entra</a:t>
            </a:r>
            <a:endParaRPr lang="en-US" sz="1000" dirty="0"/>
          </a:p>
          <a:p>
            <a:pPr algn="just"/>
            <a:r>
              <a:rPr lang="en-US" sz="1000" dirty="0"/>
              <a:t>Microsoft Security Copilot in Microsoft Entra now supports data exploration when prompts return datasets with more than 10 items. This feature is in preview and available for select Microsoft Entra scenarios. From the Copilot chat response, select Open list to access a comprehensive data grid. This allows to explore large datasets with complete and accurate results, enabling more efficient decision-making. Each data grid displays the underlying Microsoft Graph URL, helping you verify query accuracy and build confidence in the results. </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Security &amp; Identity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a:xfrm>
            <a:off x="342900" y="855081"/>
            <a:ext cx="3955312" cy="1568452"/>
          </a:xfrm>
        </p:spPr>
        <p:txBody>
          <a:bodyPr/>
          <a:lstStyle/>
          <a:p>
            <a:pPr algn="just"/>
            <a:r>
              <a:rPr lang="en-US" dirty="0">
                <a:hlinkClick r:id="rId3"/>
              </a:rPr>
              <a:t>Industry-Wide Certificate Changes Impacting Azure App Service Certificates</a:t>
            </a:r>
            <a:endParaRPr lang="en-US" dirty="0"/>
          </a:p>
          <a:p>
            <a:pPr algn="just"/>
            <a:r>
              <a:rPr lang="en-US" dirty="0"/>
              <a:t>In early 2026, industry-wide changes mandated by browser applications and the CA/B Forum will affect both how TLS certificates are issued as well as their validity period. The CA/B Forum is a vendor body that establishes standards for securing websites and online communications through SSL/TLS certificates. Azure App Service is aligning with these standards for both App Service Managed Certificates (ASMC, free, DigiCert-issued) and App Service Certificates (ASC, paid, GoDaddy-issued).</a:t>
            </a:r>
          </a:p>
        </p:txBody>
      </p:sp>
      <p:pic>
        <p:nvPicPr>
          <p:cNvPr id="3" name="Picture 2">
            <a:extLst>
              <a:ext uri="{FF2B5EF4-FFF2-40B4-BE49-F238E27FC236}">
                <a16:creationId xmlns:a16="http://schemas.microsoft.com/office/drawing/2014/main" id="{59AC9F73-55CB-4CE2-2019-F59CF825CE85}"/>
              </a:ext>
            </a:extLst>
          </p:cNvPr>
          <p:cNvPicPr>
            <a:picLocks noChangeAspect="1"/>
          </p:cNvPicPr>
          <p:nvPr/>
        </p:nvPicPr>
        <p:blipFill>
          <a:blip r:embed="rId4"/>
          <a:stretch>
            <a:fillRect/>
          </a:stretch>
        </p:blipFill>
        <p:spPr>
          <a:xfrm>
            <a:off x="342900" y="2423533"/>
            <a:ext cx="3955312" cy="810357"/>
          </a:xfrm>
          <a:prstGeom prst="rect">
            <a:avLst/>
          </a:prstGeom>
        </p:spPr>
      </p:pic>
    </p:spTree>
    <p:extLst>
      <p:ext uri="{BB962C8B-B14F-4D97-AF65-F5344CB8AC3E}">
        <p14:creationId xmlns:p14="http://schemas.microsoft.com/office/powerpoint/2010/main" val="493310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4E758-0E9C-1A59-D8C1-58D462C9879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4EFDCEC-74D7-CC9F-3A0E-1009C7BB635B}"/>
              </a:ext>
            </a:extLst>
          </p:cNvPr>
          <p:cNvSpPr>
            <a:spLocks noGrp="1"/>
          </p:cNvSpPr>
          <p:nvPr>
            <p:ph type="body" sz="quarter" idx="10"/>
          </p:nvPr>
        </p:nvSpPr>
        <p:spPr>
          <a:xfrm>
            <a:off x="4433776" y="855081"/>
            <a:ext cx="4365038" cy="757820"/>
          </a:xfrm>
        </p:spPr>
        <p:txBody>
          <a:bodyPr/>
          <a:lstStyle/>
          <a:p>
            <a:pPr algn="just"/>
            <a:r>
              <a:rPr lang="en-US" sz="1000" dirty="0">
                <a:hlinkClick r:id="rId2"/>
              </a:rPr>
              <a:t>Public preview - Protect enterprise generative AI applications with Prompt Shield</a:t>
            </a:r>
            <a:endParaRPr lang="en-US" sz="1000" dirty="0"/>
          </a:p>
          <a:p>
            <a:pPr algn="just"/>
            <a:r>
              <a:rPr lang="en-US" sz="1000" dirty="0"/>
              <a:t>Block prompt injection attacks to enterprise GenAI apps in real-time with universal policy controls, extending Azure AI Prompt Shield to all network traffic. </a:t>
            </a:r>
          </a:p>
        </p:txBody>
      </p:sp>
      <p:sp>
        <p:nvSpPr>
          <p:cNvPr id="11" name="Title 10">
            <a:extLst>
              <a:ext uri="{FF2B5EF4-FFF2-40B4-BE49-F238E27FC236}">
                <a16:creationId xmlns:a16="http://schemas.microsoft.com/office/drawing/2014/main" id="{108EB9BC-7C8E-C179-D7B3-FA8C3832EAD4}"/>
              </a:ext>
            </a:extLst>
          </p:cNvPr>
          <p:cNvSpPr>
            <a:spLocks noGrp="1"/>
          </p:cNvSpPr>
          <p:nvPr>
            <p:ph type="title"/>
          </p:nvPr>
        </p:nvSpPr>
        <p:spPr/>
        <p:txBody>
          <a:bodyPr/>
          <a:lstStyle/>
          <a:p>
            <a:r>
              <a:rPr lang="en-US" sz="1800" dirty="0"/>
              <a:t>Security &amp; Identity Updates</a:t>
            </a:r>
            <a:endParaRPr lang="en-US" dirty="0"/>
          </a:p>
        </p:txBody>
      </p:sp>
      <p:sp>
        <p:nvSpPr>
          <p:cNvPr id="13" name="Text Placeholder 12">
            <a:extLst>
              <a:ext uri="{FF2B5EF4-FFF2-40B4-BE49-F238E27FC236}">
                <a16:creationId xmlns:a16="http://schemas.microsoft.com/office/drawing/2014/main" id="{5B52A8BE-107A-17D0-9868-4A2D8C2F4337}"/>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6125CF61-DD31-42B7-98F6-ACEF3D4AB8DC}"/>
              </a:ext>
            </a:extLst>
          </p:cNvPr>
          <p:cNvSpPr>
            <a:spLocks noGrp="1"/>
          </p:cNvSpPr>
          <p:nvPr>
            <p:ph type="body" sz="quarter" idx="16"/>
          </p:nvPr>
        </p:nvSpPr>
        <p:spPr>
          <a:xfrm>
            <a:off x="342900" y="855081"/>
            <a:ext cx="3955312" cy="1303920"/>
          </a:xfrm>
        </p:spPr>
        <p:txBody>
          <a:bodyPr/>
          <a:lstStyle/>
          <a:p>
            <a:pPr algn="just"/>
            <a:r>
              <a:rPr lang="en-US" dirty="0">
                <a:hlinkClick r:id="rId3"/>
              </a:rPr>
              <a:t>Public Preview - B2B guest access support in Global Secure Access</a:t>
            </a:r>
            <a:endParaRPr lang="en-US" dirty="0"/>
          </a:p>
          <a:p>
            <a:pPr algn="just"/>
            <a:r>
              <a:rPr lang="en-US" dirty="0"/>
              <a:t>Now it is possible to enable the B2B guest access feature for guest users with the Global Secure Access client, signed in to their home organization's Microsoft Entra ID account. The Global Secure Access client automatically discovers partner tenants where the user is a guest and offers the option to switch into the customer's tenant context. The client routes only private traffic through the customer's Global Secure Access service.</a:t>
            </a:r>
          </a:p>
        </p:txBody>
      </p:sp>
      <p:pic>
        <p:nvPicPr>
          <p:cNvPr id="3" name="Picture 2">
            <a:extLst>
              <a:ext uri="{FF2B5EF4-FFF2-40B4-BE49-F238E27FC236}">
                <a16:creationId xmlns:a16="http://schemas.microsoft.com/office/drawing/2014/main" id="{77B65735-4255-B3F5-FDE2-789BCFBDF584}"/>
              </a:ext>
            </a:extLst>
          </p:cNvPr>
          <p:cNvPicPr>
            <a:picLocks noChangeAspect="1"/>
          </p:cNvPicPr>
          <p:nvPr/>
        </p:nvPicPr>
        <p:blipFill>
          <a:blip r:embed="rId4"/>
          <a:stretch>
            <a:fillRect/>
          </a:stretch>
        </p:blipFill>
        <p:spPr>
          <a:xfrm>
            <a:off x="342900" y="2379082"/>
            <a:ext cx="3955312" cy="2088084"/>
          </a:xfrm>
          <a:prstGeom prst="rect">
            <a:avLst/>
          </a:prstGeom>
        </p:spPr>
      </p:pic>
    </p:spTree>
    <p:extLst>
      <p:ext uri="{BB962C8B-B14F-4D97-AF65-F5344CB8AC3E}">
        <p14:creationId xmlns:p14="http://schemas.microsoft.com/office/powerpoint/2010/main" val="2813364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DF80C-C4B2-CA2E-DC53-D014432A0FBB}"/>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53E3FAB3-0EAA-3876-F96C-F85CCCDCCDD7}"/>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F0B3E087-D7E0-A826-1AA8-170A462C1EA4}"/>
              </a:ext>
            </a:extLst>
          </p:cNvPr>
          <p:cNvSpPr>
            <a:spLocks noGrp="1"/>
          </p:cNvSpPr>
          <p:nvPr>
            <p:ph type="title"/>
          </p:nvPr>
        </p:nvSpPr>
        <p:spPr/>
        <p:txBody>
          <a:bodyPr/>
          <a:lstStyle/>
          <a:p>
            <a:r>
              <a:rPr lang="en-US" sz="1800" dirty="0"/>
              <a:t>Security &amp; Identity Updates</a:t>
            </a:r>
            <a:endParaRPr lang="en-US" dirty="0"/>
          </a:p>
        </p:txBody>
      </p:sp>
      <p:sp>
        <p:nvSpPr>
          <p:cNvPr id="13" name="Text Placeholder 12">
            <a:extLst>
              <a:ext uri="{FF2B5EF4-FFF2-40B4-BE49-F238E27FC236}">
                <a16:creationId xmlns:a16="http://schemas.microsoft.com/office/drawing/2014/main" id="{7848980B-3A78-D666-3450-DFE397878148}"/>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53B30361-210F-0C86-1A80-ECA062F48EE8}"/>
              </a:ext>
            </a:extLst>
          </p:cNvPr>
          <p:cNvSpPr>
            <a:spLocks noGrp="1"/>
          </p:cNvSpPr>
          <p:nvPr>
            <p:ph type="body" sz="quarter" idx="16"/>
          </p:nvPr>
        </p:nvSpPr>
        <p:spPr/>
        <p:txBody>
          <a:bodyPr/>
          <a:lstStyle/>
          <a:p>
            <a:pPr algn="just"/>
            <a:r>
              <a:rPr lang="en-US" dirty="0">
                <a:hlinkClick r:id="rId2"/>
              </a:rPr>
              <a:t>Public Preview of Just-in-time password migration to Microsoft Entra External ID</a:t>
            </a:r>
            <a:endParaRPr lang="en-US" dirty="0"/>
          </a:p>
          <a:p>
            <a:pPr algn="just"/>
            <a:r>
              <a:rPr lang="en-US" dirty="0"/>
              <a:t>The Just-in-Time (JIT) Password Migration feature is designed to provide a seamless and secure experience for customers transitioning to Microsoft Entra External ID. This capability enables external identity providers to migrate user credentials during sign-in, eliminating the need for bulk password resets and minimizing disruption for end users. When a user meets the migration conditions at sign-in, their credentials are securely transferred as part of the process, ensuring continuity and reducing friction.</a:t>
            </a:r>
          </a:p>
          <a:p>
            <a:pPr algn="just"/>
            <a:r>
              <a:rPr lang="en-US" dirty="0"/>
              <a:t>By integrating migration into the authentication flow, organizations can simplify administrative tasks while maintaining security standards. This approach not only enhances user experience but also accelerates adoption of Microsoft Entra External ID without compromising operational efficiency.</a:t>
            </a:r>
          </a:p>
        </p:txBody>
      </p:sp>
    </p:spTree>
    <p:extLst>
      <p:ext uri="{BB962C8B-B14F-4D97-AF65-F5344CB8AC3E}">
        <p14:creationId xmlns:p14="http://schemas.microsoft.com/office/powerpoint/2010/main" val="1996926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EDDB4-7621-798A-090B-3F48CD980D51}"/>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2EA49D73-280D-0307-3C1A-932883BD3815}"/>
              </a:ext>
            </a:extLst>
          </p:cNvPr>
          <p:cNvSpPr>
            <a:spLocks noGrp="1"/>
          </p:cNvSpPr>
          <p:nvPr>
            <p:ph type="body" sz="quarter" idx="10"/>
          </p:nvPr>
        </p:nvSpPr>
        <p:spPr/>
        <p:txBody>
          <a:bodyPr/>
          <a:lstStyle/>
          <a:p>
            <a:pPr algn="just"/>
            <a:r>
              <a:rPr lang="en-US" sz="1000" dirty="0">
                <a:hlinkClick r:id="rId2"/>
              </a:rPr>
              <a:t>General Availability - Modernizing Microsoft Entra ID auth flows with WebView2 in Windows 11</a:t>
            </a:r>
            <a:endParaRPr lang="en-US" sz="1000" dirty="0"/>
          </a:p>
          <a:p>
            <a:pPr algn="just"/>
            <a:r>
              <a:rPr lang="en-US" sz="1000" dirty="0"/>
              <a:t>Microsoft Entra ID sign-in via Web Account Manager (WAM) now supports WebView2 (Chromium-based) starting with KB5072033 (OS builds 26200.7462 and 26100.7462). This update delivers a more secure, modern, and consistent authentication experience across Windows apps.WebView2 is expected to become the default for WAM authentication in a future Windows release, replacing the legacy </a:t>
            </a:r>
            <a:r>
              <a:rPr lang="en-US" sz="1000" dirty="0" err="1"/>
              <a:t>EdgeHTML</a:t>
            </a:r>
            <a:r>
              <a:rPr lang="en-US" sz="1000" dirty="0"/>
              <a:t> WebView. Teams are encouraged to opt in early, enable the experience, and validate any required changes such as proxy rules or authentication-related </a:t>
            </a:r>
            <a:r>
              <a:rPr lang="en-US" sz="1000" dirty="0" err="1"/>
              <a:t>code.This</a:t>
            </a:r>
            <a:r>
              <a:rPr lang="en-US" sz="1000" dirty="0"/>
              <a:t> transition strengthens security and modernizes identity experiences across the organization.</a:t>
            </a:r>
          </a:p>
        </p:txBody>
      </p:sp>
      <p:sp>
        <p:nvSpPr>
          <p:cNvPr id="11" name="Title 10">
            <a:extLst>
              <a:ext uri="{FF2B5EF4-FFF2-40B4-BE49-F238E27FC236}">
                <a16:creationId xmlns:a16="http://schemas.microsoft.com/office/drawing/2014/main" id="{9812FFA8-51B7-6884-CF0E-C93CC8AFDF47}"/>
              </a:ext>
            </a:extLst>
          </p:cNvPr>
          <p:cNvSpPr>
            <a:spLocks noGrp="1"/>
          </p:cNvSpPr>
          <p:nvPr>
            <p:ph type="title"/>
          </p:nvPr>
        </p:nvSpPr>
        <p:spPr/>
        <p:txBody>
          <a:bodyPr/>
          <a:lstStyle/>
          <a:p>
            <a:r>
              <a:rPr lang="en-US" sz="1800" dirty="0"/>
              <a:t>Security &amp; Identity Updates</a:t>
            </a:r>
            <a:endParaRPr lang="en-US" dirty="0"/>
          </a:p>
        </p:txBody>
      </p:sp>
      <p:sp>
        <p:nvSpPr>
          <p:cNvPr id="13" name="Text Placeholder 12">
            <a:extLst>
              <a:ext uri="{FF2B5EF4-FFF2-40B4-BE49-F238E27FC236}">
                <a16:creationId xmlns:a16="http://schemas.microsoft.com/office/drawing/2014/main" id="{181E9D90-FC8D-4BB4-1192-06287944D69A}"/>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57653CBA-7798-1DDA-935D-84A87F7469B1}"/>
              </a:ext>
            </a:extLst>
          </p:cNvPr>
          <p:cNvSpPr>
            <a:spLocks noGrp="1"/>
          </p:cNvSpPr>
          <p:nvPr>
            <p:ph type="body" sz="quarter" idx="16"/>
          </p:nvPr>
        </p:nvSpPr>
        <p:spPr/>
        <p:txBody>
          <a:bodyPr/>
          <a:lstStyle/>
          <a:p>
            <a:pPr algn="just"/>
            <a:r>
              <a:rPr lang="en-US" dirty="0">
                <a:hlinkClick r:id="rId3"/>
              </a:rPr>
              <a:t>General Availability - Microsoft Entra Connect security hardening to prevent user account takeover</a:t>
            </a:r>
            <a:endParaRPr lang="en-US" dirty="0"/>
          </a:p>
          <a:p>
            <a:pPr algn="just"/>
            <a:r>
              <a:rPr lang="en-US" dirty="0"/>
              <a:t>As part of ongoing security hardening, Microsoft has implemented new safeguards to block account takeover attempts via hard match abuse in Microsoft Entra Connect (known as </a:t>
            </a:r>
            <a:r>
              <a:rPr lang="en-US" dirty="0" err="1"/>
              <a:t>SyncJacking</a:t>
            </a:r>
            <a:r>
              <a:rPr lang="en-US" dirty="0"/>
              <a:t>). Enforcement of this change begins in March 2026. </a:t>
            </a:r>
          </a:p>
          <a:p>
            <a:pPr algn="just"/>
            <a:r>
              <a:rPr lang="en-US" dirty="0"/>
              <a:t>What’s Changing: </a:t>
            </a:r>
          </a:p>
          <a:p>
            <a:pPr marL="171450" indent="-171450" algn="just">
              <a:buFont typeface="Arial" panose="020B0604020202020204" pitchFamily="34" charset="0"/>
              <a:buChar char="•"/>
            </a:pPr>
            <a:r>
              <a:rPr lang="en-US" dirty="0"/>
              <a:t>Enforcement logic now checks </a:t>
            </a:r>
            <a:r>
              <a:rPr lang="en-US" dirty="0" err="1"/>
              <a:t>OnPremisesObjectIdentifier</a:t>
            </a:r>
            <a:r>
              <a:rPr lang="en-US" dirty="0"/>
              <a:t> to detect and block remapping attempts. </a:t>
            </a:r>
          </a:p>
          <a:p>
            <a:pPr marL="171450" indent="-171450" algn="just">
              <a:buFont typeface="Arial" panose="020B0604020202020204" pitchFamily="34" charset="0"/>
              <a:buChar char="•"/>
            </a:pPr>
            <a:r>
              <a:rPr lang="en-US" dirty="0"/>
              <a:t>Audit logs have been enhanced to capture changes to </a:t>
            </a:r>
            <a:r>
              <a:rPr lang="en-US" dirty="0" err="1"/>
              <a:t>OnPremisesObjectIdentifier</a:t>
            </a:r>
            <a:r>
              <a:rPr lang="en-US" dirty="0"/>
              <a:t> and </a:t>
            </a:r>
            <a:r>
              <a:rPr lang="en-US" dirty="0" err="1"/>
              <a:t>DirSyncEnabled</a:t>
            </a:r>
            <a:r>
              <a:rPr lang="en-US" dirty="0"/>
              <a:t>. </a:t>
            </a:r>
          </a:p>
          <a:p>
            <a:pPr marL="171450" indent="-171450" algn="just">
              <a:buFont typeface="Arial" panose="020B0604020202020204" pitchFamily="34" charset="0"/>
              <a:buChar char="•"/>
            </a:pPr>
            <a:r>
              <a:rPr lang="en-US" dirty="0"/>
              <a:t>Admin capability added to clear </a:t>
            </a:r>
            <a:r>
              <a:rPr lang="en-US" dirty="0" err="1"/>
              <a:t>OnPremisesObjectIdentifier</a:t>
            </a:r>
            <a:r>
              <a:rPr lang="en-US" dirty="0"/>
              <a:t> for legitimate recovery scenarios. </a:t>
            </a:r>
          </a:p>
          <a:p>
            <a:pPr algn="just"/>
            <a:r>
              <a:rPr lang="en-US" dirty="0"/>
              <a:t>Customer Action Required: </a:t>
            </a:r>
          </a:p>
          <a:p>
            <a:pPr marL="171450" indent="-171450" algn="just">
              <a:buFont typeface="Arial" panose="020B0604020202020204" pitchFamily="34" charset="0"/>
              <a:buChar char="•"/>
            </a:pPr>
            <a:r>
              <a:rPr lang="en-US" dirty="0"/>
              <a:t>Upgrade to the latest Microsoft Entra Connect version. </a:t>
            </a:r>
          </a:p>
          <a:p>
            <a:pPr marL="171450" indent="-171450" algn="just">
              <a:buFont typeface="Arial" panose="020B0604020202020204" pitchFamily="34" charset="0"/>
              <a:buChar char="•"/>
            </a:pPr>
            <a:r>
              <a:rPr lang="en-US" dirty="0"/>
              <a:t>Review updated hardening guidance and enable recommended flags:  </a:t>
            </a:r>
          </a:p>
          <a:p>
            <a:pPr marL="171450" indent="-171450" algn="just">
              <a:buFont typeface="Arial" panose="020B0604020202020204" pitchFamily="34" charset="0"/>
              <a:buChar char="•"/>
            </a:pPr>
            <a:r>
              <a:rPr lang="en-US" dirty="0"/>
              <a:t>Disable </a:t>
            </a:r>
            <a:r>
              <a:rPr lang="en-US" dirty="0">
                <a:hlinkClick r:id="rId4"/>
              </a:rPr>
              <a:t>hard match takeover</a:t>
            </a:r>
            <a:r>
              <a:rPr lang="en-US" dirty="0"/>
              <a:t> </a:t>
            </a:r>
          </a:p>
          <a:p>
            <a:pPr algn="just"/>
            <a:endParaRPr lang="en-US" dirty="0"/>
          </a:p>
          <a:p>
            <a:pPr algn="just"/>
            <a:endParaRPr lang="en-US" dirty="0"/>
          </a:p>
        </p:txBody>
      </p:sp>
    </p:spTree>
    <p:extLst>
      <p:ext uri="{BB962C8B-B14F-4D97-AF65-F5344CB8AC3E}">
        <p14:creationId xmlns:p14="http://schemas.microsoft.com/office/powerpoint/2010/main" val="3107719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
                                            <p:txEl>
                                              <p:pRg st="0" end="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065D848-E899-FB5B-E75A-9EF8E63AEC1B}"/>
              </a:ext>
            </a:extLst>
          </p:cNvPr>
          <p:cNvSpPr>
            <a:spLocks noGrp="1"/>
          </p:cNvSpPr>
          <p:nvPr>
            <p:ph type="body" sz="quarter" idx="10"/>
          </p:nvPr>
        </p:nvSpPr>
        <p:spPr>
          <a:xfrm>
            <a:off x="4433776" y="855081"/>
            <a:ext cx="4365038" cy="827670"/>
          </a:xfrm>
        </p:spPr>
        <p:txBody>
          <a:bodyPr/>
          <a:lstStyle/>
          <a:p>
            <a:r>
              <a:rPr lang="en-US" sz="1000" dirty="0">
                <a:hlinkClick r:id="rId2"/>
              </a:rPr>
              <a:t>Cloud posture management adds serverless protection for Azure and AWS (Preview)</a:t>
            </a:r>
            <a:endParaRPr lang="en-US" sz="1000" dirty="0"/>
          </a:p>
          <a:p>
            <a:r>
              <a:rPr lang="en-US" sz="1000" dirty="0"/>
              <a:t>Defender for Cloud extends the capabilities of the Defender Cloud Security Posture Management (CSPM) plan to serverless workloads in Azure and Amazon Web Service (AWS) (Preview) in both the Azure portal and the Defender portal.</a:t>
            </a:r>
          </a:p>
        </p:txBody>
      </p:sp>
      <p:sp>
        <p:nvSpPr>
          <p:cNvPr id="3" name="Title 2">
            <a:extLst>
              <a:ext uri="{FF2B5EF4-FFF2-40B4-BE49-F238E27FC236}">
                <a16:creationId xmlns:a16="http://schemas.microsoft.com/office/drawing/2014/main" id="{E5E7C101-C66F-D495-2D7D-518C4FE696BE}"/>
              </a:ext>
            </a:extLst>
          </p:cNvPr>
          <p:cNvSpPr>
            <a:spLocks noGrp="1"/>
          </p:cNvSpPr>
          <p:nvPr>
            <p:ph type="title"/>
          </p:nvPr>
        </p:nvSpPr>
        <p:spPr/>
        <p:txBody>
          <a:bodyPr/>
          <a:lstStyle/>
          <a:p>
            <a:r>
              <a:rPr lang="en-US" sz="1600" dirty="0"/>
              <a:t>Security &amp; Identity Updates</a:t>
            </a:r>
            <a:endParaRPr lang="en-US" dirty="0"/>
          </a:p>
        </p:txBody>
      </p:sp>
      <p:sp>
        <p:nvSpPr>
          <p:cNvPr id="4" name="Text Placeholder 3">
            <a:extLst>
              <a:ext uri="{FF2B5EF4-FFF2-40B4-BE49-F238E27FC236}">
                <a16:creationId xmlns:a16="http://schemas.microsoft.com/office/drawing/2014/main" id="{44F3B70F-0911-FDC6-1C79-93A5F32BAB97}"/>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AD70A019-0B4F-E119-E062-8459DBAD48C4}"/>
              </a:ext>
            </a:extLst>
          </p:cNvPr>
          <p:cNvSpPr>
            <a:spLocks noGrp="1"/>
          </p:cNvSpPr>
          <p:nvPr>
            <p:ph type="body" sz="quarter" idx="16"/>
          </p:nvPr>
        </p:nvSpPr>
        <p:spPr/>
        <p:txBody>
          <a:bodyPr/>
          <a:lstStyle/>
          <a:p>
            <a:pPr algn="just"/>
            <a:r>
              <a:rPr lang="en-US" dirty="0">
                <a:hlinkClick r:id="rId3"/>
              </a:rPr>
              <a:t>AWS CloudTrail ingestion (Preview)</a:t>
            </a:r>
            <a:endParaRPr lang="en-US" dirty="0"/>
          </a:p>
          <a:p>
            <a:pPr algn="just"/>
            <a:r>
              <a:rPr lang="en-US" dirty="0"/>
              <a:t>When enabled, AWS CloudTrail ingestion enhances Cloud Infrastructure Entitlement Management (CIEM) by incorporating observed AWS management event activity alongside existing entitlement signals such as Access Advisor data. The additional usage context helps improve the accuracy of AWS security recommendations, including identifying unused permissions, dormant identities, and potential privilege escalation paths.</a:t>
            </a:r>
          </a:p>
          <a:p>
            <a:pPr algn="just"/>
            <a:r>
              <a:rPr lang="en-US" dirty="0"/>
              <a:t>CloudTrail ingestion is supported for single AWS accounts and AWS Organizations that use centralized logging.</a:t>
            </a:r>
          </a:p>
        </p:txBody>
      </p:sp>
      <p:pic>
        <p:nvPicPr>
          <p:cNvPr id="7" name="Picture 6">
            <a:extLst>
              <a:ext uri="{FF2B5EF4-FFF2-40B4-BE49-F238E27FC236}">
                <a16:creationId xmlns:a16="http://schemas.microsoft.com/office/drawing/2014/main" id="{59355848-E1FC-511B-F94E-D41DB32D7586}"/>
              </a:ext>
            </a:extLst>
          </p:cNvPr>
          <p:cNvPicPr>
            <a:picLocks noChangeAspect="1"/>
          </p:cNvPicPr>
          <p:nvPr/>
        </p:nvPicPr>
        <p:blipFill>
          <a:blip r:embed="rId4"/>
          <a:stretch>
            <a:fillRect/>
          </a:stretch>
        </p:blipFill>
        <p:spPr>
          <a:xfrm>
            <a:off x="4892730" y="1682751"/>
            <a:ext cx="3631093" cy="1300354"/>
          </a:xfrm>
          <a:prstGeom prst="rect">
            <a:avLst/>
          </a:prstGeom>
        </p:spPr>
      </p:pic>
    </p:spTree>
    <p:extLst>
      <p:ext uri="{BB962C8B-B14F-4D97-AF65-F5344CB8AC3E}">
        <p14:creationId xmlns:p14="http://schemas.microsoft.com/office/powerpoint/2010/main" val="1783267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A049FD-7304-5C76-C75C-BE50A9357EF9}"/>
              </a:ext>
            </a:extLst>
          </p:cNvPr>
          <p:cNvSpPr>
            <a:spLocks noGrp="1"/>
          </p:cNvSpPr>
          <p:nvPr>
            <p:ph type="title"/>
          </p:nvPr>
        </p:nvSpPr>
        <p:spPr/>
        <p:txBody>
          <a:bodyPr/>
          <a:lstStyle/>
          <a:p>
            <a:r>
              <a:rPr lang="en-US" sz="1800" dirty="0"/>
              <a:t>Security &amp; Identity Updates</a:t>
            </a:r>
            <a:endParaRPr lang="en-US" dirty="0"/>
          </a:p>
        </p:txBody>
      </p:sp>
      <p:sp>
        <p:nvSpPr>
          <p:cNvPr id="4" name="Text Placeholder 3">
            <a:extLst>
              <a:ext uri="{FF2B5EF4-FFF2-40B4-BE49-F238E27FC236}">
                <a16:creationId xmlns:a16="http://schemas.microsoft.com/office/drawing/2014/main" id="{37CBAE4C-9CEC-FB5F-5381-ACFA565689BE}"/>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06E68A7A-F360-0C0E-650C-297CEF9D8748}"/>
              </a:ext>
            </a:extLst>
          </p:cNvPr>
          <p:cNvSpPr>
            <a:spLocks noGrp="1"/>
          </p:cNvSpPr>
          <p:nvPr>
            <p:ph type="body" sz="quarter" idx="16"/>
          </p:nvPr>
        </p:nvSpPr>
        <p:spPr/>
        <p:txBody>
          <a:bodyPr/>
          <a:lstStyle/>
          <a:p>
            <a:pPr algn="just"/>
            <a:r>
              <a:rPr lang="en-US" dirty="0">
                <a:hlinkClick r:id="rId2"/>
              </a:rPr>
              <a:t>General availability of the Endor Labs integration</a:t>
            </a:r>
            <a:endParaRPr lang="en-US" dirty="0"/>
          </a:p>
          <a:p>
            <a:pPr algn="just"/>
            <a:r>
              <a:rPr lang="en-US" dirty="0"/>
              <a:t>Defender for Cloud's integration with Endor labs is now generally available.</a:t>
            </a:r>
          </a:p>
          <a:p>
            <a:pPr algn="just"/>
            <a:r>
              <a:rPr lang="en-US" dirty="0"/>
              <a:t>Defender for Cloud's integration with Endor Labs enhances vulnerability analysis by using reachability-based Software Composition Analysis (SCA), which shows exploitable vulnerabilities from code to runtime.</a:t>
            </a:r>
          </a:p>
          <a:p>
            <a:pPr algn="just"/>
            <a:endParaRPr lang="en-US" dirty="0"/>
          </a:p>
        </p:txBody>
      </p:sp>
    </p:spTree>
    <p:extLst>
      <p:ext uri="{BB962C8B-B14F-4D97-AF65-F5344CB8AC3E}">
        <p14:creationId xmlns:p14="http://schemas.microsoft.com/office/powerpoint/2010/main" val="599684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8796812" cy="1714500"/>
          </a:xfrm>
        </p:spPr>
        <p:txBody>
          <a:bodyPr/>
          <a:lstStyle/>
          <a:p>
            <a:r>
              <a:rPr lang="en-US" sz="4000" dirty="0"/>
              <a:t>Management &amp; Governance</a:t>
            </a:r>
          </a:p>
        </p:txBody>
      </p:sp>
    </p:spTree>
    <p:extLst>
      <p:ext uri="{BB962C8B-B14F-4D97-AF65-F5344CB8AC3E}">
        <p14:creationId xmlns:p14="http://schemas.microsoft.com/office/powerpoint/2010/main" val="34791831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B2A5C-E35F-E18E-05A4-B6AF8CF698D5}"/>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89DE73F3-4A2F-648B-BD17-44C88CDB5688}"/>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1A20683A-1573-CC2D-401E-61BAED70A144}"/>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4B5FF973-31C8-BEFD-DC1E-6209231AED94}"/>
              </a:ext>
            </a:extLst>
          </p:cNvPr>
          <p:cNvSpPr>
            <a:spLocks noGrp="1"/>
          </p:cNvSpPr>
          <p:nvPr>
            <p:ph type="body" sz="quarter" idx="16"/>
          </p:nvPr>
        </p:nvSpPr>
        <p:spPr>
          <a:xfrm>
            <a:off x="342900" y="855081"/>
            <a:ext cx="3955312" cy="1599362"/>
          </a:xfrm>
        </p:spPr>
        <p:txBody>
          <a:bodyPr/>
          <a:lstStyle/>
          <a:p>
            <a:pPr algn="just"/>
            <a:r>
              <a:rPr lang="en-US" dirty="0">
                <a:hlinkClick r:id="rId2"/>
              </a:rPr>
              <a:t>Generally Available: Cloud-native apps on Kubernetes pricing calculator scenario</a:t>
            </a:r>
            <a:endParaRPr lang="en-US" dirty="0"/>
          </a:p>
          <a:p>
            <a:pPr algn="just"/>
            <a:r>
              <a:rPr lang="en-US" dirty="0"/>
              <a:t>The new cloud-native apps on Kubernetes pricing calculator scenario allows teams to estimate the total cost of ownership for a production-ready AKS cluster with other key Azure services, including Azure Container Registry, Azure Monitoring, Microsoft Defender for Cloud, and more. The calculator scenario provides an architecture diagram and cost estimate with customizable inputs to fit your workload requirements. </a:t>
            </a:r>
          </a:p>
        </p:txBody>
      </p:sp>
    </p:spTree>
    <p:extLst>
      <p:ext uri="{BB962C8B-B14F-4D97-AF65-F5344CB8AC3E}">
        <p14:creationId xmlns:p14="http://schemas.microsoft.com/office/powerpoint/2010/main" val="2370736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Compute</a:t>
            </a:r>
          </a:p>
        </p:txBody>
      </p:sp>
    </p:spTree>
    <p:extLst>
      <p:ext uri="{BB962C8B-B14F-4D97-AF65-F5344CB8AC3E}">
        <p14:creationId xmlns:p14="http://schemas.microsoft.com/office/powerpoint/2010/main" val="2747428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Announcing Azure </a:t>
            </a:r>
            <a:r>
              <a:rPr lang="en-US" sz="1000" dirty="0" err="1">
                <a:hlinkClick r:id="rId2"/>
              </a:rPr>
              <a:t>CycleCloud</a:t>
            </a:r>
            <a:r>
              <a:rPr lang="en-US" sz="1000" dirty="0">
                <a:hlinkClick r:id="rId2"/>
              </a:rPr>
              <a:t> Workspace for </a:t>
            </a:r>
            <a:r>
              <a:rPr lang="en-US" sz="1000" dirty="0" err="1">
                <a:hlinkClick r:id="rId2"/>
              </a:rPr>
              <a:t>Slurm</a:t>
            </a:r>
            <a:r>
              <a:rPr lang="en-US" sz="1000" dirty="0">
                <a:hlinkClick r:id="rId2"/>
              </a:rPr>
              <a:t>: Version 2025.12.01 Release</a:t>
            </a:r>
            <a:endParaRPr lang="en-US" sz="1000" dirty="0"/>
          </a:p>
          <a:p>
            <a:pPr algn="just"/>
            <a:r>
              <a:rPr lang="en-US" sz="1000" dirty="0"/>
              <a:t>Azure </a:t>
            </a:r>
            <a:r>
              <a:rPr lang="en-US" sz="1000" dirty="0" err="1"/>
              <a:t>CycleCloud</a:t>
            </a:r>
            <a:r>
              <a:rPr lang="en-US" sz="1000" dirty="0"/>
              <a:t> Workspace for </a:t>
            </a:r>
            <a:r>
              <a:rPr lang="en-US" sz="1000" dirty="0" err="1"/>
              <a:t>Slurm</a:t>
            </a:r>
            <a:r>
              <a:rPr lang="en-US" sz="1000" dirty="0"/>
              <a:t> has been updated with </a:t>
            </a:r>
            <a:r>
              <a:rPr lang="en-US" sz="1000" dirty="0" err="1"/>
              <a:t>CycleCloud</a:t>
            </a:r>
            <a:r>
              <a:rPr lang="en-US" sz="1000" dirty="0"/>
              <a:t> 8.8.1, delivering improvements across cluster management, monitoring, security, and platform support. This release enhances scalability, operational efficiency, and flexibility for building and running HPC environments on Azure.</a:t>
            </a:r>
          </a:p>
          <a:p>
            <a:pPr marL="171450" indent="-171450" algn="just">
              <a:buFont typeface="Arial" panose="020B0604020202020204" pitchFamily="34" charset="0"/>
              <a:buChar char="•"/>
            </a:pPr>
            <a:r>
              <a:rPr lang="en-US" sz="1000" dirty="0"/>
              <a:t>Integrated Monitoring with Prometheus self-agent and managed Grafana</a:t>
            </a:r>
          </a:p>
          <a:p>
            <a:pPr marL="171450" indent="-171450" algn="just">
              <a:buFont typeface="Arial" panose="020B0604020202020204" pitchFamily="34" charset="0"/>
              <a:buChar char="•"/>
            </a:pPr>
            <a:r>
              <a:rPr lang="en-US" sz="1000" dirty="0"/>
              <a:t>Entra ID Single Sign-On (SSO) for secure and seamless authentication</a:t>
            </a:r>
          </a:p>
          <a:p>
            <a:pPr marL="171450" indent="-171450" algn="just">
              <a:buFont typeface="Arial" panose="020B0604020202020204" pitchFamily="34" charset="0"/>
              <a:buChar char="•"/>
            </a:pPr>
            <a:r>
              <a:rPr lang="en-US" sz="1000" dirty="0"/>
              <a:t>Support for ARM64 compute nodes</a:t>
            </a:r>
          </a:p>
          <a:p>
            <a:pPr marL="171450" indent="-171450" algn="just">
              <a:buFont typeface="Arial" panose="020B0604020202020204" pitchFamily="34" charset="0"/>
              <a:buChar char="•"/>
            </a:pPr>
            <a:r>
              <a:rPr lang="en-US" sz="1000" dirty="0"/>
              <a:t>Compatibility with Ubuntu 24.04 and </a:t>
            </a:r>
            <a:r>
              <a:rPr lang="en-US" sz="1000" dirty="0" err="1"/>
              <a:t>AlmaLinux</a:t>
            </a:r>
            <a:r>
              <a:rPr lang="en-US" sz="1000" dirty="0"/>
              <a:t> 9</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r>
              <a:rPr lang="en-US" dirty="0">
                <a:hlinkClick r:id="rId3"/>
              </a:rPr>
              <a:t>Public Preview: Service Bus SDK type bindings in Azure Functions for Node.js</a:t>
            </a:r>
            <a:endParaRPr lang="en-US" dirty="0"/>
          </a:p>
          <a:p>
            <a:pPr algn="just"/>
            <a:r>
              <a:rPr lang="en-US" dirty="0"/>
              <a:t>Azure Functions triggers and bindings enable easy integration of events and data sources with function applications.  </a:t>
            </a:r>
          </a:p>
          <a:p>
            <a:pPr algn="just"/>
            <a:r>
              <a:rPr lang="en-US" dirty="0"/>
              <a:t>Now that SDK type bindings support for Azure Blob Storage is available, MS is also introducing support for Service Bus SDK type bindings in Node.js function apps.  </a:t>
            </a:r>
          </a:p>
          <a:p>
            <a:pPr algn="just"/>
            <a:r>
              <a:rPr lang="en-US" dirty="0"/>
              <a:t>This means in JavaScript or TypeScript function apps, it is now possible to interact with a </a:t>
            </a:r>
            <a:r>
              <a:rPr lang="en-US" dirty="0" err="1"/>
              <a:t>ServiceBusMessageContext</a:t>
            </a:r>
            <a:r>
              <a:rPr lang="en-US" dirty="0"/>
              <a:t> type offering advanced messaging functionality. </a:t>
            </a:r>
          </a:p>
        </p:txBody>
      </p:sp>
    </p:spTree>
    <p:extLst>
      <p:ext uri="{BB962C8B-B14F-4D97-AF65-F5344CB8AC3E}">
        <p14:creationId xmlns:p14="http://schemas.microsoft.com/office/powerpoint/2010/main" val="674135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Storage &amp; Data</a:t>
            </a:r>
          </a:p>
        </p:txBody>
      </p:sp>
    </p:spTree>
    <p:extLst>
      <p:ext uri="{BB962C8B-B14F-4D97-AF65-F5344CB8AC3E}">
        <p14:creationId xmlns:p14="http://schemas.microsoft.com/office/powerpoint/2010/main" val="21881407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Public Preview: Azure NetApp Files advanced ransomware protection</a:t>
            </a:r>
            <a:endParaRPr lang="en-US" sz="1000" dirty="0"/>
          </a:p>
          <a:p>
            <a:pPr algn="just"/>
            <a:r>
              <a:rPr lang="en-US" sz="1000" dirty="0"/>
              <a:t>Azure NetApp Files advanced ransomware protection (ANF ARP) is now in Public Preview.  ANF ARP is designed to help organizations proactively detect, respond to, and recover from ransomware threats on cloud volumes. ANF ARP monitors Azure NetApp Files volumes for suspicious activity using file extension profiling, entropy, and IOPS patterns. When a threat is detected, the system creates a point-in-time snapshot, enabling rapid evaluation and recovery. Notifications are sent via Azure Activity log and attack reports are retained for 30 days. There is no specific additional charge for ANF ARP.</a:t>
            </a:r>
          </a:p>
          <a:p>
            <a:pPr marL="171450" indent="-171450" algn="just">
              <a:buFont typeface="Arial" panose="020B0604020202020204" pitchFamily="34" charset="0"/>
              <a:buChar char="•"/>
            </a:pPr>
            <a:r>
              <a:rPr lang="en-US" sz="1000" dirty="0"/>
              <a:t>Advanced ransomware protection is only available for newly created volumes. You must enable protection when you create the volume.</a:t>
            </a:r>
          </a:p>
          <a:p>
            <a:pPr marL="171450" indent="-171450" algn="just">
              <a:buFont typeface="Arial" panose="020B0604020202020204" pitchFamily="34" charset="0"/>
              <a:buChar char="•"/>
            </a:pPr>
            <a:r>
              <a:rPr lang="en-US" sz="1000" dirty="0"/>
              <a:t>Attack reports are retained for 30 days.</a:t>
            </a:r>
          </a:p>
          <a:p>
            <a:pPr marL="171450" indent="-171450" algn="just">
              <a:buFont typeface="Arial" panose="020B0604020202020204" pitchFamily="34" charset="0"/>
              <a:buChar char="•"/>
            </a:pPr>
            <a:r>
              <a:rPr lang="en-US" sz="1000" dirty="0"/>
              <a:t>Ransomware threat notifications are sent in the Azure Activity log.</a:t>
            </a:r>
          </a:p>
          <a:p>
            <a:pPr marL="171450" indent="-171450" algn="just">
              <a:buFont typeface="Arial" panose="020B0604020202020204" pitchFamily="34" charset="0"/>
              <a:buChar char="•"/>
            </a:pPr>
            <a:r>
              <a:rPr lang="en-US" sz="1000" dirty="0"/>
              <a:t>It’s recommended to enable no more than five volumes per Azure region with advanced ransomware protection to mitigate performance issues.</a:t>
            </a:r>
          </a:p>
          <a:p>
            <a:pPr marL="171450" indent="-171450" algn="just">
              <a:buFont typeface="Arial" panose="020B0604020202020204" pitchFamily="34" charset="0"/>
              <a:buChar char="•"/>
            </a:pPr>
            <a:r>
              <a:rPr lang="en-US" sz="1000" dirty="0"/>
              <a:t>It's recommended to  increase QoS capacity by 5 to 10 percent due to potential performance impacts of advanced ransomware protection. The scale of the impact can vary based on the configurations across Azure NetApp Files deployment.</a:t>
            </a:r>
          </a:p>
          <a:p>
            <a:pPr algn="just"/>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Storage &amp; Data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Public Preview: Azure Blob-to-Blob migration made simple with Azure Storage Mover</a:t>
            </a:r>
            <a:endParaRPr lang="en-US" dirty="0"/>
          </a:p>
          <a:p>
            <a:pPr algn="just"/>
            <a:r>
              <a:rPr lang="en-US" dirty="0"/>
              <a:t>Azure Storage Mover’s new Azure Blob container-to-container migration feature is now in Public Preview, empowering organizations to move data between two Blob containers within the same or different storage accounts, subscriptions or Azure regions securely, reliably, and at scale. With this release, customers can eliminate manual pipelines and tools, automate migrations in the Azure portal, and gain real-time visibility into every job.</a:t>
            </a:r>
          </a:p>
          <a:p>
            <a:pPr algn="just"/>
            <a:r>
              <a:rPr lang="en-US" dirty="0"/>
              <a:t>The Azure Blob container-to-container transfer feature in Azure Storage Mover has the following limits:</a:t>
            </a:r>
          </a:p>
          <a:p>
            <a:pPr marL="171450" indent="-171450" algn="just">
              <a:buFont typeface="Arial" panose="020B0604020202020204" pitchFamily="34" charset="0"/>
              <a:buChar char="•"/>
            </a:pPr>
            <a:r>
              <a:rPr lang="en-US" dirty="0"/>
              <a:t>Each migration job supports the transfer of 500 million objects.</a:t>
            </a:r>
          </a:p>
          <a:p>
            <a:pPr marL="171450" indent="-171450" algn="just">
              <a:buFont typeface="Arial" panose="020B0604020202020204" pitchFamily="34" charset="0"/>
              <a:buChar char="•"/>
            </a:pPr>
            <a:r>
              <a:rPr lang="en-US" dirty="0"/>
              <a:t>A maximum of 10 concurrent jobs is supported per subscription. If you need to run more than 10, create a support request.</a:t>
            </a:r>
          </a:p>
          <a:p>
            <a:pPr marL="171450" indent="-171450" algn="just">
              <a:buFont typeface="Arial" panose="020B0604020202020204" pitchFamily="34" charset="0"/>
              <a:buChar char="•"/>
            </a:pPr>
            <a:r>
              <a:rPr lang="en-US" dirty="0"/>
              <a:t>Azure Storage Mover doesn't support automatic rehydration of archived objects. You must restore data stored in Azure Blob Archive before migration. Initiate migration jobs only after the data is fully restored.</a:t>
            </a:r>
          </a:p>
          <a:p>
            <a:pPr marL="171450" indent="-171450" algn="just">
              <a:buFont typeface="Arial" panose="020B0604020202020204" pitchFamily="34" charset="0"/>
              <a:buChar char="•"/>
            </a:pPr>
            <a:r>
              <a:rPr lang="en-US" dirty="0"/>
              <a:t>Blob container-to-container migration doesn't allow you to select the same Source and Target Endpoint in the same Migration Job Creation.</a:t>
            </a:r>
          </a:p>
          <a:p>
            <a:pPr marL="171450" indent="-171450" algn="just">
              <a:buFont typeface="Arial" panose="020B0604020202020204" pitchFamily="34" charset="0"/>
              <a:buChar char="•"/>
            </a:pPr>
            <a:r>
              <a:rPr lang="en-US" dirty="0"/>
              <a:t>Blobs aren't truly moved but copied. The Blob container continues to exist in its current location along with the Target location set.</a:t>
            </a:r>
          </a:p>
          <a:p>
            <a:pPr algn="just"/>
            <a:endParaRPr lang="en-US" dirty="0"/>
          </a:p>
        </p:txBody>
      </p:sp>
    </p:spTree>
    <p:extLst>
      <p:ext uri="{BB962C8B-B14F-4D97-AF65-F5344CB8AC3E}">
        <p14:creationId xmlns:p14="http://schemas.microsoft.com/office/powerpoint/2010/main" val="3259403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xEl>
                                              <p:pRg st="2" end="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xEl>
                                              <p:pRg st="3" end="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xEl>
                                              <p:pRg st="4" end="4"/>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
                                            <p:txEl>
                                              <p:pRg st="5" end="5"/>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3080430-C994-2537-9D91-A0496B63FF48}"/>
              </a:ext>
            </a:extLst>
          </p:cNvPr>
          <p:cNvSpPr>
            <a:spLocks noGrp="1"/>
          </p:cNvSpPr>
          <p:nvPr>
            <p:ph type="title"/>
          </p:nvPr>
        </p:nvSpPr>
        <p:spPr/>
        <p:txBody>
          <a:bodyPr/>
          <a:lstStyle/>
          <a:p>
            <a:r>
              <a:rPr lang="en-US" sz="1600" dirty="0"/>
              <a:t>Storage &amp; Data Updates</a:t>
            </a:r>
            <a:endParaRPr lang="en-US" dirty="0"/>
          </a:p>
        </p:txBody>
      </p:sp>
      <p:sp>
        <p:nvSpPr>
          <p:cNvPr id="4" name="Text Placeholder 3">
            <a:extLst>
              <a:ext uri="{FF2B5EF4-FFF2-40B4-BE49-F238E27FC236}">
                <a16:creationId xmlns:a16="http://schemas.microsoft.com/office/drawing/2014/main" id="{D51148BC-EFC4-C0DF-D3BA-339E4726B859}"/>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2CA2C666-BA70-ACEF-C844-04A0FCCE2621}"/>
              </a:ext>
            </a:extLst>
          </p:cNvPr>
          <p:cNvSpPr>
            <a:spLocks noGrp="1"/>
          </p:cNvSpPr>
          <p:nvPr>
            <p:ph type="body" sz="quarter" idx="16"/>
          </p:nvPr>
        </p:nvSpPr>
        <p:spPr>
          <a:xfrm>
            <a:off x="342900" y="855081"/>
            <a:ext cx="3955312" cy="1659520"/>
          </a:xfrm>
        </p:spPr>
        <p:txBody>
          <a:bodyPr/>
          <a:lstStyle/>
          <a:p>
            <a:pPr algn="just"/>
            <a:r>
              <a:rPr lang="en-US" dirty="0">
                <a:hlinkClick r:id="rId2"/>
              </a:rPr>
              <a:t>Public Preview of Managed Identities support with Azure Files SMB</a:t>
            </a:r>
            <a:endParaRPr lang="ru-RU" dirty="0"/>
          </a:p>
          <a:p>
            <a:pPr algn="just"/>
            <a:r>
              <a:rPr lang="en-US" dirty="0"/>
              <a:t>This capability provides a secure, identity-driven approach for customer applications that eliminates credentials-based access and integrates seamlessly with MS Entra ID.  Azure virtual machines, containers, and applications running in Azure can now authenticate to Azure Files using their own managed identity, and mount shares using short lived OAuth tokens over Kerberos. This unlocks secure file share access for both first party and customer applications, including Azure Kubernetes Service (AKS), Azure Functions, App Services, and other cloud native services</a:t>
            </a:r>
          </a:p>
        </p:txBody>
      </p:sp>
      <p:pic>
        <p:nvPicPr>
          <p:cNvPr id="7" name="Picture 6">
            <a:extLst>
              <a:ext uri="{FF2B5EF4-FFF2-40B4-BE49-F238E27FC236}">
                <a16:creationId xmlns:a16="http://schemas.microsoft.com/office/drawing/2014/main" id="{E2FC08B9-DD0C-E51B-20D5-66430EFACEE2}"/>
              </a:ext>
            </a:extLst>
          </p:cNvPr>
          <p:cNvPicPr>
            <a:picLocks noChangeAspect="1"/>
          </p:cNvPicPr>
          <p:nvPr/>
        </p:nvPicPr>
        <p:blipFill>
          <a:blip r:embed="rId3"/>
          <a:stretch>
            <a:fillRect/>
          </a:stretch>
        </p:blipFill>
        <p:spPr>
          <a:xfrm>
            <a:off x="443640" y="2628900"/>
            <a:ext cx="3753832" cy="1143095"/>
          </a:xfrm>
          <a:prstGeom prst="rect">
            <a:avLst/>
          </a:prstGeom>
        </p:spPr>
      </p:pic>
    </p:spTree>
    <p:extLst>
      <p:ext uri="{BB962C8B-B14F-4D97-AF65-F5344CB8AC3E}">
        <p14:creationId xmlns:p14="http://schemas.microsoft.com/office/powerpoint/2010/main" val="666483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4BC30-BE9D-D666-D8EC-C477902CDD33}"/>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9338C940-1C5A-F159-79FA-059EBE1E77FE}"/>
              </a:ext>
            </a:extLst>
          </p:cNvPr>
          <p:cNvSpPr>
            <a:spLocks noGrp="1"/>
          </p:cNvSpPr>
          <p:nvPr>
            <p:ph type="title"/>
          </p:nvPr>
        </p:nvSpPr>
        <p:spPr/>
        <p:txBody>
          <a:bodyPr/>
          <a:lstStyle/>
          <a:p>
            <a:r>
              <a:rPr lang="en-US" sz="1800" dirty="0"/>
              <a:t>Storage &amp; Data Updates</a:t>
            </a:r>
            <a:endParaRPr lang="en-US" dirty="0"/>
          </a:p>
        </p:txBody>
      </p:sp>
      <p:sp>
        <p:nvSpPr>
          <p:cNvPr id="13" name="Text Placeholder 12">
            <a:extLst>
              <a:ext uri="{FF2B5EF4-FFF2-40B4-BE49-F238E27FC236}">
                <a16:creationId xmlns:a16="http://schemas.microsoft.com/office/drawing/2014/main" id="{79819030-1C59-2813-CD9C-4D9347E3D500}"/>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B6F37A70-680F-B50D-A1A9-E9D2AE2C922F}"/>
              </a:ext>
            </a:extLst>
          </p:cNvPr>
          <p:cNvSpPr>
            <a:spLocks noGrp="1"/>
          </p:cNvSpPr>
          <p:nvPr>
            <p:ph type="body" sz="quarter" idx="16"/>
          </p:nvPr>
        </p:nvSpPr>
        <p:spPr>
          <a:xfrm>
            <a:off x="342900" y="855081"/>
            <a:ext cx="3955312" cy="1716670"/>
          </a:xfrm>
        </p:spPr>
        <p:txBody>
          <a:bodyPr/>
          <a:lstStyle/>
          <a:p>
            <a:pPr algn="just"/>
            <a:r>
              <a:rPr lang="en-US" dirty="0">
                <a:hlinkClick r:id="rId2"/>
              </a:rPr>
              <a:t>Generally Available: Azure NetApp Files cross-zone-region replication (CZRR)</a:t>
            </a:r>
            <a:endParaRPr lang="en-US" dirty="0"/>
          </a:p>
          <a:p>
            <a:pPr algn="just"/>
            <a:r>
              <a:rPr lang="en-US" dirty="0"/>
              <a:t>Cross-zone-region replication builds on the existing capabilities of cross-region replication and cross-zone replication. It enables to replicate volumes across regions and across availability zones within the same region, combining disaster recovery and business continuity capabilities for volumes. To establish two protection volumes, create a cross-zone replication relationship, and a cross-region replication relationship, or two cross-region replication relationships or two cross-zone replication relationships. The source volume should be in an availability zone for the cross-zone replication relationship.</a:t>
            </a:r>
          </a:p>
        </p:txBody>
      </p:sp>
      <p:pic>
        <p:nvPicPr>
          <p:cNvPr id="1026" name="Picture 2" descr="Diagram of double cross-zone replication.">
            <a:extLst>
              <a:ext uri="{FF2B5EF4-FFF2-40B4-BE49-F238E27FC236}">
                <a16:creationId xmlns:a16="http://schemas.microsoft.com/office/drawing/2014/main" id="{7593D63B-50BC-A13B-EE2D-6820DD0D869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7211" y="2741032"/>
            <a:ext cx="3911001" cy="1481563"/>
          </a:xfrm>
          <a:prstGeom prst="rect">
            <a:avLst/>
          </a:prstGeom>
          <a:noFill/>
          <a:extLst>
            <a:ext uri="{909E8E84-426E-40DD-AFC4-6F175D3DCCD1}">
              <a14:hiddenFill xmlns:a14="http://schemas.microsoft.com/office/drawing/2010/main">
                <a:solidFill>
                  <a:srgbClr val="FFFFFF"/>
                </a:solidFill>
              </a14:hiddenFill>
            </a:ext>
          </a:extLst>
        </p:spPr>
      </p:pic>
      <p:sp>
        <p:nvSpPr>
          <p:cNvPr id="2" name="Text Placeholder 11">
            <a:extLst>
              <a:ext uri="{FF2B5EF4-FFF2-40B4-BE49-F238E27FC236}">
                <a16:creationId xmlns:a16="http://schemas.microsoft.com/office/drawing/2014/main" id="{7EC8EBF8-1DA6-AC18-E6B1-E17BB5A552EA}"/>
              </a:ext>
            </a:extLst>
          </p:cNvPr>
          <p:cNvSpPr>
            <a:spLocks noGrp="1"/>
          </p:cNvSpPr>
          <p:nvPr>
            <p:ph type="body" sz="quarter" idx="10"/>
          </p:nvPr>
        </p:nvSpPr>
        <p:spPr>
          <a:xfrm>
            <a:off x="4433776" y="855081"/>
            <a:ext cx="4365038" cy="1885952"/>
          </a:xfrm>
        </p:spPr>
        <p:txBody>
          <a:bodyPr/>
          <a:lstStyle/>
          <a:p>
            <a:pPr algn="just"/>
            <a:r>
              <a:rPr lang="en-US" sz="1000" dirty="0">
                <a:hlinkClick r:id="rId4"/>
              </a:rPr>
              <a:t>Generally Available: Azure Premium SSD v2 Disk is now available in Austria East and in a second Availability Zone in Japan West</a:t>
            </a:r>
            <a:endParaRPr lang="en-US" sz="1000" dirty="0"/>
          </a:p>
          <a:p>
            <a:pPr algn="just"/>
            <a:r>
              <a:rPr lang="en-US" sz="1000" dirty="0"/>
              <a:t>Azure Premium SSD v2 is now available in Austria East and in a second Availability Zone in Japan West.  </a:t>
            </a:r>
          </a:p>
          <a:p>
            <a:pPr algn="just"/>
            <a:r>
              <a:rPr lang="en-US" sz="1000" dirty="0"/>
              <a:t>Azure Premium SSD v2, a next-generation general-purpose block storage solution, offers sub-millisecond latencies and exceptional price performance for IO-intensive workloads at a low cost. Premium SSD v2 is suited for a broad range of enterprise production scenarios, including SQL Server, Oracle, MariaDB, SAP, Cassandra, MongoDB, big data/analytics, and gaming on virtual machines or stateful containers.   </a:t>
            </a:r>
          </a:p>
          <a:p>
            <a:pPr algn="just"/>
            <a:endParaRPr lang="en-US" sz="1000" dirty="0"/>
          </a:p>
        </p:txBody>
      </p:sp>
    </p:spTree>
    <p:extLst>
      <p:ext uri="{BB962C8B-B14F-4D97-AF65-F5344CB8AC3E}">
        <p14:creationId xmlns:p14="http://schemas.microsoft.com/office/powerpoint/2010/main" val="670539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Databases</a:t>
            </a:r>
          </a:p>
        </p:txBody>
      </p:sp>
    </p:spTree>
    <p:extLst>
      <p:ext uri="{BB962C8B-B14F-4D97-AF65-F5344CB8AC3E}">
        <p14:creationId xmlns:p14="http://schemas.microsoft.com/office/powerpoint/2010/main" val="1240959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a:xfrm>
            <a:off x="4433776" y="855080"/>
            <a:ext cx="4365038" cy="1150855"/>
          </a:xfrm>
        </p:spPr>
        <p:txBody>
          <a:bodyPr/>
          <a:lstStyle/>
          <a:p>
            <a:r>
              <a:rPr lang="en-US" sz="1000" dirty="0">
                <a:hlinkClick r:id="rId2"/>
              </a:rPr>
              <a:t>Public Preview: Cosmos DB Mirroring in Microsoft Fabric with Private Endpoints</a:t>
            </a:r>
            <a:endParaRPr lang="en-US" sz="1000" dirty="0"/>
          </a:p>
          <a:p>
            <a:pPr algn="just"/>
            <a:r>
              <a:rPr lang="en-US" sz="1000" dirty="0"/>
              <a:t>MS announced the public preview of Private Endpoint support for Azure Cosmos DB Mirroring with Microsoft Fabric. This enhancement allows customers to maintain private network access to Cosmos DB while seamlessly replicating operational data into Fabric workspaces, preserving strong network security and isolation throughout the mirroring process.</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ODBC Driver 18.6 for SQL Server Released</a:t>
            </a:r>
            <a:endParaRPr lang="en-US" dirty="0"/>
          </a:p>
          <a:p>
            <a:pPr algn="just"/>
            <a:r>
              <a:rPr lang="en-US" dirty="0"/>
              <a:t>Version 18.6 of the Microsoft ODBC Driver 18 for SQL Server has been released. Version 18.6 brings some minor changes and fixes to the driver.</a:t>
            </a:r>
          </a:p>
          <a:p>
            <a:pPr algn="just"/>
            <a:r>
              <a:rPr lang="en-US" dirty="0"/>
              <a:t>Added</a:t>
            </a:r>
          </a:p>
          <a:p>
            <a:pPr marL="171450" indent="-171450" algn="just">
              <a:buFont typeface="Arial" panose="020B0604020202020204" pitchFamily="34" charset="0"/>
              <a:buChar char="•"/>
            </a:pPr>
            <a:r>
              <a:rPr lang="en-US" dirty="0"/>
              <a:t>Support for the new vector data type (float32)</a:t>
            </a:r>
          </a:p>
          <a:p>
            <a:pPr marL="171450" indent="-171450" algn="just">
              <a:buFont typeface="Arial" panose="020B0604020202020204" pitchFamily="34" charset="0"/>
              <a:buChar char="•"/>
            </a:pPr>
            <a:r>
              <a:rPr lang="en-US" dirty="0"/>
              <a:t>Support for </a:t>
            </a:r>
            <a:r>
              <a:rPr lang="en-US" dirty="0" err="1"/>
              <a:t>ConcatNullYieldsNull</a:t>
            </a:r>
            <a:r>
              <a:rPr lang="en-US" dirty="0"/>
              <a:t> as a connection string property</a:t>
            </a:r>
          </a:p>
          <a:p>
            <a:pPr marL="171450" indent="-171450" algn="just">
              <a:buFont typeface="Arial" panose="020B0604020202020204" pitchFamily="34" charset="0"/>
              <a:buChar char="•"/>
            </a:pPr>
            <a:r>
              <a:rPr lang="en-US" dirty="0"/>
              <a:t>x86 support on Windows Arm64</a:t>
            </a:r>
          </a:p>
          <a:p>
            <a:pPr marL="171450" indent="-171450" algn="just">
              <a:buFont typeface="Arial" panose="020B0604020202020204" pitchFamily="34" charset="0"/>
              <a:buChar char="•"/>
            </a:pPr>
            <a:r>
              <a:rPr lang="en-US" dirty="0"/>
              <a:t>Support for Azure Linux 3.0 ARM, Debian Linux 13, RedHat Linux 10, Ubuntu Linux 25.10</a:t>
            </a:r>
          </a:p>
          <a:p>
            <a:pPr algn="just"/>
            <a:r>
              <a:rPr lang="en-US" dirty="0"/>
              <a:t>Fixed</a:t>
            </a:r>
          </a:p>
          <a:p>
            <a:pPr marL="171450" indent="-171450" algn="just">
              <a:buFont typeface="Arial" panose="020B0604020202020204" pitchFamily="34" charset="0"/>
              <a:buChar char="•"/>
            </a:pPr>
            <a:r>
              <a:rPr lang="en-US" dirty="0"/>
              <a:t>Show the negotiated TDS packet size in BID traces</a:t>
            </a:r>
          </a:p>
        </p:txBody>
      </p:sp>
    </p:spTree>
    <p:extLst>
      <p:ext uri="{BB962C8B-B14F-4D97-AF65-F5344CB8AC3E}">
        <p14:creationId xmlns:p14="http://schemas.microsoft.com/office/powerpoint/2010/main" val="1776979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93715-9869-88DC-2CB8-A7701BFB3325}"/>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B05E9534-3C35-9313-C6E7-9E564BDFC466}"/>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DE6CD169-A2F9-0F7E-49EE-EC7FAE204B1C}"/>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61510AD9-2A44-5DDF-30FA-DE4500EB2760}"/>
              </a:ext>
            </a:extLst>
          </p:cNvPr>
          <p:cNvSpPr>
            <a:spLocks noGrp="1"/>
          </p:cNvSpPr>
          <p:nvPr>
            <p:ph type="body" sz="quarter" idx="16"/>
          </p:nvPr>
        </p:nvSpPr>
        <p:spPr>
          <a:xfrm>
            <a:off x="342900" y="855081"/>
            <a:ext cx="3955312" cy="2448952"/>
          </a:xfrm>
        </p:spPr>
        <p:txBody>
          <a:bodyPr/>
          <a:lstStyle/>
          <a:p>
            <a:pPr algn="just"/>
            <a:r>
              <a:rPr lang="en-US" dirty="0">
                <a:hlinkClick r:id="rId2"/>
              </a:rPr>
              <a:t>Generally </a:t>
            </a:r>
            <a:r>
              <a:rPr lang="en-US" dirty="0" err="1">
                <a:hlinkClick r:id="rId2"/>
              </a:rPr>
              <a:t>Avaailable</a:t>
            </a:r>
            <a:r>
              <a:rPr lang="en-US" dirty="0">
                <a:hlinkClick r:id="rId2"/>
              </a:rPr>
              <a:t>: Azure SQL updates for early December 2025</a:t>
            </a:r>
            <a:endParaRPr lang="en-US" dirty="0"/>
          </a:p>
          <a:p>
            <a:pPr algn="just"/>
            <a:r>
              <a:rPr lang="en-US" dirty="0"/>
              <a:t>MS announced that telemetry is now available in Azure Monitor activity log to identify the causes of auto-resuming serverless workloads in Azure SQL Database.  Prior to exposing this telemetry, the correlation of specific auto-resume causes with database activity could be time consuming and imperfect with no programmatic solution.</a:t>
            </a:r>
          </a:p>
          <a:p>
            <a:pPr algn="just"/>
            <a:r>
              <a:rPr lang="en-US" dirty="0"/>
              <a:t>The Azure Monitor activity log keeps a record of all auto-pause and auto-resume events for serverless databases.  Auto-resume causes are reported in activity log for "Resume Databases" operations under the “Caller” property of the "Succeeded" event, and latencies for each event are reported under “</a:t>
            </a:r>
            <a:r>
              <a:rPr lang="en-US" dirty="0" err="1"/>
              <a:t>EventProperties</a:t>
            </a:r>
            <a:r>
              <a:rPr lang="en-US" dirty="0"/>
              <a:t>”.  This event can be monitored to quickly and deterministically identify auto-resume causes without resorting to inefficient guesswork.</a:t>
            </a:r>
          </a:p>
        </p:txBody>
      </p:sp>
      <p:pic>
        <p:nvPicPr>
          <p:cNvPr id="3" name="Picture 2">
            <a:extLst>
              <a:ext uri="{FF2B5EF4-FFF2-40B4-BE49-F238E27FC236}">
                <a16:creationId xmlns:a16="http://schemas.microsoft.com/office/drawing/2014/main" id="{7D252669-8809-0FBD-E382-5A69CF455B7A}"/>
              </a:ext>
            </a:extLst>
          </p:cNvPr>
          <p:cNvPicPr>
            <a:picLocks noChangeAspect="1"/>
          </p:cNvPicPr>
          <p:nvPr/>
        </p:nvPicPr>
        <p:blipFill>
          <a:blip r:embed="rId3"/>
          <a:stretch>
            <a:fillRect/>
          </a:stretch>
        </p:blipFill>
        <p:spPr>
          <a:xfrm>
            <a:off x="4464436" y="1028700"/>
            <a:ext cx="4498022" cy="2590800"/>
          </a:xfrm>
          <a:prstGeom prst="rect">
            <a:avLst/>
          </a:prstGeom>
        </p:spPr>
      </p:pic>
    </p:spTree>
    <p:extLst>
      <p:ext uri="{BB962C8B-B14F-4D97-AF65-F5344CB8AC3E}">
        <p14:creationId xmlns:p14="http://schemas.microsoft.com/office/powerpoint/2010/main" val="580018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71DA1-B55D-EF7E-C705-3E2EBD8AB3D2}"/>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3337F290-7F05-F6C7-FB30-521D100BB24B}"/>
              </a:ext>
            </a:extLst>
          </p:cNvPr>
          <p:cNvSpPr>
            <a:spLocks noGrp="1"/>
          </p:cNvSpPr>
          <p:nvPr>
            <p:ph type="body" sz="quarter" idx="10"/>
          </p:nvPr>
        </p:nvSpPr>
        <p:spPr>
          <a:xfrm>
            <a:off x="4433776" y="855081"/>
            <a:ext cx="4365038" cy="1141360"/>
          </a:xfrm>
        </p:spPr>
        <p:txBody>
          <a:bodyPr/>
          <a:lstStyle/>
          <a:p>
            <a:pPr algn="just"/>
            <a:r>
              <a:rPr lang="en-US" sz="1000" dirty="0">
                <a:hlinkClick r:id="rId2"/>
              </a:rPr>
              <a:t>Generally Available: Azure Database for MySQL Triggers for Azure Functions</a:t>
            </a:r>
            <a:endParaRPr lang="en-US" sz="1000" dirty="0"/>
          </a:p>
          <a:p>
            <a:pPr algn="just"/>
            <a:r>
              <a:rPr lang="en-US" sz="1000" dirty="0"/>
              <a:t>This feature, previously in Public Preview, enables tracking changes and developing event-driven applications at scale on any MySQL table. This release completes the unified suite of Azure Database for MySQL bindings for Azure Functions, which now includes native support for Input, Output, and Trigger capabilities.</a:t>
            </a:r>
          </a:p>
        </p:txBody>
      </p:sp>
      <p:sp>
        <p:nvSpPr>
          <p:cNvPr id="11" name="Title 10">
            <a:extLst>
              <a:ext uri="{FF2B5EF4-FFF2-40B4-BE49-F238E27FC236}">
                <a16:creationId xmlns:a16="http://schemas.microsoft.com/office/drawing/2014/main" id="{C62E7423-4266-2E57-7ECF-35621C61E139}"/>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915420FD-81AB-F129-C44C-1ADB2CE5081E}"/>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A99C1840-42CB-2AAA-82F4-807BF7A8EB8F}"/>
              </a:ext>
            </a:extLst>
          </p:cNvPr>
          <p:cNvSpPr>
            <a:spLocks noGrp="1"/>
          </p:cNvSpPr>
          <p:nvPr>
            <p:ph type="body" sz="quarter" idx="16"/>
          </p:nvPr>
        </p:nvSpPr>
        <p:spPr/>
        <p:txBody>
          <a:bodyPr/>
          <a:lstStyle/>
          <a:p>
            <a:pPr algn="just"/>
            <a:r>
              <a:rPr lang="en-US" dirty="0">
                <a:hlinkClick r:id="rId3"/>
              </a:rPr>
              <a:t>Announcing Azure Database for MySQL Support for Resource Move with Private Link</a:t>
            </a:r>
            <a:endParaRPr lang="en-US" dirty="0"/>
          </a:p>
          <a:p>
            <a:pPr algn="just"/>
            <a:r>
              <a:rPr lang="en-US" dirty="0"/>
              <a:t>Microsoft has announced that Azure Database for MySQL now supports moving servers across subscriptions and resource groups while Private Link remains enabled.</a:t>
            </a:r>
          </a:p>
          <a:p>
            <a:pPr algn="just"/>
            <a:r>
              <a:rPr lang="en-US" dirty="0"/>
              <a:t>Customers can relocate MySQL servers without deleting or recreating Private Endpoints, avoiding service disruption and reducing operational overhead.</a:t>
            </a:r>
          </a:p>
          <a:p>
            <a:pPr algn="just"/>
            <a:r>
              <a:rPr lang="en-US" dirty="0"/>
              <a:t>This improvement removes a long-standing limitation where Private Link had to be temporarily disabled during resource moves. The update aligns with Azure’s broader goal of full resource mobility, ensuring that strong network isolation and security via Private Link do not restrict standard management operations.</a:t>
            </a:r>
          </a:p>
          <a:p>
            <a:pPr algn="just"/>
            <a:r>
              <a:rPr lang="en-US" dirty="0"/>
              <a:t>As a result, reorganizing or migrating MySQL resources is now simpler, faster, and less disruptive—while maintaining consistent security controls.</a:t>
            </a:r>
          </a:p>
        </p:txBody>
      </p:sp>
    </p:spTree>
    <p:extLst>
      <p:ext uri="{BB962C8B-B14F-4D97-AF65-F5344CB8AC3E}">
        <p14:creationId xmlns:p14="http://schemas.microsoft.com/office/powerpoint/2010/main" val="724845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Integration</a:t>
            </a:r>
          </a:p>
        </p:txBody>
      </p:sp>
    </p:spTree>
    <p:extLst>
      <p:ext uri="{BB962C8B-B14F-4D97-AF65-F5344CB8AC3E}">
        <p14:creationId xmlns:p14="http://schemas.microsoft.com/office/powerpoint/2010/main" val="5962330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78F22-A9E3-2B6E-58E1-F0D0E1E104E0}"/>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70409C6D-0E1D-A764-A4B4-2D3FADB4EE00}"/>
              </a:ext>
            </a:extLst>
          </p:cNvPr>
          <p:cNvSpPr>
            <a:spLocks noGrp="1"/>
          </p:cNvSpPr>
          <p:nvPr>
            <p:ph type="body" sz="quarter" idx="10"/>
          </p:nvPr>
        </p:nvSpPr>
        <p:spPr>
          <a:xfrm>
            <a:off x="4433776" y="855081"/>
            <a:ext cx="4365038" cy="1187080"/>
          </a:xfrm>
        </p:spPr>
        <p:txBody>
          <a:bodyPr/>
          <a:lstStyle/>
          <a:p>
            <a:pPr marL="171450" indent="-171450" algn="just">
              <a:buFont typeface="Arial" panose="020B0604020202020204" pitchFamily="34" charset="0"/>
              <a:buChar char="•"/>
            </a:pPr>
            <a:r>
              <a:rPr lang="en-US" sz="1000" dirty="0"/>
              <a:t>Synchronous replication - Using synchronous replication, all requests are replicated to the secondary, which must commit and confirm the operation before committing on the primary. As such, the application publishes at the rate it takes to publish, replicate, acknowledge, and commit. Moreover, it also means that the application is tied to the availability of both regions. If the secondary region goes down, messages aren't acknowledged and committed, and the primary will throttle incoming requests.</a:t>
            </a:r>
          </a:p>
        </p:txBody>
      </p:sp>
      <p:sp>
        <p:nvSpPr>
          <p:cNvPr id="11" name="Title 10">
            <a:extLst>
              <a:ext uri="{FF2B5EF4-FFF2-40B4-BE49-F238E27FC236}">
                <a16:creationId xmlns:a16="http://schemas.microsoft.com/office/drawing/2014/main" id="{1A1E796A-EE79-410E-046D-1D63E445E96B}"/>
              </a:ext>
            </a:extLst>
          </p:cNvPr>
          <p:cNvSpPr>
            <a:spLocks noGrp="1"/>
          </p:cNvSpPr>
          <p:nvPr>
            <p:ph type="title"/>
          </p:nvPr>
        </p:nvSpPr>
        <p:spPr/>
        <p:txBody>
          <a:bodyPr/>
          <a:lstStyle/>
          <a:p>
            <a:r>
              <a:rPr lang="en-US" sz="1800" dirty="0"/>
              <a:t>Integration Updates</a:t>
            </a:r>
            <a:endParaRPr lang="en-US" dirty="0"/>
          </a:p>
        </p:txBody>
      </p:sp>
      <p:sp>
        <p:nvSpPr>
          <p:cNvPr id="13" name="Text Placeholder 12">
            <a:extLst>
              <a:ext uri="{FF2B5EF4-FFF2-40B4-BE49-F238E27FC236}">
                <a16:creationId xmlns:a16="http://schemas.microsoft.com/office/drawing/2014/main" id="{AED4F9DC-B482-0291-E516-FC62C0D1927D}"/>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C3960749-A6C0-6C05-2CF4-B9E16BFA36F2}"/>
              </a:ext>
            </a:extLst>
          </p:cNvPr>
          <p:cNvSpPr>
            <a:spLocks noGrp="1"/>
          </p:cNvSpPr>
          <p:nvPr>
            <p:ph type="body" sz="quarter" idx="16"/>
          </p:nvPr>
        </p:nvSpPr>
        <p:spPr/>
        <p:txBody>
          <a:bodyPr/>
          <a:lstStyle/>
          <a:p>
            <a:pPr algn="just"/>
            <a:r>
              <a:rPr lang="en-US" dirty="0">
                <a:hlinkClick r:id="rId2"/>
              </a:rPr>
              <a:t>Announcing General Availability of Geo-Replication for Azure Service Bus Premium</a:t>
            </a:r>
            <a:endParaRPr lang="en-US" dirty="0"/>
          </a:p>
          <a:p>
            <a:pPr algn="just"/>
            <a:r>
              <a:rPr lang="en-US" dirty="0"/>
              <a:t>This feature ensures that the metadata and data of a namespace are continuously replicated from a primary region to a secondary region. Moreover, this feature allows promoting a secondary region at any time. </a:t>
            </a:r>
          </a:p>
          <a:p>
            <a:pPr algn="just"/>
            <a:r>
              <a:rPr lang="en-US" dirty="0"/>
              <a:t>The Geo-Replication feature implements metadata and data replication in a primary-secondary replication model. It works with a single namespace, and at a given time there’s only one primary region, which is serving both producers and consumers. There is a single hostname used to connect to the namespace, which always points to the current primary region. After promoting a secondary region, the hostname points to the new primary region, and the old primary region is demoted to secondary region. After the new secondary has been re-initialized, it is possible to promote this region again to primary at any moment.</a:t>
            </a:r>
          </a:p>
          <a:p>
            <a:pPr algn="just"/>
            <a:r>
              <a:rPr lang="en-US" dirty="0"/>
              <a:t>There are two replication modes, synchronous and asynchronous.</a:t>
            </a:r>
          </a:p>
          <a:p>
            <a:pPr marL="171450" indent="-171450" algn="just">
              <a:buFont typeface="Arial" panose="020B0604020202020204" pitchFamily="34" charset="0"/>
              <a:buChar char="•"/>
            </a:pPr>
            <a:r>
              <a:rPr lang="en-US" dirty="0"/>
              <a:t>Asynchronous replication - Using asynchronous replication, all requests are committed on the primary, after which an acknowledgment is sent to the client. Replication to the secondary regions happens asynchronously. Users can configure the maximum acceptable amount of lag time, the offset between the latest action on the primary and the secondary regions. If the lag for an active secondary grows beyond user configuration, the primary will throttle incoming requests.</a:t>
            </a:r>
          </a:p>
          <a:p>
            <a:pPr algn="just"/>
            <a:endParaRPr lang="en-US" dirty="0"/>
          </a:p>
          <a:p>
            <a:pPr algn="just"/>
            <a:endParaRPr lang="en-US" dirty="0"/>
          </a:p>
        </p:txBody>
      </p:sp>
      <p:pic>
        <p:nvPicPr>
          <p:cNvPr id="3" name="Picture 2">
            <a:extLst>
              <a:ext uri="{FF2B5EF4-FFF2-40B4-BE49-F238E27FC236}">
                <a16:creationId xmlns:a16="http://schemas.microsoft.com/office/drawing/2014/main" id="{89C5F94B-78F4-E0CE-74AE-24B9C95B3DB0}"/>
              </a:ext>
            </a:extLst>
          </p:cNvPr>
          <p:cNvPicPr>
            <a:picLocks noChangeAspect="1"/>
          </p:cNvPicPr>
          <p:nvPr/>
        </p:nvPicPr>
        <p:blipFill>
          <a:blip r:embed="rId3"/>
          <a:stretch>
            <a:fillRect/>
          </a:stretch>
        </p:blipFill>
        <p:spPr>
          <a:xfrm>
            <a:off x="4649632" y="2141220"/>
            <a:ext cx="4380067" cy="2347590"/>
          </a:xfrm>
          <a:prstGeom prst="rect">
            <a:avLst/>
          </a:prstGeom>
        </p:spPr>
      </p:pic>
    </p:spTree>
    <p:extLst>
      <p:ext uri="{BB962C8B-B14F-4D97-AF65-F5344CB8AC3E}">
        <p14:creationId xmlns:p14="http://schemas.microsoft.com/office/powerpoint/2010/main" val="58293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14" grpId="0" build="p"/>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ML &amp; AI &amp; IOT</a:t>
            </a:r>
          </a:p>
        </p:txBody>
      </p:sp>
    </p:spTree>
    <p:extLst>
      <p:ext uri="{BB962C8B-B14F-4D97-AF65-F5344CB8AC3E}">
        <p14:creationId xmlns:p14="http://schemas.microsoft.com/office/powerpoint/2010/main" val="35148783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Introducing DeepSeek-V3.2 and DeepSeek-V3.2-Speciale in Microsoft Foundry</a:t>
            </a:r>
            <a:endParaRPr lang="en-US" sz="1000" dirty="0"/>
          </a:p>
          <a:p>
            <a:pPr algn="just"/>
            <a:r>
              <a:rPr lang="en-US" sz="1000" dirty="0"/>
              <a:t>Microsoft has announced the availability of DeepSeek-V3.2 and DeepSeek-V3.2-Speciale in Microsoft Foundry on Azure. These frontier-class models introduce advanced reasoning capabilities, highly efficient architectures, and reinforcement learning innovations, making them well suited for enterprise AI </a:t>
            </a:r>
            <a:r>
              <a:rPr lang="en-US" sz="1000" dirty="0" err="1"/>
              <a:t>workloads.By</a:t>
            </a:r>
            <a:r>
              <a:rPr lang="en-US" sz="1000" dirty="0"/>
              <a:t> running natively on Azure through Foundry, customers can deploy DeepSeek models with built-in scalability, security, and compliance, while seamlessly integrating with Foundry’s evaluation tools, agent framework, routing, and observability stack. This release expands enterprise access to state-of-the-art reasoning models within a production-ready Azure environment.</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Public Preview: Use Azure SRE Agent with Azure Cosmos DB</a:t>
            </a:r>
            <a:endParaRPr lang="en-US" dirty="0"/>
          </a:p>
          <a:p>
            <a:pPr algn="just"/>
            <a:r>
              <a:rPr lang="en-US" dirty="0"/>
              <a:t>It is now possible to simplify how to diagnose and resolve issues in applications running on Azure Cosmos DB with the introduction of the Azure Cosmos DB Site Reliability Engineering (SRE) Agent, built on the Azure SRE Agent platform. This new capability gives you deeper visibility into the health and performance of database workloads by combining client-side telemetry with server-side diagnostics, allowing to identify problems faster and understand them more clearly. </a:t>
            </a:r>
          </a:p>
          <a:p>
            <a:pPr algn="just"/>
            <a:r>
              <a:rPr lang="en-US" dirty="0"/>
              <a:t>Using the Azure Cosmos DB SRE Agent, you receive recommendations that help improve performance, strengthen security, and optimize cost. Instead of only detecting issues, the agent guides you through best practices tailored to your workload.</a:t>
            </a:r>
          </a:p>
        </p:txBody>
      </p:sp>
    </p:spTree>
    <p:extLst>
      <p:ext uri="{BB962C8B-B14F-4D97-AF65-F5344CB8AC3E}">
        <p14:creationId xmlns:p14="http://schemas.microsoft.com/office/powerpoint/2010/main" val="3732754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2ADB6-113C-7F12-FA61-67D8C365299F}"/>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EE84B67F-7026-D091-4F4B-F5819D59C9E7}"/>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55AD8010-EE62-F57B-5CA1-B8E7B6C0ECD1}"/>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0B331A00-CF62-F468-BCCC-F6840B7358F5}"/>
              </a:ext>
            </a:extLst>
          </p:cNvPr>
          <p:cNvSpPr>
            <a:spLocks noGrp="1"/>
          </p:cNvSpPr>
          <p:nvPr>
            <p:ph type="body" sz="quarter" idx="16"/>
          </p:nvPr>
        </p:nvSpPr>
        <p:spPr/>
        <p:txBody>
          <a:bodyPr/>
          <a:lstStyle/>
          <a:p>
            <a:r>
              <a:rPr lang="en-US" dirty="0">
                <a:hlinkClick r:id="rId2"/>
              </a:rPr>
              <a:t>OpenAI’s GPT-5.2 is announced as generally available in Microsoft Foundry</a:t>
            </a:r>
            <a:endParaRPr lang="en-US" dirty="0"/>
          </a:p>
          <a:p>
            <a:r>
              <a:rPr lang="en-US" dirty="0"/>
              <a:t>GPT-5.2 series introduces deeper logical chains, richer context handling, and agentic execution that prompts shippable artifacts.</a:t>
            </a:r>
          </a:p>
          <a:p>
            <a:pPr algn="just"/>
            <a:r>
              <a:rPr lang="en-US" dirty="0"/>
              <a:t>The GPT-5.2 series is built on new architecture, delivering superior performance, efficiency, and reasoning depth compared to prior generations. It’s also trained on the proven GPT-5.1 dataset and further enhanced with improved safety and integrations. GPT-5.2 leaps beyond previous models with substantial performance improvements across core metrics.</a:t>
            </a:r>
          </a:p>
        </p:txBody>
      </p:sp>
    </p:spTree>
    <p:extLst>
      <p:ext uri="{BB962C8B-B14F-4D97-AF65-F5344CB8AC3E}">
        <p14:creationId xmlns:p14="http://schemas.microsoft.com/office/powerpoint/2010/main" val="586386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4748646" cy="1714500"/>
          </a:xfrm>
        </p:spPr>
        <p:txBody>
          <a:bodyPr/>
          <a:lstStyle/>
          <a:p>
            <a:r>
              <a:rPr lang="en-US" sz="4000" dirty="0"/>
              <a:t>DevOps &amp; IaC &amp; Automation</a:t>
            </a:r>
          </a:p>
        </p:txBody>
      </p:sp>
    </p:spTree>
    <p:extLst>
      <p:ext uri="{BB962C8B-B14F-4D97-AF65-F5344CB8AC3E}">
        <p14:creationId xmlns:p14="http://schemas.microsoft.com/office/powerpoint/2010/main" val="6537846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DevOps &amp; IaC &amp; Automation</a:t>
            </a:r>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a:xfrm>
            <a:off x="342900" y="855081"/>
            <a:ext cx="3955312" cy="2109100"/>
          </a:xfrm>
        </p:spPr>
        <p:txBody>
          <a:bodyPr/>
          <a:lstStyle/>
          <a:p>
            <a:pPr algn="just"/>
            <a:r>
              <a:rPr lang="en-US" dirty="0">
                <a:hlinkClick r:id="rId2"/>
              </a:rPr>
              <a:t>AI-assisted load test authoring in Azure Load Testing</a:t>
            </a:r>
            <a:endParaRPr lang="en-US" dirty="0"/>
          </a:p>
          <a:p>
            <a:pPr algn="just"/>
            <a:r>
              <a:rPr lang="en-US" dirty="0"/>
              <a:t>With AI-assisted load test authoring in Azure Load Testing, it goes from a simple browser recording to a production-ready JMeter script in minutes, while staying fully in control of what gets applied.</a:t>
            </a:r>
          </a:p>
          <a:p>
            <a:pPr algn="just"/>
            <a:r>
              <a:rPr lang="en-US" dirty="0"/>
              <a:t>This new experience helps :</a:t>
            </a:r>
          </a:p>
          <a:p>
            <a:pPr marL="171450" indent="-171450" algn="just">
              <a:buFont typeface="Arial" panose="020B0604020202020204" pitchFamily="34" charset="0"/>
              <a:buChar char="•"/>
            </a:pPr>
            <a:r>
              <a:rPr lang="en-US" dirty="0"/>
              <a:t>Create load tests faster by recording real user journeys directly from the browser</a:t>
            </a:r>
          </a:p>
          <a:p>
            <a:pPr marL="171450" indent="-171450" algn="just">
              <a:buFont typeface="Arial" panose="020B0604020202020204" pitchFamily="34" charset="0"/>
              <a:buChar char="•"/>
            </a:pPr>
            <a:r>
              <a:rPr lang="en-US" dirty="0"/>
              <a:t>Improve script quality automatically with AI-recommended best practices</a:t>
            </a:r>
          </a:p>
          <a:p>
            <a:pPr marL="171450" indent="-171450" algn="just">
              <a:buFont typeface="Arial" panose="020B0604020202020204" pitchFamily="34" charset="0"/>
              <a:buChar char="•"/>
            </a:pPr>
            <a:r>
              <a:rPr lang="en-US" dirty="0"/>
              <a:t>Run more realistic tests that better reflect real user behavior</a:t>
            </a:r>
          </a:p>
          <a:p>
            <a:pPr marL="171450" indent="-171450" algn="just">
              <a:buFont typeface="Arial" panose="020B0604020202020204" pitchFamily="34" charset="0"/>
              <a:buChar char="•"/>
            </a:pPr>
            <a:r>
              <a:rPr lang="en-US" dirty="0"/>
              <a:t>Reduce manual effort without giving up transparency or control</a:t>
            </a:r>
          </a:p>
        </p:txBody>
      </p:sp>
      <p:pic>
        <p:nvPicPr>
          <p:cNvPr id="3" name="Picture 2">
            <a:extLst>
              <a:ext uri="{FF2B5EF4-FFF2-40B4-BE49-F238E27FC236}">
                <a16:creationId xmlns:a16="http://schemas.microsoft.com/office/drawing/2014/main" id="{FD32FD67-5E29-5FC4-1034-CB3117D7EAA1}"/>
              </a:ext>
            </a:extLst>
          </p:cNvPr>
          <p:cNvPicPr>
            <a:picLocks noChangeAspect="1"/>
          </p:cNvPicPr>
          <p:nvPr/>
        </p:nvPicPr>
        <p:blipFill>
          <a:blip r:embed="rId3"/>
          <a:stretch>
            <a:fillRect/>
          </a:stretch>
        </p:blipFill>
        <p:spPr>
          <a:xfrm>
            <a:off x="491301" y="2964181"/>
            <a:ext cx="3806911" cy="1664968"/>
          </a:xfrm>
          <a:prstGeom prst="rect">
            <a:avLst/>
          </a:prstGeom>
        </p:spPr>
      </p:pic>
    </p:spTree>
    <p:extLst>
      <p:ext uri="{BB962C8B-B14F-4D97-AF65-F5344CB8AC3E}">
        <p14:creationId xmlns:p14="http://schemas.microsoft.com/office/powerpoint/2010/main" val="1921881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Miscellaneous</a:t>
            </a:r>
          </a:p>
        </p:txBody>
      </p:sp>
    </p:spTree>
    <p:extLst>
      <p:ext uri="{BB962C8B-B14F-4D97-AF65-F5344CB8AC3E}">
        <p14:creationId xmlns:p14="http://schemas.microsoft.com/office/powerpoint/2010/main" val="15884181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Miscellaneous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Retirement: Deprecation of Custom Resource Providers</a:t>
            </a:r>
            <a:endParaRPr lang="en-US" dirty="0"/>
          </a:p>
          <a:p>
            <a:pPr algn="just"/>
            <a:r>
              <a:rPr lang="en-US" dirty="0"/>
              <a:t>In 2026, Azure Resource Manager will be deprecating the Custom Resource Provider (</a:t>
            </a:r>
            <a:r>
              <a:rPr lang="en-US" dirty="0" err="1"/>
              <a:t>CuRP</a:t>
            </a:r>
            <a:r>
              <a:rPr lang="en-US" dirty="0"/>
              <a:t>) service.</a:t>
            </a:r>
          </a:p>
          <a:p>
            <a:pPr algn="just"/>
            <a:r>
              <a:rPr lang="en-US" dirty="0"/>
              <a:t>MS will retire the feature by October 31, 2026 and will be performing a scream test on October 27, 2025, as part of this deprecation. On July 31, 2026, creates, updates, patches, and actions to custom resources and resource providers will be blocked. </a:t>
            </a:r>
          </a:p>
          <a:p>
            <a:pPr marL="171450" indent="-171450" algn="just">
              <a:buFont typeface="Arial" panose="020B0604020202020204" pitchFamily="34" charset="0"/>
              <a:buChar char="•"/>
            </a:pPr>
            <a:r>
              <a:rPr lang="en-US" dirty="0"/>
              <a:t>Only involves triggering an endpoint without the need for persistent resource management, consider Deployment Scripts.</a:t>
            </a:r>
          </a:p>
          <a:p>
            <a:pPr marL="171450" indent="-171450" algn="just">
              <a:buFont typeface="Arial" panose="020B0604020202020204" pitchFamily="34" charset="0"/>
              <a:buChar char="•"/>
            </a:pPr>
            <a:r>
              <a:rPr lang="en-US" dirty="0"/>
              <a:t>Only involves triggering an endpoint without the need for persistent resource management, and use Bicep, consider Bicep Extensions.</a:t>
            </a:r>
          </a:p>
          <a:p>
            <a:pPr marL="171450" indent="-171450" algn="just">
              <a:buFont typeface="Arial" panose="020B0604020202020204" pitchFamily="34" charset="0"/>
              <a:buChar char="•"/>
            </a:pPr>
            <a:r>
              <a:rPr lang="en-US" dirty="0"/>
              <a:t>Involves triggering several different endpoints or services for solution, consider Azure Functions.</a:t>
            </a:r>
          </a:p>
        </p:txBody>
      </p:sp>
    </p:spTree>
    <p:extLst>
      <p:ext uri="{BB962C8B-B14F-4D97-AF65-F5344CB8AC3E}">
        <p14:creationId xmlns:p14="http://schemas.microsoft.com/office/powerpoint/2010/main" val="954020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Information</a:t>
            </a:r>
          </a:p>
        </p:txBody>
      </p:sp>
    </p:spTree>
    <p:extLst>
      <p:ext uri="{BB962C8B-B14F-4D97-AF65-F5344CB8AC3E}">
        <p14:creationId xmlns:p14="http://schemas.microsoft.com/office/powerpoint/2010/main" val="12760416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9E4E97-A385-759E-BD70-47D0B91CA39E}"/>
              </a:ext>
            </a:extLst>
          </p:cNvPr>
          <p:cNvSpPr>
            <a:spLocks noGrp="1"/>
          </p:cNvSpPr>
          <p:nvPr>
            <p:ph type="body" sz="quarter" idx="10"/>
          </p:nvPr>
        </p:nvSpPr>
        <p:spPr>
          <a:xfrm>
            <a:off x="342900" y="855080"/>
            <a:ext cx="8455914" cy="3774069"/>
          </a:xfrm>
        </p:spPr>
        <p:txBody>
          <a:bodyPr/>
          <a:lstStyle/>
          <a:p>
            <a:r>
              <a:rPr lang="en-US" dirty="0">
                <a:hlinkClick r:id="rId2"/>
              </a:rPr>
              <a:t>Azure Times GitHub Repo</a:t>
            </a:r>
            <a:endParaRPr lang="en-US" dirty="0"/>
          </a:p>
        </p:txBody>
      </p:sp>
      <p:sp>
        <p:nvSpPr>
          <p:cNvPr id="3" name="Title 2">
            <a:extLst>
              <a:ext uri="{FF2B5EF4-FFF2-40B4-BE49-F238E27FC236}">
                <a16:creationId xmlns:a16="http://schemas.microsoft.com/office/drawing/2014/main" id="{78BEF490-0130-4022-0399-BE422CD7CB94}"/>
              </a:ext>
            </a:extLst>
          </p:cNvPr>
          <p:cNvSpPr>
            <a:spLocks noGrp="1"/>
          </p:cNvSpPr>
          <p:nvPr>
            <p:ph type="title"/>
          </p:nvPr>
        </p:nvSpPr>
        <p:spPr/>
        <p:txBody>
          <a:bodyPr/>
          <a:lstStyle/>
          <a:p>
            <a:r>
              <a:rPr lang="en-US" sz="1800" dirty="0"/>
              <a:t>Information</a:t>
            </a:r>
            <a:br>
              <a:rPr lang="en-US" sz="1800" dirty="0"/>
            </a:br>
            <a:endParaRPr lang="en-US" dirty="0"/>
          </a:p>
        </p:txBody>
      </p:sp>
    </p:spTree>
    <p:extLst>
      <p:ext uri="{BB962C8B-B14F-4D97-AF65-F5344CB8AC3E}">
        <p14:creationId xmlns:p14="http://schemas.microsoft.com/office/powerpoint/2010/main" val="7476815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Questions</a:t>
            </a:r>
          </a:p>
        </p:txBody>
      </p:sp>
    </p:spTree>
    <p:extLst>
      <p:ext uri="{BB962C8B-B14F-4D97-AF65-F5344CB8AC3E}">
        <p14:creationId xmlns:p14="http://schemas.microsoft.com/office/powerpoint/2010/main" val="2482707150"/>
      </p:ext>
    </p:extLst>
  </p:cSld>
  <p:clrMapOvr>
    <a:masterClrMapping/>
  </p:clrMapOvr>
</p:sld>
</file>

<file path=ppt/theme/theme1.xml><?xml version="1.0" encoding="utf-8"?>
<a:theme xmlns:a="http://schemas.openxmlformats.org/drawingml/2006/main" name="Continuum Theme">
  <a:themeElements>
    <a:clrScheme name="EPAM Continuum Final">
      <a:dk1>
        <a:srgbClr val="222222"/>
      </a:dk1>
      <a:lt1>
        <a:srgbClr val="FFFFFF"/>
      </a:lt1>
      <a:dk2>
        <a:srgbClr val="A0A0A0"/>
      </a:dk2>
      <a:lt2>
        <a:srgbClr val="DBDAD6"/>
      </a:lt2>
      <a:accent1>
        <a:srgbClr val="545454"/>
      </a:accent1>
      <a:accent2>
        <a:srgbClr val="FFC000"/>
      </a:accent2>
      <a:accent3>
        <a:srgbClr val="38C2D7"/>
      </a:accent3>
      <a:accent4>
        <a:srgbClr val="445464"/>
      </a:accent4>
      <a:accent5>
        <a:srgbClr val="008ACE"/>
      </a:accent5>
      <a:accent6>
        <a:srgbClr val="E53B2E"/>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none" rtlCol="0" anchor="ctr"/>
      <a:lstStyle>
        <a:defPPr algn="ctr">
          <a:defRPr sz="2400" dirty="0" err="1"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110000"/>
          </a:lnSpc>
          <a:spcBef>
            <a:spcPts val="600"/>
          </a:spcBef>
          <a:defRPr sz="1200" dirty="0" err="1" smtClean="0">
            <a:ea typeface="Human Sans" charset="0"/>
            <a:cs typeface="Human Sans" charset="0"/>
          </a:defRPr>
        </a:defPPr>
      </a:lstStyle>
    </a:txDef>
  </a:objectDefaults>
  <a:extraClrSchemeLst/>
  <a:extLst>
    <a:ext uri="{05A4C25C-085E-4340-85A3-A5531E510DB2}">
      <thm15:themeFamily xmlns:thm15="http://schemas.microsoft.com/office/thememl/2012/main" name="Continuum_Master_v1.1" id="{D2F91407-39AD-2344-8F42-01B4155FF2FD}" vid="{09F1F252-BD3A-0A45-9F6B-518524EA32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C3A9FD6A1D2BC41832AF270024651C7" ma:contentTypeVersion="6" ma:contentTypeDescription="Create a new document." ma:contentTypeScope="" ma:versionID="0421700c9180782018be286cde8a21da">
  <xsd:schema xmlns:xsd="http://www.w3.org/2001/XMLSchema" xmlns:xs="http://www.w3.org/2001/XMLSchema" xmlns:p="http://schemas.microsoft.com/office/2006/metadata/properties" xmlns:ns2="2e7e23d5-2c80-4164-89d2-1708db4037b8" xmlns:ns3="4e7ac07f-2cd6-47aa-8863-e3015989625c" targetNamespace="http://schemas.microsoft.com/office/2006/metadata/properties" ma:root="true" ma:fieldsID="541d07e3f89946b63e942fc7370dae48" ns2:_="" ns3:_="">
    <xsd:import namespace="2e7e23d5-2c80-4164-89d2-1708db4037b8"/>
    <xsd:import namespace="4e7ac07f-2cd6-47aa-8863-e3015989625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7e23d5-2c80-4164-89d2-1708db4037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e7ac07f-2cd6-47aa-8863-e3015989625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5D63988-C0DC-4185-91C3-6687DBA2F390}">
  <ds:schemaRefs>
    <ds:schemaRef ds:uri="2e7e23d5-2c80-4164-89d2-1708db4037b8"/>
    <ds:schemaRef ds:uri="4e7ac07f-2cd6-47aa-8863-e3015989625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DE7C614-AA74-4D4D-9D2D-D96DA5126C78}">
  <ds:schemaRefs>
    <ds:schemaRef ds:uri="http://schemas.microsoft.com/office/2006/metadata/properties"/>
    <ds:schemaRef ds:uri="http://schemas.microsoft.com/office/2006/documentManagement/types"/>
    <ds:schemaRef ds:uri="http://purl.org/dc/terms/"/>
    <ds:schemaRef ds:uri="http://purl.org/dc/elements/1.1/"/>
    <ds:schemaRef ds:uri="http://schemas.microsoft.com/office/infopath/2007/PartnerControls"/>
    <ds:schemaRef ds:uri="2e7e23d5-2c80-4164-89d2-1708db4037b8"/>
    <ds:schemaRef ds:uri="http://purl.org/dc/dcmitype/"/>
    <ds:schemaRef ds:uri="http://schemas.openxmlformats.org/package/2006/metadata/core-properties"/>
    <ds:schemaRef ds:uri="4e7ac07f-2cd6-47aa-8863-e3015989625c"/>
    <ds:schemaRef ds:uri="http://www.w3.org/XML/1998/namespace"/>
  </ds:schemaRefs>
</ds:datastoreItem>
</file>

<file path=customXml/itemProps3.xml><?xml version="1.0" encoding="utf-8"?>
<ds:datastoreItem xmlns:ds="http://schemas.openxmlformats.org/officeDocument/2006/customXml" ds:itemID="{EE04B39D-0CBA-4F8F-8809-785207E87965}">
  <ds:schemaRefs>
    <ds:schemaRef ds:uri="http://schemas.microsoft.com/sharepoint/v3/contenttype/forms"/>
  </ds:schemaRefs>
</ds:datastoreItem>
</file>

<file path=docMetadata/LabelInfo.xml><?xml version="1.0" encoding="utf-8"?>
<clbl:labelList xmlns:clbl="http://schemas.microsoft.com/office/2020/mipLabelMetadata">
  <clbl:label id="{2590e1b2-66ea-4d45-b1aa-185c322e3ba5}" enabled="1" method="Standard" siteId="{40a64d0b-f2f9-4a34-b1b3-0992ac0e5e4e}" contentBits="0" removed="0"/>
</clbl:labelList>
</file>

<file path=docProps/app.xml><?xml version="1.0" encoding="utf-8"?>
<Properties xmlns="http://schemas.openxmlformats.org/officeDocument/2006/extended-properties" xmlns:vt="http://schemas.openxmlformats.org/officeDocument/2006/docPropsVTypes">
  <Template>Covers</Template>
  <TotalTime>5996</TotalTime>
  <Words>3275</Words>
  <Application>Microsoft Office PowerPoint</Application>
  <PresentationFormat>On-screen Show (16:9)</PresentationFormat>
  <Paragraphs>148</Paragraphs>
  <Slides>32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Human Sans</vt:lpstr>
      <vt:lpstr>Human Sans Regular</vt:lpstr>
      <vt:lpstr>Continuum Theme</vt:lpstr>
      <vt:lpstr>Azure Times #189</vt:lpstr>
      <vt:lpstr>PowerPoint Presentation</vt:lpstr>
      <vt:lpstr>Security &amp; Identity Updates</vt:lpstr>
      <vt:lpstr>Security &amp; Identity Updates</vt:lpstr>
      <vt:lpstr>Security &amp; Identity Updates</vt:lpstr>
      <vt:lpstr>Security &amp; Identity Updates</vt:lpstr>
      <vt:lpstr>Security &amp; Identity Updates</vt:lpstr>
      <vt:lpstr>Security &amp; Identity Updates</vt:lpstr>
      <vt:lpstr>PowerPoint Presentation</vt:lpstr>
      <vt:lpstr>Management &amp; Governance Updates</vt:lpstr>
      <vt:lpstr>PowerPoint Presentation</vt:lpstr>
      <vt:lpstr>Compute Updates</vt:lpstr>
      <vt:lpstr>PowerPoint Presentation</vt:lpstr>
      <vt:lpstr>Storage &amp; Data Updates</vt:lpstr>
      <vt:lpstr>Storage &amp; Data Updates</vt:lpstr>
      <vt:lpstr>Storage &amp; Data Updates</vt:lpstr>
      <vt:lpstr>PowerPoint Presentation</vt:lpstr>
      <vt:lpstr>Databases Updates</vt:lpstr>
      <vt:lpstr>Databases Updates</vt:lpstr>
      <vt:lpstr>Databases Updates</vt:lpstr>
      <vt:lpstr>PowerPoint Presentation</vt:lpstr>
      <vt:lpstr>Integration Updates</vt:lpstr>
      <vt:lpstr>PowerPoint Presentation</vt:lpstr>
      <vt:lpstr>ML &amp; AI &amp; IOT Updates</vt:lpstr>
      <vt:lpstr>ML &amp; AI &amp; IOT Updates</vt:lpstr>
      <vt:lpstr>PowerPoint Presentation</vt:lpstr>
      <vt:lpstr>DevOps &amp; IaC &amp; Automation</vt:lpstr>
      <vt:lpstr>PowerPoint Presentation</vt:lpstr>
      <vt:lpstr>Miscellaneous Updates</vt:lpstr>
      <vt:lpstr>PowerPoint Presentation</vt:lpstr>
      <vt:lpstr>Information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Maksim Admin Rotar</cp:lastModifiedBy>
  <cp:revision>166</cp:revision>
  <dcterms:created xsi:type="dcterms:W3CDTF">2018-01-26T19:23:30Z</dcterms:created>
  <dcterms:modified xsi:type="dcterms:W3CDTF">2026-01-10T08:07:45Z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0x0101008C3A9FD6A1D2BC41832AF270024651C7</vt:lpwstr>
  </property>
</Properties>
</file>