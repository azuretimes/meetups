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45"/>
  </p:notesMasterIdLst>
  <p:handoutMasterIdLst>
    <p:handoutMasterId r:id="rId46"/>
  </p:handoutMasterIdLst>
  <p:sldIdLst>
    <p:sldId id="2142532340" r:id="rId5"/>
    <p:sldId id="2146847045" r:id="rId6"/>
    <p:sldId id="10657" r:id="rId7"/>
    <p:sldId id="2146847046" r:id="rId8"/>
    <p:sldId id="2146847089" r:id="rId9"/>
    <p:sldId id="2146847130" r:id="rId10"/>
    <p:sldId id="2146847129" r:id="rId11"/>
    <p:sldId id="2146847159" r:id="rId12"/>
    <p:sldId id="2146847162" r:id="rId13"/>
    <p:sldId id="2146847163" r:id="rId14"/>
    <p:sldId id="2146847164" r:id="rId15"/>
    <p:sldId id="2146847172" r:id="rId16"/>
    <p:sldId id="2146847161" r:id="rId17"/>
    <p:sldId id="2146847165" r:id="rId18"/>
    <p:sldId id="2146847166" r:id="rId19"/>
    <p:sldId id="2146847167" r:id="rId20"/>
    <p:sldId id="2146847157" r:id="rId21"/>
    <p:sldId id="2146847158" r:id="rId22"/>
    <p:sldId id="2146847160" r:id="rId23"/>
    <p:sldId id="2146847128" r:id="rId24"/>
    <p:sldId id="2146847048" r:id="rId25"/>
    <p:sldId id="2146847049" r:id="rId26"/>
    <p:sldId id="2146847132" r:id="rId27"/>
    <p:sldId id="2146847133" r:id="rId28"/>
    <p:sldId id="2146847050" r:id="rId29"/>
    <p:sldId id="2146847096" r:id="rId30"/>
    <p:sldId id="2146847134" r:id="rId31"/>
    <p:sldId id="2146847136" r:id="rId32"/>
    <p:sldId id="2146847135" r:id="rId33"/>
    <p:sldId id="2146847054" r:id="rId34"/>
    <p:sldId id="2146847141" r:id="rId35"/>
    <p:sldId id="2146847056" r:id="rId36"/>
    <p:sldId id="2146847144" r:id="rId37"/>
    <p:sldId id="2146847058" r:id="rId38"/>
    <p:sldId id="2146847111" r:id="rId39"/>
    <p:sldId id="2146847062" r:id="rId40"/>
    <p:sldId id="2146847115" r:id="rId41"/>
    <p:sldId id="2146847085" r:id="rId42"/>
    <p:sldId id="2146847084" r:id="rId43"/>
    <p:sldId id="2146847064" r:id="rId44"/>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Lst>
        </p14:section>
        <p14:section name="Security &amp; Identity" id="{1AA42572-B3BD-44F7-813B-C2C647DDBB3C}">
          <p14:sldIdLst>
            <p14:sldId id="2146847046"/>
            <p14:sldId id="2146847089"/>
            <p14:sldId id="2146847130"/>
            <p14:sldId id="2146847129"/>
            <p14:sldId id="2146847159"/>
            <p14:sldId id="2146847162"/>
            <p14:sldId id="2146847163"/>
            <p14:sldId id="2146847164"/>
            <p14:sldId id="2146847172"/>
            <p14:sldId id="2146847161"/>
            <p14:sldId id="2146847165"/>
            <p14:sldId id="2146847166"/>
            <p14:sldId id="2146847167"/>
            <p14:sldId id="2146847157"/>
            <p14:sldId id="2146847158"/>
            <p14:sldId id="2146847160"/>
            <p14:sldId id="2146847128"/>
          </p14:sldIdLst>
        </p14:section>
        <p14:section name="Management &amp; Governance" id="{34181601-6D48-4406-A525-C7B5A12C6C5B}">
          <p14:sldIdLst>
            <p14:sldId id="2146847048"/>
            <p14:sldId id="2146847049"/>
            <p14:sldId id="2146847132"/>
            <p14:sldId id="2146847133"/>
          </p14:sldIdLst>
        </p14:section>
        <p14:section name="Compute" id="{05AA80BB-8802-49AB-8336-A884227CE2F7}">
          <p14:sldIdLst>
            <p14:sldId id="2146847050"/>
            <p14:sldId id="2146847096"/>
            <p14:sldId id="2146847134"/>
            <p14:sldId id="2146847136"/>
            <p14:sldId id="2146847135"/>
          </p14:sldIdLst>
        </p14:section>
        <p14:section name="Storage &amp; Data" id="{1F159046-CE0A-45BC-9D5B-6E6C95980F78}">
          <p14:sldIdLst/>
        </p14:section>
        <p14:section name="Databases" id="{AEAFAE72-AD56-48F3-926B-38BAE269038F}">
          <p14:sldIdLst>
            <p14:sldId id="2146847054"/>
            <p14:sldId id="2146847141"/>
          </p14:sldIdLst>
        </p14:section>
        <p14:section name="Integration" id="{ACBD46A3-6F1C-451B-A154-0A056E0DEFF6}">
          <p14:sldIdLst>
            <p14:sldId id="2146847056"/>
            <p14:sldId id="2146847144"/>
          </p14:sldIdLst>
        </p14:section>
        <p14:section name="ML &amp; AI &amp; IOT" id="{F4E1EAF1-55E9-4CA4-8ADC-28B69C1D66D2}">
          <p14:sldIdLst>
            <p14:sldId id="2146847058"/>
            <p14:sldId id="2146847111"/>
          </p14:sldIdLst>
        </p14:section>
        <p14:section name="Miscellaneous" id="{A1456D7A-93BE-4023-90AA-7269D2F177BA}">
          <p14:sldIdLst>
            <p14:sldId id="2146847062"/>
            <p14:sldId id="2146847115"/>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28" d="100"/>
          <a:sy n="128" d="100"/>
        </p:scale>
        <p:origin x="2988" y="33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4/9/2026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59876"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irteam.com/sander/2026/03/12/entra-connect-sync-2-6-3-0-addresses-an-issue-where-auto-upgrade-would-halt-synchronization/" TargetMode="External"/><Relationship Id="rId2" Type="http://schemas.openxmlformats.org/officeDocument/2006/relationships/hyperlink" Target="https://techcommunity.microsoft.com/blog/microsoftsentinelblog/introducing-the-new-microsoft-sentinel-logstash-output-plugin-public-preview/4508904" TargetMode="External"/><Relationship Id="rId1" Type="http://schemas.openxmlformats.org/officeDocument/2006/relationships/slideLayout" Target="../slideLayouts/slideLayout7.xml"/><Relationship Id="rId4" Type="http://schemas.openxmlformats.org/officeDocument/2006/relationships/hyperlink" Target="https://learn.microsoft.com/en-us/entra/identity/hybrid/connect/reference-connect-version-history#known-issue-synchronization-fails-after-upgrade-if-miiserverexeconfig-was-previously-modified"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en-us/azure/defender-for-cloud/release-notes#new-individual-recommendations-format-in-azure-portal-preview" TargetMode="External"/><Relationship Id="rId2" Type="http://schemas.openxmlformats.org/officeDocument/2006/relationships/hyperlink" Target="https://learn.microsoft.com/en-us/azure/defender-for-cloud/release-notes#deprecation-of-preview-of-container-and-container-images-vulnerability-recommendations"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azure/defender-for-cloud/release-notes#code-to-runtime-enrichment-for-recommendations-preview" TargetMode="External"/><Relationship Id="rId2" Type="http://schemas.openxmlformats.org/officeDocument/2006/relationships/hyperlink" Target="https://learn.microsoft.com/en-us/azure/defender-for-cloud/release-notes#expanded-multicloud-coverage-for-aws-and-gcp-preview"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learn.microsoft.com/en-us/azure/defender-for-cloud/release-notes#ai-model-security-for-azure-machine-learning-preview"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phased-rollout-with-the-conditional-access-agent" TargetMode="External"/><Relationship Id="rId2" Type="http://schemas.openxmlformats.org/officeDocument/2006/relationships/hyperlink" Target="https://learn.microsoft.com/en-us/entra/fundamentals/whats-new#public-preview---passkey-adoption-campaigns-with-the-conditional-access-optimization-agent"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secure-add-on-tenant-creation" TargetMode="External"/><Relationship Id="rId2" Type="http://schemas.openxmlformats.org/officeDocument/2006/relationships/hyperlink" Target="https://learn.microsoft.com/en-us/entra/fundamentals/whats-new#public-preview---tenant-configuration-management-administration-portal-experience"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related-tenants" TargetMode="External"/><Relationship Id="rId2" Type="http://schemas.openxmlformats.org/officeDocument/2006/relationships/hyperlink" Target="https://learn.microsoft.com/en-us/entra/fundamentals/whats-new#public-preview---tenant-governance-relationships"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microsoft-entra-passkeys-on-windows" TargetMode="External"/><Relationship Id="rId2" Type="http://schemas.openxmlformats.org/officeDocument/2006/relationships/hyperlink" Target="https://learn.microsoft.com/en-us/entra/fundamentals/whats-new#public-preview---cross-tenant-security-group-synchronization"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improved-readability-for-authentication-methods-policy-update-audit-logs" TargetMode="External"/><Relationship Id="rId2" Type="http://schemas.openxmlformats.org/officeDocument/2006/relationships/hyperlink" Target="https://learn.microsoft.com/en-us/entra/fundamentals/whats-new#general-availability---tenant-configuration-management-apis"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enabling-email-and-sms-otp-mfa-in-entra-external-id-native-authentication" TargetMode="External"/><Relationship Id="rId2" Type="http://schemas.openxmlformats.org/officeDocument/2006/relationships/hyperlink" Target="https://learn.microsoft.com/en-us/entra/fundamentals/whats-new#general-availability---justintime-password-migration-in-microsoft-entra-external-id"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microsoft-entra-connect-health-now-enforces-tls-12" TargetMode="External"/><Relationship Id="rId2" Type="http://schemas.openxmlformats.org/officeDocument/2006/relationships/hyperlink" Target="https://learn.microsoft.com/en-us/entra/fundamentals/whats-new#general-availability---new-m365-group-creation-experience-in-my-groups"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microsoft-single-sign-on-for-linux-support-for-authenticating-with-phish-resistant-mfa-credentials" TargetMode="External"/><Relationship Id="rId2" Type="http://schemas.openxmlformats.org/officeDocument/2006/relationships/hyperlink" Target="https://learn.microsoft.com/en-us/entra/fundamentals/whats-new#general-availability---passkey-profiles-in-microsoft-entra-id"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learn.microsoft.com/en-us/azure/defender-for-cloud/release-notes#severitybased-risk-assignment-for-not-evaluated-recommendations" TargetMode="External"/><Relationship Id="rId2" Type="http://schemas.openxmlformats.org/officeDocument/2006/relationships/hyperlink" Target="https://learn.microsoft.com/en-us/azure/defender-for-cloud/release-notes#kubernetes-gated-deployment-support-for-aks-automatic-ga"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learn.microsoft.com/en-us/azure/defender-for-cloud/release-notes#file-integrity-monitoring-requires-mde-agent-version-108799-for-legacy-windows-machines" TargetMode="External"/><Relationship Id="rId2" Type="http://schemas.openxmlformats.org/officeDocument/2006/relationships/hyperlink" Target="https://learn.microsoft.com/en-us/azure/defender-for-cloud/release-notes#support-for-additional-azure-regions-for-defender-for-apis-and-api-security-posture-management-with-defender-cspm"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learn.microsoft.com/en-us/azure/defender-for-cloud/release-notes#deprecation-of-preview-of-container-and-container-images-vulnerability-recommendations" TargetMode="External"/><Relationship Id="rId2" Type="http://schemas.openxmlformats.org/officeDocument/2006/relationships/hyperlink" Target="https://learn.microsoft.com/en-us/azure/defender-for-cloud/release-notes#malware-automated-remediation-in-defender-for-storage"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learn.microsoft.com/en-us/azure/sentinel/ci-cd-custom-content" TargetMode="External"/><Relationship Id="rId2" Type="http://schemas.openxmlformats.org/officeDocument/2006/relationships/hyperlink" Target="https://learn.microsoft.com/en-us/azure/sentinel/whats-new?tabs=defender-portal#march-2026" TargetMode="External"/><Relationship Id="rId1" Type="http://schemas.openxmlformats.org/officeDocument/2006/relationships/slideLayout" Target="../slideLayouts/slideLayout7.xml"/><Relationship Id="rId5" Type="http://schemas.openxmlformats.org/officeDocument/2006/relationships/hyperlink" Target="https://learn.microsoft.com/en-us/rest/api/securityinsights/source-controls" TargetMode="External"/><Relationship Id="rId4" Type="http://schemas.openxmlformats.org/officeDocument/2006/relationships/hyperlink" Target="https://learn.microsoft.com/en-us/rest/api/securityinsights/source-contro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zure.microsoft.com/ru-ru/updates?id=560025"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learn.microsoft.com/en-us/azure/operations/configuration-enrollment?toc=%2Fazure%2Fvirtual-machines%2Ftoc.json"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azure.microsoft.com/ru-ru/updates?id=560039" TargetMode="External"/><Relationship Id="rId2" Type="http://schemas.openxmlformats.org/officeDocument/2006/relationships/hyperlink" Target="https://azure.microsoft.com/ru-ru/updates?id=559628"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learn.microsoft.com/en-us/azure/virtual-desktop/whats-new#march-2026"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techcommunity.microsoft.com/blog/appsonazureblog/php-8-5-is-now-available-on-azure-app-service-for-linux/4510254" TargetMode="External"/><Relationship Id="rId2" Type="http://schemas.openxmlformats.org/officeDocument/2006/relationships/hyperlink" Target="https://techcommunity.microsoft.com/blog/appsonazureblog/azure-red-hat-openshift-managed-identity-and-workload-identity-now-generally-ava/4504940"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azure.microsoft.com/ru-ru/updates?id=557857" TargetMode="External"/><Relationship Id="rId2" Type="http://schemas.openxmlformats.org/officeDocument/2006/relationships/hyperlink" Target="https://azure.microsoft.com/ru-ru/updates?id=557907"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azure.microsoft.com/ru-ru/updates?id=559547" TargetMode="External"/><Relationship Id="rId2" Type="http://schemas.openxmlformats.org/officeDocument/2006/relationships/hyperlink" Target="https://azure.microsoft.com/ru-ru/updates?id=559981"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azure.microsoft.com/ru-ru/updates?id=559623" TargetMode="External"/><Relationship Id="rId2" Type="http://schemas.openxmlformats.org/officeDocument/2006/relationships/hyperlink" Target="https://azure.microsoft.com/ru-ru/updates?id=559628"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learn.microsoft.com/azure/private-link/network-security-perimeter-concepts" TargetMode="External"/><Relationship Id="rId2" Type="http://schemas.openxmlformats.org/officeDocument/2006/relationships/hyperlink" Target="https://azure.microsoft.com/ru-ru/updates?id=559899" TargetMode="External"/><Relationship Id="rId1" Type="http://schemas.openxmlformats.org/officeDocument/2006/relationships/slideLayout" Target="../slideLayouts/slideLayout7.xml"/><Relationship Id="rId4" Type="http://schemas.openxmlformats.org/officeDocument/2006/relationships/hyperlink" Target="https://learn.microsoft.com/azure/service-bus-messaging/private-link-servic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techcommunity.microsoft.com/blog/azure-ai-foundry-blog/now-in-foundry-cohere-transcribe-nanbeige-4-1-3b-and-octen-embedding/4508183" TargetMode="External"/><Relationship Id="rId2" Type="http://schemas.openxmlformats.org/officeDocument/2006/relationships/hyperlink" Target="https://techcommunity.microsoft.com/blog/azure-ai-foundry-blog/grok-4-20-is-now-available-in-microsoft-foundry/4509377"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devblogs.microsoft.com/azure-sdk/announcing-the-end-of-support-for-node-js-20-x-in-the-azure-sdk-for-javascript/"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#201</a:t>
            </a:r>
          </a:p>
        </p:txBody>
      </p:sp>
      <p:sp>
        <p:nvSpPr>
          <p:cNvPr id="4" name="Text Placeholder 3"/>
          <p:cNvSpPr>
            <a:spLocks noGrp="1"/>
          </p:cNvSpPr>
          <p:nvPr>
            <p:ph type="body" sz="quarter" idx="11"/>
          </p:nvPr>
        </p:nvSpPr>
        <p:spPr/>
        <p:txBody>
          <a:bodyPr/>
          <a:lstStyle/>
          <a:p>
            <a:r>
              <a:rPr lang="en-US" spc="300" dirty="0"/>
              <a:t>April 13,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Rule impact analysis on Azure Network Watcher</a:t>
            </a:r>
            <a:endParaRPr lang="en-US" dirty="0"/>
          </a:p>
          <a:p>
            <a:pPr algn="just"/>
            <a:r>
              <a:rPr lang="en-US" dirty="0"/>
              <a:t>Rule impact analysis in </a:t>
            </a:r>
            <a:r>
              <a:rPr lang="en-US" b="1" dirty="0"/>
              <a:t>Azure Network Watcher</a:t>
            </a:r>
            <a:r>
              <a:rPr lang="en-US" dirty="0"/>
              <a:t> allows you to </a:t>
            </a:r>
            <a:r>
              <a:rPr lang="en-US" b="1" dirty="0"/>
              <a:t>preview how security admin rules will affect your environment before applying them</a:t>
            </a:r>
            <a:r>
              <a:rPr lang="en-US" dirty="0"/>
              <a:t>. It helps identify potential conflicts, validate connectivity, and prevent unintended disruptions to live traffic. This enables safer change management and reduces the risk of misconfiguration. Teams can plan and implement network security changes with greater confidence.</a:t>
            </a:r>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Introducing the New Microsoft Sentinel Logstash Output Plugin (Public Preview!)</a:t>
            </a:r>
            <a:endParaRPr lang="en-US" sz="1000" dirty="0"/>
          </a:p>
          <a:p>
            <a:pPr algn="just"/>
            <a:r>
              <a:rPr lang="en-US" sz="1000" dirty="0"/>
              <a:t>Microsoft Sentinel has introduced a </a:t>
            </a:r>
            <a:r>
              <a:rPr lang="en-US" sz="1000" b="1" dirty="0"/>
              <a:t>new Logstash output plugin rebuilt in Java</a:t>
            </a:r>
            <a:r>
              <a:rPr lang="en-US" sz="1000" dirty="0"/>
              <a:t>, improving security, supportability, and long-term sustainability. The update aligns with Microsoft’s </a:t>
            </a:r>
            <a:r>
              <a:rPr lang="en-US" sz="1000" b="1" dirty="0"/>
              <a:t>Secure Future Initiative (SFI)</a:t>
            </a:r>
            <a:r>
              <a:rPr lang="en-US" sz="1000" dirty="0"/>
              <a:t> while maintaining the same user experience by distributing it as a standard Logstash Ruby gem. The plugin now uses the </a:t>
            </a:r>
            <a:r>
              <a:rPr lang="en-US" sz="1000" b="1" dirty="0"/>
              <a:t>Azure Monitor Logs Ingestion API with Data Collection Rules (DCRs)</a:t>
            </a:r>
            <a:r>
              <a:rPr lang="en-US" sz="1000" dirty="0"/>
              <a:t>, enabling flexible schema control and modern ingestion capabilities. It supports multiple authentication methods, including </a:t>
            </a:r>
            <a:r>
              <a:rPr lang="en-US" sz="1000" b="1" dirty="0"/>
              <a:t>managed identity</a:t>
            </a:r>
            <a:r>
              <a:rPr lang="en-US" sz="1000" dirty="0"/>
              <a:t>, reducing the need to store credentials. Additionally, it is compatible with </a:t>
            </a:r>
            <a:r>
              <a:rPr lang="en-US" sz="1000" b="1" dirty="0"/>
              <a:t>sovereign clouds</a:t>
            </a:r>
            <a:r>
              <a:rPr lang="en-US" sz="1000" dirty="0"/>
              <a:t> such as Azure Government and China. Overall, this update delivers a </a:t>
            </a:r>
            <a:r>
              <a:rPr lang="en-US" sz="1000" b="1" dirty="0"/>
              <a:t>more secure, modern, and future-ready logging integration for Microsoft Sentinel</a:t>
            </a:r>
            <a:r>
              <a:rPr lang="en-US" sz="1000" dirty="0"/>
              <a:t>.</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Defender for Cloud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r>
              <a:rPr lang="en-US" dirty="0">
                <a:hlinkClick r:id="rId3"/>
              </a:rPr>
              <a:t>Entra Connect Sync 2.6.3.0 addresses an issue where auto-upgrade would halt synchronization</a:t>
            </a:r>
            <a:endParaRPr lang="en-US" dirty="0"/>
          </a:p>
          <a:p>
            <a:pPr fontAlgn="base"/>
            <a:r>
              <a:rPr lang="en-US" dirty="0"/>
              <a:t>Microsoft addressed a </a:t>
            </a:r>
            <a:r>
              <a:rPr lang="en-US" dirty="0">
                <a:hlinkClick r:id="rId4"/>
              </a:rPr>
              <a:t>known issue</a:t>
            </a:r>
            <a:r>
              <a:rPr lang="en-US" dirty="0"/>
              <a:t> in Entra Connect Sync v2.5.190.0 and v2.6.1.0, where the Automatic Upgrades feature could stop Entra Connect Sync from synchronizing unexpectedly with the following error:</a:t>
            </a:r>
          </a:p>
          <a:p>
            <a:pPr fontAlgn="base"/>
            <a:r>
              <a:rPr lang="en-US" i="1" dirty="0" err="1"/>
              <a:t>System.IO.FileLoadException</a:t>
            </a:r>
            <a:r>
              <a:rPr lang="en-US" i="1" dirty="0"/>
              <a:t>: Could not load file or assembly '</a:t>
            </a:r>
            <a:r>
              <a:rPr lang="en-US" i="1" dirty="0" err="1"/>
              <a:t>System.Diagnostics.DiagnosticSource</a:t>
            </a:r>
            <a:r>
              <a:rPr lang="en-US" i="1" dirty="0"/>
              <a:t>, Version=6.0.0.1' or one of its dependencies. The located assembly's manifest definition does not match the assembly reference. (Exception from HRESULT: 0x80131040)</a:t>
            </a:r>
          </a:p>
          <a:p>
            <a:pPr fontAlgn="base"/>
            <a:r>
              <a:rPr lang="en-US" dirty="0"/>
              <a:t>From Entra Connect Sync v2.6.3.0 onwards, auto-upgrade now detects modifications to the </a:t>
            </a:r>
            <a:r>
              <a:rPr lang="en-US" dirty="0" err="1"/>
              <a:t>miiserver.exe.config</a:t>
            </a:r>
            <a:r>
              <a:rPr lang="en-US" dirty="0"/>
              <a:t> and </a:t>
            </a:r>
            <a:r>
              <a:rPr lang="en-US" dirty="0" err="1"/>
              <a:t>miisclient.exe.config</a:t>
            </a:r>
            <a:r>
              <a:rPr lang="en-US" dirty="0"/>
              <a:t> configuration files and skips automatic upgrade on these installations.</a:t>
            </a:r>
          </a:p>
          <a:p>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pPr algn="just"/>
            <a:r>
              <a:rPr lang="en-US" sz="1000" dirty="0">
                <a:hlinkClick r:id="rId2"/>
              </a:rPr>
              <a:t>On-demand malware scanning of Azure Files in Microsoft Defender for Storage (Preview)</a:t>
            </a:r>
            <a:endParaRPr lang="en-US" sz="1000" dirty="0"/>
          </a:p>
          <a:p>
            <a:pPr algn="just"/>
            <a:r>
              <a:rPr lang="en-US" sz="1000" dirty="0"/>
              <a:t>On-demand malware scanning for Azure Files in Microsoft Defender for Storage is now in preview. This preview extends the existing on-demand malware scan feature and lets scan entire Azure Storage accounts that contain blobs and files.</a:t>
            </a:r>
          </a:p>
          <a:p>
            <a:pPr algn="just"/>
            <a:r>
              <a:rPr lang="en-US" sz="1000" dirty="0"/>
              <a:t>You can start scans in the Azure portal UI or with the Representational State Transfer (REST) application programming interface (API). You can also automate scans with Azure Logic Apps, Azure Automation playbooks, and PowerShell scripts.</a:t>
            </a:r>
          </a:p>
          <a:p>
            <a:pPr algn="just"/>
            <a:r>
              <a:rPr lang="en-US" sz="1000" dirty="0"/>
              <a:t>This feature uses Microsoft Defender Antivirus and applies the latest malware definitions for each scan. It also shows an upfront cost estimate in the Azure portal before you start a scan.</a:t>
            </a:r>
          </a:p>
          <a:p>
            <a:endParaRPr lang="en-US" sz="1000" dirty="0"/>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Defender for Cloud Updates</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p:txBody>
          <a:bodyPr/>
          <a:lstStyle/>
          <a:p>
            <a:pPr algn="just"/>
            <a:r>
              <a:rPr lang="en-US" dirty="0">
                <a:hlinkClick r:id="rId3"/>
              </a:rPr>
              <a:t>New individual recommendations format in Azure portal (Preview)</a:t>
            </a:r>
            <a:endParaRPr lang="en-US" dirty="0"/>
          </a:p>
          <a:p>
            <a:pPr algn="just"/>
            <a:r>
              <a:rPr lang="en-US" dirty="0"/>
              <a:t>Microsoft Defender for Cloud is converting grouped recommendations into individual recommendations in the Azure portal. This change reflects a shift from grouping related findings under one recommendation to listing each recommendation separately.</a:t>
            </a:r>
          </a:p>
          <a:p>
            <a:pPr algn="just"/>
            <a:r>
              <a:rPr lang="en-US" dirty="0"/>
              <a:t>You might see a longer list of recommendations than before. Combined findings (such as vulnerabilities, exposed secrets, or misconfigurations) now show as individual recommendations rather than nested under a parent recommendation.</a:t>
            </a:r>
          </a:p>
          <a:p>
            <a:pPr algn="just"/>
            <a:r>
              <a:rPr lang="en-US" dirty="0"/>
              <a:t>The grouped recommendations will still show side by side with the new format for now, but they will be deprecated in several months.</a:t>
            </a:r>
          </a:p>
          <a:p>
            <a:pPr algn="just"/>
            <a:r>
              <a:rPr lang="en-US" dirty="0"/>
              <a:t>The new individual recommendations are marked as Preview with additional New version tag. These tags indicate that the recommendation is in an early state and doesn't affect Secure Score yet, as well as allowing you to filter the recommendations by it.</a:t>
            </a:r>
          </a:p>
        </p:txBody>
      </p:sp>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p:txBody>
          <a:bodyPr/>
          <a:lstStyle/>
          <a:p>
            <a:pPr algn="just"/>
            <a:r>
              <a:rPr lang="en-US" sz="1000" dirty="0">
                <a:hlinkClick r:id="rId2"/>
              </a:rPr>
              <a:t>Expanded </a:t>
            </a:r>
            <a:r>
              <a:rPr lang="en-US" sz="1000" dirty="0" err="1">
                <a:hlinkClick r:id="rId2"/>
              </a:rPr>
              <a:t>multicloud</a:t>
            </a:r>
            <a:r>
              <a:rPr lang="en-US" sz="1000" dirty="0">
                <a:hlinkClick r:id="rId2"/>
              </a:rPr>
              <a:t> coverage for AWS and GCP (Preview)</a:t>
            </a:r>
            <a:endParaRPr lang="en-US" sz="1000" dirty="0"/>
          </a:p>
          <a:p>
            <a:pPr algn="just"/>
            <a:r>
              <a:rPr lang="en-US" sz="1000" dirty="0"/>
              <a:t>Microsoft Defender for Cloud expands </a:t>
            </a:r>
            <a:r>
              <a:rPr lang="en-US" sz="1000" dirty="0" err="1"/>
              <a:t>multicloud</a:t>
            </a:r>
            <a:r>
              <a:rPr lang="en-US" sz="1000" dirty="0"/>
              <a:t> posture management with broader native coverage for AWS and GCP. This update adds discovery and posture assessment for additional resource types across compute, databases, storage, analytics, networking, identity, secrets, DevOps, and AI/ML services.</a:t>
            </a:r>
          </a:p>
          <a:p>
            <a:pPr marL="171450" indent="-171450" algn="just">
              <a:buFont typeface="Arial" panose="020B0604020202020204" pitchFamily="34" charset="0"/>
              <a:buChar char="•"/>
            </a:pPr>
            <a:r>
              <a:rPr lang="en-US" sz="1000" dirty="0"/>
              <a:t>Asset inventory: Newly supported AWS and GCP resources are now discovered and visible in the Asset inventory experience.</a:t>
            </a:r>
          </a:p>
          <a:p>
            <a:pPr marL="171450" indent="-171450" algn="just">
              <a:buFont typeface="Arial" panose="020B0604020202020204" pitchFamily="34" charset="0"/>
              <a:buChar char="•"/>
            </a:pPr>
            <a:r>
              <a:rPr lang="en-US" sz="1000" dirty="0"/>
              <a:t>Security recommendations: Approximately 150 new recommendations help identify misconfigurations and posture gaps across the newly supported resources.</a:t>
            </a:r>
          </a:p>
          <a:p>
            <a:pPr marL="171450" indent="-171450" algn="just">
              <a:buFont typeface="Arial" panose="020B0604020202020204" pitchFamily="34" charset="0"/>
              <a:buChar char="•"/>
            </a:pPr>
            <a:r>
              <a:rPr lang="en-US" sz="1000" dirty="0"/>
              <a:t>Regulatory compliance: Existing compliance frameworks now include the new recommendations, providing more complete compliance assessments across </a:t>
            </a:r>
            <a:r>
              <a:rPr lang="en-US" sz="1000" dirty="0" err="1"/>
              <a:t>multicloud</a:t>
            </a:r>
            <a:r>
              <a:rPr lang="en-US" sz="1000" dirty="0"/>
              <a:t> environments.</a:t>
            </a:r>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Defender for Cloud Updates</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3"/>
              </a:rPr>
              <a:t>Code to runtime enrichment for recommendations (Preview)</a:t>
            </a:r>
            <a:endParaRPr lang="en-US" dirty="0"/>
          </a:p>
          <a:p>
            <a:pPr algn="just"/>
            <a:r>
              <a:rPr lang="en-US" dirty="0"/>
              <a:t>Microsoft Defender for Cloud now provides code-to-runtime capabilities, enabling end-to-end visibility across the software development lifecycle (SDLC). This feature helps security teams trace runtime security issues back to their source code origins and understand the full blast radius of vulnerabilities.</a:t>
            </a:r>
          </a:p>
          <a:p>
            <a:pPr marL="171450" indent="-171450" algn="just">
              <a:buFont typeface="Arial" panose="020B0604020202020204" pitchFamily="34" charset="0"/>
              <a:buChar char="•"/>
            </a:pPr>
            <a:r>
              <a:rPr lang="en-US" b="1" dirty="0"/>
              <a:t>SDLC Chain Visibility</a:t>
            </a:r>
            <a:r>
              <a:rPr lang="en-US" dirty="0"/>
              <a:t>: Track security issues from source code through pipelines, registries, to runtime environments</a:t>
            </a:r>
          </a:p>
          <a:p>
            <a:pPr marL="171450" indent="-171450" algn="just">
              <a:buFont typeface="Arial" panose="020B0604020202020204" pitchFamily="34" charset="0"/>
              <a:buChar char="•"/>
            </a:pPr>
            <a:r>
              <a:rPr lang="en-US" b="1" dirty="0"/>
              <a:t>Blast Radius Analysis</a:t>
            </a:r>
            <a:r>
              <a:rPr lang="en-US" dirty="0"/>
              <a:t>: Understand how many assets are affected by a single code change</a:t>
            </a:r>
          </a:p>
          <a:p>
            <a:pPr marL="171450" indent="-171450" algn="just">
              <a:buFont typeface="Arial" panose="020B0604020202020204" pitchFamily="34" charset="0"/>
              <a:buChar char="•"/>
            </a:pPr>
            <a:r>
              <a:rPr lang="en-US" b="1" dirty="0"/>
              <a:t>Runtime-to-Source Tracing</a:t>
            </a:r>
            <a:r>
              <a:rPr lang="en-US" dirty="0"/>
              <a:t>: Navigate backwards from runtime recommendations to identify the original source of security issues</a:t>
            </a:r>
          </a:p>
          <a:p>
            <a:pPr marL="171450" indent="-171450" algn="just">
              <a:buFont typeface="Arial" panose="020B0604020202020204" pitchFamily="34" charset="0"/>
              <a:buChar char="•"/>
            </a:pPr>
            <a:r>
              <a:rPr lang="en-US" b="1" dirty="0"/>
              <a:t>Actionable Remediation</a:t>
            </a:r>
            <a:r>
              <a:rPr lang="en-US" dirty="0"/>
              <a:t>: Fix issues at the source to prevent recurring regressions rather than addressing only runtime symptoms</a:t>
            </a:r>
          </a:p>
          <a:p>
            <a:pPr algn="just"/>
            <a:endParaRPr lang="en-US" dirty="0"/>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5264D4-ACA9-B56B-3877-7C4C29EC0C5B}"/>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05125DBA-DA57-9714-2CF7-51051979E44F}"/>
              </a:ext>
            </a:extLst>
          </p:cNvPr>
          <p:cNvSpPr>
            <a:spLocks noGrp="1"/>
          </p:cNvSpPr>
          <p:nvPr>
            <p:ph type="title"/>
          </p:nvPr>
        </p:nvSpPr>
        <p:spPr/>
        <p:txBody>
          <a:bodyPr/>
          <a:lstStyle/>
          <a:p>
            <a:r>
              <a:rPr lang="en-US" sz="1600" dirty="0"/>
              <a:t>Defender for Cloud Updates</a:t>
            </a:r>
            <a:endParaRPr lang="en-US" dirty="0"/>
          </a:p>
        </p:txBody>
      </p:sp>
      <p:sp>
        <p:nvSpPr>
          <p:cNvPr id="4" name="Text Placeholder 3">
            <a:extLst>
              <a:ext uri="{FF2B5EF4-FFF2-40B4-BE49-F238E27FC236}">
                <a16:creationId xmlns:a16="http://schemas.microsoft.com/office/drawing/2014/main" id="{1B5F2F32-3208-7BBA-A191-7CBFF878B5D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75D6BFA8-CA11-294C-79EA-F425B3A35F7E}"/>
              </a:ext>
            </a:extLst>
          </p:cNvPr>
          <p:cNvSpPr>
            <a:spLocks noGrp="1"/>
          </p:cNvSpPr>
          <p:nvPr>
            <p:ph type="body" sz="quarter" idx="16"/>
          </p:nvPr>
        </p:nvSpPr>
        <p:spPr/>
        <p:txBody>
          <a:bodyPr/>
          <a:lstStyle/>
          <a:p>
            <a:pPr algn="just"/>
            <a:r>
              <a:rPr lang="en-US" dirty="0">
                <a:hlinkClick r:id="rId2"/>
              </a:rPr>
              <a:t>AI model security for Azure Machine Learning (Preview)</a:t>
            </a:r>
            <a:endParaRPr lang="en-US" dirty="0"/>
          </a:p>
          <a:p>
            <a:pPr algn="just"/>
            <a:r>
              <a:rPr lang="en-US" dirty="0"/>
              <a:t>Microsoft Defender for Cloud now offers AI model security in preview for Azure Machine Learning registries and workspaces. AI model security helps security teams discover and scan custom AI models for risks before deployment, and review findings in Defender for Cloud.</a:t>
            </a:r>
          </a:p>
        </p:txBody>
      </p:sp>
    </p:spTree>
    <p:extLst>
      <p:ext uri="{BB962C8B-B14F-4D97-AF65-F5344CB8AC3E}">
        <p14:creationId xmlns:p14="http://schemas.microsoft.com/office/powerpoint/2010/main" val="3662125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86CD5-885C-7885-A0C3-41278CD91A8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1FD9BAE-BADA-1ECF-F349-88E6A74AC5AC}"/>
              </a:ext>
            </a:extLst>
          </p:cNvPr>
          <p:cNvSpPr>
            <a:spLocks noGrp="1"/>
          </p:cNvSpPr>
          <p:nvPr>
            <p:ph type="body" sz="quarter" idx="10"/>
          </p:nvPr>
        </p:nvSpPr>
        <p:spPr/>
        <p:txBody>
          <a:bodyPr/>
          <a:lstStyle/>
          <a:p>
            <a:pPr algn="just"/>
            <a:r>
              <a:rPr lang="en-US" sz="1000" dirty="0">
                <a:hlinkClick r:id="rId2"/>
              </a:rPr>
              <a:t>Public Preview - Passkey Adoption Campaigns with the Conditional Access Optimization Agent</a:t>
            </a:r>
            <a:endParaRPr lang="en-US" sz="1000" dirty="0"/>
          </a:p>
          <a:p>
            <a:pPr algn="just"/>
            <a:r>
              <a:rPr lang="en-US" sz="1000" dirty="0"/>
              <a:t>The Conditional Access Optimization Agent now supports </a:t>
            </a:r>
            <a:r>
              <a:rPr lang="en-US" sz="1000" b="1" dirty="0"/>
              <a:t>passkey adoption campaigns (public preview)</a:t>
            </a:r>
            <a:r>
              <a:rPr lang="en-US" sz="1000" dirty="0"/>
              <a:t>, enabling structured rollout of </a:t>
            </a:r>
            <a:r>
              <a:rPr lang="en-US" sz="1000" b="1" dirty="0"/>
              <a:t>phishing-resistant authentication</a:t>
            </a:r>
            <a:r>
              <a:rPr lang="en-US" sz="1000" dirty="0"/>
              <a:t>. It analyzes </a:t>
            </a:r>
            <a:r>
              <a:rPr lang="en-US" sz="1000" b="1" dirty="0"/>
              <a:t>user and device readiness</a:t>
            </a:r>
            <a:r>
              <a:rPr lang="en-US" sz="1000" dirty="0"/>
              <a:t>, generates deployment plans, and guides users through setup. Campaigns progress automatically as prerequisites are met, reducing manual effort. Policies are initially deployed in </a:t>
            </a:r>
            <a:r>
              <a:rPr lang="en-US" sz="1000" b="1" dirty="0"/>
              <a:t>report-only mode</a:t>
            </a:r>
            <a:r>
              <a:rPr lang="en-US" sz="1000" dirty="0"/>
              <a:t>, allowing impact assessment before enforcement. This helps organizations adopt passkeys </a:t>
            </a:r>
            <a:r>
              <a:rPr lang="en-US" sz="1000" b="1" dirty="0"/>
              <a:t>safely and at scale</a:t>
            </a:r>
            <a:r>
              <a:rPr lang="en-US" sz="1000" dirty="0"/>
              <a:t>, especially for privileged users.</a:t>
            </a:r>
          </a:p>
        </p:txBody>
      </p:sp>
      <p:sp>
        <p:nvSpPr>
          <p:cNvPr id="3" name="Title 2">
            <a:extLst>
              <a:ext uri="{FF2B5EF4-FFF2-40B4-BE49-F238E27FC236}">
                <a16:creationId xmlns:a16="http://schemas.microsoft.com/office/drawing/2014/main" id="{F414142E-AA38-5939-E9A4-9F7874E0BFBE}"/>
              </a:ext>
            </a:extLst>
          </p:cNvPr>
          <p:cNvSpPr>
            <a:spLocks noGrp="1"/>
          </p:cNvSpPr>
          <p:nvPr>
            <p:ph type="title"/>
          </p:nvPr>
        </p:nvSpPr>
        <p:spPr/>
        <p:txBody>
          <a:bodyPr/>
          <a:lstStyle/>
          <a:p>
            <a:r>
              <a:rPr lang="en-US" sz="1800" dirty="0"/>
              <a:t>Entra ID Updates</a:t>
            </a:r>
            <a:endParaRPr lang="en-US" dirty="0"/>
          </a:p>
        </p:txBody>
      </p:sp>
      <p:sp>
        <p:nvSpPr>
          <p:cNvPr id="4" name="Text Placeholder 3">
            <a:extLst>
              <a:ext uri="{FF2B5EF4-FFF2-40B4-BE49-F238E27FC236}">
                <a16:creationId xmlns:a16="http://schemas.microsoft.com/office/drawing/2014/main" id="{70CDC20F-AC72-BBE5-270F-09EEE8089B97}"/>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7F0F3957-EAB1-DCFA-8951-EAF4ECD1E071}"/>
              </a:ext>
            </a:extLst>
          </p:cNvPr>
          <p:cNvSpPr>
            <a:spLocks noGrp="1"/>
          </p:cNvSpPr>
          <p:nvPr>
            <p:ph type="body" sz="quarter" idx="16"/>
          </p:nvPr>
        </p:nvSpPr>
        <p:spPr/>
        <p:txBody>
          <a:bodyPr/>
          <a:lstStyle/>
          <a:p>
            <a:pPr algn="just"/>
            <a:r>
              <a:rPr lang="en-US" dirty="0">
                <a:hlinkClick r:id="rId3"/>
              </a:rPr>
              <a:t>Public Preview - Phased Rollout with the Conditional Access Agent</a:t>
            </a:r>
            <a:endParaRPr lang="en-US" dirty="0"/>
          </a:p>
          <a:p>
            <a:pPr algn="just"/>
            <a:r>
              <a:rPr lang="en-US" dirty="0"/>
              <a:t>The Conditional Access Optimization Agent now enables </a:t>
            </a:r>
            <a:r>
              <a:rPr lang="en-US" b="1" dirty="0"/>
              <a:t>phased rollout of report-only Conditional Access policies</a:t>
            </a:r>
            <a:r>
              <a:rPr lang="en-US" dirty="0"/>
              <a:t>, reducing deployment risk. It analyzes </a:t>
            </a:r>
            <a:r>
              <a:rPr lang="en-US" b="1" dirty="0"/>
              <a:t>sign-in data</a:t>
            </a:r>
            <a:r>
              <a:rPr lang="en-US" dirty="0"/>
              <a:t> to recommend a safe rollout plan, starting with small user groups and gradually expanding. This approach helps </a:t>
            </a:r>
            <a:r>
              <a:rPr lang="en-US" b="1" dirty="0"/>
              <a:t>minimize user impact and avoid disruptions</a:t>
            </a:r>
            <a:r>
              <a:rPr lang="en-US" dirty="0"/>
              <a:t> when enabling new policies. It allows administrators to transition from report-only to enforced mode with greater confidence. </a:t>
            </a:r>
          </a:p>
        </p:txBody>
      </p:sp>
    </p:spTree>
    <p:extLst>
      <p:ext uri="{BB962C8B-B14F-4D97-AF65-F5344CB8AC3E}">
        <p14:creationId xmlns:p14="http://schemas.microsoft.com/office/powerpoint/2010/main" val="11044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19E0-8A62-1194-45EF-3716A6699A7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B0ABEDA-6EF3-0E68-B183-E3769265BB62}"/>
              </a:ext>
            </a:extLst>
          </p:cNvPr>
          <p:cNvSpPr>
            <a:spLocks noGrp="1"/>
          </p:cNvSpPr>
          <p:nvPr>
            <p:ph type="body" sz="quarter" idx="10"/>
          </p:nvPr>
        </p:nvSpPr>
        <p:spPr/>
        <p:txBody>
          <a:bodyPr/>
          <a:lstStyle/>
          <a:p>
            <a:pPr algn="just"/>
            <a:r>
              <a:rPr lang="en-US" sz="1000" dirty="0">
                <a:hlinkClick r:id="rId2"/>
              </a:rPr>
              <a:t>Public preview - Tenant configuration management administration portal experience</a:t>
            </a:r>
            <a:endParaRPr lang="en-US" sz="1000" dirty="0"/>
          </a:p>
          <a:p>
            <a:pPr algn="just"/>
            <a:r>
              <a:rPr lang="en-US" sz="1000" dirty="0"/>
              <a:t>Microsoft Entra now introduces </a:t>
            </a:r>
            <a:r>
              <a:rPr lang="en-US" sz="1000" b="1" dirty="0"/>
              <a:t>tenant configuration management in the Entra admin center</a:t>
            </a:r>
            <a:r>
              <a:rPr lang="en-US" sz="1000" dirty="0"/>
              <a:t>, enabling organizations to define and monitor the desired state of their environment. Administrators can create </a:t>
            </a:r>
            <a:r>
              <a:rPr lang="en-US" sz="1000" b="1" dirty="0"/>
              <a:t>monitors to track configuration compliance</a:t>
            </a:r>
            <a:r>
              <a:rPr lang="en-US" sz="1000" dirty="0"/>
              <a:t> across Microsoft services and detect any drift from expected settings. The service provides </a:t>
            </a:r>
            <a:r>
              <a:rPr lang="en-US" sz="1000" b="1" dirty="0"/>
              <a:t>detailed reports and insights</a:t>
            </a:r>
            <a:r>
              <a:rPr lang="en-US" sz="1000" dirty="0"/>
              <a:t> into configuration changes and deviations. It also allows controlled access by managing </a:t>
            </a:r>
            <a:r>
              <a:rPr lang="en-US" sz="1000" b="1" dirty="0"/>
              <a:t>permissions and roles for monitoring capabilities</a:t>
            </a:r>
            <a:r>
              <a:rPr lang="en-US" sz="1000" dirty="0"/>
              <a:t>. This helps improve governance, visibility, and compliance across the tenant. </a:t>
            </a:r>
          </a:p>
        </p:txBody>
      </p:sp>
      <p:sp>
        <p:nvSpPr>
          <p:cNvPr id="3" name="Title 2">
            <a:extLst>
              <a:ext uri="{FF2B5EF4-FFF2-40B4-BE49-F238E27FC236}">
                <a16:creationId xmlns:a16="http://schemas.microsoft.com/office/drawing/2014/main" id="{C95ED63F-198C-6AC3-74D4-9EBC5D25F9B4}"/>
              </a:ext>
            </a:extLst>
          </p:cNvPr>
          <p:cNvSpPr>
            <a:spLocks noGrp="1"/>
          </p:cNvSpPr>
          <p:nvPr>
            <p:ph type="title"/>
          </p:nvPr>
        </p:nvSpPr>
        <p:spPr/>
        <p:txBody>
          <a:bodyPr/>
          <a:lstStyle/>
          <a:p>
            <a:r>
              <a:rPr lang="en-US" sz="1800" dirty="0"/>
              <a:t>Entra ID Updates</a:t>
            </a:r>
            <a:endParaRPr lang="en-US" dirty="0"/>
          </a:p>
        </p:txBody>
      </p:sp>
      <p:sp>
        <p:nvSpPr>
          <p:cNvPr id="4" name="Text Placeholder 3">
            <a:extLst>
              <a:ext uri="{FF2B5EF4-FFF2-40B4-BE49-F238E27FC236}">
                <a16:creationId xmlns:a16="http://schemas.microsoft.com/office/drawing/2014/main" id="{BA99862D-99EE-2689-5F95-E043132AE304}"/>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97CE24A0-45FB-EFC9-728A-FB4411B1EF41}"/>
              </a:ext>
            </a:extLst>
          </p:cNvPr>
          <p:cNvSpPr>
            <a:spLocks noGrp="1"/>
          </p:cNvSpPr>
          <p:nvPr>
            <p:ph type="body" sz="quarter" idx="16"/>
          </p:nvPr>
        </p:nvSpPr>
        <p:spPr/>
        <p:txBody>
          <a:bodyPr/>
          <a:lstStyle/>
          <a:p>
            <a:pPr algn="just"/>
            <a:r>
              <a:rPr lang="en-US" dirty="0">
                <a:hlinkClick r:id="rId3"/>
              </a:rPr>
              <a:t>Public preview - Secure add-on tenant creation</a:t>
            </a:r>
            <a:endParaRPr lang="en-US" dirty="0"/>
          </a:p>
          <a:p>
            <a:pPr algn="just"/>
            <a:r>
              <a:rPr lang="en-US" dirty="0"/>
              <a:t>Permissioned users can now create add-on tenants that are owned and governed by their home tenant. Governance is established through tenant governing relationships, granting admins access and control via GDAP. </a:t>
            </a:r>
          </a:p>
          <a:p>
            <a:pPr algn="just"/>
            <a:endParaRPr lang="en-US" dirty="0"/>
          </a:p>
        </p:txBody>
      </p:sp>
    </p:spTree>
    <p:extLst>
      <p:ext uri="{BB962C8B-B14F-4D97-AF65-F5344CB8AC3E}">
        <p14:creationId xmlns:p14="http://schemas.microsoft.com/office/powerpoint/2010/main" val="19962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9871D-7541-C9AC-ECD5-2ED165942E0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553014D-7B2C-95F0-30ED-A70CFFEFE4D2}"/>
              </a:ext>
            </a:extLst>
          </p:cNvPr>
          <p:cNvSpPr>
            <a:spLocks noGrp="1"/>
          </p:cNvSpPr>
          <p:nvPr>
            <p:ph type="body" sz="quarter" idx="10"/>
          </p:nvPr>
        </p:nvSpPr>
        <p:spPr/>
        <p:txBody>
          <a:bodyPr/>
          <a:lstStyle/>
          <a:p>
            <a:r>
              <a:rPr lang="en-US" sz="1000" dirty="0">
                <a:hlinkClick r:id="rId2"/>
              </a:rPr>
              <a:t>Public preview - Tenant governance relationships</a:t>
            </a:r>
            <a:endParaRPr lang="en-US" sz="1000" dirty="0"/>
          </a:p>
          <a:p>
            <a:r>
              <a:rPr lang="en-US" sz="1000" dirty="0"/>
              <a:t>This feature allows admins to request and accept tenant governance relationships, which grant admins of the governing tenant access and administrative control over the governed tenant.</a:t>
            </a:r>
          </a:p>
        </p:txBody>
      </p:sp>
      <p:sp>
        <p:nvSpPr>
          <p:cNvPr id="3" name="Title 2">
            <a:extLst>
              <a:ext uri="{FF2B5EF4-FFF2-40B4-BE49-F238E27FC236}">
                <a16:creationId xmlns:a16="http://schemas.microsoft.com/office/drawing/2014/main" id="{F0329A8A-71DF-18E9-3914-D0B3E0B6DB5D}"/>
              </a:ext>
            </a:extLst>
          </p:cNvPr>
          <p:cNvSpPr>
            <a:spLocks noGrp="1"/>
          </p:cNvSpPr>
          <p:nvPr>
            <p:ph type="title"/>
          </p:nvPr>
        </p:nvSpPr>
        <p:spPr/>
        <p:txBody>
          <a:bodyPr/>
          <a:lstStyle/>
          <a:p>
            <a:r>
              <a:rPr lang="en-US" sz="1800" dirty="0"/>
              <a:t>Entra ID Updates</a:t>
            </a:r>
            <a:endParaRPr lang="en-US" dirty="0"/>
          </a:p>
        </p:txBody>
      </p:sp>
      <p:sp>
        <p:nvSpPr>
          <p:cNvPr id="4" name="Text Placeholder 3">
            <a:extLst>
              <a:ext uri="{FF2B5EF4-FFF2-40B4-BE49-F238E27FC236}">
                <a16:creationId xmlns:a16="http://schemas.microsoft.com/office/drawing/2014/main" id="{D603B6D2-0E85-6AC4-B8A6-CA80FF8454BC}"/>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90B3777F-AE3C-7713-2AD9-4C8E53527EA0}"/>
              </a:ext>
            </a:extLst>
          </p:cNvPr>
          <p:cNvSpPr>
            <a:spLocks noGrp="1"/>
          </p:cNvSpPr>
          <p:nvPr>
            <p:ph type="body" sz="quarter" idx="16"/>
          </p:nvPr>
        </p:nvSpPr>
        <p:spPr/>
        <p:txBody>
          <a:bodyPr/>
          <a:lstStyle/>
          <a:p>
            <a:pPr algn="just"/>
            <a:r>
              <a:rPr lang="en-US" dirty="0">
                <a:hlinkClick r:id="rId3"/>
              </a:rPr>
              <a:t>Public Preview - Related Tenants</a:t>
            </a:r>
            <a:endParaRPr lang="en-US" dirty="0"/>
          </a:p>
          <a:p>
            <a:pPr algn="just"/>
            <a:r>
              <a:rPr lang="en-US" dirty="0"/>
              <a:t>This feature allows admins to discover related tenants connected to their own by B2B activity or shared billing information. Admins can use this information to request and establish tenant governance relationships or to quarantine potential risks.</a:t>
            </a:r>
          </a:p>
        </p:txBody>
      </p:sp>
    </p:spTree>
    <p:extLst>
      <p:ext uri="{BB962C8B-B14F-4D97-AF65-F5344CB8AC3E}">
        <p14:creationId xmlns:p14="http://schemas.microsoft.com/office/powerpoint/2010/main" val="34034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194541-061B-F604-F7AF-2989C96B281E}"/>
              </a:ext>
            </a:extLst>
          </p:cNvPr>
          <p:cNvSpPr>
            <a:spLocks noGrp="1"/>
          </p:cNvSpPr>
          <p:nvPr>
            <p:ph type="body" sz="quarter" idx="10"/>
          </p:nvPr>
        </p:nvSpPr>
        <p:spPr/>
        <p:txBody>
          <a:bodyPr/>
          <a:lstStyle/>
          <a:p>
            <a:r>
              <a:rPr lang="en-US" sz="1000" dirty="0">
                <a:hlinkClick r:id="rId2"/>
              </a:rPr>
              <a:t>Public Preview - Cross-tenant security group synchronization</a:t>
            </a:r>
            <a:endParaRPr lang="en-US" sz="1000" dirty="0"/>
          </a:p>
          <a:p>
            <a:r>
              <a:rPr lang="en-US" sz="1000" dirty="0"/>
              <a:t>Cross-tenant group synchronization in Microsoft Entra allows organizations to synchronize security groups across multiple tenants, enabling centralized group management. This simplifies scenarios such as shared application access and consistent authorization across environments. Administrators can manage group membership in a source tenant and make those groups available in target tenants. The feature reduces duplication and administrative overhead while improving governance. It integrates with existing cross-tenant synchronization and supports custom attribute mappings and access policies.</a:t>
            </a:r>
          </a:p>
        </p:txBody>
      </p:sp>
      <p:sp>
        <p:nvSpPr>
          <p:cNvPr id="3" name="Title 2">
            <a:extLst>
              <a:ext uri="{FF2B5EF4-FFF2-40B4-BE49-F238E27FC236}">
                <a16:creationId xmlns:a16="http://schemas.microsoft.com/office/drawing/2014/main" id="{87521C0F-7606-23EC-C9A3-192C836317B1}"/>
              </a:ext>
            </a:extLst>
          </p:cNvPr>
          <p:cNvSpPr>
            <a:spLocks noGrp="1"/>
          </p:cNvSpPr>
          <p:nvPr>
            <p:ph type="title"/>
          </p:nvPr>
        </p:nvSpPr>
        <p:spPr/>
        <p:txBody>
          <a:bodyPr/>
          <a:lstStyle/>
          <a:p>
            <a:r>
              <a:rPr lang="en-US" sz="1600" dirty="0"/>
              <a:t>Entra ID Updates</a:t>
            </a:r>
            <a:endParaRPr lang="en-US" dirty="0"/>
          </a:p>
        </p:txBody>
      </p:sp>
      <p:sp>
        <p:nvSpPr>
          <p:cNvPr id="4" name="Text Placeholder 3">
            <a:extLst>
              <a:ext uri="{FF2B5EF4-FFF2-40B4-BE49-F238E27FC236}">
                <a16:creationId xmlns:a16="http://schemas.microsoft.com/office/drawing/2014/main" id="{7CB7EB56-1233-220C-BC8D-75D08E97FB9B}"/>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DC9268B-DD25-9D2F-31E7-3FD868EB76F9}"/>
              </a:ext>
            </a:extLst>
          </p:cNvPr>
          <p:cNvSpPr>
            <a:spLocks noGrp="1"/>
          </p:cNvSpPr>
          <p:nvPr>
            <p:ph type="body" sz="quarter" idx="16"/>
          </p:nvPr>
        </p:nvSpPr>
        <p:spPr/>
        <p:txBody>
          <a:bodyPr/>
          <a:lstStyle/>
          <a:p>
            <a:pPr algn="just"/>
            <a:r>
              <a:rPr lang="en-US" dirty="0">
                <a:hlinkClick r:id="rId3"/>
              </a:rPr>
              <a:t>Public Preview - Microsoft Entra passkeys on Windows</a:t>
            </a:r>
            <a:endParaRPr lang="en-US" dirty="0"/>
          </a:p>
          <a:p>
            <a:pPr algn="just"/>
            <a:r>
              <a:rPr lang="en-US" dirty="0"/>
              <a:t>Microsoft Entra passkeys on Windows are now in public preview, allowing users to register device-bound passkeys in the Windows Hello container. These passkeys can be used for authentication with biometrics or PIN, providing a phishing-resistant sign-in method. They function as standard FIDO2 credentials and can be used even if the device is not Entra joined or registered. During preview, the feature is opt-in and configured via passkey profiles, where Windows Hello must be explicitly enabled. This enhances security while improving user experience with passwordless authentication on Windows devices.</a:t>
            </a:r>
          </a:p>
        </p:txBody>
      </p:sp>
    </p:spTree>
    <p:extLst>
      <p:ext uri="{BB962C8B-B14F-4D97-AF65-F5344CB8AC3E}">
        <p14:creationId xmlns:p14="http://schemas.microsoft.com/office/powerpoint/2010/main" val="235467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054808-5CE8-6D3C-C982-A8AC7BBB860D}"/>
              </a:ext>
            </a:extLst>
          </p:cNvPr>
          <p:cNvSpPr>
            <a:spLocks noGrp="1"/>
          </p:cNvSpPr>
          <p:nvPr>
            <p:ph type="body" sz="quarter" idx="10"/>
          </p:nvPr>
        </p:nvSpPr>
        <p:spPr/>
        <p:txBody>
          <a:bodyPr/>
          <a:lstStyle/>
          <a:p>
            <a:r>
              <a:rPr lang="en-US" sz="1000" dirty="0">
                <a:hlinkClick r:id="rId2"/>
              </a:rPr>
              <a:t>General Availability - Tenant configuration management APIs</a:t>
            </a:r>
            <a:endParaRPr lang="en-US" sz="1000" dirty="0"/>
          </a:p>
          <a:p>
            <a:r>
              <a:rPr lang="en-US" sz="1000" dirty="0"/>
              <a:t>Tenant Configuration Management APIs allow organizations to take snapshots of their tenants' current configuration settings in a JSON format and to enforce configuration settings by offering continuous monitoring of drifts.</a:t>
            </a:r>
          </a:p>
        </p:txBody>
      </p:sp>
      <p:sp>
        <p:nvSpPr>
          <p:cNvPr id="3" name="Title 2">
            <a:extLst>
              <a:ext uri="{FF2B5EF4-FFF2-40B4-BE49-F238E27FC236}">
                <a16:creationId xmlns:a16="http://schemas.microsoft.com/office/drawing/2014/main" id="{605966D5-AD08-89C5-9C59-C635D2C7DEAE}"/>
              </a:ext>
            </a:extLst>
          </p:cNvPr>
          <p:cNvSpPr>
            <a:spLocks noGrp="1"/>
          </p:cNvSpPr>
          <p:nvPr>
            <p:ph type="title"/>
          </p:nvPr>
        </p:nvSpPr>
        <p:spPr/>
        <p:txBody>
          <a:bodyPr/>
          <a:lstStyle/>
          <a:p>
            <a:r>
              <a:rPr lang="en-US" sz="1800" dirty="0"/>
              <a:t>Entra ID Updates</a:t>
            </a:r>
            <a:endParaRPr lang="en-US" dirty="0"/>
          </a:p>
        </p:txBody>
      </p:sp>
      <p:sp>
        <p:nvSpPr>
          <p:cNvPr id="4" name="Text Placeholder 3">
            <a:extLst>
              <a:ext uri="{FF2B5EF4-FFF2-40B4-BE49-F238E27FC236}">
                <a16:creationId xmlns:a16="http://schemas.microsoft.com/office/drawing/2014/main" id="{D5EA66BD-115F-D602-E805-4E4B05AB4A33}"/>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E1D2752D-D64C-7691-2ED8-6AF5EAE574D8}"/>
              </a:ext>
            </a:extLst>
          </p:cNvPr>
          <p:cNvSpPr>
            <a:spLocks noGrp="1"/>
          </p:cNvSpPr>
          <p:nvPr>
            <p:ph type="body" sz="quarter" idx="16"/>
          </p:nvPr>
        </p:nvSpPr>
        <p:spPr/>
        <p:txBody>
          <a:bodyPr/>
          <a:lstStyle/>
          <a:p>
            <a:pPr algn="just"/>
            <a:r>
              <a:rPr lang="en-US" dirty="0">
                <a:hlinkClick r:id="rId3"/>
              </a:rPr>
              <a:t>General Availability – Improved readability for Authentication Methods Policy Update audit logs</a:t>
            </a:r>
            <a:endParaRPr lang="en-US" dirty="0"/>
          </a:p>
          <a:p>
            <a:pPr algn="just"/>
            <a:r>
              <a:rPr lang="en-US" dirty="0"/>
              <a:t>Starting April 2026, Microsoft Entra audit logs for </a:t>
            </a:r>
            <a:r>
              <a:rPr lang="en-US" b="1" dirty="0"/>
              <a:t>Authentication Methods Policy updates and resets</a:t>
            </a:r>
            <a:r>
              <a:rPr lang="en-US" dirty="0"/>
              <a:t> have been improved for better readability. Instead of showing the full policy payload, logs now display </a:t>
            </a:r>
            <a:r>
              <a:rPr lang="en-US" b="1" dirty="0"/>
              <a:t>only the specific properties that were changed</a:t>
            </a:r>
            <a:r>
              <a:rPr lang="en-US" dirty="0"/>
              <a:t>, along with their old and new values. This makes it easier to </a:t>
            </a:r>
            <a:r>
              <a:rPr lang="en-US" b="1" dirty="0"/>
              <a:t>analyze changes and troubleshoot issues</a:t>
            </a:r>
            <a:r>
              <a:rPr lang="en-US" dirty="0"/>
              <a:t>. For broader updates, such as registration campaigns, the full payload may still be included. The update affects </a:t>
            </a:r>
            <a:r>
              <a:rPr lang="en-US" b="1" dirty="0"/>
              <a:t>log formatting only</a:t>
            </a:r>
            <a:r>
              <a:rPr lang="en-US" dirty="0"/>
              <a:t>, with no impact on policy behavior. Overall, it enhances </a:t>
            </a:r>
            <a:r>
              <a:rPr lang="en-US" b="1" dirty="0"/>
              <a:t>audit clarity and operational efficiency</a:t>
            </a:r>
            <a:r>
              <a:rPr lang="en-US" dirty="0"/>
              <a:t>.</a:t>
            </a:r>
          </a:p>
        </p:txBody>
      </p:sp>
    </p:spTree>
    <p:extLst>
      <p:ext uri="{BB962C8B-B14F-4D97-AF65-F5344CB8AC3E}">
        <p14:creationId xmlns:p14="http://schemas.microsoft.com/office/powerpoint/2010/main" val="1907454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7D115-520F-0B0E-E5DF-30353B2553A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2DA4F1B-8F86-44C1-20D3-37FFB8B9D71B}"/>
              </a:ext>
            </a:extLst>
          </p:cNvPr>
          <p:cNvSpPr>
            <a:spLocks noGrp="1"/>
          </p:cNvSpPr>
          <p:nvPr>
            <p:ph type="body" sz="quarter" idx="10"/>
          </p:nvPr>
        </p:nvSpPr>
        <p:spPr/>
        <p:txBody>
          <a:bodyPr/>
          <a:lstStyle/>
          <a:p>
            <a:pPr algn="just"/>
            <a:r>
              <a:rPr lang="en-US" sz="1000" dirty="0">
                <a:hlinkClick r:id="rId2"/>
              </a:rPr>
              <a:t>General Availability - Just‑in‑Time Password Migration in Microsoft Entra External ID</a:t>
            </a:r>
            <a:endParaRPr lang="en-US" sz="1000" dirty="0"/>
          </a:p>
          <a:p>
            <a:pPr algn="just"/>
            <a:r>
              <a:rPr lang="en-US" sz="1000" dirty="0"/>
              <a:t>Customers can migrate user passwords securely at first sign‑in, allowing users to continue using their existing credentials without forced password resets. This enables a smoother transition from Azure AD B2C or other identity providers while reducing migration risk and operational overhead.</a:t>
            </a:r>
          </a:p>
        </p:txBody>
      </p:sp>
      <p:sp>
        <p:nvSpPr>
          <p:cNvPr id="3" name="Title 2">
            <a:extLst>
              <a:ext uri="{FF2B5EF4-FFF2-40B4-BE49-F238E27FC236}">
                <a16:creationId xmlns:a16="http://schemas.microsoft.com/office/drawing/2014/main" id="{550B5DA3-6678-BE0D-A611-28CCDCACC797}"/>
              </a:ext>
            </a:extLst>
          </p:cNvPr>
          <p:cNvSpPr>
            <a:spLocks noGrp="1"/>
          </p:cNvSpPr>
          <p:nvPr>
            <p:ph type="title"/>
          </p:nvPr>
        </p:nvSpPr>
        <p:spPr/>
        <p:txBody>
          <a:bodyPr/>
          <a:lstStyle/>
          <a:p>
            <a:r>
              <a:rPr lang="en-US" sz="1800" dirty="0"/>
              <a:t>Entra ID Updates</a:t>
            </a:r>
            <a:endParaRPr lang="en-US" dirty="0"/>
          </a:p>
        </p:txBody>
      </p:sp>
      <p:sp>
        <p:nvSpPr>
          <p:cNvPr id="4" name="Text Placeholder 3">
            <a:extLst>
              <a:ext uri="{FF2B5EF4-FFF2-40B4-BE49-F238E27FC236}">
                <a16:creationId xmlns:a16="http://schemas.microsoft.com/office/drawing/2014/main" id="{DB75D048-508A-FFA3-031E-DD1DDEA3EE04}"/>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DAF0A54-AC2A-89DA-2F9B-30685218026E}"/>
              </a:ext>
            </a:extLst>
          </p:cNvPr>
          <p:cNvSpPr>
            <a:spLocks noGrp="1"/>
          </p:cNvSpPr>
          <p:nvPr>
            <p:ph type="body" sz="quarter" idx="16"/>
          </p:nvPr>
        </p:nvSpPr>
        <p:spPr/>
        <p:txBody>
          <a:bodyPr/>
          <a:lstStyle/>
          <a:p>
            <a:pPr algn="just"/>
            <a:r>
              <a:rPr lang="en-US" dirty="0">
                <a:hlinkClick r:id="rId3"/>
              </a:rPr>
              <a:t>General Availability - Enabling Email and SMS OTP MFA in Entra External ID Native Authentication</a:t>
            </a:r>
            <a:endParaRPr lang="en-US" dirty="0"/>
          </a:p>
          <a:p>
            <a:pPr algn="just"/>
            <a:r>
              <a:rPr lang="en-US" dirty="0"/>
              <a:t>Build secure sign‑in and sign‑up experiences for applications in Entra External ID using Native Authentication, with Email and SMS OTP MFA available through</a:t>
            </a:r>
          </a:p>
        </p:txBody>
      </p:sp>
    </p:spTree>
    <p:extLst>
      <p:ext uri="{BB962C8B-B14F-4D97-AF65-F5344CB8AC3E}">
        <p14:creationId xmlns:p14="http://schemas.microsoft.com/office/powerpoint/2010/main" val="417623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979CC-7C00-2AF3-A78C-7B1FA63EDA7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5AA4DE4-702B-3EB5-5624-472BFE517332}"/>
              </a:ext>
            </a:extLst>
          </p:cNvPr>
          <p:cNvSpPr>
            <a:spLocks noGrp="1"/>
          </p:cNvSpPr>
          <p:nvPr>
            <p:ph type="body" sz="quarter" idx="10"/>
          </p:nvPr>
        </p:nvSpPr>
        <p:spPr/>
        <p:txBody>
          <a:bodyPr/>
          <a:lstStyle/>
          <a:p>
            <a:r>
              <a:rPr lang="en-US" sz="1000" dirty="0">
                <a:hlinkClick r:id="rId2"/>
              </a:rPr>
              <a:t>General Availability - New M365 group creation experience in My Groups</a:t>
            </a:r>
            <a:endParaRPr lang="en-US" sz="1000" dirty="0"/>
          </a:p>
          <a:p>
            <a:r>
              <a:rPr lang="en-US" sz="1000" dirty="0"/>
              <a:t>Microsoft 365 is enhancing the My Groups creation experience, giving group owners more control during setup. Users can now configure group settings, email options, and sensitivity labels at creation time, reducing the need for later administrative changes. The update also includes Exchange configuration options, such as welcome emails, subscriptions, and mailbox visibility in Outlook. Owners can define who can send emails, manage external access, and control visibility in the address list. Additionally, groups can be enabled with security functionality when required.</a:t>
            </a:r>
          </a:p>
        </p:txBody>
      </p:sp>
      <p:sp>
        <p:nvSpPr>
          <p:cNvPr id="3" name="Title 2">
            <a:extLst>
              <a:ext uri="{FF2B5EF4-FFF2-40B4-BE49-F238E27FC236}">
                <a16:creationId xmlns:a16="http://schemas.microsoft.com/office/drawing/2014/main" id="{22698FDE-2665-FC01-82CC-318E220C64E1}"/>
              </a:ext>
            </a:extLst>
          </p:cNvPr>
          <p:cNvSpPr>
            <a:spLocks noGrp="1"/>
          </p:cNvSpPr>
          <p:nvPr>
            <p:ph type="title"/>
          </p:nvPr>
        </p:nvSpPr>
        <p:spPr/>
        <p:txBody>
          <a:bodyPr/>
          <a:lstStyle/>
          <a:p>
            <a:r>
              <a:rPr lang="en-US" sz="1800" dirty="0"/>
              <a:t>Entra ID Updates</a:t>
            </a:r>
            <a:endParaRPr lang="en-US" dirty="0"/>
          </a:p>
        </p:txBody>
      </p:sp>
      <p:sp>
        <p:nvSpPr>
          <p:cNvPr id="4" name="Text Placeholder 3">
            <a:extLst>
              <a:ext uri="{FF2B5EF4-FFF2-40B4-BE49-F238E27FC236}">
                <a16:creationId xmlns:a16="http://schemas.microsoft.com/office/drawing/2014/main" id="{88B58AAD-8114-BC80-889D-0B0AD573EB90}"/>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75A87AA-4920-D8F6-D0DB-01D310A0257F}"/>
              </a:ext>
            </a:extLst>
          </p:cNvPr>
          <p:cNvSpPr>
            <a:spLocks noGrp="1"/>
          </p:cNvSpPr>
          <p:nvPr>
            <p:ph type="body" sz="quarter" idx="16"/>
          </p:nvPr>
        </p:nvSpPr>
        <p:spPr/>
        <p:txBody>
          <a:bodyPr/>
          <a:lstStyle/>
          <a:p>
            <a:pPr algn="just"/>
            <a:r>
              <a:rPr lang="en-US" dirty="0">
                <a:hlinkClick r:id="rId3"/>
              </a:rPr>
              <a:t>General Availability - Microsoft Entra Connect Health now enforces TLS 1.2</a:t>
            </a:r>
            <a:endParaRPr lang="en-US" dirty="0"/>
          </a:p>
          <a:p>
            <a:pPr algn="just"/>
            <a:r>
              <a:rPr lang="en-US" dirty="0"/>
              <a:t>Microsoft Entra Connect Health has fully migrated to TLS 1.2, removing support for legacy TLS 1.1 as part of security hardening. This change improves protection for agent-to-service communication and aligns with modern compliance standards. Since TLS 1.1 is deprecated due to known vulnerabilities, continuing to use it may expose environments to risk. Organizations must ensure that Health agents are updated and servers are configured to support TLS 1.2 for outbound connections. This is a required action to maintain connectivity and security.</a:t>
            </a:r>
          </a:p>
        </p:txBody>
      </p:sp>
    </p:spTree>
    <p:extLst>
      <p:ext uri="{BB962C8B-B14F-4D97-AF65-F5344CB8AC3E}">
        <p14:creationId xmlns:p14="http://schemas.microsoft.com/office/powerpoint/2010/main" val="296132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71702-C4F0-1F70-0632-EAD97A4FD37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97120C3-C92C-6E4F-5D4D-B6A81F3E18B0}"/>
              </a:ext>
            </a:extLst>
          </p:cNvPr>
          <p:cNvSpPr>
            <a:spLocks noGrp="1"/>
          </p:cNvSpPr>
          <p:nvPr>
            <p:ph type="body" sz="quarter" idx="10"/>
          </p:nvPr>
        </p:nvSpPr>
        <p:spPr/>
        <p:txBody>
          <a:bodyPr/>
          <a:lstStyle/>
          <a:p>
            <a:pPr algn="just"/>
            <a:r>
              <a:rPr lang="en-US" sz="1000" dirty="0">
                <a:hlinkClick r:id="rId2"/>
              </a:rPr>
              <a:t>General Availability - Passkey profiles in Microsoft Entra ID</a:t>
            </a:r>
            <a:endParaRPr lang="en-US" sz="1000" dirty="0"/>
          </a:p>
          <a:p>
            <a:pPr algn="just"/>
            <a:r>
              <a:rPr lang="en-US" sz="1000" dirty="0"/>
              <a:t>Passkey profiles in Microsoft Entra ID are now generally available, providing a structured way to manage FIDO2 passkey authentication. Administrators can create multiple profiles with different settings and target them to specific user groups, such as admins or standard users. Each profile can define allowed passkey types, attestation requirements, and authenticator restrictions. Existing passkey configurations are automatically migrated into a default profile.</a:t>
            </a:r>
          </a:p>
        </p:txBody>
      </p:sp>
      <p:sp>
        <p:nvSpPr>
          <p:cNvPr id="3" name="Title 2">
            <a:extLst>
              <a:ext uri="{FF2B5EF4-FFF2-40B4-BE49-F238E27FC236}">
                <a16:creationId xmlns:a16="http://schemas.microsoft.com/office/drawing/2014/main" id="{2BCD3863-E8A0-1440-64CF-E0E320F5CF73}"/>
              </a:ext>
            </a:extLst>
          </p:cNvPr>
          <p:cNvSpPr>
            <a:spLocks noGrp="1"/>
          </p:cNvSpPr>
          <p:nvPr>
            <p:ph type="title"/>
          </p:nvPr>
        </p:nvSpPr>
        <p:spPr/>
        <p:txBody>
          <a:bodyPr/>
          <a:lstStyle/>
          <a:p>
            <a:r>
              <a:rPr lang="en-US" sz="1800" dirty="0"/>
              <a:t>Entra ID Updates</a:t>
            </a:r>
            <a:endParaRPr lang="en-US" dirty="0"/>
          </a:p>
        </p:txBody>
      </p:sp>
      <p:sp>
        <p:nvSpPr>
          <p:cNvPr id="4" name="Text Placeholder 3">
            <a:extLst>
              <a:ext uri="{FF2B5EF4-FFF2-40B4-BE49-F238E27FC236}">
                <a16:creationId xmlns:a16="http://schemas.microsoft.com/office/drawing/2014/main" id="{63865939-5189-7EA3-846F-F7608A50EA20}"/>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7C2752E-32FC-EE3B-E592-695DD6D6E6F3}"/>
              </a:ext>
            </a:extLst>
          </p:cNvPr>
          <p:cNvSpPr>
            <a:spLocks noGrp="1"/>
          </p:cNvSpPr>
          <p:nvPr>
            <p:ph type="body" sz="quarter" idx="16"/>
          </p:nvPr>
        </p:nvSpPr>
        <p:spPr/>
        <p:txBody>
          <a:bodyPr/>
          <a:lstStyle/>
          <a:p>
            <a:pPr algn="just"/>
            <a:r>
              <a:rPr lang="en-US" dirty="0">
                <a:hlinkClick r:id="rId3"/>
              </a:rPr>
              <a:t>General Availability - Microsoft Single Sign-On for Linux support for authenticating with Phish-Resistant MFA credentials</a:t>
            </a:r>
            <a:endParaRPr lang="en-US" dirty="0"/>
          </a:p>
          <a:p>
            <a:pPr algn="just"/>
            <a:r>
              <a:rPr lang="en-US" dirty="0"/>
              <a:t>The major improvements that this release provides include:</a:t>
            </a:r>
          </a:p>
          <a:p>
            <a:pPr marL="171450" indent="-171450" algn="just">
              <a:buFont typeface="Arial" panose="020B0604020202020204" pitchFamily="34" charset="0"/>
              <a:buChar char="•"/>
            </a:pPr>
            <a:r>
              <a:rPr lang="en-US" dirty="0"/>
              <a:t>Enables authentication using CBA/YubiKey with certificate (PRMFA)</a:t>
            </a:r>
          </a:p>
          <a:p>
            <a:pPr marL="171450" indent="-171450" algn="just">
              <a:buFont typeface="Arial" panose="020B0604020202020204" pitchFamily="34" charset="0"/>
              <a:buChar char="•"/>
            </a:pPr>
            <a:r>
              <a:rPr lang="en-US" dirty="0"/>
              <a:t>Removes dependency on Java runtime as part of the Intune install</a:t>
            </a:r>
          </a:p>
          <a:p>
            <a:pPr marL="171450" indent="-171450" algn="just">
              <a:buFont typeface="Arial" panose="020B0604020202020204" pitchFamily="34" charset="0"/>
              <a:buChar char="•"/>
            </a:pPr>
            <a:r>
              <a:rPr lang="en-US" dirty="0"/>
              <a:t>Improved performance and reliability when authenticating to </a:t>
            </a:r>
            <a:r>
              <a:rPr lang="en-US" dirty="0" err="1"/>
              <a:t>EntraId</a:t>
            </a:r>
            <a:endParaRPr lang="en-US" dirty="0"/>
          </a:p>
          <a:p>
            <a:pPr marL="171450" indent="-171450" algn="just">
              <a:buFont typeface="Arial" panose="020B0604020202020204" pitchFamily="34" charset="0"/>
              <a:buChar char="•"/>
            </a:pPr>
            <a:r>
              <a:rPr lang="en-US" dirty="0"/>
              <a:t>Provides device trust using Entra Join instead of Entra Registration</a:t>
            </a:r>
          </a:p>
          <a:p>
            <a:pPr marL="171450" indent="-171450" algn="just">
              <a:buFont typeface="Arial" panose="020B0604020202020204" pitchFamily="34" charset="0"/>
              <a:buChar char="•"/>
            </a:pPr>
            <a:r>
              <a:rPr lang="en-US" dirty="0"/>
              <a:t>Increased stability and performance for authentication requests</a:t>
            </a:r>
          </a:p>
        </p:txBody>
      </p:sp>
    </p:spTree>
    <p:extLst>
      <p:ext uri="{BB962C8B-B14F-4D97-AF65-F5344CB8AC3E}">
        <p14:creationId xmlns:p14="http://schemas.microsoft.com/office/powerpoint/2010/main" val="3232722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087EAC-45AE-3A78-5442-5161FDA68EC3}"/>
              </a:ext>
            </a:extLst>
          </p:cNvPr>
          <p:cNvSpPr>
            <a:spLocks noGrp="1"/>
          </p:cNvSpPr>
          <p:nvPr>
            <p:ph type="body" sz="quarter" idx="10"/>
          </p:nvPr>
        </p:nvSpPr>
        <p:spPr/>
        <p:txBody>
          <a:bodyPr/>
          <a:lstStyle/>
          <a:p>
            <a:pPr algn="just"/>
            <a:r>
              <a:rPr lang="en-US" sz="1000" dirty="0">
                <a:hlinkClick r:id="rId2"/>
              </a:rPr>
              <a:t>Kubernetes gated deployment support for AKS Automatic (GA)</a:t>
            </a:r>
            <a:endParaRPr lang="en-US" sz="1000" dirty="0"/>
          </a:p>
          <a:p>
            <a:pPr algn="just"/>
            <a:r>
              <a:rPr lang="en-US" sz="1000" dirty="0"/>
              <a:t>Kubernetes gated deployment is now generally available for AKS Automatic clusters.</a:t>
            </a:r>
          </a:p>
          <a:p>
            <a:pPr algn="just"/>
            <a:r>
              <a:rPr lang="en-US" sz="1000" dirty="0"/>
              <a:t>To use this capability, install the Defender for Containers sensor by using Helm in the </a:t>
            </a:r>
            <a:r>
              <a:rPr lang="en-US" sz="1000" dirty="0" err="1"/>
              <a:t>kube</a:t>
            </a:r>
            <a:r>
              <a:rPr lang="en-US" sz="1000" dirty="0"/>
              <a:t>-system namespace. If the sensor is currently installed through the AKS add-on, the Helm installation script disables the add-on and redeploys the sensor using Helm.</a:t>
            </a:r>
          </a:p>
        </p:txBody>
      </p:sp>
      <p:sp>
        <p:nvSpPr>
          <p:cNvPr id="3" name="Title 2">
            <a:extLst>
              <a:ext uri="{FF2B5EF4-FFF2-40B4-BE49-F238E27FC236}">
                <a16:creationId xmlns:a16="http://schemas.microsoft.com/office/drawing/2014/main" id="{456B6B94-31BA-A459-85C5-D8DE416D54C9}"/>
              </a:ext>
            </a:extLst>
          </p:cNvPr>
          <p:cNvSpPr>
            <a:spLocks noGrp="1"/>
          </p:cNvSpPr>
          <p:nvPr>
            <p:ph type="title"/>
          </p:nvPr>
        </p:nvSpPr>
        <p:spPr/>
        <p:txBody>
          <a:bodyPr/>
          <a:lstStyle/>
          <a:p>
            <a:r>
              <a:rPr lang="en-US" sz="1600" dirty="0"/>
              <a:t>Defender for Cloud Updates</a:t>
            </a:r>
            <a:endParaRPr lang="en-US" dirty="0"/>
          </a:p>
        </p:txBody>
      </p:sp>
      <p:sp>
        <p:nvSpPr>
          <p:cNvPr id="4" name="Text Placeholder 3">
            <a:extLst>
              <a:ext uri="{FF2B5EF4-FFF2-40B4-BE49-F238E27FC236}">
                <a16:creationId xmlns:a16="http://schemas.microsoft.com/office/drawing/2014/main" id="{20B58D9F-7AD5-0C67-4CE7-12CBC4E9D8FC}"/>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E084945-0F5E-BA93-2B43-823271AD531B}"/>
              </a:ext>
            </a:extLst>
          </p:cNvPr>
          <p:cNvSpPr>
            <a:spLocks noGrp="1"/>
          </p:cNvSpPr>
          <p:nvPr>
            <p:ph type="body" sz="quarter" idx="16"/>
          </p:nvPr>
        </p:nvSpPr>
        <p:spPr/>
        <p:txBody>
          <a:bodyPr/>
          <a:lstStyle/>
          <a:p>
            <a:r>
              <a:rPr lang="en-US" dirty="0">
                <a:hlinkClick r:id="rId3"/>
              </a:rPr>
              <a:t>Severity‑based risk assignment for "Not evaluated" recommendations</a:t>
            </a:r>
            <a:endParaRPr lang="en-US" dirty="0"/>
          </a:p>
          <a:p>
            <a:r>
              <a:rPr lang="en-US" dirty="0"/>
              <a:t>Recommendations that previously appeared as </a:t>
            </a:r>
            <a:r>
              <a:rPr lang="en-US" b="1" dirty="0"/>
              <a:t>Not evaluated</a:t>
            </a:r>
            <a:r>
              <a:rPr lang="en-US" dirty="0"/>
              <a:t> will now receive a risk level derived from the recommendation severity. As a result, these recommendations will now be prioritized in the recommendations list based on their assigned risk level.</a:t>
            </a:r>
          </a:p>
          <a:p>
            <a:r>
              <a:rPr lang="en-US" dirty="0"/>
              <a:t>This change may affect the overall status of recommendations and will also impact Secure Score, as previously recommendations that were not evaluated are now included in risk calculations.</a:t>
            </a:r>
          </a:p>
          <a:p>
            <a:r>
              <a:rPr lang="en-US" dirty="0"/>
              <a:t>For customers without Defender CSPM enabled, this update removes the </a:t>
            </a:r>
            <a:r>
              <a:rPr lang="en-US" b="1" dirty="0"/>
              <a:t>Not evaluated</a:t>
            </a:r>
            <a:r>
              <a:rPr lang="en-US" dirty="0"/>
              <a:t> risk state and replaces it with severity‑based risk.</a:t>
            </a:r>
          </a:p>
          <a:p>
            <a:endParaRPr lang="en-US" dirty="0"/>
          </a:p>
          <a:p>
            <a:endParaRPr lang="en-US" dirty="0"/>
          </a:p>
        </p:txBody>
      </p:sp>
    </p:spTree>
    <p:extLst>
      <p:ext uri="{BB962C8B-B14F-4D97-AF65-F5344CB8AC3E}">
        <p14:creationId xmlns:p14="http://schemas.microsoft.com/office/powerpoint/2010/main" val="7476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8D2D9F8-C408-777F-A0D4-48B29981382D}"/>
              </a:ext>
            </a:extLst>
          </p:cNvPr>
          <p:cNvSpPr>
            <a:spLocks noGrp="1"/>
          </p:cNvSpPr>
          <p:nvPr>
            <p:ph type="body" sz="quarter" idx="10"/>
          </p:nvPr>
        </p:nvSpPr>
        <p:spPr/>
        <p:txBody>
          <a:bodyPr/>
          <a:lstStyle/>
          <a:p>
            <a:r>
              <a:rPr lang="en-US" sz="1000" dirty="0">
                <a:hlinkClick r:id="rId2"/>
              </a:rPr>
              <a:t>Support for additional Azure regions for Defender for APIs and API security posture management with Defender CSPM</a:t>
            </a:r>
            <a:endParaRPr lang="en-US" sz="1000" dirty="0"/>
          </a:p>
          <a:p>
            <a:r>
              <a:rPr lang="en-US" sz="1000" dirty="0"/>
              <a:t>Microsoft Defender for APIs and API security posture management with Defender CSPM has expanded to provide its capabilities in the following Azure regions:</a:t>
            </a:r>
          </a:p>
          <a:p>
            <a:pPr marL="171450" indent="-171450">
              <a:buFont typeface="Arial" panose="020B0604020202020204" pitchFamily="34" charset="0"/>
              <a:buChar char="•"/>
            </a:pPr>
            <a:r>
              <a:rPr lang="en-US" sz="1000" dirty="0"/>
              <a:t>Sweden Central</a:t>
            </a:r>
          </a:p>
          <a:p>
            <a:pPr marL="171450" indent="-171450">
              <a:buFont typeface="Arial" panose="020B0604020202020204" pitchFamily="34" charset="0"/>
              <a:buChar char="•"/>
            </a:pPr>
            <a:r>
              <a:rPr lang="en-US" sz="1000" dirty="0"/>
              <a:t>Sweden South</a:t>
            </a:r>
          </a:p>
          <a:p>
            <a:pPr marL="171450" indent="-171450">
              <a:buFont typeface="Arial" panose="020B0604020202020204" pitchFamily="34" charset="0"/>
              <a:buChar char="•"/>
            </a:pPr>
            <a:r>
              <a:rPr lang="en-US" sz="1000" dirty="0"/>
              <a:t>Germany West Central</a:t>
            </a:r>
          </a:p>
          <a:p>
            <a:pPr marL="171450" indent="-171450">
              <a:buFont typeface="Arial" panose="020B0604020202020204" pitchFamily="34" charset="0"/>
              <a:buChar char="•"/>
            </a:pPr>
            <a:r>
              <a:rPr lang="en-US" sz="1000" dirty="0"/>
              <a:t>Germany North</a:t>
            </a:r>
          </a:p>
          <a:p>
            <a:pPr marL="171450" indent="-171450">
              <a:buFont typeface="Arial" panose="020B0604020202020204" pitchFamily="34" charset="0"/>
              <a:buChar char="•"/>
            </a:pPr>
            <a:r>
              <a:rPr lang="en-US" sz="1000" dirty="0"/>
              <a:t>Italy North</a:t>
            </a:r>
          </a:p>
          <a:p>
            <a:pPr marL="171450" indent="-171450">
              <a:buFont typeface="Arial" panose="020B0604020202020204" pitchFamily="34" charset="0"/>
              <a:buChar char="•"/>
            </a:pPr>
            <a:r>
              <a:rPr lang="en-US" sz="1000" dirty="0"/>
              <a:t>France Central</a:t>
            </a:r>
          </a:p>
          <a:p>
            <a:pPr marL="171450" indent="-171450">
              <a:buFont typeface="Arial" panose="020B0604020202020204" pitchFamily="34" charset="0"/>
              <a:buChar char="•"/>
            </a:pPr>
            <a:r>
              <a:rPr lang="en-US" sz="1000" dirty="0"/>
              <a:t>France South</a:t>
            </a:r>
          </a:p>
          <a:p>
            <a:pPr marL="171450" indent="-171450">
              <a:buFont typeface="Arial" panose="020B0604020202020204" pitchFamily="34" charset="0"/>
              <a:buChar char="•"/>
            </a:pPr>
            <a:r>
              <a:rPr lang="en-US" sz="1000" dirty="0"/>
              <a:t>Norway East</a:t>
            </a:r>
          </a:p>
          <a:p>
            <a:pPr marL="171450" indent="-171450">
              <a:buFont typeface="Arial" panose="020B0604020202020204" pitchFamily="34" charset="0"/>
              <a:buChar char="•"/>
            </a:pPr>
            <a:r>
              <a:rPr lang="en-US" sz="1000" dirty="0"/>
              <a:t>Norway West</a:t>
            </a:r>
          </a:p>
          <a:p>
            <a:pPr marL="171450" indent="-171450">
              <a:buFont typeface="Arial" panose="020B0604020202020204" pitchFamily="34" charset="0"/>
              <a:buChar char="•"/>
            </a:pPr>
            <a:r>
              <a:rPr lang="en-US" sz="1000" dirty="0"/>
              <a:t>Switzerland North</a:t>
            </a:r>
          </a:p>
          <a:p>
            <a:pPr marL="171450" indent="-171450">
              <a:buFont typeface="Arial" panose="020B0604020202020204" pitchFamily="34" charset="0"/>
              <a:buChar char="•"/>
            </a:pPr>
            <a:r>
              <a:rPr lang="en-US" sz="1000" dirty="0"/>
              <a:t>Switzerland West</a:t>
            </a:r>
          </a:p>
          <a:p>
            <a:pPr marL="171450" indent="-171450">
              <a:buFont typeface="Arial" panose="020B0604020202020204" pitchFamily="34" charset="0"/>
              <a:buChar char="•"/>
            </a:pPr>
            <a:r>
              <a:rPr lang="en-US" sz="1000" dirty="0"/>
              <a:t>Korea Central</a:t>
            </a:r>
          </a:p>
        </p:txBody>
      </p:sp>
      <p:sp>
        <p:nvSpPr>
          <p:cNvPr id="3" name="Title 2">
            <a:extLst>
              <a:ext uri="{FF2B5EF4-FFF2-40B4-BE49-F238E27FC236}">
                <a16:creationId xmlns:a16="http://schemas.microsoft.com/office/drawing/2014/main" id="{B2AF117A-6CC1-3EDF-A101-3E9E702F9E9F}"/>
              </a:ext>
            </a:extLst>
          </p:cNvPr>
          <p:cNvSpPr>
            <a:spLocks noGrp="1"/>
          </p:cNvSpPr>
          <p:nvPr>
            <p:ph type="title"/>
          </p:nvPr>
        </p:nvSpPr>
        <p:spPr/>
        <p:txBody>
          <a:bodyPr/>
          <a:lstStyle/>
          <a:p>
            <a:r>
              <a:rPr lang="en-US" sz="1600" dirty="0"/>
              <a:t>Defender for Cloud Updates</a:t>
            </a:r>
            <a:endParaRPr lang="en-US" dirty="0"/>
          </a:p>
        </p:txBody>
      </p:sp>
      <p:sp>
        <p:nvSpPr>
          <p:cNvPr id="4" name="Text Placeholder 3">
            <a:extLst>
              <a:ext uri="{FF2B5EF4-FFF2-40B4-BE49-F238E27FC236}">
                <a16:creationId xmlns:a16="http://schemas.microsoft.com/office/drawing/2014/main" id="{08CABC41-2DBD-986B-7F80-8C3C5F64E04D}"/>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384EB50-12D9-5F56-5174-3FC5606BE13E}"/>
              </a:ext>
            </a:extLst>
          </p:cNvPr>
          <p:cNvSpPr>
            <a:spLocks noGrp="1"/>
          </p:cNvSpPr>
          <p:nvPr>
            <p:ph type="body" sz="quarter" idx="16"/>
          </p:nvPr>
        </p:nvSpPr>
        <p:spPr/>
        <p:txBody>
          <a:bodyPr/>
          <a:lstStyle/>
          <a:p>
            <a:pPr algn="just"/>
            <a:r>
              <a:rPr lang="en-US" dirty="0">
                <a:hlinkClick r:id="rId3"/>
              </a:rPr>
              <a:t>File Integrity Monitoring requires MDE agent version 10.8799+ for legacy Windows machines</a:t>
            </a:r>
            <a:endParaRPr lang="en-US" dirty="0"/>
          </a:p>
          <a:p>
            <a:pPr algn="just"/>
            <a:r>
              <a:rPr lang="en-US" dirty="0"/>
              <a:t>Due to a pipeline change in Microsoft Defender for Endpoint (MDE), File Integrity Monitoring now requires the </a:t>
            </a:r>
            <a:r>
              <a:rPr lang="en-US" b="1" dirty="0"/>
              <a:t>Defender for Servers Windows client (Microsoft Defender for Endpoint agent) version 10.8799 or above</a:t>
            </a:r>
            <a:r>
              <a:rPr lang="en-US" dirty="0"/>
              <a:t> for proper functionality on legacy Windows machines (</a:t>
            </a:r>
            <a:r>
              <a:rPr lang="en-US" dirty="0" err="1"/>
              <a:t>downlevel</a:t>
            </a:r>
            <a:r>
              <a:rPr lang="en-US" dirty="0"/>
              <a:t> clients).</a:t>
            </a:r>
          </a:p>
          <a:p>
            <a:pPr algn="just"/>
            <a:r>
              <a:rPr lang="en-US" b="1" dirty="0"/>
              <a:t>Key details:</a:t>
            </a:r>
            <a:endParaRPr lang="en-US" dirty="0"/>
          </a:p>
          <a:p>
            <a:pPr marL="171450" indent="-171450" algn="just">
              <a:buFont typeface="Arial" panose="020B0604020202020204" pitchFamily="34" charset="0"/>
              <a:buChar char="•"/>
            </a:pPr>
            <a:r>
              <a:rPr lang="en-US" b="1" dirty="0"/>
              <a:t>Affected systems</a:t>
            </a:r>
            <a:r>
              <a:rPr lang="en-US" dirty="0"/>
              <a:t>: Legacy Windows machines (Windows Server 2016, Windows Server 2012 R2, and other </a:t>
            </a:r>
            <a:r>
              <a:rPr lang="en-US" dirty="0" err="1"/>
              <a:t>downlevel</a:t>
            </a:r>
            <a:r>
              <a:rPr lang="en-US" dirty="0"/>
              <a:t> clients)</a:t>
            </a:r>
          </a:p>
          <a:p>
            <a:pPr marL="171450" indent="-171450" algn="just">
              <a:buFont typeface="Arial" panose="020B0604020202020204" pitchFamily="34" charset="0"/>
              <a:buChar char="•"/>
            </a:pPr>
            <a:r>
              <a:rPr lang="en-US" b="1" dirty="0"/>
              <a:t>Required version</a:t>
            </a:r>
            <a:r>
              <a:rPr lang="en-US" dirty="0"/>
              <a:t>: Defender for Servers Windows client (MDE agent) 10.8799 or later</a:t>
            </a:r>
          </a:p>
          <a:p>
            <a:pPr marL="171450" indent="-171450" algn="just">
              <a:buFont typeface="Arial" panose="020B0604020202020204" pitchFamily="34" charset="0"/>
              <a:buChar char="•"/>
            </a:pPr>
            <a:r>
              <a:rPr lang="en-US" b="1" dirty="0"/>
              <a:t>Impact</a:t>
            </a:r>
            <a:r>
              <a:rPr lang="en-US" dirty="0"/>
              <a:t>: FIM monitoring will not function properly on versions below the minimum requirement</a:t>
            </a:r>
          </a:p>
          <a:p>
            <a:pPr algn="just"/>
            <a:endParaRPr lang="en-US" dirty="0"/>
          </a:p>
          <a:p>
            <a:pPr algn="just"/>
            <a:endParaRPr lang="en-US" dirty="0"/>
          </a:p>
        </p:txBody>
      </p:sp>
    </p:spTree>
    <p:extLst>
      <p:ext uri="{BB962C8B-B14F-4D97-AF65-F5344CB8AC3E}">
        <p14:creationId xmlns:p14="http://schemas.microsoft.com/office/powerpoint/2010/main" val="1781944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
                                            <p:txEl>
                                              <p:pRg st="12" end="1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4C2DCE-B7CE-4E78-717F-7895517592C8}"/>
              </a:ext>
            </a:extLst>
          </p:cNvPr>
          <p:cNvSpPr>
            <a:spLocks noGrp="1"/>
          </p:cNvSpPr>
          <p:nvPr>
            <p:ph type="title"/>
          </p:nvPr>
        </p:nvSpPr>
        <p:spPr/>
        <p:txBody>
          <a:bodyPr/>
          <a:lstStyle/>
          <a:p>
            <a:r>
              <a:rPr lang="en-US" sz="1600" dirty="0"/>
              <a:t>Defender for Cloud Updates</a:t>
            </a:r>
            <a:endParaRPr lang="en-US" dirty="0"/>
          </a:p>
        </p:txBody>
      </p:sp>
      <p:sp>
        <p:nvSpPr>
          <p:cNvPr id="4" name="Text Placeholder 3">
            <a:extLst>
              <a:ext uri="{FF2B5EF4-FFF2-40B4-BE49-F238E27FC236}">
                <a16:creationId xmlns:a16="http://schemas.microsoft.com/office/drawing/2014/main" id="{C4EE5F8A-C10D-3132-8252-1B81416B744A}"/>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B2EE7DD-4FC5-CA91-82E1-7A50C670574D}"/>
              </a:ext>
            </a:extLst>
          </p:cNvPr>
          <p:cNvSpPr>
            <a:spLocks noGrp="1"/>
          </p:cNvSpPr>
          <p:nvPr>
            <p:ph type="body" sz="quarter" idx="16"/>
          </p:nvPr>
        </p:nvSpPr>
        <p:spPr/>
        <p:txBody>
          <a:bodyPr/>
          <a:lstStyle/>
          <a:p>
            <a:r>
              <a:rPr lang="en-US" dirty="0">
                <a:hlinkClick r:id="rId2"/>
              </a:rPr>
              <a:t>Malware automated remediation in Defender for Storage</a:t>
            </a:r>
            <a:endParaRPr lang="en-US" dirty="0"/>
          </a:p>
          <a:p>
            <a:pPr algn="just"/>
            <a:r>
              <a:rPr lang="en-US" dirty="0"/>
              <a:t>Malware automated remediation in Defender for Storage malware scanning is now generally available.</a:t>
            </a:r>
          </a:p>
          <a:p>
            <a:pPr algn="just"/>
            <a:r>
              <a:rPr lang="en-US" dirty="0"/>
              <a:t>Defender for Cloud now lets configure automatic soft deletion of detected malicious blobs during on-upload or on-demand scanning. Auto-deletion keeps harmful content in quarantine and makes it recoverable for further investigation</a:t>
            </a:r>
          </a:p>
        </p:txBody>
      </p:sp>
      <p:sp>
        <p:nvSpPr>
          <p:cNvPr id="6" name="Text Placeholder 4">
            <a:extLst>
              <a:ext uri="{FF2B5EF4-FFF2-40B4-BE49-F238E27FC236}">
                <a16:creationId xmlns:a16="http://schemas.microsoft.com/office/drawing/2014/main" id="{8FC3AFA0-ED4C-8CA0-D40E-E0E04EC9B8A4}"/>
              </a:ext>
            </a:extLst>
          </p:cNvPr>
          <p:cNvSpPr txBox="1">
            <a:spLocks/>
          </p:cNvSpPr>
          <p:nvPr/>
        </p:nvSpPr>
        <p:spPr>
          <a:xfrm>
            <a:off x="4570857" y="855079"/>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Deprecation of preview of container and container images vulnerability recommendations</a:t>
            </a:r>
            <a:endParaRPr lang="en-US" dirty="0"/>
          </a:p>
          <a:p>
            <a:r>
              <a:rPr lang="en-US" dirty="0"/>
              <a:t>As part of the transition to individual recommendations, Microsoft Defender for Cloud is deprecating existing grouped container vulnerability recommendations. This change enables more granular visibility, prioritization, and governance of container security findings. The following grouped container vulnerability recommendations will be deprecated:</a:t>
            </a:r>
          </a:p>
          <a:p>
            <a:pPr marL="171450" indent="-171450">
              <a:buFont typeface="Arial" panose="020B0604020202020204" pitchFamily="34" charset="0"/>
              <a:buChar char="•"/>
            </a:pPr>
            <a:r>
              <a:rPr lang="en-US" dirty="0"/>
              <a:t>[Preview] Containers running in Azure should have vulnerability findings resolved</a:t>
            </a:r>
          </a:p>
          <a:p>
            <a:pPr marL="171450" indent="-171450">
              <a:buFont typeface="Arial" panose="020B0604020202020204" pitchFamily="34" charset="0"/>
              <a:buChar char="•"/>
            </a:pPr>
            <a:r>
              <a:rPr lang="en-US" dirty="0"/>
              <a:t>[Preview] Containers running in AWS should have vulnerability findings resolved</a:t>
            </a:r>
          </a:p>
          <a:p>
            <a:pPr marL="171450" indent="-171450">
              <a:buFont typeface="Arial" panose="020B0604020202020204" pitchFamily="34" charset="0"/>
              <a:buChar char="•"/>
            </a:pPr>
            <a:r>
              <a:rPr lang="en-US" dirty="0"/>
              <a:t>[Preview] Containers running in GCP should have vulnerability findings resolved</a:t>
            </a:r>
          </a:p>
          <a:p>
            <a:pPr marL="171450" indent="-171450">
              <a:buFont typeface="Arial" panose="020B0604020202020204" pitchFamily="34" charset="0"/>
              <a:buChar char="•"/>
            </a:pPr>
            <a:r>
              <a:rPr lang="en-US" dirty="0"/>
              <a:t>[Preview] Container images in Azure registry should have vulnerability findings resolved</a:t>
            </a:r>
          </a:p>
          <a:p>
            <a:pPr marL="171450" indent="-171450">
              <a:buFont typeface="Arial" panose="020B0604020202020204" pitchFamily="34" charset="0"/>
              <a:buChar char="•"/>
            </a:pPr>
            <a:r>
              <a:rPr lang="en-US" dirty="0"/>
              <a:t>[Preview] Container images in AWS registry should have vulnerability findings resolved</a:t>
            </a:r>
          </a:p>
          <a:p>
            <a:pPr marL="171450" indent="-171450">
              <a:buFont typeface="Arial" panose="020B0604020202020204" pitchFamily="34" charset="0"/>
              <a:buChar char="•"/>
            </a:pPr>
            <a:r>
              <a:rPr lang="en-US" dirty="0"/>
              <a:t>[Preview] Container images in GCP registry should have vulnerability findings resolved</a:t>
            </a:r>
          </a:p>
          <a:p>
            <a:pPr algn="just"/>
            <a:endParaRPr lang="en-US" dirty="0"/>
          </a:p>
          <a:p>
            <a:pPr algn="just"/>
            <a:endParaRPr lang="en-US" dirty="0"/>
          </a:p>
        </p:txBody>
      </p:sp>
    </p:spTree>
    <p:extLst>
      <p:ext uri="{BB962C8B-B14F-4D97-AF65-F5344CB8AC3E}">
        <p14:creationId xmlns:p14="http://schemas.microsoft.com/office/powerpoint/2010/main" val="105526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DDB4-7621-798A-090B-3F48CD980D5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EA49D73-280D-0307-3C1A-932883BD381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812FFA8-51B7-6884-CF0E-C93CC8AFDF47}"/>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181E9D90-FC8D-4BB4-1192-06287944D69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7653CBA-7798-1DDA-935D-84A87F7469B1}"/>
              </a:ext>
            </a:extLst>
          </p:cNvPr>
          <p:cNvSpPr>
            <a:spLocks noGrp="1"/>
          </p:cNvSpPr>
          <p:nvPr>
            <p:ph type="body" sz="quarter" idx="16"/>
          </p:nvPr>
        </p:nvSpPr>
        <p:spPr/>
        <p:txBody>
          <a:bodyPr/>
          <a:lstStyle/>
          <a:p>
            <a:pPr algn="just"/>
            <a:r>
              <a:rPr lang="en-US" dirty="0">
                <a:hlinkClick r:id="rId2"/>
              </a:rPr>
              <a:t>Call to action: update older Microsoft Sentinel content as code (Sentinel repositories) API versions before June 15, 2026</a:t>
            </a:r>
            <a:endParaRPr lang="en-US" dirty="0"/>
          </a:p>
          <a:p>
            <a:pPr algn="just"/>
            <a:r>
              <a:rPr lang="en-US" dirty="0"/>
              <a:t>Starting </a:t>
            </a:r>
            <a:r>
              <a:rPr lang="en-US" b="1" dirty="0"/>
              <a:t>June 15, 2026</a:t>
            </a:r>
            <a:r>
              <a:rPr lang="en-US" dirty="0"/>
              <a:t>, older API versions used by </a:t>
            </a:r>
            <a:r>
              <a:rPr lang="en-US" dirty="0">
                <a:hlinkClick r:id="rId3"/>
              </a:rPr>
              <a:t>Microsoft Sentinel repositories</a:t>
            </a:r>
            <a:r>
              <a:rPr lang="en-US" dirty="0"/>
              <a:t> will no longer be supported. This change impacts all </a:t>
            </a:r>
            <a:r>
              <a:rPr lang="en-US" dirty="0">
                <a:hlinkClick r:id="rId4"/>
              </a:rPr>
              <a:t>Source Control</a:t>
            </a:r>
            <a:r>
              <a:rPr lang="en-US" dirty="0"/>
              <a:t> and </a:t>
            </a:r>
            <a:r>
              <a:rPr lang="en-US" dirty="0">
                <a:hlinkClick r:id="rId5"/>
              </a:rPr>
              <a:t>Source Controls</a:t>
            </a:r>
            <a:r>
              <a:rPr lang="en-US" dirty="0"/>
              <a:t> actions in the Microsoft Sentinel REST API for the affected API versions.</a:t>
            </a:r>
          </a:p>
          <a:p>
            <a:pPr algn="just"/>
            <a:r>
              <a:rPr lang="en-US" dirty="0"/>
              <a:t>The retired API versions will no longer be supported, and requests using them will fail. Existing repository connections created with those APIs aren't affected, and the repositories will continue to operate.</a:t>
            </a:r>
          </a:p>
          <a:p>
            <a:pPr algn="just"/>
            <a:endParaRPr lang="en-US" dirty="0"/>
          </a:p>
        </p:txBody>
      </p:sp>
    </p:spTree>
    <p:extLst>
      <p:ext uri="{BB962C8B-B14F-4D97-AF65-F5344CB8AC3E}">
        <p14:creationId xmlns:p14="http://schemas.microsoft.com/office/powerpoint/2010/main" val="310771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Files assessments are now available using Azure Migrate</a:t>
            </a:r>
            <a:endParaRPr lang="en-US" dirty="0"/>
          </a:p>
          <a:p>
            <a:pPr algn="just"/>
            <a:r>
              <a:rPr lang="en-US" dirty="0"/>
              <a:t>Azure Migrate now supports assessments for Azure Files, allowing customers and partners to efficiently plan migrations of on-premises SMB and NFS file shares (Windows and Linux) to Azure Files. This feature enables discovery of file shares, visibility into capacity and sources, and provides Azure Files SKU recommendations for informed migration decisions.  </a:t>
            </a:r>
          </a:p>
          <a:p>
            <a:pPr algn="just"/>
            <a:r>
              <a:rPr lang="en-US" dirty="0"/>
              <a:t> Key benefits include:  </a:t>
            </a:r>
          </a:p>
          <a:p>
            <a:pPr marL="171450" indent="-171450" algn="just">
              <a:buFont typeface="Arial" panose="020B0604020202020204" pitchFamily="34" charset="0"/>
              <a:buChar char="•"/>
            </a:pPr>
            <a:r>
              <a:rPr lang="en-US" dirty="0"/>
              <a:t>Discover and review on-premises SMB/NFS shares  </a:t>
            </a:r>
          </a:p>
          <a:p>
            <a:pPr marL="171450" indent="-171450" algn="just">
              <a:buFont typeface="Arial" panose="020B0604020202020204" pitchFamily="34" charset="0"/>
              <a:buChar char="•"/>
            </a:pPr>
            <a:r>
              <a:rPr lang="en-US" dirty="0"/>
              <a:t>Group, tag, and filter shares for better planning  </a:t>
            </a:r>
          </a:p>
          <a:p>
            <a:pPr marL="171450" indent="-171450" algn="just">
              <a:buFont typeface="Arial" panose="020B0604020202020204" pitchFamily="34" charset="0"/>
              <a:buChar char="•"/>
            </a:pPr>
            <a:r>
              <a:rPr lang="en-US" dirty="0"/>
              <a:t>Generate business cases comparing Azure Files and on-premises costs  </a:t>
            </a:r>
          </a:p>
          <a:p>
            <a:pPr marL="171450" indent="-171450" algn="just">
              <a:buFont typeface="Arial" panose="020B0604020202020204" pitchFamily="34" charset="0"/>
              <a:buChar char="•"/>
            </a:pPr>
            <a:r>
              <a:rPr lang="en-US" dirty="0"/>
              <a:t>Assess shares with Azure Files SKU recommendations based on region, redundancy, media type, and performance  </a:t>
            </a:r>
          </a:p>
          <a:p>
            <a:pPr marL="171450" indent="-171450" algn="just">
              <a:buFont typeface="Arial" panose="020B0604020202020204" pitchFamily="34" charset="0"/>
              <a:buChar char="•"/>
            </a:pPr>
            <a:r>
              <a:rPr lang="en-US" dirty="0"/>
              <a:t>This enhancement streamlines migration planning, reduces guesswork, and speeds up transitions to Azure Files, especially for complex environments.  </a:t>
            </a:r>
          </a:p>
          <a:p>
            <a:pPr algn="just"/>
            <a:r>
              <a:rPr lang="en-US" dirty="0"/>
              <a:t> Azure Files is ideal for </a:t>
            </a:r>
            <a:r>
              <a:rPr lang="en-US" dirty="0" err="1"/>
              <a:t>modernisation</a:t>
            </a:r>
            <a:r>
              <a:rPr lang="en-US" dirty="0"/>
              <a:t>, backup, and lift-and-shift needs. Integrating assessments into Azure Migrate ensures a seamless migration journey using the trusted Azure platform.  </a:t>
            </a:r>
          </a:p>
          <a:p>
            <a:pPr algn="just"/>
            <a:endParaRPr lang="en-US" dirty="0"/>
          </a:p>
        </p:txBody>
      </p:sp>
      <p:pic>
        <p:nvPicPr>
          <p:cNvPr id="3" name="Picture 2">
            <a:extLst>
              <a:ext uri="{FF2B5EF4-FFF2-40B4-BE49-F238E27FC236}">
                <a16:creationId xmlns:a16="http://schemas.microsoft.com/office/drawing/2014/main" id="{60484E5B-E170-D451-8DE8-4F5D06F1A452}"/>
              </a:ext>
            </a:extLst>
          </p:cNvPr>
          <p:cNvPicPr>
            <a:picLocks noChangeAspect="1"/>
          </p:cNvPicPr>
          <p:nvPr/>
        </p:nvPicPr>
        <p:blipFill>
          <a:blip r:embed="rId3"/>
          <a:stretch>
            <a:fillRect/>
          </a:stretch>
        </p:blipFill>
        <p:spPr>
          <a:xfrm>
            <a:off x="4632035" y="1313420"/>
            <a:ext cx="4127517" cy="2516659"/>
          </a:xfrm>
          <a:prstGeom prst="rect">
            <a:avLst/>
          </a:prstGeom>
        </p:spPr>
      </p:pic>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r>
              <a:rPr lang="en-US" sz="1000" dirty="0"/>
              <a:t>Using Essential Machine Management, you can quickly onboard machines to multiple Azure management capabilities, including:</a:t>
            </a:r>
          </a:p>
          <a:p>
            <a:pPr marL="171450" indent="-171450">
              <a:buFont typeface="Arial" panose="020B0604020202020204" pitchFamily="34" charset="0"/>
              <a:buChar char="•"/>
            </a:pPr>
            <a:r>
              <a:rPr lang="en-US" sz="1000" dirty="0"/>
              <a:t>Monitoring insights and recommended alerts for machine health and performance</a:t>
            </a:r>
          </a:p>
          <a:p>
            <a:pPr marL="171450" indent="-171450">
              <a:buFont typeface="Arial" panose="020B0604020202020204" pitchFamily="34" charset="0"/>
              <a:buChar char="•"/>
            </a:pPr>
            <a:r>
              <a:rPr lang="en-US" sz="1000" dirty="0"/>
              <a:t>Azure Update Manager to help keep machines secure and compliant</a:t>
            </a:r>
          </a:p>
          <a:p>
            <a:pPr marL="171450" indent="-171450">
              <a:buFont typeface="Arial" panose="020B0604020202020204" pitchFamily="34" charset="0"/>
              <a:buChar char="•"/>
            </a:pPr>
            <a:r>
              <a:rPr lang="en-US" sz="1000" dirty="0"/>
              <a:t>Change tracking and inventory for visibility and auditability</a:t>
            </a:r>
          </a:p>
          <a:p>
            <a:pPr marL="171450" indent="-171450">
              <a:buFont typeface="Arial" panose="020B0604020202020204" pitchFamily="34" charset="0"/>
              <a:buChar char="•"/>
            </a:pPr>
            <a:r>
              <a:rPr lang="en-US" sz="1000" dirty="0"/>
              <a:t>Machine configuration for managing in-machine configuration, compliance and security</a:t>
            </a:r>
          </a:p>
          <a:p>
            <a:pPr marL="171450" indent="-171450">
              <a:buFont typeface="Arial" panose="020B0604020202020204" pitchFamily="34" charset="0"/>
              <a:buChar char="•"/>
            </a:pPr>
            <a:r>
              <a:rPr lang="en-US" sz="1000" dirty="0"/>
              <a:t>Azure Security baseline policy is a set of tailored rules to assess your machine's security posture</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2"/>
              </a:rPr>
              <a:t>Essential machine management (preview)</a:t>
            </a:r>
            <a:endParaRPr lang="en-US" dirty="0"/>
          </a:p>
          <a:p>
            <a:pPr algn="just"/>
            <a:r>
              <a:rPr lang="en-US" dirty="0"/>
              <a:t>Essential Machine Management is a </a:t>
            </a:r>
            <a:r>
              <a:rPr lang="en-US" b="1" dirty="0"/>
              <a:t>centralized onboarding experience</a:t>
            </a:r>
            <a:r>
              <a:rPr lang="en-US" dirty="0"/>
              <a:t> that helps customers enroll their machines into a set of selected cloud-native management services from Azure in a simple, scalable way,</a:t>
            </a:r>
          </a:p>
          <a:p>
            <a:pPr algn="just"/>
            <a:r>
              <a:rPr lang="en-US" dirty="0"/>
              <a:t>Instead of enabling monitoring, updates, inventory, and configuration independently per machine, Essential Machine Management allows to enroll entire </a:t>
            </a:r>
            <a:r>
              <a:rPr lang="en-US" b="1" dirty="0"/>
              <a:t>subscriptions</a:t>
            </a:r>
            <a:r>
              <a:rPr lang="en-US" dirty="0"/>
              <a:t> at once, including both </a:t>
            </a:r>
            <a:r>
              <a:rPr lang="en-US" b="1" dirty="0"/>
              <a:t>Azure Virtual Machines</a:t>
            </a:r>
            <a:r>
              <a:rPr lang="en-US" dirty="0"/>
              <a:t> and </a:t>
            </a:r>
            <a:r>
              <a:rPr lang="en-US" b="1" dirty="0"/>
              <a:t>Azure Arc–enabled servers. </a:t>
            </a:r>
            <a:r>
              <a:rPr lang="en-US" dirty="0"/>
              <a:t>These services are pre-configured with best practices, enabling customers with out-of-the-box value right away.</a:t>
            </a:r>
          </a:p>
          <a:p>
            <a:pPr algn="just"/>
            <a:r>
              <a:rPr lang="en-US" dirty="0"/>
              <a:t>Once enrolled, current and future machines in the selected subscriptions are automatically onboarded to the enabled management services, helping ensure consistent visibility and operational coverage from day one.</a:t>
            </a:r>
          </a:p>
          <a:p>
            <a:pPr algn="just"/>
            <a:endParaRPr lang="en-US" dirty="0"/>
          </a:p>
          <a:p>
            <a:pPr algn="just"/>
            <a:endParaRPr lang="en-US" dirty="0"/>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r>
              <a:rPr lang="en-US" sz="1000" dirty="0">
                <a:hlinkClick r:id="rId2"/>
              </a:rPr>
              <a:t>Generally Available: Enhancements to maintenance notifications in Azure Service Health</a:t>
            </a:r>
            <a:endParaRPr lang="en-US" sz="1000" dirty="0"/>
          </a:p>
          <a:p>
            <a:pPr algn="just"/>
            <a:r>
              <a:rPr lang="en-US" sz="1000" dirty="0"/>
              <a:t>MS introduced regional level consolidated maintenance notifications for Azure Database for PostgreSQL to simplify how to stay informed about upcoming maintenance. Instead of one notification per server, now you receive a single notification per region that consolidates maintenance details for all your PostgreSQL servers across subscriptions.</a:t>
            </a:r>
          </a:p>
          <a:p>
            <a:pPr algn="just"/>
            <a:r>
              <a:rPr lang="en-US" sz="1000" dirty="0"/>
              <a:t>This enhancement reduces notification noise while giving you a clearer view of upcoming maintenance activities in your environment. You can more easily plan and coordinate across teams, ensuring minimal disruption to your workloads.</a:t>
            </a:r>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3"/>
              </a:rPr>
              <a:t>Generally Available: Observability in AKS Namespace and Workload Views</a:t>
            </a:r>
            <a:endParaRPr lang="en-US" dirty="0"/>
          </a:p>
          <a:p>
            <a:pPr algn="just"/>
            <a:r>
              <a:rPr lang="en-US" dirty="0"/>
              <a:t>AKS now surfaces observability data powered by Azure Monitor managed service for Prometheus directly within Namespace and Workload views, making it easier </a:t>
            </a:r>
            <a:r>
              <a:rPr lang="en-US" dirty="0" err="1"/>
              <a:t>to:Monitor</a:t>
            </a:r>
            <a:r>
              <a:rPr lang="en-US" dirty="0"/>
              <a:t> cluster and workload health</a:t>
            </a:r>
          </a:p>
          <a:p>
            <a:pPr marL="171450" indent="-171450" algn="just">
              <a:buFont typeface="Arial" panose="020B0604020202020204" pitchFamily="34" charset="0"/>
              <a:buChar char="•"/>
            </a:pPr>
            <a:r>
              <a:rPr lang="en-US" dirty="0"/>
              <a:t>Troubleshoot pending or failed pods</a:t>
            </a:r>
          </a:p>
          <a:p>
            <a:pPr marL="171450" indent="-171450" algn="just">
              <a:buFont typeface="Arial" panose="020B0604020202020204" pitchFamily="34" charset="0"/>
              <a:buChar char="•"/>
            </a:pPr>
            <a:r>
              <a:rPr lang="en-US" dirty="0"/>
              <a:t>Analyze resource utilization across Nodes, Namespaces, Workloads, and Pods</a:t>
            </a:r>
          </a:p>
          <a:p>
            <a:pPr marL="171450" indent="-171450" algn="just">
              <a:buFont typeface="Arial" panose="020B0604020202020204" pitchFamily="34" charset="0"/>
              <a:buChar char="•"/>
            </a:pPr>
            <a:r>
              <a:rPr lang="en-US" dirty="0"/>
              <a:t>Assess pod performance with event and utilization summaries</a:t>
            </a:r>
          </a:p>
          <a:p>
            <a:pPr algn="just"/>
            <a:r>
              <a:rPr lang="en-US" dirty="0"/>
              <a:t>With these enhanced insights, you can diagnose issues faster and gain a clearer understanding of cluster performance and resource usage.</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New Microsoft Teams media optimization architecture expands to additional platforms</a:t>
            </a:r>
            <a:endParaRPr lang="en-US" dirty="0"/>
          </a:p>
          <a:p>
            <a:pPr algn="just"/>
            <a:r>
              <a:rPr lang="en-US" dirty="0"/>
              <a:t>New Microsoft Teams media optimization on macOS is now available in Preview for Azure Virtual Desktop. Additionally, WebRTC-based Teams is now Generally Available for Azure Virtual Desktop. Azure Virtual Desktop now supports the new Teams media optimization architecture (</a:t>
            </a:r>
            <a:r>
              <a:rPr lang="en-US" dirty="0" err="1"/>
              <a:t>SlimCore</a:t>
            </a:r>
            <a:r>
              <a:rPr lang="en-US" dirty="0"/>
              <a:t>) on macOS when using New Teams and connecting through the Windows App.</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pPr algn="just"/>
            <a:r>
              <a:rPr lang="en-US" sz="1000" dirty="0">
                <a:hlinkClick r:id="rId2"/>
              </a:rPr>
              <a:t>Azure Red Hat OpenShift: Managed Identity and Workload Identity now generally available</a:t>
            </a:r>
            <a:endParaRPr lang="en-US" sz="1000" dirty="0"/>
          </a:p>
          <a:p>
            <a:pPr algn="just"/>
            <a:r>
              <a:rPr lang="en-US" sz="1000" dirty="0"/>
              <a:t>Azure Red Hat OpenShift now supports managed identities and workload identities as a generally available capability, so it is possible to run OpenShift clusters and applications on Azure without long-lived service principal credentials.​</a:t>
            </a:r>
          </a:p>
          <a:p>
            <a:pPr algn="just"/>
            <a:r>
              <a:rPr lang="en-US" sz="1000" dirty="0"/>
              <a:t>With GA support for managed identities and workload identities, Azure Red Hat OpenShift uses short‑lived credentials and least‑privilege access to help organizations strengthen their security posture. This approach reduces reliance on long‑lived credentials and overly broad permissions, supporting enterprise security requirements while improving how identity is managed for OpenShift workloads.</a:t>
            </a:r>
          </a:p>
          <a:p>
            <a:pPr algn="just"/>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PHP 8.5 is now available on Azure App Service for Linux</a:t>
            </a:r>
            <a:endParaRPr lang="en-US" dirty="0"/>
          </a:p>
          <a:p>
            <a:pPr algn="just"/>
            <a:r>
              <a:rPr lang="en-US" dirty="0"/>
              <a:t>PHP 8.5 is now available on Azure App Service for Linux across all public regions.</a:t>
            </a:r>
          </a:p>
          <a:p>
            <a:pPr algn="just"/>
            <a:r>
              <a:rPr lang="en-US" dirty="0"/>
              <a:t>PHP 8.5 brings several useful runtime improvements. It includes better diagnostics, with fatal errors now providing a backtrace, which can make troubleshooting easier. It also adds the pipe operator (|&gt;) for cleaner, more readable code, along with broader improvements in syntax, performance, and type safety.</a:t>
            </a:r>
          </a:p>
          <a:p>
            <a:pPr algn="just"/>
            <a:r>
              <a:rPr lang="en-US" dirty="0"/>
              <a:t> </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pPr algn="just"/>
            <a:r>
              <a:rPr lang="en-US" sz="1000" dirty="0">
                <a:hlinkClick r:id="rId2"/>
              </a:rPr>
              <a:t>Generally Available: Pod CIDR expansion in AKS</a:t>
            </a:r>
            <a:endParaRPr lang="en-US" sz="1000" dirty="0"/>
          </a:p>
          <a:p>
            <a:pPr algn="just"/>
            <a:r>
              <a:rPr lang="en-US" sz="1000" dirty="0"/>
              <a:t>When clusters exhaust available pod IP addresses, teams have historically been forced to rebuild environments to restore capacity, creating operational disruption. Pod CIDR expansion allows overlay‑based AKS clusters to increase their pod IP range in place without cluster recreation. This enables teams to scale workloads while maintaining availability and simplifies long‑term IP planning as environments grow. </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Generally Available: Disable HTTP proxy in AKS</a:t>
            </a:r>
            <a:endParaRPr lang="en-US" dirty="0"/>
          </a:p>
          <a:p>
            <a:pPr algn="just"/>
            <a:r>
              <a:rPr lang="en-US" dirty="0"/>
              <a:t>Organizations that use HTTP proxies to control outbound traffic often need to change or remove those settings as network requirements evolve, which can be disruptive in running clusters. Azure Kubernetes Service allows administrators to disable HTTP proxy variables for nodes and pods while retaining proxy configuration in the control plane, with changes triggering node pool reimaging to ensure a consistent cluster state. This gives operators clearer control over outbound networking behavior and simplifies ongoing maintenance without requiring full cluster rebuilds. </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Azure Functions now supports MCP resource triggers</a:t>
            </a:r>
            <a:endParaRPr lang="en-US" sz="1000" dirty="0"/>
          </a:p>
          <a:p>
            <a:pPr algn="just"/>
            <a:r>
              <a:rPr lang="en-US" sz="1000" dirty="0"/>
              <a:t>Developers building MCP servers on Azure Functions can expose tools but not resources. Now, Azure Functions supports MCP resource triggers, enabling developers to expose resources directly from an Azure Functions–hosted Model Context Protocol (MCP) server. Resources can include static or dynamic files, application metadata, and MCP App UI content such as HTML-based widgets rendered natively by MCP hosts. This capability is available in the Azure Functions MCP extension for Python, TypeScript, .NET, and Java. </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Generally Available: Azure Red Hat OpenShift adds NVIDIA H100 and H200 GPU support</a:t>
            </a:r>
            <a:endParaRPr lang="en-US" dirty="0"/>
          </a:p>
          <a:p>
            <a:pPr algn="just"/>
            <a:r>
              <a:rPr lang="en-US" dirty="0"/>
              <a:t>Azure Red Hat OpenShift (ARO) now supports NVIDIA H100 and H200 GPU-based Azure Virtual Machine SKUs, enabling customers to run large-scale AI, machine learning, and high-performance computing (HPC) workloads on a fully managed OpenShift service. This update allows organizations to deploy GPU-accelerated containers using enterprise Kubernetes with built-in security, lifecycle management, and Azure integration.</a:t>
            </a:r>
          </a:p>
          <a:p>
            <a:pPr algn="just"/>
            <a:r>
              <a:rPr lang="en-US" dirty="0"/>
              <a:t>With H100 and H200 GPUs, customers can take advantage of next-generation performance for training and inferencing large language models, data analytics, and advanced simulation workloads. Running these GPUs on ARO provides a consistent OpenShift experience across on-premises and cloud environments while leveraging Azure infrastructure for scalability, availability, and governance.</a:t>
            </a:r>
          </a:p>
          <a:p>
            <a:pPr algn="just"/>
            <a:r>
              <a:rPr lang="en-US" dirty="0"/>
              <a:t>This capability helps customers standardize AI and accelerated computing workloads on OpenShift while reducing operational overhead through a managed service, making it easier to move from experimentation to production on Azure. </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r>
              <a:rPr lang="en-US" sz="1000" dirty="0">
                <a:hlinkClick r:id="rId2"/>
              </a:rPr>
              <a:t>Generally Available: Enhancements to maintenance notifications in Azure Service Health</a:t>
            </a:r>
            <a:endParaRPr lang="en-US" sz="1000" dirty="0"/>
          </a:p>
          <a:p>
            <a:r>
              <a:rPr lang="en-US" sz="1000" dirty="0"/>
              <a:t>MS introduced consolidated, region-level maintenance notifications for Azure Database for PostgreSQL to simplify how stay informed about upcoming maintenance. Instead of one notification per server, now you receive a single notification per region that consolidates maintenance details for all your PostgreSQL servers across subscriptions</a:t>
            </a:r>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3"/>
              </a:rPr>
              <a:t>Generally Available: </a:t>
            </a:r>
            <a:r>
              <a:rPr lang="en-US" dirty="0" err="1">
                <a:hlinkClick r:id="rId3"/>
              </a:rPr>
              <a:t>PgBouncer</a:t>
            </a:r>
            <a:r>
              <a:rPr lang="en-US" dirty="0">
                <a:hlinkClick r:id="rId3"/>
              </a:rPr>
              <a:t> 1.25.1 support in Azure Database for PostgreSQL – Flexible Server</a:t>
            </a:r>
            <a:endParaRPr lang="en-US" dirty="0"/>
          </a:p>
          <a:p>
            <a:pPr algn="just"/>
            <a:r>
              <a:rPr lang="en-US" dirty="0" err="1"/>
              <a:t>PgBouncer</a:t>
            </a:r>
            <a:r>
              <a:rPr lang="en-US" dirty="0"/>
              <a:t> 1.25.1 is now generally available in Azure Database for PostgreSQL. As a built-in connection pooling feature, </a:t>
            </a:r>
            <a:r>
              <a:rPr lang="en-US" dirty="0" err="1"/>
              <a:t>PgBouncer</a:t>
            </a:r>
            <a:r>
              <a:rPr lang="en-US" dirty="0"/>
              <a:t> helps scale to thousands of connections with low overhead by efficiently managing idle and short-lived connections.</a:t>
            </a:r>
          </a:p>
          <a:p>
            <a:pPr algn="just"/>
            <a:r>
              <a:rPr lang="en-US" dirty="0"/>
              <a:t>With this update, it is possible to benefit from the latest cumulative improvements from recent community releases, including performance enhancements, protocol improvements, and important security and stability fixes. This update helps you run applications more efficiently, reduce connection overhead, and improve the overall reliability of database workloads.</a:t>
            </a:r>
          </a:p>
          <a:p>
            <a:pPr algn="just"/>
            <a:r>
              <a:rPr lang="en-US" dirty="0"/>
              <a:t>Because </a:t>
            </a:r>
            <a:r>
              <a:rPr lang="en-US" dirty="0" err="1"/>
              <a:t>PgBouncer</a:t>
            </a:r>
            <a:r>
              <a:rPr lang="en-US" dirty="0"/>
              <a:t> is fully integrated into flexible server, you don’t need to install or manage it separately.</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027F4-E37F-9EF5-D9EA-7AA6B2B87EE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B3499D8-7C6B-2114-C57A-CC1635D2264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A87B58C-445F-0F9C-16BF-B45E2CAC6389}"/>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CD428E81-1DDF-1C0F-CE1C-114C2430C20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256488B-5839-91E1-8F71-2D334A0D3442}"/>
              </a:ext>
            </a:extLst>
          </p:cNvPr>
          <p:cNvSpPr>
            <a:spLocks noGrp="1"/>
          </p:cNvSpPr>
          <p:nvPr>
            <p:ph type="body" sz="quarter" idx="16"/>
          </p:nvPr>
        </p:nvSpPr>
        <p:spPr/>
        <p:txBody>
          <a:bodyPr/>
          <a:lstStyle/>
          <a:p>
            <a:pPr algn="just"/>
            <a:r>
              <a:rPr lang="en-US" dirty="0">
                <a:hlinkClick r:id="rId2"/>
              </a:rPr>
              <a:t>Generally Available: Network Security Perimeter for Azure Service Bus</a:t>
            </a:r>
            <a:endParaRPr lang="en-US" dirty="0"/>
          </a:p>
          <a:p>
            <a:pPr algn="just"/>
            <a:r>
              <a:rPr lang="en-US" u="sng" dirty="0">
                <a:hlinkClick r:id="rId3"/>
              </a:rPr>
              <a:t>Network Security Perimeter</a:t>
            </a:r>
            <a:r>
              <a:rPr lang="en-US" dirty="0"/>
              <a:t> creates a logical network boundary around Service Bus namespaces and other Azure PaaS resources, blocking unauthorized public access by default and enabling secure communication between services within the perimeter. This complements existing Service Bus network security options - IP firewall rules, VNet service endpoints, and </a:t>
            </a:r>
            <a:r>
              <a:rPr lang="en-US" u="sng" dirty="0">
                <a:hlinkClick r:id="rId4"/>
              </a:rPr>
              <a:t>private endpoints</a:t>
            </a:r>
            <a:r>
              <a:rPr lang="en-US" dirty="0"/>
              <a:t>- by providing centralized, perimeter-level control.</a:t>
            </a:r>
            <a:br>
              <a:rPr lang="en-US" dirty="0"/>
            </a:br>
            <a:r>
              <a:rPr lang="en-US" dirty="0"/>
              <a:t>Instead of configuring network rules on each resource individually, you create a perimeter and associate your PaaS resources with it. Resources inside the perimeter can communicate freely, while explicit inbound and outbound access rules control any traffic crossing the perimeter boundary. This is especially useful for scenarios like customer-managed key (CMK) encryption, where your Service Bus namespace needs to communicate with Azure Key Vault - both resources can be placed within the same perimeter, securing the communication without additional configuration.</a:t>
            </a:r>
            <a:br>
              <a:rPr lang="en-US" dirty="0"/>
            </a:br>
            <a:r>
              <a:rPr lang="en-US" dirty="0"/>
              <a:t>Network Security Perimeter provides diagnostic access logs that record every allowed or denied connection attempt, supporting audit and compliance requirements.</a:t>
            </a:r>
          </a:p>
        </p:txBody>
      </p:sp>
    </p:spTree>
    <p:extLst>
      <p:ext uri="{BB962C8B-B14F-4D97-AF65-F5344CB8AC3E}">
        <p14:creationId xmlns:p14="http://schemas.microsoft.com/office/powerpoint/2010/main" val="80628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Grok 4.20 is now available in Microsoft Foundry</a:t>
            </a:r>
            <a:endParaRPr lang="en-US" sz="1000" dirty="0"/>
          </a:p>
          <a:p>
            <a:pPr algn="just"/>
            <a:r>
              <a:rPr lang="en-US" sz="1000" dirty="0"/>
              <a:t>Grok 4.20 is a general-purpose large language model in the Grok 4.x family, designed for reasoning-intensive and real-world problem-solving tasks. A key architectural concept is its agentic “swarm” approach, where multiple specialized agents collaborate across workflows combining reasoning, coding, retrieval, and coordination to improve accuracy on complex tasks. </a:t>
            </a:r>
          </a:p>
          <a:p>
            <a:pPr algn="just"/>
            <a:r>
              <a:rPr lang="en-US" sz="1000" dirty="0"/>
              <a:t>This release also reflects a rapid iteration model, with frequent updates that teams can continuously evaluate in Foundry using consistent benchmarks and datasets.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Now in Foundry: Cohere Transcribe, </a:t>
            </a:r>
            <a:r>
              <a:rPr lang="en-US" dirty="0" err="1">
                <a:hlinkClick r:id="rId3"/>
              </a:rPr>
              <a:t>Nanbeige</a:t>
            </a:r>
            <a:r>
              <a:rPr lang="en-US" dirty="0">
                <a:hlinkClick r:id="rId3"/>
              </a:rPr>
              <a:t> 4.1-3B, and </a:t>
            </a:r>
            <a:r>
              <a:rPr lang="en-US" dirty="0" err="1">
                <a:hlinkClick r:id="rId3"/>
              </a:rPr>
              <a:t>Octen</a:t>
            </a:r>
            <a:r>
              <a:rPr lang="en-US" dirty="0">
                <a:hlinkClick r:id="rId3"/>
              </a:rPr>
              <a:t> Embedding</a:t>
            </a:r>
            <a:endParaRPr lang="en-US" dirty="0"/>
          </a:p>
          <a:p>
            <a:pPr algn="just"/>
            <a:r>
              <a:rPr lang="en-US" dirty="0" err="1"/>
              <a:t>Cohere’s</a:t>
            </a:r>
            <a:r>
              <a:rPr lang="en-US" dirty="0"/>
              <a:t> </a:t>
            </a:r>
            <a:r>
              <a:rPr lang="en-US" b="1" dirty="0"/>
              <a:t>cohere-transcribe</a:t>
            </a:r>
            <a:r>
              <a:rPr lang="en-US" dirty="0"/>
              <a:t> delivers top-tier multilingual speech recognition, while </a:t>
            </a:r>
            <a:r>
              <a:rPr lang="en-US" dirty="0" err="1"/>
              <a:t>Nanbeige’s</a:t>
            </a:r>
            <a:r>
              <a:rPr lang="en-US" dirty="0"/>
              <a:t> </a:t>
            </a:r>
            <a:r>
              <a:rPr lang="en-US" b="1" dirty="0"/>
              <a:t>Nanbeige4.1-3B</a:t>
            </a:r>
            <a:r>
              <a:rPr lang="en-US" dirty="0"/>
              <a:t> provides strong reasoning capabilities for coding and analytical tasks despite its compact size. </a:t>
            </a:r>
            <a:r>
              <a:rPr lang="en-US" dirty="0" err="1"/>
              <a:t>Octen’s</a:t>
            </a:r>
            <a:r>
              <a:rPr lang="en-US" dirty="0"/>
              <a:t> </a:t>
            </a:r>
            <a:r>
              <a:rPr lang="en-US" b="1" dirty="0"/>
              <a:t>Embedding-0.6B</a:t>
            </a:r>
            <a:r>
              <a:rPr lang="en-US" dirty="0"/>
              <a:t> model supports efficient semantic search across 100+ languages and domains. Together, these models enable building </a:t>
            </a:r>
            <a:r>
              <a:rPr lang="en-US" b="1" dirty="0"/>
              <a:t>complete AI workflows—from speech input to reasoning and retrieval</a:t>
            </a:r>
            <a:r>
              <a:rPr lang="en-US" dirty="0"/>
              <a:t>. All models can be deployed through Microsoft Foundry, supporting </a:t>
            </a:r>
            <a:r>
              <a:rPr lang="en-US" b="1" dirty="0"/>
              <a:t>production-ready, multimodal AI systems</a:t>
            </a:r>
            <a:r>
              <a:rPr lang="en-US" dirty="0"/>
              <a:t>. This demonstrates how open-source models can power scalable and flexible AI architectures.</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Miscellaneous</a:t>
            </a:r>
          </a:p>
        </p:txBody>
      </p:sp>
    </p:spTree>
    <p:extLst>
      <p:ext uri="{BB962C8B-B14F-4D97-AF65-F5344CB8AC3E}">
        <p14:creationId xmlns:p14="http://schemas.microsoft.com/office/powerpoint/2010/main" val="15884181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Miscellaneous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the end of support for Node.js 20.x in the Azure SDK for JavaScript</a:t>
            </a:r>
            <a:endParaRPr lang="en-US" dirty="0"/>
          </a:p>
          <a:p>
            <a:pPr algn="just"/>
            <a:r>
              <a:rPr lang="en-US" dirty="0"/>
              <a:t>Starting </a:t>
            </a:r>
            <a:r>
              <a:rPr lang="en-US" b="1" dirty="0"/>
              <a:t>July 9, 2026</a:t>
            </a:r>
            <a:r>
              <a:rPr lang="en-US" dirty="0"/>
              <a:t>, the Azure SDK for JavaScript will require </a:t>
            </a:r>
            <a:r>
              <a:rPr lang="en-US" b="1" dirty="0"/>
              <a:t>Node.js 22.x as the minimum supported version</a:t>
            </a:r>
            <a:r>
              <a:rPr lang="en-US" dirty="0"/>
              <a:t>. Node.js 20.x will no longer be officially supported, and using it may result in </a:t>
            </a:r>
            <a:r>
              <a:rPr lang="en-US" b="1" dirty="0"/>
              <a:t>warnings or installation errors</a:t>
            </a:r>
            <a:r>
              <a:rPr lang="en-US" dirty="0"/>
              <a:t> depending on configuration. While existing applications may continue to function, they will </a:t>
            </a:r>
            <a:r>
              <a:rPr lang="en-US" b="1" dirty="0"/>
              <a:t>not receive updates, bug fixes, or security support</a:t>
            </a:r>
            <a:r>
              <a:rPr lang="en-US" dirty="0"/>
              <a:t>. This change aligns with Node.js lifecycle policies and ensures the SDK remains secure and up to date. Organizations are strongly advised to </a:t>
            </a:r>
            <a:r>
              <a:rPr lang="en-US" b="1" dirty="0"/>
              <a:t>upgrade to Node.js 22.x or later</a:t>
            </a:r>
            <a:r>
              <a:rPr lang="en-US" dirty="0"/>
              <a:t>.</a:t>
            </a:r>
          </a:p>
        </p:txBody>
      </p:sp>
    </p:spTree>
    <p:extLst>
      <p:ext uri="{BB962C8B-B14F-4D97-AF65-F5344CB8AC3E}">
        <p14:creationId xmlns:p14="http://schemas.microsoft.com/office/powerpoint/2010/main" val="95402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4616</TotalTime>
  <Words>4772</Words>
  <Application>Microsoft Office PowerPoint</Application>
  <PresentationFormat>On-screen Show (16:9)</PresentationFormat>
  <Paragraphs>213</Paragraphs>
  <Slides>40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Human Sans</vt:lpstr>
      <vt:lpstr>Human Sans Regular</vt:lpstr>
      <vt:lpstr>Continuum Theme</vt:lpstr>
      <vt:lpstr>Azure Times #201</vt:lpstr>
      <vt:lpstr>PowerPoint Presentation</vt:lpstr>
      <vt:lpstr>Networking Updates</vt:lpstr>
      <vt:lpstr>PowerPoint Presentation</vt:lpstr>
      <vt:lpstr>Defender for Cloud Updates</vt:lpstr>
      <vt:lpstr>Defender for Cloud Updates</vt:lpstr>
      <vt:lpstr>Defender for Cloud Updates</vt:lpstr>
      <vt:lpstr>Defender for Cloud Updates</vt:lpstr>
      <vt:lpstr>Entra ID Updates</vt:lpstr>
      <vt:lpstr>Entra ID Updates</vt:lpstr>
      <vt:lpstr>Entra ID Updates</vt:lpstr>
      <vt:lpstr>Entra ID Updates</vt:lpstr>
      <vt:lpstr>Entra ID Updates</vt:lpstr>
      <vt:lpstr>Entra ID Updates</vt:lpstr>
      <vt:lpstr>Entra ID Updates</vt:lpstr>
      <vt:lpstr>Entra ID Updates</vt:lpstr>
      <vt:lpstr>Defender for Cloud Updates</vt:lpstr>
      <vt:lpstr>Defender for Cloud Updates</vt:lpstr>
      <vt:lpstr>Defender for Cloud Updates</vt:lpstr>
      <vt:lpstr>Security &amp; Identity Updates</vt:lpstr>
      <vt:lpstr>PowerPoint Presentation</vt:lpstr>
      <vt:lpstr>Management &amp; Governance Updates</vt:lpstr>
      <vt:lpstr>Management &amp; Governance Updates</vt:lpstr>
      <vt:lpstr>Management &amp; Governance Updates</vt:lpstr>
      <vt:lpstr>PowerPoint Presentation</vt:lpstr>
      <vt:lpstr>Compute Updates</vt:lpstr>
      <vt:lpstr>Compute Updates</vt:lpstr>
      <vt:lpstr>Compute Updates</vt:lpstr>
      <vt:lpstr>Compute Updates</vt:lpstr>
      <vt:lpstr>PowerPoint Presentation</vt:lpstr>
      <vt:lpstr>Databases Updates</vt:lpstr>
      <vt:lpstr>PowerPoint Presentation</vt:lpstr>
      <vt:lpstr>Integration Updates</vt:lpstr>
      <vt:lpstr>PowerPoint Presentation</vt:lpstr>
      <vt:lpstr>ML &amp; AI &amp; IOT Updates</vt:lpstr>
      <vt:lpstr>PowerPoint Presentation</vt:lpstr>
      <vt:lpstr>Miscellaneous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235</cp:revision>
  <dcterms:created xsi:type="dcterms:W3CDTF">2018-01-26T19:23:30Z</dcterms:created>
  <dcterms:modified xsi:type="dcterms:W3CDTF">2026-04-10T17:47:51Z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