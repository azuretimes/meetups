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4"/>
  </p:sldMasterIdLst>
  <p:notesMasterIdLst>
    <p:notesMasterId r:id="rId109"/>
  </p:notesMasterIdLst>
  <p:handoutMasterIdLst>
    <p:handoutMasterId r:id="rId110"/>
  </p:handoutMasterIdLst>
  <p:sldIdLst>
    <p:sldId id="2142532340" r:id="rId5"/>
    <p:sldId id="2146847046" r:id="rId6"/>
    <p:sldId id="2146847089" r:id="rId7"/>
    <p:sldId id="2146847212" r:id="rId8"/>
    <p:sldId id="2146847130" r:id="rId9"/>
    <p:sldId id="2146847129" r:id="rId10"/>
    <p:sldId id="2146847208" r:id="rId11"/>
    <p:sldId id="2146847209" r:id="rId12"/>
    <p:sldId id="2146847210" r:id="rId13"/>
    <p:sldId id="2146847211" r:id="rId14"/>
    <p:sldId id="2146847213" r:id="rId15"/>
    <p:sldId id="2146847215" r:id="rId16"/>
    <p:sldId id="2146847216" r:id="rId17"/>
    <p:sldId id="2146847128" r:id="rId18"/>
    <p:sldId id="2146847214" r:id="rId19"/>
    <p:sldId id="2146847048" r:id="rId20"/>
    <p:sldId id="2146847049" r:id="rId21"/>
    <p:sldId id="2146847200" r:id="rId22"/>
    <p:sldId id="2146847132" r:id="rId23"/>
    <p:sldId id="2146847133" r:id="rId24"/>
    <p:sldId id="2146847131" r:id="rId25"/>
    <p:sldId id="2146847193" r:id="rId26"/>
    <p:sldId id="2146847050" r:id="rId27"/>
    <p:sldId id="2146847096" r:id="rId28"/>
    <p:sldId id="2146847203" r:id="rId29"/>
    <p:sldId id="2146847182" r:id="rId30"/>
    <p:sldId id="2146847188" r:id="rId31"/>
    <p:sldId id="2146847192" r:id="rId32"/>
    <p:sldId id="2146847201" r:id="rId33"/>
    <p:sldId id="2146847134" r:id="rId34"/>
    <p:sldId id="2146847204" r:id="rId35"/>
    <p:sldId id="2146847135" r:id="rId36"/>
    <p:sldId id="2146847187" r:id="rId37"/>
    <p:sldId id="2146847176" r:id="rId38"/>
    <p:sldId id="2146847191" r:id="rId39"/>
    <p:sldId id="2146847136" r:id="rId40"/>
    <p:sldId id="2146847205" r:id="rId41"/>
    <p:sldId id="2146847198" r:id="rId42"/>
    <p:sldId id="2146847052" r:id="rId43"/>
    <p:sldId id="2146847137" r:id="rId44"/>
    <p:sldId id="2146847054" r:id="rId45"/>
    <p:sldId id="2146847103" r:id="rId46"/>
    <p:sldId id="2146847140" r:id="rId47"/>
    <p:sldId id="2146847184" r:id="rId48"/>
    <p:sldId id="2146847174" r:id="rId49"/>
    <p:sldId id="2146847179" r:id="rId50"/>
    <p:sldId id="2146847180" r:id="rId51"/>
    <p:sldId id="2146847181" r:id="rId52"/>
    <p:sldId id="2146847199" r:id="rId53"/>
    <p:sldId id="2146847185" r:id="rId54"/>
    <p:sldId id="2146847197" r:id="rId55"/>
    <p:sldId id="2146847141" r:id="rId56"/>
    <p:sldId id="2146847142" r:id="rId57"/>
    <p:sldId id="2146847183" r:id="rId58"/>
    <p:sldId id="2146847156" r:id="rId59"/>
    <p:sldId id="2146847173" r:id="rId60"/>
    <p:sldId id="2146847178" r:id="rId61"/>
    <p:sldId id="2146847177" r:id="rId62"/>
    <p:sldId id="2146847190" r:id="rId63"/>
    <p:sldId id="2146847206" r:id="rId64"/>
    <p:sldId id="2146847056" r:id="rId65"/>
    <p:sldId id="2146847107" r:id="rId66"/>
    <p:sldId id="2146847143" r:id="rId67"/>
    <p:sldId id="2146847144" r:id="rId68"/>
    <p:sldId id="2146847145" r:id="rId69"/>
    <p:sldId id="2146847058" r:id="rId70"/>
    <p:sldId id="2146847111" r:id="rId71"/>
    <p:sldId id="2146847146" r:id="rId72"/>
    <p:sldId id="2146847163" r:id="rId73"/>
    <p:sldId id="2146847147" r:id="rId74"/>
    <p:sldId id="2146847164" r:id="rId75"/>
    <p:sldId id="2146847165" r:id="rId76"/>
    <p:sldId id="2146847166" r:id="rId77"/>
    <p:sldId id="2146847167" r:id="rId78"/>
    <p:sldId id="2146847168" r:id="rId79"/>
    <p:sldId id="2146847194" r:id="rId80"/>
    <p:sldId id="2146847169" r:id="rId81"/>
    <p:sldId id="2146847175" r:id="rId82"/>
    <p:sldId id="2146847186" r:id="rId83"/>
    <p:sldId id="2146847195" r:id="rId84"/>
    <p:sldId id="2146847196" r:id="rId85"/>
    <p:sldId id="2146847202" r:id="rId86"/>
    <p:sldId id="2146847148" r:id="rId87"/>
    <p:sldId id="2146847157" r:id="rId88"/>
    <p:sldId id="2146847158" r:id="rId89"/>
    <p:sldId id="2146847160" r:id="rId90"/>
    <p:sldId id="2146847161" r:id="rId91"/>
    <p:sldId id="2146847159" r:id="rId92"/>
    <p:sldId id="2146847162" r:id="rId93"/>
    <p:sldId id="2146847149" r:id="rId94"/>
    <p:sldId id="2146847172" r:id="rId95"/>
    <p:sldId id="2146847171" r:id="rId96"/>
    <p:sldId id="2146847170" r:id="rId97"/>
    <p:sldId id="2146847119" r:id="rId98"/>
    <p:sldId id="2146847120" r:id="rId99"/>
    <p:sldId id="2146847151" r:id="rId100"/>
    <p:sldId id="2146847150" r:id="rId101"/>
    <p:sldId id="2146847062" r:id="rId102"/>
    <p:sldId id="2146847115" r:id="rId103"/>
    <p:sldId id="2146847154" r:id="rId104"/>
    <p:sldId id="2146847153" r:id="rId105"/>
    <p:sldId id="2146847085" r:id="rId106"/>
    <p:sldId id="2146847084" r:id="rId107"/>
    <p:sldId id="2146847064" r:id="rId108"/>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52CF65-4D58-4370-B229-5F4CB000B44D}">
          <p14:sldIdLst>
            <p14:sldId id="2142532340"/>
          </p14:sldIdLst>
        </p14:section>
        <p14:section name="Networking" id="{8B3AEA99-85F7-477B-B976-48DC47AA1A88}">
          <p14:sldIdLst/>
        </p14:section>
        <p14:section name="Security &amp; Identity" id="{1AA42572-B3BD-44F7-813B-C2C647DDBB3C}">
          <p14:sldIdLst>
            <p14:sldId id="2146847046"/>
            <p14:sldId id="2146847089"/>
            <p14:sldId id="2146847212"/>
            <p14:sldId id="2146847130"/>
            <p14:sldId id="2146847129"/>
            <p14:sldId id="2146847208"/>
            <p14:sldId id="2146847209"/>
            <p14:sldId id="2146847210"/>
            <p14:sldId id="2146847211"/>
            <p14:sldId id="2146847213"/>
            <p14:sldId id="2146847215"/>
            <p14:sldId id="2146847216"/>
            <p14:sldId id="2146847128"/>
            <p14:sldId id="2146847214"/>
          </p14:sldIdLst>
        </p14:section>
        <p14:section name="Management &amp; Governance" id="{34181601-6D48-4406-A525-C7B5A12C6C5B}">
          <p14:sldIdLst>
            <p14:sldId id="2146847048"/>
            <p14:sldId id="2146847049"/>
            <p14:sldId id="2146847200"/>
            <p14:sldId id="2146847132"/>
            <p14:sldId id="2146847133"/>
            <p14:sldId id="2146847131"/>
            <p14:sldId id="2146847193"/>
          </p14:sldIdLst>
        </p14:section>
        <p14:section name="Compute" id="{05AA80BB-8802-49AB-8336-A884227CE2F7}">
          <p14:sldIdLst>
            <p14:sldId id="2146847050"/>
            <p14:sldId id="2146847096"/>
            <p14:sldId id="2146847203"/>
            <p14:sldId id="2146847182"/>
            <p14:sldId id="2146847188"/>
            <p14:sldId id="2146847192"/>
            <p14:sldId id="2146847201"/>
            <p14:sldId id="2146847134"/>
            <p14:sldId id="2146847204"/>
            <p14:sldId id="2146847135"/>
            <p14:sldId id="2146847187"/>
            <p14:sldId id="2146847176"/>
            <p14:sldId id="2146847191"/>
            <p14:sldId id="2146847136"/>
            <p14:sldId id="2146847205"/>
            <p14:sldId id="2146847198"/>
          </p14:sldIdLst>
        </p14:section>
        <p14:section name="Storage &amp; Data" id="{1F159046-CE0A-45BC-9D5B-6E6C95980F78}">
          <p14:sldIdLst>
            <p14:sldId id="2146847052"/>
            <p14:sldId id="2146847137"/>
          </p14:sldIdLst>
        </p14:section>
        <p14:section name="Databases" id="{AEAFAE72-AD56-48F3-926B-38BAE269038F}">
          <p14:sldIdLst>
            <p14:sldId id="2146847054"/>
            <p14:sldId id="2146847103"/>
            <p14:sldId id="2146847140"/>
            <p14:sldId id="2146847184"/>
            <p14:sldId id="2146847174"/>
            <p14:sldId id="2146847179"/>
            <p14:sldId id="2146847180"/>
            <p14:sldId id="2146847181"/>
            <p14:sldId id="2146847199"/>
            <p14:sldId id="2146847185"/>
            <p14:sldId id="2146847197"/>
            <p14:sldId id="2146847141"/>
            <p14:sldId id="2146847142"/>
            <p14:sldId id="2146847183"/>
            <p14:sldId id="2146847156"/>
            <p14:sldId id="2146847173"/>
            <p14:sldId id="2146847178"/>
            <p14:sldId id="2146847177"/>
            <p14:sldId id="2146847190"/>
            <p14:sldId id="2146847206"/>
          </p14:sldIdLst>
        </p14:section>
        <p14:section name="Integration" id="{ACBD46A3-6F1C-451B-A154-0A056E0DEFF6}">
          <p14:sldIdLst>
            <p14:sldId id="2146847056"/>
            <p14:sldId id="2146847107"/>
            <p14:sldId id="2146847143"/>
            <p14:sldId id="2146847144"/>
            <p14:sldId id="2146847145"/>
          </p14:sldIdLst>
        </p14:section>
        <p14:section name="ML &amp; AI &amp; IOT" id="{F4E1EAF1-55E9-4CA4-8ADC-28B69C1D66D2}">
          <p14:sldIdLst>
            <p14:sldId id="2146847058"/>
            <p14:sldId id="2146847111"/>
            <p14:sldId id="2146847146"/>
            <p14:sldId id="2146847163"/>
            <p14:sldId id="2146847147"/>
            <p14:sldId id="2146847164"/>
            <p14:sldId id="2146847165"/>
            <p14:sldId id="2146847166"/>
            <p14:sldId id="2146847167"/>
            <p14:sldId id="2146847168"/>
            <p14:sldId id="2146847194"/>
            <p14:sldId id="2146847169"/>
            <p14:sldId id="2146847175"/>
            <p14:sldId id="2146847186"/>
            <p14:sldId id="2146847195"/>
            <p14:sldId id="2146847196"/>
            <p14:sldId id="2146847202"/>
            <p14:sldId id="2146847148"/>
            <p14:sldId id="2146847157"/>
            <p14:sldId id="2146847158"/>
            <p14:sldId id="2146847160"/>
            <p14:sldId id="2146847161"/>
            <p14:sldId id="2146847159"/>
            <p14:sldId id="2146847162"/>
            <p14:sldId id="2146847149"/>
            <p14:sldId id="2146847172"/>
            <p14:sldId id="2146847171"/>
            <p14:sldId id="2146847170"/>
            <p14:sldId id="2146847119"/>
            <p14:sldId id="2146847120"/>
            <p14:sldId id="2146847151"/>
            <p14:sldId id="2146847150"/>
          </p14:sldIdLst>
        </p14:section>
        <p14:section name="Miscellaneous" id="{A1456D7A-93BE-4023-90AA-7269D2F177BA}">
          <p14:sldIdLst>
            <p14:sldId id="2146847062"/>
            <p14:sldId id="2146847115"/>
            <p14:sldId id="2146847154"/>
            <p14:sldId id="2146847153"/>
          </p14:sldIdLst>
        </p14:section>
        <p14:section name="End" id="{82899442-2AC4-4699-95EB-48D45B913575}">
          <p14:sldIdLst>
            <p14:sldId id="2146847085"/>
            <p14:sldId id="2146847084"/>
            <p14:sldId id="214684706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mily Catuzzi" initials="EC" lastIdx="19" clrIdx="9">
    <p:extLst>
      <p:ext uri="{19B8F6BF-5375-455C-9EA6-DF929625EA0E}">
        <p15:presenceInfo xmlns:p15="http://schemas.microsoft.com/office/powerpoint/2012/main" userId="S::Emily_Catuzzi@epam.com::b46d6ad4-ac70-4125-82a7-0ece5134c360" providerId="AD"/>
      </p:ext>
    </p:extLst>
  </p:cmAuthor>
  <p:cmAuthor id="1" name="Laura Brady" initials="LB" lastIdx="52" clrIdx="3">
    <p:extLst>
      <p:ext uri="{19B8F6BF-5375-455C-9EA6-DF929625EA0E}">
        <p15:presenceInfo xmlns:p15="http://schemas.microsoft.com/office/powerpoint/2012/main" userId="S::Laura_Brady@epam.com::b18c91b0-83fb-4c27-875b-18626d50463b" providerId="AD"/>
      </p:ext>
    </p:extLst>
  </p:cmAuthor>
  <p:cmAuthor id="8" name="Gretchen Rice" initials="GR" lastIdx="4" clrIdx="10">
    <p:extLst>
      <p:ext uri="{19B8F6BF-5375-455C-9EA6-DF929625EA0E}">
        <p15:presenceInfo xmlns:p15="http://schemas.microsoft.com/office/powerpoint/2012/main" userId="S::gretchen_rice@epam.com::e279efbb-a837-440d-b0bd-684dd084c605" providerId="AD"/>
      </p:ext>
    </p:extLst>
  </p:cmAuthor>
  <p:cmAuthor id="2" name="Amy Legere" initials="AL" lastIdx="5" clrIdx="5">
    <p:extLst>
      <p:ext uri="{19B8F6BF-5375-455C-9EA6-DF929625EA0E}">
        <p15:presenceInfo xmlns:p15="http://schemas.microsoft.com/office/powerpoint/2012/main" userId="S::Amy_Legere@epam.com::36c3e91a-2059-4c30-8d42-5285dd7a2555" providerId="AD"/>
      </p:ext>
    </p:extLst>
  </p:cmAuthor>
  <p:cmAuthor id="9" name="Jennifer Markowitz" initials="JM" lastIdx="1" clrIdx="11">
    <p:extLst>
      <p:ext uri="{19B8F6BF-5375-455C-9EA6-DF929625EA0E}">
        <p15:presenceInfo xmlns:p15="http://schemas.microsoft.com/office/powerpoint/2012/main" userId="S::jennifer_markowitz@epam.com::f9148081-3671-49e1-8328-0a911bc72bfd" providerId="AD"/>
      </p:ext>
    </p:extLst>
  </p:cmAuthor>
  <p:cmAuthor id="3" name="John Hatz" initials="JH" lastIdx="1" clrIdx="4">
    <p:extLst>
      <p:ext uri="{19B8F6BF-5375-455C-9EA6-DF929625EA0E}">
        <p15:presenceInfo xmlns:p15="http://schemas.microsoft.com/office/powerpoint/2012/main" userId="S-1-5-21-2676001572-3131771074-2776907194-23347" providerId="AD"/>
      </p:ext>
    </p:extLst>
  </p:cmAuthor>
  <p:cmAuthor id="10" name="Nastassia Smolskaya" initials="NS" lastIdx="11" clrIdx="12">
    <p:extLst>
      <p:ext uri="{19B8F6BF-5375-455C-9EA6-DF929625EA0E}">
        <p15:presenceInfo xmlns:p15="http://schemas.microsoft.com/office/powerpoint/2012/main" userId="S::Nastassia_Smolskaya@epam.com::8ff1f7bc-3066-491e-a683-ea021ab0c825" providerId="AD"/>
      </p:ext>
    </p:extLst>
  </p:cmAuthor>
  <p:cmAuthor id="4" name="John Hatz" initials="JH [2]" lastIdx="3" clrIdx="6">
    <p:extLst>
      <p:ext uri="{19B8F6BF-5375-455C-9EA6-DF929625EA0E}">
        <p15:presenceInfo xmlns:p15="http://schemas.microsoft.com/office/powerpoint/2012/main" userId="S::john_hatz@epam.com::7f3a8b4b-4b1e-493d-b3f9-196adf0a1de0" providerId="AD"/>
      </p:ext>
    </p:extLst>
  </p:cmAuthor>
  <p:cmAuthor id="5" name="Mariette Kouwenberg-Mooney" initials="MK" lastIdx="19" clrIdx="7">
    <p:extLst>
      <p:ext uri="{19B8F6BF-5375-455C-9EA6-DF929625EA0E}">
        <p15:presenceInfo xmlns:p15="http://schemas.microsoft.com/office/powerpoint/2012/main" userId="S::Mariette_Kouwenberg-Mooney@epam.com::e2a13c51-a5c6-436b-ad7f-addd34212f51" providerId="AD"/>
      </p:ext>
    </p:extLst>
  </p:cmAuthor>
  <p:cmAuthor id="6" name="Julie Hansberry" initials="JH" lastIdx="13" clrIdx="8">
    <p:extLst>
      <p:ext uri="{19B8F6BF-5375-455C-9EA6-DF929625EA0E}">
        <p15:presenceInfo xmlns:p15="http://schemas.microsoft.com/office/powerpoint/2012/main" userId="S::julie_hansberry@epam.com::6cd6a8f9-b761-4260-92e9-1b9e97578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D43"/>
    <a:srgbClr val="CADC49"/>
    <a:srgbClr val="E53B2E"/>
    <a:srgbClr val="FFC000"/>
    <a:srgbClr val="D35D47"/>
    <a:srgbClr val="008ACF"/>
    <a:srgbClr val="76CDD8"/>
    <a:srgbClr val="75A0A6"/>
    <a:srgbClr val="569BA5"/>
    <a:srgbClr val="EDC1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79132-3F09-4EB7-9156-AFD2ABE5B897}" v="37" dt="2021-04-12T18:27:46.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94694"/>
  </p:normalViewPr>
  <p:slideViewPr>
    <p:cSldViewPr snapToGrid="0">
      <p:cViewPr varScale="1">
        <p:scale>
          <a:sx n="138" d="100"/>
          <a:sy n="138" d="100"/>
        </p:scale>
        <p:origin x="1800" y="120"/>
      </p:cViewPr>
      <p:guideLst/>
    </p:cSldViewPr>
  </p:slideViewPr>
  <p:notesTextViewPr>
    <p:cViewPr>
      <p:scale>
        <a:sx n="1" d="1"/>
        <a:sy n="1" d="1"/>
      </p:scale>
      <p:origin x="0" y="0"/>
    </p:cViewPr>
  </p:notesTextViewPr>
  <p:notesViewPr>
    <p:cSldViewPr snapToGrid="0">
      <p:cViewPr varScale="1">
        <p:scale>
          <a:sx n="121" d="100"/>
          <a:sy n="121" d="100"/>
        </p:scale>
        <p:origin x="7662" y="9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presProps" Target="presProps.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viewProps" Target="viewProps.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slide" Target="slides/slide102.xml"/><Relationship Id="rId114"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notesMaster" Target="notesMasters/notesMaster1.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handoutMaster" Target="handoutMasters/handoutMaster1.xml"/><Relationship Id="rId115" Type="http://schemas.openxmlformats.org/officeDocument/2006/relationships/tableStyles" Target="tableStyle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6/8/2026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6/8/2026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74FABB-6DBE-47C4-B626-20167906F475}" type="slidenum">
              <a:rPr lang="en-US" smtClean="0"/>
              <a:t>1</a:t>
            </a:fld>
            <a:endParaRPr lang="en-US"/>
          </a:p>
        </p:txBody>
      </p:sp>
    </p:spTree>
    <p:extLst>
      <p:ext uri="{BB962C8B-B14F-4D97-AF65-F5344CB8AC3E}">
        <p14:creationId xmlns:p14="http://schemas.microsoft.com/office/powerpoint/2010/main" val="414414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Tex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2900" y="1200151"/>
            <a:ext cx="8458200" cy="2228850"/>
          </a:xfrm>
        </p:spPr>
        <p:txBody>
          <a:bodyPr lIns="0" tIns="0" rIns="0" bIns="0" anchor="b">
            <a:noAutofit/>
          </a:bodyPr>
          <a:lstStyle>
            <a:lvl1pPr algn="l">
              <a:lnSpc>
                <a:spcPct val="85000"/>
              </a:lnSpc>
              <a:defRPr sz="9000" b="0" i="0">
                <a:solidFill>
                  <a:schemeClr val="accent3"/>
                </a:solidFill>
                <a:latin typeface="+mj-lt"/>
                <a:ea typeface="Human Sans Thin" pitchFamily="2" charset="77"/>
                <a:cs typeface="Human Sans Thin" pitchFamily="2" charset="77"/>
              </a:defRPr>
            </a:lvl1pPr>
          </a:lstStyle>
          <a:p>
            <a:r>
              <a:rPr lang="en-US"/>
              <a:t>Proposal</a:t>
            </a:r>
            <a:br>
              <a:rPr lang="en-US"/>
            </a:br>
            <a:r>
              <a:rPr lang="en-US"/>
              <a:t>Title</a:t>
            </a:r>
          </a:p>
        </p:txBody>
      </p:sp>
      <p:sp>
        <p:nvSpPr>
          <p:cNvPr id="8" name="Text Placeholder 7"/>
          <p:cNvSpPr>
            <a:spLocks noGrp="1"/>
          </p:cNvSpPr>
          <p:nvPr>
            <p:ph type="body" sz="quarter" idx="11" hasCustomPrompt="1"/>
          </p:nvPr>
        </p:nvSpPr>
        <p:spPr>
          <a:xfrm>
            <a:off x="342900" y="3600450"/>
            <a:ext cx="8455914" cy="171450"/>
          </a:xfrm>
        </p:spPr>
        <p:txBody>
          <a:bodyPr lIns="0" tIns="0" rIns="0" bIns="0" anchor="t">
            <a:noAutofit/>
          </a:bodyPr>
          <a:lstStyle>
            <a:lvl1pPr marL="0" indent="0">
              <a:lnSpc>
                <a:spcPct val="100000"/>
              </a:lnSpc>
              <a:spcBef>
                <a:spcPts val="0"/>
              </a:spcBef>
              <a:spcAft>
                <a:spcPts val="0"/>
              </a:spcAft>
              <a:buNone/>
              <a:defRPr sz="1200" b="0" i="0" baseline="0">
                <a:solidFill>
                  <a:schemeClr val="bg1"/>
                </a:solidFill>
                <a:latin typeface="+mn-lt"/>
                <a:ea typeface="Calibri" panose="020F0502020204030204" pitchFamily="34" charset="0"/>
                <a:cs typeface="Calibri" panose="020F050202020403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r>
              <a:rPr lang="en-US"/>
              <a:t>Subtitle description</a:t>
            </a:r>
          </a:p>
        </p:txBody>
      </p:sp>
      <p:sp>
        <p:nvSpPr>
          <p:cNvPr id="5" name="Text Placeholder 4"/>
          <p:cNvSpPr>
            <a:spLocks noGrp="1"/>
          </p:cNvSpPr>
          <p:nvPr>
            <p:ph type="body" sz="quarter" idx="12" hasCustomPrompt="1"/>
          </p:nvPr>
        </p:nvSpPr>
        <p:spPr>
          <a:xfrm>
            <a:off x="342900" y="3864095"/>
            <a:ext cx="1988344" cy="171450"/>
          </a:xfrm>
        </p:spPr>
        <p:txBody>
          <a:bodyPr/>
          <a:lstStyle>
            <a:lvl1pPr>
              <a:lnSpc>
                <a:spcPct val="100000"/>
              </a:lnSpc>
              <a:spcBef>
                <a:spcPts val="0"/>
              </a:spcBef>
              <a:defRPr sz="900" b="0" i="0" cap="all" baseline="0">
                <a:solidFill>
                  <a:schemeClr val="bg1"/>
                </a:solidFill>
                <a:latin typeface="+mn-lt"/>
              </a:defRPr>
            </a:lvl1pPr>
          </a:lstStyle>
          <a:p>
            <a:pPr lvl="0"/>
            <a:r>
              <a:rPr lang="en-US"/>
              <a:t>Date</a:t>
            </a:r>
          </a:p>
        </p:txBody>
      </p:sp>
    </p:spTree>
    <p:extLst>
      <p:ext uri="{BB962C8B-B14F-4D97-AF65-F5344CB8AC3E}">
        <p14:creationId xmlns:p14="http://schemas.microsoft.com/office/powerpoint/2010/main" val="30377794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42901" y="3429000"/>
            <a:ext cx="4148137" cy="1200150"/>
          </a:xfrm>
        </p:spPr>
        <p:txBody>
          <a:bodyPr lIns="0" tIns="0" rIns="0" bIns="0" anchor="t">
            <a:normAutofit/>
          </a:bodyPr>
          <a:lstStyle>
            <a:lvl1pPr marL="0" indent="0" algn="l">
              <a:lnSpc>
                <a:spcPct val="110000"/>
              </a:lnSpc>
              <a:spcBef>
                <a:spcPts val="450"/>
              </a:spcBef>
              <a:spcAft>
                <a:spcPts val="0"/>
              </a:spcAft>
              <a:buNone/>
              <a:defRPr sz="900" b="0" i="0" baseline="0">
                <a:solidFill>
                  <a:schemeClr val="bg1"/>
                </a:solidFill>
                <a:latin typeface="+mn-lt"/>
                <a:ea typeface="Calibri" panose="020F0502020204030204" pitchFamily="34" charset="0"/>
                <a:cs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type section description</a:t>
            </a:r>
          </a:p>
        </p:txBody>
      </p:sp>
      <p:sp>
        <p:nvSpPr>
          <p:cNvPr id="8" name="Text Placeholder 7"/>
          <p:cNvSpPr>
            <a:spLocks noGrp="1"/>
          </p:cNvSpPr>
          <p:nvPr>
            <p:ph type="body" sz="quarter" idx="12" hasCustomPrompt="1"/>
          </p:nvPr>
        </p:nvSpPr>
        <p:spPr>
          <a:xfrm>
            <a:off x="342901" y="2743200"/>
            <a:ext cx="6299597" cy="514350"/>
          </a:xfrm>
        </p:spPr>
        <p:txBody>
          <a:bodyPr/>
          <a:lstStyle>
            <a:lvl1pPr marL="0" indent="0">
              <a:lnSpc>
                <a:spcPct val="100000"/>
              </a:lnSpc>
              <a:spcBef>
                <a:spcPts val="0"/>
              </a:spcBef>
              <a:spcAft>
                <a:spcPts val="0"/>
              </a:spcAft>
              <a:buNone/>
              <a:defRPr sz="3600" b="0" i="0" baseline="0">
                <a:solidFill>
                  <a:schemeClr val="accent3"/>
                </a:solidFill>
                <a:latin typeface="+mj-lt"/>
                <a:ea typeface="Calibri Light" charset="0"/>
                <a:cs typeface="Calibri Light" charset="0"/>
              </a:defRPr>
            </a:lvl1pPr>
          </a:lstStyle>
          <a:p>
            <a:pPr lvl="0"/>
            <a:r>
              <a:rPr lang="en-US"/>
              <a:t>Section Header</a:t>
            </a:r>
          </a:p>
        </p:txBody>
      </p:sp>
      <p:sp>
        <p:nvSpPr>
          <p:cNvPr id="11" name="Text Placeholder 10"/>
          <p:cNvSpPr>
            <a:spLocks noGrp="1"/>
          </p:cNvSpPr>
          <p:nvPr>
            <p:ph type="body" sz="quarter" idx="13" hasCustomPrompt="1"/>
          </p:nvPr>
        </p:nvSpPr>
        <p:spPr>
          <a:xfrm>
            <a:off x="252845" y="1285875"/>
            <a:ext cx="4148138" cy="1714500"/>
          </a:xfrm>
        </p:spPr>
        <p:txBody>
          <a:bodyPr wrap="square" anchor="b"/>
          <a:lstStyle>
            <a:lvl1pPr>
              <a:lnSpc>
                <a:spcPct val="100000"/>
              </a:lnSpc>
              <a:spcBef>
                <a:spcPts val="0"/>
              </a:spcBef>
              <a:spcAft>
                <a:spcPts val="0"/>
              </a:spcAft>
              <a:defRPr sz="16500" b="0" i="0">
                <a:solidFill>
                  <a:schemeClr val="accent3"/>
                </a:solidFill>
                <a:latin typeface="+mj-lt"/>
                <a:ea typeface="Human Sans Thin" pitchFamily="2" charset="77"/>
                <a:cs typeface="Human Sans Thin" pitchFamily="2" charset="77"/>
              </a:defRPr>
            </a:lvl1pPr>
          </a:lstStyle>
          <a:p>
            <a:pPr lvl="0"/>
            <a:r>
              <a:rPr lang="en-US"/>
              <a:t>0</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mn-lt"/>
              </a:rPr>
              <a:pPr/>
              <a:t>‹#›</a:t>
            </a:fld>
            <a:endParaRPr lang="en-US" sz="600" b="0" i="0">
              <a:solidFill>
                <a:schemeClr val="bg1"/>
              </a:solidFill>
              <a:latin typeface="+mn-lt"/>
            </a:endParaRPr>
          </a:p>
        </p:txBody>
      </p:sp>
    </p:spTree>
    <p:extLst>
      <p:ext uri="{BB962C8B-B14F-4D97-AF65-F5344CB8AC3E}">
        <p14:creationId xmlns:p14="http://schemas.microsoft.com/office/powerpoint/2010/main" val="251329198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5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30546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21397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7022306" cy="3774069"/>
          </a:xfrm>
        </p:spPr>
        <p:txBody>
          <a:bodyPr lIns="0" tIns="0" rIns="0" bIns="0"/>
          <a:lstStyle>
            <a:lvl1pPr marL="0" indent="0">
              <a:lnSpc>
                <a:spcPct val="110000"/>
              </a:lnSpc>
              <a:spcAft>
                <a:spcPts val="0"/>
              </a:spcAft>
              <a:buNone/>
              <a:tabLst>
                <a:tab pos="2438400" algn="l"/>
              </a:tabLst>
              <a:defRPr sz="1200" b="0" i="0" baseline="0">
                <a:latin typeface="+mn-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40278692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4433776" y="855080"/>
            <a:ext cx="4365038" cy="3774069"/>
          </a:xfrm>
        </p:spPr>
        <p:txBody>
          <a:bodyPr lIns="0" tIns="0" rIns="0" bIns="0"/>
          <a:lstStyle>
            <a:lvl1pPr marL="0" indent="0">
              <a:lnSpc>
                <a:spcPct val="110000"/>
              </a:lnSpc>
              <a:spcAft>
                <a:spcPts val="0"/>
              </a:spcAft>
              <a:buNone/>
              <a:tabLst>
                <a:tab pos="2438400" algn="l"/>
              </a:tabLst>
              <a:defRPr sz="12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j-lt"/>
              </a:defRPr>
            </a:lvl1pPr>
          </a:lstStyle>
          <a:p>
            <a:r>
              <a:rPr lang="en-US" dirty="0"/>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j-lt"/>
              </a:defRPr>
            </a:lvl1pPr>
          </a:lstStyle>
          <a:p>
            <a:pPr lvl="0"/>
            <a:r>
              <a:rPr lang="en-US"/>
              <a:t>Click to add section title</a:t>
            </a:r>
          </a:p>
        </p:txBody>
      </p:sp>
      <p:sp>
        <p:nvSpPr>
          <p:cNvPr id="6" name="Text Placeholder 9">
            <a:extLst>
              <a:ext uri="{FF2B5EF4-FFF2-40B4-BE49-F238E27FC236}">
                <a16:creationId xmlns:a16="http://schemas.microsoft.com/office/drawing/2014/main" id="{47BF3F39-D94F-BC48-8482-2214B9D8033C}"/>
              </a:ext>
            </a:extLst>
          </p:cNvPr>
          <p:cNvSpPr>
            <a:spLocks noGrp="1"/>
          </p:cNvSpPr>
          <p:nvPr>
            <p:ph type="body" sz="quarter" idx="16"/>
          </p:nvPr>
        </p:nvSpPr>
        <p:spPr>
          <a:xfrm>
            <a:off x="342900" y="855080"/>
            <a:ext cx="3955312"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Tree>
    <p:extLst>
      <p:ext uri="{BB962C8B-B14F-4D97-AF65-F5344CB8AC3E}">
        <p14:creationId xmlns:p14="http://schemas.microsoft.com/office/powerpoint/2010/main" val="229121768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85822259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 Text">
    <p:bg>
      <p:bgPr>
        <a:solidFill>
          <a:schemeClr val="tx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6600" b="0" i="0" baseline="0">
                <a:solidFill>
                  <a:schemeClr val="bg1"/>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
        <p:nvSpPr>
          <p:cNvPr id="8" name="Slide Number Placeholder 13">
            <a:extLst>
              <a:ext uri="{FF2B5EF4-FFF2-40B4-BE49-F238E27FC236}">
                <a16:creationId xmlns:a16="http://schemas.microsoft.com/office/drawing/2014/main" id="{841CA2A1-3D39-2344-A5FA-9709C1FE6425}"/>
              </a:ext>
            </a:extLst>
          </p:cNvPr>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Human Sans Regular" pitchFamily="2" charset="77"/>
              </a:rPr>
              <a:pPr/>
              <a:t>‹#›</a:t>
            </a:fld>
            <a:endParaRPr lang="en-US" sz="600" b="0" i="0">
              <a:solidFill>
                <a:schemeClr val="bg1"/>
              </a:solidFill>
              <a:latin typeface="Human Sans Regular" pitchFamily="2" charset="77"/>
            </a:endParaRPr>
          </a:p>
        </p:txBody>
      </p:sp>
    </p:spTree>
    <p:extLst>
      <p:ext uri="{BB962C8B-B14F-4D97-AF65-F5344CB8AC3E}">
        <p14:creationId xmlns:p14="http://schemas.microsoft.com/office/powerpoint/2010/main" val="14816918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7020408" cy="3429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42901" y="859971"/>
            <a:ext cx="7022306" cy="376917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latin typeface="Calibri" panose="020F0502020204030204" pitchFamily="34" charset="0"/>
                <a:cs typeface="Calibri" panose="020F0502020204030204" pitchFamily="34" charset="0"/>
              </a:rPr>
              <a:pPr/>
              <a:t>‹#›</a:t>
            </a:fld>
            <a:endParaRPr lang="en-US" sz="600" b="0" i="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7938063"/>
      </p:ext>
    </p:extLst>
  </p:cSld>
  <p:clrMap bg1="lt1" tx1="dk1" bg2="lt2" tx2="dk2" accent1="accent1" accent2="accent2" accent3="accent3" accent4="accent4" accent5="accent5" accent6="accent6" hlink="hlink" folHlink="folHlink"/>
  <p:sldLayoutIdLst>
    <p:sldLayoutId id="2147483863" r:id="rId1"/>
    <p:sldLayoutId id="2147483816" r:id="rId2"/>
    <p:sldLayoutId id="2147483822" r:id="rId3"/>
    <p:sldLayoutId id="2147483823" r:id="rId4"/>
    <p:sldLayoutId id="2147483824" r:id="rId5"/>
    <p:sldLayoutId id="2147483825" r:id="rId6"/>
    <p:sldLayoutId id="2147483826" r:id="rId7"/>
    <p:sldLayoutId id="2147483828" r:id="rId8"/>
    <p:sldLayoutId id="2147483829" r:id="rId9"/>
  </p:sldLayoutIdLst>
  <p:hf hdr="0" dt="0"/>
  <p:txStyles>
    <p:titleStyle>
      <a:lvl1pPr algn="l" defTabSz="685800" rtl="0" eaLnBrk="1" latinLnBrk="0" hangingPunct="1">
        <a:lnSpc>
          <a:spcPct val="100000"/>
        </a:lnSpc>
        <a:spcBef>
          <a:spcPct val="0"/>
        </a:spcBef>
        <a:buNone/>
        <a:defRPr sz="1650" b="0"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16" orient="horz" pos="144">
          <p15:clr>
            <a:srgbClr val="F26B43"/>
          </p15:clr>
        </p15:guide>
        <p15:guide id="17" orient="horz" pos="288">
          <p15:clr>
            <a:srgbClr val="F26B43"/>
          </p15:clr>
        </p15:guide>
        <p15:guide id="18" orient="horz" pos="432">
          <p15:clr>
            <a:srgbClr val="F26B43"/>
          </p15:clr>
        </p15:guide>
        <p15:guide id="19" orient="horz" pos="576">
          <p15:clr>
            <a:srgbClr val="F26B43"/>
          </p15:clr>
        </p15:guide>
        <p15:guide id="20" orient="horz" pos="720">
          <p15:clr>
            <a:srgbClr val="F26B43"/>
          </p15:clr>
        </p15:guide>
        <p15:guide id="21" orient="horz" pos="864">
          <p15:clr>
            <a:srgbClr val="F26B43"/>
          </p15:clr>
        </p15:guide>
        <p15:guide id="22" orient="horz" pos="1008">
          <p15:clr>
            <a:srgbClr val="F26B43"/>
          </p15:clr>
        </p15:guide>
        <p15:guide id="23" orient="horz" pos="1152">
          <p15:clr>
            <a:srgbClr val="F26B43"/>
          </p15:clr>
        </p15:guide>
        <p15:guide id="24" orient="horz" pos="1296">
          <p15:clr>
            <a:srgbClr val="F26B43"/>
          </p15:clr>
        </p15:guide>
        <p15:guide id="25" orient="horz" pos="1440">
          <p15:clr>
            <a:srgbClr val="F26B43"/>
          </p15:clr>
        </p15:guide>
        <p15:guide id="26" orient="horz" pos="1584">
          <p15:clr>
            <a:srgbClr val="F26B43"/>
          </p15:clr>
        </p15:guide>
        <p15:guide id="27" orient="horz" pos="1728">
          <p15:clr>
            <a:srgbClr val="F26B43"/>
          </p15:clr>
        </p15:guide>
        <p15:guide id="28" orient="horz" pos="1872">
          <p15:clr>
            <a:srgbClr val="F26B43"/>
          </p15:clr>
        </p15:guide>
        <p15:guide id="29" orient="horz" pos="2016">
          <p15:clr>
            <a:srgbClr val="F26B43"/>
          </p15:clr>
        </p15:guide>
        <p15:guide id="30" orient="horz" pos="2304">
          <p15:clr>
            <a:srgbClr val="F26B43"/>
          </p15:clr>
        </p15:guide>
        <p15:guide id="31" orient="horz" pos="2448">
          <p15:clr>
            <a:srgbClr val="F26B43"/>
          </p15:clr>
        </p15:guide>
        <p15:guide id="32" orient="horz" pos="2592">
          <p15:clr>
            <a:srgbClr val="F26B43"/>
          </p15:clr>
        </p15:guide>
        <p15:guide id="33" orient="horz" pos="2736">
          <p15:clr>
            <a:srgbClr val="F26B43"/>
          </p15:clr>
        </p15:guide>
        <p15:guide id="34" orient="horz" pos="2880">
          <p15:clr>
            <a:srgbClr val="F26B43"/>
          </p15:clr>
        </p15:guide>
        <p15:guide id="35" orient="horz" pos="3024">
          <p15:clr>
            <a:srgbClr val="F26B43"/>
          </p15:clr>
        </p15:guide>
        <p15:guide id="36" orient="horz" pos="3168">
          <p15:clr>
            <a:srgbClr val="F26B43"/>
          </p15:clr>
        </p15:guide>
        <p15:guide id="37" orient="horz" pos="3312">
          <p15:clr>
            <a:srgbClr val="F26B43"/>
          </p15:clr>
        </p15:guide>
        <p15:guide id="38" orient="horz" pos="3456">
          <p15:clr>
            <a:srgbClr val="F26B43"/>
          </p15:clr>
        </p15:guide>
        <p15:guide id="39" orient="horz" pos="3600">
          <p15:clr>
            <a:srgbClr val="F26B43"/>
          </p15:clr>
        </p15:guide>
        <p15:guide id="40" orient="horz" pos="3744">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2" pos="894">
          <p15:clr>
            <a:srgbClr val="F26B43"/>
          </p15:clr>
        </p15:guide>
        <p15:guide id="63" pos="750">
          <p15:clr>
            <a:srgbClr val="F26B43"/>
          </p15:clr>
        </p15:guide>
        <p15:guide id="64" pos="1354">
          <p15:clr>
            <a:srgbClr val="F26B43"/>
          </p15:clr>
        </p15:guide>
        <p15:guide id="65" pos="1498">
          <p15:clr>
            <a:srgbClr val="F26B43"/>
          </p15:clr>
        </p15:guide>
        <p15:guide id="66" pos="1958">
          <p15:clr>
            <a:srgbClr val="F26B43"/>
          </p15:clr>
        </p15:guide>
        <p15:guide id="67" pos="2104">
          <p15:clr>
            <a:srgbClr val="F26B43"/>
          </p15:clr>
        </p15:guide>
        <p15:guide id="68" pos="2710">
          <p15:clr>
            <a:srgbClr val="F26B43"/>
          </p15:clr>
        </p15:guide>
        <p15:guide id="69" pos="2565">
          <p15:clr>
            <a:srgbClr val="F26B43"/>
          </p15:clr>
        </p15:guide>
        <p15:guide id="70" pos="3310">
          <p15:clr>
            <a:srgbClr val="F26B43"/>
          </p15:clr>
        </p15:guide>
        <p15:guide id="71" pos="3168">
          <p15:clr>
            <a:srgbClr val="F26B43"/>
          </p15:clr>
        </p15:guide>
        <p15:guide id="72" pos="3772">
          <p15:clr>
            <a:srgbClr val="F26B43"/>
          </p15:clr>
        </p15:guide>
        <p15:guide id="73" pos="3919">
          <p15:clr>
            <a:srgbClr val="F26B43"/>
          </p15:clr>
        </p15:guide>
        <p15:guide id="74" pos="4376">
          <p15:clr>
            <a:srgbClr val="F26B43"/>
          </p15:clr>
        </p15:guide>
        <p15:guide id="75" pos="4523">
          <p15:clr>
            <a:srgbClr val="F26B43"/>
          </p15:clr>
        </p15:guide>
        <p15:guide id="76" pos="5128">
          <p15:clr>
            <a:srgbClr val="F26B43"/>
          </p15:clr>
        </p15:guide>
        <p15:guide id="77" pos="4981">
          <p15:clr>
            <a:srgbClr val="F26B43"/>
          </p15:clr>
        </p15:guide>
        <p15:guide id="78" pos="5579">
          <p15:clr>
            <a:srgbClr val="F26B43"/>
          </p15:clr>
        </p15:guide>
        <p15:guide id="79" pos="5726">
          <p15:clr>
            <a:srgbClr val="F26B43"/>
          </p15:clr>
        </p15:guide>
        <p15:guide id="80" pos="6186">
          <p15:clr>
            <a:srgbClr val="F26B43"/>
          </p15:clr>
        </p15:guide>
        <p15:guide id="81" pos="6330">
          <p15:clr>
            <a:srgbClr val="F26B43"/>
          </p15:clr>
        </p15:guide>
        <p15:guide id="82" pos="6793">
          <p15:clr>
            <a:srgbClr val="F26B43"/>
          </p15:clr>
        </p15:guide>
        <p15:guide id="83" pos="693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azure.microsoft.com/ru-ru/updates?id=562569" TargetMode="External"/><Relationship Id="rId2" Type="http://schemas.openxmlformats.org/officeDocument/2006/relationships/hyperlink" Target="https://learn.microsoft.com/en-us/azure/defender-for-cloud/release-notes#sql-vulnerability-assessment-express-configuration-now-available-for-azure-sql-managed-instance-and-synapse-preview"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learn.microsoft.com/en-us/azure/defender-for-cloud/release-notes#scanning-support-for-docker-hardened-container-images-preview" TargetMode="External"/><Relationship Id="rId2" Type="http://schemas.openxmlformats.org/officeDocument/2006/relationships/hyperlink" Target="https://learn.microsoft.com/en-us/azure/defender-for-cloud/release-notes#malware-detection-for-eks-and-gke-nodes-preview"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techcommunity.microsoft.com/blog/microsoftdefendercloudblog/now-generally-available-microsoft-defender-for-open-source-relational-databases-/4514651" TargetMode="External"/><Relationship Id="rId2" Type="http://schemas.openxmlformats.org/officeDocument/2006/relationships/hyperlink" Target="https://learn.microsoft.com/en-us/azure/defender-for-cloud/release-notes#update-to-defender-for-sql-servers-on-machines-plan-for-fairfax-customers"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learn.microsoft.com/en-us/azure/defender-for-cloud/release-notes#general-availability-of-container-security-capabilities-in-azure-government-cloud" TargetMode="External"/><Relationship Id="rId2" Type="http://schemas.openxmlformats.org/officeDocument/2006/relationships/hyperlink" Target="https://learn.microsoft.com/en-us/azure/defender-for-cloud/release-notes#general-availability-of-defender-for-storage-integration-in-azure-portal-storage-center"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DNS%20Detection%20for%20Kubernetes%20is%20now%20generally%20available" TargetMode="External"/><Relationship Id="rId2" Type="http://schemas.openxmlformats.org/officeDocument/2006/relationships/hyperlink" Target="https://learn.microsoft.com/en-us/azure/defender-for-cloud/release-notes#anti-malware-detection-and-blocking-is-now-generally-available"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learn.microsoft.com/en-us/azure/defender-for-cloud/release-notes#defender-for-containers-runtime-protection-on-eks-bottlerocket-is-now-generally-available" TargetMode="External"/><Relationship Id="rId2" Type="http://schemas.openxmlformats.org/officeDocument/2006/relationships/hyperlink" Target="https://learn.microsoft.com/en-us/azure/defender-for-cloud/release-notes#general-availability-of-microsoft-defender-for-cloud-and-github-advanced-security-integration"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learn.microsoft.com/en-us/azure/defender-for-cloud/release-notes#general-availability-of-defender-for-cloud-integration-into-the-defender-portal" TargetMode="External"/><Relationship Id="rId2" Type="http://schemas.openxmlformats.org/officeDocument/2006/relationships/hyperlink" Target="https://learn.microsoft.com/en-us/azure/defender-for-cloud/release-notes#daily-score-calculation-enhancement-for-risk-based-cloud-secure-score"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learn.microsoft.com/en-us/azure/defender-for-cloud/release-notes#general-availability-of-on-demand-malware-scanning-of-azure-files-in-microsoft-defender-for-storage" TargetMode="External"/><Relationship Id="rId2" Type="http://schemas.openxmlformats.org/officeDocument/2006/relationships/hyperlink" Target="https://learn.microsoft.com/en-us/entra/fundamentals/whats-new#public-preview---automate-setting-or-clearing-user-attributes-values-in-lifecycle-workflows"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learn.microsoft.com/en-us/entra/fundamentals/whats-new#public-preview---enable-soft-delete-for-microsoft-entra-device-objects" TargetMode="External"/><Relationship Id="rId2" Type="http://schemas.openxmlformats.org/officeDocument/2006/relationships/hyperlink" Target="https://learn.microsoft.com/en-us/entra/fundamentals/whats-new#public-preview---sensitivity-labels-for-microsoft-entra-security-groups"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learn.microsoft.com/en-us/entra/fundamentals/whats-new#general-availability---manage-agent-id-sponsorship-lifecycle-with-lifecycle-workflows" TargetMode="External"/><Relationship Id="rId2" Type="http://schemas.openxmlformats.org/officeDocument/2006/relationships/hyperlink" Target="https://learn.microsoft.com/en-us/entra/fundamentals/whats-new#expanded-policy-storage-for-passkeys-fido2-in-microsoft-entra-id"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learn.microsoft.com/en-us/entra/fundamentals/whats-new#general-availability---high-scale-compatibility-hsc-mode-for-microsoft-entra-external-id" TargetMode="External"/><Relationship Id="rId2" Type="http://schemas.openxmlformats.org/officeDocument/2006/relationships/hyperlink" Target="https://learn.microsoft.com/en-us/entra/fundamentals/whats-new#general-availability---system-preferred-authentication-expanded-to-first-factor-in-microsoft-entra-id"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learn.microsoft.com/en-us/entra/fundamentals/whats-new#general-availability---support-for-passkeys-in-microsoft-entra-id-registration-campaign" TargetMode="External"/><Relationship Id="rId2" Type="http://schemas.openxmlformats.org/officeDocument/2006/relationships/hyperlink" Target="https://learn.microsoft.com/en-us/entra/fundamentals/whats-new#general-availability---modernized-my-account-pages"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s://learn.microsoft.com/en-us/entra/fundamentals/whats-new#general-availability---cross-tenant-group-synchronization" TargetMode="External"/><Relationship Id="rId2" Type="http://schemas.openxmlformats.org/officeDocument/2006/relationships/hyperlink" Target="https://learn.microsoft.com/en-us/entra/fundamentals/whats-new#general-availability---account-discovery"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azure.microsoft.com/ru-ru/updates?id=565286" TargetMode="External"/><Relationship Id="rId2" Type="http://schemas.openxmlformats.org/officeDocument/2006/relationships/hyperlink" Target="https://azure.microsoft.com/ru-ru/updates?id=564759"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techcommunity.microsoft.com/blog/azureconfidentialcomputingblog/announcing-confidential-live-migration-in-azure/4524558" TargetMode="External"/><Relationship Id="rId2" Type="http://schemas.openxmlformats.org/officeDocument/2006/relationships/hyperlink" Target="https://techcommunity.microsoft.com/blog/reliability-and-resiliency-in-azure/protect-azure-cosmos-db-with-vaulted-backups-using-azure-backup-public-preview/4522714"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https://azure.microsoft.com/ru-ru/updates?id=561978" TargetMode="External"/><Relationship Id="rId2" Type="http://schemas.openxmlformats.org/officeDocument/2006/relationships/hyperlink" Target="https://azure.microsoft.com/ru-ru/updates?id=565159"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hyperlink" Target="https://azure.microsoft.com/ru-ru/updates?id=565090" TargetMode="External"/><Relationship Id="rId2" Type="http://schemas.openxmlformats.org/officeDocument/2006/relationships/hyperlink" Target="https://azure.microsoft.com/ru-ru/updates?id=564802"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hyperlink" Target="https://azure.microsoft.com/ru-ru/updates?id=562554" TargetMode="External"/><Relationship Id="rId2" Type="http://schemas.openxmlformats.org/officeDocument/2006/relationships/hyperlink" Target="https://azure.microsoft.com/ru-ru/updates?id=561984" TargetMode="Externa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hyperlink" Target="https://azure.microsoft.com/ru-ru/updates?id=564563" TargetMode="Externa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azure.microsoft.com/ru-ru/updates?id=562502" TargetMode="External"/><Relationship Id="rId2" Type="http://schemas.openxmlformats.org/officeDocument/2006/relationships/hyperlink" Target="https://azure.microsoft.com/ru-ru/updates?id=562442" TargetMode="Externa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hyperlink" Target="https://azure.microsoft.com/ru-ru/updates?id=562482" TargetMode="External"/><Relationship Id="rId2" Type="http://schemas.openxmlformats.org/officeDocument/2006/relationships/hyperlink" Target="https://azure.microsoft.com/ru-ru/updates?id=564451" TargetMode="Externa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hyperlink" Target="https://azure.microsoft.com/ru-ru/updates?id=562924" TargetMode="External"/><Relationship Id="rId2" Type="http://schemas.openxmlformats.org/officeDocument/2006/relationships/hyperlink" Target="https://azure.microsoft.com/ru-ru/updates?id=562929" TargetMode="Externa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hyperlink" Target="https://azure.microsoft.com/ru-ru/updates?id=564863" TargetMode="External"/><Relationship Id="rId2" Type="http://schemas.openxmlformats.org/officeDocument/2006/relationships/hyperlink" Target="https://azure.microsoft.com/ru-ru/updates?id=564543" TargetMode="Externa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hyperlink" Target="https://azure.microsoft.com/ru-ru/updates?id=564981" TargetMode="External"/><Relationship Id="rId2" Type="http://schemas.openxmlformats.org/officeDocument/2006/relationships/hyperlink" Target="https://blogs.windows.com/windowsdeveloper/2026/06/02/build-2026-furthering-windows-as-the-trusted-platform-for-development/" TargetMode="Externa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hyperlink" Target="https://azure.microsoft.com/ru-ru/updates?id=564446" TargetMode="Externa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hyperlink" Target="https://azure.microsoft.com/ru-ru/updates?id=562099" TargetMode="External"/><Relationship Id="rId2" Type="http://schemas.openxmlformats.org/officeDocument/2006/relationships/hyperlink" Target="https://azure.microsoft.com/ru-ru/updates?id=562647" TargetMode="Externa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hyperlink" Target="https://azure.microsoft.com/ru-ru/updates?id=562492" TargetMode="External"/><Relationship Id="rId2" Type="http://schemas.openxmlformats.org/officeDocument/2006/relationships/hyperlink" Target="https://azure.microsoft.com/ru-ru/updates?id=562559" TargetMode="Externa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hyperlink" Target="https://azure.microsoft.com/ru-ru/updates?id=564537" TargetMode="External"/><Relationship Id="rId2" Type="http://schemas.openxmlformats.org/officeDocument/2006/relationships/hyperlink" Target="https://azure.microsoft.com/ru-ru/updates?id=562904" TargetMode="Externa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hyperlink" Target="https://azure.microsoft.com/ru-ru/updates?id=562919" TargetMode="External"/><Relationship Id="rId2" Type="http://schemas.openxmlformats.org/officeDocument/2006/relationships/hyperlink" Target="https://azure.microsoft.com/ru-ru/updates?id=562564" TargetMode="Externa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hyperlink" Target="https://azure.microsoft.com/ru-ru/updates?id=562868" TargetMode="External"/><Relationship Id="rId2" Type="http://schemas.openxmlformats.org/officeDocument/2006/relationships/hyperlink" Target="https://azure.microsoft.com/ru-ru/updates?id=562365" TargetMode="Externa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hyperlink" Target="https://azure.microsoft.com/ru-ru/updates?id=560810" TargetMode="External"/><Relationship Id="rId2" Type="http://schemas.openxmlformats.org/officeDocument/2006/relationships/hyperlink" Target="https://azure.microsoft.com/ru-ru/updates?id=564849" TargetMode="Externa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techcommunity.microsoft.com/blog/windows-itpro-blog/teams-remote-app-cloud-app-optimization-for-windows-365-and-azure-virtual-deskto/4515930" TargetMode="External"/><Relationship Id="rId1" Type="http://schemas.openxmlformats.org/officeDocument/2006/relationships/slideLayout" Target="../slideLayouts/slideLayout7.xml"/><Relationship Id="rId4" Type="http://schemas.openxmlformats.org/officeDocument/2006/relationships/hyperlink" Target="https://techcommunity.microsoft.com/blog/azurenetworkingblog/pod-cidr-expansion-generally-available-and-ip-address-planning-on-azure-cni-over/4521700" TargetMode="External"/></Relationships>
</file>

<file path=ppt/slides/_rels/slide37.xml.rels><?xml version="1.0" encoding="UTF-8" standalone="yes"?>
<Relationships xmlns="http://schemas.openxmlformats.org/package/2006/relationships"><Relationship Id="rId3" Type="http://schemas.openxmlformats.org/officeDocument/2006/relationships/hyperlink" Target="https://quantum.microsoft.com/en-us/insights/blogs/majorana-2-scalable-quantum-processor" TargetMode="External"/><Relationship Id="rId2" Type="http://schemas.openxmlformats.org/officeDocument/2006/relationships/hyperlink" Target="https://azure.microsoft.com/ru-ru/updates?id=562511" TargetMode="Externa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2" Type="http://schemas.openxmlformats.org/officeDocument/2006/relationships/hyperlink" Target="https://azure.microsoft.com/ru-ru/updates?id=564735" TargetMode="Externa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azure.microsoft.com/ru-ru/updates?id=565062" TargetMode="Externa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azure.microsoft.com/ru-ru/updates?id=562774" TargetMode="External"/><Relationship Id="rId2" Type="http://schemas.openxmlformats.org/officeDocument/2006/relationships/hyperlink" Target="https://azure.microsoft.com/ru-ru/updates?id=563027" TargetMode="Externa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azure.microsoft.com/ru-ru/updates?id=562976" TargetMode="Externa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hyperlink" Target="https://azure.microsoft.com/ru-ru/updates?id=562794" TargetMode="External"/></Relationships>
</file>

<file path=ppt/slides/_rels/slide44.xml.rels><?xml version="1.0" encoding="UTF-8" standalone="yes"?>
<Relationships xmlns="http://schemas.openxmlformats.org/package/2006/relationships"><Relationship Id="rId3" Type="http://schemas.openxmlformats.org/officeDocument/2006/relationships/hyperlink" Target="https://devblogs.microsoft.com/cosmosdb/azure-cosmos-db-migration-assistant-rdbms-to-nosql-public-preview/" TargetMode="External"/><Relationship Id="rId2" Type="http://schemas.openxmlformats.org/officeDocument/2006/relationships/hyperlink" Target="https://devblogs.microsoft.com/cosmosdb/announcing-the-public-preview-of-integrated-embeddings-in-azure-cosmos-db-build-ai-apps-with-embeddings-that-stay-in-sync/" TargetMode="Externa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hyperlink" Target="https://devblogs.microsoft.com/cosmosdb/announcing-the-public-preview-of-semantic-reranker-in-azure-cosmos-db-for-nosql/" TargetMode="External"/><Relationship Id="rId2" Type="http://schemas.openxmlformats.org/officeDocument/2006/relationships/hyperlink" Target="https://azure.microsoft.com/ru-ru/updates?id=563067" TargetMode="Externa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46.xml.rels><?xml version="1.0" encoding="UTF-8" standalone="yes"?>
<Relationships xmlns="http://schemas.openxmlformats.org/package/2006/relationships"><Relationship Id="rId3" Type="http://schemas.openxmlformats.org/officeDocument/2006/relationships/hyperlink" Target="https://azure.microsoft.com/ru-ru/updates?id=563786" TargetMode="External"/><Relationship Id="rId2" Type="http://schemas.openxmlformats.org/officeDocument/2006/relationships/hyperlink" Target="https://azure.microsoft.com/ru-ru/updates?id=563781" TargetMode="Externa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hyperlink" Target="https://azure.microsoft.com/ru-ru/updates?id=563776" TargetMode="External"/><Relationship Id="rId2" Type="http://schemas.openxmlformats.org/officeDocument/2006/relationships/hyperlink" Target="https://azure.microsoft.com/ru-ru/updates?id=563087" TargetMode="Externa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hyperlink" Target="https://azure.microsoft.com/ru-ru/updates?id=563107" TargetMode="External"/><Relationship Id="rId2" Type="http://schemas.openxmlformats.org/officeDocument/2006/relationships/hyperlink" Target="https://azure.microsoft.com/ru-ru/updates?id=563102" TargetMode="Externa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hyperlink" Target="https://azure.microsoft.com/ru-ru/updates?id=565182" TargetMode="Externa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hyperlink" Target="https://azure.microsoft.com/ru-ru/updates?id=563122" TargetMode="External"/><Relationship Id="rId2" Type="http://schemas.openxmlformats.org/officeDocument/2006/relationships/hyperlink" Target="https://azure.microsoft.com/ru-ru/updates?id=563077" TargetMode="Externa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hyperlink" Target="https://techcommunity.microsoft.com/blog/azuresqlblog/transparent-data-encryption-in-azure-sql-database-now-supports-aes-keys-public-p/4523240" TargetMode="Externa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hyperlink" Target="https://azure.microsoft.com/ru-ru/updates?id=562799" TargetMode="External"/><Relationship Id="rId2" Type="http://schemas.openxmlformats.org/officeDocument/2006/relationships/hyperlink" Target="https://azure.microsoft.com/ru-ru/updates?id=563017" TargetMode="Externa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hyperlink" Target="https://azure.microsoft.com/ru-ru/updates?id=562754" TargetMode="External"/><Relationship Id="rId2" Type="http://schemas.openxmlformats.org/officeDocument/2006/relationships/hyperlink" Target="https://azure.microsoft.com/ru-ru/updates?id=563042" TargetMode="Externa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54.xml.rels><?xml version="1.0" encoding="UTF-8" standalone="yes"?>
<Relationships xmlns="http://schemas.openxmlformats.org/package/2006/relationships"><Relationship Id="rId3" Type="http://schemas.openxmlformats.org/officeDocument/2006/relationships/hyperlink" Target="https://devblogs.microsoft.com/cosmosdb/azure-cosmos-db-mcp-toolkit-is-now-generally-available-bringing-your-database-to-ai-agents-at-scale/" TargetMode="External"/><Relationship Id="rId2" Type="http://schemas.openxmlformats.org/officeDocument/2006/relationships/hyperlink" Target="https://devblogs.microsoft.com/cosmosdb/azure-cosmos-db-all-versions-and-deletes-change-feed-mode-is-now-generally-available/" TargetMode="Externa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hyperlink" Target="https://azure.microsoft.com/ru-ru/updates?id=563057" TargetMode="External"/><Relationship Id="rId2" Type="http://schemas.openxmlformats.org/officeDocument/2006/relationships/hyperlink" Target="https://azure.microsoft.com/ru-ru/updates?id=563072" TargetMode="Externa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hyperlink" Target="https://azure.microsoft.com/ru-ru/updates?id=563082" TargetMode="External"/><Relationship Id="rId2" Type="http://schemas.openxmlformats.org/officeDocument/2006/relationships/hyperlink" Target="https://azure.microsoft.com/ru-ru/updates?id=563062" TargetMode="Externa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hyperlink" Target="https://azure.microsoft.com/ru-ru/updates?id=563791" TargetMode="External"/><Relationship Id="rId2" Type="http://schemas.openxmlformats.org/officeDocument/2006/relationships/hyperlink" Target="https://azure.microsoft.com/ru-ru/updates?id=563771" TargetMode="Externa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hyperlink" Target="https://azure.microsoft.com/ru-ru/updates?id=563092" TargetMode="External"/><Relationship Id="rId2" Type="http://schemas.openxmlformats.org/officeDocument/2006/relationships/hyperlink" Target="https://azure.microsoft.com/ru-ru/updates?id=563127" TargetMode="Externa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hyperlink" Target="https://azure.microsoft.com/ru-ru/updates?id=563147" TargetMode="External"/><Relationship Id="rId2" Type="http://schemas.openxmlformats.org/officeDocument/2006/relationships/hyperlink" Target="https://azure.microsoft.com/ru-ru/updates?id=563132" TargetMode="Externa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hyperlink" Target="https://azure.microsoft.com/ru-ru/updates?id=563152" TargetMode="Externa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hyperlink" Target="https://azure.microsoft.com/ru-ru/updates?id=562885" TargetMode="External"/><Relationship Id="rId2" Type="http://schemas.openxmlformats.org/officeDocument/2006/relationships/hyperlink" Target="https://azure.microsoft.com/ru-ru/updates?id=563451" TargetMode="Externa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hyperlink" Target="https://azure.microsoft.com/ru-ru/updates?id=562843" TargetMode="External"/><Relationship Id="rId2" Type="http://schemas.openxmlformats.org/officeDocument/2006/relationships/hyperlink" Target="https://azure.microsoft.com/ru-ru/updates?id=562858" TargetMode="Externa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hyperlink" Target="https://azure.microsoft.com/ru-ru/updates?id=562880" TargetMode="External"/><Relationship Id="rId2" Type="http://schemas.openxmlformats.org/officeDocument/2006/relationships/hyperlink" Target="https://azure.microsoft.com/ru-ru/updates?id=562848" TargetMode="Externa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hyperlink" Target="https://azure.microsoft.com/ru-ru/updates?id=564532" TargetMode="External"/><Relationship Id="rId2" Type="http://schemas.openxmlformats.org/officeDocument/2006/relationships/hyperlink" Target="https://azure.microsoft.com/ru-ru/updates?id=562914" TargetMode="Externa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hyperlink" Target="https://azure.microsoft.com/ru-ru/updates?id=563227" TargetMode="External"/><Relationship Id="rId2" Type="http://schemas.openxmlformats.org/officeDocument/2006/relationships/hyperlink" Target="https://azure.microsoft.com/ru-ru/updates?id=563237" TargetMode="Externa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hyperlink" Target="https://azure.microsoft.com/ru-ru/updates?id=563396" TargetMode="External"/><Relationship Id="rId2" Type="http://schemas.openxmlformats.org/officeDocument/2006/relationships/hyperlink" Target="https://azure.microsoft.com/ru-ru/updates?id=563411" TargetMode="Externa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hyperlink" Target="https://azure.microsoft.com/ru-ru/updates?id=563456" TargetMode="External"/><Relationship Id="rId2" Type="http://schemas.openxmlformats.org/officeDocument/2006/relationships/hyperlink" Target="https://azure.microsoft.com/ru-ru/updates?id=563586" TargetMode="Externa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hyperlink" Target="https://azure.microsoft.com/ru-ru/updates?id=563606" TargetMode="External"/><Relationship Id="rId2" Type="http://schemas.openxmlformats.org/officeDocument/2006/relationships/hyperlink" Target="https://azure.microsoft.com/ru-ru/updates?id=563426" TargetMode="Externa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hyperlink" Target="https://azure.microsoft.com/ru-ru/updates?id=563596" TargetMode="External"/><Relationship Id="rId2" Type="http://schemas.openxmlformats.org/officeDocument/2006/relationships/hyperlink" Target="https://azure.microsoft.com/ru-ru/updates?id=563616" TargetMode="Externa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hyperlink" Target="https://azure.microsoft.com/ru-ru/updates?id=562939" TargetMode="External"/><Relationship Id="rId2" Type="http://schemas.openxmlformats.org/officeDocument/2006/relationships/hyperlink" Target="https://azure.microsoft.com/ru-ru/updates?id=563591" TargetMode="Externa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hyperlink" Target="https://azure.microsoft.com/ru-ru/updates?id=563636" TargetMode="External"/><Relationship Id="rId2" Type="http://schemas.openxmlformats.org/officeDocument/2006/relationships/hyperlink" Target="https://azure.microsoft.com/ru-ru/updates?id=563167" TargetMode="Externa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hyperlink" Target="https://azure.microsoft.com/ru-ru/updates?id=563197" TargetMode="External"/><Relationship Id="rId2" Type="http://schemas.openxmlformats.org/officeDocument/2006/relationships/hyperlink" Target="https://azure.microsoft.com/ru-ru/updates?id=563431" TargetMode="Externa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hyperlink" Target="https://azure.microsoft.com/ru-ru/updates?id=563506" TargetMode="External"/><Relationship Id="rId2" Type="http://schemas.openxmlformats.org/officeDocument/2006/relationships/hyperlink" Target="https://azure.microsoft.com/ru-ru/updates?id=564176" TargetMode="Externa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hyperlink" Target="https://azure.microsoft.com/ru-ru/updates?id=563416" TargetMode="External"/><Relationship Id="rId2" Type="http://schemas.openxmlformats.org/officeDocument/2006/relationships/hyperlink" Target="https://devblogs.microsoft.com/cosmosdb/introducing-omnivec-an-open-source-embedding-platform-for-ai-apps-on-azure/" TargetMode="Externa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hyperlink" Target="https://azure.microsoft.com/ru-ru/updates?id=563446" TargetMode="External"/><Relationship Id="rId2" Type="http://schemas.openxmlformats.org/officeDocument/2006/relationships/hyperlink" Target="https://azure.microsoft.com/ru-ru/updates?id=563262" TargetMode="Externa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hyperlink" Target="https://azure.microsoft.com/ru-ru/updates?id=563661" TargetMode="External"/><Relationship Id="rId2" Type="http://schemas.openxmlformats.org/officeDocument/2006/relationships/hyperlink" Target="https://azure.microsoft.com/ru-ru/updates?id=563526" TargetMode="Externa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hyperlink" Target="https://azure.microsoft.com/ru-ru/updates?id=562487" TargetMode="External"/><Relationship Id="rId2" Type="http://schemas.openxmlformats.org/officeDocument/2006/relationships/hyperlink" Target="https://azure.microsoft.com/ru-ru/updates?id=563217" TargetMode="Externa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hyperlink" Target="https://azure.microsoft.com/ru-ru/updates?id=563696" TargetMode="External"/><Relationship Id="rId2" Type="http://schemas.openxmlformats.org/officeDocument/2006/relationships/hyperlink" Target="https://azure.microsoft.com/ru-ru/updates?id=563731" TargetMode="Externa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hyperlink" Target="https://azure.microsoft.com/ru-ru/updates?id=564241" TargetMode="External"/><Relationship Id="rId2" Type="http://schemas.openxmlformats.org/officeDocument/2006/relationships/hyperlink" Target="https://azure.microsoft.com/ru-ru/updates?id=563656" TargetMode="Externa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hyperlink" Target="https://techcommunity.microsoft.com/blog/iotblog/azure-sphere-os-version-26-06-is-now-available/4524885" TargetMode="Externa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hyperlink" Target="https://azure.microsoft.com/ru-ru/updates?id=563212" TargetMode="External"/><Relationship Id="rId2" Type="http://schemas.openxmlformats.org/officeDocument/2006/relationships/hyperlink" Target="https://azure.microsoft.com/ru-ru/updates?id=563242" TargetMode="Externa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hyperlink" Target="https://azure.microsoft.com/ru-ru/updates?id=563247" TargetMode="External"/><Relationship Id="rId2" Type="http://schemas.openxmlformats.org/officeDocument/2006/relationships/hyperlink" Target="https://azure.microsoft.com/ru-ru/updates?id=563257" TargetMode="Externa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hyperlink" Target="https://azure.microsoft.com/ru-ru/updates?id=563307" TargetMode="External"/><Relationship Id="rId2" Type="http://schemas.openxmlformats.org/officeDocument/2006/relationships/hyperlink" Target="https://azure.microsoft.com/ru-ru/updates?id=563361" TargetMode="Externa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hyperlink" Target="https://azure.microsoft.com/ru-ru/updates?id=564402" TargetMode="External"/><Relationship Id="rId2" Type="http://schemas.openxmlformats.org/officeDocument/2006/relationships/hyperlink" Target="https://azure.microsoft.com/ru-ru/updates?id=563601" TargetMode="Externa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hyperlink" Target="https://azure.microsoft.com/ru-ru/updates?id=563671" TargetMode="External"/><Relationship Id="rId2" Type="http://schemas.openxmlformats.org/officeDocument/2006/relationships/hyperlink" Target="https://azure.microsoft.com/ru-ru/updates?id=563516" TargetMode="Externa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hyperlink" Target="https://azure.microsoft.com/ru-ru/updates?id=563436" TargetMode="External"/><Relationship Id="rId2" Type="http://schemas.openxmlformats.org/officeDocument/2006/relationships/hyperlink" Target="https://azure.microsoft.com/ru-ru/updates?id=563282" TargetMode="Externa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hyperlink" Target="https://azure.microsoft.com/ru-ru/updates?id=563341" TargetMode="External"/><Relationship Id="rId2" Type="http://schemas.openxmlformats.org/officeDocument/2006/relationships/hyperlink" Target="https://azure.microsoft.com/ru-ru/updates?id=564387" TargetMode="Externa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hyperlink" Target="https://azure.microsoft.com/ru-ru/updates?id=564407" TargetMode="External"/><Relationship Id="rId2" Type="http://schemas.openxmlformats.org/officeDocument/2006/relationships/hyperlink" Target="https://azure.microsoft.com/ru-ru/updates?id=564412" TargetMode="Externa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hyperlink" Target="https://azure.microsoft.com/ru-ru/updates?id=564431" TargetMode="External"/><Relationship Id="rId2" Type="http://schemas.openxmlformats.org/officeDocument/2006/relationships/hyperlink" Target="https://azure.microsoft.com/ru-ru/updates?id=564422" TargetMode="Externa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hyperlink" Target="https://azure.microsoft.com/ru-ru/updates?id=563491" TargetMode="External"/><Relationship Id="rId2" Type="http://schemas.openxmlformats.org/officeDocument/2006/relationships/hyperlink" Target="https://azure.microsoft.com/ru-ru/updates?id=563222" TargetMode="Externa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hyperlink" Target="https://azure.microsoft.com/ru-ru/updates?id=563721" TargetMode="External"/><Relationship Id="rId2" Type="http://schemas.openxmlformats.org/officeDocument/2006/relationships/hyperlink" Target="https://azure.microsoft.com/en-us/blog/announcing-microsoft-discovery-general-availability-and-microsoft-discovery-app-preview/" TargetMode="Externa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hyperlink" Target="https://azure.microsoft.com/ru-ru/updates?id=562863" TargetMode="External"/><Relationship Id="rId2" Type="http://schemas.openxmlformats.org/officeDocument/2006/relationships/hyperlink" Target="https://techcommunity.microsoft.com/blog/appsonazureblog/regional-endpoints-for-azure-container-registry-geo-replication-%E2%80%94-now-in-public-/4525717" TargetMode="Externa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hyperlink" Target="https://azure.microsoft.com/ru-ru/updates?id=563172" TargetMode="Externa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3" Type="http://schemas.openxmlformats.org/officeDocument/2006/relationships/hyperlink" Target="https://azure.microsoft.com/ru-ru/updates?id=563192" TargetMode="External"/><Relationship Id="rId2" Type="http://schemas.openxmlformats.org/officeDocument/2006/relationships/hyperlink" Target="https://azure.microsoft.com/ru-ru/updates?id=563326" TargetMode="Externa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hyperlink" Target="https://azure.microsoft.com/ru-ru/updates?id=563736" TargetMode="External"/><Relationship Id="rId2" Type="http://schemas.openxmlformats.org/officeDocument/2006/relationships/hyperlink" Target="https://devblogs.microsoft.com/commandline/announcing-intelligent-terminal-version-0-1/" TargetMode="Externa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hyperlink" Target="https://azure.microsoft.com/ru-ru/updates?id=563187" TargetMode="Externa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hyperlink" Target="https://azure.microsoft.com/ru-ru/updates?id=562733" TargetMode="Externa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hyperlink" Target="https://github.com/azureTimes" TargetMode="Externa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81666" y="1200151"/>
            <a:ext cx="8458200" cy="2228850"/>
          </a:xfrm>
        </p:spPr>
        <p:txBody>
          <a:bodyPr/>
          <a:lstStyle/>
          <a:p>
            <a:r>
              <a:rPr lang="en-US" sz="5400" dirty="0"/>
              <a:t>Azure Times #209</a:t>
            </a:r>
          </a:p>
        </p:txBody>
      </p:sp>
      <p:sp>
        <p:nvSpPr>
          <p:cNvPr id="4" name="Text Placeholder 3"/>
          <p:cNvSpPr>
            <a:spLocks noGrp="1"/>
          </p:cNvSpPr>
          <p:nvPr>
            <p:ph type="body" sz="quarter" idx="11"/>
          </p:nvPr>
        </p:nvSpPr>
        <p:spPr/>
        <p:txBody>
          <a:bodyPr/>
          <a:lstStyle/>
          <a:p>
            <a:r>
              <a:rPr lang="en-US" spc="300" dirty="0"/>
              <a:t>June 8, 2026</a:t>
            </a:r>
          </a:p>
        </p:txBody>
      </p:sp>
      <p:sp>
        <p:nvSpPr>
          <p:cNvPr id="3" name="TextBox 2">
            <a:extLst>
              <a:ext uri="{FF2B5EF4-FFF2-40B4-BE49-F238E27FC236}">
                <a16:creationId xmlns:a16="http://schemas.microsoft.com/office/drawing/2014/main" id="{ED924944-231A-274C-AB8B-3C574947B123}"/>
              </a:ext>
            </a:extLst>
          </p:cNvPr>
          <p:cNvSpPr txBox="1"/>
          <p:nvPr/>
        </p:nvSpPr>
        <p:spPr>
          <a:xfrm>
            <a:off x="539318" y="4887158"/>
            <a:ext cx="0" cy="0"/>
          </a:xfrm>
          <a:prstGeom prst="rect">
            <a:avLst/>
          </a:prstGeom>
          <a:noFill/>
        </p:spPr>
        <p:txBody>
          <a:bodyPr wrap="none" lIns="0" tIns="0" rIns="0" bIns="0" rtlCol="0">
            <a:noAutofit/>
          </a:bodyPr>
          <a:lstStyle/>
          <a:p>
            <a:pPr>
              <a:lnSpc>
                <a:spcPct val="110000"/>
              </a:lnSpc>
              <a:spcBef>
                <a:spcPts val="450"/>
              </a:spcBef>
            </a:pPr>
            <a:endParaRPr lang="en-US" sz="900" err="1">
              <a:ea typeface="Human Sans" charset="0"/>
              <a:cs typeface="Human Sans" charset="0"/>
            </a:endParaRPr>
          </a:p>
        </p:txBody>
      </p:sp>
    </p:spTree>
    <p:extLst>
      <p:ext uri="{BB962C8B-B14F-4D97-AF65-F5344CB8AC3E}">
        <p14:creationId xmlns:p14="http://schemas.microsoft.com/office/powerpoint/2010/main" val="44755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6271326" cy="1714500"/>
          </a:xfrm>
        </p:spPr>
        <p:txBody>
          <a:bodyPr/>
          <a:lstStyle/>
          <a:p>
            <a:r>
              <a:rPr lang="en-US" sz="4000" dirty="0"/>
              <a:t>Security &amp; Identity</a:t>
            </a:r>
          </a:p>
        </p:txBody>
      </p:sp>
    </p:spTree>
    <p:extLst>
      <p:ext uri="{BB962C8B-B14F-4D97-AF65-F5344CB8AC3E}">
        <p14:creationId xmlns:p14="http://schemas.microsoft.com/office/powerpoint/2010/main" val="3117920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SQL Vulnerability Assessment Express Configuration now available for Azure SQL Managed Instance and Synapse (Preview)</a:t>
            </a:r>
            <a:endParaRPr lang="en-US" sz="1000" dirty="0"/>
          </a:p>
          <a:p>
            <a:pPr algn="just"/>
            <a:r>
              <a:rPr lang="en-US" sz="1000" dirty="0"/>
              <a:t>SQL Vulnerability Assessment (VA) Express Configuration is now available in preview for Azure SQL Managed Instance and Azure Synapse Analytics Workspaces. This Microsoft-managed storage tool for vulnerability baselines and scan results extends the same experience already available for Azure SQL Database at no extra cost.</a:t>
            </a:r>
          </a:p>
          <a:p>
            <a:pPr algn="just"/>
            <a:r>
              <a:rPr lang="en-US" sz="1000" dirty="0"/>
              <a:t>With this release, customers using Azure SQL Managed Instances or Synapse Workspaces can now enable SQL VA without configuring a customer-managed storage account. Express Configuration is the recommended enablement mode and provides the same security value as Classic Configuration (customer-managed storage), with a simplified setup experience.</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Microsoft Defender for Cloud</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Microsoft Defender for Cloud support for Azure Container Apps (Serverless Containers Posture)</a:t>
            </a:r>
            <a:endParaRPr lang="en-US" dirty="0"/>
          </a:p>
          <a:p>
            <a:pPr algn="just"/>
            <a:r>
              <a:rPr lang="en-US" b="1" dirty="0"/>
              <a:t>Microsoft Defender for Cloud</a:t>
            </a:r>
            <a:r>
              <a:rPr lang="en-US" dirty="0"/>
              <a:t> now supports </a:t>
            </a:r>
            <a:r>
              <a:rPr lang="en-US" b="1" dirty="0"/>
              <a:t>Azure Container Apps</a:t>
            </a:r>
            <a:r>
              <a:rPr lang="en-US" dirty="0"/>
              <a:t> within its </a:t>
            </a:r>
            <a:r>
              <a:rPr lang="en-US" b="1" dirty="0"/>
              <a:t>Serverless Containers Posture Management</a:t>
            </a:r>
            <a:r>
              <a:rPr lang="en-US" dirty="0"/>
              <a:t> experience, providing security teams with centralized visibility and governance across their serverless container environments. Organizations can now assess Container Apps resources for security risks related to </a:t>
            </a:r>
            <a:r>
              <a:rPr lang="en-US" b="1" dirty="0"/>
              <a:t>identity, networking, container configuration, and container image security</a:t>
            </a:r>
            <a:r>
              <a:rPr lang="en-US" dirty="0"/>
              <a:t> from a single security management workflow.</a:t>
            </a:r>
          </a:p>
          <a:p>
            <a:pPr algn="just"/>
            <a:r>
              <a:rPr lang="en-US" dirty="0"/>
              <a:t>The integration enables consistent security posture assessment across container platforms and leverages </a:t>
            </a:r>
            <a:r>
              <a:rPr lang="en-US" b="1" dirty="0"/>
              <a:t>attack path analysis</a:t>
            </a:r>
            <a:r>
              <a:rPr lang="en-US" dirty="0"/>
              <a:t> to identify potential exposure and security weaknesses more quickly. By bringing Azure Container Apps into the broader Defender for Cloud posture management framework, organizations gain improved visibility, reduced operational effort, and stronger governance for business-critical containerized applications.</a:t>
            </a:r>
          </a:p>
          <a:p>
            <a:pPr algn="just"/>
            <a:r>
              <a:rPr lang="en-US" dirty="0"/>
              <a:t>This enhancement helps security teams apply a unified security strategy across Kubernetes, serverless containers, and Azure-native container services while improving compliance and reducing risk.</a:t>
            </a:r>
          </a:p>
          <a:p>
            <a:pPr algn="just"/>
            <a:endParaRPr lang="en-US" dirty="0"/>
          </a:p>
        </p:txBody>
      </p:sp>
    </p:spTree>
    <p:extLst>
      <p:ext uri="{BB962C8B-B14F-4D97-AF65-F5344CB8AC3E}">
        <p14:creationId xmlns:p14="http://schemas.microsoft.com/office/powerpoint/2010/main" val="493310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A4DBC1A-E90B-3C9A-AB28-D98FF9AD2C58}"/>
              </a:ext>
            </a:extLst>
          </p:cNvPr>
          <p:cNvSpPr>
            <a:spLocks noGrp="1"/>
          </p:cNvSpPr>
          <p:nvPr>
            <p:ph type="body" sz="quarter" idx="10"/>
          </p:nvPr>
        </p:nvSpPr>
        <p:spPr/>
        <p:txBody>
          <a:bodyPr/>
          <a:lstStyle/>
          <a:p>
            <a:r>
              <a:rPr lang="en-US" sz="1000" dirty="0">
                <a:hlinkClick r:id="rId2"/>
              </a:rPr>
              <a:t>Malware detection for EKS and GKE nodes (Preview)</a:t>
            </a:r>
            <a:endParaRPr lang="en-US" sz="1000" dirty="0"/>
          </a:p>
          <a:p>
            <a:r>
              <a:rPr lang="en-US" sz="1000" dirty="0"/>
              <a:t>Malware detection is now in preview for Amazon Elastic Kubernetes Service (EKS) nodes and Google Kubernetes Engine (GKE) nodes.</a:t>
            </a:r>
          </a:p>
          <a:p>
            <a:r>
              <a:rPr lang="en-US" sz="1000" dirty="0"/>
              <a:t>This update expands Kubernetes node malware coverage beyond Azure Kubernetes Service (AKS) so you can detect malware in more </a:t>
            </a:r>
            <a:r>
              <a:rPr lang="en-US" sz="1000" dirty="0" err="1"/>
              <a:t>multicloud</a:t>
            </a:r>
            <a:r>
              <a:rPr lang="en-US" sz="1000" dirty="0"/>
              <a:t> environments.</a:t>
            </a:r>
          </a:p>
        </p:txBody>
      </p:sp>
      <p:sp>
        <p:nvSpPr>
          <p:cNvPr id="3" name="Title 2">
            <a:extLst>
              <a:ext uri="{FF2B5EF4-FFF2-40B4-BE49-F238E27FC236}">
                <a16:creationId xmlns:a16="http://schemas.microsoft.com/office/drawing/2014/main" id="{36FD3F21-A370-3F7E-4FF5-D76853779D05}"/>
              </a:ext>
            </a:extLst>
          </p:cNvPr>
          <p:cNvSpPr>
            <a:spLocks noGrp="1"/>
          </p:cNvSpPr>
          <p:nvPr>
            <p:ph type="title"/>
          </p:nvPr>
        </p:nvSpPr>
        <p:spPr/>
        <p:txBody>
          <a:bodyPr/>
          <a:lstStyle/>
          <a:p>
            <a:r>
              <a:rPr lang="en-US" sz="1600" dirty="0"/>
              <a:t>Microsoft Defender for Cloud</a:t>
            </a:r>
            <a:endParaRPr lang="en-US" dirty="0"/>
          </a:p>
        </p:txBody>
      </p:sp>
      <p:sp>
        <p:nvSpPr>
          <p:cNvPr id="4" name="Text Placeholder 3">
            <a:extLst>
              <a:ext uri="{FF2B5EF4-FFF2-40B4-BE49-F238E27FC236}">
                <a16:creationId xmlns:a16="http://schemas.microsoft.com/office/drawing/2014/main" id="{6926F710-8D8B-A41E-4770-6EBBB3A7AE59}"/>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9AF361F1-1E81-6AD5-D79B-6040F11E0CB8}"/>
              </a:ext>
            </a:extLst>
          </p:cNvPr>
          <p:cNvSpPr>
            <a:spLocks noGrp="1"/>
          </p:cNvSpPr>
          <p:nvPr>
            <p:ph type="body" sz="quarter" idx="16"/>
          </p:nvPr>
        </p:nvSpPr>
        <p:spPr/>
        <p:txBody>
          <a:bodyPr/>
          <a:lstStyle/>
          <a:p>
            <a:pPr algn="just"/>
            <a:r>
              <a:rPr lang="en-US" dirty="0">
                <a:hlinkClick r:id="rId3"/>
              </a:rPr>
              <a:t>Scanning support for Docker Hardened container images (preview)</a:t>
            </a:r>
            <a:endParaRPr lang="en-US" dirty="0"/>
          </a:p>
          <a:p>
            <a:pPr algn="just"/>
            <a:r>
              <a:rPr lang="en-US" dirty="0"/>
              <a:t>Microsoft Defender for Cloud's vulnerability scanner, powered by Microsoft Defender Vulnerability Management, is extending its scanning coverage to Docker Hardened container images, and identify vulnerabilities in Docker Images to validate that they're shipping the most secure builds possible. As additional image types are being scanned, your bill might increase. The rollout of this change will occur gradually over several weeks and requires no user action.</a:t>
            </a:r>
          </a:p>
        </p:txBody>
      </p:sp>
    </p:spTree>
    <p:extLst>
      <p:ext uri="{BB962C8B-B14F-4D97-AF65-F5344CB8AC3E}">
        <p14:creationId xmlns:p14="http://schemas.microsoft.com/office/powerpoint/2010/main" val="2789754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4E758-0E9C-1A59-D8C1-58D462C9879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4EFDCEC-74D7-CC9F-3A0E-1009C7BB635B}"/>
              </a:ext>
            </a:extLst>
          </p:cNvPr>
          <p:cNvSpPr>
            <a:spLocks noGrp="1"/>
          </p:cNvSpPr>
          <p:nvPr>
            <p:ph type="body" sz="quarter" idx="10"/>
          </p:nvPr>
        </p:nvSpPr>
        <p:spPr>
          <a:xfrm>
            <a:off x="4433776" y="855080"/>
            <a:ext cx="4365038" cy="1579713"/>
          </a:xfrm>
        </p:spPr>
        <p:txBody>
          <a:bodyPr/>
          <a:lstStyle/>
          <a:p>
            <a:pPr algn="just"/>
            <a:r>
              <a:rPr lang="en-US" sz="1000" dirty="0">
                <a:hlinkClick r:id="rId2"/>
              </a:rPr>
              <a:t>Update to Defender for SQL servers on machines plan for Fairfax customers</a:t>
            </a:r>
            <a:endParaRPr lang="en-US" sz="1000" dirty="0"/>
          </a:p>
          <a:p>
            <a:pPr algn="just"/>
            <a:r>
              <a:rPr lang="en-US" sz="1000" dirty="0"/>
              <a:t>The Defender for SQL Server on machines plan in Microsoft Defender for Cloud protects SQL Server instances hosted on Azure, AWS, GCP, and on-premises machines.</a:t>
            </a:r>
          </a:p>
          <a:p>
            <a:pPr algn="just"/>
            <a:r>
              <a:rPr lang="en-US" sz="1000" dirty="0"/>
              <a:t>To simplify onboarding and improve protection coverage, MS is releasing an enhanced agent solution for Fairfax customers at the end of April. The new solution uses the existing SQL infrastructure, so you no longer need to deploy the Azure Monitor Agent (AMA).</a:t>
            </a:r>
          </a:p>
        </p:txBody>
      </p:sp>
      <p:sp>
        <p:nvSpPr>
          <p:cNvPr id="11" name="Title 10">
            <a:extLst>
              <a:ext uri="{FF2B5EF4-FFF2-40B4-BE49-F238E27FC236}">
                <a16:creationId xmlns:a16="http://schemas.microsoft.com/office/drawing/2014/main" id="{108EB9BC-7C8E-C179-D7B3-FA8C3832EAD4}"/>
              </a:ext>
            </a:extLst>
          </p:cNvPr>
          <p:cNvSpPr>
            <a:spLocks noGrp="1"/>
          </p:cNvSpPr>
          <p:nvPr>
            <p:ph type="title"/>
          </p:nvPr>
        </p:nvSpPr>
        <p:spPr/>
        <p:txBody>
          <a:bodyPr/>
          <a:lstStyle/>
          <a:p>
            <a:r>
              <a:rPr lang="en-US" sz="1800" dirty="0"/>
              <a:t>Microsoft Defender for Cloud</a:t>
            </a:r>
            <a:endParaRPr lang="en-US" dirty="0"/>
          </a:p>
        </p:txBody>
      </p:sp>
      <p:sp>
        <p:nvSpPr>
          <p:cNvPr id="13" name="Text Placeholder 12">
            <a:extLst>
              <a:ext uri="{FF2B5EF4-FFF2-40B4-BE49-F238E27FC236}">
                <a16:creationId xmlns:a16="http://schemas.microsoft.com/office/drawing/2014/main" id="{5B52A8BE-107A-17D0-9868-4A2D8C2F4337}"/>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6125CF61-DD31-42B7-98F6-ACEF3D4AB8DC}"/>
              </a:ext>
            </a:extLst>
          </p:cNvPr>
          <p:cNvSpPr>
            <a:spLocks noGrp="1"/>
          </p:cNvSpPr>
          <p:nvPr>
            <p:ph type="body" sz="quarter" idx="16"/>
          </p:nvPr>
        </p:nvSpPr>
        <p:spPr/>
        <p:txBody>
          <a:bodyPr/>
          <a:lstStyle/>
          <a:p>
            <a:pPr algn="just"/>
            <a:r>
              <a:rPr lang="en-US" dirty="0">
                <a:hlinkClick r:id="rId3"/>
              </a:rPr>
              <a:t>Generally Available: Microsoft Defender for open source relational databases on AWS RDS</a:t>
            </a:r>
            <a:endParaRPr lang="en-US" dirty="0"/>
          </a:p>
          <a:p>
            <a:r>
              <a:rPr lang="en-US" dirty="0"/>
              <a:t>Defender for open-source relational databases now provides GA support for security capabilities designed for enterprise cloud environments, including:</a:t>
            </a:r>
          </a:p>
          <a:p>
            <a:pPr marL="171450" indent="-171450">
              <a:buFont typeface="Arial" panose="020B0604020202020204" pitchFamily="34" charset="0"/>
              <a:buChar char="•"/>
            </a:pPr>
            <a:r>
              <a:rPr lang="en-US" dirty="0"/>
              <a:t>Amazon Aurora for PostgreSQL</a:t>
            </a:r>
          </a:p>
          <a:p>
            <a:pPr marL="171450" indent="-171450">
              <a:buFont typeface="Arial" panose="020B0604020202020204" pitchFamily="34" charset="0"/>
              <a:buChar char="•"/>
            </a:pPr>
            <a:r>
              <a:rPr lang="en-US" dirty="0"/>
              <a:t>Amazon Aurora for MySQL</a:t>
            </a:r>
          </a:p>
          <a:p>
            <a:pPr marL="171450" indent="-171450">
              <a:buFont typeface="Arial" panose="020B0604020202020204" pitchFamily="34" charset="0"/>
              <a:buChar char="•"/>
            </a:pPr>
            <a:r>
              <a:rPr lang="en-US" dirty="0"/>
              <a:t>Amazon RDS for PostgreSQL</a:t>
            </a:r>
          </a:p>
          <a:p>
            <a:pPr marL="171450" indent="-171450">
              <a:buFont typeface="Arial" panose="020B0604020202020204" pitchFamily="34" charset="0"/>
              <a:buChar char="•"/>
            </a:pPr>
            <a:r>
              <a:rPr lang="en-US" dirty="0"/>
              <a:t>Amazon RDS for MySQL</a:t>
            </a:r>
          </a:p>
          <a:p>
            <a:pPr marL="171450" indent="-171450">
              <a:buFont typeface="Arial" panose="020B0604020202020204" pitchFamily="34" charset="0"/>
              <a:buChar char="•"/>
            </a:pPr>
            <a:r>
              <a:rPr lang="en-US" dirty="0"/>
              <a:t>Amazon RDS for MariaDB</a:t>
            </a:r>
          </a:p>
          <a:p>
            <a:pPr algn="just"/>
            <a:endParaRPr lang="en-US" dirty="0"/>
          </a:p>
        </p:txBody>
      </p:sp>
    </p:spTree>
    <p:extLst>
      <p:ext uri="{BB962C8B-B14F-4D97-AF65-F5344CB8AC3E}">
        <p14:creationId xmlns:p14="http://schemas.microsoft.com/office/powerpoint/2010/main" val="2813364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DF80C-C4B2-CA2E-DC53-D014432A0FB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53E3FAB3-0EAA-3876-F96C-F85CCCDCCDD7}"/>
              </a:ext>
            </a:extLst>
          </p:cNvPr>
          <p:cNvSpPr>
            <a:spLocks noGrp="1"/>
          </p:cNvSpPr>
          <p:nvPr>
            <p:ph type="body" sz="quarter" idx="10"/>
          </p:nvPr>
        </p:nvSpPr>
        <p:spPr/>
        <p:txBody>
          <a:bodyPr/>
          <a:lstStyle/>
          <a:p>
            <a:pPr algn="just"/>
            <a:r>
              <a:rPr lang="en-US" sz="1000" dirty="0">
                <a:hlinkClick r:id="rId2"/>
              </a:rPr>
              <a:t>General availability of Defender for Storage integration in Azure portal Storage Center</a:t>
            </a:r>
            <a:endParaRPr lang="en-US" sz="1000" dirty="0"/>
          </a:p>
          <a:p>
            <a:pPr algn="just"/>
            <a:r>
              <a:rPr lang="en-US" sz="1000" dirty="0"/>
              <a:t>This integration brings Defender for Storage insights directly into the native storage management experience. This approach makes it easier for customers to understand and improve their storage security posture at scale.</a:t>
            </a:r>
          </a:p>
          <a:p>
            <a:pPr algn="just"/>
            <a:r>
              <a:rPr lang="en-US" sz="1000" dirty="0"/>
              <a:t>Customers can now view Defender for Storage threat protection and security posture coverage directly in Storage Center, next to their storage resources.</a:t>
            </a:r>
          </a:p>
          <a:p>
            <a:pPr algn="just"/>
            <a:r>
              <a:rPr lang="en-US" sz="1000" dirty="0"/>
              <a:t>Storage Center provides a centralized, storage-native view of Defender for Storage protection status. This view helps customers quickly understand:</a:t>
            </a:r>
          </a:p>
          <a:p>
            <a:pPr marL="171450" indent="-171450" algn="just">
              <a:buFont typeface="Arial" panose="020B0604020202020204" pitchFamily="34" charset="0"/>
              <a:buChar char="•"/>
            </a:pPr>
            <a:r>
              <a:rPr lang="en-US" sz="1000" dirty="0"/>
              <a:t>Which storage accounts are protected, partly protected, or not protected</a:t>
            </a:r>
          </a:p>
          <a:p>
            <a:pPr marL="171450" indent="-171450" algn="just">
              <a:buFont typeface="Arial" panose="020B0604020202020204" pitchFamily="34" charset="0"/>
              <a:buChar char="•"/>
            </a:pPr>
            <a:r>
              <a:rPr lang="en-US" sz="1000" dirty="0"/>
              <a:t>Where malware scanning, activity monitoring, and sensitive data discovery are enabled</a:t>
            </a:r>
          </a:p>
          <a:p>
            <a:pPr marL="171450" indent="-171450" algn="just">
              <a:buFont typeface="Arial" panose="020B0604020202020204" pitchFamily="34" charset="0"/>
              <a:buChar char="•"/>
            </a:pPr>
            <a:r>
              <a:rPr lang="en-US" sz="1000" dirty="0"/>
              <a:t>Where security gaps exist across Azure Blob Storage and Azure Files storage</a:t>
            </a:r>
          </a:p>
          <a:p>
            <a:pPr algn="just"/>
            <a:endParaRPr lang="en-US" sz="1000" dirty="0"/>
          </a:p>
        </p:txBody>
      </p:sp>
      <p:sp>
        <p:nvSpPr>
          <p:cNvPr id="11" name="Title 10">
            <a:extLst>
              <a:ext uri="{FF2B5EF4-FFF2-40B4-BE49-F238E27FC236}">
                <a16:creationId xmlns:a16="http://schemas.microsoft.com/office/drawing/2014/main" id="{F0B3E087-D7E0-A826-1AA8-170A462C1EA4}"/>
              </a:ext>
            </a:extLst>
          </p:cNvPr>
          <p:cNvSpPr>
            <a:spLocks noGrp="1"/>
          </p:cNvSpPr>
          <p:nvPr>
            <p:ph type="title"/>
          </p:nvPr>
        </p:nvSpPr>
        <p:spPr/>
        <p:txBody>
          <a:bodyPr/>
          <a:lstStyle/>
          <a:p>
            <a:r>
              <a:rPr lang="en-US" sz="1800" dirty="0"/>
              <a:t>Microsoft Defender for Cloud</a:t>
            </a:r>
            <a:endParaRPr lang="en-US" dirty="0"/>
          </a:p>
        </p:txBody>
      </p:sp>
      <p:sp>
        <p:nvSpPr>
          <p:cNvPr id="13" name="Text Placeholder 12">
            <a:extLst>
              <a:ext uri="{FF2B5EF4-FFF2-40B4-BE49-F238E27FC236}">
                <a16:creationId xmlns:a16="http://schemas.microsoft.com/office/drawing/2014/main" id="{7848980B-3A78-D666-3450-DFE397878148}"/>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3B30361-210F-0C86-1A80-ECA062F48EE8}"/>
              </a:ext>
            </a:extLst>
          </p:cNvPr>
          <p:cNvSpPr>
            <a:spLocks noGrp="1"/>
          </p:cNvSpPr>
          <p:nvPr>
            <p:ph type="body" sz="quarter" idx="16"/>
          </p:nvPr>
        </p:nvSpPr>
        <p:spPr/>
        <p:txBody>
          <a:bodyPr/>
          <a:lstStyle/>
          <a:p>
            <a:pPr algn="just"/>
            <a:r>
              <a:rPr lang="en-US" dirty="0">
                <a:hlinkClick r:id="rId3"/>
              </a:rPr>
              <a:t>General availability of container security capabilities in Azure Government cloud</a:t>
            </a:r>
            <a:endParaRPr lang="en-US" dirty="0"/>
          </a:p>
          <a:p>
            <a:pPr algn="just"/>
            <a:r>
              <a:rPr lang="en-US" dirty="0"/>
              <a:t>The service helps U.S. federal and government agencies, including the Department of Defense (DoD) and civilian agencies, secure Kubernetes workloads by providing cloud security posture management, vulnerability assessment, and runtime threat protection for containerized environments.</a:t>
            </a:r>
          </a:p>
          <a:p>
            <a:pPr algn="just"/>
            <a:r>
              <a:rPr lang="en-US" dirty="0"/>
              <a:t>The Defender for Containers plan in Azure Government cloud now aligns with the commercial cloud offering in feature coverage, including agentless Kubernetes discovery, comprehensive inventory, attack path analysis, enhanced risk hunting, vulnerability assessment, compliance and runtime protection capabilities.</a:t>
            </a:r>
          </a:p>
          <a:p>
            <a:pPr algn="just"/>
            <a:endParaRPr lang="en-US" dirty="0"/>
          </a:p>
        </p:txBody>
      </p:sp>
    </p:spTree>
    <p:extLst>
      <p:ext uri="{BB962C8B-B14F-4D97-AF65-F5344CB8AC3E}">
        <p14:creationId xmlns:p14="http://schemas.microsoft.com/office/powerpoint/2010/main" val="1996926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383B7-5CB2-3B6A-2CCF-573D57E841D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5AF7A10A-A338-D5D3-4ABF-DD69053FD44B}"/>
              </a:ext>
            </a:extLst>
          </p:cNvPr>
          <p:cNvSpPr>
            <a:spLocks noGrp="1"/>
          </p:cNvSpPr>
          <p:nvPr>
            <p:ph type="body" sz="quarter" idx="10"/>
          </p:nvPr>
        </p:nvSpPr>
        <p:spPr/>
        <p:txBody>
          <a:bodyPr/>
          <a:lstStyle/>
          <a:p>
            <a:pPr algn="just"/>
            <a:r>
              <a:rPr lang="en-US" sz="1000" dirty="0">
                <a:hlinkClick r:id="rId2"/>
              </a:rPr>
              <a:t>Anti-malware detection and blocking is now generally available</a:t>
            </a:r>
            <a:endParaRPr lang="en-US" sz="1000" dirty="0"/>
          </a:p>
          <a:p>
            <a:pPr algn="just"/>
            <a:r>
              <a:rPr lang="en-US" sz="1000" dirty="0"/>
              <a:t>Container runtime anti-malware detection and blocking is now generally available in Defender for Containers for Azure Kubernetes Service (AKS), Amazon Elastic Kubernetes Service (EKS), and Google Kubernetes Engine (GKE).</a:t>
            </a:r>
          </a:p>
          <a:p>
            <a:pPr algn="just"/>
            <a:r>
              <a:rPr lang="en-US" sz="1000" dirty="0"/>
              <a:t>Anti-malware detection and blocking detect and block malware when a container runs an executable that the system identifies as malicious software. You can define anti-malware policies that set conditions for alerts and blocking to distinguish legitimate activity from potential threats.</a:t>
            </a:r>
          </a:p>
        </p:txBody>
      </p:sp>
      <p:sp>
        <p:nvSpPr>
          <p:cNvPr id="11" name="Title 10">
            <a:extLst>
              <a:ext uri="{FF2B5EF4-FFF2-40B4-BE49-F238E27FC236}">
                <a16:creationId xmlns:a16="http://schemas.microsoft.com/office/drawing/2014/main" id="{D2CE63B2-14A4-DFBC-CECC-0B91407763B9}"/>
              </a:ext>
            </a:extLst>
          </p:cNvPr>
          <p:cNvSpPr>
            <a:spLocks noGrp="1"/>
          </p:cNvSpPr>
          <p:nvPr>
            <p:ph type="title"/>
          </p:nvPr>
        </p:nvSpPr>
        <p:spPr/>
        <p:txBody>
          <a:bodyPr/>
          <a:lstStyle/>
          <a:p>
            <a:r>
              <a:rPr lang="en-US" sz="1800" dirty="0"/>
              <a:t>Microsoft Defender for Cloud</a:t>
            </a:r>
            <a:endParaRPr lang="en-US" dirty="0"/>
          </a:p>
        </p:txBody>
      </p:sp>
      <p:sp>
        <p:nvSpPr>
          <p:cNvPr id="13" name="Text Placeholder 12">
            <a:extLst>
              <a:ext uri="{FF2B5EF4-FFF2-40B4-BE49-F238E27FC236}">
                <a16:creationId xmlns:a16="http://schemas.microsoft.com/office/drawing/2014/main" id="{0A929CC3-F27B-7350-8ED7-759B569FD088}"/>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6907069-24CC-3DF7-5437-4C2EC2F8346E}"/>
              </a:ext>
            </a:extLst>
          </p:cNvPr>
          <p:cNvSpPr>
            <a:spLocks noGrp="1"/>
          </p:cNvSpPr>
          <p:nvPr>
            <p:ph type="body" sz="quarter" idx="16"/>
          </p:nvPr>
        </p:nvSpPr>
        <p:spPr/>
        <p:txBody>
          <a:bodyPr/>
          <a:lstStyle/>
          <a:p>
            <a:pPr algn="just"/>
            <a:r>
              <a:rPr lang="en-US" dirty="0">
                <a:hlinkClick r:id="rId3" action="ppaction://hlinkfile"/>
              </a:rPr>
              <a:t>DNS Detection for Kubernetes is now generally available</a:t>
            </a:r>
            <a:endParaRPr lang="en-US" dirty="0"/>
          </a:p>
          <a:p>
            <a:pPr algn="just"/>
            <a:r>
              <a:rPr lang="en-US" dirty="0"/>
              <a:t>DNS Detection for Kubernetes is now generally available in Defender for Containers for Azure Kubernetes Service (AKS), Amazon Elastic Kubernetes Service (EKS), and Google Kubernetes Engine (GKE).</a:t>
            </a:r>
          </a:p>
          <a:p>
            <a:pPr algn="just"/>
            <a:r>
              <a:rPr lang="en-US" dirty="0"/>
              <a:t>DNS Detection monitors DNS queries from containerized workloads to detect suspicious activity such as communication with malicious domains and DNS tunneling. The feature requires the Defender sensor deployed via Helm.</a:t>
            </a:r>
          </a:p>
        </p:txBody>
      </p:sp>
    </p:spTree>
    <p:extLst>
      <p:ext uri="{BB962C8B-B14F-4D97-AF65-F5344CB8AC3E}">
        <p14:creationId xmlns:p14="http://schemas.microsoft.com/office/powerpoint/2010/main" val="2584736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66A52-E159-1BFC-BD23-545AC5048CE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6B858A1D-01CA-0D7C-EEF3-436B613A04F4}"/>
              </a:ext>
            </a:extLst>
          </p:cNvPr>
          <p:cNvSpPr>
            <a:spLocks noGrp="1"/>
          </p:cNvSpPr>
          <p:nvPr>
            <p:ph type="body" sz="quarter" idx="10"/>
          </p:nvPr>
        </p:nvSpPr>
        <p:spPr/>
        <p:txBody>
          <a:bodyPr/>
          <a:lstStyle/>
          <a:p>
            <a:pPr algn="just"/>
            <a:r>
              <a:rPr lang="en-US" sz="1000" dirty="0">
                <a:hlinkClick r:id="rId2"/>
              </a:rPr>
              <a:t>General availability of Microsoft Defender for Cloud and GitHub Advanced Security integration</a:t>
            </a:r>
            <a:endParaRPr lang="en-US" sz="1000" dirty="0"/>
          </a:p>
          <a:p>
            <a:pPr algn="just"/>
            <a:r>
              <a:rPr lang="en-US" sz="1000" dirty="0"/>
              <a:t>The native integration between Microsoft Defender for Cloud and GitHub Advanced Security (GHAS) is now generally available. This integration connects runtime security signals from Defender for Cloud with code-level vulnerability management in GHAS, enabling developers and security teams to prioritize and remediate vulnerabilities based on actual production risk.</a:t>
            </a:r>
          </a:p>
          <a:p>
            <a:pPr algn="just"/>
            <a:endParaRPr lang="en-US" sz="1000" dirty="0"/>
          </a:p>
          <a:p>
            <a:pPr algn="just"/>
            <a:endParaRPr lang="en-US" sz="1000" dirty="0"/>
          </a:p>
        </p:txBody>
      </p:sp>
      <p:sp>
        <p:nvSpPr>
          <p:cNvPr id="11" name="Title 10">
            <a:extLst>
              <a:ext uri="{FF2B5EF4-FFF2-40B4-BE49-F238E27FC236}">
                <a16:creationId xmlns:a16="http://schemas.microsoft.com/office/drawing/2014/main" id="{D48C1593-7C66-4406-8254-37B0C3A77005}"/>
              </a:ext>
            </a:extLst>
          </p:cNvPr>
          <p:cNvSpPr>
            <a:spLocks noGrp="1"/>
          </p:cNvSpPr>
          <p:nvPr>
            <p:ph type="title"/>
          </p:nvPr>
        </p:nvSpPr>
        <p:spPr/>
        <p:txBody>
          <a:bodyPr/>
          <a:lstStyle/>
          <a:p>
            <a:r>
              <a:rPr lang="en-US" sz="1800" dirty="0"/>
              <a:t>Microsoft Defender for Cloud</a:t>
            </a:r>
            <a:endParaRPr lang="en-US" dirty="0"/>
          </a:p>
        </p:txBody>
      </p:sp>
      <p:sp>
        <p:nvSpPr>
          <p:cNvPr id="13" name="Text Placeholder 12">
            <a:extLst>
              <a:ext uri="{FF2B5EF4-FFF2-40B4-BE49-F238E27FC236}">
                <a16:creationId xmlns:a16="http://schemas.microsoft.com/office/drawing/2014/main" id="{652FCE1A-6E39-D8A1-CF2B-A79328704E6A}"/>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6E0FD06A-6872-5AF1-CF10-EC4B67841E3B}"/>
              </a:ext>
            </a:extLst>
          </p:cNvPr>
          <p:cNvSpPr>
            <a:spLocks noGrp="1"/>
          </p:cNvSpPr>
          <p:nvPr>
            <p:ph type="body" sz="quarter" idx="16"/>
          </p:nvPr>
        </p:nvSpPr>
        <p:spPr>
          <a:xfrm>
            <a:off x="342900" y="855080"/>
            <a:ext cx="3955312" cy="1011595"/>
          </a:xfrm>
        </p:spPr>
        <p:txBody>
          <a:bodyPr/>
          <a:lstStyle/>
          <a:p>
            <a:pPr algn="just"/>
            <a:r>
              <a:rPr lang="en-US" dirty="0">
                <a:hlinkClick r:id="rId3"/>
              </a:rPr>
              <a:t>Defender for Containers runtime protection on EKS </a:t>
            </a:r>
            <a:r>
              <a:rPr lang="en-US" dirty="0" err="1">
                <a:hlinkClick r:id="rId3"/>
              </a:rPr>
              <a:t>Bottlerocket</a:t>
            </a:r>
            <a:r>
              <a:rPr lang="en-US" dirty="0">
                <a:hlinkClick r:id="rId3"/>
              </a:rPr>
              <a:t> is now generally available</a:t>
            </a:r>
            <a:endParaRPr lang="en-US" dirty="0"/>
          </a:p>
          <a:p>
            <a:pPr algn="just"/>
            <a:r>
              <a:rPr lang="en-US" dirty="0"/>
              <a:t>Defender for Containers runtime protection now supports AWS </a:t>
            </a:r>
            <a:r>
              <a:rPr lang="en-US" dirty="0" err="1"/>
              <a:t>Bottlerocket</a:t>
            </a:r>
            <a:r>
              <a:rPr lang="en-US" dirty="0"/>
              <a:t> operating systems on Amazon Elastic Kubernetes Service (EKS) in general availability.</a:t>
            </a:r>
          </a:p>
        </p:txBody>
      </p:sp>
    </p:spTree>
    <p:extLst>
      <p:ext uri="{BB962C8B-B14F-4D97-AF65-F5344CB8AC3E}">
        <p14:creationId xmlns:p14="http://schemas.microsoft.com/office/powerpoint/2010/main" val="42259017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1AE59-9537-2F9B-C7AD-DB3084F3B2DE}"/>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4C1B05D9-0976-CF0B-910C-19A5EB4D358D}"/>
              </a:ext>
            </a:extLst>
          </p:cNvPr>
          <p:cNvSpPr>
            <a:spLocks noGrp="1"/>
          </p:cNvSpPr>
          <p:nvPr>
            <p:ph type="body" sz="quarter" idx="10"/>
          </p:nvPr>
        </p:nvSpPr>
        <p:spPr/>
        <p:txBody>
          <a:bodyPr/>
          <a:lstStyle/>
          <a:p>
            <a:pPr algn="just"/>
            <a:r>
              <a:rPr lang="en-US" sz="1000" dirty="0">
                <a:hlinkClick r:id="rId2"/>
              </a:rPr>
              <a:t>Daily score calculation enhancement for risk-based Cloud secure score</a:t>
            </a:r>
            <a:endParaRPr lang="en-US" sz="1000" dirty="0"/>
          </a:p>
          <a:p>
            <a:pPr algn="just"/>
            <a:r>
              <a:rPr lang="en-US" sz="1000" dirty="0"/>
              <a:t>MS improved how daily Cloud secure score values are calculated to more accurately reflect posture and the impact of actions taken throughout the day.</a:t>
            </a:r>
          </a:p>
          <a:p>
            <a:pPr algn="just"/>
            <a:r>
              <a:rPr lang="en-US" sz="1000" dirty="0"/>
              <a:t>Daily scores represent end-of-day snapshots instead of averaged values over the course of the day, providing a more consistent and precise view of the score at each point in time. This helps you better understand score changes and correlate them with changes introduced during the day.</a:t>
            </a:r>
          </a:p>
          <a:p>
            <a:pPr algn="just"/>
            <a:r>
              <a:rPr lang="en-US" sz="1000" dirty="0"/>
              <a:t>Historical values have been recalculated to align with this definition, so you may notice slight differences when comparing trends across this period.</a:t>
            </a:r>
          </a:p>
        </p:txBody>
      </p:sp>
      <p:sp>
        <p:nvSpPr>
          <p:cNvPr id="11" name="Title 10">
            <a:extLst>
              <a:ext uri="{FF2B5EF4-FFF2-40B4-BE49-F238E27FC236}">
                <a16:creationId xmlns:a16="http://schemas.microsoft.com/office/drawing/2014/main" id="{B106CDF0-DE24-6FDB-00C7-B864CF26CF9B}"/>
              </a:ext>
            </a:extLst>
          </p:cNvPr>
          <p:cNvSpPr>
            <a:spLocks noGrp="1"/>
          </p:cNvSpPr>
          <p:nvPr>
            <p:ph type="title"/>
          </p:nvPr>
        </p:nvSpPr>
        <p:spPr/>
        <p:txBody>
          <a:bodyPr/>
          <a:lstStyle/>
          <a:p>
            <a:r>
              <a:rPr lang="en-US" sz="1800" dirty="0"/>
              <a:t>Microsoft Defender for Cloud</a:t>
            </a:r>
            <a:endParaRPr lang="en-US" dirty="0"/>
          </a:p>
        </p:txBody>
      </p:sp>
      <p:sp>
        <p:nvSpPr>
          <p:cNvPr id="13" name="Text Placeholder 12">
            <a:extLst>
              <a:ext uri="{FF2B5EF4-FFF2-40B4-BE49-F238E27FC236}">
                <a16:creationId xmlns:a16="http://schemas.microsoft.com/office/drawing/2014/main" id="{B29124E4-D00C-4D33-C33B-7147EC7CCE7D}"/>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A8911CC4-4954-8E32-8948-2A9F5765A253}"/>
              </a:ext>
            </a:extLst>
          </p:cNvPr>
          <p:cNvSpPr>
            <a:spLocks noGrp="1"/>
          </p:cNvSpPr>
          <p:nvPr>
            <p:ph type="body" sz="quarter" idx="16"/>
          </p:nvPr>
        </p:nvSpPr>
        <p:spPr/>
        <p:txBody>
          <a:bodyPr/>
          <a:lstStyle/>
          <a:p>
            <a:pPr algn="just"/>
            <a:r>
              <a:rPr lang="en-US" dirty="0">
                <a:hlinkClick r:id="rId3"/>
              </a:rPr>
              <a:t>General availability of Defender for Cloud integration into the Defender portal</a:t>
            </a:r>
            <a:endParaRPr lang="en-US" dirty="0"/>
          </a:p>
          <a:p>
            <a:pPr algn="just"/>
            <a:r>
              <a:rPr lang="en-US" dirty="0"/>
              <a:t>Microsoft Defender for Cloud is now integrated into the Microsoft Defender portal, unifying cloud security posture management and threat protection in a single experience. This integration provides a centralized view across hybrid and </a:t>
            </a:r>
            <a:r>
              <a:rPr lang="en-US" dirty="0" err="1"/>
              <a:t>multicloud</a:t>
            </a:r>
            <a:r>
              <a:rPr lang="en-US" dirty="0"/>
              <a:t> environments, including Azure, Amazon Web Services (AWS), and Google Cloud Platform (GCP).</a:t>
            </a:r>
          </a:p>
        </p:txBody>
      </p:sp>
    </p:spTree>
    <p:extLst>
      <p:ext uri="{BB962C8B-B14F-4D97-AF65-F5344CB8AC3E}">
        <p14:creationId xmlns:p14="http://schemas.microsoft.com/office/powerpoint/2010/main" val="3685704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F6756-55FF-18AB-F8E9-230F2B0433E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E07063AD-368C-DC95-8E2F-DFC448611A85}"/>
              </a:ext>
            </a:extLst>
          </p:cNvPr>
          <p:cNvSpPr>
            <a:spLocks noGrp="1"/>
          </p:cNvSpPr>
          <p:nvPr>
            <p:ph type="body" sz="quarter" idx="10"/>
          </p:nvPr>
        </p:nvSpPr>
        <p:spPr/>
        <p:txBody>
          <a:bodyPr/>
          <a:lstStyle/>
          <a:p>
            <a:pPr algn="just"/>
            <a:r>
              <a:rPr lang="en-US" sz="1000" dirty="0">
                <a:hlinkClick r:id="rId2"/>
              </a:rPr>
              <a:t>Public Preview - Automate setting or clearing user attributes values in Lifecycle workflows</a:t>
            </a:r>
            <a:endParaRPr lang="en-US" sz="1000" dirty="0"/>
          </a:p>
          <a:p>
            <a:pPr algn="just"/>
            <a:r>
              <a:rPr lang="en-US" sz="1000" dirty="0"/>
              <a:t>MS introduced the User Attribute Updates task in Lifecycle Workflows, extending existing attribute change trigger capabilities with a built-in, customer-ready way to automate attribute updates (set or clear values) directly within a workflow. With a secure, consistent, and auditable experience, organizations can reduce manual effort, improve governance, and scale identity automation with greater confidence.</a:t>
            </a:r>
          </a:p>
        </p:txBody>
      </p:sp>
      <p:sp>
        <p:nvSpPr>
          <p:cNvPr id="11" name="Title 10">
            <a:extLst>
              <a:ext uri="{FF2B5EF4-FFF2-40B4-BE49-F238E27FC236}">
                <a16:creationId xmlns:a16="http://schemas.microsoft.com/office/drawing/2014/main" id="{1AAEF16D-02AD-59CB-170F-241A348B477A}"/>
              </a:ext>
            </a:extLst>
          </p:cNvPr>
          <p:cNvSpPr>
            <a:spLocks noGrp="1"/>
          </p:cNvSpPr>
          <p:nvPr>
            <p:ph type="title"/>
          </p:nvPr>
        </p:nvSpPr>
        <p:spPr/>
        <p:txBody>
          <a:bodyPr/>
          <a:lstStyle/>
          <a:p>
            <a:r>
              <a:rPr lang="en-US" sz="1800" dirty="0"/>
              <a:t>Microsoft Defender for Cloud</a:t>
            </a:r>
            <a:endParaRPr lang="en-US" dirty="0"/>
          </a:p>
        </p:txBody>
      </p:sp>
      <p:sp>
        <p:nvSpPr>
          <p:cNvPr id="13" name="Text Placeholder 12">
            <a:extLst>
              <a:ext uri="{FF2B5EF4-FFF2-40B4-BE49-F238E27FC236}">
                <a16:creationId xmlns:a16="http://schemas.microsoft.com/office/drawing/2014/main" id="{0087773B-C271-5E7A-F7E5-CDFDFE81303A}"/>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78D9664C-7E5F-6F32-094F-40795AF6AE0E}"/>
              </a:ext>
            </a:extLst>
          </p:cNvPr>
          <p:cNvSpPr>
            <a:spLocks noGrp="1"/>
          </p:cNvSpPr>
          <p:nvPr>
            <p:ph type="body" sz="quarter" idx="16"/>
          </p:nvPr>
        </p:nvSpPr>
        <p:spPr/>
        <p:txBody>
          <a:bodyPr/>
          <a:lstStyle/>
          <a:p>
            <a:pPr algn="just"/>
            <a:r>
              <a:rPr lang="en-US" dirty="0">
                <a:hlinkClick r:id="rId3"/>
              </a:rPr>
              <a:t>General availability of on-demand malware scanning of Azure Files in Microsoft Defender for Storage</a:t>
            </a:r>
            <a:endParaRPr lang="en-US" dirty="0"/>
          </a:p>
          <a:p>
            <a:pPr algn="just"/>
            <a:r>
              <a:rPr lang="en-US" dirty="0"/>
              <a:t>On-demand malware scanning of Azure Files in Microsoft Defender for Storage is now generally available.</a:t>
            </a:r>
          </a:p>
          <a:p>
            <a:pPr algn="just"/>
            <a:r>
              <a:rPr lang="en-US" dirty="0"/>
              <a:t>This feature extends on-demand malware scanning so you can scan Azure Storage accounts that contain blobs and files</a:t>
            </a:r>
          </a:p>
        </p:txBody>
      </p:sp>
    </p:spTree>
    <p:extLst>
      <p:ext uri="{BB962C8B-B14F-4D97-AF65-F5344CB8AC3E}">
        <p14:creationId xmlns:p14="http://schemas.microsoft.com/office/powerpoint/2010/main" val="1697108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3FD22-994E-19A6-A401-58826892FE8D}"/>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4712748F-2BA1-AD7A-59FD-A774E40729B3}"/>
              </a:ext>
            </a:extLst>
          </p:cNvPr>
          <p:cNvSpPr>
            <a:spLocks noGrp="1"/>
          </p:cNvSpPr>
          <p:nvPr>
            <p:ph type="body" sz="quarter" idx="10"/>
          </p:nvPr>
        </p:nvSpPr>
        <p:spPr>
          <a:xfrm>
            <a:off x="4433776" y="855080"/>
            <a:ext cx="4365038" cy="1547249"/>
          </a:xfrm>
        </p:spPr>
        <p:txBody>
          <a:bodyPr/>
          <a:lstStyle/>
          <a:p>
            <a:r>
              <a:rPr lang="en-US" sz="1000" dirty="0">
                <a:hlinkClick r:id="rId2"/>
              </a:rPr>
              <a:t>Public Preview - Sensitivity labels for Microsoft Entra security groups</a:t>
            </a:r>
            <a:endParaRPr lang="en-US" sz="1000" dirty="0"/>
          </a:p>
          <a:p>
            <a:r>
              <a:rPr lang="en-US" sz="1000" dirty="0"/>
              <a:t>Microsoft Entra ID now supports applying Microsoft Purview sensitivity labels to Entra cloud security groups in public preview.</a:t>
            </a:r>
          </a:p>
          <a:p>
            <a:r>
              <a:rPr lang="en-US" sz="1000" dirty="0"/>
              <a:t>Administrators can use labels to govern security group settings such as guest access using the same labels and policies that apply to Microsoft 365 groups today.</a:t>
            </a:r>
          </a:p>
          <a:p>
            <a:r>
              <a:rPr lang="en-US" sz="1000" dirty="0"/>
              <a:t>Labels can be managed in Microsoft Purview and applied through the Microsoft Entra Admin Center, Azure portal, and Microsoft Graph. </a:t>
            </a:r>
          </a:p>
          <a:p>
            <a:endParaRPr lang="en-US" sz="1000" dirty="0"/>
          </a:p>
        </p:txBody>
      </p:sp>
      <p:sp>
        <p:nvSpPr>
          <p:cNvPr id="11" name="Title 10">
            <a:extLst>
              <a:ext uri="{FF2B5EF4-FFF2-40B4-BE49-F238E27FC236}">
                <a16:creationId xmlns:a16="http://schemas.microsoft.com/office/drawing/2014/main" id="{77BE07CF-582C-D15A-14CD-D143F506E774}"/>
              </a:ext>
            </a:extLst>
          </p:cNvPr>
          <p:cNvSpPr>
            <a:spLocks noGrp="1"/>
          </p:cNvSpPr>
          <p:nvPr>
            <p:ph type="title"/>
          </p:nvPr>
        </p:nvSpPr>
        <p:spPr/>
        <p:txBody>
          <a:bodyPr/>
          <a:lstStyle/>
          <a:p>
            <a:r>
              <a:rPr lang="en-US" sz="1800" dirty="0"/>
              <a:t>MS Entra ID Updates</a:t>
            </a:r>
            <a:endParaRPr lang="en-US" dirty="0"/>
          </a:p>
        </p:txBody>
      </p:sp>
      <p:sp>
        <p:nvSpPr>
          <p:cNvPr id="13" name="Text Placeholder 12">
            <a:extLst>
              <a:ext uri="{FF2B5EF4-FFF2-40B4-BE49-F238E27FC236}">
                <a16:creationId xmlns:a16="http://schemas.microsoft.com/office/drawing/2014/main" id="{18AAB750-21E3-FFF5-BED6-578693149492}"/>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829D56A-3A34-D11A-872D-F5FD4F6ABDD7}"/>
              </a:ext>
            </a:extLst>
          </p:cNvPr>
          <p:cNvSpPr>
            <a:spLocks noGrp="1"/>
          </p:cNvSpPr>
          <p:nvPr>
            <p:ph type="body" sz="quarter" idx="16"/>
          </p:nvPr>
        </p:nvSpPr>
        <p:spPr>
          <a:xfrm>
            <a:off x="342900" y="855081"/>
            <a:ext cx="3955312" cy="1255074"/>
          </a:xfrm>
        </p:spPr>
        <p:txBody>
          <a:bodyPr/>
          <a:lstStyle/>
          <a:p>
            <a:pPr algn="just"/>
            <a:r>
              <a:rPr lang="en-US" dirty="0">
                <a:hlinkClick r:id="rId3"/>
              </a:rPr>
              <a:t>Public Preview - Enable soft-delete for Microsoft Entra Device objects</a:t>
            </a:r>
            <a:endParaRPr lang="en-US" dirty="0"/>
          </a:p>
          <a:p>
            <a:pPr algn="just"/>
            <a:r>
              <a:rPr lang="en-US" dirty="0"/>
              <a:t>Device Soft Delete, now available in preview, enables administrators to safely remove device objects by moving them to a recoverable state instead of permanently deleting them. This feature allows organizations to restore devices within a defined retention period while preserving critical data such as device identity and associated security artifacts. </a:t>
            </a:r>
          </a:p>
          <a:p>
            <a:pPr algn="just"/>
            <a:endParaRPr lang="en-US" dirty="0"/>
          </a:p>
        </p:txBody>
      </p:sp>
    </p:spTree>
    <p:extLst>
      <p:ext uri="{BB962C8B-B14F-4D97-AF65-F5344CB8AC3E}">
        <p14:creationId xmlns:p14="http://schemas.microsoft.com/office/powerpoint/2010/main" val="3162635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39A84-CFDA-CDBA-69A6-F5F5A53B90C9}"/>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C06A0150-D8D7-6050-9013-2DA0D875E61C}"/>
              </a:ext>
            </a:extLst>
          </p:cNvPr>
          <p:cNvSpPr>
            <a:spLocks noGrp="1"/>
          </p:cNvSpPr>
          <p:nvPr>
            <p:ph type="body" sz="quarter" idx="10"/>
          </p:nvPr>
        </p:nvSpPr>
        <p:spPr/>
        <p:txBody>
          <a:bodyPr/>
          <a:lstStyle/>
          <a:p>
            <a:pPr algn="just"/>
            <a:r>
              <a:rPr lang="en-US" sz="1000" dirty="0">
                <a:hlinkClick r:id="rId2"/>
              </a:rPr>
              <a:t>Expanded policy storage for passkeys (FIDO2) in Microsoft Entra ID</a:t>
            </a:r>
            <a:endParaRPr lang="en-US" sz="1000" dirty="0"/>
          </a:p>
          <a:p>
            <a:pPr algn="just"/>
            <a:r>
              <a:rPr lang="en-US" sz="1000" dirty="0"/>
              <a:t>MS increased the passkey (FIDO2) policy size limit in the authentication methods policy to a dedicated 20-KB allocation.</a:t>
            </a:r>
          </a:p>
          <a:p>
            <a:pPr algn="just"/>
            <a:r>
              <a:rPr lang="en-US" sz="1000" dirty="0"/>
              <a:t>Previously, all authentication methods shared a single 20-KB policy size limit. With this update, a dedicated 20-KB limit is now allocated specifically to the passkey (FIDO2) policy, while the remaining authentication methods continue to use their existing limit.</a:t>
            </a:r>
          </a:p>
          <a:p>
            <a:pPr algn="just"/>
            <a:r>
              <a:rPr lang="en-US" sz="1000" dirty="0"/>
              <a:t>This change helps address scenarios where tenants approach the overall policy size limit, which can block configuration of passkey profiles. By separating passkey policy storage, organizations can more easily adopt passkeys and configure advanced targeting scenarios.</a:t>
            </a:r>
          </a:p>
          <a:p>
            <a:pPr algn="just"/>
            <a:r>
              <a:rPr lang="en-US" sz="1000" dirty="0"/>
              <a:t>In addition, the maximum number of passkey profiles per tenant has been increased from 3 to 10.</a:t>
            </a:r>
          </a:p>
        </p:txBody>
      </p:sp>
      <p:sp>
        <p:nvSpPr>
          <p:cNvPr id="11" name="Title 10">
            <a:extLst>
              <a:ext uri="{FF2B5EF4-FFF2-40B4-BE49-F238E27FC236}">
                <a16:creationId xmlns:a16="http://schemas.microsoft.com/office/drawing/2014/main" id="{29480DA6-B959-E517-9C4D-30EB67727333}"/>
              </a:ext>
            </a:extLst>
          </p:cNvPr>
          <p:cNvSpPr>
            <a:spLocks noGrp="1"/>
          </p:cNvSpPr>
          <p:nvPr>
            <p:ph type="title"/>
          </p:nvPr>
        </p:nvSpPr>
        <p:spPr/>
        <p:txBody>
          <a:bodyPr/>
          <a:lstStyle/>
          <a:p>
            <a:r>
              <a:rPr lang="en-US" sz="1800" dirty="0"/>
              <a:t>MS Entra ID Updates</a:t>
            </a:r>
            <a:endParaRPr lang="en-US" dirty="0"/>
          </a:p>
        </p:txBody>
      </p:sp>
      <p:sp>
        <p:nvSpPr>
          <p:cNvPr id="13" name="Text Placeholder 12">
            <a:extLst>
              <a:ext uri="{FF2B5EF4-FFF2-40B4-BE49-F238E27FC236}">
                <a16:creationId xmlns:a16="http://schemas.microsoft.com/office/drawing/2014/main" id="{37B52D42-9C9B-D4AC-E41D-7F902E10A48E}"/>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7449E0F1-5486-DC42-B281-195A335D8771}"/>
              </a:ext>
            </a:extLst>
          </p:cNvPr>
          <p:cNvSpPr>
            <a:spLocks noGrp="1"/>
          </p:cNvSpPr>
          <p:nvPr>
            <p:ph type="body" sz="quarter" idx="16"/>
          </p:nvPr>
        </p:nvSpPr>
        <p:spPr/>
        <p:txBody>
          <a:bodyPr/>
          <a:lstStyle/>
          <a:p>
            <a:pPr algn="just"/>
            <a:r>
              <a:rPr lang="en-US" dirty="0">
                <a:hlinkClick r:id="rId3"/>
              </a:rPr>
              <a:t>General Availability - Manage Agent ID sponsorship lifecycle with Lifecycle Workflows</a:t>
            </a:r>
            <a:endParaRPr lang="en-US" dirty="0"/>
          </a:p>
          <a:p>
            <a:pPr algn="just"/>
            <a:r>
              <a:rPr lang="en-US" dirty="0"/>
              <a:t>One of the most important parts of governing agent identities is making sure that a delegated human user is always assigned to make sure the agent identity's access to resources are current. If the sponsor is leaving the organization, sponsorship of the agent identities is automatically transferred to their manager. With sponsorship transferred, there's always a human user accountable for managing the access and lifecycle of the agent identities. Microsoft Entra ID Governance features can help streamline this process within your organization. Lifecycle workflows include multiple tasks around notifying cosponsors, and managers of sponsors, of impending sponsorship changes.</a:t>
            </a:r>
          </a:p>
        </p:txBody>
      </p:sp>
    </p:spTree>
    <p:extLst>
      <p:ext uri="{BB962C8B-B14F-4D97-AF65-F5344CB8AC3E}">
        <p14:creationId xmlns:p14="http://schemas.microsoft.com/office/powerpoint/2010/main" val="428171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F853B-1ECA-2D38-42DA-F7D4ACB55E57}"/>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2657A882-E8DB-1675-5002-D81462E23691}"/>
              </a:ext>
            </a:extLst>
          </p:cNvPr>
          <p:cNvSpPr>
            <a:spLocks noGrp="1"/>
          </p:cNvSpPr>
          <p:nvPr>
            <p:ph type="body" sz="quarter" idx="10"/>
          </p:nvPr>
        </p:nvSpPr>
        <p:spPr/>
        <p:txBody>
          <a:bodyPr/>
          <a:lstStyle/>
          <a:p>
            <a:pPr algn="just"/>
            <a:r>
              <a:rPr lang="en-US" sz="1000" dirty="0">
                <a:hlinkClick r:id="rId2"/>
              </a:rPr>
              <a:t>General Availability - System-preferred authentication expanded to first-factor in Microsoft Entra ID</a:t>
            </a:r>
            <a:endParaRPr lang="en-US" sz="1000" dirty="0"/>
          </a:p>
          <a:p>
            <a:pPr algn="just"/>
            <a:r>
              <a:rPr lang="en-US" sz="1000" dirty="0"/>
              <a:t>MS is extending system-preferred authentication to apply to the first factor in Microsoft-managed configurations (in addition to the second factor). With this change, the system evaluates the credentials registered for a user and selects the highest-ranked authentication method for each step of the sign-in flow.</a:t>
            </a:r>
          </a:p>
          <a:p>
            <a:pPr algn="just"/>
            <a:r>
              <a:rPr lang="en-US" sz="1000" dirty="0"/>
              <a:t>As a result, users with strong, phishing-resistant credentials (such as passkeys) might be signed in without needing to use a password, improving both security and user experience.</a:t>
            </a:r>
          </a:p>
          <a:p>
            <a:pPr algn="just"/>
            <a:r>
              <a:rPr lang="en-US" sz="1000" dirty="0"/>
              <a:t>This behavior applies only to the Microsoft-managed state, where system-preferred authentication now covers both first- and second-factor authentication. The rollout is currently in progress and will be fully deployed to all Microsoft-managed tenants by the end of June.</a:t>
            </a:r>
          </a:p>
        </p:txBody>
      </p:sp>
      <p:sp>
        <p:nvSpPr>
          <p:cNvPr id="11" name="Title 10">
            <a:extLst>
              <a:ext uri="{FF2B5EF4-FFF2-40B4-BE49-F238E27FC236}">
                <a16:creationId xmlns:a16="http://schemas.microsoft.com/office/drawing/2014/main" id="{B228A866-CD25-8B92-DDAA-B7E21714019B}"/>
              </a:ext>
            </a:extLst>
          </p:cNvPr>
          <p:cNvSpPr>
            <a:spLocks noGrp="1"/>
          </p:cNvSpPr>
          <p:nvPr>
            <p:ph type="title"/>
          </p:nvPr>
        </p:nvSpPr>
        <p:spPr/>
        <p:txBody>
          <a:bodyPr/>
          <a:lstStyle/>
          <a:p>
            <a:r>
              <a:rPr lang="en-US" sz="1800" dirty="0"/>
              <a:t>MS Entra ID Updates</a:t>
            </a:r>
            <a:endParaRPr lang="en-US" dirty="0"/>
          </a:p>
        </p:txBody>
      </p:sp>
      <p:sp>
        <p:nvSpPr>
          <p:cNvPr id="13" name="Text Placeholder 12">
            <a:extLst>
              <a:ext uri="{FF2B5EF4-FFF2-40B4-BE49-F238E27FC236}">
                <a16:creationId xmlns:a16="http://schemas.microsoft.com/office/drawing/2014/main" id="{FDBCEC42-220D-A204-5F38-62F3CF678E2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FD14E7E3-F012-702C-B609-B9837F83A738}"/>
              </a:ext>
            </a:extLst>
          </p:cNvPr>
          <p:cNvSpPr>
            <a:spLocks noGrp="1"/>
          </p:cNvSpPr>
          <p:nvPr>
            <p:ph type="body" sz="quarter" idx="16"/>
          </p:nvPr>
        </p:nvSpPr>
        <p:spPr/>
        <p:txBody>
          <a:bodyPr/>
          <a:lstStyle/>
          <a:p>
            <a:pPr algn="just"/>
            <a:r>
              <a:rPr lang="en-US" dirty="0">
                <a:hlinkClick r:id="rId3"/>
              </a:rPr>
              <a:t>General Availability - High Scale Compatibility (HSC) mode for Microsoft Entra External ID</a:t>
            </a:r>
            <a:endParaRPr lang="en-US" dirty="0"/>
          </a:p>
          <a:p>
            <a:pPr algn="just"/>
            <a:r>
              <a:rPr lang="en-US" dirty="0"/>
              <a:t>High Scale Compatibility (HSC) mode enables organizations to migrate to Microsoft Entra External ID while preserving their existing user directory. It's designed for large, established customer identity platforms transitioning from Azure AD B2C.</a:t>
            </a:r>
          </a:p>
          <a:p>
            <a:pPr algn="just"/>
            <a:r>
              <a:rPr lang="en-US" dirty="0"/>
              <a:t>With HSC mode, customers can rebuild applications on External ID while maintaining continuity for existing users, supporting a seamless, phased migration at scale. Some advanced customization capabilities are limited in this mode and will continue to evolve</a:t>
            </a:r>
          </a:p>
        </p:txBody>
      </p:sp>
    </p:spTree>
    <p:extLst>
      <p:ext uri="{BB962C8B-B14F-4D97-AF65-F5344CB8AC3E}">
        <p14:creationId xmlns:p14="http://schemas.microsoft.com/office/powerpoint/2010/main" val="958863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EDDB4-7621-798A-090B-3F48CD980D51}"/>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2EA49D73-280D-0307-3C1A-932883BD3815}"/>
              </a:ext>
            </a:extLst>
          </p:cNvPr>
          <p:cNvSpPr>
            <a:spLocks noGrp="1"/>
          </p:cNvSpPr>
          <p:nvPr>
            <p:ph type="body" sz="quarter" idx="10"/>
          </p:nvPr>
        </p:nvSpPr>
        <p:spPr/>
        <p:txBody>
          <a:bodyPr/>
          <a:lstStyle/>
          <a:p>
            <a:r>
              <a:rPr lang="en-US" sz="1000" dirty="0">
                <a:hlinkClick r:id="rId2"/>
              </a:rPr>
              <a:t>General Availability - Modernized My Account pages</a:t>
            </a:r>
            <a:endParaRPr lang="en-US" sz="1000" dirty="0"/>
          </a:p>
          <a:p>
            <a:r>
              <a:rPr lang="en-US" sz="1000" dirty="0"/>
              <a:t>MS announced the upcoming general availability of three redesigned pages in the My Account portal (myaccount.microsoft.com), bringing a modernized experience to help end users manage their account with greater ease and clarity.</a:t>
            </a:r>
          </a:p>
          <a:p>
            <a:r>
              <a:rPr lang="en-US" sz="1000" dirty="0"/>
              <a:t>The redesigned Devices page features a modernized layout that makes it easier for users to view and manage their registered devices. BitLocker recovery keys are now more prominently surfaced, reducing the need to contact IT helpdesk for key retrieval.</a:t>
            </a:r>
          </a:p>
          <a:p>
            <a:r>
              <a:rPr lang="en-US" sz="1000" dirty="0"/>
              <a:t>The new Personal Info page gives users a centralized view of their profile information alongside language and region settings - making it simple to review and update personal details in one place.</a:t>
            </a:r>
          </a:p>
          <a:p>
            <a:r>
              <a:rPr lang="en-US" sz="1000" dirty="0"/>
              <a:t>The redesigned Organizations page delivers a modernized experience and resolves a longstanding issue where users were unable to successfully leave an organization.</a:t>
            </a:r>
          </a:p>
        </p:txBody>
      </p:sp>
      <p:sp>
        <p:nvSpPr>
          <p:cNvPr id="11" name="Title 10">
            <a:extLst>
              <a:ext uri="{FF2B5EF4-FFF2-40B4-BE49-F238E27FC236}">
                <a16:creationId xmlns:a16="http://schemas.microsoft.com/office/drawing/2014/main" id="{9812FFA8-51B7-6884-CF0E-C93CC8AFDF47}"/>
              </a:ext>
            </a:extLst>
          </p:cNvPr>
          <p:cNvSpPr>
            <a:spLocks noGrp="1"/>
          </p:cNvSpPr>
          <p:nvPr>
            <p:ph type="title"/>
          </p:nvPr>
        </p:nvSpPr>
        <p:spPr/>
        <p:txBody>
          <a:bodyPr/>
          <a:lstStyle/>
          <a:p>
            <a:r>
              <a:rPr lang="en-US" sz="1800" dirty="0"/>
              <a:t>MS Entra ID Updates</a:t>
            </a:r>
            <a:endParaRPr lang="en-US" dirty="0"/>
          </a:p>
        </p:txBody>
      </p:sp>
      <p:sp>
        <p:nvSpPr>
          <p:cNvPr id="13" name="Text Placeholder 12">
            <a:extLst>
              <a:ext uri="{FF2B5EF4-FFF2-40B4-BE49-F238E27FC236}">
                <a16:creationId xmlns:a16="http://schemas.microsoft.com/office/drawing/2014/main" id="{181E9D90-FC8D-4BB4-1192-06287944D69A}"/>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7653CBA-7798-1DDA-935D-84A87F7469B1}"/>
              </a:ext>
            </a:extLst>
          </p:cNvPr>
          <p:cNvSpPr>
            <a:spLocks noGrp="1"/>
          </p:cNvSpPr>
          <p:nvPr>
            <p:ph type="body" sz="quarter" idx="16"/>
          </p:nvPr>
        </p:nvSpPr>
        <p:spPr/>
        <p:txBody>
          <a:bodyPr/>
          <a:lstStyle/>
          <a:p>
            <a:pPr algn="just"/>
            <a:r>
              <a:rPr lang="en-US" dirty="0">
                <a:hlinkClick r:id="rId3"/>
              </a:rPr>
              <a:t>General Availability - Support for passkeys in Microsoft Entra ID registration campaign</a:t>
            </a:r>
            <a:endParaRPr lang="en-US" dirty="0"/>
          </a:p>
          <a:p>
            <a:pPr algn="just"/>
            <a:r>
              <a:rPr lang="en-US" dirty="0"/>
              <a:t>Microsoft Registration Campaigns now supports Passkeys (FIDO2) as an authentication method. Administrators can configure registration campaigns to nudge users to register passkeys during sign-in, helping organizations drive passkey adoption at scale. This first rollout experience is optimized for users who are in a passkey profile that doesn't have any restrictions.</a:t>
            </a:r>
          </a:p>
        </p:txBody>
      </p:sp>
    </p:spTree>
    <p:extLst>
      <p:ext uri="{BB962C8B-B14F-4D97-AF65-F5344CB8AC3E}">
        <p14:creationId xmlns:p14="http://schemas.microsoft.com/office/powerpoint/2010/main" val="3107719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72E30-C354-602B-0F69-0FFFAE99F44F}"/>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CF247A5B-E284-03C9-96BD-8E6709D42164}"/>
              </a:ext>
            </a:extLst>
          </p:cNvPr>
          <p:cNvSpPr>
            <a:spLocks noGrp="1"/>
          </p:cNvSpPr>
          <p:nvPr>
            <p:ph type="body" sz="quarter" idx="10"/>
          </p:nvPr>
        </p:nvSpPr>
        <p:spPr/>
        <p:txBody>
          <a:bodyPr/>
          <a:lstStyle/>
          <a:p>
            <a:pPr algn="just"/>
            <a:r>
              <a:rPr lang="en-US" sz="1000" dirty="0">
                <a:hlinkClick r:id="rId2"/>
              </a:rPr>
              <a:t>General Availability - Account Discovery</a:t>
            </a:r>
            <a:endParaRPr lang="en-US" sz="1000" dirty="0"/>
          </a:p>
          <a:p>
            <a:pPr algn="just"/>
            <a:r>
              <a:rPr lang="en-US" sz="1000" dirty="0"/>
              <a:t>Account discovery for connected applications is now generally available in Microsoft Entra ID Governance. This capability provides administrators with visibility into all accounts that exist within connected applications, including orphan accounts.</a:t>
            </a:r>
          </a:p>
          <a:p>
            <a:pPr algn="just"/>
            <a:r>
              <a:rPr lang="en-US" sz="1000" dirty="0"/>
              <a:t>By generating discovery reports directly from the provisioning experience, organizations can identify accounts in connected applications that aren't assigned to the enterprise application in Microsoft Entra and simplify onboarding the application.</a:t>
            </a:r>
          </a:p>
        </p:txBody>
      </p:sp>
      <p:sp>
        <p:nvSpPr>
          <p:cNvPr id="11" name="Title 10">
            <a:extLst>
              <a:ext uri="{FF2B5EF4-FFF2-40B4-BE49-F238E27FC236}">
                <a16:creationId xmlns:a16="http://schemas.microsoft.com/office/drawing/2014/main" id="{6DC5ADA7-79F1-DCA5-1C9E-5CE2319130B9}"/>
              </a:ext>
            </a:extLst>
          </p:cNvPr>
          <p:cNvSpPr>
            <a:spLocks noGrp="1"/>
          </p:cNvSpPr>
          <p:nvPr>
            <p:ph type="title"/>
          </p:nvPr>
        </p:nvSpPr>
        <p:spPr/>
        <p:txBody>
          <a:bodyPr/>
          <a:lstStyle/>
          <a:p>
            <a:r>
              <a:rPr lang="en-US" sz="1800" dirty="0"/>
              <a:t>MS Entra ID Updates</a:t>
            </a:r>
            <a:endParaRPr lang="en-US" dirty="0"/>
          </a:p>
        </p:txBody>
      </p:sp>
      <p:sp>
        <p:nvSpPr>
          <p:cNvPr id="13" name="Text Placeholder 12">
            <a:extLst>
              <a:ext uri="{FF2B5EF4-FFF2-40B4-BE49-F238E27FC236}">
                <a16:creationId xmlns:a16="http://schemas.microsoft.com/office/drawing/2014/main" id="{E2A433EA-EEA8-5A21-DF13-21E4A220993A}"/>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FB17B4D-A7F6-3B11-BB48-A105571AA8B6}"/>
              </a:ext>
            </a:extLst>
          </p:cNvPr>
          <p:cNvSpPr>
            <a:spLocks noGrp="1"/>
          </p:cNvSpPr>
          <p:nvPr>
            <p:ph type="body" sz="quarter" idx="16"/>
          </p:nvPr>
        </p:nvSpPr>
        <p:spPr/>
        <p:txBody>
          <a:bodyPr/>
          <a:lstStyle/>
          <a:p>
            <a:pPr algn="just"/>
            <a:r>
              <a:rPr lang="en-US" dirty="0">
                <a:hlinkClick r:id="rId3"/>
              </a:rPr>
              <a:t>General Availability - Cross tenant group synchronization</a:t>
            </a:r>
            <a:endParaRPr lang="en-US" dirty="0"/>
          </a:p>
          <a:p>
            <a:pPr algn="just"/>
            <a:r>
              <a:rPr lang="en-US" dirty="0"/>
              <a:t>Cross-tenant group synchronization allows organizations to synchronize security groups across Microsoft Entra tenants. This feature enables centralized management of group membership in a source tenant while making those groups available in one or more target tenants, simplifying cross-tenant collaboration and reducing administrative overhead associated with managing duplicate groups.</a:t>
            </a:r>
          </a:p>
          <a:p>
            <a:pPr algn="just"/>
            <a:r>
              <a:rPr lang="en-US" dirty="0"/>
              <a:t>With cross-tenant group synchronization, organizations can extend their existing cross-tenant synchronization configurations to include groups, supporting scenarios such as shared application access, resource authorization, and consistent group-based access control across tenants. Admins can opt in to this functionality and configure attribute mappings and cross-tenant access policies to enable group synchronization into target tenants. Use of cross-tenant group synchronization requires Microsoft Entra ID Governance licenses. Existing licensing requirements for cross tenant user synchronization features remains</a:t>
            </a:r>
          </a:p>
        </p:txBody>
      </p:sp>
    </p:spTree>
    <p:extLst>
      <p:ext uri="{BB962C8B-B14F-4D97-AF65-F5344CB8AC3E}">
        <p14:creationId xmlns:p14="http://schemas.microsoft.com/office/powerpoint/2010/main" val="1303134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8796812" cy="1714500"/>
          </a:xfrm>
        </p:spPr>
        <p:txBody>
          <a:bodyPr/>
          <a:lstStyle/>
          <a:p>
            <a:r>
              <a:rPr lang="en-US" sz="4000" dirty="0"/>
              <a:t>Management &amp; Governance</a:t>
            </a:r>
          </a:p>
        </p:txBody>
      </p:sp>
    </p:spTree>
    <p:extLst>
      <p:ext uri="{BB962C8B-B14F-4D97-AF65-F5344CB8AC3E}">
        <p14:creationId xmlns:p14="http://schemas.microsoft.com/office/powerpoint/2010/main" val="34791831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Public Preview: Azure Infrastructure Resiliency Manager</a:t>
            </a:r>
            <a:endParaRPr lang="en-US" sz="1000" dirty="0"/>
          </a:p>
          <a:p>
            <a:pPr algn="just"/>
            <a:r>
              <a:rPr lang="en-US" sz="1000" dirty="0"/>
              <a:t>Azure Infrastructure Resiliency Manager is now in public preview, offering a unified, goal-driven experience to design, assess, and improve application resiliency across Azure. It brings together capabilities across Availability Zones, Azure Advisor, Chaos Studio, Azure Monitor, and Copilot into a single workflow for end-to-end resilience. With AI guidance, actionable recommendations, and built-in drills, organizations can proactively build, improve, and validate resiliency end to end.</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Ingestion Volume Change dashboard in Metrics Usage Insights</a:t>
            </a:r>
            <a:endParaRPr lang="en-US" dirty="0"/>
          </a:p>
          <a:p>
            <a:pPr algn="just"/>
            <a:r>
              <a:rPr lang="en-US" dirty="0"/>
              <a:t>Metrics Usage Insights now includes an Ingestion Volume Change dashboard to help you compare ingestion volume over time. Quickly detect spikes or drops in time series counts and event ingestion rates, enabling faster investigation of cost changes and more effective capacity planning.</a:t>
            </a:r>
          </a:p>
        </p:txBody>
      </p:sp>
    </p:spTree>
    <p:extLst>
      <p:ext uri="{BB962C8B-B14F-4D97-AF65-F5344CB8AC3E}">
        <p14:creationId xmlns:p14="http://schemas.microsoft.com/office/powerpoint/2010/main" val="520864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8CC0E95-C97F-D5C9-5754-B5C133A76B38}"/>
              </a:ext>
            </a:extLst>
          </p:cNvPr>
          <p:cNvSpPr>
            <a:spLocks noGrp="1"/>
          </p:cNvSpPr>
          <p:nvPr>
            <p:ph type="body" sz="quarter" idx="10"/>
          </p:nvPr>
        </p:nvSpPr>
        <p:spPr/>
        <p:txBody>
          <a:bodyPr/>
          <a:lstStyle/>
          <a:p>
            <a:pPr algn="just"/>
            <a:r>
              <a:rPr lang="en-US" sz="1000" dirty="0">
                <a:hlinkClick r:id="rId2"/>
              </a:rPr>
              <a:t>Protect Azure Cosmos DB with vaulted backups using Azure Backup (public preview)</a:t>
            </a:r>
            <a:endParaRPr lang="en-US" sz="1000" dirty="0"/>
          </a:p>
          <a:p>
            <a:pPr algn="just"/>
            <a:r>
              <a:rPr lang="en-US" sz="1000" b="1" dirty="0"/>
              <a:t>Azure Backup</a:t>
            </a:r>
            <a:r>
              <a:rPr lang="en-US" sz="1000" dirty="0"/>
              <a:t> now supports </a:t>
            </a:r>
            <a:r>
              <a:rPr lang="en-US" sz="1000" b="1" dirty="0"/>
              <a:t>vaulted backups for Azure Cosmos DB</a:t>
            </a:r>
            <a:r>
              <a:rPr lang="en-US" sz="1000" dirty="0"/>
              <a:t> in public preview, providing an additional layer of protection against accidental deletion, corruption, ransomware, and other data loss scenarios. Unlike standard operational backups stored within the Cosmos DB service boundary, vaulted backups are stored in a dedicated </a:t>
            </a:r>
            <a:r>
              <a:rPr lang="en-US" sz="1000" b="1" dirty="0"/>
              <a:t>Recovery Services Vault</a:t>
            </a:r>
            <a:r>
              <a:rPr lang="en-US" sz="1000" dirty="0"/>
              <a:t>, improving data isolation and resilience.</a:t>
            </a:r>
          </a:p>
          <a:p>
            <a:pPr algn="just"/>
            <a:r>
              <a:rPr lang="en-US" sz="1000" dirty="0"/>
              <a:t>This capability enables organizations to retain Cosmos DB backups independently of the source database lifecycle, supporting stronger disaster recovery, compliance, and long-term retention requirements. Security teams benefit from enhanced protection against malicious deletion or compromise of production resources, while backup administrators gain centralized backup governance through Azure Backup.</a:t>
            </a:r>
          </a:p>
          <a:p>
            <a:pPr algn="just"/>
            <a:r>
              <a:rPr lang="en-US" sz="1000" dirty="0"/>
              <a:t>By integrating Cosmos DB with Azure Backup, organizations can apply consistent backup policies across Azure services, improve recoverability of critical NoSQL workloads, and strengthen overall business continuity and cyber-resilience strategies.</a:t>
            </a:r>
          </a:p>
          <a:p>
            <a:pPr algn="just"/>
            <a:endParaRPr lang="en-US" sz="1000" dirty="0"/>
          </a:p>
        </p:txBody>
      </p:sp>
      <p:sp>
        <p:nvSpPr>
          <p:cNvPr id="3" name="Title 2">
            <a:extLst>
              <a:ext uri="{FF2B5EF4-FFF2-40B4-BE49-F238E27FC236}">
                <a16:creationId xmlns:a16="http://schemas.microsoft.com/office/drawing/2014/main" id="{71D63BA0-8B8D-EC6F-945C-8DB9B678F9AE}"/>
              </a:ext>
            </a:extLst>
          </p:cNvPr>
          <p:cNvSpPr>
            <a:spLocks noGrp="1"/>
          </p:cNvSpPr>
          <p:nvPr>
            <p:ph type="title"/>
          </p:nvPr>
        </p:nvSpPr>
        <p:spPr/>
        <p:txBody>
          <a:bodyPr/>
          <a:lstStyle/>
          <a:p>
            <a:r>
              <a:rPr lang="en-US" sz="1600" dirty="0"/>
              <a:t>Management &amp; Governance Updates</a:t>
            </a:r>
            <a:endParaRPr lang="en-US" dirty="0"/>
          </a:p>
        </p:txBody>
      </p:sp>
      <p:sp>
        <p:nvSpPr>
          <p:cNvPr id="4" name="Text Placeholder 3">
            <a:extLst>
              <a:ext uri="{FF2B5EF4-FFF2-40B4-BE49-F238E27FC236}">
                <a16:creationId xmlns:a16="http://schemas.microsoft.com/office/drawing/2014/main" id="{2AE94078-BF3B-21F2-8C5E-45A4C725ADFA}"/>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A78D9ED4-24C3-208F-552F-346EE83A9B88}"/>
              </a:ext>
            </a:extLst>
          </p:cNvPr>
          <p:cNvSpPr>
            <a:spLocks noGrp="1"/>
          </p:cNvSpPr>
          <p:nvPr>
            <p:ph type="body" sz="quarter" idx="16"/>
          </p:nvPr>
        </p:nvSpPr>
        <p:spPr/>
        <p:txBody>
          <a:bodyPr/>
          <a:lstStyle/>
          <a:p>
            <a:pPr algn="just"/>
            <a:r>
              <a:rPr lang="en-US" dirty="0">
                <a:hlinkClick r:id="rId3"/>
              </a:rPr>
              <a:t>Announcing Confidential Live Migration in Azure</a:t>
            </a:r>
            <a:endParaRPr lang="en-US" dirty="0"/>
          </a:p>
          <a:p>
            <a:pPr algn="just"/>
            <a:r>
              <a:rPr lang="en-US" b="1" dirty="0"/>
              <a:t>Confidential Live Migration</a:t>
            </a:r>
            <a:r>
              <a:rPr lang="en-US" dirty="0"/>
              <a:t> is now available for Azure Confidential Computing, enabling Azure to move running </a:t>
            </a:r>
            <a:r>
              <a:rPr lang="en-US" b="1" dirty="0"/>
              <a:t>Confidential Virtual Machines (CVMs)</a:t>
            </a:r>
            <a:r>
              <a:rPr lang="en-US" dirty="0"/>
              <a:t> between physical hosts without requiring a reboot or application downtime. Previously, maintenance events often required VM restarts, impacting workload availability and operational continuity. With live migration, Azure can perform planned infrastructure maintenance while preserving workload execution and maintaining the security guarantees provided by confidential computing. The migration process protects encrypted memory and sensitive data throughout the move, ensuring that trusted execution environment (TEE) protections remain intact. This capability improves availability for mission-critical and regulated workloads that rely on Confidential VMs for processing sensitive data. By combining hardware-backed security with improved operational resilience, Azure makes confidential computing more practical for enterprise production environments.</a:t>
            </a:r>
          </a:p>
        </p:txBody>
      </p:sp>
    </p:spTree>
    <p:extLst>
      <p:ext uri="{BB962C8B-B14F-4D97-AF65-F5344CB8AC3E}">
        <p14:creationId xmlns:p14="http://schemas.microsoft.com/office/powerpoint/2010/main" val="2586832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B2A5C-E35F-E18E-05A4-B6AF8CF698D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21B0A37-B626-6209-EE63-BDBE1E100FF0}"/>
              </a:ext>
            </a:extLst>
          </p:cNvPr>
          <p:cNvSpPr>
            <a:spLocks noGrp="1"/>
          </p:cNvSpPr>
          <p:nvPr>
            <p:ph type="body" sz="quarter" idx="10"/>
          </p:nvPr>
        </p:nvSpPr>
        <p:spPr/>
        <p:txBody>
          <a:bodyPr/>
          <a:lstStyle/>
          <a:p>
            <a:pPr algn="just"/>
            <a:r>
              <a:rPr lang="en-US" sz="1000" dirty="0">
                <a:hlinkClick r:id="rId2"/>
              </a:rPr>
              <a:t>Generally Available: Azure Monitor Service Level Indicators (SLI)</a:t>
            </a:r>
            <a:endParaRPr lang="en-US" sz="1000" dirty="0"/>
          </a:p>
          <a:p>
            <a:pPr algn="just"/>
            <a:r>
              <a:rPr lang="en-US" sz="1000" dirty="0"/>
              <a:t>Azure Monitor now includes Service Level Indicators (SLIs) and Service Level Objectives (SLOs), giving teams a clearer way to measure how customers actually experience their applications. Instead of relying only on infrastructure signals like CPU or isolated alerts, SLIs help determine whether an issue is truly affecting users. This shifts the focus from simply asking whether an app is up to understanding whether it is fast, reliable, and meeting expectations.</a:t>
            </a:r>
          </a:p>
        </p:txBody>
      </p:sp>
      <p:sp>
        <p:nvSpPr>
          <p:cNvPr id="11" name="Title 10">
            <a:extLst>
              <a:ext uri="{FF2B5EF4-FFF2-40B4-BE49-F238E27FC236}">
                <a16:creationId xmlns:a16="http://schemas.microsoft.com/office/drawing/2014/main" id="{89DE73F3-4A2F-648B-BD17-44C88CDB5688}"/>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1A20683A-1573-CC2D-401E-61BAED70A144}"/>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B5FF973-31C8-BEFD-DC1E-6209231AED94}"/>
              </a:ext>
            </a:extLst>
          </p:cNvPr>
          <p:cNvSpPr>
            <a:spLocks noGrp="1"/>
          </p:cNvSpPr>
          <p:nvPr>
            <p:ph type="body" sz="quarter" idx="16"/>
          </p:nvPr>
        </p:nvSpPr>
        <p:spPr/>
        <p:txBody>
          <a:bodyPr/>
          <a:lstStyle/>
          <a:p>
            <a:pPr algn="just"/>
            <a:r>
              <a:rPr lang="en-US" dirty="0">
                <a:hlinkClick r:id="rId3"/>
              </a:rPr>
              <a:t>Generally Available: Simple log alerts in Azure Monitor</a:t>
            </a:r>
            <a:endParaRPr lang="en-US" dirty="0"/>
          </a:p>
          <a:p>
            <a:pPr algn="just"/>
            <a:r>
              <a:rPr lang="en-US" dirty="0"/>
              <a:t>MS announced the General Availability of Simple log alerts in Azure Monitor, available starting today. This feature is designed to provide a simplified and more intuitive experience for monitoring and alerting, enhancing your ability to detect and respond to problems in near real-time. Unlike Log Search Alerts that aggregate rows over a defined period, Simple Log Alerts evaluate each row individually.</a:t>
            </a:r>
          </a:p>
        </p:txBody>
      </p:sp>
    </p:spTree>
    <p:extLst>
      <p:ext uri="{BB962C8B-B14F-4D97-AF65-F5344CB8AC3E}">
        <p14:creationId xmlns:p14="http://schemas.microsoft.com/office/powerpoint/2010/main" val="2370736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43C16-70E1-76E8-34FC-4D971266F2E4}"/>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6EFEF9D-C531-5164-3001-CAB3E530800A}"/>
              </a:ext>
            </a:extLst>
          </p:cNvPr>
          <p:cNvSpPr>
            <a:spLocks noGrp="1"/>
          </p:cNvSpPr>
          <p:nvPr>
            <p:ph type="body" sz="quarter" idx="10"/>
          </p:nvPr>
        </p:nvSpPr>
        <p:spPr/>
        <p:txBody>
          <a:bodyPr/>
          <a:lstStyle/>
          <a:p>
            <a:pPr algn="just"/>
            <a:r>
              <a:rPr lang="en-US" sz="1000" dirty="0">
                <a:hlinkClick r:id="rId2"/>
              </a:rPr>
              <a:t>Generally Available: </a:t>
            </a:r>
            <a:r>
              <a:rPr lang="en-US" sz="1000" dirty="0" err="1">
                <a:hlinkClick r:id="rId2"/>
              </a:rPr>
              <a:t>OpenTelemetry</a:t>
            </a:r>
            <a:r>
              <a:rPr lang="en-US" sz="1000" dirty="0">
                <a:hlinkClick r:id="rId2"/>
              </a:rPr>
              <a:t> Metrics, Visualizations, and Enhanced Monitoring in Azure Monitor for Azure VMs and Arc Servers</a:t>
            </a:r>
            <a:endParaRPr lang="en-US" sz="1000" dirty="0"/>
          </a:p>
          <a:p>
            <a:pPr algn="just"/>
            <a:r>
              <a:rPr lang="en-US" sz="1000" dirty="0" err="1"/>
              <a:t>OpenTelemetry</a:t>
            </a:r>
            <a:r>
              <a:rPr lang="en-US" sz="1000" dirty="0"/>
              <a:t> metrics and visualizations in Azure Monitor are generally available, delivering an enhanced, unified monitoring experience for Azure Virtual Machines and Arc Servers. This release consolidates key monitoring capabilities into a single experience and introduces a simplified onboarding experience, helping customers more efficiently observe, diagnose, and optimize their environments. </a:t>
            </a:r>
          </a:p>
          <a:p>
            <a:pPr algn="just"/>
            <a:r>
              <a:rPr lang="en-US" sz="1000" dirty="0"/>
              <a:t>Previously, VM monitoring visualizations were powered by metric data from Log Analytics which continues to be fully supported. Customers now also have the option to power these visualizations using </a:t>
            </a:r>
            <a:r>
              <a:rPr lang="en-US" sz="1000" dirty="0" err="1"/>
              <a:t>OpenTelemetry</a:t>
            </a:r>
            <a:r>
              <a:rPr lang="en-US" sz="1000" dirty="0"/>
              <a:t> (</a:t>
            </a:r>
            <a:r>
              <a:rPr lang="en-US" sz="1000" dirty="0" err="1"/>
              <a:t>OTel</a:t>
            </a:r>
            <a:r>
              <a:rPr lang="en-US" sz="1000" dirty="0"/>
              <a:t>) Gues OS metrics, offering a more cost-efficient and performant solution. </a:t>
            </a:r>
          </a:p>
        </p:txBody>
      </p:sp>
      <p:sp>
        <p:nvSpPr>
          <p:cNvPr id="11" name="Title 10">
            <a:extLst>
              <a:ext uri="{FF2B5EF4-FFF2-40B4-BE49-F238E27FC236}">
                <a16:creationId xmlns:a16="http://schemas.microsoft.com/office/drawing/2014/main" id="{1469B97F-5DC9-9FCE-E7F9-3A690CE53011}"/>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21B9C0FA-660D-52E2-A52D-5071C6022C4D}"/>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4278EE4-80FF-FF66-93C7-3BE34B7B9EDB}"/>
              </a:ext>
            </a:extLst>
          </p:cNvPr>
          <p:cNvSpPr>
            <a:spLocks noGrp="1"/>
          </p:cNvSpPr>
          <p:nvPr>
            <p:ph type="body" sz="quarter" idx="16"/>
          </p:nvPr>
        </p:nvSpPr>
        <p:spPr/>
        <p:txBody>
          <a:bodyPr/>
          <a:lstStyle/>
          <a:p>
            <a:pPr algn="just"/>
            <a:r>
              <a:rPr lang="en-US" dirty="0">
                <a:hlinkClick r:id="rId3"/>
              </a:rPr>
              <a:t>Generally Available: Ingest OTLP signals into Azure Monitor with the </a:t>
            </a:r>
            <a:r>
              <a:rPr lang="en-US" dirty="0" err="1">
                <a:hlinkClick r:id="rId3"/>
              </a:rPr>
              <a:t>OpenTelemetry</a:t>
            </a:r>
            <a:r>
              <a:rPr lang="en-US" dirty="0">
                <a:hlinkClick r:id="rId3"/>
              </a:rPr>
              <a:t> Collector</a:t>
            </a:r>
            <a:endParaRPr lang="en-US" dirty="0"/>
          </a:p>
          <a:p>
            <a:pPr algn="just"/>
            <a:r>
              <a:rPr lang="en-US" dirty="0"/>
              <a:t>Azure Monitor's support for native ingestion of </a:t>
            </a:r>
            <a:r>
              <a:rPr lang="en-US" dirty="0" err="1"/>
              <a:t>OpenTelemetry</a:t>
            </a:r>
            <a:r>
              <a:rPr lang="en-US" dirty="0"/>
              <a:t> Protocol (OTLP) signals is now generally available. This enables sending telemetry data directly from </a:t>
            </a:r>
            <a:r>
              <a:rPr lang="en-US" dirty="0" err="1"/>
              <a:t>OpenTelemetry</a:t>
            </a:r>
            <a:r>
              <a:rPr lang="en-US" dirty="0"/>
              <a:t>-instrumented applications and platforms to Azure Monitor.</a:t>
            </a:r>
          </a:p>
          <a:p>
            <a:pPr algn="just"/>
            <a:r>
              <a:rPr lang="en-US" dirty="0"/>
              <a:t>It is possible to configure </a:t>
            </a:r>
            <a:r>
              <a:rPr lang="en-US" dirty="0" err="1"/>
              <a:t>OpenTelemetry</a:t>
            </a:r>
            <a:r>
              <a:rPr lang="en-US" dirty="0"/>
              <a:t> Collector to send data directly to Azure Monitor cloud ingestion endpoints to ingest OTLP metrics, logs and traces using Microsoft Entra for authentication.</a:t>
            </a:r>
          </a:p>
          <a:p>
            <a:pPr algn="just"/>
            <a:r>
              <a:rPr lang="en-US" dirty="0"/>
              <a:t>Ingested OTLP metrics are stored in Azure Monitor Workspaces and can be queried and alerted upon with Prometheus query language (</a:t>
            </a:r>
            <a:r>
              <a:rPr lang="en-US" dirty="0" err="1"/>
              <a:t>PromQL</a:t>
            </a:r>
            <a:r>
              <a:rPr lang="en-US" dirty="0"/>
              <a:t>). OTLP logs and traces are stored in Log Analytics workspaces using new </a:t>
            </a:r>
            <a:r>
              <a:rPr lang="en-US" dirty="0" err="1"/>
              <a:t>OpenTelemetry</a:t>
            </a:r>
            <a:r>
              <a:rPr lang="en-US" dirty="0"/>
              <a:t> tables and semantics.</a:t>
            </a:r>
          </a:p>
        </p:txBody>
      </p:sp>
    </p:spTree>
    <p:extLst>
      <p:ext uri="{BB962C8B-B14F-4D97-AF65-F5344CB8AC3E}">
        <p14:creationId xmlns:p14="http://schemas.microsoft.com/office/powerpoint/2010/main" val="3594889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9EACE-2947-B6B2-9E8D-58D66D66FE2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0E0244-34EC-E9DD-ACD9-50A13C40D4E3}"/>
              </a:ext>
            </a:extLst>
          </p:cNvPr>
          <p:cNvSpPr>
            <a:spLocks noGrp="1"/>
          </p:cNvSpPr>
          <p:nvPr>
            <p:ph type="body" sz="quarter" idx="10"/>
          </p:nvPr>
        </p:nvSpPr>
        <p:spPr/>
        <p:txBody>
          <a:bodyPr/>
          <a:lstStyle/>
          <a:p>
            <a:pPr algn="just"/>
            <a:r>
              <a:rPr lang="en-US" sz="1000" dirty="0">
                <a:hlinkClick r:id="rId2"/>
              </a:rPr>
              <a:t>Generally Available: Dynamic threshold for Log search alerts</a:t>
            </a:r>
            <a:endParaRPr lang="en-US" sz="1000" dirty="0"/>
          </a:p>
          <a:p>
            <a:pPr algn="just"/>
            <a:r>
              <a:rPr lang="en-US" sz="1000" b="1" dirty="0"/>
              <a:t>Dynamic Thresholds for Azure Monitor Log Search Alerts</a:t>
            </a:r>
            <a:r>
              <a:rPr lang="en-US" sz="1000" dirty="0"/>
              <a:t> are now </a:t>
            </a:r>
            <a:r>
              <a:rPr lang="en-US" sz="1000" b="1" dirty="0"/>
              <a:t>generally available</a:t>
            </a:r>
            <a:r>
              <a:rPr lang="en-US" sz="1000" dirty="0"/>
              <a:t>, enabling organizations to create smarter alerts without manually defining static threshold values. The feature uses </a:t>
            </a:r>
            <a:r>
              <a:rPr lang="en-US" sz="1000" b="1" dirty="0"/>
              <a:t>machine learning</a:t>
            </a:r>
            <a:r>
              <a:rPr lang="en-US" sz="1000" dirty="0"/>
              <a:t> to analyze historical log query results, automatically calculate appropriate alert thresholds, and continuously adapt as data patterns change.</a:t>
            </a:r>
          </a:p>
          <a:p>
            <a:pPr algn="just"/>
            <a:r>
              <a:rPr lang="en-US" sz="1000" b="1" dirty="0"/>
              <a:t>Key Benefits</a:t>
            </a:r>
          </a:p>
          <a:p>
            <a:pPr marL="171450" indent="-171450" algn="just">
              <a:buFont typeface="Arial" panose="020B0604020202020204" pitchFamily="34" charset="0"/>
              <a:buChar char="•"/>
            </a:pPr>
            <a:r>
              <a:rPr lang="en-US" sz="1000" dirty="0"/>
              <a:t>No Manual Threshold Tuning </a:t>
            </a:r>
          </a:p>
          <a:p>
            <a:pPr marL="171450" indent="-171450" algn="just">
              <a:buFont typeface="Arial" panose="020B0604020202020204" pitchFamily="34" charset="0"/>
              <a:buChar char="•"/>
            </a:pPr>
            <a:r>
              <a:rPr lang="en-US" sz="1000" dirty="0"/>
              <a:t>Machine Learning-Based Detection </a:t>
            </a:r>
          </a:p>
          <a:p>
            <a:pPr marL="171450" indent="-171450" algn="just">
              <a:buFont typeface="Arial" panose="020B0604020202020204" pitchFamily="34" charset="0"/>
              <a:buChar char="•"/>
            </a:pPr>
            <a:r>
              <a:rPr lang="en-US" sz="1000" dirty="0"/>
              <a:t>Seasonality Awareness </a:t>
            </a:r>
          </a:p>
          <a:p>
            <a:pPr marL="171450" indent="-171450" algn="just">
              <a:buFont typeface="Arial" panose="020B0604020202020204" pitchFamily="34" charset="0"/>
              <a:buChar char="•"/>
            </a:pPr>
            <a:r>
              <a:rPr lang="en-US" sz="1000" dirty="0"/>
              <a:t>Automatic Adaptation </a:t>
            </a:r>
          </a:p>
          <a:p>
            <a:pPr marL="171450" indent="-171450" algn="just">
              <a:buFont typeface="Arial" panose="020B0604020202020204" pitchFamily="34" charset="0"/>
              <a:buChar char="•"/>
            </a:pPr>
            <a:r>
              <a:rPr lang="en-US" sz="1000" dirty="0"/>
              <a:t>Multi-Dimensional Monitoring </a:t>
            </a:r>
          </a:p>
        </p:txBody>
      </p:sp>
      <p:sp>
        <p:nvSpPr>
          <p:cNvPr id="11" name="Title 10">
            <a:extLst>
              <a:ext uri="{FF2B5EF4-FFF2-40B4-BE49-F238E27FC236}">
                <a16:creationId xmlns:a16="http://schemas.microsoft.com/office/drawing/2014/main" id="{F799D386-8FFB-9287-3092-EBC4EED0ED44}"/>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3ECB1CBE-D19D-DB22-C144-06273C18631E}"/>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9E41336-3964-F676-4CD6-656D0DDBD34A}"/>
              </a:ext>
            </a:extLst>
          </p:cNvPr>
          <p:cNvSpPr>
            <a:spLocks noGrp="1"/>
          </p:cNvSpPr>
          <p:nvPr>
            <p:ph type="body" sz="quarter" idx="16"/>
          </p:nvPr>
        </p:nvSpPr>
        <p:spPr/>
        <p:txBody>
          <a:bodyPr/>
          <a:lstStyle/>
          <a:p>
            <a:r>
              <a:rPr lang="en-US" dirty="0">
                <a:hlinkClick r:id="rId3"/>
              </a:rPr>
              <a:t>Generally Available: Additional support for </a:t>
            </a:r>
            <a:r>
              <a:rPr lang="en-US" dirty="0" err="1">
                <a:hlinkClick r:id="rId3"/>
              </a:rPr>
              <a:t>OpenTelemetry</a:t>
            </a:r>
            <a:r>
              <a:rPr lang="en-US" dirty="0">
                <a:hlinkClick r:id="rId3"/>
              </a:rPr>
              <a:t> destinations (New Relic, Dynatrace, Elastic)</a:t>
            </a:r>
            <a:endParaRPr lang="en-US" dirty="0"/>
          </a:p>
          <a:p>
            <a:pPr algn="just"/>
            <a:r>
              <a:rPr lang="en-US" dirty="0"/>
              <a:t>Azure Container Apps enhances its </a:t>
            </a:r>
            <a:r>
              <a:rPr lang="en-US" dirty="0" err="1"/>
              <a:t>OpenTelemetry</a:t>
            </a:r>
            <a:r>
              <a:rPr lang="en-US" dirty="0"/>
              <a:t> (</a:t>
            </a:r>
            <a:r>
              <a:rPr lang="en-US" dirty="0" err="1"/>
              <a:t>OTel</a:t>
            </a:r>
            <a:r>
              <a:rPr lang="en-US" dirty="0"/>
              <a:t>) capabilities by expanding support for third-party observability platforms. This update introduces additional endpoint options for commonly used monitoring tools such as New Relic, Dynatrace, and Elastic, extending the existing managed </a:t>
            </a:r>
            <a:r>
              <a:rPr lang="en-US" dirty="0" err="1"/>
              <a:t>OpenTelemetry</a:t>
            </a:r>
            <a:r>
              <a:rPr lang="en-US" dirty="0"/>
              <a:t> experience with simpler setup for additional third-party observability platforms.  </a:t>
            </a:r>
          </a:p>
          <a:p>
            <a:pPr algn="just"/>
            <a:r>
              <a:rPr lang="en-US" dirty="0"/>
              <a:t>This update makes it easier to send logs, metrics, and traces to more destinations without deploying or managing your own agents. Teams can now use a more consistent </a:t>
            </a:r>
            <a:r>
              <a:rPr lang="en-US" dirty="0" err="1"/>
              <a:t>OpenTelemetry</a:t>
            </a:r>
            <a:r>
              <a:rPr lang="en-US" dirty="0"/>
              <a:t>-based pipeline across Azure Monitor, Datadog, New Relic, Dynatrace, Elastic, and OTLP-compatible endpoints, with less configuration overhead and more flexibility to route telemetry where they need it, including support for OTLP/HTTP endpoints, enabling integration with any </a:t>
            </a:r>
            <a:r>
              <a:rPr lang="en-US" dirty="0" err="1"/>
              <a:t>OpenTelemetry</a:t>
            </a:r>
            <a:r>
              <a:rPr lang="en-US" dirty="0"/>
              <a:t>-compatible backend. </a:t>
            </a:r>
          </a:p>
        </p:txBody>
      </p:sp>
    </p:spTree>
    <p:extLst>
      <p:ext uri="{BB962C8B-B14F-4D97-AF65-F5344CB8AC3E}">
        <p14:creationId xmlns:p14="http://schemas.microsoft.com/office/powerpoint/2010/main" val="3089708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BA7896F-08ED-CA4C-5B17-182A40918CAB}"/>
              </a:ext>
            </a:extLst>
          </p:cNvPr>
          <p:cNvSpPr>
            <a:spLocks noGrp="1"/>
          </p:cNvSpPr>
          <p:nvPr>
            <p:ph type="title"/>
          </p:nvPr>
        </p:nvSpPr>
        <p:spPr/>
        <p:txBody>
          <a:bodyPr/>
          <a:lstStyle/>
          <a:p>
            <a:r>
              <a:rPr lang="en-US" sz="1600" dirty="0"/>
              <a:t>Management &amp; Governance Updates</a:t>
            </a:r>
            <a:endParaRPr lang="en-US" dirty="0"/>
          </a:p>
        </p:txBody>
      </p:sp>
      <p:sp>
        <p:nvSpPr>
          <p:cNvPr id="4" name="Text Placeholder 3">
            <a:extLst>
              <a:ext uri="{FF2B5EF4-FFF2-40B4-BE49-F238E27FC236}">
                <a16:creationId xmlns:a16="http://schemas.microsoft.com/office/drawing/2014/main" id="{D658047A-4090-AD08-4B15-6A2A56E3093D}"/>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D8B352AB-EA61-4ED9-4129-68C56A1DE16A}"/>
              </a:ext>
            </a:extLst>
          </p:cNvPr>
          <p:cNvSpPr>
            <a:spLocks noGrp="1"/>
          </p:cNvSpPr>
          <p:nvPr>
            <p:ph type="body" sz="quarter" idx="16"/>
          </p:nvPr>
        </p:nvSpPr>
        <p:spPr/>
        <p:txBody>
          <a:bodyPr/>
          <a:lstStyle/>
          <a:p>
            <a:pPr algn="just"/>
            <a:r>
              <a:rPr lang="en-US" dirty="0">
                <a:hlinkClick r:id="rId2"/>
              </a:rPr>
              <a:t>Generally Available: Azure Files assessments are now available worldwide using Azure Migrate</a:t>
            </a:r>
            <a:endParaRPr lang="en-US" dirty="0"/>
          </a:p>
          <a:p>
            <a:pPr algn="just"/>
            <a:r>
              <a:rPr lang="en-US" b="1" dirty="0"/>
              <a:t>Azure Migrate</a:t>
            </a:r>
            <a:r>
              <a:rPr lang="en-US" dirty="0"/>
              <a:t> now </a:t>
            </a:r>
            <a:r>
              <a:rPr lang="en-US" b="1" dirty="0"/>
              <a:t>generally supports discovery and assessment of SMB and NFS file shares</a:t>
            </a:r>
            <a:r>
              <a:rPr lang="en-US" dirty="0"/>
              <a:t> hosted on Windows and Linux servers, helping organizations plan migrations to </a:t>
            </a:r>
            <a:r>
              <a:rPr lang="en-US" b="1" dirty="0"/>
              <a:t>Azure Files</a:t>
            </a:r>
            <a:r>
              <a:rPr lang="en-US" dirty="0"/>
              <a:t> with greater accuracy and confidence.</a:t>
            </a:r>
          </a:p>
          <a:p>
            <a:pPr algn="just"/>
            <a:r>
              <a:rPr lang="en-US" b="1" dirty="0"/>
              <a:t>Key Benefits</a:t>
            </a:r>
          </a:p>
          <a:p>
            <a:pPr marL="171450" indent="-171450" algn="just">
              <a:buFont typeface="Arial" panose="020B0604020202020204" pitchFamily="34" charset="0"/>
              <a:buChar char="•"/>
            </a:pPr>
            <a:r>
              <a:rPr lang="en-US" dirty="0"/>
              <a:t>Automated File Share Discovery </a:t>
            </a:r>
          </a:p>
          <a:p>
            <a:pPr marL="171450" indent="-171450" algn="just">
              <a:buFont typeface="Arial" panose="020B0604020202020204" pitchFamily="34" charset="0"/>
              <a:buChar char="•"/>
            </a:pPr>
            <a:r>
              <a:rPr lang="en-US" dirty="0"/>
              <a:t>Migration Planning and Assessment </a:t>
            </a:r>
          </a:p>
          <a:p>
            <a:pPr marL="171450" indent="-171450" algn="just">
              <a:buFont typeface="Arial" panose="020B0604020202020204" pitchFamily="34" charset="0"/>
              <a:buChar char="•"/>
            </a:pPr>
            <a:r>
              <a:rPr lang="en-US" dirty="0"/>
              <a:t>Cost and Business Case Analysis </a:t>
            </a:r>
          </a:p>
          <a:p>
            <a:pPr marL="171450" indent="-171450" algn="just">
              <a:buFont typeface="Arial" panose="020B0604020202020204" pitchFamily="34" charset="0"/>
              <a:buChar char="•"/>
            </a:pPr>
            <a:r>
              <a:rPr lang="en-US" dirty="0"/>
              <a:t>Azure Files Sizing Recommendations </a:t>
            </a:r>
          </a:p>
          <a:p>
            <a:pPr marL="171450" indent="-171450" algn="just">
              <a:buFont typeface="Arial" panose="020B0604020202020204" pitchFamily="34" charset="0"/>
              <a:buChar char="•"/>
            </a:pPr>
            <a:r>
              <a:rPr lang="en-US" dirty="0"/>
              <a:t>Alternative Migration Paths </a:t>
            </a:r>
          </a:p>
        </p:txBody>
      </p:sp>
      <p:sp>
        <p:nvSpPr>
          <p:cNvPr id="8" name="Text Placeholder 7">
            <a:extLst>
              <a:ext uri="{FF2B5EF4-FFF2-40B4-BE49-F238E27FC236}">
                <a16:creationId xmlns:a16="http://schemas.microsoft.com/office/drawing/2014/main" id="{B5EA96F6-B061-69E7-5A95-03ACE7125EE4}"/>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050694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Compute</a:t>
            </a:r>
          </a:p>
        </p:txBody>
      </p:sp>
    </p:spTree>
    <p:extLst>
      <p:ext uri="{BB962C8B-B14F-4D97-AF65-F5344CB8AC3E}">
        <p14:creationId xmlns:p14="http://schemas.microsoft.com/office/powerpoint/2010/main" val="2747428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Public Preview: Azure Functions now includes managed connectors to integrate with 1400+ of your favorite systems</a:t>
            </a:r>
            <a:endParaRPr lang="en-US" sz="1000" dirty="0"/>
          </a:p>
          <a:p>
            <a:pPr algn="just"/>
            <a:r>
              <a:rPr lang="en-US" sz="1000" dirty="0"/>
              <a:t>Azure Functions now includes managed connectors - the same 1,400+ connector ecosystem behind Logic Apps and Power Platform - as first-class triggers and operations. This enables customers to build integrated systems across the broader ecosystem such as Office 365, Teams, SharePoint, Salesforce, and other SaaS services, using familiar Functions workflows. </a:t>
            </a:r>
          </a:p>
          <a:p>
            <a:pPr algn="just"/>
            <a:r>
              <a:rPr lang="en-US" sz="1000" dirty="0"/>
              <a:t>With connectors natively available, developers can build event-driven integrations without custom polling logic or manual SDK integration, simplifying development and reducing integration friction. </a:t>
            </a:r>
          </a:p>
          <a:p>
            <a:pPr algn="just"/>
            <a:r>
              <a:rPr lang="en-US" sz="1000" dirty="0"/>
              <a:t>This feature eliminates the need to build custom integration logic, enabling direct connections to services like Microsoft 365, Salesforce, ServiceNow, SAP, Dynamics, and 1400+ other systems.</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Go language support on Azure Functions</a:t>
            </a:r>
            <a:endParaRPr lang="en-US" dirty="0"/>
          </a:p>
          <a:p>
            <a:pPr algn="just"/>
            <a:r>
              <a:rPr lang="en-US" dirty="0"/>
              <a:t>Azure Functions now supports Go as a first-class language option in public preview. With this release, developers can author event-driven serverless apps in Go using the Azure Functions Go programming model and SDK, while still benefiting from Azure Functions capabilities such as triggers, bindings, and integrated observability. </a:t>
            </a:r>
          </a:p>
          <a:p>
            <a:pPr algn="just"/>
            <a:r>
              <a:rPr lang="en-US" dirty="0"/>
              <a:t>Go support helps teams that standardize on Go deliver cloud-native APIs, automation, and integration workloads without introducing a second language stack. Developers can use familiar Go tooling and patterns while building Functions that respond to HTTP requests, scheduled events, messaging systems, and storage events. </a:t>
            </a:r>
          </a:p>
          <a:p>
            <a:pPr algn="just"/>
            <a:r>
              <a:rPr lang="en-US" dirty="0"/>
              <a:t>In preview, Go language is supported on the Azure Functions Flex Consumption plan. This enables rapid scaling, pay-per-use economics, and streamlined deployment for Go workloads on Azure. </a:t>
            </a:r>
          </a:p>
          <a:p>
            <a:pPr algn="just"/>
            <a:endParaRPr lang="en-US" dirty="0"/>
          </a:p>
        </p:txBody>
      </p:sp>
    </p:spTree>
    <p:extLst>
      <p:ext uri="{BB962C8B-B14F-4D97-AF65-F5344CB8AC3E}">
        <p14:creationId xmlns:p14="http://schemas.microsoft.com/office/powerpoint/2010/main" val="67413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D561AA0-1E73-DD56-2FE5-877C67F1CF5D}"/>
              </a:ext>
            </a:extLst>
          </p:cNvPr>
          <p:cNvSpPr>
            <a:spLocks noGrp="1"/>
          </p:cNvSpPr>
          <p:nvPr>
            <p:ph type="body" sz="quarter" idx="10"/>
          </p:nvPr>
        </p:nvSpPr>
        <p:spPr/>
        <p:txBody>
          <a:bodyPr/>
          <a:lstStyle/>
          <a:p>
            <a:pPr algn="just"/>
            <a:r>
              <a:rPr lang="en-US" sz="1000" dirty="0">
                <a:hlinkClick r:id="rId2"/>
              </a:rPr>
              <a:t>Preview: Azure Cobalt 200 Arm-based Dpsv7, Dplsv7, Epsv7, Mpsv4, and Lpsv5-series Virtual Machines</a:t>
            </a:r>
            <a:endParaRPr lang="en-US" sz="1000" dirty="0"/>
          </a:p>
          <a:p>
            <a:pPr algn="just"/>
            <a:r>
              <a:rPr lang="en-US" sz="1000" dirty="0"/>
              <a:t>The general purpose Dpsv7 and Dplsv7, memory-optimized Epsv7, high-memory Mpsv4, and dense storage Lpsv5 VMs are now available in preview. These virtual machines deliver significant enhancements over the previous generation Cobalt 100 VMs, offering improved CPU performance, greater scalability, and expanded configuration options to meet the demands of a wide range of workloads. </a:t>
            </a:r>
            <a:br>
              <a:rPr lang="en-US" sz="1000" dirty="0"/>
            </a:br>
            <a:r>
              <a:rPr lang="en-US" sz="1000" dirty="0"/>
              <a:t>Key improvements include:</a:t>
            </a:r>
          </a:p>
          <a:p>
            <a:pPr marL="171450" indent="-171450" algn="just">
              <a:buFont typeface="Arial" panose="020B0604020202020204" pitchFamily="34" charset="0"/>
              <a:buChar char="•"/>
            </a:pPr>
            <a:r>
              <a:rPr lang="en-US" sz="1000" dirty="0"/>
              <a:t>Up to 50% improvement in CPU performance (workload dependent)</a:t>
            </a:r>
          </a:p>
          <a:p>
            <a:pPr marL="171450" indent="-171450" algn="just">
              <a:buFont typeface="Arial" panose="020B0604020202020204" pitchFamily="34" charset="0"/>
              <a:buChar char="•"/>
            </a:pPr>
            <a:r>
              <a:rPr lang="en-US" sz="1000" dirty="0"/>
              <a:t>20% improvement in remote storage IOPS with </a:t>
            </a:r>
            <a:r>
              <a:rPr lang="en-US" sz="1000" dirty="0" err="1"/>
              <a:t>NVMe</a:t>
            </a:r>
            <a:endParaRPr lang="en-US" sz="1000" dirty="0"/>
          </a:p>
          <a:p>
            <a:pPr marL="171450" indent="-171450" algn="just">
              <a:buFont typeface="Arial" panose="020B0604020202020204" pitchFamily="34" charset="0"/>
              <a:buChar char="•"/>
            </a:pPr>
            <a:r>
              <a:rPr lang="en-US" sz="1000" dirty="0"/>
              <a:t>10% better remote storage throughput with </a:t>
            </a:r>
            <a:r>
              <a:rPr lang="en-US" sz="1000" dirty="0" err="1"/>
              <a:t>NVMe</a:t>
            </a:r>
            <a:endParaRPr lang="en-US" sz="1000" dirty="0"/>
          </a:p>
          <a:p>
            <a:pPr marL="171450" indent="-171450" algn="just">
              <a:buFont typeface="Arial" panose="020B0604020202020204" pitchFamily="34" charset="0"/>
              <a:buChar char="•"/>
            </a:pPr>
            <a:r>
              <a:rPr lang="en-US" sz="1000" dirty="0"/>
              <a:t>15% improvement in network bandwidth</a:t>
            </a:r>
          </a:p>
          <a:p>
            <a:pPr algn="just"/>
            <a:endParaRPr lang="en-US" sz="1000" dirty="0"/>
          </a:p>
        </p:txBody>
      </p:sp>
      <p:sp>
        <p:nvSpPr>
          <p:cNvPr id="3" name="Title 2">
            <a:extLst>
              <a:ext uri="{FF2B5EF4-FFF2-40B4-BE49-F238E27FC236}">
                <a16:creationId xmlns:a16="http://schemas.microsoft.com/office/drawing/2014/main" id="{DE77B01A-A0AD-A857-FFD6-457F0C2C2A67}"/>
              </a:ext>
            </a:extLst>
          </p:cNvPr>
          <p:cNvSpPr>
            <a:spLocks noGrp="1"/>
          </p:cNvSpPr>
          <p:nvPr>
            <p:ph type="title"/>
          </p:nvPr>
        </p:nvSpPr>
        <p:spPr/>
        <p:txBody>
          <a:bodyPr/>
          <a:lstStyle/>
          <a:p>
            <a:r>
              <a:rPr lang="en-US" sz="1600" dirty="0"/>
              <a:t>Compute Updates</a:t>
            </a:r>
            <a:endParaRPr lang="en-US" dirty="0"/>
          </a:p>
        </p:txBody>
      </p:sp>
      <p:sp>
        <p:nvSpPr>
          <p:cNvPr id="4" name="Text Placeholder 3">
            <a:extLst>
              <a:ext uri="{FF2B5EF4-FFF2-40B4-BE49-F238E27FC236}">
                <a16:creationId xmlns:a16="http://schemas.microsoft.com/office/drawing/2014/main" id="{FB03ADAA-8B1E-2A71-651B-A5BE1370BDD5}"/>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4E83C589-3FFA-134A-A2DF-214F4E9ED403}"/>
              </a:ext>
            </a:extLst>
          </p:cNvPr>
          <p:cNvSpPr>
            <a:spLocks noGrp="1"/>
          </p:cNvSpPr>
          <p:nvPr>
            <p:ph type="body" sz="quarter" idx="16"/>
          </p:nvPr>
        </p:nvSpPr>
        <p:spPr/>
        <p:txBody>
          <a:bodyPr/>
          <a:lstStyle/>
          <a:p>
            <a:pPr algn="just"/>
            <a:r>
              <a:rPr lang="en-US" dirty="0">
                <a:hlinkClick r:id="rId3"/>
              </a:rPr>
              <a:t>Public Preview: Serverless agents runtime for Azure Functions</a:t>
            </a:r>
            <a:endParaRPr lang="en-US" dirty="0"/>
          </a:p>
          <a:p>
            <a:pPr algn="just"/>
            <a:r>
              <a:rPr lang="en-US" b="1" dirty="0"/>
              <a:t>Azure Functions</a:t>
            </a:r>
            <a:r>
              <a:rPr lang="en-US" dirty="0"/>
              <a:t> now supports </a:t>
            </a:r>
            <a:r>
              <a:rPr lang="en-US" b="1" dirty="0"/>
              <a:t>AI agents as a first-class workload</a:t>
            </a:r>
            <a:r>
              <a:rPr lang="en-US" dirty="0"/>
              <a:t>, introducing a </a:t>
            </a:r>
            <a:r>
              <a:rPr lang="en-US" b="1" dirty="0"/>
              <a:t>markdown-first programming model</a:t>
            </a:r>
            <a:r>
              <a:rPr lang="en-US" dirty="0"/>
              <a:t> that allows developers to build event-driven serverless agents using natural language instead of complex framework code. The new Serverless Agents Runtime enables agents to respond to conversations, process business events, and perform actions across enterprise systems while leveraging the familiar Azure Functions ecosystem.</a:t>
            </a:r>
          </a:p>
          <a:p>
            <a:pPr algn="just"/>
            <a:r>
              <a:rPr lang="en-US" dirty="0"/>
              <a:t>Developers can trigger agents using any Azure Functions trigger, including </a:t>
            </a:r>
            <a:r>
              <a:rPr lang="en-US" b="1" dirty="0"/>
              <a:t>HTTP, Timer, Service Bus, Event Hub, Event Grid, Cosmos DB, Storage, and connector-based triggers such as Teams messages, Outlook emails, and calendar events</a:t>
            </a:r>
            <a:r>
              <a:rPr lang="en-US" dirty="0"/>
              <a:t>. Agents can also consume MCP servers, invoke enterprise connectors as tools, perform browser automation, execute sandboxed code in Azure Container Apps Dynamic Sessions, and optionally expose built-in chat interfaces, APIs, and MCP endpoints without additional development effort.</a:t>
            </a:r>
          </a:p>
          <a:p>
            <a:pPr algn="just"/>
            <a:r>
              <a:rPr lang="en-US" dirty="0"/>
              <a:t>Running on the </a:t>
            </a:r>
            <a:r>
              <a:rPr lang="en-US" b="1" dirty="0"/>
              <a:t>Azure Functions Flex Consumption Plan</a:t>
            </a:r>
            <a:r>
              <a:rPr lang="en-US" dirty="0"/>
              <a:t>, the solution benefits from </a:t>
            </a:r>
            <a:r>
              <a:rPr lang="en-US" b="1" dirty="0"/>
              <a:t>s</a:t>
            </a:r>
            <a:endParaRPr lang="en-US" dirty="0"/>
          </a:p>
          <a:p>
            <a:pPr algn="just"/>
            <a:endParaRPr lang="en-US" dirty="0"/>
          </a:p>
        </p:txBody>
      </p:sp>
    </p:spTree>
    <p:extLst>
      <p:ext uri="{BB962C8B-B14F-4D97-AF65-F5344CB8AC3E}">
        <p14:creationId xmlns:p14="http://schemas.microsoft.com/office/powerpoint/2010/main" val="3950280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CB705A2-7D37-AD9C-8FD7-A886C1327CA3}"/>
              </a:ext>
            </a:extLst>
          </p:cNvPr>
          <p:cNvSpPr>
            <a:spLocks noGrp="1"/>
          </p:cNvSpPr>
          <p:nvPr>
            <p:ph type="body" sz="quarter" idx="10"/>
          </p:nvPr>
        </p:nvSpPr>
        <p:spPr/>
        <p:txBody>
          <a:bodyPr/>
          <a:lstStyle/>
          <a:p>
            <a:pPr algn="just"/>
            <a:r>
              <a:rPr lang="en-US" sz="1000" dirty="0">
                <a:hlinkClick r:id="rId2"/>
              </a:rPr>
              <a:t>Public Preview: Knowledge as a Service with Azure Logic Apps.</a:t>
            </a:r>
            <a:endParaRPr lang="en-US" sz="1000" dirty="0"/>
          </a:p>
          <a:p>
            <a:pPr algn="just"/>
            <a:r>
              <a:rPr lang="en-US" sz="1000" b="1" dirty="0"/>
              <a:t>Azure Logic Apps</a:t>
            </a:r>
            <a:r>
              <a:rPr lang="en-US" sz="1000" dirty="0"/>
              <a:t> now provides </a:t>
            </a:r>
            <a:r>
              <a:rPr lang="en-US" sz="1000" b="1" dirty="0"/>
              <a:t>native Retrieval-Augmented Generation (RAG)</a:t>
            </a:r>
            <a:r>
              <a:rPr lang="en-US" sz="1000" dirty="0"/>
              <a:t> capabilities, allowing developers to build grounded AI applications without managing complex RAG infrastructure. Documents can be uploaded directly into workflows, where content is automatically </a:t>
            </a:r>
            <a:r>
              <a:rPr lang="en-US" sz="1000" b="1" dirty="0"/>
              <a:t>ingested, chunked, vectorized, and made available for retrieval</a:t>
            </a:r>
            <a:r>
              <a:rPr lang="en-US" sz="1000" dirty="0"/>
              <a:t>. Retrieval becomes a built-in workflow action, eliminating the need to separately manage vector databases, embedding pipelines, and retrieval services. This significantly simplifies the development of </a:t>
            </a:r>
            <a:r>
              <a:rPr lang="en-US" sz="1000" b="1" dirty="0"/>
              <a:t>AI agents, copilots, and intelligent business applications</a:t>
            </a:r>
            <a:r>
              <a:rPr lang="en-US" sz="1000" dirty="0"/>
              <a:t>, enabling teams to move faster from prototype to production while reducing operational complexity and infrastructure overhead.</a:t>
            </a:r>
          </a:p>
        </p:txBody>
      </p:sp>
      <p:sp>
        <p:nvSpPr>
          <p:cNvPr id="3" name="Title 2">
            <a:extLst>
              <a:ext uri="{FF2B5EF4-FFF2-40B4-BE49-F238E27FC236}">
                <a16:creationId xmlns:a16="http://schemas.microsoft.com/office/drawing/2014/main" id="{7308B868-8B15-F73B-4F66-5ABE9339D693}"/>
              </a:ext>
            </a:extLst>
          </p:cNvPr>
          <p:cNvSpPr>
            <a:spLocks noGrp="1"/>
          </p:cNvSpPr>
          <p:nvPr>
            <p:ph type="title"/>
          </p:nvPr>
        </p:nvSpPr>
        <p:spPr/>
        <p:txBody>
          <a:bodyPr/>
          <a:lstStyle/>
          <a:p>
            <a:r>
              <a:rPr lang="en-US" sz="1600" dirty="0"/>
              <a:t>Compute Updates</a:t>
            </a:r>
            <a:endParaRPr lang="en-US" dirty="0"/>
          </a:p>
        </p:txBody>
      </p:sp>
      <p:sp>
        <p:nvSpPr>
          <p:cNvPr id="4" name="Text Placeholder 3">
            <a:extLst>
              <a:ext uri="{FF2B5EF4-FFF2-40B4-BE49-F238E27FC236}">
                <a16:creationId xmlns:a16="http://schemas.microsoft.com/office/drawing/2014/main" id="{CE88ED4A-363D-20E2-544E-B1BF87EF8F35}"/>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3EF7C336-0C6C-5B61-A873-D8212F479F0A}"/>
              </a:ext>
            </a:extLst>
          </p:cNvPr>
          <p:cNvSpPr>
            <a:spLocks noGrp="1"/>
          </p:cNvSpPr>
          <p:nvPr>
            <p:ph type="body" sz="quarter" idx="16"/>
          </p:nvPr>
        </p:nvSpPr>
        <p:spPr/>
        <p:txBody>
          <a:bodyPr/>
          <a:lstStyle/>
          <a:p>
            <a:pPr algn="just"/>
            <a:r>
              <a:rPr lang="en-US" dirty="0">
                <a:hlinkClick r:id="rId3"/>
              </a:rPr>
              <a:t>Public Preview: Azure Logic Apps Automation SKU for agentic business process automation.</a:t>
            </a:r>
            <a:endParaRPr lang="en-US" dirty="0"/>
          </a:p>
          <a:p>
            <a:pPr algn="just"/>
            <a:r>
              <a:rPr lang="en-US" b="1" dirty="0"/>
              <a:t>Azure Logic Apps Automation SKU</a:t>
            </a:r>
            <a:r>
              <a:rPr lang="en-US" dirty="0"/>
              <a:t> introduces a unified platform for </a:t>
            </a:r>
            <a:r>
              <a:rPr lang="en-US" b="1" dirty="0"/>
              <a:t>agentic business process automation</a:t>
            </a:r>
            <a:r>
              <a:rPr lang="en-US" dirty="0"/>
              <a:t>, allowing developers to orchestrate </a:t>
            </a:r>
            <a:r>
              <a:rPr lang="en-US" b="1" dirty="0"/>
              <a:t>Logic Apps workflows, APIs, and Microsoft Foundry Hosted Agents</a:t>
            </a:r>
            <a:r>
              <a:rPr lang="en-US" dirty="0"/>
              <a:t> together. The new SKU simplifies the creation of AI-driven business processes by providing built-in support for agent invocation, evaluation, guardrails, observability, and scalable workflow orchestration. By reducing infrastructure complexity and eliminating the need for custom integration layers between workflows and AI agents, organizations can accelerate the delivery of </a:t>
            </a:r>
            <a:r>
              <a:rPr lang="en-US" b="1" dirty="0"/>
              <a:t>production-ready enterprise automation</a:t>
            </a:r>
            <a:r>
              <a:rPr lang="en-US" dirty="0"/>
              <a:t> that combines deterministic workflows with AI-powered reasoning.</a:t>
            </a:r>
          </a:p>
        </p:txBody>
      </p:sp>
    </p:spTree>
    <p:extLst>
      <p:ext uri="{BB962C8B-B14F-4D97-AF65-F5344CB8AC3E}">
        <p14:creationId xmlns:p14="http://schemas.microsoft.com/office/powerpoint/2010/main" val="450895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E2D0AA5-20B3-E95D-C9CF-EDA41852B3ED}"/>
              </a:ext>
            </a:extLst>
          </p:cNvPr>
          <p:cNvSpPr>
            <a:spLocks noGrp="1"/>
          </p:cNvSpPr>
          <p:nvPr>
            <p:ph type="body" sz="quarter" idx="10"/>
          </p:nvPr>
        </p:nvSpPr>
        <p:spPr/>
        <p:txBody>
          <a:bodyPr/>
          <a:lstStyle/>
          <a:p>
            <a:pPr algn="just"/>
            <a:r>
              <a:rPr lang="en-US" sz="1000" dirty="0">
                <a:hlinkClick r:id="rId2"/>
              </a:rPr>
              <a:t>Public preview: Azure Linux 4.0 for Azure Virtual Machines and VM Scale Sets</a:t>
            </a:r>
            <a:endParaRPr lang="en-US" sz="1000" dirty="0"/>
          </a:p>
          <a:p>
            <a:pPr algn="just"/>
            <a:r>
              <a:rPr lang="en-US" sz="1000" b="1" dirty="0"/>
              <a:t>Azure Linux 4.0 (Public Preview)</a:t>
            </a:r>
            <a:r>
              <a:rPr lang="en-US" sz="1000" dirty="0"/>
              <a:t> is Microsoft's next-generation, Azure-optimized Linux distribution for </a:t>
            </a:r>
            <a:r>
              <a:rPr lang="en-US" sz="1000" b="1" dirty="0"/>
              <a:t>Azure Virtual Machines and VM Scale Sets</a:t>
            </a:r>
            <a:r>
              <a:rPr lang="en-US" sz="1000" dirty="0"/>
              <a:t>. Designed specifically for Azure workloads, it delivers improved performance, stronger security, simplified operations, and a modern software stack while remaining free to use with Azure compute services.</a:t>
            </a:r>
          </a:p>
          <a:p>
            <a:pPr algn="just"/>
            <a:r>
              <a:rPr lang="en-US" sz="1000" b="1" dirty="0"/>
              <a:t>Key Highlights</a:t>
            </a:r>
          </a:p>
          <a:p>
            <a:pPr marL="171450" indent="-171450" algn="just">
              <a:buFont typeface="Arial" panose="020B0604020202020204" pitchFamily="34" charset="0"/>
              <a:buChar char="•"/>
            </a:pPr>
            <a:r>
              <a:rPr lang="en-US" sz="1000" dirty="0"/>
              <a:t>Modern Platform Stack </a:t>
            </a:r>
          </a:p>
          <a:p>
            <a:pPr marL="171450" indent="-171450" algn="just">
              <a:buFont typeface="Arial" panose="020B0604020202020204" pitchFamily="34" charset="0"/>
              <a:buChar char="•"/>
            </a:pPr>
            <a:r>
              <a:rPr lang="en-US" sz="1000" dirty="0"/>
              <a:t>Azure-Optimized Performance </a:t>
            </a:r>
          </a:p>
          <a:p>
            <a:pPr marL="171450" indent="-171450" algn="just">
              <a:buFont typeface="Arial" panose="020B0604020202020204" pitchFamily="34" charset="0"/>
              <a:buChar char="•"/>
            </a:pPr>
            <a:r>
              <a:rPr lang="en-US" sz="1000" dirty="0"/>
              <a:t>Security by Default </a:t>
            </a:r>
          </a:p>
          <a:p>
            <a:pPr marL="171450" indent="-171450" algn="just">
              <a:buFont typeface="Arial" panose="020B0604020202020204" pitchFamily="34" charset="0"/>
              <a:buChar char="•"/>
            </a:pPr>
            <a:r>
              <a:rPr lang="en-US" sz="1000" dirty="0"/>
              <a:t>Minimal Attack Surface </a:t>
            </a:r>
          </a:p>
          <a:p>
            <a:pPr marL="171450" indent="-171450" algn="just">
              <a:buFont typeface="Arial" panose="020B0604020202020204" pitchFamily="34" charset="0"/>
              <a:buChar char="•"/>
            </a:pPr>
            <a:r>
              <a:rPr lang="en-US" sz="1000" dirty="0"/>
              <a:t>Microsoft-Owned Supply Chain </a:t>
            </a:r>
          </a:p>
          <a:p>
            <a:pPr marL="171450" indent="-171450" algn="just">
              <a:buFont typeface="Arial" panose="020B0604020202020204" pitchFamily="34" charset="0"/>
              <a:buChar char="•"/>
            </a:pPr>
            <a:r>
              <a:rPr lang="en-US" sz="1000" dirty="0"/>
              <a:t>Predictable Lifecycle </a:t>
            </a:r>
          </a:p>
          <a:p>
            <a:pPr marL="171450" indent="-171450" algn="just">
              <a:buFont typeface="Arial" panose="020B0604020202020204" pitchFamily="34" charset="0"/>
              <a:buChar char="•"/>
            </a:pPr>
            <a:r>
              <a:rPr lang="en-US" sz="1000" dirty="0"/>
              <a:t>No Additional Licensing Cost </a:t>
            </a:r>
          </a:p>
          <a:p>
            <a:pPr marL="171450" indent="-171450" algn="just">
              <a:buFont typeface="Arial" panose="020B0604020202020204" pitchFamily="34" charset="0"/>
              <a:buChar char="•"/>
            </a:pPr>
            <a:r>
              <a:rPr lang="en-US" sz="1000" dirty="0"/>
              <a:t>Container Ecosystem </a:t>
            </a:r>
          </a:p>
          <a:p>
            <a:pPr algn="just"/>
            <a:endParaRPr lang="en-US" sz="1000" dirty="0"/>
          </a:p>
        </p:txBody>
      </p:sp>
      <p:sp>
        <p:nvSpPr>
          <p:cNvPr id="3" name="Title 2">
            <a:extLst>
              <a:ext uri="{FF2B5EF4-FFF2-40B4-BE49-F238E27FC236}">
                <a16:creationId xmlns:a16="http://schemas.microsoft.com/office/drawing/2014/main" id="{9EB329E2-FE1D-5D7A-3B18-AF3C57AC4956}"/>
              </a:ext>
            </a:extLst>
          </p:cNvPr>
          <p:cNvSpPr>
            <a:spLocks noGrp="1"/>
          </p:cNvSpPr>
          <p:nvPr>
            <p:ph type="title"/>
          </p:nvPr>
        </p:nvSpPr>
        <p:spPr/>
        <p:txBody>
          <a:bodyPr/>
          <a:lstStyle/>
          <a:p>
            <a:r>
              <a:rPr lang="en-US" sz="1600" dirty="0"/>
              <a:t>Compute Updates</a:t>
            </a:r>
            <a:endParaRPr lang="en-US" dirty="0"/>
          </a:p>
        </p:txBody>
      </p:sp>
      <p:sp>
        <p:nvSpPr>
          <p:cNvPr id="4" name="Text Placeholder 3">
            <a:extLst>
              <a:ext uri="{FF2B5EF4-FFF2-40B4-BE49-F238E27FC236}">
                <a16:creationId xmlns:a16="http://schemas.microsoft.com/office/drawing/2014/main" id="{1A81869F-1BEA-B1D5-EDC0-CA08DD3413F8}"/>
              </a:ext>
            </a:extLst>
          </p:cNvPr>
          <p:cNvSpPr>
            <a:spLocks noGrp="1"/>
          </p:cNvSpPr>
          <p:nvPr>
            <p:ph type="body" sz="quarter" idx="15"/>
          </p:nvPr>
        </p:nvSpPr>
        <p:spPr/>
        <p:txBody>
          <a:bodyPr/>
          <a:lstStyle/>
          <a:p>
            <a:endParaRPr lang="en-US" dirty="0"/>
          </a:p>
        </p:txBody>
      </p:sp>
      <p:sp>
        <p:nvSpPr>
          <p:cNvPr id="5" name="Text Placeholder 4">
            <a:extLst>
              <a:ext uri="{FF2B5EF4-FFF2-40B4-BE49-F238E27FC236}">
                <a16:creationId xmlns:a16="http://schemas.microsoft.com/office/drawing/2014/main" id="{62645008-B1AD-F649-3712-E852815C3270}"/>
              </a:ext>
            </a:extLst>
          </p:cNvPr>
          <p:cNvSpPr>
            <a:spLocks noGrp="1"/>
          </p:cNvSpPr>
          <p:nvPr>
            <p:ph type="body" sz="quarter" idx="16"/>
          </p:nvPr>
        </p:nvSpPr>
        <p:spPr/>
        <p:txBody>
          <a:bodyPr/>
          <a:lstStyle/>
          <a:p>
            <a:pPr algn="just"/>
            <a:r>
              <a:rPr lang="en-US" dirty="0">
                <a:hlinkClick r:id="rId3"/>
              </a:rPr>
              <a:t>Public Preview: Azure Databricks </a:t>
            </a:r>
            <a:r>
              <a:rPr lang="en-US" dirty="0" err="1">
                <a:hlinkClick r:id="rId3"/>
              </a:rPr>
              <a:t>Lakebase</a:t>
            </a:r>
            <a:r>
              <a:rPr lang="en-US" dirty="0">
                <a:hlinkClick r:id="rId3"/>
              </a:rPr>
              <a:t> branching with GitHub Copilot agent mode</a:t>
            </a:r>
            <a:endParaRPr lang="en-US" dirty="0"/>
          </a:p>
          <a:p>
            <a:pPr algn="just"/>
            <a:r>
              <a:rPr lang="en-US" b="1" dirty="0"/>
              <a:t>Azure Databricks </a:t>
            </a:r>
            <a:r>
              <a:rPr lang="en-US" b="1" dirty="0" err="1"/>
              <a:t>Lakebase</a:t>
            </a:r>
            <a:r>
              <a:rPr lang="en-US" b="1" dirty="0"/>
              <a:t> Branching</a:t>
            </a:r>
            <a:r>
              <a:rPr lang="en-US" dirty="0"/>
              <a:t> enables developers to create a </a:t>
            </a:r>
            <a:r>
              <a:rPr lang="en-US" b="1" dirty="0"/>
              <a:t>copy-on-write branch of a production database</a:t>
            </a:r>
            <a:r>
              <a:rPr lang="en-US" dirty="0"/>
              <a:t> with a single command, allowing AI applications and agents to be tested against realistic production data without impacting live systems. The branched database can be connected directly to </a:t>
            </a:r>
            <a:r>
              <a:rPr lang="en-US" b="1" dirty="0"/>
              <a:t>GitHub Copilot Agent Mode</a:t>
            </a:r>
            <a:r>
              <a:rPr lang="en-US" dirty="0"/>
              <a:t>, providing a safe environment for debugging, validation, and development.</a:t>
            </a:r>
          </a:p>
          <a:p>
            <a:pPr algn="just"/>
            <a:r>
              <a:rPr lang="en-US" b="1" dirty="0"/>
              <a:t>Key Benefits</a:t>
            </a:r>
          </a:p>
          <a:p>
            <a:pPr marL="171450" indent="-171450" algn="just">
              <a:buFont typeface="Arial" panose="020B0604020202020204" pitchFamily="34" charset="0"/>
              <a:buChar char="•"/>
            </a:pPr>
            <a:r>
              <a:rPr lang="en-US" dirty="0"/>
              <a:t>Production-Like Testing </a:t>
            </a:r>
          </a:p>
          <a:p>
            <a:pPr marL="171450" indent="-171450" algn="just">
              <a:buFont typeface="Arial" panose="020B0604020202020204" pitchFamily="34" charset="0"/>
              <a:buChar char="•"/>
            </a:pPr>
            <a:r>
              <a:rPr lang="en-US" dirty="0"/>
              <a:t>Copy-on-Write Architecture </a:t>
            </a:r>
          </a:p>
          <a:p>
            <a:pPr marL="171450" indent="-171450" algn="just">
              <a:buFont typeface="Arial" panose="020B0604020202020204" pitchFamily="34" charset="0"/>
              <a:buChar char="•"/>
            </a:pPr>
            <a:r>
              <a:rPr lang="en-US" dirty="0"/>
              <a:t>GitHub Copilot Agent Integration </a:t>
            </a:r>
          </a:p>
          <a:p>
            <a:pPr marL="171450" indent="-171450" algn="just">
              <a:buFont typeface="Arial" panose="020B0604020202020204" pitchFamily="34" charset="0"/>
              <a:buChar char="•"/>
            </a:pPr>
            <a:r>
              <a:rPr lang="en-US" dirty="0"/>
              <a:t>Reduced Development Time </a:t>
            </a:r>
          </a:p>
          <a:p>
            <a:pPr marL="171450" indent="-171450" algn="just">
              <a:buFont typeface="Arial" panose="020B0604020202020204" pitchFamily="34" charset="0"/>
              <a:buChar char="•"/>
            </a:pPr>
            <a:r>
              <a:rPr lang="en-US" dirty="0"/>
              <a:t>Enterprise Governance </a:t>
            </a:r>
          </a:p>
        </p:txBody>
      </p:sp>
    </p:spTree>
    <p:extLst>
      <p:ext uri="{BB962C8B-B14F-4D97-AF65-F5344CB8AC3E}">
        <p14:creationId xmlns:p14="http://schemas.microsoft.com/office/powerpoint/2010/main" val="4087856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3" end="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4" end="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
                                            <p:txEl>
                                              <p:pRg st="5" end="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
                                            <p:txEl>
                                              <p:pRg st="7" end="7"/>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
                                            <p:txEl>
                                              <p:pRg st="8" end="8"/>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F58ED58-259C-1FF4-58D0-1490E15C9AC4}"/>
              </a:ext>
            </a:extLst>
          </p:cNvPr>
          <p:cNvSpPr>
            <a:spLocks noGrp="1"/>
          </p:cNvSpPr>
          <p:nvPr>
            <p:ph type="body" sz="quarter" idx="10"/>
          </p:nvPr>
        </p:nvSpPr>
        <p:spPr>
          <a:xfrm>
            <a:off x="4433776" y="778880"/>
            <a:ext cx="4365038" cy="4116970"/>
          </a:xfrm>
        </p:spPr>
        <p:txBody>
          <a:bodyPr/>
          <a:lstStyle/>
          <a:p>
            <a:r>
              <a:rPr lang="en-US" sz="1000" dirty="0">
                <a:hlinkClick r:id="rId2"/>
              </a:rPr>
              <a:t>Windows platform Updates:</a:t>
            </a:r>
            <a:endParaRPr lang="en-US" sz="1000" dirty="0"/>
          </a:p>
          <a:p>
            <a:pPr marL="171450" indent="-171450" algn="just">
              <a:buFont typeface="Arial" panose="020B0604020202020204" pitchFamily="34" charset="0"/>
              <a:buChar char="•"/>
            </a:pPr>
            <a:r>
              <a:rPr lang="en-US" sz="1000" dirty="0" err="1"/>
              <a:t>Coreutils</a:t>
            </a:r>
            <a:r>
              <a:rPr lang="en-US" sz="1000" dirty="0"/>
              <a:t> for Windows – a set of Linux-like command line utilities that run natively on Windows, now generally available.</a:t>
            </a:r>
          </a:p>
          <a:p>
            <a:pPr marL="171450" indent="-171450" algn="just">
              <a:buFont typeface="Arial" panose="020B0604020202020204" pitchFamily="34" charset="0"/>
              <a:buChar char="•"/>
            </a:pPr>
            <a:r>
              <a:rPr lang="en-US" sz="1000" dirty="0"/>
              <a:t>WSL containers – a built-in way to create, run and interact with Linux containers using familiar CLI &amp; API, coming soon to public preview.</a:t>
            </a:r>
          </a:p>
          <a:p>
            <a:pPr marL="171450" indent="-171450" algn="just">
              <a:buFont typeface="Arial" panose="020B0604020202020204" pitchFamily="34" charset="0"/>
              <a:buChar char="•"/>
            </a:pPr>
            <a:r>
              <a:rPr lang="en-US" sz="1000" dirty="0"/>
              <a:t>Intelligent Terminal – intentionally brings context-aware intelligence to your favorite agents directly into a terminal based experience to help debug errors, run multi-step tasks so you can stay in your flow, available in experimental preview.</a:t>
            </a:r>
          </a:p>
          <a:p>
            <a:pPr marL="171450" indent="-171450" algn="just">
              <a:buFont typeface="Arial" panose="020B0604020202020204" pitchFamily="34" charset="0"/>
              <a:buChar char="•"/>
            </a:pPr>
            <a:r>
              <a:rPr lang="en-US" sz="1000" dirty="0"/>
              <a:t>Windows Developer Configurations – powered by </a:t>
            </a:r>
            <a:r>
              <a:rPr lang="en-US" sz="1000" dirty="0" err="1"/>
              <a:t>WinGet</a:t>
            </a:r>
            <a:r>
              <a:rPr lang="en-US" sz="1000" dirty="0"/>
              <a:t>, sets up a distraction-free dev environment with VS Code, GitHub Copilot, WSL, PowerShell 7 and developer-optimized settings with one command on any Windows 11 device, now generally available.</a:t>
            </a:r>
          </a:p>
          <a:p>
            <a:pPr marL="171450" indent="-171450" algn="just">
              <a:buFont typeface="Arial" panose="020B0604020202020204" pitchFamily="34" charset="0"/>
              <a:buChar char="•"/>
            </a:pPr>
            <a:r>
              <a:rPr lang="en-US" sz="1000" dirty="0"/>
              <a:t>Windows 365 with Developer configuration – Windows 365 comes pre-configured with the same Windows developer configuration, available in public preview.</a:t>
            </a:r>
          </a:p>
          <a:p>
            <a:pPr marL="171450" indent="-171450" algn="just">
              <a:buFont typeface="Arial" panose="020B0604020202020204" pitchFamily="34" charset="0"/>
              <a:buChar char="•"/>
            </a:pPr>
            <a:r>
              <a:rPr lang="en-US" sz="1000" dirty="0"/>
              <a:t>Introducing Microsoft Execution Containers (MXC) SDK</a:t>
            </a:r>
          </a:p>
          <a:p>
            <a:pPr marL="171450" indent="-171450" algn="just">
              <a:buFont typeface="Arial" panose="020B0604020202020204" pitchFamily="34" charset="0"/>
              <a:buChar char="•"/>
            </a:pPr>
            <a:r>
              <a:rPr lang="en-US" sz="1000" dirty="0" err="1"/>
              <a:t>OpenClaw</a:t>
            </a:r>
            <a:r>
              <a:rPr lang="en-US" sz="1000" dirty="0"/>
              <a:t> runs natively on Windows leveraging MXC</a:t>
            </a:r>
          </a:p>
          <a:p>
            <a:pPr marL="171450" indent="-171450" algn="just">
              <a:buFont typeface="Arial" panose="020B0604020202020204" pitchFamily="34" charset="0"/>
              <a:buChar char="•"/>
            </a:pPr>
            <a:r>
              <a:rPr lang="en-US" sz="1000" dirty="0"/>
              <a:t>NVIDIA is bringing </a:t>
            </a:r>
            <a:r>
              <a:rPr lang="en-US" sz="1000" dirty="0" err="1"/>
              <a:t>OpenShell</a:t>
            </a:r>
            <a:r>
              <a:rPr lang="en-US" sz="1000" dirty="0"/>
              <a:t> to Windows built on MXC</a:t>
            </a:r>
          </a:p>
          <a:p>
            <a:pPr marL="171450" indent="-171450" algn="just">
              <a:buFont typeface="Arial" panose="020B0604020202020204" pitchFamily="34" charset="0"/>
              <a:buChar char="•"/>
            </a:pPr>
            <a:r>
              <a:rPr lang="en-US" sz="1000" dirty="0"/>
              <a:t>Windows 365 for Agents</a:t>
            </a:r>
          </a:p>
        </p:txBody>
      </p:sp>
      <p:sp>
        <p:nvSpPr>
          <p:cNvPr id="3" name="Title 2">
            <a:extLst>
              <a:ext uri="{FF2B5EF4-FFF2-40B4-BE49-F238E27FC236}">
                <a16:creationId xmlns:a16="http://schemas.microsoft.com/office/drawing/2014/main" id="{7F4D48FC-5128-A9E8-31EA-606FE154C764}"/>
              </a:ext>
            </a:extLst>
          </p:cNvPr>
          <p:cNvSpPr>
            <a:spLocks noGrp="1"/>
          </p:cNvSpPr>
          <p:nvPr>
            <p:ph type="title"/>
          </p:nvPr>
        </p:nvSpPr>
        <p:spPr/>
        <p:txBody>
          <a:bodyPr/>
          <a:lstStyle/>
          <a:p>
            <a:r>
              <a:rPr lang="en-US" sz="1600" dirty="0"/>
              <a:t>Compute Updates</a:t>
            </a:r>
            <a:endParaRPr lang="en-US" dirty="0"/>
          </a:p>
        </p:txBody>
      </p:sp>
      <p:sp>
        <p:nvSpPr>
          <p:cNvPr id="4" name="Text Placeholder 3">
            <a:extLst>
              <a:ext uri="{FF2B5EF4-FFF2-40B4-BE49-F238E27FC236}">
                <a16:creationId xmlns:a16="http://schemas.microsoft.com/office/drawing/2014/main" id="{CFD62EFF-5E6B-DDC4-2A76-1D9B16E582C4}"/>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42A64BE0-C6DE-57F2-D556-8D160D1447B3}"/>
              </a:ext>
            </a:extLst>
          </p:cNvPr>
          <p:cNvSpPr>
            <a:spLocks noGrp="1"/>
          </p:cNvSpPr>
          <p:nvPr>
            <p:ph type="body" sz="quarter" idx="16"/>
          </p:nvPr>
        </p:nvSpPr>
        <p:spPr/>
        <p:txBody>
          <a:bodyPr/>
          <a:lstStyle/>
          <a:p>
            <a:pPr algn="just"/>
            <a:r>
              <a:rPr lang="en-US" dirty="0">
                <a:hlinkClick r:id="rId3"/>
              </a:rPr>
              <a:t>Private Preview: Guest RDMA on Azure Boost</a:t>
            </a:r>
            <a:endParaRPr lang="en-US" dirty="0"/>
          </a:p>
          <a:p>
            <a:pPr algn="just"/>
            <a:r>
              <a:rPr lang="en-US" dirty="0"/>
              <a:t>Guest RDMA is now in preview on Azure, starting in the UK South region, bringing high-throughput, ultra-low latency networking directly into guest VMs within the same region. </a:t>
            </a:r>
          </a:p>
          <a:p>
            <a:pPr algn="just"/>
            <a:r>
              <a:rPr lang="en-US" dirty="0"/>
              <a:t>By using Azure Boost to enable RDMA in the guest OS, applications can bypass the traditional networking stack and offload transport to the NIC, reducing CPU overhead and improving communication performance.  </a:t>
            </a:r>
          </a:p>
          <a:p>
            <a:pPr algn="just"/>
            <a:r>
              <a:rPr lang="en-US" dirty="0"/>
              <a:t>Key benefits include low latency through kernel bypass, high throughput of up to 100 Gb/s in preview depending on VM SKU, and lower CPU usage from hardware-based data movement.  </a:t>
            </a:r>
          </a:p>
          <a:p>
            <a:pPr algn="just"/>
            <a:r>
              <a:rPr lang="en-US" dirty="0"/>
              <a:t>The preview is designed for workloads with frequent or large data transfers, including AI/ML training and inference, distributed storage and databases, and HPC workloads.  </a:t>
            </a:r>
          </a:p>
          <a:p>
            <a:pPr algn="just"/>
            <a:r>
              <a:rPr lang="en-US" dirty="0"/>
              <a:t>In preview, Guest RDMA supports VM-to-VM connections within the same VNet and region. Load balancers, private endpoints, VNet encryption, flow logging, UDRs, and IP forwarding are not yet supported, but are planned for GA.  </a:t>
            </a:r>
          </a:p>
          <a:p>
            <a:pPr algn="just"/>
            <a:endParaRPr lang="en-US" dirty="0"/>
          </a:p>
        </p:txBody>
      </p:sp>
    </p:spTree>
    <p:extLst>
      <p:ext uri="{BB962C8B-B14F-4D97-AF65-F5344CB8AC3E}">
        <p14:creationId xmlns:p14="http://schemas.microsoft.com/office/powerpoint/2010/main" val="1863036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1" end="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6" end="6"/>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
                                            <p:txEl>
                                              <p:pRg st="8" end="8"/>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94923-6A35-C255-4667-3038D40DD54D}"/>
              </a:ext>
            </a:extLst>
          </p:cNvPr>
          <p:cNvSpPr>
            <a:spLocks noGrp="1"/>
          </p:cNvSpPr>
          <p:nvPr>
            <p:ph type="title"/>
          </p:nvPr>
        </p:nvSpPr>
        <p:spPr/>
        <p:txBody>
          <a:bodyPr/>
          <a:lstStyle/>
          <a:p>
            <a:r>
              <a:rPr lang="en-US" sz="1800" dirty="0"/>
              <a:t>Compute Updates</a:t>
            </a:r>
            <a:endParaRPr lang="en-US" dirty="0"/>
          </a:p>
        </p:txBody>
      </p:sp>
      <p:sp>
        <p:nvSpPr>
          <p:cNvPr id="4" name="Text Placeholder 3">
            <a:extLst>
              <a:ext uri="{FF2B5EF4-FFF2-40B4-BE49-F238E27FC236}">
                <a16:creationId xmlns:a16="http://schemas.microsoft.com/office/drawing/2014/main" id="{88427474-CCE3-9C1B-453C-EFA3CCC5F038}"/>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6FEF1DC1-647A-69EA-AF93-E5846290B160}"/>
              </a:ext>
            </a:extLst>
          </p:cNvPr>
          <p:cNvSpPr>
            <a:spLocks noGrp="1"/>
          </p:cNvSpPr>
          <p:nvPr>
            <p:ph type="body" sz="quarter" idx="16"/>
          </p:nvPr>
        </p:nvSpPr>
        <p:spPr>
          <a:xfrm>
            <a:off x="342900" y="855079"/>
            <a:ext cx="3955312" cy="3774069"/>
          </a:xfrm>
        </p:spPr>
        <p:txBody>
          <a:bodyPr/>
          <a:lstStyle/>
          <a:p>
            <a:pPr algn="just"/>
            <a:r>
              <a:rPr lang="en-US" dirty="0">
                <a:hlinkClick r:id="rId2"/>
              </a:rPr>
              <a:t>Private Preview: Storage optimized Lasv5 and Laosv5 Azure VM series</a:t>
            </a:r>
            <a:endParaRPr lang="en-US" dirty="0"/>
          </a:p>
          <a:p>
            <a:pPr algn="just"/>
            <a:r>
              <a:rPr lang="en-US" b="1" dirty="0"/>
              <a:t>Lasv5 and Laosv5 Azure Virtual Machines (Preview)</a:t>
            </a:r>
            <a:r>
              <a:rPr lang="en-US" dirty="0"/>
              <a:t> introduce the latest generation of </a:t>
            </a:r>
            <a:r>
              <a:rPr lang="en-US" b="1" dirty="0"/>
              <a:t>storage-optimized Azure VMs</a:t>
            </a:r>
            <a:r>
              <a:rPr lang="en-US" dirty="0"/>
              <a:t>, powered by </a:t>
            </a:r>
            <a:r>
              <a:rPr lang="en-US" b="1" dirty="0"/>
              <a:t>5th Gen AMD EPYC™ (Turin) processors</a:t>
            </a:r>
            <a:r>
              <a:rPr lang="en-US" dirty="0"/>
              <a:t>. These VM families are designed for workloads requiring high-performance local </a:t>
            </a:r>
            <a:r>
              <a:rPr lang="en-US" dirty="0" err="1"/>
              <a:t>NVMe</a:t>
            </a:r>
            <a:r>
              <a:rPr lang="en-US" dirty="0"/>
              <a:t> storage, high throughput, and large-scale data processing.</a:t>
            </a:r>
          </a:p>
          <a:p>
            <a:pPr algn="just"/>
            <a:r>
              <a:rPr lang="en-US" b="1" dirty="0"/>
              <a:t>Key Highlights</a:t>
            </a:r>
          </a:p>
          <a:p>
            <a:pPr marL="171450" indent="-171450" algn="just">
              <a:buFont typeface="Arial" panose="020B0604020202020204" pitchFamily="34" charset="0"/>
              <a:buChar char="•"/>
            </a:pPr>
            <a:r>
              <a:rPr lang="en-US" b="1" dirty="0"/>
              <a:t>Latest AMD EPYC Turin Processors</a:t>
            </a:r>
            <a:r>
              <a:rPr lang="en-US" dirty="0"/>
              <a:t> </a:t>
            </a:r>
          </a:p>
          <a:p>
            <a:pPr marL="514350" lvl="1" indent="-171450" algn="just">
              <a:buFont typeface="Arial" panose="020B0604020202020204" pitchFamily="34" charset="0"/>
              <a:buChar char="•"/>
            </a:pPr>
            <a:r>
              <a:rPr lang="en-US" sz="1000" dirty="0">
                <a:latin typeface="+mj-lt"/>
              </a:rPr>
              <a:t>Up to </a:t>
            </a:r>
            <a:r>
              <a:rPr lang="en-US" sz="1000" b="1" dirty="0">
                <a:latin typeface="+mj-lt"/>
              </a:rPr>
              <a:t>35% higher average CPU performance</a:t>
            </a:r>
            <a:r>
              <a:rPr lang="en-US" sz="1000" dirty="0">
                <a:latin typeface="+mj-lt"/>
              </a:rPr>
              <a:t> compared to previous generations. </a:t>
            </a:r>
          </a:p>
          <a:p>
            <a:pPr marL="514350" lvl="1" indent="-171450" algn="just">
              <a:buFont typeface="Arial" panose="020B0604020202020204" pitchFamily="34" charset="0"/>
              <a:buChar char="•"/>
            </a:pPr>
            <a:r>
              <a:rPr lang="en-US" sz="1000" dirty="0">
                <a:latin typeface="+mj-lt"/>
              </a:rPr>
              <a:t>Sizes ranging from </a:t>
            </a:r>
            <a:r>
              <a:rPr lang="en-US" sz="1000" b="1" dirty="0">
                <a:latin typeface="+mj-lt"/>
              </a:rPr>
              <a:t>2 to 160 vCPUs</a:t>
            </a:r>
            <a:r>
              <a:rPr lang="en-US" sz="1000" dirty="0">
                <a:latin typeface="+mj-lt"/>
              </a:rPr>
              <a:t>. </a:t>
            </a:r>
          </a:p>
          <a:p>
            <a:pPr marL="171450" indent="-171450" algn="just">
              <a:buFont typeface="Arial" panose="020B0604020202020204" pitchFamily="34" charset="0"/>
              <a:buChar char="•"/>
            </a:pPr>
            <a:r>
              <a:rPr lang="en-US" b="1" dirty="0"/>
              <a:t>High-Speed Local </a:t>
            </a:r>
            <a:r>
              <a:rPr lang="en-US" b="1" dirty="0" err="1"/>
              <a:t>NVMe</a:t>
            </a:r>
            <a:r>
              <a:rPr lang="en-US" b="1" dirty="0"/>
              <a:t> Storage</a:t>
            </a:r>
            <a:r>
              <a:rPr lang="en-US" dirty="0"/>
              <a:t> </a:t>
            </a:r>
          </a:p>
          <a:p>
            <a:pPr marL="514350" lvl="1" indent="-171450" algn="just">
              <a:buFont typeface="Arial" panose="020B0604020202020204" pitchFamily="34" charset="0"/>
              <a:buChar char="•"/>
            </a:pPr>
            <a:r>
              <a:rPr lang="en-US" sz="1000" b="1" dirty="0">
                <a:latin typeface="+mj-lt"/>
              </a:rPr>
              <a:t>720 GB </a:t>
            </a:r>
            <a:r>
              <a:rPr lang="en-US" sz="1000" b="1" dirty="0" err="1">
                <a:latin typeface="+mj-lt"/>
              </a:rPr>
              <a:t>NVMe</a:t>
            </a:r>
            <a:r>
              <a:rPr lang="en-US" sz="1000" b="1" dirty="0">
                <a:latin typeface="+mj-lt"/>
              </a:rPr>
              <a:t> storage per vCPU</a:t>
            </a:r>
            <a:r>
              <a:rPr lang="en-US" sz="1000" dirty="0">
                <a:latin typeface="+mj-lt"/>
              </a:rPr>
              <a:t>. </a:t>
            </a:r>
          </a:p>
          <a:p>
            <a:pPr marL="514350" lvl="1" indent="-171450" algn="just">
              <a:buFont typeface="Arial" panose="020B0604020202020204" pitchFamily="34" charset="0"/>
              <a:buChar char="•"/>
            </a:pPr>
            <a:r>
              <a:rPr lang="en-US" sz="1000" dirty="0">
                <a:latin typeface="+mj-lt"/>
              </a:rPr>
              <a:t>Up to </a:t>
            </a:r>
            <a:r>
              <a:rPr lang="en-US" sz="1000" b="1" dirty="0">
                <a:latin typeface="+mj-lt"/>
              </a:rPr>
              <a:t>30.7 TB</a:t>
            </a:r>
            <a:r>
              <a:rPr lang="en-US" sz="1000" dirty="0">
                <a:latin typeface="+mj-lt"/>
              </a:rPr>
              <a:t> local storage on Lasv5. </a:t>
            </a:r>
          </a:p>
          <a:p>
            <a:pPr marL="514350" lvl="1" indent="-171450" algn="just">
              <a:buFont typeface="Arial" panose="020B0604020202020204" pitchFamily="34" charset="0"/>
              <a:buChar char="•"/>
            </a:pPr>
            <a:r>
              <a:rPr lang="en-US" sz="1000" dirty="0">
                <a:latin typeface="+mj-lt"/>
              </a:rPr>
              <a:t>Up to </a:t>
            </a:r>
            <a:r>
              <a:rPr lang="en-US" sz="1000" b="1" dirty="0">
                <a:latin typeface="+mj-lt"/>
              </a:rPr>
              <a:t>138 TB</a:t>
            </a:r>
            <a:r>
              <a:rPr lang="en-US" sz="1000" dirty="0">
                <a:latin typeface="+mj-lt"/>
              </a:rPr>
              <a:t> local storage on Laosv5. </a:t>
            </a:r>
          </a:p>
          <a:p>
            <a:pPr marL="171450" indent="-171450" algn="just">
              <a:buFont typeface="Arial" panose="020B0604020202020204" pitchFamily="34" charset="0"/>
              <a:buChar char="•"/>
            </a:pPr>
            <a:r>
              <a:rPr lang="en-US" b="1" dirty="0"/>
              <a:t>High Network Performance</a:t>
            </a:r>
            <a:r>
              <a:rPr lang="en-US" dirty="0"/>
              <a:t> </a:t>
            </a:r>
          </a:p>
          <a:p>
            <a:pPr marL="514350" lvl="1" indent="-171450" algn="just">
              <a:buFont typeface="Arial" panose="020B0604020202020204" pitchFamily="34" charset="0"/>
              <a:buChar char="•"/>
            </a:pPr>
            <a:r>
              <a:rPr lang="en-US" sz="1000" dirty="0">
                <a:latin typeface="+mj-lt"/>
              </a:rPr>
              <a:t>Up to </a:t>
            </a:r>
            <a:r>
              <a:rPr lang="en-US" sz="1000" b="1" dirty="0">
                <a:latin typeface="+mj-lt"/>
              </a:rPr>
              <a:t>200 Gbps network bandwidth</a:t>
            </a:r>
            <a:r>
              <a:rPr lang="en-US" sz="1000" dirty="0">
                <a:latin typeface="+mj-lt"/>
              </a:rPr>
              <a:t>.</a:t>
            </a:r>
          </a:p>
          <a:p>
            <a:pPr algn="just"/>
            <a:endParaRPr lang="en-US" dirty="0"/>
          </a:p>
        </p:txBody>
      </p:sp>
    </p:spTree>
    <p:extLst>
      <p:ext uri="{BB962C8B-B14F-4D97-AF65-F5344CB8AC3E}">
        <p14:creationId xmlns:p14="http://schemas.microsoft.com/office/powerpoint/2010/main" val="3213699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31189-CF39-6970-06DD-2F3E951D8112}"/>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55108E1B-188F-34CB-E2F4-B4F546C318BA}"/>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0AC618DB-0932-277F-3E42-37D002107928}"/>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D5C20627-BF61-394B-61E8-E9F6702CBB52}"/>
              </a:ext>
            </a:extLst>
          </p:cNvPr>
          <p:cNvSpPr>
            <a:spLocks noGrp="1"/>
          </p:cNvSpPr>
          <p:nvPr>
            <p:ph type="body" sz="quarter" idx="16"/>
          </p:nvPr>
        </p:nvSpPr>
        <p:spPr/>
        <p:txBody>
          <a:bodyPr/>
          <a:lstStyle/>
          <a:p>
            <a:pPr algn="just"/>
            <a:r>
              <a:rPr lang="en-US" dirty="0">
                <a:hlinkClick r:id="rId2"/>
              </a:rPr>
              <a:t>Generally Available: Azure Functions Support for Node.js 24</a:t>
            </a:r>
            <a:endParaRPr lang="en-US" dirty="0"/>
          </a:p>
          <a:p>
            <a:pPr algn="just"/>
            <a:r>
              <a:rPr lang="en-US" dirty="0"/>
              <a:t>Azure Functions support for Node.js 24 is now generally available.   </a:t>
            </a:r>
          </a:p>
          <a:p>
            <a:pPr algn="just"/>
            <a:r>
              <a:rPr lang="en-US" dirty="0"/>
              <a:t>It is now possible to develop  Node.js 24 apps locally and deploy them to supported Azure Functions plans on Linux and Windows, including the Flex Consumption plan.     </a:t>
            </a:r>
          </a:p>
          <a:p>
            <a:pPr algn="just"/>
            <a:r>
              <a:rPr lang="en-US" dirty="0"/>
              <a:t>Please note that Remote Build on Flex Consumption for Node.js 24 is rolling out and will be available in all public regions in the coming week.  </a:t>
            </a:r>
          </a:p>
          <a:p>
            <a:pPr algn="just"/>
            <a:endParaRPr lang="en-US" dirty="0"/>
          </a:p>
        </p:txBody>
      </p:sp>
      <p:sp>
        <p:nvSpPr>
          <p:cNvPr id="3" name="Text Placeholder 2">
            <a:extLst>
              <a:ext uri="{FF2B5EF4-FFF2-40B4-BE49-F238E27FC236}">
                <a16:creationId xmlns:a16="http://schemas.microsoft.com/office/drawing/2014/main" id="{81164B90-52A3-D8B3-903B-12EDF2E91DD2}"/>
              </a:ext>
            </a:extLst>
          </p:cNvPr>
          <p:cNvSpPr>
            <a:spLocks noGrp="1"/>
          </p:cNvSpPr>
          <p:nvPr>
            <p:ph type="body" sz="quarter" idx="10"/>
          </p:nvPr>
        </p:nvSpPr>
        <p:spPr/>
        <p:txBody>
          <a:bodyPr/>
          <a:lstStyle/>
          <a:p>
            <a:pPr algn="just"/>
            <a:r>
              <a:rPr lang="en-US" sz="1000" dirty="0">
                <a:hlinkClick r:id="rId3"/>
              </a:rPr>
              <a:t>Generally Available: Azure Functions now supports hosting MCP Apps</a:t>
            </a:r>
            <a:endParaRPr lang="en-US" sz="1000" dirty="0"/>
          </a:p>
          <a:p>
            <a:pPr algn="just"/>
            <a:r>
              <a:rPr lang="en-US" sz="1000" b="1" dirty="0"/>
              <a:t>Azure Functions</a:t>
            </a:r>
            <a:r>
              <a:rPr lang="en-US" sz="1000" dirty="0"/>
              <a:t> now supports building and hosting </a:t>
            </a:r>
            <a:r>
              <a:rPr lang="en-US" sz="1000" b="1" dirty="0"/>
              <a:t>MCP Apps</a:t>
            </a:r>
            <a:r>
              <a:rPr lang="en-US" sz="1000" dirty="0"/>
              <a:t> through the </a:t>
            </a:r>
            <a:r>
              <a:rPr lang="en-US" sz="1000" b="1" dirty="0"/>
              <a:t>Azure Functions MCP Extension</a:t>
            </a:r>
            <a:r>
              <a:rPr lang="en-US" sz="1000" dirty="0"/>
              <a:t>, enabling developers to deliver rich, interactive user experiences directly within AI chat conversations. Instead of being limited to plain text responses, MCP Apps can render </a:t>
            </a:r>
            <a:r>
              <a:rPr lang="en-US" sz="1000" b="1" dirty="0"/>
              <a:t>forms, dashboards, visualizations, status monitors, and rich media interfaces</a:t>
            </a:r>
            <a:r>
              <a:rPr lang="en-US" sz="1000" dirty="0"/>
              <a:t> inside compatible chat clients.</a:t>
            </a:r>
          </a:p>
          <a:p>
            <a:pPr algn="just"/>
            <a:r>
              <a:rPr lang="en-US" sz="1000" dirty="0"/>
              <a:t>The capability is available across </a:t>
            </a:r>
            <a:r>
              <a:rPr lang="en-US" sz="1000" b="1" dirty="0"/>
              <a:t>Python, TypeScript, .NET, and Java</a:t>
            </a:r>
            <a:r>
              <a:rPr lang="en-US" sz="1000" dirty="0"/>
              <a:t>, allowing developers to build interactive MCP experiences using familiar languages and Azure Functions' serverless architecture. MCP Apps help reduce conversational back-and-forth by allowing users to complete complex tasks, configure settings, explore data, and monitor live information without leaving the chat interface.</a:t>
            </a:r>
          </a:p>
          <a:p>
            <a:pPr algn="just"/>
            <a:r>
              <a:rPr lang="en-US" sz="1000" dirty="0"/>
              <a:t>By combining </a:t>
            </a:r>
            <a:r>
              <a:rPr lang="en-US" sz="1000" b="1" dirty="0"/>
              <a:t>serverless scalability</a:t>
            </a:r>
            <a:r>
              <a:rPr lang="en-US" sz="1000" dirty="0"/>
              <a:t>, </a:t>
            </a:r>
            <a:r>
              <a:rPr lang="en-US" sz="1000" b="1" dirty="0"/>
              <a:t>Model Context Protocol (MCP)</a:t>
            </a:r>
            <a:r>
              <a:rPr lang="en-US" sz="1000" dirty="0"/>
              <a:t> integration, and </a:t>
            </a:r>
            <a:r>
              <a:rPr lang="en-US" sz="1000" b="1" dirty="0"/>
              <a:t>interactive UI capabilities</a:t>
            </a:r>
            <a:r>
              <a:rPr lang="en-US" sz="1000" dirty="0"/>
              <a:t>, Azure Functions provides a powerful platform for building next-generation AI assistants, operational dashboards, business workflows, and enterprise applications that blend conversational AI with rich user experiences.</a:t>
            </a:r>
          </a:p>
          <a:p>
            <a:pPr algn="just"/>
            <a:endParaRPr lang="en-US" sz="1000" dirty="0"/>
          </a:p>
        </p:txBody>
      </p:sp>
    </p:spTree>
    <p:extLst>
      <p:ext uri="{BB962C8B-B14F-4D97-AF65-F5344CB8AC3E}">
        <p14:creationId xmlns:p14="http://schemas.microsoft.com/office/powerpoint/2010/main" val="2553819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49EEC59-F87C-D542-76FE-F5582C374ACA}"/>
              </a:ext>
            </a:extLst>
          </p:cNvPr>
          <p:cNvSpPr>
            <a:spLocks noGrp="1"/>
          </p:cNvSpPr>
          <p:nvPr>
            <p:ph type="body" sz="quarter" idx="10"/>
          </p:nvPr>
        </p:nvSpPr>
        <p:spPr/>
        <p:txBody>
          <a:bodyPr/>
          <a:lstStyle/>
          <a:p>
            <a:r>
              <a:rPr lang="en-US" sz="1000" dirty="0">
                <a:hlinkClick r:id="rId2"/>
              </a:rPr>
              <a:t>Generally Available: Monitor HTTP traffic in Azure Container Apps</a:t>
            </a:r>
            <a:endParaRPr lang="en-US" sz="1000" dirty="0"/>
          </a:p>
          <a:p>
            <a:r>
              <a:rPr lang="en-US" sz="1000" b="1" dirty="0"/>
              <a:t>Azure Container Apps</a:t>
            </a:r>
            <a:r>
              <a:rPr lang="en-US" sz="1000" dirty="0"/>
              <a:t> now provides a dedicated </a:t>
            </a:r>
            <a:r>
              <a:rPr lang="en-US" sz="1000" b="1" dirty="0" err="1"/>
              <a:t>ContainerAppHTTPLogs</a:t>
            </a:r>
            <a:r>
              <a:rPr lang="en-US" sz="1000" dirty="0"/>
              <a:t> diagnostic category in </a:t>
            </a:r>
            <a:r>
              <a:rPr lang="en-US" sz="1000" b="1" dirty="0"/>
              <a:t>Azure Monitor</a:t>
            </a:r>
            <a:r>
              <a:rPr lang="en-US" sz="1000" dirty="0"/>
              <a:t>, delivering detailed HTTP access logs for incoming application traffic. This new logging capability gives operations teams deeper visibility into request-level behavior, making it easier to troubleshoot issues that were difficult to diagnose using platform logs alone.</a:t>
            </a:r>
          </a:p>
          <a:p>
            <a:r>
              <a:rPr lang="en-US" sz="1000" dirty="0"/>
              <a:t>The logs capture detailed information about HTTP requests and responses, helping teams investigate </a:t>
            </a:r>
            <a:r>
              <a:rPr lang="en-US" sz="1000" b="1" dirty="0"/>
              <a:t>failed requests, latency issues, retries, routing decisions, WebSocket disconnects, and backend connectivity problems</a:t>
            </a:r>
            <a:r>
              <a:rPr lang="en-US" sz="1000" dirty="0"/>
              <a:t>. Designed specifically for high-volume traffic scenarios, the feature provides a scalable logging surface for business-critical applications running on Azure Container Apps.</a:t>
            </a:r>
          </a:p>
          <a:p>
            <a:r>
              <a:rPr lang="en-US" sz="1000" dirty="0"/>
              <a:t>By adding granular request-level observability, </a:t>
            </a:r>
            <a:r>
              <a:rPr lang="en-US" sz="1000" dirty="0" err="1"/>
              <a:t>ContainerAppHTTPLogs</a:t>
            </a:r>
            <a:r>
              <a:rPr lang="en-US" sz="1000" dirty="0"/>
              <a:t> improves troubleshooting efficiency, accelerates root cause analysis, and increases operational confidence when running and scaling production containerized workloads.</a:t>
            </a:r>
          </a:p>
          <a:p>
            <a:endParaRPr lang="en-US" sz="1000" dirty="0"/>
          </a:p>
        </p:txBody>
      </p:sp>
      <p:sp>
        <p:nvSpPr>
          <p:cNvPr id="3" name="Title 2">
            <a:extLst>
              <a:ext uri="{FF2B5EF4-FFF2-40B4-BE49-F238E27FC236}">
                <a16:creationId xmlns:a16="http://schemas.microsoft.com/office/drawing/2014/main" id="{A8A75B8A-0F57-54F7-B60E-A51FF5C78B9D}"/>
              </a:ext>
            </a:extLst>
          </p:cNvPr>
          <p:cNvSpPr>
            <a:spLocks noGrp="1"/>
          </p:cNvSpPr>
          <p:nvPr>
            <p:ph type="title"/>
          </p:nvPr>
        </p:nvSpPr>
        <p:spPr/>
        <p:txBody>
          <a:bodyPr/>
          <a:lstStyle/>
          <a:p>
            <a:r>
              <a:rPr lang="en-US" sz="1600" dirty="0"/>
              <a:t>Compute Updates</a:t>
            </a:r>
            <a:endParaRPr lang="en-US" dirty="0"/>
          </a:p>
        </p:txBody>
      </p:sp>
      <p:sp>
        <p:nvSpPr>
          <p:cNvPr id="4" name="Text Placeholder 3">
            <a:extLst>
              <a:ext uri="{FF2B5EF4-FFF2-40B4-BE49-F238E27FC236}">
                <a16:creationId xmlns:a16="http://schemas.microsoft.com/office/drawing/2014/main" id="{8C8690BC-6751-0779-2807-33889EBFB871}"/>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1224245C-45CE-EF3A-474C-325EC0C8620B}"/>
              </a:ext>
            </a:extLst>
          </p:cNvPr>
          <p:cNvSpPr>
            <a:spLocks noGrp="1"/>
          </p:cNvSpPr>
          <p:nvPr>
            <p:ph type="body" sz="quarter" idx="16"/>
          </p:nvPr>
        </p:nvSpPr>
        <p:spPr/>
        <p:txBody>
          <a:bodyPr/>
          <a:lstStyle/>
          <a:p>
            <a:pPr algn="just"/>
            <a:r>
              <a:rPr lang="en-US" dirty="0">
                <a:hlinkClick r:id="rId3"/>
              </a:rPr>
              <a:t>Generally Available: Built-in Grafana dashboards for Azure Functions</a:t>
            </a:r>
            <a:endParaRPr lang="en-US" dirty="0"/>
          </a:p>
          <a:p>
            <a:pPr algn="just"/>
            <a:r>
              <a:rPr lang="en-US" b="1" dirty="0"/>
              <a:t>Azure Functions</a:t>
            </a:r>
            <a:r>
              <a:rPr lang="en-US" dirty="0"/>
              <a:t> now includes </a:t>
            </a:r>
            <a:r>
              <a:rPr lang="en-US" b="1" dirty="0"/>
              <a:t>built-in Grafana dashboards</a:t>
            </a:r>
            <a:r>
              <a:rPr lang="en-US" dirty="0"/>
              <a:t>, providing a </a:t>
            </a:r>
            <a:r>
              <a:rPr lang="en-US" b="1" dirty="0"/>
              <a:t>zero-configuration monitoring experience</a:t>
            </a:r>
            <a:r>
              <a:rPr lang="en-US" dirty="0"/>
              <a:t> directly within the Azure Portal. Customers can immediately access a centralized view of function app health, performance, scaling activity, and operational metrics without deploying a separate Grafana instance, configuring data sources, or incurring additional costs.</a:t>
            </a:r>
          </a:p>
          <a:p>
            <a:pPr algn="just"/>
            <a:r>
              <a:rPr lang="en-US" dirty="0"/>
              <a:t>The default dashboard is specifically designed for Azure Functions and consolidates key operational insights, including </a:t>
            </a:r>
            <a:r>
              <a:rPr lang="en-US" b="1" dirty="0"/>
              <a:t>execution volume, success and failure rates, latency, resource utilization, scaling events, and recent errors correlated with application telemetry</a:t>
            </a:r>
            <a:r>
              <a:rPr lang="en-US" dirty="0"/>
              <a:t>. Teams can also duplicate and customize dashboards to meet their monitoring and operational requirements.</a:t>
            </a:r>
          </a:p>
          <a:p>
            <a:pPr algn="just"/>
            <a:r>
              <a:rPr lang="en-US" dirty="0"/>
              <a:t>This enhancement simplifies observability for Azure Functions by delivering a </a:t>
            </a:r>
            <a:r>
              <a:rPr lang="en-US" b="1" dirty="0"/>
              <a:t>single pane of glass for monitoring serverless workloads</a:t>
            </a:r>
            <a:r>
              <a:rPr lang="en-US" dirty="0"/>
              <a:t>, reducing setup complexity and enabling faster troubleshooting and performance analysis.</a:t>
            </a:r>
          </a:p>
          <a:p>
            <a:pPr algn="just"/>
            <a:endParaRPr lang="en-US" dirty="0"/>
          </a:p>
        </p:txBody>
      </p:sp>
    </p:spTree>
    <p:extLst>
      <p:ext uri="{BB962C8B-B14F-4D97-AF65-F5344CB8AC3E}">
        <p14:creationId xmlns:p14="http://schemas.microsoft.com/office/powerpoint/2010/main" val="2716068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098EE-BBE3-B9BF-C218-E4DEA9A76D9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D082964C-E8A1-73CC-B206-1A488254620C}"/>
              </a:ext>
            </a:extLst>
          </p:cNvPr>
          <p:cNvSpPr>
            <a:spLocks noGrp="1"/>
          </p:cNvSpPr>
          <p:nvPr>
            <p:ph type="body" sz="quarter" idx="10"/>
          </p:nvPr>
        </p:nvSpPr>
        <p:spPr/>
        <p:txBody>
          <a:bodyPr/>
          <a:lstStyle/>
          <a:p>
            <a:pPr algn="just"/>
            <a:r>
              <a:rPr lang="en-US" sz="1000" dirty="0">
                <a:hlinkClick r:id="rId2"/>
              </a:rPr>
              <a:t>Generally Available: Azure Kubernetes Fleet Manager for Arc-enabled clusters</a:t>
            </a:r>
            <a:endParaRPr lang="en-US" sz="1000" dirty="0"/>
          </a:p>
          <a:p>
            <a:pPr algn="just"/>
            <a:r>
              <a:rPr lang="en-US" sz="1000" b="1" dirty="0"/>
              <a:t>Azure Kubernetes Fleet Manager</a:t>
            </a:r>
            <a:r>
              <a:rPr lang="en-US" sz="1000" dirty="0"/>
              <a:t> now supports </a:t>
            </a:r>
            <a:r>
              <a:rPr lang="en-US" sz="1000" b="1" dirty="0"/>
              <a:t>Azure Arc-enabled Kubernetes clusters (GA)</a:t>
            </a:r>
            <a:r>
              <a:rPr lang="en-US" sz="1000" dirty="0"/>
              <a:t>, allowing organizations to manage </a:t>
            </a:r>
            <a:r>
              <a:rPr lang="en-US" sz="1000" b="1" dirty="0"/>
              <a:t>any CNCF-compliant Kubernetes distribution</a:t>
            </a:r>
            <a:r>
              <a:rPr lang="en-US" sz="1000" dirty="0"/>
              <a:t> as part of a unified fleet. By joining Arc-enabled clusters as fleet members, teams gain </a:t>
            </a:r>
            <a:r>
              <a:rPr lang="en-US" sz="1000" b="1" dirty="0"/>
              <a:t>centralized visibility into cluster health and operations</a:t>
            </a:r>
            <a:r>
              <a:rPr lang="en-US" sz="1000" dirty="0"/>
              <a:t> across AKS, on-premises environments, and other cloud providers. Fleet Manager can intelligently distribute </a:t>
            </a:r>
            <a:r>
              <a:rPr lang="en-US" sz="1000" b="1" dirty="0"/>
              <a:t>applications, namespaces, and configurations</a:t>
            </a:r>
            <a:r>
              <a:rPr lang="en-US" sz="1000" dirty="0"/>
              <a:t> across all member clusters regardless of where they are hosted. This provides a consistent operational model for hybrid and multi-cloud Kubernetes environments. Organizations can reduce dependence on </a:t>
            </a:r>
            <a:r>
              <a:rPr lang="en-US" sz="1000" b="1" dirty="0"/>
              <a:t>third-party multi-cluster management platforms</a:t>
            </a:r>
            <a:r>
              <a:rPr lang="en-US" sz="1000" dirty="0"/>
              <a:t>, lowering complexity and licensing costs while improving governance and operational consistency.</a:t>
            </a:r>
          </a:p>
        </p:txBody>
      </p:sp>
      <p:sp>
        <p:nvSpPr>
          <p:cNvPr id="11" name="Title 10">
            <a:extLst>
              <a:ext uri="{FF2B5EF4-FFF2-40B4-BE49-F238E27FC236}">
                <a16:creationId xmlns:a16="http://schemas.microsoft.com/office/drawing/2014/main" id="{DDE59A08-9A25-40C0-DC79-D2FB88CF728E}"/>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4D7D0670-36E5-9279-0AB3-70FC83D5A9FE}"/>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9AC89A86-0455-61DD-7A55-DACDA81B83B1}"/>
              </a:ext>
            </a:extLst>
          </p:cNvPr>
          <p:cNvSpPr>
            <a:spLocks noGrp="1"/>
          </p:cNvSpPr>
          <p:nvPr>
            <p:ph type="body" sz="quarter" idx="16"/>
          </p:nvPr>
        </p:nvSpPr>
        <p:spPr/>
        <p:txBody>
          <a:bodyPr/>
          <a:lstStyle/>
          <a:p>
            <a:pPr algn="just"/>
            <a:r>
              <a:rPr lang="en-US" dirty="0">
                <a:hlinkClick r:id="rId3"/>
              </a:rPr>
              <a:t>Azure Container Linux (ACL) now generally available on Azure Kubernetes Service (AKS)</a:t>
            </a:r>
            <a:endParaRPr lang="en-US" dirty="0"/>
          </a:p>
          <a:p>
            <a:pPr algn="just"/>
            <a:r>
              <a:rPr lang="en-US" b="1" dirty="0"/>
              <a:t>Azure Container Linux</a:t>
            </a:r>
            <a:r>
              <a:rPr lang="en-US" dirty="0"/>
              <a:t> is a new </a:t>
            </a:r>
            <a:r>
              <a:rPr lang="en-US" b="1" dirty="0"/>
              <a:t>container-optimized, immutable operating system for AKS node pools</a:t>
            </a:r>
            <a:r>
              <a:rPr lang="en-US" dirty="0"/>
              <a:t>, derived from Flatcar Container Linux and built on Azure Linux packages. It provides a </a:t>
            </a:r>
            <a:r>
              <a:rPr lang="en-US" b="1" dirty="0"/>
              <a:t>minimal, locked-down host environment</a:t>
            </a:r>
            <a:r>
              <a:rPr lang="en-US" dirty="0"/>
              <a:t> specifically designed for running Kubernetes workloads at scale. The operating system is </a:t>
            </a:r>
            <a:r>
              <a:rPr lang="en-US" b="1" dirty="0"/>
              <a:t>immutable by design</a:t>
            </a:r>
            <a:r>
              <a:rPr lang="en-US" dirty="0"/>
              <a:t>, with a read-only root filesystem, dm-verity integrity verification, and no package manager, eliminating configuration drift and ensuring consistent node states. Security is strengthened through </a:t>
            </a:r>
            <a:r>
              <a:rPr lang="en-US" b="1" dirty="0" err="1"/>
              <a:t>SELinux</a:t>
            </a:r>
            <a:r>
              <a:rPr lang="en-US" b="1" dirty="0"/>
              <a:t> enforcement, Trusted Launch, and Unified Kernel Image (UKI) boot verification</a:t>
            </a:r>
            <a:r>
              <a:rPr lang="en-US" dirty="0"/>
              <a:t>, protecting nodes from startup through runtime. Built on the Azure Linux ecosystem, it benefits from Microsoft's </a:t>
            </a:r>
            <a:r>
              <a:rPr lang="en-US" b="1" dirty="0"/>
              <a:t>security patching, CVE response process, and enterprise support</a:t>
            </a:r>
            <a:r>
              <a:rPr lang="en-US" dirty="0"/>
              <a:t>. This makes Azure Container Linux well suited for organizations seeking </a:t>
            </a:r>
            <a:r>
              <a:rPr lang="en-US" b="1" dirty="0"/>
              <a:t>improved security, consistency, and operational reliability</a:t>
            </a:r>
            <a:r>
              <a:rPr lang="en-US" dirty="0"/>
              <a:t> for AKS environments.</a:t>
            </a:r>
          </a:p>
        </p:txBody>
      </p:sp>
    </p:spTree>
    <p:extLst>
      <p:ext uri="{BB962C8B-B14F-4D97-AF65-F5344CB8AC3E}">
        <p14:creationId xmlns:p14="http://schemas.microsoft.com/office/powerpoint/2010/main" val="187353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F29EB26-7E7B-036A-972B-9218D206C205}"/>
              </a:ext>
            </a:extLst>
          </p:cNvPr>
          <p:cNvSpPr>
            <a:spLocks noGrp="1"/>
          </p:cNvSpPr>
          <p:nvPr>
            <p:ph type="body" sz="quarter" idx="10"/>
          </p:nvPr>
        </p:nvSpPr>
        <p:spPr/>
        <p:txBody>
          <a:bodyPr/>
          <a:lstStyle/>
          <a:p>
            <a:pPr algn="just"/>
            <a:r>
              <a:rPr lang="en-US" sz="1000" dirty="0">
                <a:hlinkClick r:id="rId2"/>
              </a:rPr>
              <a:t>Generally Available: Confidential Compute support on Azure Container Apps</a:t>
            </a:r>
            <a:endParaRPr lang="en-US" sz="1000" dirty="0"/>
          </a:p>
          <a:p>
            <a:pPr algn="just"/>
            <a:r>
              <a:rPr lang="en-US" sz="1000" b="1" dirty="0"/>
              <a:t>Confidential Compute for Azure Container Apps</a:t>
            </a:r>
            <a:r>
              <a:rPr lang="en-US" sz="1000" dirty="0"/>
              <a:t> is now </a:t>
            </a:r>
            <a:r>
              <a:rPr lang="en-US" sz="1000" b="1" dirty="0"/>
              <a:t>generally available</a:t>
            </a:r>
            <a:r>
              <a:rPr lang="en-US" sz="1000" dirty="0"/>
              <a:t>, enabling organizations to run containerized workloads within </a:t>
            </a:r>
            <a:r>
              <a:rPr lang="en-US" sz="1000" b="1" dirty="0"/>
              <a:t>hardware-backed Trusted Execution Environments (TEEs)</a:t>
            </a:r>
            <a:r>
              <a:rPr lang="en-US" sz="1000" dirty="0"/>
              <a:t>. This capability extends protection beyond data at rest and in transit by securing </a:t>
            </a:r>
            <a:r>
              <a:rPr lang="en-US" sz="1000" b="1" dirty="0"/>
              <a:t>data in use</a:t>
            </a:r>
            <a:r>
              <a:rPr lang="en-US" sz="1000" dirty="0"/>
              <a:t>, helping prevent unauthorized access to sensitive information while it is being processed.</a:t>
            </a:r>
          </a:p>
          <a:p>
            <a:pPr algn="just"/>
            <a:r>
              <a:rPr lang="en-US" sz="1000" b="1" dirty="0"/>
              <a:t>Key Benefits</a:t>
            </a:r>
          </a:p>
          <a:p>
            <a:pPr marL="171450" indent="-171450" algn="just">
              <a:buFont typeface="Arial" panose="020B0604020202020204" pitchFamily="34" charset="0"/>
              <a:buChar char="•"/>
            </a:pPr>
            <a:r>
              <a:rPr lang="en-US" sz="1000" dirty="0"/>
              <a:t>Hardware-Enforced Isolation </a:t>
            </a:r>
          </a:p>
          <a:p>
            <a:pPr marL="171450" indent="-171450" algn="just">
              <a:buFont typeface="Arial" panose="020B0604020202020204" pitchFamily="34" charset="0"/>
              <a:buChar char="•"/>
            </a:pPr>
            <a:r>
              <a:rPr lang="en-US" sz="1000" dirty="0"/>
              <a:t>Protection for Data in Use </a:t>
            </a:r>
          </a:p>
          <a:p>
            <a:pPr marL="171450" indent="-171450" algn="just">
              <a:buFont typeface="Arial" panose="020B0604020202020204" pitchFamily="34" charset="0"/>
              <a:buChar char="•"/>
            </a:pPr>
            <a:r>
              <a:rPr lang="en-US" sz="1000" dirty="0"/>
              <a:t>Compliance and Regulatory Support </a:t>
            </a:r>
          </a:p>
          <a:p>
            <a:pPr marL="171450" indent="-171450" algn="just">
              <a:buFont typeface="Arial" panose="020B0604020202020204" pitchFamily="34" charset="0"/>
              <a:buChar char="•"/>
            </a:pPr>
            <a:r>
              <a:rPr lang="en-US" sz="1000" dirty="0"/>
              <a:t>Serverless Confidential Computing </a:t>
            </a:r>
          </a:p>
          <a:p>
            <a:pPr marL="171450" indent="-171450" algn="just">
              <a:buFont typeface="Arial" panose="020B0604020202020204" pitchFamily="34" charset="0"/>
              <a:buChar char="•"/>
            </a:pPr>
            <a:r>
              <a:rPr lang="en-US" sz="1000" dirty="0"/>
              <a:t>Workload Profile Integration </a:t>
            </a:r>
          </a:p>
        </p:txBody>
      </p:sp>
      <p:sp>
        <p:nvSpPr>
          <p:cNvPr id="3" name="Title 2">
            <a:extLst>
              <a:ext uri="{FF2B5EF4-FFF2-40B4-BE49-F238E27FC236}">
                <a16:creationId xmlns:a16="http://schemas.microsoft.com/office/drawing/2014/main" id="{82BC3D56-98E4-3168-37E2-2424323FFDDC}"/>
              </a:ext>
            </a:extLst>
          </p:cNvPr>
          <p:cNvSpPr>
            <a:spLocks noGrp="1"/>
          </p:cNvSpPr>
          <p:nvPr>
            <p:ph type="title"/>
          </p:nvPr>
        </p:nvSpPr>
        <p:spPr/>
        <p:txBody>
          <a:bodyPr/>
          <a:lstStyle/>
          <a:p>
            <a:r>
              <a:rPr lang="en-US" sz="1600" dirty="0"/>
              <a:t>Compute Updates</a:t>
            </a:r>
            <a:endParaRPr lang="en-US" dirty="0"/>
          </a:p>
        </p:txBody>
      </p:sp>
      <p:sp>
        <p:nvSpPr>
          <p:cNvPr id="4" name="Text Placeholder 3">
            <a:extLst>
              <a:ext uri="{FF2B5EF4-FFF2-40B4-BE49-F238E27FC236}">
                <a16:creationId xmlns:a16="http://schemas.microsoft.com/office/drawing/2014/main" id="{CC7FF5C2-5724-ED98-63EE-C480571EFF05}"/>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EFE7C044-CA9B-7E29-C7D6-3B3B1B67CBB3}"/>
              </a:ext>
            </a:extLst>
          </p:cNvPr>
          <p:cNvSpPr>
            <a:spLocks noGrp="1"/>
          </p:cNvSpPr>
          <p:nvPr>
            <p:ph type="body" sz="quarter" idx="16"/>
          </p:nvPr>
        </p:nvSpPr>
        <p:spPr/>
        <p:txBody>
          <a:bodyPr/>
          <a:lstStyle/>
          <a:p>
            <a:pPr algn="just"/>
            <a:r>
              <a:rPr lang="en-US" dirty="0">
                <a:hlinkClick r:id="rId3"/>
              </a:rPr>
              <a:t>Generally available: Generally available: Managed system node pools in AKS Automatic</a:t>
            </a:r>
            <a:endParaRPr lang="en-US" dirty="0"/>
          </a:p>
          <a:p>
            <a:pPr algn="just"/>
            <a:r>
              <a:rPr lang="en-US" b="1" dirty="0"/>
              <a:t>Managed System Node Pools in AKS Automatic</a:t>
            </a:r>
            <a:r>
              <a:rPr lang="en-US" dirty="0"/>
              <a:t> remove the operational burden of managing Kubernetes system infrastructure. Azure automatically provisions, scales, patches, and maintains the node pools that host core Kubernetes system components, eliminating the need for administrators to create and manage dedicated system node pools.</a:t>
            </a:r>
          </a:p>
          <a:p>
            <a:pPr algn="just"/>
            <a:r>
              <a:rPr lang="en-US" b="1" dirty="0"/>
              <a:t>Key Benefits</a:t>
            </a:r>
          </a:p>
          <a:p>
            <a:pPr marL="171450" indent="-171450" algn="just">
              <a:buFont typeface="Arial" panose="020B0604020202020204" pitchFamily="34" charset="0"/>
              <a:buChar char="•"/>
            </a:pPr>
            <a:r>
              <a:rPr lang="en-US" dirty="0"/>
              <a:t>Reduced Operational Overhead </a:t>
            </a:r>
          </a:p>
          <a:p>
            <a:pPr marL="171450" indent="-171450" algn="just">
              <a:buFont typeface="Arial" panose="020B0604020202020204" pitchFamily="34" charset="0"/>
              <a:buChar char="•"/>
            </a:pPr>
            <a:r>
              <a:rPr lang="en-US" dirty="0"/>
              <a:t>Improved Reliability </a:t>
            </a:r>
          </a:p>
          <a:p>
            <a:pPr marL="171450" indent="-171450" algn="just">
              <a:buFont typeface="Arial" panose="020B0604020202020204" pitchFamily="34" charset="0"/>
              <a:buChar char="•"/>
            </a:pPr>
            <a:r>
              <a:rPr lang="en-US" dirty="0"/>
              <a:t>Automatic Platform Maintenance </a:t>
            </a:r>
          </a:p>
          <a:p>
            <a:pPr marL="171450" indent="-171450" algn="just">
              <a:buFont typeface="Arial" panose="020B0604020202020204" pitchFamily="34" charset="0"/>
              <a:buChar char="•"/>
            </a:pPr>
            <a:r>
              <a:rPr lang="en-US" dirty="0"/>
              <a:t>Simplified AKS Operations </a:t>
            </a:r>
          </a:p>
          <a:p>
            <a:pPr algn="just"/>
            <a:endParaRPr lang="en-US" dirty="0"/>
          </a:p>
        </p:txBody>
      </p:sp>
    </p:spTree>
    <p:extLst>
      <p:ext uri="{BB962C8B-B14F-4D97-AF65-F5344CB8AC3E}">
        <p14:creationId xmlns:p14="http://schemas.microsoft.com/office/powerpoint/2010/main" val="477942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5" end="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5A865C5-36D1-5389-6C89-657A1552E5FD}"/>
              </a:ext>
            </a:extLst>
          </p:cNvPr>
          <p:cNvSpPr>
            <a:spLocks noGrp="1"/>
          </p:cNvSpPr>
          <p:nvPr>
            <p:ph type="body" sz="quarter" idx="10"/>
          </p:nvPr>
        </p:nvSpPr>
        <p:spPr/>
        <p:txBody>
          <a:bodyPr/>
          <a:lstStyle/>
          <a:p>
            <a:pPr algn="just"/>
            <a:r>
              <a:rPr lang="en-US" sz="1000" dirty="0">
                <a:hlinkClick r:id="rId2"/>
              </a:rPr>
              <a:t>Generally Available: Rolling updates in Flex Consumption</a:t>
            </a:r>
            <a:endParaRPr lang="en-US" sz="1000" dirty="0"/>
          </a:p>
          <a:p>
            <a:pPr algn="just"/>
            <a:r>
              <a:rPr lang="en-US" sz="1000" dirty="0"/>
              <a:t>Rolling Updates for Azure Functions Flex Consumption (GA) enable zero-downtime deployments by gradually replacing running instances instead of restarting all instances at once. During updates, the platform drains existing instances while scaling out the new version, ensuring uninterrupted execution for HTTP, non-HTTP, and Durable Functions workloads. Rolling updates can be enabled through the Azure Portal or by setting </a:t>
            </a:r>
            <a:r>
              <a:rPr lang="en-US" sz="1000" dirty="0" err="1"/>
              <a:t>siteUpdateStrategy.type</a:t>
            </a:r>
            <a:r>
              <a:rPr lang="en-US" sz="1000" dirty="0"/>
              <a:t> = </a:t>
            </a:r>
            <a:r>
              <a:rPr lang="en-US" sz="1000" dirty="0" err="1"/>
              <a:t>RollingUpdate</a:t>
            </a:r>
            <a:r>
              <a:rPr lang="en-US" sz="1000" dirty="0"/>
              <a:t> in ARM/Bicep templates. This feature improves application availability during deployments, though automatic rollback is not currently supported.</a:t>
            </a:r>
          </a:p>
        </p:txBody>
      </p:sp>
      <p:sp>
        <p:nvSpPr>
          <p:cNvPr id="3" name="Title 2">
            <a:extLst>
              <a:ext uri="{FF2B5EF4-FFF2-40B4-BE49-F238E27FC236}">
                <a16:creationId xmlns:a16="http://schemas.microsoft.com/office/drawing/2014/main" id="{8AC148BB-244F-2974-B385-96BEF1D9945F}"/>
              </a:ext>
            </a:extLst>
          </p:cNvPr>
          <p:cNvSpPr>
            <a:spLocks noGrp="1"/>
          </p:cNvSpPr>
          <p:nvPr>
            <p:ph type="title"/>
          </p:nvPr>
        </p:nvSpPr>
        <p:spPr/>
        <p:txBody>
          <a:bodyPr/>
          <a:lstStyle/>
          <a:p>
            <a:r>
              <a:rPr lang="en-US" sz="1600" dirty="0"/>
              <a:t>Compute Updates</a:t>
            </a:r>
            <a:endParaRPr lang="en-US" dirty="0"/>
          </a:p>
        </p:txBody>
      </p:sp>
      <p:sp>
        <p:nvSpPr>
          <p:cNvPr id="4" name="Text Placeholder 3">
            <a:extLst>
              <a:ext uri="{FF2B5EF4-FFF2-40B4-BE49-F238E27FC236}">
                <a16:creationId xmlns:a16="http://schemas.microsoft.com/office/drawing/2014/main" id="{D66D0AE5-C70B-4205-3860-B33627D5EA36}"/>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5777D736-A78B-B5B2-C1AD-6C2A19121E54}"/>
              </a:ext>
            </a:extLst>
          </p:cNvPr>
          <p:cNvSpPr>
            <a:spLocks noGrp="1"/>
          </p:cNvSpPr>
          <p:nvPr>
            <p:ph type="body" sz="quarter" idx="16"/>
          </p:nvPr>
        </p:nvSpPr>
        <p:spPr/>
        <p:txBody>
          <a:bodyPr/>
          <a:lstStyle/>
          <a:p>
            <a:pPr algn="just"/>
            <a:r>
              <a:rPr lang="en-US" dirty="0">
                <a:hlinkClick r:id="rId3"/>
              </a:rPr>
              <a:t>Generally Available: Azure Logic Apps MCP Server.</a:t>
            </a:r>
            <a:endParaRPr lang="en-US" dirty="0"/>
          </a:p>
          <a:p>
            <a:pPr algn="just"/>
            <a:r>
              <a:rPr lang="en-US" dirty="0"/>
              <a:t>Azure Logic Apps MCP Server is now generally available (GA), enabling organizations to expose existing Azure Logic Apps workflows as MCP-compatible tools that AI agents can discover and invoke directly. This removes the need to build and maintain custom APIs or integration layers solely to connect agents with enterprise workflows</a:t>
            </a:r>
          </a:p>
        </p:txBody>
      </p:sp>
    </p:spTree>
    <p:extLst>
      <p:ext uri="{BB962C8B-B14F-4D97-AF65-F5344CB8AC3E}">
        <p14:creationId xmlns:p14="http://schemas.microsoft.com/office/powerpoint/2010/main" val="2979367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EA9A529-704D-2658-834D-DA7942004608}"/>
              </a:ext>
            </a:extLst>
          </p:cNvPr>
          <p:cNvSpPr>
            <a:spLocks noGrp="1"/>
          </p:cNvSpPr>
          <p:nvPr>
            <p:ph type="body" sz="quarter" idx="10"/>
          </p:nvPr>
        </p:nvSpPr>
        <p:spPr/>
        <p:txBody>
          <a:bodyPr/>
          <a:lstStyle/>
          <a:p>
            <a:pPr algn="just"/>
            <a:r>
              <a:rPr lang="en-US" sz="1000" dirty="0">
                <a:hlinkClick r:id="rId2"/>
              </a:rPr>
              <a:t>Generally Available: Azure Red Hat OpenShift in Belgium Central</a:t>
            </a:r>
            <a:endParaRPr lang="en-US" sz="1000" dirty="0"/>
          </a:p>
          <a:p>
            <a:pPr algn="just"/>
            <a:r>
              <a:rPr lang="en-US" sz="1000" dirty="0"/>
              <a:t>Azure Red Hat OpenShift (ARO) is now generally available in Azure Belgium Central, expanding regional availability for OpenShift deployments across Europe. With the launch of Microsoft’s first Azure region in Belgium, customers can now run fully managed OpenShift clusters closer to their users and data, improving performance and reducing latency for cloud-native applications. </a:t>
            </a:r>
          </a:p>
          <a:p>
            <a:pPr algn="just"/>
            <a:r>
              <a:rPr lang="en-US" sz="1000" dirty="0"/>
              <a:t>This new region enables organizations to deploy Kubernetes-based workloads while meeting local data residency and regulatory requirements. Built with multiple availability zones, Belgium Central supports resilient, production-grade architectures for mission-critical applications running on ARO. Customers can take advantage of consistent OpenShift operations across hybrid and multi-cloud environments, while benefiting from Azure-native integration and enterprise-grade support. </a:t>
            </a:r>
          </a:p>
          <a:p>
            <a:pPr algn="just"/>
            <a:r>
              <a:rPr lang="en-US" sz="1000" dirty="0"/>
              <a:t>The availability of ARO in Belgium Central provides a strong foundation for regulated industries and enterprises that require in-country infrastructure. It also supports modern application development patterns, including AI-enabled and data-intensive workloads, with improved proximity, control, and scalability. </a:t>
            </a:r>
          </a:p>
        </p:txBody>
      </p:sp>
      <p:sp>
        <p:nvSpPr>
          <p:cNvPr id="3" name="Title 2">
            <a:extLst>
              <a:ext uri="{FF2B5EF4-FFF2-40B4-BE49-F238E27FC236}">
                <a16:creationId xmlns:a16="http://schemas.microsoft.com/office/drawing/2014/main" id="{ED4FCE03-5379-7845-E94E-9FC83BCF003C}"/>
              </a:ext>
            </a:extLst>
          </p:cNvPr>
          <p:cNvSpPr>
            <a:spLocks noGrp="1"/>
          </p:cNvSpPr>
          <p:nvPr>
            <p:ph type="title"/>
          </p:nvPr>
        </p:nvSpPr>
        <p:spPr/>
        <p:txBody>
          <a:bodyPr/>
          <a:lstStyle/>
          <a:p>
            <a:r>
              <a:rPr lang="en-US" sz="1600" dirty="0"/>
              <a:t>Compute Updates</a:t>
            </a:r>
            <a:endParaRPr lang="en-US" dirty="0"/>
          </a:p>
        </p:txBody>
      </p:sp>
      <p:sp>
        <p:nvSpPr>
          <p:cNvPr id="4" name="Text Placeholder 3">
            <a:extLst>
              <a:ext uri="{FF2B5EF4-FFF2-40B4-BE49-F238E27FC236}">
                <a16:creationId xmlns:a16="http://schemas.microsoft.com/office/drawing/2014/main" id="{6FAD82F0-BC1C-D880-FE26-ECE6210B3B71}"/>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9DAF0CB4-8DCC-3FC7-2983-EC3CB64287C4}"/>
              </a:ext>
            </a:extLst>
          </p:cNvPr>
          <p:cNvSpPr>
            <a:spLocks noGrp="1"/>
          </p:cNvSpPr>
          <p:nvPr>
            <p:ph type="body" sz="quarter" idx="16"/>
          </p:nvPr>
        </p:nvSpPr>
        <p:spPr/>
        <p:txBody>
          <a:bodyPr/>
          <a:lstStyle/>
          <a:p>
            <a:pPr algn="just"/>
            <a:r>
              <a:rPr lang="en-US" dirty="0">
                <a:hlinkClick r:id="rId3"/>
              </a:rPr>
              <a:t>General Availability: Backup your ledger files for audit with Azure confidential ledger’s new tool</a:t>
            </a:r>
            <a:endParaRPr lang="en-US" dirty="0"/>
          </a:p>
          <a:p>
            <a:pPr algn="just"/>
            <a:r>
              <a:rPr lang="en-US" b="1" dirty="0"/>
              <a:t>Localized Web Ledger Explorer</a:t>
            </a:r>
            <a:r>
              <a:rPr lang="en-US" dirty="0"/>
              <a:t> provides a secure way for </a:t>
            </a:r>
            <a:r>
              <a:rPr lang="en-US" b="1" dirty="0"/>
              <a:t>auditors, security teams, and third-party assessors</a:t>
            </a:r>
            <a:r>
              <a:rPr lang="en-US" dirty="0"/>
              <a:t> to independently verify the integrity and authenticity of Azure ledger data. By importing exported ledger files into the web-based tool, users can validate cryptographic proofs, inspect ledger contents, and visually verify the </a:t>
            </a:r>
            <a:r>
              <a:rPr lang="en-US" b="1" dirty="0"/>
              <a:t>Merkle tree structure</a:t>
            </a:r>
            <a:r>
              <a:rPr lang="en-US" dirty="0"/>
              <a:t> that chains all ledger records together. This enables independent trust verification without requiring direct access to the production ledger service. Azure administrators continue to have access to similar ledger inspection capabilities through the Azure Portal, while the standalone explorer simplifies audit and compliance validation workflows.</a:t>
            </a:r>
          </a:p>
        </p:txBody>
      </p:sp>
    </p:spTree>
    <p:extLst>
      <p:ext uri="{BB962C8B-B14F-4D97-AF65-F5344CB8AC3E}">
        <p14:creationId xmlns:p14="http://schemas.microsoft.com/office/powerpoint/2010/main" val="2953905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817E1-BA7F-D700-A07D-CF35C50119C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95ECF59-E5F0-A908-6FBA-7B62FCFAAF59}"/>
              </a:ext>
            </a:extLst>
          </p:cNvPr>
          <p:cNvSpPr>
            <a:spLocks noGrp="1"/>
          </p:cNvSpPr>
          <p:nvPr>
            <p:ph type="body" sz="quarter" idx="10"/>
          </p:nvPr>
        </p:nvSpPr>
        <p:spPr>
          <a:xfrm>
            <a:off x="4433776" y="258260"/>
            <a:ext cx="4365038" cy="2627043"/>
          </a:xfrm>
        </p:spPr>
        <p:txBody>
          <a:bodyPr/>
          <a:lstStyle/>
          <a:p>
            <a:pPr algn="just"/>
            <a:r>
              <a:rPr lang="en-US" sz="1000" dirty="0">
                <a:hlinkClick r:id="rId2"/>
              </a:rPr>
              <a:t>Teams Remote App/ Cloud App optimization for Windows 365 and Azure Virtual Desktop now GA</a:t>
            </a:r>
            <a:endParaRPr lang="en-US" sz="1000" dirty="0"/>
          </a:p>
          <a:p>
            <a:pPr algn="just"/>
            <a:r>
              <a:rPr lang="en-US" sz="1000" dirty="0"/>
              <a:t>The new optimization improves audio and video performance, reliability, and security, and simplifies ongoing support by enabling media engine updates without frequent upgrades to the infrastructure or client.</a:t>
            </a:r>
          </a:p>
          <a:p>
            <a:pPr algn="just"/>
            <a:r>
              <a:rPr lang="en-US" sz="1000" dirty="0"/>
              <a:t>This feature will be available to anyone using Microsoft Teams as a Remote App on Azure Virtual Desktop or Cloud Apps on Windows 365 from Windows endpoints.</a:t>
            </a:r>
          </a:p>
          <a:p>
            <a:pPr marL="171450" indent="-171450" algn="just">
              <a:buFont typeface="Arial" panose="020B0604020202020204" pitchFamily="34" charset="0"/>
              <a:buChar char="•"/>
            </a:pPr>
            <a:r>
              <a:rPr lang="en-US" sz="1000" dirty="0"/>
              <a:t>Teams users running in Remote App will automatically transition to the new optimization:</a:t>
            </a:r>
          </a:p>
          <a:p>
            <a:pPr marL="171450" indent="-171450" algn="just">
              <a:buFont typeface="Arial" panose="020B0604020202020204" pitchFamily="34" charset="0"/>
              <a:buChar char="•"/>
            </a:pPr>
            <a:r>
              <a:rPr lang="en-US" sz="1000" dirty="0"/>
              <a:t>Audio and video performance and reliability are improved compared to the legacy WebRTC optimization.</a:t>
            </a:r>
          </a:p>
          <a:p>
            <a:pPr marL="171450" indent="-171450" algn="just">
              <a:buFont typeface="Arial" panose="020B0604020202020204" pitchFamily="34" charset="0"/>
              <a:buChar char="•"/>
            </a:pPr>
            <a:r>
              <a:rPr lang="en-US" sz="1000" dirty="0"/>
              <a:t>Media engine updates no longer require frequent upgrades to the VDI infrastructure or client.</a:t>
            </a:r>
          </a:p>
        </p:txBody>
      </p:sp>
      <p:sp>
        <p:nvSpPr>
          <p:cNvPr id="11" name="Title 10">
            <a:extLst>
              <a:ext uri="{FF2B5EF4-FFF2-40B4-BE49-F238E27FC236}">
                <a16:creationId xmlns:a16="http://schemas.microsoft.com/office/drawing/2014/main" id="{F56FF68D-660F-2CAA-B09A-5A59259AACC4}"/>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1749C152-D6B4-AF3B-2578-E699D30AD2F0}"/>
              </a:ext>
            </a:extLst>
          </p:cNvPr>
          <p:cNvSpPr>
            <a:spLocks noGrp="1"/>
          </p:cNvSpPr>
          <p:nvPr>
            <p:ph type="body" sz="quarter" idx="15"/>
          </p:nvPr>
        </p:nvSpPr>
        <p:spPr/>
        <p:txBody>
          <a:bodyPr/>
          <a:lstStyle/>
          <a:p>
            <a:endParaRPr lang="en-US" dirty="0"/>
          </a:p>
        </p:txBody>
      </p:sp>
      <p:pic>
        <p:nvPicPr>
          <p:cNvPr id="3" name="Picture 2">
            <a:extLst>
              <a:ext uri="{FF2B5EF4-FFF2-40B4-BE49-F238E27FC236}">
                <a16:creationId xmlns:a16="http://schemas.microsoft.com/office/drawing/2014/main" id="{1AC4241D-D80F-FD00-F8D8-8D1780BC751B}"/>
              </a:ext>
            </a:extLst>
          </p:cNvPr>
          <p:cNvPicPr>
            <a:picLocks noChangeAspect="1"/>
          </p:cNvPicPr>
          <p:nvPr/>
        </p:nvPicPr>
        <p:blipFill>
          <a:blip r:embed="rId3"/>
          <a:stretch>
            <a:fillRect/>
          </a:stretch>
        </p:blipFill>
        <p:spPr>
          <a:xfrm>
            <a:off x="5021461" y="2811162"/>
            <a:ext cx="3777353" cy="2144240"/>
          </a:xfrm>
          <a:prstGeom prst="rect">
            <a:avLst/>
          </a:prstGeom>
        </p:spPr>
      </p:pic>
      <p:sp>
        <p:nvSpPr>
          <p:cNvPr id="4" name="Text Placeholder 3">
            <a:extLst>
              <a:ext uri="{FF2B5EF4-FFF2-40B4-BE49-F238E27FC236}">
                <a16:creationId xmlns:a16="http://schemas.microsoft.com/office/drawing/2014/main" id="{25AD5339-1C3C-12C3-C3E3-ADA83863ADA1}"/>
              </a:ext>
            </a:extLst>
          </p:cNvPr>
          <p:cNvSpPr>
            <a:spLocks noGrp="1"/>
          </p:cNvSpPr>
          <p:nvPr>
            <p:ph type="body" sz="quarter" idx="16"/>
          </p:nvPr>
        </p:nvSpPr>
        <p:spPr>
          <a:xfrm>
            <a:off x="342900" y="685801"/>
            <a:ext cx="3955312" cy="2627044"/>
          </a:xfrm>
        </p:spPr>
        <p:txBody>
          <a:bodyPr/>
          <a:lstStyle/>
          <a:p>
            <a:pPr algn="just"/>
            <a:r>
              <a:rPr lang="en-US" dirty="0">
                <a:hlinkClick r:id="rId4"/>
              </a:rPr>
              <a:t>Pod CIDR Expansion Generally Available and IP Address Planning on Azure CNI Overlay</a:t>
            </a:r>
            <a:endParaRPr lang="en-US" dirty="0"/>
          </a:p>
          <a:p>
            <a:pPr algn="just"/>
            <a:r>
              <a:rPr lang="en-US" b="1" dirty="0"/>
              <a:t>Pod CIDR Expansion</a:t>
            </a:r>
            <a:r>
              <a:rPr lang="en-US" dirty="0"/>
              <a:t> for </a:t>
            </a:r>
            <a:r>
              <a:rPr lang="en-US" b="1" dirty="0"/>
              <a:t>Azure CNI Overlay</a:t>
            </a:r>
            <a:r>
              <a:rPr lang="en-US" dirty="0"/>
              <a:t> is now generally available, allowing AKS clusters to expand pod IP address capacity without rebuilding or redeploying existing clusters. This addresses one of the most common operational challenges in Kubernetes environments—running out of pod IP addresses as applications scale. Administrators can now increase the available Pod CIDR range, enabling cluster growth while minimizing disruption to running workloads. The feature simplifies long-term IP address planning and reduces the need for oversized network allocations during initial cluster deployment. It is particularly valuable for large-scale AKS environments, multi-tenant clusters, and rapidly growing applications. By improving network flexibility and scalability, Azure CNI Overlay helps organizations optimize IP utilization while supporting future cluster expansion.</a:t>
            </a:r>
          </a:p>
        </p:txBody>
      </p:sp>
    </p:spTree>
    <p:extLst>
      <p:ext uri="{BB962C8B-B14F-4D97-AF65-F5344CB8AC3E}">
        <p14:creationId xmlns:p14="http://schemas.microsoft.com/office/powerpoint/2010/main" val="16393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6A2A18-D4C5-2F1F-2342-E1F415BD1E4C}"/>
              </a:ext>
            </a:extLst>
          </p:cNvPr>
          <p:cNvSpPr>
            <a:spLocks noGrp="1"/>
          </p:cNvSpPr>
          <p:nvPr>
            <p:ph type="title"/>
          </p:nvPr>
        </p:nvSpPr>
        <p:spPr/>
        <p:txBody>
          <a:bodyPr/>
          <a:lstStyle/>
          <a:p>
            <a:r>
              <a:rPr lang="en-US" sz="1600" dirty="0"/>
              <a:t>Compute Updates</a:t>
            </a:r>
            <a:endParaRPr lang="en-US" dirty="0"/>
          </a:p>
        </p:txBody>
      </p:sp>
      <p:sp>
        <p:nvSpPr>
          <p:cNvPr id="4" name="Text Placeholder 3">
            <a:extLst>
              <a:ext uri="{FF2B5EF4-FFF2-40B4-BE49-F238E27FC236}">
                <a16:creationId xmlns:a16="http://schemas.microsoft.com/office/drawing/2014/main" id="{9D94AB79-39CF-2E2E-DF26-9F6795D9FED4}"/>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C5310FB4-C18B-4D89-4061-66A002BF8F2E}"/>
              </a:ext>
            </a:extLst>
          </p:cNvPr>
          <p:cNvSpPr>
            <a:spLocks noGrp="1"/>
          </p:cNvSpPr>
          <p:nvPr>
            <p:ph type="body" sz="quarter" idx="16"/>
          </p:nvPr>
        </p:nvSpPr>
        <p:spPr/>
        <p:txBody>
          <a:bodyPr/>
          <a:lstStyle/>
          <a:p>
            <a:pPr algn="just"/>
            <a:r>
              <a:rPr lang="en-US" dirty="0">
                <a:hlinkClick r:id="rId2"/>
              </a:rPr>
              <a:t>Generally Available: Override Scale Rules in Azure Functions on Azure Container Apps</a:t>
            </a:r>
            <a:endParaRPr lang="en-US" dirty="0"/>
          </a:p>
          <a:p>
            <a:pPr algn="just"/>
            <a:r>
              <a:rPr lang="en-US" b="1" dirty="0"/>
              <a:t>Azure Functions on Container Apps</a:t>
            </a:r>
            <a:r>
              <a:rPr lang="en-US" dirty="0"/>
              <a:t> now supports </a:t>
            </a:r>
            <a:r>
              <a:rPr lang="en-US" b="1" dirty="0"/>
              <a:t>custom KEDA scaling rule overrides</a:t>
            </a:r>
            <a:r>
              <a:rPr lang="en-US" dirty="0"/>
              <a:t> through the new </a:t>
            </a:r>
            <a:r>
              <a:rPr lang="en-US" dirty="0" err="1"/>
              <a:t>allowScalingRuleOverride</a:t>
            </a:r>
            <a:r>
              <a:rPr lang="en-US" dirty="0"/>
              <a:t> property. Previously, Azure automatically generated KEDA scaling rules based on configured triggers, but customers can now replace platform-managed scaling behavior with their own custom KEDA configurations.</a:t>
            </a:r>
          </a:p>
          <a:p>
            <a:pPr algn="just"/>
            <a:r>
              <a:rPr lang="en-US" dirty="0"/>
              <a:t>This capability is particularly valuable for workloads that require </a:t>
            </a:r>
            <a:r>
              <a:rPr lang="en-US" b="1" dirty="0"/>
              <a:t>fine-grained control over scaling</a:t>
            </a:r>
            <a:r>
              <a:rPr lang="en-US" dirty="0"/>
              <a:t>, such as custom queue thresholds, HTTP concurrency tuning, or organization-wide scaling standards. It also addresses scenarios where platform-generated scaling rules may not align with application requirements or where specific trigger types are not fully supported.</a:t>
            </a:r>
          </a:p>
          <a:p>
            <a:pPr algn="just"/>
            <a:r>
              <a:rPr lang="en-US" dirty="0"/>
              <a:t>By enabling direct control over KEDA scaling policies while retaining the native Azure Functions on Container Apps architecture, organizations gain greater flexibility to optimize performance, control costs, and standardize scaling behavior across serverless and containerized workloads.</a:t>
            </a:r>
          </a:p>
          <a:p>
            <a:pPr algn="just"/>
            <a:endParaRPr lang="en-US" dirty="0"/>
          </a:p>
        </p:txBody>
      </p:sp>
      <p:sp>
        <p:nvSpPr>
          <p:cNvPr id="6" name="Text Placeholder 1">
            <a:extLst>
              <a:ext uri="{FF2B5EF4-FFF2-40B4-BE49-F238E27FC236}">
                <a16:creationId xmlns:a16="http://schemas.microsoft.com/office/drawing/2014/main" id="{0CD02BEB-E94E-56CE-F70B-5243E9520A62}"/>
              </a:ext>
            </a:extLst>
          </p:cNvPr>
          <p:cNvSpPr txBox="1">
            <a:spLocks/>
          </p:cNvSpPr>
          <p:nvPr/>
        </p:nvSpPr>
        <p:spPr>
          <a:xfrm>
            <a:off x="4433776" y="868934"/>
            <a:ext cx="4365038" cy="1044058"/>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2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sz="1000" dirty="0">
                <a:hlinkClick r:id="rId3"/>
              </a:rPr>
              <a:t>Majorana 2 – Microsoft's Scalable Quantum Processor With Reliable, Long-Lasting Qubits</a:t>
            </a:r>
            <a:endParaRPr lang="en-US" sz="1000" dirty="0"/>
          </a:p>
          <a:p>
            <a:pPr algn="just"/>
            <a:r>
              <a:rPr lang="en-US" sz="1000" b="1" dirty="0"/>
              <a:t>Majorana 2 Quantum Processor</a:t>
            </a:r>
            <a:r>
              <a:rPr lang="en-US" sz="1000" dirty="0"/>
              <a:t> is Microsoft's next-generation quantum computing chip designed to enable </a:t>
            </a:r>
            <a:r>
              <a:rPr lang="en-US" sz="1000" b="1" dirty="0"/>
              <a:t>fault-tolerant, scalable quantum computing</a:t>
            </a:r>
            <a:r>
              <a:rPr lang="en-US" sz="1000" dirty="0"/>
              <a:t> using a fundamentally different architecture based on </a:t>
            </a:r>
            <a:r>
              <a:rPr lang="en-US" sz="1000" b="1" dirty="0"/>
              <a:t>topological qubits</a:t>
            </a:r>
            <a:r>
              <a:rPr lang="en-US" sz="1000" dirty="0"/>
              <a:t>.</a:t>
            </a:r>
          </a:p>
        </p:txBody>
      </p:sp>
      <p:pic>
        <p:nvPicPr>
          <p:cNvPr id="7" name="Picture 6">
            <a:extLst>
              <a:ext uri="{FF2B5EF4-FFF2-40B4-BE49-F238E27FC236}">
                <a16:creationId xmlns:a16="http://schemas.microsoft.com/office/drawing/2014/main" id="{D5D7CAE7-79FD-F3C3-0653-012D147E5190}"/>
              </a:ext>
            </a:extLst>
          </p:cNvPr>
          <p:cNvPicPr>
            <a:picLocks noChangeAspect="1"/>
          </p:cNvPicPr>
          <p:nvPr/>
        </p:nvPicPr>
        <p:blipFill>
          <a:blip r:embed="rId4"/>
          <a:stretch>
            <a:fillRect/>
          </a:stretch>
        </p:blipFill>
        <p:spPr>
          <a:xfrm>
            <a:off x="4572000" y="1936227"/>
            <a:ext cx="4357247" cy="2706775"/>
          </a:xfrm>
          <a:prstGeom prst="rect">
            <a:avLst/>
          </a:prstGeom>
        </p:spPr>
      </p:pic>
    </p:spTree>
    <p:extLst>
      <p:ext uri="{BB962C8B-B14F-4D97-AF65-F5344CB8AC3E}">
        <p14:creationId xmlns:p14="http://schemas.microsoft.com/office/powerpoint/2010/main" val="1600056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1D3CDD5-B8F1-DA59-380B-8F724AABAFB5}"/>
              </a:ext>
            </a:extLst>
          </p:cNvPr>
          <p:cNvSpPr>
            <a:spLocks noGrp="1"/>
          </p:cNvSpPr>
          <p:nvPr>
            <p:ph type="body" sz="quarter" idx="10"/>
          </p:nvPr>
        </p:nvSpPr>
        <p:spPr/>
        <p:txBody>
          <a:bodyPr/>
          <a:lstStyle/>
          <a:p>
            <a:endParaRPr lang="en-US" dirty="0"/>
          </a:p>
        </p:txBody>
      </p:sp>
      <p:sp>
        <p:nvSpPr>
          <p:cNvPr id="3" name="Title 2">
            <a:extLst>
              <a:ext uri="{FF2B5EF4-FFF2-40B4-BE49-F238E27FC236}">
                <a16:creationId xmlns:a16="http://schemas.microsoft.com/office/drawing/2014/main" id="{10FFF3CF-0621-AF22-0E45-61A14A31F31A}"/>
              </a:ext>
            </a:extLst>
          </p:cNvPr>
          <p:cNvSpPr>
            <a:spLocks noGrp="1"/>
          </p:cNvSpPr>
          <p:nvPr>
            <p:ph type="title"/>
          </p:nvPr>
        </p:nvSpPr>
        <p:spPr/>
        <p:txBody>
          <a:bodyPr/>
          <a:lstStyle/>
          <a:p>
            <a:r>
              <a:rPr lang="en-US" sz="1600" dirty="0"/>
              <a:t>Compute Updates</a:t>
            </a:r>
            <a:endParaRPr lang="en-US" dirty="0"/>
          </a:p>
        </p:txBody>
      </p:sp>
      <p:sp>
        <p:nvSpPr>
          <p:cNvPr id="4" name="Text Placeholder 3">
            <a:extLst>
              <a:ext uri="{FF2B5EF4-FFF2-40B4-BE49-F238E27FC236}">
                <a16:creationId xmlns:a16="http://schemas.microsoft.com/office/drawing/2014/main" id="{1CDF71D6-2343-6DF2-203A-024445F4D34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9104E40-B616-5259-A98B-8099EE2331BE}"/>
              </a:ext>
            </a:extLst>
          </p:cNvPr>
          <p:cNvSpPr>
            <a:spLocks noGrp="1"/>
          </p:cNvSpPr>
          <p:nvPr>
            <p:ph type="body" sz="quarter" idx="16"/>
          </p:nvPr>
        </p:nvSpPr>
        <p:spPr>
          <a:xfrm>
            <a:off x="342900" y="855663"/>
            <a:ext cx="3956050" cy="3773487"/>
          </a:xfrm>
        </p:spPr>
        <p:txBody>
          <a:bodyPr/>
          <a:lstStyle/>
          <a:p>
            <a:pPr algn="just"/>
            <a:r>
              <a:rPr lang="en-US" dirty="0">
                <a:hlinkClick r:id="rId2"/>
              </a:rPr>
              <a:t>Retirement: Azure VMware Solution AV36 node End of Support on September 30, 2027</a:t>
            </a:r>
            <a:endParaRPr lang="en-US" dirty="0"/>
          </a:p>
          <a:p>
            <a:pPr algn="just"/>
            <a:r>
              <a:rPr lang="en-US" dirty="0"/>
              <a:t>Reminder: Microsoft’s support lifecycle is evolving in alignment with VMware’s roadmap. Broadcom will end support for the current AV36 VCF version on September 30, 2027, and the AV36 SKU is not compatible with VMware Cloud Foundation (VCF) 9, the next-generation platform.</a:t>
            </a:r>
          </a:p>
          <a:p>
            <a:pPr algn="just"/>
            <a:r>
              <a:rPr lang="en-US" dirty="0"/>
              <a:t>As part of this transition, all AV36 SDDCs will be retired after September 30, 2027, regardless of individual RI expiration dates. On October 1, 2027, these SDDCs will no longer be accessible. Microsoft will securely retain customer data for a limited period (up to 60 days) to support retrieval if needed.</a:t>
            </a:r>
          </a:p>
          <a:p>
            <a:pPr algn="just"/>
            <a:r>
              <a:rPr lang="en-US" dirty="0"/>
              <a:t>The details above only impact AV36 nodes. AVS AV36P, AV48, AV52 and AV64 remain available.</a:t>
            </a:r>
          </a:p>
          <a:p>
            <a:pPr algn="just"/>
            <a:endParaRPr lang="en-US" dirty="0"/>
          </a:p>
        </p:txBody>
      </p:sp>
    </p:spTree>
    <p:extLst>
      <p:ext uri="{BB962C8B-B14F-4D97-AF65-F5344CB8AC3E}">
        <p14:creationId xmlns:p14="http://schemas.microsoft.com/office/powerpoint/2010/main" val="41637002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Storage &amp; Data</a:t>
            </a:r>
          </a:p>
        </p:txBody>
      </p:sp>
    </p:spTree>
    <p:extLst>
      <p:ext uri="{BB962C8B-B14F-4D97-AF65-F5344CB8AC3E}">
        <p14:creationId xmlns:p14="http://schemas.microsoft.com/office/powerpoint/2010/main" val="21881407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BC30-BE9D-D666-D8EC-C477902CDD33}"/>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9338C940-1C5A-F159-79FA-059EBE1E77FE}"/>
              </a:ext>
            </a:extLst>
          </p:cNvPr>
          <p:cNvSpPr>
            <a:spLocks noGrp="1"/>
          </p:cNvSpPr>
          <p:nvPr>
            <p:ph type="title"/>
          </p:nvPr>
        </p:nvSpPr>
        <p:spPr/>
        <p:txBody>
          <a:bodyPr/>
          <a:lstStyle/>
          <a:p>
            <a:r>
              <a:rPr lang="en-US" sz="1800" dirty="0"/>
              <a:t>Storage &amp; Data Updates</a:t>
            </a:r>
            <a:endParaRPr lang="en-US" dirty="0"/>
          </a:p>
        </p:txBody>
      </p:sp>
      <p:sp>
        <p:nvSpPr>
          <p:cNvPr id="13" name="Text Placeholder 12">
            <a:extLst>
              <a:ext uri="{FF2B5EF4-FFF2-40B4-BE49-F238E27FC236}">
                <a16:creationId xmlns:a16="http://schemas.microsoft.com/office/drawing/2014/main" id="{79819030-1C59-2813-CD9C-4D9347E3D50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6F37A70-680F-B50D-A1A9-E9D2AE2C922F}"/>
              </a:ext>
            </a:extLst>
          </p:cNvPr>
          <p:cNvSpPr>
            <a:spLocks noGrp="1"/>
          </p:cNvSpPr>
          <p:nvPr>
            <p:ph type="body" sz="quarter" idx="16"/>
          </p:nvPr>
        </p:nvSpPr>
        <p:spPr/>
        <p:txBody>
          <a:bodyPr/>
          <a:lstStyle/>
          <a:p>
            <a:pPr algn="just"/>
            <a:r>
              <a:rPr lang="en-US" dirty="0">
                <a:hlinkClick r:id="rId2"/>
              </a:rPr>
              <a:t>Generally Available: File share centric management model (</a:t>
            </a:r>
            <a:r>
              <a:rPr lang="en-US" dirty="0" err="1">
                <a:hlinkClick r:id="rId2"/>
              </a:rPr>
              <a:t>Microsoft.FileShares</a:t>
            </a:r>
            <a:r>
              <a:rPr lang="en-US" dirty="0">
                <a:hlinkClick r:id="rId2"/>
              </a:rPr>
              <a:t>) for Azure Files</a:t>
            </a:r>
            <a:endParaRPr lang="en-US" dirty="0"/>
          </a:p>
          <a:p>
            <a:pPr algn="just"/>
            <a:r>
              <a:rPr lang="en-US" dirty="0"/>
              <a:t>The new file share service management experience for Azure Files is now generally available for NFS 4.1 shares on SSD storage. Powered by the </a:t>
            </a:r>
            <a:r>
              <a:rPr lang="en-US" dirty="0" err="1"/>
              <a:t>Microsoft.FileShares</a:t>
            </a:r>
            <a:r>
              <a:rPr lang="en-US" dirty="0"/>
              <a:t> resource provider, file shares are now top-level Azure resources that you can create, secure, scale, and bill independently, without a storage account.</a:t>
            </a:r>
            <a:br>
              <a:rPr lang="en-US" dirty="0"/>
            </a:br>
            <a:r>
              <a:rPr lang="en-US" dirty="0"/>
              <a:t>Key benefits:</a:t>
            </a:r>
          </a:p>
          <a:p>
            <a:pPr marL="171450" indent="-171450" algn="just">
              <a:buFont typeface="Arial" panose="020B0604020202020204" pitchFamily="34" charset="0"/>
              <a:buChar char="•"/>
            </a:pPr>
            <a:r>
              <a:rPr lang="en-US" dirty="0"/>
              <a:t>Top-level resource with a familiar, NAS-like management model.</a:t>
            </a:r>
          </a:p>
          <a:p>
            <a:pPr marL="171450" indent="-171450" algn="just">
              <a:buFont typeface="Arial" panose="020B0604020202020204" pitchFamily="34" charset="0"/>
              <a:buChar char="•"/>
            </a:pPr>
            <a:r>
              <a:rPr lang="en-US" dirty="0"/>
              <a:t>Independent performance for each share through the provisioned v2 billing model, with dynamic scaling up and down and no noisy-neighbor impact.</a:t>
            </a:r>
          </a:p>
          <a:p>
            <a:pPr marL="171450" indent="-171450" algn="just">
              <a:buFont typeface="Arial" panose="020B0604020202020204" pitchFamily="34" charset="0"/>
              <a:buChar char="•"/>
            </a:pPr>
            <a:r>
              <a:rPr lang="en-US" dirty="0"/>
              <a:t>Share-level security and networking, including per-share billing, encryption in transit, policies, and network configuration.</a:t>
            </a:r>
          </a:p>
          <a:p>
            <a:pPr marL="171450" indent="-171450" algn="just">
              <a:buFont typeface="Arial" panose="020B0604020202020204" pitchFamily="34" charset="0"/>
              <a:buChar char="•"/>
            </a:pPr>
            <a:r>
              <a:rPr lang="en-US" dirty="0"/>
              <a:t>Support for up to 10,000 shares per subscription per region, with approximately 2.5× faster provisioning.</a:t>
            </a:r>
          </a:p>
          <a:p>
            <a:pPr marL="171450" indent="-171450" algn="just">
              <a:buFont typeface="Arial" panose="020B0604020202020204" pitchFamily="34" charset="0"/>
              <a:buChar char="•"/>
            </a:pPr>
            <a:r>
              <a:rPr lang="en-US" dirty="0"/>
              <a:t>Snapshot support: up to 200 incremental, point-in-time snapshots per share, with metadata editing capability.</a:t>
            </a:r>
          </a:p>
          <a:p>
            <a:pPr marL="171450" indent="-171450" algn="just">
              <a:buFont typeface="Arial" panose="020B0604020202020204" pitchFamily="34" charset="0"/>
              <a:buChar char="•"/>
            </a:pPr>
            <a:r>
              <a:rPr lang="en-US" dirty="0"/>
              <a:t>Per-share billing for cost tracking.</a:t>
            </a:r>
          </a:p>
          <a:p>
            <a:pPr algn="just"/>
            <a:endParaRPr lang="en-US" dirty="0"/>
          </a:p>
        </p:txBody>
      </p:sp>
    </p:spTree>
    <p:extLst>
      <p:ext uri="{BB962C8B-B14F-4D97-AF65-F5344CB8AC3E}">
        <p14:creationId xmlns:p14="http://schemas.microsoft.com/office/powerpoint/2010/main" val="670539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Databases</a:t>
            </a:r>
          </a:p>
        </p:txBody>
      </p:sp>
    </p:spTree>
    <p:extLst>
      <p:ext uri="{BB962C8B-B14F-4D97-AF65-F5344CB8AC3E}">
        <p14:creationId xmlns:p14="http://schemas.microsoft.com/office/powerpoint/2010/main" val="1240959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Public Preview: Introducing AI Assistant in the Azure Cosmos DB extension for Visual Studio Code</a:t>
            </a:r>
            <a:endParaRPr lang="en-US" sz="1000" dirty="0"/>
          </a:p>
          <a:p>
            <a:pPr algn="just"/>
            <a:r>
              <a:rPr lang="en-US" sz="1000" dirty="0"/>
              <a:t>It is now possible to use AI assistance in the Azure Cosmos DB extension for Visual Studio Code to work with data faster and with less manual effort. You can ask questions in plain English and get optimized Azure Cosmos DB queries, use chat participant commands to explain and refine queries, and rely on intelligent auto completion while writing queries and code. </a:t>
            </a:r>
          </a:p>
          <a:p>
            <a:pPr algn="just"/>
            <a:r>
              <a:rPr lang="en-US" sz="1000" dirty="0"/>
              <a:t>You also get an Azure Cosmos DB Shell experience powered by Model Context Protocol (MCP), so the agent can use Shell operations to navigate your databases and containers and execute the right queries for you. You can spend less time on syntax, reduce trial-and-error, and move from idea to insight more quickly. Whether you are exploring data, troubleshooting queries, or building application logic, you get a more guided and productive development experience directly in Visual Studio Code. </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a:xfrm>
            <a:off x="342900" y="855081"/>
            <a:ext cx="3955312" cy="2229764"/>
          </a:xfrm>
        </p:spPr>
        <p:txBody>
          <a:bodyPr/>
          <a:lstStyle/>
          <a:p>
            <a:pPr algn="just"/>
            <a:r>
              <a:rPr lang="en-US" dirty="0">
                <a:hlinkClick r:id="rId3"/>
              </a:rPr>
              <a:t>Public Preview: Safe key rotation for Azure Cosmos DB</a:t>
            </a:r>
            <a:endParaRPr lang="en-US" dirty="0"/>
          </a:p>
          <a:p>
            <a:pPr algn="just"/>
            <a:r>
              <a:rPr lang="en-US" dirty="0"/>
              <a:t>The safe key rotation feature helps confidently rotate Azure Cosmos DB account keys by providing visibility into when each key was last used. Without this insight, you risk rotating a key that may still be actively used by your applications, which can lead to unexpected service disruptions. </a:t>
            </a:r>
          </a:p>
          <a:p>
            <a:pPr algn="just"/>
            <a:r>
              <a:rPr lang="en-US" dirty="0"/>
              <a:t>With safe key rotation, you can identify active and inactive keys before taking action, enabling you to make informed decisions and improve your security posture. This capability supports safer migrations, including transitioning to Microsoft Entra ID, by ensuring keys are no longer in use before disabling access. By reducing operational risk and increasing transparency, safe key rotation helps you maintain application reliability while strengthening key management practices.</a:t>
            </a:r>
          </a:p>
        </p:txBody>
      </p:sp>
      <p:pic>
        <p:nvPicPr>
          <p:cNvPr id="4" name="Picture 3">
            <a:extLst>
              <a:ext uri="{FF2B5EF4-FFF2-40B4-BE49-F238E27FC236}">
                <a16:creationId xmlns:a16="http://schemas.microsoft.com/office/drawing/2014/main" id="{E5D83998-79C7-A90A-782D-9AC2CAD75742}"/>
              </a:ext>
            </a:extLst>
          </p:cNvPr>
          <p:cNvPicPr>
            <a:picLocks noChangeAspect="1"/>
          </p:cNvPicPr>
          <p:nvPr/>
        </p:nvPicPr>
        <p:blipFill>
          <a:blip r:embed="rId4"/>
          <a:stretch>
            <a:fillRect/>
          </a:stretch>
        </p:blipFill>
        <p:spPr>
          <a:xfrm>
            <a:off x="971828" y="2999434"/>
            <a:ext cx="2697455" cy="1867469"/>
          </a:xfrm>
          <a:prstGeom prst="rect">
            <a:avLst/>
          </a:prstGeom>
        </p:spPr>
      </p:pic>
    </p:spTree>
    <p:extLst>
      <p:ext uri="{BB962C8B-B14F-4D97-AF65-F5344CB8AC3E}">
        <p14:creationId xmlns:p14="http://schemas.microsoft.com/office/powerpoint/2010/main" val="1776979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30A3B-5B5F-E3BD-A4F6-C2C8DE0B4DB6}"/>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96FF38FE-F7F4-39FA-FD76-EE7224F55359}"/>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7ADF7F88-4577-68E6-C1CF-62135B255195}"/>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AC75C4F3-4834-7F0D-397C-729C14BBA3BD}"/>
              </a:ext>
            </a:extLst>
          </p:cNvPr>
          <p:cNvSpPr>
            <a:spLocks noGrp="1"/>
          </p:cNvSpPr>
          <p:nvPr>
            <p:ph type="body" sz="quarter" idx="16"/>
          </p:nvPr>
        </p:nvSpPr>
        <p:spPr>
          <a:xfrm>
            <a:off x="342900" y="855080"/>
            <a:ext cx="3955312" cy="1852951"/>
          </a:xfrm>
        </p:spPr>
        <p:txBody>
          <a:bodyPr/>
          <a:lstStyle/>
          <a:p>
            <a:pPr algn="just"/>
            <a:r>
              <a:rPr lang="en-US" dirty="0">
                <a:hlinkClick r:id="rId2"/>
              </a:rPr>
              <a:t>Public Preview: New Azure Cosmos DB cost estimator</a:t>
            </a:r>
            <a:endParaRPr lang="en-US" dirty="0"/>
          </a:p>
          <a:p>
            <a:pPr algn="just"/>
            <a:r>
              <a:rPr lang="en-US" dirty="0"/>
              <a:t>The Azure Cosmos DB cost estimator is now in public preview, giving a fast, accurate way to model throughput, storage, regions, and capacity mode before provision a single account. Whether you are building a new transactional app, modernizing a legacy database, or pricing out AI workloads with vector search, the estimator turns your design choices into a monthly cost projection in minutes. The pricing model reflects current Azure list rates and Microsoft's canonical vector cost methodology, so you can compare configurations, share a quote with your team, and walk into your next architecture review with a number you trust. </a:t>
            </a:r>
          </a:p>
        </p:txBody>
      </p:sp>
      <p:pic>
        <p:nvPicPr>
          <p:cNvPr id="3" name="Picture 2">
            <a:extLst>
              <a:ext uri="{FF2B5EF4-FFF2-40B4-BE49-F238E27FC236}">
                <a16:creationId xmlns:a16="http://schemas.microsoft.com/office/drawing/2014/main" id="{244C20A9-0FA2-4CEA-AFAB-0BB2FABA0CDE}"/>
              </a:ext>
            </a:extLst>
          </p:cNvPr>
          <p:cNvPicPr>
            <a:picLocks noChangeAspect="1"/>
          </p:cNvPicPr>
          <p:nvPr/>
        </p:nvPicPr>
        <p:blipFill>
          <a:blip r:embed="rId3"/>
          <a:stretch>
            <a:fillRect/>
          </a:stretch>
        </p:blipFill>
        <p:spPr>
          <a:xfrm>
            <a:off x="454641" y="2818564"/>
            <a:ext cx="3731829" cy="1721134"/>
          </a:xfrm>
          <a:prstGeom prst="rect">
            <a:avLst/>
          </a:prstGeom>
        </p:spPr>
      </p:pic>
      <p:sp>
        <p:nvSpPr>
          <p:cNvPr id="5" name="Text Placeholder 4">
            <a:extLst>
              <a:ext uri="{FF2B5EF4-FFF2-40B4-BE49-F238E27FC236}">
                <a16:creationId xmlns:a16="http://schemas.microsoft.com/office/drawing/2014/main" id="{76D7BBCE-29C0-BC6B-6734-1CEA909B151B}"/>
              </a:ext>
            </a:extLst>
          </p:cNvPr>
          <p:cNvSpPr txBox="1">
            <a:spLocks/>
          </p:cNvSpPr>
          <p:nvPr/>
        </p:nvSpPr>
        <p:spPr>
          <a:xfrm>
            <a:off x="4673740" y="856051"/>
            <a:ext cx="3955312" cy="2173527"/>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0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dirty="0">
                <a:hlinkClick r:id="rId4"/>
              </a:rPr>
              <a:t>Public Preview: Agentic Retrieval Toolkit for Azure Cosmos DB</a:t>
            </a:r>
            <a:endParaRPr lang="en-US" dirty="0"/>
          </a:p>
          <a:p>
            <a:pPr algn="just"/>
            <a:r>
              <a:rPr lang="en-US" dirty="0"/>
              <a:t>MS announced the public preview of the Agentic Retrieval Toolkit for Azure Cosmos DB. Motivated by </a:t>
            </a:r>
            <a:r>
              <a:rPr lang="en-US" dirty="0" err="1"/>
              <a:t>GraphRAG</a:t>
            </a:r>
            <a:r>
              <a:rPr lang="en-US" dirty="0"/>
              <a:t> and multiple-hop reasoning problems, this new capability helps build advanced retrieval-augmented generation (RAG) applications that go beyond single-pass retrieval by dynamically identifying information gaps and iteratively retrieving additional context. The toolkit combines hybrid search across vector and full-text indexes, diversity-aware document selection, and multiple-round reasoning to produce more complete, grounded responses. </a:t>
            </a:r>
          </a:p>
          <a:p>
            <a:pPr algn="just"/>
            <a:r>
              <a:rPr lang="en-US" dirty="0"/>
              <a:t>With agentic retrieval, it is possible to improve answer quality for complex, multiple-step questions where relevant information is spread across many documents or data sources.</a:t>
            </a:r>
          </a:p>
        </p:txBody>
      </p:sp>
      <p:pic>
        <p:nvPicPr>
          <p:cNvPr id="6" name="Picture 5">
            <a:extLst>
              <a:ext uri="{FF2B5EF4-FFF2-40B4-BE49-F238E27FC236}">
                <a16:creationId xmlns:a16="http://schemas.microsoft.com/office/drawing/2014/main" id="{5D96FC80-D9ED-65D0-9A80-243FA862413F}"/>
              </a:ext>
            </a:extLst>
          </p:cNvPr>
          <p:cNvPicPr>
            <a:picLocks noChangeAspect="1"/>
          </p:cNvPicPr>
          <p:nvPr/>
        </p:nvPicPr>
        <p:blipFill>
          <a:blip r:embed="rId5"/>
          <a:stretch>
            <a:fillRect/>
          </a:stretch>
        </p:blipFill>
        <p:spPr>
          <a:xfrm>
            <a:off x="5131050" y="3045219"/>
            <a:ext cx="3425122" cy="1875744"/>
          </a:xfrm>
          <a:prstGeom prst="rect">
            <a:avLst/>
          </a:prstGeom>
        </p:spPr>
      </p:pic>
    </p:spTree>
    <p:extLst>
      <p:ext uri="{BB962C8B-B14F-4D97-AF65-F5344CB8AC3E}">
        <p14:creationId xmlns:p14="http://schemas.microsoft.com/office/powerpoint/2010/main" val="2199866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C8CA121-D678-FC13-2B5A-48BD575AEB45}"/>
              </a:ext>
            </a:extLst>
          </p:cNvPr>
          <p:cNvSpPr>
            <a:spLocks noGrp="1"/>
          </p:cNvSpPr>
          <p:nvPr>
            <p:ph type="body" sz="quarter" idx="10"/>
          </p:nvPr>
        </p:nvSpPr>
        <p:spPr/>
        <p:txBody>
          <a:bodyPr/>
          <a:lstStyle/>
          <a:p>
            <a:pPr algn="just"/>
            <a:r>
              <a:rPr lang="en-US" sz="1000" dirty="0">
                <a:hlinkClick r:id="rId2"/>
              </a:rPr>
              <a:t>Announcing the Public Preview of Integrated Embeddings in Azure Cosmos DB: Build AI Apps With Embeddings That Stay in Sync</a:t>
            </a:r>
            <a:endParaRPr lang="en-US" sz="1000" dirty="0"/>
          </a:p>
          <a:p>
            <a:pPr algn="just"/>
            <a:r>
              <a:rPr lang="en-US" sz="1000" b="1" dirty="0"/>
              <a:t>Azure Cosmos DB Integrated Embeddings (Public Preview)</a:t>
            </a:r>
            <a:r>
              <a:rPr lang="en-US" sz="1000" dirty="0"/>
              <a:t> enables organizations to generate and maintain </a:t>
            </a:r>
            <a:r>
              <a:rPr lang="en-US" sz="1000" b="1" dirty="0"/>
              <a:t>vector embeddings directly within Azure Cosmos DB</a:t>
            </a:r>
            <a:r>
              <a:rPr lang="en-US" sz="1000" dirty="0"/>
              <a:t>, eliminating the need for separate embedding pipelines and synchronization processes. When data is created or updated, Cosmos DB can automatically generate embeddings and keep them aligned with the latest document content, ensuring vector indexes remain current without custom code or external orchestration.</a:t>
            </a:r>
          </a:p>
        </p:txBody>
      </p:sp>
      <p:sp>
        <p:nvSpPr>
          <p:cNvPr id="3" name="Title 2">
            <a:extLst>
              <a:ext uri="{FF2B5EF4-FFF2-40B4-BE49-F238E27FC236}">
                <a16:creationId xmlns:a16="http://schemas.microsoft.com/office/drawing/2014/main" id="{79D32D4F-E11D-4434-B6D9-7A0AFEB32C20}"/>
              </a:ext>
            </a:extLst>
          </p:cNvPr>
          <p:cNvSpPr>
            <a:spLocks noGrp="1"/>
          </p:cNvSpPr>
          <p:nvPr>
            <p:ph type="title"/>
          </p:nvPr>
        </p:nvSpPr>
        <p:spPr/>
        <p:txBody>
          <a:bodyPr/>
          <a:lstStyle/>
          <a:p>
            <a:r>
              <a:rPr lang="en-US" sz="1600" dirty="0"/>
              <a:t>Databases Updates</a:t>
            </a:r>
            <a:endParaRPr lang="en-US" dirty="0"/>
          </a:p>
        </p:txBody>
      </p:sp>
      <p:sp>
        <p:nvSpPr>
          <p:cNvPr id="4" name="Text Placeholder 3">
            <a:extLst>
              <a:ext uri="{FF2B5EF4-FFF2-40B4-BE49-F238E27FC236}">
                <a16:creationId xmlns:a16="http://schemas.microsoft.com/office/drawing/2014/main" id="{7B6D25DE-0100-BB57-D9C0-338449864E2D}"/>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B95E5864-D3C8-DC7E-E96B-A6FD2BB8E9BB}"/>
              </a:ext>
            </a:extLst>
          </p:cNvPr>
          <p:cNvSpPr>
            <a:spLocks noGrp="1"/>
          </p:cNvSpPr>
          <p:nvPr>
            <p:ph type="body" sz="quarter" idx="16"/>
          </p:nvPr>
        </p:nvSpPr>
        <p:spPr/>
        <p:txBody>
          <a:bodyPr/>
          <a:lstStyle/>
          <a:p>
            <a:pPr algn="just"/>
            <a:r>
              <a:rPr lang="en-US" dirty="0">
                <a:hlinkClick r:id="rId3"/>
              </a:rPr>
              <a:t>Public Preview: AI-powered Azure Cosmos DB Migration Assistant for RDBMS to NoSQL</a:t>
            </a:r>
            <a:endParaRPr lang="en-US" dirty="0"/>
          </a:p>
          <a:p>
            <a:pPr algn="just"/>
            <a:r>
              <a:rPr lang="en-US" b="1" dirty="0"/>
              <a:t>Azure Cosmos DB Migration Assistant (Public Preview)</a:t>
            </a:r>
            <a:r>
              <a:rPr lang="en-US" dirty="0"/>
              <a:t> helps organizations modernize relational database applications by simplifying migration from </a:t>
            </a:r>
            <a:r>
              <a:rPr lang="en-US" b="1" dirty="0"/>
              <a:t>RDBMS platforms to Azure Cosmos DB for NoSQL</a:t>
            </a:r>
            <a:r>
              <a:rPr lang="en-US" dirty="0"/>
              <a:t>. The tool analyzes existing relational schemas, data models, and application patterns, then provides recommendations and guidance for converting them into a document-oriented NoSQL design.</a:t>
            </a:r>
          </a:p>
        </p:txBody>
      </p:sp>
    </p:spTree>
    <p:extLst>
      <p:ext uri="{BB962C8B-B14F-4D97-AF65-F5344CB8AC3E}">
        <p14:creationId xmlns:p14="http://schemas.microsoft.com/office/powerpoint/2010/main" val="3642409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43F3CE-64CE-A144-09E8-FA90085D6D95}"/>
              </a:ext>
            </a:extLst>
          </p:cNvPr>
          <p:cNvSpPr>
            <a:spLocks noGrp="1"/>
          </p:cNvSpPr>
          <p:nvPr>
            <p:ph type="title"/>
          </p:nvPr>
        </p:nvSpPr>
        <p:spPr/>
        <p:txBody>
          <a:bodyPr/>
          <a:lstStyle/>
          <a:p>
            <a:r>
              <a:rPr lang="en-US" sz="1600" dirty="0"/>
              <a:t>Databases Updates</a:t>
            </a:r>
            <a:endParaRPr lang="en-US" dirty="0"/>
          </a:p>
        </p:txBody>
      </p:sp>
      <p:sp>
        <p:nvSpPr>
          <p:cNvPr id="4" name="Text Placeholder 3">
            <a:extLst>
              <a:ext uri="{FF2B5EF4-FFF2-40B4-BE49-F238E27FC236}">
                <a16:creationId xmlns:a16="http://schemas.microsoft.com/office/drawing/2014/main" id="{7BFEE26C-6231-8BBF-EA51-3C48C8C2A316}"/>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6CBF3C0F-D6D9-646A-3138-54316B983C5D}"/>
              </a:ext>
            </a:extLst>
          </p:cNvPr>
          <p:cNvSpPr>
            <a:spLocks noGrp="1"/>
          </p:cNvSpPr>
          <p:nvPr>
            <p:ph type="body" sz="quarter" idx="16"/>
          </p:nvPr>
        </p:nvSpPr>
        <p:spPr>
          <a:xfrm>
            <a:off x="342900" y="855080"/>
            <a:ext cx="3955312" cy="1216527"/>
          </a:xfrm>
        </p:spPr>
        <p:txBody>
          <a:bodyPr/>
          <a:lstStyle/>
          <a:p>
            <a:pPr algn="just"/>
            <a:r>
              <a:rPr lang="en-US" dirty="0">
                <a:hlinkClick r:id="rId2"/>
              </a:rPr>
              <a:t>Public Preview: Change streams (multi-shard) in Azure </a:t>
            </a:r>
            <a:r>
              <a:rPr lang="en-US" dirty="0" err="1">
                <a:hlinkClick r:id="rId2"/>
              </a:rPr>
              <a:t>DocumentDB</a:t>
            </a:r>
            <a:endParaRPr lang="en-US" dirty="0"/>
          </a:p>
          <a:p>
            <a:pPr algn="just"/>
            <a:r>
              <a:rPr lang="en-US" b="1" dirty="0"/>
              <a:t>Azure </a:t>
            </a:r>
            <a:r>
              <a:rPr lang="en-US" b="1" dirty="0" err="1"/>
              <a:t>DocumentDB</a:t>
            </a:r>
            <a:r>
              <a:rPr lang="en-US" b="1" dirty="0"/>
              <a:t> Change Streams</a:t>
            </a:r>
            <a:r>
              <a:rPr lang="en-US" dirty="0"/>
              <a:t> are now available in </a:t>
            </a:r>
            <a:r>
              <a:rPr lang="en-US" b="1" dirty="0"/>
              <a:t>public preview</a:t>
            </a:r>
            <a:r>
              <a:rPr lang="en-US" dirty="0"/>
              <a:t> with </a:t>
            </a:r>
            <a:r>
              <a:rPr lang="en-US" b="1" dirty="0"/>
              <a:t>multi-node support</a:t>
            </a:r>
            <a:r>
              <a:rPr lang="en-US" dirty="0"/>
              <a:t>, enabling developers to build real-time, event-driven applications that react to data changes as they occur. Applications can capture inserts, updates, and deletes from Azure </a:t>
            </a:r>
            <a:r>
              <a:rPr lang="en-US" dirty="0" err="1"/>
              <a:t>DocumentDB</a:t>
            </a:r>
            <a:r>
              <a:rPr lang="en-US" dirty="0"/>
              <a:t> and use them to drive </a:t>
            </a:r>
            <a:r>
              <a:rPr lang="en-US" b="1" dirty="0"/>
              <a:t>analytics, automation, synchronization, and integration workflows</a:t>
            </a:r>
            <a:r>
              <a:rPr lang="en-US" dirty="0"/>
              <a:t>.</a:t>
            </a:r>
          </a:p>
        </p:txBody>
      </p:sp>
      <p:sp>
        <p:nvSpPr>
          <p:cNvPr id="7" name="Text Placeholder 6">
            <a:extLst>
              <a:ext uri="{FF2B5EF4-FFF2-40B4-BE49-F238E27FC236}">
                <a16:creationId xmlns:a16="http://schemas.microsoft.com/office/drawing/2014/main" id="{DAEAFE78-6DAE-A3A6-1029-A55FA54398DD}"/>
              </a:ext>
            </a:extLst>
          </p:cNvPr>
          <p:cNvSpPr>
            <a:spLocks noGrp="1"/>
          </p:cNvSpPr>
          <p:nvPr>
            <p:ph type="body" sz="quarter" idx="10"/>
          </p:nvPr>
        </p:nvSpPr>
        <p:spPr>
          <a:xfrm>
            <a:off x="4433776" y="855080"/>
            <a:ext cx="4365038" cy="1991441"/>
          </a:xfrm>
        </p:spPr>
        <p:txBody>
          <a:bodyPr/>
          <a:lstStyle/>
          <a:p>
            <a:pPr algn="just"/>
            <a:r>
              <a:rPr lang="en-US" sz="1000" dirty="0">
                <a:hlinkClick r:id="rId3"/>
              </a:rPr>
              <a:t>Announcing the Public Preview of Semantic </a:t>
            </a:r>
            <a:r>
              <a:rPr lang="en-US" sz="1000" dirty="0" err="1">
                <a:hlinkClick r:id="rId3"/>
              </a:rPr>
              <a:t>Reranker</a:t>
            </a:r>
            <a:r>
              <a:rPr lang="en-US" sz="1000" dirty="0">
                <a:hlinkClick r:id="rId3"/>
              </a:rPr>
              <a:t> in Azure Cosmos DB for NoSQL</a:t>
            </a:r>
            <a:endParaRPr lang="en-US" sz="1000" dirty="0"/>
          </a:p>
          <a:p>
            <a:pPr algn="just"/>
            <a:r>
              <a:rPr lang="en-US" sz="1000" dirty="0"/>
              <a:t>A new AI-powered capability that improves the </a:t>
            </a:r>
            <a:r>
              <a:rPr lang="en-US" sz="1000" i="1" dirty="0"/>
              <a:t>relevancy</a:t>
            </a:r>
            <a:r>
              <a:rPr lang="en-US" sz="1000" dirty="0"/>
              <a:t> of your search results with just a few lines of code. If you’ve ever run a vector, full-text, or hybrid search and wished the </a:t>
            </a:r>
            <a:r>
              <a:rPr lang="en-US" sz="1000" i="1" dirty="0"/>
              <a:t>most relevant</a:t>
            </a:r>
            <a:r>
              <a:rPr lang="en-US" sz="1000" dirty="0"/>
              <a:t> documents bubbled to the very top, this one’s for you.</a:t>
            </a:r>
          </a:p>
          <a:p>
            <a:pPr algn="just"/>
            <a:r>
              <a:rPr lang="en-US" sz="1000" dirty="0"/>
              <a:t>Semantic </a:t>
            </a:r>
            <a:r>
              <a:rPr lang="en-US" sz="1000" dirty="0" err="1"/>
              <a:t>Reranker</a:t>
            </a:r>
            <a:r>
              <a:rPr lang="en-US" sz="1000" dirty="0"/>
              <a:t> uses an AI model to score and reorder the results of any query based on how well each document matches the user’s intent. It’s built right into the Azure Cosmos DB SDKs (Python, .NET, and Java), so you can reorder results from any container with minimal code changes. Whether you’re building a search experience or grounding an agent with Retrieval Augmented Generation (RAG), better ranking means better answers.</a:t>
            </a:r>
          </a:p>
          <a:p>
            <a:pPr algn="just"/>
            <a:endParaRPr lang="en-US" sz="1000" dirty="0"/>
          </a:p>
        </p:txBody>
      </p:sp>
      <p:pic>
        <p:nvPicPr>
          <p:cNvPr id="9" name="Picture 8">
            <a:extLst>
              <a:ext uri="{FF2B5EF4-FFF2-40B4-BE49-F238E27FC236}">
                <a16:creationId xmlns:a16="http://schemas.microsoft.com/office/drawing/2014/main" id="{3D7AC972-48C8-9B19-33FE-C65F948FD681}"/>
              </a:ext>
            </a:extLst>
          </p:cNvPr>
          <p:cNvPicPr>
            <a:picLocks noChangeAspect="1"/>
          </p:cNvPicPr>
          <p:nvPr/>
        </p:nvPicPr>
        <p:blipFill>
          <a:blip r:embed="rId4"/>
          <a:stretch>
            <a:fillRect/>
          </a:stretch>
        </p:blipFill>
        <p:spPr>
          <a:xfrm>
            <a:off x="5195859" y="2738770"/>
            <a:ext cx="3186878" cy="1991442"/>
          </a:xfrm>
          <a:prstGeom prst="rect">
            <a:avLst/>
          </a:prstGeom>
        </p:spPr>
      </p:pic>
    </p:spTree>
    <p:extLst>
      <p:ext uri="{BB962C8B-B14F-4D97-AF65-F5344CB8AC3E}">
        <p14:creationId xmlns:p14="http://schemas.microsoft.com/office/powerpoint/2010/main" val="2821341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0F549F5-9E63-9165-5B63-5E53045526BF}"/>
              </a:ext>
            </a:extLst>
          </p:cNvPr>
          <p:cNvSpPr>
            <a:spLocks noGrp="1"/>
          </p:cNvSpPr>
          <p:nvPr>
            <p:ph type="body" sz="quarter" idx="10"/>
          </p:nvPr>
        </p:nvSpPr>
        <p:spPr/>
        <p:txBody>
          <a:bodyPr/>
          <a:lstStyle/>
          <a:p>
            <a:r>
              <a:rPr lang="en-US" sz="1000" dirty="0">
                <a:hlinkClick r:id="rId2"/>
              </a:rPr>
              <a:t>Public Preview: Microsoft Defender security assessments for Azure Database for PostgreSQL</a:t>
            </a:r>
            <a:endParaRPr lang="en-US" sz="1000" dirty="0"/>
          </a:p>
          <a:p>
            <a:r>
              <a:rPr lang="en-US" sz="1000" b="1" dirty="0"/>
              <a:t>Microsoft Defender Security Assessments for Azure Database for PostgreSQL</a:t>
            </a:r>
            <a:r>
              <a:rPr lang="en-US" sz="1000" dirty="0"/>
              <a:t> are now available, providing continuous evaluation of your database security posture directly through </a:t>
            </a:r>
            <a:r>
              <a:rPr lang="en-US" sz="1000" b="1" dirty="0"/>
              <a:t>Microsoft Defender for Cloud</a:t>
            </a:r>
            <a:r>
              <a:rPr lang="en-US" sz="1000" dirty="0"/>
              <a:t>. The capability automatically identifies </a:t>
            </a:r>
            <a:r>
              <a:rPr lang="en-US" sz="1000" b="1" dirty="0"/>
              <a:t>security vulnerabilities, configuration weaknesses, and compliance gaps</a:t>
            </a:r>
            <a:r>
              <a:rPr lang="en-US" sz="1000" dirty="0"/>
              <a:t>, helping organizations prioritize remediation based on risk. Security teams gain actionable recommendations aligned with </a:t>
            </a:r>
            <a:r>
              <a:rPr lang="en-US" sz="1000" b="1" dirty="0"/>
              <a:t>Microsoft best practices and regulatory requirements</a:t>
            </a:r>
            <a:r>
              <a:rPr lang="en-US" sz="1000" dirty="0"/>
              <a:t>, enabling proactive protection of PostgreSQL workloads. By integrating database security assessments into the broader Defender for Cloud platform, organizations can improve governance, strengthen security baselines, and maintain ongoing visibility into the security health of their PostgreSQL environments.</a:t>
            </a:r>
          </a:p>
        </p:txBody>
      </p:sp>
      <p:sp>
        <p:nvSpPr>
          <p:cNvPr id="3" name="Title 2">
            <a:extLst>
              <a:ext uri="{FF2B5EF4-FFF2-40B4-BE49-F238E27FC236}">
                <a16:creationId xmlns:a16="http://schemas.microsoft.com/office/drawing/2014/main" id="{C09D1F2C-ED11-C4B0-B352-DC47782A0874}"/>
              </a:ext>
            </a:extLst>
          </p:cNvPr>
          <p:cNvSpPr>
            <a:spLocks noGrp="1"/>
          </p:cNvSpPr>
          <p:nvPr>
            <p:ph type="title"/>
          </p:nvPr>
        </p:nvSpPr>
        <p:spPr/>
        <p:txBody>
          <a:bodyPr/>
          <a:lstStyle/>
          <a:p>
            <a:r>
              <a:rPr lang="en-US" sz="1600" dirty="0"/>
              <a:t>Databases Updates</a:t>
            </a:r>
            <a:endParaRPr lang="en-US" dirty="0"/>
          </a:p>
        </p:txBody>
      </p:sp>
      <p:sp>
        <p:nvSpPr>
          <p:cNvPr id="4" name="Text Placeholder 3">
            <a:extLst>
              <a:ext uri="{FF2B5EF4-FFF2-40B4-BE49-F238E27FC236}">
                <a16:creationId xmlns:a16="http://schemas.microsoft.com/office/drawing/2014/main" id="{34982126-FD51-2518-748B-4F36FE6A3738}"/>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194156F6-A545-6E99-06F7-ECA6DB903643}"/>
              </a:ext>
            </a:extLst>
          </p:cNvPr>
          <p:cNvSpPr>
            <a:spLocks noGrp="1"/>
          </p:cNvSpPr>
          <p:nvPr>
            <p:ph type="body" sz="quarter" idx="16"/>
          </p:nvPr>
        </p:nvSpPr>
        <p:spPr/>
        <p:txBody>
          <a:bodyPr/>
          <a:lstStyle/>
          <a:p>
            <a:r>
              <a:rPr lang="en-US" dirty="0">
                <a:hlinkClick r:id="rId3"/>
              </a:rPr>
              <a:t>Public Preview: Pre-upgrade validation checks for Azure Database for PostgreSQL</a:t>
            </a:r>
            <a:endParaRPr lang="en-US" dirty="0"/>
          </a:p>
          <a:p>
            <a:r>
              <a:rPr lang="en-US" b="1" dirty="0"/>
              <a:t>Azure Database for PostgreSQL Flexible Server</a:t>
            </a:r>
            <a:r>
              <a:rPr lang="en-US" dirty="0"/>
              <a:t> now supports </a:t>
            </a:r>
            <a:r>
              <a:rPr lang="en-US" b="1" dirty="0"/>
              <a:t>pre-upgrade validation for Major Version Upgrades (MVU)</a:t>
            </a:r>
            <a:r>
              <a:rPr lang="en-US" dirty="0"/>
              <a:t>, allowing administrators to assess upgrade readiness before starting the actual upgrade process. The validation checks both </a:t>
            </a:r>
            <a:r>
              <a:rPr lang="en-US" b="1" dirty="0"/>
              <a:t>Azure PostgreSQL upgrade requirements</a:t>
            </a:r>
            <a:r>
              <a:rPr lang="en-US" dirty="0"/>
              <a:t> and PostgreSQL </a:t>
            </a:r>
            <a:r>
              <a:rPr lang="en-US" b="1" dirty="0" err="1"/>
              <a:t>pg_upgrade</a:t>
            </a:r>
            <a:r>
              <a:rPr lang="en-US" b="1" dirty="0"/>
              <a:t> compatibility rules</a:t>
            </a:r>
            <a:r>
              <a:rPr lang="en-US" dirty="0"/>
              <a:t>, identifying potential issues such as unsupported extensions, replication slots, prepared transactions, configuration conflicts, and other upgrade blockers. Administrators can review and remediate findings, rerun validations, and proceed with the upgrade only when the environment is fully prepared. This proactive approach improves </a:t>
            </a:r>
            <a:r>
              <a:rPr lang="en-US" b="1" dirty="0"/>
              <a:t>first-time upgrade success rates</a:t>
            </a:r>
            <a:r>
              <a:rPr lang="en-US" dirty="0"/>
              <a:t>, reduces troubleshooting effort, and provides greater predictability when planning upgrades for production databases.</a:t>
            </a:r>
          </a:p>
        </p:txBody>
      </p:sp>
    </p:spTree>
    <p:extLst>
      <p:ext uri="{BB962C8B-B14F-4D97-AF65-F5344CB8AC3E}">
        <p14:creationId xmlns:p14="http://schemas.microsoft.com/office/powerpoint/2010/main" val="2978382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5AB251B-EB04-A544-02A1-4918A15FACB2}"/>
              </a:ext>
            </a:extLst>
          </p:cNvPr>
          <p:cNvSpPr>
            <a:spLocks noGrp="1"/>
          </p:cNvSpPr>
          <p:nvPr>
            <p:ph type="body" sz="quarter" idx="10"/>
          </p:nvPr>
        </p:nvSpPr>
        <p:spPr/>
        <p:txBody>
          <a:bodyPr/>
          <a:lstStyle/>
          <a:p>
            <a:pPr algn="just"/>
            <a:r>
              <a:rPr lang="en-US" sz="1000" dirty="0">
                <a:hlinkClick r:id="rId2"/>
              </a:rPr>
              <a:t>Public Preview: Azure </a:t>
            </a:r>
            <a:r>
              <a:rPr lang="en-US" sz="1000" dirty="0" err="1">
                <a:hlinkClick r:id="rId2"/>
              </a:rPr>
              <a:t>HorizonDB</a:t>
            </a:r>
            <a:endParaRPr lang="en-US" sz="1000" dirty="0"/>
          </a:p>
          <a:p>
            <a:pPr algn="just"/>
            <a:r>
              <a:rPr lang="en-US" sz="1000" b="1" dirty="0"/>
              <a:t>Azure </a:t>
            </a:r>
            <a:r>
              <a:rPr lang="en-US" sz="1000" b="1" dirty="0" err="1"/>
              <a:t>HorizonDB</a:t>
            </a:r>
            <a:r>
              <a:rPr lang="en-US" sz="1000" b="1" dirty="0"/>
              <a:t> (Public Preview)</a:t>
            </a:r>
            <a:r>
              <a:rPr lang="en-US" sz="1000" dirty="0"/>
              <a:t> is a new </a:t>
            </a:r>
            <a:r>
              <a:rPr lang="en-US" sz="1000" b="1" dirty="0"/>
              <a:t>PostgreSQL-compatible database platform</a:t>
            </a:r>
            <a:r>
              <a:rPr lang="en-US" sz="1000" dirty="0"/>
              <a:t> designed for large-scale, AI-enabled, mission-critical workloads. It combines PostgreSQL compatibility with cloud-native scalability, high performance, and built-in AI capabilities.</a:t>
            </a:r>
          </a:p>
          <a:p>
            <a:pPr algn="just"/>
            <a:r>
              <a:rPr lang="en-US" sz="1000" dirty="0"/>
              <a:t>Azure </a:t>
            </a:r>
            <a:r>
              <a:rPr lang="en-US" sz="1000" dirty="0" err="1"/>
              <a:t>HorizonDB</a:t>
            </a:r>
            <a:r>
              <a:rPr lang="en-US" sz="1000" dirty="0"/>
              <a:t> represents Microsoft's next-generation PostgreSQL platform, combining:</a:t>
            </a:r>
          </a:p>
          <a:p>
            <a:pPr marL="171450" indent="-171450" algn="just">
              <a:buFont typeface="Arial" panose="020B0604020202020204" pitchFamily="34" charset="0"/>
              <a:buChar char="•"/>
            </a:pPr>
            <a:r>
              <a:rPr lang="en-US" sz="1000" dirty="0"/>
              <a:t>Traditional transactional database workloads </a:t>
            </a:r>
          </a:p>
          <a:p>
            <a:pPr marL="171450" indent="-171450" algn="just">
              <a:buFont typeface="Arial" panose="020B0604020202020204" pitchFamily="34" charset="0"/>
              <a:buChar char="•"/>
            </a:pPr>
            <a:r>
              <a:rPr lang="en-US" sz="1000" dirty="0"/>
              <a:t>AI-native application development </a:t>
            </a:r>
          </a:p>
          <a:p>
            <a:pPr marL="171450" indent="-171450" algn="just">
              <a:buFont typeface="Arial" panose="020B0604020202020204" pitchFamily="34" charset="0"/>
              <a:buChar char="•"/>
            </a:pPr>
            <a:r>
              <a:rPr lang="en-US" sz="1000" dirty="0"/>
              <a:t>Vector search and semantic retrieval </a:t>
            </a:r>
          </a:p>
          <a:p>
            <a:pPr marL="171450" indent="-171450" algn="just">
              <a:buFont typeface="Arial" panose="020B0604020202020204" pitchFamily="34" charset="0"/>
              <a:buChar char="•"/>
            </a:pPr>
            <a:r>
              <a:rPr lang="en-US" sz="1000" dirty="0"/>
              <a:t>Hyperscale storage and compute </a:t>
            </a:r>
          </a:p>
          <a:p>
            <a:pPr algn="just"/>
            <a:r>
              <a:rPr lang="en-US" sz="1000" dirty="0"/>
              <a:t>This makes it particularly attractive for </a:t>
            </a:r>
            <a:r>
              <a:rPr lang="en-US" sz="1000" b="1" dirty="0"/>
              <a:t>AI-powered applications, RAG solutions, intelligent search platforms, SaaS products, and large-scale enterprise workloads</a:t>
            </a:r>
            <a:r>
              <a:rPr lang="en-US" sz="1000" dirty="0"/>
              <a:t> that require both PostgreSQL compatibility and advanced AI capabilities within a single managed service.</a:t>
            </a:r>
          </a:p>
          <a:p>
            <a:pPr algn="just"/>
            <a:endParaRPr lang="en-US" sz="1000" dirty="0"/>
          </a:p>
          <a:p>
            <a:pPr algn="just"/>
            <a:endParaRPr lang="en-US" sz="1000" dirty="0"/>
          </a:p>
        </p:txBody>
      </p:sp>
      <p:sp>
        <p:nvSpPr>
          <p:cNvPr id="3" name="Title 2">
            <a:extLst>
              <a:ext uri="{FF2B5EF4-FFF2-40B4-BE49-F238E27FC236}">
                <a16:creationId xmlns:a16="http://schemas.microsoft.com/office/drawing/2014/main" id="{80301311-CDD8-FF2D-D8D0-88B3AA6FB25B}"/>
              </a:ext>
            </a:extLst>
          </p:cNvPr>
          <p:cNvSpPr>
            <a:spLocks noGrp="1"/>
          </p:cNvSpPr>
          <p:nvPr>
            <p:ph type="title"/>
          </p:nvPr>
        </p:nvSpPr>
        <p:spPr/>
        <p:txBody>
          <a:bodyPr/>
          <a:lstStyle/>
          <a:p>
            <a:r>
              <a:rPr lang="en-US" sz="1600" dirty="0"/>
              <a:t>Databases Updates</a:t>
            </a:r>
            <a:endParaRPr lang="en-US" dirty="0"/>
          </a:p>
        </p:txBody>
      </p:sp>
      <p:sp>
        <p:nvSpPr>
          <p:cNvPr id="4" name="Text Placeholder 3">
            <a:extLst>
              <a:ext uri="{FF2B5EF4-FFF2-40B4-BE49-F238E27FC236}">
                <a16:creationId xmlns:a16="http://schemas.microsoft.com/office/drawing/2014/main" id="{2697F3E8-D7A7-1918-6E0D-E02B2411D757}"/>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DAF67D3F-AA44-EBD8-1E06-A659D614EED7}"/>
              </a:ext>
            </a:extLst>
          </p:cNvPr>
          <p:cNvSpPr>
            <a:spLocks noGrp="1"/>
          </p:cNvSpPr>
          <p:nvPr>
            <p:ph type="body" sz="quarter" idx="16"/>
          </p:nvPr>
        </p:nvSpPr>
        <p:spPr/>
        <p:txBody>
          <a:bodyPr/>
          <a:lstStyle/>
          <a:p>
            <a:pPr algn="just"/>
            <a:r>
              <a:rPr lang="en-US" dirty="0">
                <a:hlinkClick r:id="rId3"/>
              </a:rPr>
              <a:t>Public Preview: Azure Database PostgreSQL - Flexible Server cross-tenant customer-managed keys</a:t>
            </a:r>
            <a:endParaRPr lang="en-US" dirty="0"/>
          </a:p>
          <a:p>
            <a:pPr algn="just"/>
            <a:r>
              <a:rPr lang="en-US" b="1" dirty="0"/>
              <a:t>Azure Database for PostgreSQL Flexible Server</a:t>
            </a:r>
            <a:r>
              <a:rPr lang="en-US" dirty="0"/>
              <a:t> now supports </a:t>
            </a:r>
            <a:r>
              <a:rPr lang="en-US" b="1" dirty="0"/>
              <a:t>cross-tenant Customer-Managed Keys (CMK)</a:t>
            </a:r>
            <a:r>
              <a:rPr lang="en-US" dirty="0"/>
              <a:t> in </a:t>
            </a:r>
            <a:r>
              <a:rPr lang="en-US" b="1" dirty="0"/>
              <a:t>public preview</a:t>
            </a:r>
            <a:r>
              <a:rPr lang="en-US" dirty="0"/>
              <a:t>, allowing database encryption keys to be stored and managed in an </a:t>
            </a:r>
            <a:r>
              <a:rPr lang="en-US" b="1" dirty="0"/>
              <a:t>Azure Key Vault located in a different Microsoft Entra tenant</a:t>
            </a:r>
            <a:r>
              <a:rPr lang="en-US" dirty="0"/>
              <a:t>. This capability is particularly valuable for </a:t>
            </a:r>
            <a:r>
              <a:rPr lang="en-US" b="1" dirty="0"/>
              <a:t>SaaS providers and enterprises</a:t>
            </a:r>
            <a:r>
              <a:rPr lang="en-US" dirty="0"/>
              <a:t> that require strict separation between application hosting and encryption key ownership.</a:t>
            </a:r>
          </a:p>
          <a:p>
            <a:pPr algn="just"/>
            <a:r>
              <a:rPr lang="en-US" dirty="0"/>
              <a:t>Key benefits include:</a:t>
            </a:r>
          </a:p>
          <a:p>
            <a:pPr marL="171450" indent="-171450" algn="just">
              <a:buFont typeface="Arial" panose="020B0604020202020204" pitchFamily="34" charset="0"/>
              <a:buChar char="•"/>
            </a:pPr>
            <a:r>
              <a:rPr lang="en-US" b="1" dirty="0"/>
              <a:t>Customer-controlled encryption keys</a:t>
            </a:r>
            <a:r>
              <a:rPr lang="en-US" dirty="0"/>
              <a:t> stored in a separate tenant. </a:t>
            </a:r>
          </a:p>
          <a:p>
            <a:pPr marL="171450" indent="-171450" algn="just">
              <a:buFont typeface="Arial" panose="020B0604020202020204" pitchFamily="34" charset="0"/>
              <a:buChar char="•"/>
            </a:pPr>
            <a:r>
              <a:rPr lang="en-US" b="1" dirty="0"/>
              <a:t>Separation of duties</a:t>
            </a:r>
            <a:r>
              <a:rPr lang="en-US" dirty="0"/>
              <a:t> between service providers and customers. </a:t>
            </a:r>
          </a:p>
          <a:p>
            <a:pPr marL="171450" indent="-171450" algn="just">
              <a:buFont typeface="Arial" panose="020B0604020202020204" pitchFamily="34" charset="0"/>
              <a:buChar char="•"/>
            </a:pPr>
            <a:r>
              <a:rPr lang="en-US" b="1" dirty="0"/>
              <a:t>Full customer ownership</a:t>
            </a:r>
            <a:r>
              <a:rPr lang="en-US" dirty="0"/>
              <a:t> of key lifecycle management, including rotation and revocation. </a:t>
            </a:r>
          </a:p>
          <a:p>
            <a:pPr marL="171450" indent="-171450" algn="just">
              <a:buFont typeface="Arial" panose="020B0604020202020204" pitchFamily="34" charset="0"/>
              <a:buChar char="•"/>
            </a:pPr>
            <a:r>
              <a:rPr lang="en-US" b="1" dirty="0"/>
              <a:t>No access to key material</a:t>
            </a:r>
            <a:r>
              <a:rPr lang="en-US" dirty="0"/>
              <a:t> by the PostgreSQL service. </a:t>
            </a:r>
          </a:p>
          <a:p>
            <a:pPr marL="171450" indent="-171450" algn="just">
              <a:buFont typeface="Arial" panose="020B0604020202020204" pitchFamily="34" charset="0"/>
              <a:buChar char="•"/>
            </a:pPr>
            <a:r>
              <a:rPr lang="en-US" b="1" dirty="0"/>
              <a:t>Federated Microsoft Entra authentication</a:t>
            </a:r>
            <a:r>
              <a:rPr lang="en-US" dirty="0"/>
              <a:t> enables secure cross-tenant access between PostgreSQL Flexible Server and the customer-managed Key Vault. </a:t>
            </a:r>
          </a:p>
          <a:p>
            <a:pPr algn="just"/>
            <a:endParaRPr lang="en-US" dirty="0"/>
          </a:p>
        </p:txBody>
      </p:sp>
    </p:spTree>
    <p:extLst>
      <p:ext uri="{BB962C8B-B14F-4D97-AF65-F5344CB8AC3E}">
        <p14:creationId xmlns:p14="http://schemas.microsoft.com/office/powerpoint/2010/main" val="71586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3" end="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4" end="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
                                            <p:txEl>
                                              <p:pRg st="5" end="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F0CBA7-A65F-E501-0A2D-E8561C4CA857}"/>
              </a:ext>
            </a:extLst>
          </p:cNvPr>
          <p:cNvSpPr>
            <a:spLocks noGrp="1"/>
          </p:cNvSpPr>
          <p:nvPr>
            <p:ph type="title"/>
          </p:nvPr>
        </p:nvSpPr>
        <p:spPr/>
        <p:txBody>
          <a:bodyPr/>
          <a:lstStyle/>
          <a:p>
            <a:r>
              <a:rPr lang="en-US" sz="1600" dirty="0"/>
              <a:t>Databases Updates</a:t>
            </a:r>
            <a:endParaRPr lang="en-US" dirty="0"/>
          </a:p>
        </p:txBody>
      </p:sp>
      <p:sp>
        <p:nvSpPr>
          <p:cNvPr id="4" name="Text Placeholder 3">
            <a:extLst>
              <a:ext uri="{FF2B5EF4-FFF2-40B4-BE49-F238E27FC236}">
                <a16:creationId xmlns:a16="http://schemas.microsoft.com/office/drawing/2014/main" id="{B0826A1A-558A-38CF-7545-85187D1BF773}"/>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2B5A915D-BED4-9DC3-9020-240C4EBA8F97}"/>
              </a:ext>
            </a:extLst>
          </p:cNvPr>
          <p:cNvSpPr>
            <a:spLocks noGrp="1"/>
          </p:cNvSpPr>
          <p:nvPr>
            <p:ph type="body" sz="quarter" idx="16"/>
          </p:nvPr>
        </p:nvSpPr>
        <p:spPr/>
        <p:txBody>
          <a:bodyPr/>
          <a:lstStyle/>
          <a:p>
            <a:pPr algn="just"/>
            <a:r>
              <a:rPr lang="en-US" dirty="0">
                <a:hlinkClick r:id="rId2"/>
              </a:rPr>
              <a:t>Public Preview: Advanced filtering for </a:t>
            </a:r>
            <a:r>
              <a:rPr lang="en-US" dirty="0" err="1">
                <a:hlinkClick r:id="rId2"/>
              </a:rPr>
              <a:t>DiskANN</a:t>
            </a:r>
            <a:r>
              <a:rPr lang="en-US" dirty="0">
                <a:hlinkClick r:id="rId2"/>
              </a:rPr>
              <a:t> vector search in Azure </a:t>
            </a:r>
            <a:r>
              <a:rPr lang="en-US" dirty="0" err="1">
                <a:hlinkClick r:id="rId2"/>
              </a:rPr>
              <a:t>HorizonDB</a:t>
            </a:r>
            <a:endParaRPr lang="en-US" dirty="0"/>
          </a:p>
          <a:p>
            <a:pPr algn="just"/>
            <a:r>
              <a:rPr lang="en-US" b="1" dirty="0"/>
              <a:t>Azure </a:t>
            </a:r>
            <a:r>
              <a:rPr lang="en-US" b="1" dirty="0" err="1"/>
              <a:t>HorizonDB</a:t>
            </a:r>
            <a:r>
              <a:rPr lang="en-US" dirty="0"/>
              <a:t> now supports </a:t>
            </a:r>
            <a:r>
              <a:rPr lang="en-US" b="1" dirty="0"/>
              <a:t>Advanced Filtering for </a:t>
            </a:r>
            <a:r>
              <a:rPr lang="en-US" b="1" dirty="0" err="1"/>
              <a:t>DiskANN</a:t>
            </a:r>
            <a:r>
              <a:rPr lang="en-US" b="1" dirty="0"/>
              <a:t> Vector Search (public preview)</a:t>
            </a:r>
            <a:r>
              <a:rPr lang="en-US" dirty="0"/>
              <a:t>, enabling organizations to combine </a:t>
            </a:r>
            <a:r>
              <a:rPr lang="en-US" b="1" dirty="0"/>
              <a:t>vector similarity search with relational filters</a:t>
            </a:r>
            <a:r>
              <a:rPr lang="en-US" dirty="0"/>
              <a:t> such as category, date range, price, geography, tenant ID, or other business attributes without the performance degradation typically associated with filtered vector queries.</a:t>
            </a:r>
          </a:p>
          <a:p>
            <a:pPr algn="just"/>
            <a:r>
              <a:rPr lang="en-US" dirty="0"/>
              <a:t>Traditional vector databases often struggle when combining semantic search with complex business filters. </a:t>
            </a:r>
            <a:r>
              <a:rPr lang="en-US" dirty="0" err="1"/>
              <a:t>HorizonDB's</a:t>
            </a:r>
            <a:r>
              <a:rPr lang="en-US" dirty="0"/>
              <a:t> advanced filtering capability allows organizations to perform </a:t>
            </a:r>
            <a:r>
              <a:rPr lang="en-US" b="1" dirty="0"/>
              <a:t>hybrid semantic and metadata-aware retrieval</a:t>
            </a:r>
            <a:r>
              <a:rPr lang="en-US" dirty="0"/>
              <a:t> at scale while keeping all data in a single PostgreSQL-compatible platform. This simplifies architecture, reduces operational overhead, and improves both the speed and relevance of AI-powered search and retrieval applications.</a:t>
            </a:r>
          </a:p>
        </p:txBody>
      </p:sp>
      <p:sp>
        <p:nvSpPr>
          <p:cNvPr id="6" name="Text Placeholder 1">
            <a:extLst>
              <a:ext uri="{FF2B5EF4-FFF2-40B4-BE49-F238E27FC236}">
                <a16:creationId xmlns:a16="http://schemas.microsoft.com/office/drawing/2014/main" id="{DB67B8A8-796D-E9F6-A8A6-9E0126C19938}"/>
              </a:ext>
            </a:extLst>
          </p:cNvPr>
          <p:cNvSpPr>
            <a:spLocks noGrp="1"/>
          </p:cNvSpPr>
          <p:nvPr>
            <p:ph type="body" sz="quarter" idx="10"/>
          </p:nvPr>
        </p:nvSpPr>
        <p:spPr>
          <a:xfrm>
            <a:off x="4433776" y="855080"/>
            <a:ext cx="4365038" cy="3774069"/>
          </a:xfrm>
        </p:spPr>
        <p:txBody>
          <a:bodyPr/>
          <a:lstStyle/>
          <a:p>
            <a:pPr algn="just"/>
            <a:r>
              <a:rPr lang="en-US" sz="1000" dirty="0">
                <a:hlinkClick r:id="rId3"/>
              </a:rPr>
              <a:t>Public Preview: BM25 full-text search in Azure </a:t>
            </a:r>
            <a:r>
              <a:rPr lang="en-US" sz="1000" dirty="0" err="1">
                <a:hlinkClick r:id="rId3"/>
              </a:rPr>
              <a:t>HorizonDB</a:t>
            </a:r>
            <a:endParaRPr lang="en-US" sz="1000" dirty="0"/>
          </a:p>
          <a:p>
            <a:pPr algn="just"/>
            <a:r>
              <a:rPr lang="en-US" sz="1000" b="1" dirty="0"/>
              <a:t>Azure </a:t>
            </a:r>
            <a:r>
              <a:rPr lang="en-US" sz="1000" b="1" dirty="0" err="1"/>
              <a:t>HorizonDB</a:t>
            </a:r>
            <a:r>
              <a:rPr lang="en-US" sz="1000" dirty="0"/>
              <a:t> now supports </a:t>
            </a:r>
            <a:r>
              <a:rPr lang="en-US" sz="1000" b="1" dirty="0"/>
              <a:t>BM25 full-text search (public preview)</a:t>
            </a:r>
            <a:r>
              <a:rPr lang="en-US" sz="1000" dirty="0"/>
              <a:t>, bringing production-grade keyword search capabilities directly into PostgreSQL. The feature uses the industry-standard </a:t>
            </a:r>
            <a:r>
              <a:rPr lang="en-US" sz="1000" b="1" dirty="0"/>
              <a:t>BM25 relevance ranking algorithm</a:t>
            </a:r>
            <a:r>
              <a:rPr lang="en-US" sz="1000" dirty="0"/>
              <a:t>, widely adopted by Elasticsearch, </a:t>
            </a:r>
            <a:r>
              <a:rPr lang="en-US" sz="1000" dirty="0" err="1"/>
              <a:t>Solr</a:t>
            </a:r>
            <a:r>
              <a:rPr lang="en-US" sz="1000" dirty="0"/>
              <a:t>, and Azure AI Search, eliminating the need for a separate search platform for many workloads.</a:t>
            </a:r>
          </a:p>
          <a:p>
            <a:pPr algn="just"/>
            <a:r>
              <a:rPr lang="en-US" sz="1000" dirty="0"/>
              <a:t>Key capabilities include:</a:t>
            </a:r>
          </a:p>
          <a:p>
            <a:pPr marL="171450" indent="-171450" algn="just">
              <a:buFont typeface="Arial" panose="020B0604020202020204" pitchFamily="34" charset="0"/>
              <a:buChar char="•"/>
            </a:pPr>
            <a:r>
              <a:rPr lang="en-US" sz="1000" b="1" dirty="0"/>
              <a:t>BM25 relevance scoring</a:t>
            </a:r>
            <a:r>
              <a:rPr lang="en-US" sz="1000" dirty="0"/>
              <a:t> with term frequency saturation, document length normalization, and inverse document frequency (IDF) weighting for improved search quality. </a:t>
            </a:r>
          </a:p>
          <a:p>
            <a:pPr marL="171450" indent="-171450" algn="just">
              <a:buFont typeface="Arial" panose="020B0604020202020204" pitchFamily="34" charset="0"/>
              <a:buChar char="•"/>
            </a:pPr>
            <a:r>
              <a:rPr lang="en-US" sz="1000" b="1" dirty="0"/>
              <a:t>Higher relevance and performance</a:t>
            </a:r>
            <a:r>
              <a:rPr lang="en-US" sz="1000" dirty="0"/>
              <a:t> compared to PostgreSQL's native </a:t>
            </a:r>
            <a:r>
              <a:rPr lang="en-US" sz="1000" dirty="0" err="1"/>
              <a:t>ts_rank</a:t>
            </a:r>
            <a:r>
              <a:rPr lang="en-US" sz="1000" dirty="0"/>
              <a:t> implementation, particularly for complex multi-keyword searches. </a:t>
            </a:r>
          </a:p>
          <a:p>
            <a:pPr marL="171450" indent="-171450" algn="just">
              <a:buFont typeface="Arial" panose="020B0604020202020204" pitchFamily="34" charset="0"/>
              <a:buChar char="•"/>
            </a:pPr>
            <a:r>
              <a:rPr lang="en-US" sz="1000" b="1" dirty="0"/>
              <a:t>Fuzzy matching</a:t>
            </a:r>
            <a:r>
              <a:rPr lang="en-US" sz="1000" dirty="0"/>
              <a:t> to support typo tolerance and user-friendly search experiences. </a:t>
            </a:r>
          </a:p>
          <a:p>
            <a:pPr marL="171450" indent="-171450" algn="just">
              <a:buFont typeface="Arial" panose="020B0604020202020204" pitchFamily="34" charset="0"/>
              <a:buChar char="•"/>
            </a:pPr>
            <a:r>
              <a:rPr lang="en-US" sz="1000" b="1" dirty="0"/>
              <a:t>Phrase search</a:t>
            </a:r>
            <a:r>
              <a:rPr lang="en-US" sz="1000" dirty="0"/>
              <a:t> with configurable word proximity controls. </a:t>
            </a:r>
          </a:p>
          <a:p>
            <a:pPr marL="171450" indent="-171450" algn="just">
              <a:buFont typeface="Arial" panose="020B0604020202020204" pitchFamily="34" charset="0"/>
              <a:buChar char="•"/>
            </a:pPr>
            <a:r>
              <a:rPr lang="en-US" sz="1000" b="1" dirty="0"/>
              <a:t>Boolean query support</a:t>
            </a:r>
            <a:r>
              <a:rPr lang="en-US" sz="1000" dirty="0"/>
              <a:t> including AND, OR, and NOT operators. </a:t>
            </a:r>
          </a:p>
          <a:p>
            <a:pPr marL="171450" indent="-171450" algn="just">
              <a:buFont typeface="Arial" panose="020B0604020202020204" pitchFamily="34" charset="0"/>
              <a:buChar char="•"/>
            </a:pPr>
            <a:r>
              <a:rPr lang="en-US" sz="1000" b="1" dirty="0"/>
              <a:t>Native PostgreSQL integration</a:t>
            </a:r>
            <a:r>
              <a:rPr lang="en-US" sz="1000" dirty="0"/>
              <a:t>, allowing applications to use advanced search without deploying and synchronizing data to an external search engine.</a:t>
            </a:r>
          </a:p>
          <a:p>
            <a:pPr algn="just"/>
            <a:endParaRPr lang="en-US" sz="1000" dirty="0"/>
          </a:p>
        </p:txBody>
      </p:sp>
    </p:spTree>
    <p:extLst>
      <p:ext uri="{BB962C8B-B14F-4D97-AF65-F5344CB8AC3E}">
        <p14:creationId xmlns:p14="http://schemas.microsoft.com/office/powerpoint/2010/main" val="1121706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DD6E1B2-9FF1-C52B-FA28-E8723C5560E0}"/>
              </a:ext>
            </a:extLst>
          </p:cNvPr>
          <p:cNvSpPr>
            <a:spLocks noGrp="1"/>
          </p:cNvSpPr>
          <p:nvPr>
            <p:ph type="title"/>
          </p:nvPr>
        </p:nvSpPr>
        <p:spPr/>
        <p:txBody>
          <a:bodyPr/>
          <a:lstStyle/>
          <a:p>
            <a:r>
              <a:rPr lang="en-US" sz="1600" dirty="0"/>
              <a:t>Databases Updates</a:t>
            </a:r>
            <a:endParaRPr lang="en-US" dirty="0"/>
          </a:p>
        </p:txBody>
      </p:sp>
      <p:sp>
        <p:nvSpPr>
          <p:cNvPr id="4" name="Text Placeholder 3">
            <a:extLst>
              <a:ext uri="{FF2B5EF4-FFF2-40B4-BE49-F238E27FC236}">
                <a16:creationId xmlns:a16="http://schemas.microsoft.com/office/drawing/2014/main" id="{A8ACFA93-50A9-6E35-FC28-293417B08680}"/>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0331152F-E5FC-0E47-8242-96B202E0036B}"/>
              </a:ext>
            </a:extLst>
          </p:cNvPr>
          <p:cNvSpPr>
            <a:spLocks noGrp="1"/>
          </p:cNvSpPr>
          <p:nvPr>
            <p:ph type="body" sz="quarter" idx="16"/>
          </p:nvPr>
        </p:nvSpPr>
        <p:spPr/>
        <p:txBody>
          <a:bodyPr/>
          <a:lstStyle/>
          <a:p>
            <a:pPr algn="just"/>
            <a:r>
              <a:rPr lang="en-US" dirty="0">
                <a:hlinkClick r:id="rId2"/>
              </a:rPr>
              <a:t>Public Preview: AI pipelines in Azure </a:t>
            </a:r>
            <a:r>
              <a:rPr lang="en-US" dirty="0" err="1">
                <a:hlinkClick r:id="rId2"/>
              </a:rPr>
              <a:t>HorizonDB</a:t>
            </a:r>
            <a:endParaRPr lang="en-US" dirty="0"/>
          </a:p>
          <a:p>
            <a:pPr algn="just"/>
            <a:r>
              <a:rPr lang="en-US" b="1" dirty="0"/>
              <a:t>AI Pipelines</a:t>
            </a:r>
            <a:r>
              <a:rPr lang="en-US" dirty="0"/>
              <a:t> in Azure </a:t>
            </a:r>
            <a:r>
              <a:rPr lang="en-US" dirty="0" err="1"/>
              <a:t>HorizonDB</a:t>
            </a:r>
            <a:r>
              <a:rPr lang="en-US" dirty="0"/>
              <a:t> enable developers to define end-to-end AI ingestion and retrieval workflows directly in SQL, including </a:t>
            </a:r>
            <a:r>
              <a:rPr lang="en-US" b="1" dirty="0"/>
              <a:t>chunking, embedding generation, extraction, ranking, and content processing</a:t>
            </a:r>
            <a:r>
              <a:rPr lang="en-US" dirty="0"/>
              <a:t>. The pipelines run natively inside the database and provide </a:t>
            </a:r>
            <a:r>
              <a:rPr lang="en-US" b="1" dirty="0"/>
              <a:t>durable, fault-tolerant execution</a:t>
            </a:r>
            <a:r>
              <a:rPr lang="en-US" dirty="0"/>
              <a:t>, automatically handling retries, checkpoints, and recovery from failures. Embeddings remain synchronized with source data through change-based processing, ensuring that only new or modified records are reprocessed. Large-scale re-indexing and model changes are simplified through built-in backfill capabilities that resume from the last checkpoint rather than restarting from scratch. By combining AI Pipelines with </a:t>
            </a:r>
            <a:r>
              <a:rPr lang="en-US" b="1" dirty="0" err="1"/>
              <a:t>pgvector</a:t>
            </a:r>
            <a:r>
              <a:rPr lang="en-US" b="1" dirty="0"/>
              <a:t>, </a:t>
            </a:r>
            <a:r>
              <a:rPr lang="en-US" b="1" dirty="0" err="1"/>
              <a:t>DiskANN</a:t>
            </a:r>
            <a:r>
              <a:rPr lang="en-US" b="1" dirty="0"/>
              <a:t>, full-text search, and Azure AI model management</a:t>
            </a:r>
            <a:r>
              <a:rPr lang="en-US" dirty="0"/>
              <a:t>, </a:t>
            </a:r>
            <a:r>
              <a:rPr lang="en-US" dirty="0" err="1"/>
              <a:t>HorizonDB</a:t>
            </a:r>
            <a:r>
              <a:rPr lang="en-US" dirty="0"/>
              <a:t> delivers a complete AI retrieval platform within a single PostgreSQL-compatible database. This significantly reduces application complexity by eliminating the need for external ingestion, embedding, and synchronization services.</a:t>
            </a:r>
          </a:p>
        </p:txBody>
      </p:sp>
    </p:spTree>
    <p:extLst>
      <p:ext uri="{BB962C8B-B14F-4D97-AF65-F5344CB8AC3E}">
        <p14:creationId xmlns:p14="http://schemas.microsoft.com/office/powerpoint/2010/main" val="4275591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0EF2151-E65D-A43B-7F74-26A0B9F4A6C2}"/>
              </a:ext>
            </a:extLst>
          </p:cNvPr>
          <p:cNvSpPr>
            <a:spLocks noGrp="1"/>
          </p:cNvSpPr>
          <p:nvPr>
            <p:ph type="body" sz="quarter" idx="10"/>
          </p:nvPr>
        </p:nvSpPr>
        <p:spPr/>
        <p:txBody>
          <a:bodyPr/>
          <a:lstStyle/>
          <a:p>
            <a:pPr algn="just"/>
            <a:r>
              <a:rPr lang="en-US" sz="1000" dirty="0">
                <a:hlinkClick r:id="rId2"/>
              </a:rPr>
              <a:t>Public Preview: Advanced full-text search in Azure </a:t>
            </a:r>
            <a:r>
              <a:rPr lang="en-US" sz="1000" dirty="0" err="1">
                <a:hlinkClick r:id="rId2"/>
              </a:rPr>
              <a:t>DocumentDB</a:t>
            </a:r>
            <a:endParaRPr lang="en-US" sz="1000" dirty="0"/>
          </a:p>
          <a:p>
            <a:pPr algn="just"/>
            <a:r>
              <a:rPr lang="en-US" sz="1000" dirty="0"/>
              <a:t>Now you can unify your search operations in a single database. Azure </a:t>
            </a:r>
            <a:r>
              <a:rPr lang="en-US" sz="1000" dirty="0" err="1"/>
              <a:t>DocumentDB</a:t>
            </a:r>
            <a:r>
              <a:rPr lang="en-US" sz="1000" dirty="0"/>
              <a:t> has added fuzzy search, proximity search, more language support, and BM25 ranking to its full-text capabilities, bringing vector and advanced text search operations together. </a:t>
            </a:r>
          </a:p>
        </p:txBody>
      </p:sp>
      <p:sp>
        <p:nvSpPr>
          <p:cNvPr id="3" name="Title 2">
            <a:extLst>
              <a:ext uri="{FF2B5EF4-FFF2-40B4-BE49-F238E27FC236}">
                <a16:creationId xmlns:a16="http://schemas.microsoft.com/office/drawing/2014/main" id="{00A684C9-2160-4503-B30C-11734A798BE3}"/>
              </a:ext>
            </a:extLst>
          </p:cNvPr>
          <p:cNvSpPr>
            <a:spLocks noGrp="1"/>
          </p:cNvSpPr>
          <p:nvPr>
            <p:ph type="title"/>
          </p:nvPr>
        </p:nvSpPr>
        <p:spPr/>
        <p:txBody>
          <a:bodyPr/>
          <a:lstStyle/>
          <a:p>
            <a:r>
              <a:rPr lang="en-US" sz="1600" dirty="0"/>
              <a:t>Databases Updates</a:t>
            </a:r>
            <a:endParaRPr lang="en-US" dirty="0"/>
          </a:p>
        </p:txBody>
      </p:sp>
      <p:sp>
        <p:nvSpPr>
          <p:cNvPr id="4" name="Text Placeholder 3">
            <a:extLst>
              <a:ext uri="{FF2B5EF4-FFF2-40B4-BE49-F238E27FC236}">
                <a16:creationId xmlns:a16="http://schemas.microsoft.com/office/drawing/2014/main" id="{11B94F60-C6E6-4C4D-2996-ED18D070ECE5}"/>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45455B81-2C17-5EE9-4144-0CE0604B8168}"/>
              </a:ext>
            </a:extLst>
          </p:cNvPr>
          <p:cNvSpPr>
            <a:spLocks noGrp="1"/>
          </p:cNvSpPr>
          <p:nvPr>
            <p:ph type="body" sz="quarter" idx="16"/>
          </p:nvPr>
        </p:nvSpPr>
        <p:spPr/>
        <p:txBody>
          <a:bodyPr/>
          <a:lstStyle/>
          <a:p>
            <a:pPr algn="just"/>
            <a:r>
              <a:rPr lang="en-US" dirty="0">
                <a:hlinkClick r:id="rId3"/>
              </a:rPr>
              <a:t>Public Preview: Azure SQL Database provisioning in the MSSQL extension</a:t>
            </a:r>
            <a:endParaRPr lang="en-US" dirty="0"/>
          </a:p>
          <a:p>
            <a:pPr algn="just"/>
            <a:r>
              <a:rPr lang="en-US" b="1" dirty="0"/>
              <a:t>Azure SQL Database Provisioning in VS Code (Public Preview)</a:t>
            </a:r>
            <a:r>
              <a:rPr lang="en-US" dirty="0"/>
              <a:t> allows developers to create and connect to an </a:t>
            </a:r>
            <a:r>
              <a:rPr lang="en-US" b="1" dirty="0"/>
              <a:t>Azure SQL Database Free Tier</a:t>
            </a:r>
            <a:r>
              <a:rPr lang="en-US" dirty="0"/>
              <a:t> directly from the </a:t>
            </a:r>
            <a:r>
              <a:rPr lang="en-US" b="1" dirty="0"/>
              <a:t>MSSQL extension for Visual Studio Code</a:t>
            </a:r>
            <a:r>
              <a:rPr lang="en-US" dirty="0"/>
              <a:t>, without leaving their development environment. A guided deployment wizard simplifies provisioning by allowing users to configure the subscription, resource group, SQL server, and database in a single workflow, with the database connection automatically added once deployment completes.</a:t>
            </a:r>
          </a:p>
          <a:p>
            <a:pPr algn="just"/>
            <a:r>
              <a:rPr lang="en-US" b="1" dirty="0"/>
              <a:t>Key Benefits</a:t>
            </a:r>
          </a:p>
          <a:p>
            <a:pPr marL="171450" indent="-171450" algn="just">
              <a:buFont typeface="Arial" panose="020B0604020202020204" pitchFamily="34" charset="0"/>
              <a:buChar char="•"/>
            </a:pPr>
            <a:r>
              <a:rPr lang="en-US" dirty="0"/>
              <a:t>Provision Azure SQL directly from VS Code </a:t>
            </a:r>
          </a:p>
          <a:p>
            <a:pPr marL="171450" indent="-171450" algn="just">
              <a:buFont typeface="Arial" panose="020B0604020202020204" pitchFamily="34" charset="0"/>
              <a:buChar char="•"/>
            </a:pPr>
            <a:r>
              <a:rPr lang="en-US" dirty="0"/>
              <a:t>Free Tier Support </a:t>
            </a:r>
          </a:p>
          <a:p>
            <a:pPr marL="171450" indent="-171450" algn="just">
              <a:buFont typeface="Arial" panose="020B0604020202020204" pitchFamily="34" charset="0"/>
              <a:buChar char="•"/>
            </a:pPr>
            <a:r>
              <a:rPr lang="en-US" dirty="0"/>
              <a:t>Rapid Application Development </a:t>
            </a:r>
          </a:p>
          <a:p>
            <a:pPr marL="171450" indent="-171450" algn="just">
              <a:buFont typeface="Arial" panose="020B0604020202020204" pitchFamily="34" charset="0"/>
              <a:buChar char="•"/>
            </a:pPr>
            <a:r>
              <a:rPr lang="en-US" dirty="0"/>
              <a:t>Integrated Developer Experience </a:t>
            </a:r>
          </a:p>
          <a:p>
            <a:pPr marL="171450" indent="-171450" algn="just">
              <a:buFont typeface="Arial" panose="020B0604020202020204" pitchFamily="34" charset="0"/>
              <a:buChar char="•"/>
            </a:pPr>
            <a:r>
              <a:rPr lang="en-US" dirty="0"/>
              <a:t>End-to-End Development Workflow </a:t>
            </a:r>
          </a:p>
          <a:p>
            <a:pPr algn="just"/>
            <a:endParaRPr lang="en-US" dirty="0"/>
          </a:p>
        </p:txBody>
      </p:sp>
    </p:spTree>
    <p:extLst>
      <p:ext uri="{BB962C8B-B14F-4D97-AF65-F5344CB8AC3E}">
        <p14:creationId xmlns:p14="http://schemas.microsoft.com/office/powerpoint/2010/main" val="3019965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055A766-7C86-445E-9395-4D2D76B253A9}"/>
              </a:ext>
            </a:extLst>
          </p:cNvPr>
          <p:cNvSpPr>
            <a:spLocks noGrp="1"/>
          </p:cNvSpPr>
          <p:nvPr>
            <p:ph type="title"/>
          </p:nvPr>
        </p:nvSpPr>
        <p:spPr/>
        <p:txBody>
          <a:bodyPr/>
          <a:lstStyle/>
          <a:p>
            <a:r>
              <a:rPr lang="en-US" sz="1600" dirty="0"/>
              <a:t>Databases Updates</a:t>
            </a:r>
            <a:endParaRPr lang="en-US" dirty="0"/>
          </a:p>
        </p:txBody>
      </p:sp>
      <p:sp>
        <p:nvSpPr>
          <p:cNvPr id="4" name="Text Placeholder 3">
            <a:extLst>
              <a:ext uri="{FF2B5EF4-FFF2-40B4-BE49-F238E27FC236}">
                <a16:creationId xmlns:a16="http://schemas.microsoft.com/office/drawing/2014/main" id="{BC6A911C-C23C-699F-4F67-67AB843F4A66}"/>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8A3CFE22-6373-1BD6-5C13-3EB41C811383}"/>
              </a:ext>
            </a:extLst>
          </p:cNvPr>
          <p:cNvSpPr>
            <a:spLocks noGrp="1"/>
          </p:cNvSpPr>
          <p:nvPr>
            <p:ph type="body" sz="quarter" idx="16"/>
          </p:nvPr>
        </p:nvSpPr>
        <p:spPr/>
        <p:txBody>
          <a:bodyPr/>
          <a:lstStyle/>
          <a:p>
            <a:pPr algn="just"/>
            <a:r>
              <a:rPr lang="en-US" dirty="0">
                <a:hlinkClick r:id="rId2"/>
              </a:rPr>
              <a:t>Transparent data encryption in Azure SQL Database now supports AES keys (Public Preview)</a:t>
            </a:r>
            <a:endParaRPr lang="en-US" dirty="0"/>
          </a:p>
          <a:p>
            <a:pPr algn="just"/>
            <a:r>
              <a:rPr lang="en-US" dirty="0"/>
              <a:t>Azure SQL Database now supports </a:t>
            </a:r>
            <a:r>
              <a:rPr lang="en-US" b="1" dirty="0"/>
              <a:t>AES symmetric keys for Transparent Data Encryption (TDE) with Customer-Managed Keys (CMK)</a:t>
            </a:r>
            <a:r>
              <a:rPr lang="en-US" dirty="0"/>
              <a:t>, providing an alternative to the traditional RSA-based key protection model. This enhancement helps organizations improve encryption performance while maintaining control of encryption keys in </a:t>
            </a:r>
            <a:r>
              <a:rPr lang="en-US" b="1" dirty="0"/>
              <a:t>Azure Key Vault</a:t>
            </a:r>
            <a:r>
              <a:rPr lang="en-US" dirty="0"/>
              <a:t> or </a:t>
            </a:r>
            <a:r>
              <a:rPr lang="en-US" b="1" dirty="0"/>
              <a:t>Managed HSM</a:t>
            </a:r>
            <a:r>
              <a:rPr lang="en-US" dirty="0"/>
              <a:t>. AES keys can offer lower cryptographic overhead and are well-suited for high-scale database workloads. The feature strengthens compliance and security by allowing customers to manage key ownership, rotation, and lifecycle according to their own policies. Organizations with strict regulatory requirements can further align Azure SQL encryption with enterprise key management standards. This preview continues Microsoft's focus on expanding customer-controlled encryption capabilities across Azure data services.</a:t>
            </a:r>
          </a:p>
        </p:txBody>
      </p:sp>
    </p:spTree>
    <p:extLst>
      <p:ext uri="{BB962C8B-B14F-4D97-AF65-F5344CB8AC3E}">
        <p14:creationId xmlns:p14="http://schemas.microsoft.com/office/powerpoint/2010/main" val="3856162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93715-9869-88DC-2CB8-A7701BFB332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69D1DAA-5541-5F8D-D325-1706397A6A43}"/>
              </a:ext>
            </a:extLst>
          </p:cNvPr>
          <p:cNvSpPr>
            <a:spLocks noGrp="1"/>
          </p:cNvSpPr>
          <p:nvPr>
            <p:ph type="body" sz="quarter" idx="10"/>
          </p:nvPr>
        </p:nvSpPr>
        <p:spPr/>
        <p:txBody>
          <a:bodyPr/>
          <a:lstStyle/>
          <a:p>
            <a:pPr algn="just"/>
            <a:r>
              <a:rPr lang="en-US" sz="1000" dirty="0">
                <a:hlinkClick r:id="rId2"/>
              </a:rPr>
              <a:t>Generally Available: Change partition keys in Azure Cosmos DB for NoSQL API</a:t>
            </a:r>
            <a:endParaRPr lang="en-US" sz="1000" dirty="0"/>
          </a:p>
          <a:p>
            <a:pPr algn="just"/>
            <a:r>
              <a:rPr lang="en-US" sz="1000" dirty="0"/>
              <a:t>It is now possible to change the partition key of an Azure Cosmos DB NoSQL container directly from the Azure portal with just a few clicks. The process supports both online and offline modes by copying data from the source container to a new container through the Change Partition Key option in Data Explorer.</a:t>
            </a:r>
          </a:p>
        </p:txBody>
      </p:sp>
      <p:sp>
        <p:nvSpPr>
          <p:cNvPr id="11" name="Title 10">
            <a:extLst>
              <a:ext uri="{FF2B5EF4-FFF2-40B4-BE49-F238E27FC236}">
                <a16:creationId xmlns:a16="http://schemas.microsoft.com/office/drawing/2014/main" id="{B05E9534-3C35-9313-C6E7-9E564BDFC466}"/>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DE6CD169-A2F9-0F7E-49EE-EC7FAE204B1C}"/>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61510AD9-2A44-5DDF-30FA-DE4500EB2760}"/>
              </a:ext>
            </a:extLst>
          </p:cNvPr>
          <p:cNvSpPr>
            <a:spLocks noGrp="1"/>
          </p:cNvSpPr>
          <p:nvPr>
            <p:ph type="body" sz="quarter" idx="16"/>
          </p:nvPr>
        </p:nvSpPr>
        <p:spPr>
          <a:xfrm>
            <a:off x="342900" y="855080"/>
            <a:ext cx="3955312" cy="1913241"/>
          </a:xfrm>
        </p:spPr>
        <p:txBody>
          <a:bodyPr/>
          <a:lstStyle/>
          <a:p>
            <a:pPr algn="just"/>
            <a:r>
              <a:rPr lang="en-US" dirty="0">
                <a:hlinkClick r:id="rId3"/>
              </a:rPr>
              <a:t>Generally Available: Azure Cosmos DB global secondary indexes</a:t>
            </a:r>
            <a:endParaRPr lang="en-US" dirty="0"/>
          </a:p>
          <a:p>
            <a:pPr algn="just"/>
            <a:r>
              <a:rPr lang="en-US" dirty="0"/>
              <a:t>Global secondary indexes (GSIs) for Azure Cosmos DB are now generally available, giving a powerful way to accelerate query performance without adding complexity to application code. GSIs are read-only containers that automatically stay in sync with source container using the change feed. Each GSI has its own throughput, partition key, and indexing policy, so you can optimize them for any query pattern. </a:t>
            </a:r>
            <a:br>
              <a:rPr lang="en-US" dirty="0"/>
            </a:br>
            <a:r>
              <a:rPr lang="en-US" dirty="0"/>
              <a:t>With GSIs, you can convert expensive cross-partition queries into efficient single-partition lookups by storing data under a different partition key. Using GSIs means lower Request Unit (RU) consumption, reduced latency, and better performance isolation for your workloads.</a:t>
            </a:r>
          </a:p>
        </p:txBody>
      </p:sp>
    </p:spTree>
    <p:extLst>
      <p:ext uri="{BB962C8B-B14F-4D97-AF65-F5344CB8AC3E}">
        <p14:creationId xmlns:p14="http://schemas.microsoft.com/office/powerpoint/2010/main" val="580018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animEffect transition="in" filter="fade">
                                      <p:cBhvr>
                                        <p:cTn id="13" dur="500"/>
                                        <p:tgtEl>
                                          <p:spTgt spid="12">
                                            <p:txEl>
                                              <p:pRg st="0" end="0"/>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xEl>
                                              <p:pRg st="1" end="1"/>
                                            </p:txEl>
                                          </p:spTgt>
                                        </p:tgtEl>
                                        <p:attrNameLst>
                                          <p:attrName>style.visibility</p:attrName>
                                        </p:attrNameLst>
                                      </p:cBhvr>
                                      <p:to>
                                        <p:strVal val="visible"/>
                                      </p:to>
                                    </p:set>
                                    <p:animEffect transition="in" filter="fade">
                                      <p:cBhvr>
                                        <p:cTn id="16" dur="500"/>
                                        <p:tgtEl>
                                          <p:spTgt spid="1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71DA1-B55D-EF7E-C705-3E2EBD8AB3D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3337F290-7F05-F6C7-FB30-521D100BB24B}"/>
              </a:ext>
            </a:extLst>
          </p:cNvPr>
          <p:cNvSpPr>
            <a:spLocks noGrp="1"/>
          </p:cNvSpPr>
          <p:nvPr>
            <p:ph type="body" sz="quarter" idx="10"/>
          </p:nvPr>
        </p:nvSpPr>
        <p:spPr>
          <a:xfrm>
            <a:off x="4433776" y="855080"/>
            <a:ext cx="4365038" cy="2264933"/>
          </a:xfrm>
        </p:spPr>
        <p:txBody>
          <a:bodyPr/>
          <a:lstStyle/>
          <a:p>
            <a:pPr algn="just"/>
            <a:r>
              <a:rPr lang="en-US" sz="1000" dirty="0">
                <a:hlinkClick r:id="rId2"/>
              </a:rPr>
              <a:t>Generally Available: Per-partition automatic failover for Azure Cosmos DB</a:t>
            </a:r>
            <a:endParaRPr lang="en-US" sz="1000" dirty="0"/>
          </a:p>
          <a:p>
            <a:pPr algn="just"/>
            <a:r>
              <a:rPr lang="en-US" sz="1000" dirty="0"/>
              <a:t>Per-partition automatic failover (PPAF) is now generally available in Azure Cosmos DB, bringing faster recovery and higher availability to mission-critical applications. </a:t>
            </a:r>
          </a:p>
          <a:p>
            <a:pPr algn="just"/>
            <a:r>
              <a:rPr lang="en-US" sz="1000" dirty="0"/>
              <a:t>With PPAF, it is no longer necessary to fail over an entire account during a regional disruption. Azure Cosmos DB automatically fails over only the impacted partitions, while healthy partitions continue serving traffic. This approach sharply reduces disruption, shortens recovery times, and removes the need for manual intervention during outages. </a:t>
            </a:r>
          </a:p>
          <a:p>
            <a:pPr algn="just"/>
            <a:r>
              <a:rPr lang="en-US" sz="1000" dirty="0"/>
              <a:t>PPAF helps you meet stringent availability and durability requirements without redesigning your application or operating multiple write regions. You can run highly resilient workloads with predictable performance, while Azure Cosmos DB transparently handles partition-level recovery behind the scenes.</a:t>
            </a:r>
          </a:p>
        </p:txBody>
      </p:sp>
      <p:sp>
        <p:nvSpPr>
          <p:cNvPr id="11" name="Title 10">
            <a:extLst>
              <a:ext uri="{FF2B5EF4-FFF2-40B4-BE49-F238E27FC236}">
                <a16:creationId xmlns:a16="http://schemas.microsoft.com/office/drawing/2014/main" id="{C62E7423-4266-2E57-7ECF-35621C61E139}"/>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915420FD-81AB-F129-C44C-1ADB2CE5081E}"/>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A99C1840-42CB-2AAA-82F4-807BF7A8EB8F}"/>
              </a:ext>
            </a:extLst>
          </p:cNvPr>
          <p:cNvSpPr>
            <a:spLocks noGrp="1"/>
          </p:cNvSpPr>
          <p:nvPr>
            <p:ph type="body" sz="quarter" idx="16"/>
          </p:nvPr>
        </p:nvSpPr>
        <p:spPr>
          <a:xfrm>
            <a:off x="342900" y="855080"/>
            <a:ext cx="3955312" cy="1300291"/>
          </a:xfrm>
        </p:spPr>
        <p:txBody>
          <a:bodyPr/>
          <a:lstStyle/>
          <a:p>
            <a:pPr algn="just"/>
            <a:r>
              <a:rPr lang="en-US" dirty="0">
                <a:hlinkClick r:id="rId3"/>
              </a:rPr>
              <a:t>Generally Available: Azure Cosmos DB Linux emulator (</a:t>
            </a:r>
            <a:r>
              <a:rPr lang="en-US" dirty="0" err="1">
                <a:hlinkClick r:id="rId3"/>
              </a:rPr>
              <a:t>vNext</a:t>
            </a:r>
            <a:r>
              <a:rPr lang="en-US" dirty="0">
                <a:hlinkClick r:id="rId3"/>
              </a:rPr>
              <a:t>)</a:t>
            </a:r>
            <a:endParaRPr lang="en-US" dirty="0"/>
          </a:p>
          <a:p>
            <a:pPr algn="just"/>
            <a:r>
              <a:rPr lang="en-US" dirty="0"/>
              <a:t>MS announced the general availability of the Azure Cosmos DB Linux emulator (</a:t>
            </a:r>
            <a:r>
              <a:rPr lang="en-US" dirty="0" err="1"/>
              <a:t>vNext</a:t>
            </a:r>
            <a:r>
              <a:rPr lang="en-US" dirty="0"/>
              <a:t>), a cross-platform, Docker-based emulator for local development and testing against Azure Cosmos DB for NoSQL. </a:t>
            </a:r>
          </a:p>
          <a:p>
            <a:pPr algn="just"/>
            <a:r>
              <a:rPr lang="en-US" dirty="0"/>
              <a:t>The </a:t>
            </a:r>
            <a:r>
              <a:rPr lang="en-US" dirty="0" err="1"/>
              <a:t>vNext</a:t>
            </a:r>
            <a:r>
              <a:rPr lang="en-US" dirty="0"/>
              <a:t> emulator runs as a lightweight Docker container on Linux, macOS, and Windows, with native support for both x64 and ARM64 architectures. </a:t>
            </a:r>
          </a:p>
        </p:txBody>
      </p:sp>
      <p:pic>
        <p:nvPicPr>
          <p:cNvPr id="3" name="Picture 2">
            <a:extLst>
              <a:ext uri="{FF2B5EF4-FFF2-40B4-BE49-F238E27FC236}">
                <a16:creationId xmlns:a16="http://schemas.microsoft.com/office/drawing/2014/main" id="{BCEC4AD3-08A6-E55B-6B91-F4337BF74181}"/>
              </a:ext>
            </a:extLst>
          </p:cNvPr>
          <p:cNvPicPr>
            <a:picLocks noChangeAspect="1"/>
          </p:cNvPicPr>
          <p:nvPr/>
        </p:nvPicPr>
        <p:blipFill>
          <a:blip r:embed="rId4"/>
          <a:stretch>
            <a:fillRect/>
          </a:stretch>
        </p:blipFill>
        <p:spPr>
          <a:xfrm>
            <a:off x="4845495" y="3120013"/>
            <a:ext cx="3745846" cy="1597448"/>
          </a:xfrm>
          <a:prstGeom prst="rect">
            <a:avLst/>
          </a:prstGeom>
        </p:spPr>
      </p:pic>
    </p:spTree>
    <p:extLst>
      <p:ext uri="{BB962C8B-B14F-4D97-AF65-F5344CB8AC3E}">
        <p14:creationId xmlns:p14="http://schemas.microsoft.com/office/powerpoint/2010/main" val="724845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8732495-EFD5-2304-E344-F1EA6C232A4F}"/>
              </a:ext>
            </a:extLst>
          </p:cNvPr>
          <p:cNvSpPr>
            <a:spLocks noGrp="1"/>
          </p:cNvSpPr>
          <p:nvPr>
            <p:ph type="body" sz="quarter" idx="10"/>
          </p:nvPr>
        </p:nvSpPr>
        <p:spPr/>
        <p:txBody>
          <a:bodyPr/>
          <a:lstStyle/>
          <a:p>
            <a:pPr algn="just"/>
            <a:r>
              <a:rPr lang="en-US" sz="1000" dirty="0">
                <a:hlinkClick r:id="rId2"/>
              </a:rPr>
              <a:t>Azure Cosmos DB All Versions and Deletes Change Feed Mode is Now Generally Available</a:t>
            </a:r>
            <a:endParaRPr lang="en-US" sz="1000" dirty="0"/>
          </a:p>
          <a:p>
            <a:pPr algn="just"/>
            <a:r>
              <a:rPr lang="en-US" sz="1000" b="1" dirty="0"/>
              <a:t>Azure Cosmos DB All Versions and Deletes Change Feed</a:t>
            </a:r>
            <a:r>
              <a:rPr lang="en-US" sz="1000" dirty="0"/>
              <a:t> is now </a:t>
            </a:r>
            <a:r>
              <a:rPr lang="en-US" sz="1000" b="1" dirty="0"/>
              <a:t>generally available</a:t>
            </a:r>
            <a:r>
              <a:rPr lang="en-US" sz="1000" dirty="0"/>
              <a:t>, providing complete visibility into data lifecycle events within Azure Cosmos DB. Unlike the traditional change feed, which only captures the latest version of a document, this mode records </a:t>
            </a:r>
            <a:r>
              <a:rPr lang="en-US" sz="1000" b="1" dirty="0"/>
              <a:t>all document versions and delete operations</a:t>
            </a:r>
            <a:r>
              <a:rPr lang="en-US" sz="1000" dirty="0"/>
              <a:t>, enabling more comprehensive event-driven architectures and auditing scenarios.</a:t>
            </a:r>
          </a:p>
        </p:txBody>
      </p:sp>
      <p:sp>
        <p:nvSpPr>
          <p:cNvPr id="3" name="Title 2">
            <a:extLst>
              <a:ext uri="{FF2B5EF4-FFF2-40B4-BE49-F238E27FC236}">
                <a16:creationId xmlns:a16="http://schemas.microsoft.com/office/drawing/2014/main" id="{03BC102D-26BE-2D73-96B6-D2E981EB124C}"/>
              </a:ext>
            </a:extLst>
          </p:cNvPr>
          <p:cNvSpPr>
            <a:spLocks noGrp="1"/>
          </p:cNvSpPr>
          <p:nvPr>
            <p:ph type="title"/>
          </p:nvPr>
        </p:nvSpPr>
        <p:spPr/>
        <p:txBody>
          <a:bodyPr/>
          <a:lstStyle/>
          <a:p>
            <a:r>
              <a:rPr lang="en-US" sz="1600" dirty="0"/>
              <a:t>Databases Updates</a:t>
            </a:r>
            <a:endParaRPr lang="en-US" dirty="0"/>
          </a:p>
        </p:txBody>
      </p:sp>
      <p:sp>
        <p:nvSpPr>
          <p:cNvPr id="4" name="Text Placeholder 3">
            <a:extLst>
              <a:ext uri="{FF2B5EF4-FFF2-40B4-BE49-F238E27FC236}">
                <a16:creationId xmlns:a16="http://schemas.microsoft.com/office/drawing/2014/main" id="{B1CC5D22-448D-495F-A200-52EE4C090F80}"/>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081C3FE5-3504-F974-FCD6-E4C354485C5F}"/>
              </a:ext>
            </a:extLst>
          </p:cNvPr>
          <p:cNvSpPr>
            <a:spLocks noGrp="1"/>
          </p:cNvSpPr>
          <p:nvPr>
            <p:ph type="body" sz="quarter" idx="16"/>
          </p:nvPr>
        </p:nvSpPr>
        <p:spPr/>
        <p:txBody>
          <a:bodyPr/>
          <a:lstStyle/>
          <a:p>
            <a:pPr algn="just"/>
            <a:r>
              <a:rPr lang="en-US" dirty="0">
                <a:hlinkClick r:id="rId3"/>
              </a:rPr>
              <a:t>Azure Cosmos DB MCP Toolkit Is Now Generally Available — Bringing Your Database to AI Agents at Scale</a:t>
            </a:r>
            <a:endParaRPr lang="en-US" dirty="0"/>
          </a:p>
          <a:p>
            <a:pPr algn="just"/>
            <a:r>
              <a:rPr lang="en-US" dirty="0"/>
              <a:t>Azure Cosmos DB MCP Toolkit is now generally available (v1.1.2), providing a production-ready framework for connecting AI agents to Azure Cosmos DB through the Model Context Protocol (MCP). Building on customer feedback from the preview release, the GA version introduces deeper Microsoft Foundry integration, broader multi-provider embedding support, and improved reliability for enterprise deployments.</a:t>
            </a:r>
          </a:p>
          <a:p>
            <a:pPr marL="171450" indent="-171450" algn="just">
              <a:buFont typeface="Arial" panose="020B0604020202020204" pitchFamily="34" charset="0"/>
              <a:buChar char="•"/>
            </a:pPr>
            <a:r>
              <a:rPr lang="en-US" dirty="0"/>
              <a:t>Production-Ready MCP Integration</a:t>
            </a:r>
          </a:p>
          <a:p>
            <a:pPr marL="171450" indent="-171450" algn="just">
              <a:buFont typeface="Arial" panose="020B0604020202020204" pitchFamily="34" charset="0"/>
              <a:buChar char="•"/>
            </a:pPr>
            <a:r>
              <a:rPr lang="en-US" dirty="0"/>
              <a:t>Microsoft Foundry Integration</a:t>
            </a:r>
          </a:p>
          <a:p>
            <a:pPr marL="171450" indent="-171450" algn="just">
              <a:buFont typeface="Arial" panose="020B0604020202020204" pitchFamily="34" charset="0"/>
              <a:buChar char="•"/>
            </a:pPr>
            <a:r>
              <a:rPr lang="en-US" dirty="0"/>
              <a:t>Multi-Provider Embedding Support</a:t>
            </a:r>
          </a:p>
          <a:p>
            <a:pPr marL="171450" indent="-171450" algn="just">
              <a:buFont typeface="Arial" panose="020B0604020202020204" pitchFamily="34" charset="0"/>
              <a:buChar char="•"/>
            </a:pPr>
            <a:r>
              <a:rPr lang="en-US" dirty="0"/>
              <a:t>Enterprise Reliability Improvements</a:t>
            </a:r>
          </a:p>
        </p:txBody>
      </p:sp>
    </p:spTree>
    <p:extLst>
      <p:ext uri="{BB962C8B-B14F-4D97-AF65-F5344CB8AC3E}">
        <p14:creationId xmlns:p14="http://schemas.microsoft.com/office/powerpoint/2010/main" val="2380245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097EFA-57F6-3573-399D-CEFD69C72037}"/>
              </a:ext>
            </a:extLst>
          </p:cNvPr>
          <p:cNvSpPr>
            <a:spLocks noGrp="1"/>
          </p:cNvSpPr>
          <p:nvPr>
            <p:ph type="body" sz="quarter" idx="10"/>
          </p:nvPr>
        </p:nvSpPr>
        <p:spPr/>
        <p:txBody>
          <a:bodyPr/>
          <a:lstStyle/>
          <a:p>
            <a:r>
              <a:rPr lang="en-US" sz="1000" dirty="0">
                <a:hlinkClick r:id="rId2"/>
              </a:rPr>
              <a:t>Generally Available: Azure </a:t>
            </a:r>
            <a:r>
              <a:rPr lang="en-US" sz="1000" dirty="0" err="1">
                <a:hlinkClick r:id="rId2"/>
              </a:rPr>
              <a:t>DocumentDB</a:t>
            </a:r>
            <a:r>
              <a:rPr lang="en-US" sz="1000" dirty="0">
                <a:hlinkClick r:id="rId2"/>
              </a:rPr>
              <a:t> Migration Extension in Visual Studio Code</a:t>
            </a:r>
            <a:endParaRPr lang="en-US" sz="1000" dirty="0"/>
          </a:p>
          <a:p>
            <a:r>
              <a:rPr lang="en-US" sz="1000" dirty="0"/>
              <a:t>The </a:t>
            </a:r>
            <a:r>
              <a:rPr lang="en-US" sz="1000" b="1" dirty="0"/>
              <a:t>Azure </a:t>
            </a:r>
            <a:r>
              <a:rPr lang="en-US" sz="1000" b="1" dirty="0" err="1"/>
              <a:t>DocumentDB</a:t>
            </a:r>
            <a:r>
              <a:rPr lang="en-US" sz="1000" b="1" dirty="0"/>
              <a:t> Migration Extension for Visual Studio Code</a:t>
            </a:r>
            <a:r>
              <a:rPr lang="en-US" sz="1000" dirty="0"/>
              <a:t> is now </a:t>
            </a:r>
            <a:r>
              <a:rPr lang="en-US" sz="1000" b="1" dirty="0"/>
              <a:t>generally available</a:t>
            </a:r>
            <a:r>
              <a:rPr lang="en-US" sz="1000" dirty="0"/>
              <a:t>, enabling developers to create, manage, and execute migrations from </a:t>
            </a:r>
            <a:r>
              <a:rPr lang="en-US" sz="1000" b="1" dirty="0"/>
              <a:t>MongoDB deployments to Azure </a:t>
            </a:r>
            <a:r>
              <a:rPr lang="en-US" sz="1000" b="1" dirty="0" err="1"/>
              <a:t>DocumentDB</a:t>
            </a:r>
            <a:r>
              <a:rPr lang="en-US" sz="1000" dirty="0"/>
              <a:t> directly within VS Code. The extension simplifies migration projects by eliminating the need for additional migration infrastructure or specialized tooling. Users can securely migrate selected </a:t>
            </a:r>
            <a:r>
              <a:rPr lang="en-US" sz="1000" b="1" dirty="0"/>
              <a:t>databases and collections</a:t>
            </a:r>
            <a:r>
              <a:rPr lang="en-US" sz="1000" dirty="0"/>
              <a:t> from on-premises or cloud-hosted MongoDB environments while maintaining full visibility and control throughout the process. The solution integrates into a familiar developer workflow, reducing migration complexity and accelerating modernization initiatives. It also supports </a:t>
            </a:r>
            <a:r>
              <a:rPr lang="en-US" sz="1000" b="1" dirty="0"/>
              <a:t>non-disruptive migrations</a:t>
            </a:r>
            <a:r>
              <a:rPr lang="en-US" sz="1000" dirty="0"/>
              <a:t>, helping organizations move workloads to Azure </a:t>
            </a:r>
            <a:r>
              <a:rPr lang="en-US" sz="1000" dirty="0" err="1"/>
              <a:t>DocumentDB</a:t>
            </a:r>
            <a:r>
              <a:rPr lang="en-US" sz="1000" dirty="0"/>
              <a:t> with minimal impact on running applications.</a:t>
            </a:r>
          </a:p>
        </p:txBody>
      </p:sp>
      <p:sp>
        <p:nvSpPr>
          <p:cNvPr id="3" name="Title 2">
            <a:extLst>
              <a:ext uri="{FF2B5EF4-FFF2-40B4-BE49-F238E27FC236}">
                <a16:creationId xmlns:a16="http://schemas.microsoft.com/office/drawing/2014/main" id="{5B6BDFA5-ACD4-7181-651C-9398CD66A4D1}"/>
              </a:ext>
            </a:extLst>
          </p:cNvPr>
          <p:cNvSpPr>
            <a:spLocks noGrp="1"/>
          </p:cNvSpPr>
          <p:nvPr>
            <p:ph type="title"/>
          </p:nvPr>
        </p:nvSpPr>
        <p:spPr/>
        <p:txBody>
          <a:bodyPr/>
          <a:lstStyle/>
          <a:p>
            <a:r>
              <a:rPr lang="en-US" sz="1600" dirty="0"/>
              <a:t>Databases Updates</a:t>
            </a:r>
            <a:endParaRPr lang="en-US" dirty="0"/>
          </a:p>
        </p:txBody>
      </p:sp>
      <p:sp>
        <p:nvSpPr>
          <p:cNvPr id="4" name="Text Placeholder 3">
            <a:extLst>
              <a:ext uri="{FF2B5EF4-FFF2-40B4-BE49-F238E27FC236}">
                <a16:creationId xmlns:a16="http://schemas.microsoft.com/office/drawing/2014/main" id="{F5B80724-E291-7E33-4593-B5B722B98115}"/>
              </a:ext>
            </a:extLst>
          </p:cNvPr>
          <p:cNvSpPr>
            <a:spLocks noGrp="1"/>
          </p:cNvSpPr>
          <p:nvPr>
            <p:ph type="body" sz="quarter" idx="15"/>
          </p:nvPr>
        </p:nvSpPr>
        <p:spPr/>
        <p:txBody>
          <a:bodyPr/>
          <a:lstStyle/>
          <a:p>
            <a:endParaRPr lang="en-US"/>
          </a:p>
        </p:txBody>
      </p:sp>
      <p:sp>
        <p:nvSpPr>
          <p:cNvPr id="8" name="Text Placeholder 1">
            <a:extLst>
              <a:ext uri="{FF2B5EF4-FFF2-40B4-BE49-F238E27FC236}">
                <a16:creationId xmlns:a16="http://schemas.microsoft.com/office/drawing/2014/main" id="{B0727213-7038-9114-FE04-8BBDF958623F}"/>
              </a:ext>
            </a:extLst>
          </p:cNvPr>
          <p:cNvSpPr txBox="1">
            <a:spLocks/>
          </p:cNvSpPr>
          <p:nvPr/>
        </p:nvSpPr>
        <p:spPr>
          <a:xfrm>
            <a:off x="379063" y="855080"/>
            <a:ext cx="3888137" cy="3774069"/>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2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sz="1000" dirty="0">
                <a:hlinkClick r:id="rId3"/>
              </a:rPr>
              <a:t>Generally Available: Service-managed failover in Azure </a:t>
            </a:r>
            <a:r>
              <a:rPr lang="en-US" sz="1000" dirty="0" err="1">
                <a:hlinkClick r:id="rId3"/>
              </a:rPr>
              <a:t>DocumentDB</a:t>
            </a:r>
            <a:endParaRPr lang="en-US" sz="1000" dirty="0"/>
          </a:p>
          <a:p>
            <a:pPr algn="just"/>
            <a:r>
              <a:rPr lang="en-US" sz="1000" b="1" dirty="0"/>
              <a:t>Azure </a:t>
            </a:r>
            <a:r>
              <a:rPr lang="en-US" sz="1000" b="1" dirty="0" err="1"/>
              <a:t>DocumentDB</a:t>
            </a:r>
            <a:r>
              <a:rPr lang="en-US" sz="1000" dirty="0"/>
              <a:t> now provides </a:t>
            </a:r>
            <a:r>
              <a:rPr lang="en-US" sz="1000" b="1" dirty="0"/>
              <a:t>general availability of service-managed failover for multi-region clusters</a:t>
            </a:r>
            <a:r>
              <a:rPr lang="en-US" sz="1000" dirty="0"/>
              <a:t>, improving resilience and availability for globally distributed deployments. In the event of a </a:t>
            </a:r>
            <a:r>
              <a:rPr lang="en-US" sz="1000" b="1" dirty="0"/>
              <a:t>regional outage</a:t>
            </a:r>
            <a:r>
              <a:rPr lang="en-US" sz="1000" dirty="0"/>
              <a:t>, Azure </a:t>
            </a:r>
            <a:r>
              <a:rPr lang="en-US" sz="1000" dirty="0" err="1"/>
              <a:t>DocumentDB</a:t>
            </a:r>
            <a:r>
              <a:rPr lang="en-US" sz="1000" dirty="0"/>
              <a:t> automatically promotes the configured secondary region to become the new primary region without requiring manual intervention. This capability reduces recovery times, minimizes operational effort, and helps maintain application availability during regional disruptions. By automating failover, organizations can simplify disaster recovery planning while ensuring business-critical workloads remain accessible. The feature strengthens the platform's high-availability capabilities for </a:t>
            </a:r>
            <a:r>
              <a:rPr lang="en-US" sz="1000" b="1" dirty="0"/>
              <a:t>multi-region production environments</a:t>
            </a:r>
            <a:r>
              <a:rPr lang="en-US" sz="1000" dirty="0"/>
              <a:t>.</a:t>
            </a:r>
          </a:p>
        </p:txBody>
      </p:sp>
    </p:spTree>
    <p:extLst>
      <p:ext uri="{BB962C8B-B14F-4D97-AF65-F5344CB8AC3E}">
        <p14:creationId xmlns:p14="http://schemas.microsoft.com/office/powerpoint/2010/main" val="3746132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95C415B-787A-6542-4AE8-80D7C4BCD655}"/>
              </a:ext>
            </a:extLst>
          </p:cNvPr>
          <p:cNvSpPr>
            <a:spLocks noGrp="1"/>
          </p:cNvSpPr>
          <p:nvPr>
            <p:ph type="title"/>
          </p:nvPr>
        </p:nvSpPr>
        <p:spPr/>
        <p:txBody>
          <a:bodyPr/>
          <a:lstStyle/>
          <a:p>
            <a:r>
              <a:rPr lang="en-US" sz="1600" dirty="0"/>
              <a:t>Databases Updates</a:t>
            </a:r>
            <a:endParaRPr lang="en-US" dirty="0"/>
          </a:p>
        </p:txBody>
      </p:sp>
      <p:sp>
        <p:nvSpPr>
          <p:cNvPr id="4" name="Text Placeholder 3">
            <a:extLst>
              <a:ext uri="{FF2B5EF4-FFF2-40B4-BE49-F238E27FC236}">
                <a16:creationId xmlns:a16="http://schemas.microsoft.com/office/drawing/2014/main" id="{BC309F4B-50CC-6C58-8F80-7C97BB7707DA}"/>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13318062-DAF4-EA1E-ADE4-3F6F31EC144A}"/>
              </a:ext>
            </a:extLst>
          </p:cNvPr>
          <p:cNvSpPr>
            <a:spLocks noGrp="1"/>
          </p:cNvSpPr>
          <p:nvPr>
            <p:ph type="body" sz="quarter" idx="16"/>
          </p:nvPr>
        </p:nvSpPr>
        <p:spPr/>
        <p:txBody>
          <a:bodyPr/>
          <a:lstStyle/>
          <a:p>
            <a:pPr algn="just"/>
            <a:r>
              <a:rPr lang="en-US" dirty="0">
                <a:hlinkClick r:id="rId2"/>
              </a:rPr>
              <a:t>Generally Available: Graceful failover with zero data loss guarantee</a:t>
            </a:r>
            <a:endParaRPr lang="en-US" dirty="0"/>
          </a:p>
          <a:p>
            <a:pPr algn="just"/>
            <a:r>
              <a:rPr lang="en-US" b="1" dirty="0"/>
              <a:t>Azure </a:t>
            </a:r>
            <a:r>
              <a:rPr lang="en-US" b="1" dirty="0" err="1"/>
              <a:t>DocumentDB</a:t>
            </a:r>
            <a:r>
              <a:rPr lang="en-US" dirty="0"/>
              <a:t> now provides </a:t>
            </a:r>
            <a:r>
              <a:rPr lang="en-US" b="1" dirty="0"/>
              <a:t>general availability of Graceful Failover (Graceful Promote)</a:t>
            </a:r>
            <a:r>
              <a:rPr lang="en-US" dirty="0"/>
              <a:t> for replica clusters, enabling planned regional failovers with </a:t>
            </a:r>
            <a:r>
              <a:rPr lang="en-US" b="1" dirty="0"/>
              <a:t>zero data loss</a:t>
            </a:r>
            <a:r>
              <a:rPr lang="en-US" dirty="0"/>
              <a:t>. Unlike the existing </a:t>
            </a:r>
            <a:r>
              <a:rPr lang="en-US" b="1" dirty="0"/>
              <a:t>Force Promote</a:t>
            </a:r>
            <a:r>
              <a:rPr lang="en-US" dirty="0"/>
              <a:t> capability, which prioritizes availability and may promote a replica before all data has been replicated, Graceful Promote ensures that all pending replication is completed before the replica cluster becomes the new primary. This makes it ideal for </a:t>
            </a:r>
            <a:r>
              <a:rPr lang="en-US" b="1" dirty="0"/>
              <a:t>planned workload migrations, regional traffic shifts, and operational maintenance scenarios</a:t>
            </a:r>
            <a:r>
              <a:rPr lang="en-US" dirty="0"/>
              <a:t> where consistency is critical. Organizations can seamlessly move write traffic closer to users in another region while preserving data integrity. Together, </a:t>
            </a:r>
            <a:r>
              <a:rPr lang="en-US" b="1" dirty="0"/>
              <a:t>Force Promote</a:t>
            </a:r>
            <a:r>
              <a:rPr lang="en-US" dirty="0"/>
              <a:t> and </a:t>
            </a:r>
            <a:r>
              <a:rPr lang="en-US" b="1" dirty="0"/>
              <a:t>Graceful Promote</a:t>
            </a:r>
            <a:r>
              <a:rPr lang="en-US" dirty="0"/>
              <a:t> provide flexibility to balance availability and consistency requirements based on the business scenario.</a:t>
            </a:r>
          </a:p>
        </p:txBody>
      </p:sp>
      <p:sp>
        <p:nvSpPr>
          <p:cNvPr id="12" name="Text Placeholder 11">
            <a:extLst>
              <a:ext uri="{FF2B5EF4-FFF2-40B4-BE49-F238E27FC236}">
                <a16:creationId xmlns:a16="http://schemas.microsoft.com/office/drawing/2014/main" id="{3C6A2210-FBF0-0ABB-AD49-79FB8E56E2CE}"/>
              </a:ext>
            </a:extLst>
          </p:cNvPr>
          <p:cNvSpPr>
            <a:spLocks noGrp="1"/>
          </p:cNvSpPr>
          <p:nvPr>
            <p:ph type="body" sz="quarter" idx="10"/>
          </p:nvPr>
        </p:nvSpPr>
        <p:spPr>
          <a:xfrm>
            <a:off x="4433776" y="855080"/>
            <a:ext cx="4365038" cy="3903222"/>
          </a:xfrm>
        </p:spPr>
        <p:txBody>
          <a:bodyPr/>
          <a:lstStyle/>
          <a:p>
            <a:pPr algn="just"/>
            <a:r>
              <a:rPr lang="en-US" sz="1000" dirty="0">
                <a:hlinkClick r:id="rId3"/>
              </a:rPr>
              <a:t>Generally Available: Azure </a:t>
            </a:r>
            <a:r>
              <a:rPr lang="en-US" sz="1000" dirty="0" err="1">
                <a:hlinkClick r:id="rId3"/>
              </a:rPr>
              <a:t>DocumentDB</a:t>
            </a:r>
            <a:r>
              <a:rPr lang="en-US" sz="1000" dirty="0">
                <a:hlinkClick r:id="rId3"/>
              </a:rPr>
              <a:t> instant free tier clusters</a:t>
            </a:r>
            <a:endParaRPr lang="en-US" sz="1000" dirty="0"/>
          </a:p>
          <a:p>
            <a:pPr algn="just"/>
            <a:r>
              <a:rPr lang="en-US" sz="1000" b="1" dirty="0"/>
              <a:t>Azure </a:t>
            </a:r>
            <a:r>
              <a:rPr lang="en-US" sz="1000" b="1" dirty="0" err="1"/>
              <a:t>DocumentDB</a:t>
            </a:r>
            <a:r>
              <a:rPr lang="en-US" sz="1000" dirty="0"/>
              <a:t> now offers </a:t>
            </a:r>
            <a:r>
              <a:rPr lang="en-US" sz="1000" b="1" dirty="0"/>
              <a:t>near-instant provisioning for Free Tier clusters</a:t>
            </a:r>
            <a:r>
              <a:rPr lang="en-US" sz="1000" dirty="0"/>
              <a:t>, allowing developers and teams to start building and testing applications within minutes. This enhancement significantly reduces setup time and eliminates the waiting period traditionally associated with database deployment. Organizations can quickly evaluate Azure </a:t>
            </a:r>
            <a:r>
              <a:rPr lang="en-US" sz="1000" dirty="0" err="1"/>
              <a:t>DocumentDB</a:t>
            </a:r>
            <a:r>
              <a:rPr lang="en-US" sz="1000" dirty="0"/>
              <a:t>, develop proofs of concept, and begin application development without upfront infrastructure costs. The faster provisioning experience improves developer productivity and lowers the barrier to adopting </a:t>
            </a:r>
            <a:r>
              <a:rPr lang="en-US" sz="1000" b="1" dirty="0"/>
              <a:t>MongoDB-compatible workloads on Azure </a:t>
            </a:r>
            <a:r>
              <a:rPr lang="en-US" sz="1000" b="1" dirty="0" err="1"/>
              <a:t>DocumentDB</a:t>
            </a:r>
            <a:r>
              <a:rPr lang="en-US" sz="1000" dirty="0"/>
              <a:t>. </a:t>
            </a:r>
          </a:p>
        </p:txBody>
      </p:sp>
    </p:spTree>
    <p:extLst>
      <p:ext uri="{BB962C8B-B14F-4D97-AF65-F5344CB8AC3E}">
        <p14:creationId xmlns:p14="http://schemas.microsoft.com/office/powerpoint/2010/main" val="492015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21EEF1B-D918-31DC-54C2-13C0DDF65774}"/>
              </a:ext>
            </a:extLst>
          </p:cNvPr>
          <p:cNvSpPr>
            <a:spLocks noGrp="1"/>
          </p:cNvSpPr>
          <p:nvPr>
            <p:ph type="body" sz="quarter" idx="10"/>
          </p:nvPr>
        </p:nvSpPr>
        <p:spPr/>
        <p:txBody>
          <a:bodyPr/>
          <a:lstStyle/>
          <a:p>
            <a:pPr algn="just"/>
            <a:r>
              <a:rPr lang="en-US" sz="1000" dirty="0">
                <a:hlinkClick r:id="rId2"/>
              </a:rPr>
              <a:t>Generally Available: Azure Database for PostgreSQL flexible server </a:t>
            </a:r>
            <a:r>
              <a:rPr lang="en-US" sz="1000" dirty="0" err="1">
                <a:hlinkClick r:id="rId2"/>
              </a:rPr>
              <a:t>pg_ivm</a:t>
            </a:r>
            <a:r>
              <a:rPr lang="en-US" sz="1000" dirty="0">
                <a:hlinkClick r:id="rId2"/>
              </a:rPr>
              <a:t> extension</a:t>
            </a:r>
            <a:endParaRPr lang="en-US" sz="1000" dirty="0"/>
          </a:p>
          <a:p>
            <a:pPr algn="just"/>
            <a:r>
              <a:rPr lang="en-US" sz="1000" b="1" dirty="0" err="1"/>
              <a:t>pg_ivm</a:t>
            </a:r>
            <a:r>
              <a:rPr lang="en-US" sz="1000" b="1" dirty="0"/>
              <a:t> Extension Support</a:t>
            </a:r>
            <a:r>
              <a:rPr lang="en-US" sz="1000" dirty="0"/>
              <a:t> is now available for </a:t>
            </a:r>
            <a:r>
              <a:rPr lang="en-US" sz="1000" b="1" dirty="0"/>
              <a:t>Azure Database for PostgreSQL Flexible Server</a:t>
            </a:r>
            <a:r>
              <a:rPr lang="en-US" sz="1000" dirty="0"/>
              <a:t>, enabling customers to install and use the </a:t>
            </a:r>
            <a:r>
              <a:rPr lang="en-US" sz="1000" b="1" dirty="0"/>
              <a:t>Incremental View Maintenance (</a:t>
            </a:r>
            <a:r>
              <a:rPr lang="en-US" sz="1000" b="1" dirty="0" err="1"/>
              <a:t>pg_ivm</a:t>
            </a:r>
            <a:r>
              <a:rPr lang="en-US" sz="1000" b="1" dirty="0"/>
              <a:t>)</a:t>
            </a:r>
            <a:r>
              <a:rPr lang="en-US" sz="1000" dirty="0"/>
              <a:t> extension. The extension automatically maintains materialized views by incrementally applying changes as underlying data is modified, eliminating the need for full materialized view refresh operations. This can significantly improve query performance and reduce maintenance overhead for reporting, analytics, and aggregation workloads that rely on frequently updated materialized views. By supporting </a:t>
            </a:r>
            <a:r>
              <a:rPr lang="en-US" sz="1000" dirty="0" err="1"/>
              <a:t>pg_ivm</a:t>
            </a:r>
            <a:r>
              <a:rPr lang="en-US" sz="1000" dirty="0"/>
              <a:t>, Azure Database for PostgreSQL provides developers with an efficient way to keep derived datasets up to date while reducing compute consumption and refresh latency.</a:t>
            </a:r>
          </a:p>
        </p:txBody>
      </p:sp>
      <p:sp>
        <p:nvSpPr>
          <p:cNvPr id="3" name="Title 2">
            <a:extLst>
              <a:ext uri="{FF2B5EF4-FFF2-40B4-BE49-F238E27FC236}">
                <a16:creationId xmlns:a16="http://schemas.microsoft.com/office/drawing/2014/main" id="{530518B2-6556-69E4-F6A8-9E5BA966D86B}"/>
              </a:ext>
            </a:extLst>
          </p:cNvPr>
          <p:cNvSpPr>
            <a:spLocks noGrp="1"/>
          </p:cNvSpPr>
          <p:nvPr>
            <p:ph type="title"/>
          </p:nvPr>
        </p:nvSpPr>
        <p:spPr/>
        <p:txBody>
          <a:bodyPr/>
          <a:lstStyle/>
          <a:p>
            <a:r>
              <a:rPr lang="en-US" sz="1600" dirty="0"/>
              <a:t>Databases Updates</a:t>
            </a:r>
            <a:endParaRPr lang="en-US" dirty="0"/>
          </a:p>
        </p:txBody>
      </p:sp>
      <p:sp>
        <p:nvSpPr>
          <p:cNvPr id="4" name="Text Placeholder 3">
            <a:extLst>
              <a:ext uri="{FF2B5EF4-FFF2-40B4-BE49-F238E27FC236}">
                <a16:creationId xmlns:a16="http://schemas.microsoft.com/office/drawing/2014/main" id="{316E2952-85F4-5928-6CFF-9C76A14E2498}"/>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36198715-55A3-4128-6E6B-64376A261EAB}"/>
              </a:ext>
            </a:extLst>
          </p:cNvPr>
          <p:cNvSpPr>
            <a:spLocks noGrp="1"/>
          </p:cNvSpPr>
          <p:nvPr>
            <p:ph type="body" sz="quarter" idx="16"/>
          </p:nvPr>
        </p:nvSpPr>
        <p:spPr/>
        <p:txBody>
          <a:bodyPr/>
          <a:lstStyle/>
          <a:p>
            <a:pPr algn="just"/>
            <a:r>
              <a:rPr lang="en-US" dirty="0">
                <a:hlinkClick r:id="rId3"/>
              </a:rPr>
              <a:t>Generally Available: Oracle schema conversion to Azure PostgreSQL in Visual Studio Code</a:t>
            </a:r>
            <a:endParaRPr lang="en-US" dirty="0"/>
          </a:p>
          <a:p>
            <a:pPr algn="just"/>
            <a:r>
              <a:rPr lang="en-US" b="1" dirty="0"/>
              <a:t>Oracle-to-PostgreSQL Schema Conversion in VS Code</a:t>
            </a:r>
            <a:r>
              <a:rPr lang="en-US" dirty="0"/>
              <a:t> is now available through the </a:t>
            </a:r>
            <a:r>
              <a:rPr lang="en-US" b="1" dirty="0"/>
              <a:t>PostgreSQL extension for Visual Studio Code</a:t>
            </a:r>
            <a:r>
              <a:rPr lang="en-US" dirty="0"/>
              <a:t>, providing a guided migration experience from Oracle databases to </a:t>
            </a:r>
            <a:r>
              <a:rPr lang="en-US" b="1" dirty="0"/>
              <a:t>Azure Database for PostgreSQL Flexible Server</a:t>
            </a:r>
            <a:r>
              <a:rPr lang="en-US" dirty="0"/>
              <a:t>. Developers can load Oracle schemas, automatically convert database objects, validate results using a PostgreSQL scratch database, and review conversion issues through generated </a:t>
            </a:r>
            <a:r>
              <a:rPr lang="en-US" b="1" dirty="0"/>
              <a:t>Review Tasks</a:t>
            </a:r>
            <a:r>
              <a:rPr lang="en-US" dirty="0"/>
              <a:t> before deployment. The project-based workflow centralizes schema conversion, validation, and remediation within a single development environment, improving visibility, reducing migration complexity, and accelerating Oracle modernization projects.</a:t>
            </a:r>
          </a:p>
        </p:txBody>
      </p:sp>
    </p:spTree>
    <p:extLst>
      <p:ext uri="{BB962C8B-B14F-4D97-AF65-F5344CB8AC3E}">
        <p14:creationId xmlns:p14="http://schemas.microsoft.com/office/powerpoint/2010/main" val="1908749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09DF173-5FA5-5DED-8F82-A605F269019E}"/>
              </a:ext>
            </a:extLst>
          </p:cNvPr>
          <p:cNvSpPr>
            <a:spLocks noGrp="1"/>
          </p:cNvSpPr>
          <p:nvPr>
            <p:ph type="body" sz="quarter" idx="10"/>
          </p:nvPr>
        </p:nvSpPr>
        <p:spPr/>
        <p:txBody>
          <a:bodyPr/>
          <a:lstStyle/>
          <a:p>
            <a:pPr algn="just"/>
            <a:r>
              <a:rPr lang="en-US" sz="1000" dirty="0">
                <a:hlinkClick r:id="rId2"/>
              </a:rPr>
              <a:t>Generally Available: Data API builder with built-in GitHub Copilot in MSSQL extension</a:t>
            </a:r>
            <a:endParaRPr lang="en-US" sz="1000" dirty="0"/>
          </a:p>
          <a:p>
            <a:pPr algn="just"/>
            <a:r>
              <a:rPr lang="en-US" sz="1000" b="1" dirty="0"/>
              <a:t>Data API Builder with GitHub Copilot Integration</a:t>
            </a:r>
            <a:r>
              <a:rPr lang="en-US" sz="1000" dirty="0"/>
              <a:t> is now </a:t>
            </a:r>
            <a:r>
              <a:rPr lang="en-US" sz="1000" b="1" dirty="0"/>
              <a:t>generally available</a:t>
            </a:r>
            <a:r>
              <a:rPr lang="en-US" sz="1000" dirty="0"/>
              <a:t> in the </a:t>
            </a:r>
            <a:r>
              <a:rPr lang="en-US" sz="1000" b="1" dirty="0"/>
              <a:t>MSSQL extension for Visual Studio Code</a:t>
            </a:r>
            <a:r>
              <a:rPr lang="en-US" sz="1000" dirty="0"/>
              <a:t>, enabling developers to generate </a:t>
            </a:r>
            <a:r>
              <a:rPr lang="en-US" sz="1000" b="1" dirty="0"/>
              <a:t>REST, </a:t>
            </a:r>
            <a:r>
              <a:rPr lang="en-US" sz="1000" b="1" dirty="0" err="1"/>
              <a:t>GraphQL</a:t>
            </a:r>
            <a:r>
              <a:rPr lang="en-US" sz="1000" b="1" dirty="0"/>
              <a:t>, and MCP (Model Context Protocol) APIs</a:t>
            </a:r>
            <a:r>
              <a:rPr lang="en-US" sz="1000" dirty="0"/>
              <a:t> directly from SQL database schemas without manually building backend services.</a:t>
            </a:r>
          </a:p>
          <a:p>
            <a:pPr algn="just"/>
            <a:r>
              <a:rPr lang="en-US" sz="1000" b="1" dirty="0"/>
              <a:t>Key Benefits</a:t>
            </a:r>
          </a:p>
          <a:p>
            <a:pPr marL="171450" indent="-171450" algn="just">
              <a:buFont typeface="Arial" panose="020B0604020202020204" pitchFamily="34" charset="0"/>
              <a:buChar char="•"/>
            </a:pPr>
            <a:r>
              <a:rPr lang="en-US" sz="1000" dirty="0"/>
              <a:t>Rapid API Generation </a:t>
            </a:r>
          </a:p>
          <a:p>
            <a:pPr marL="171450" indent="-171450" algn="just">
              <a:buFont typeface="Arial" panose="020B0604020202020204" pitchFamily="34" charset="0"/>
              <a:buChar char="•"/>
            </a:pPr>
            <a:r>
              <a:rPr lang="en-US" sz="1000" dirty="0"/>
              <a:t>GitHub Copilot Integration </a:t>
            </a:r>
          </a:p>
          <a:p>
            <a:pPr marL="171450" indent="-171450" algn="just">
              <a:buFont typeface="Arial" panose="020B0604020202020204" pitchFamily="34" charset="0"/>
              <a:buChar char="•"/>
            </a:pPr>
            <a:r>
              <a:rPr lang="en-US" sz="1000" dirty="0"/>
              <a:t>Visual API Design </a:t>
            </a:r>
          </a:p>
          <a:p>
            <a:pPr marL="171450" indent="-171450" algn="just">
              <a:buFont typeface="Arial" panose="020B0604020202020204" pitchFamily="34" charset="0"/>
              <a:buChar char="•"/>
            </a:pPr>
            <a:r>
              <a:rPr lang="en-US" sz="1000" dirty="0"/>
              <a:t>Fine-Grained Data Exposure </a:t>
            </a:r>
          </a:p>
          <a:p>
            <a:pPr marL="171450" indent="-171450" algn="just">
              <a:buFont typeface="Arial" panose="020B0604020202020204" pitchFamily="34" charset="0"/>
              <a:buChar char="•"/>
            </a:pPr>
            <a:r>
              <a:rPr lang="en-US" sz="1000" dirty="0"/>
              <a:t>Configuration as Code </a:t>
            </a:r>
          </a:p>
          <a:p>
            <a:pPr marL="171450" indent="-171450" algn="just">
              <a:buFont typeface="Arial" panose="020B0604020202020204" pitchFamily="34" charset="0"/>
              <a:buChar char="•"/>
            </a:pPr>
            <a:r>
              <a:rPr lang="en-US" sz="1000" dirty="0"/>
              <a:t>Local Testing </a:t>
            </a:r>
          </a:p>
          <a:p>
            <a:pPr algn="just"/>
            <a:endParaRPr lang="en-US" sz="1000" dirty="0"/>
          </a:p>
        </p:txBody>
      </p:sp>
      <p:sp>
        <p:nvSpPr>
          <p:cNvPr id="3" name="Title 2">
            <a:extLst>
              <a:ext uri="{FF2B5EF4-FFF2-40B4-BE49-F238E27FC236}">
                <a16:creationId xmlns:a16="http://schemas.microsoft.com/office/drawing/2014/main" id="{056D2F7A-9294-4BBB-A365-56C83D364FBB}"/>
              </a:ext>
            </a:extLst>
          </p:cNvPr>
          <p:cNvSpPr>
            <a:spLocks noGrp="1"/>
          </p:cNvSpPr>
          <p:nvPr>
            <p:ph type="title"/>
          </p:nvPr>
        </p:nvSpPr>
        <p:spPr/>
        <p:txBody>
          <a:bodyPr/>
          <a:lstStyle/>
          <a:p>
            <a:r>
              <a:rPr lang="en-US" sz="1600" dirty="0"/>
              <a:t>Databases Updates</a:t>
            </a:r>
            <a:endParaRPr lang="en-US" dirty="0"/>
          </a:p>
        </p:txBody>
      </p:sp>
      <p:sp>
        <p:nvSpPr>
          <p:cNvPr id="4" name="Text Placeholder 3">
            <a:extLst>
              <a:ext uri="{FF2B5EF4-FFF2-40B4-BE49-F238E27FC236}">
                <a16:creationId xmlns:a16="http://schemas.microsoft.com/office/drawing/2014/main" id="{00F3E36F-FFA3-9D83-67C1-7C91F10B9747}"/>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237E0461-D608-6DF5-4287-06950E2F14EA}"/>
              </a:ext>
            </a:extLst>
          </p:cNvPr>
          <p:cNvSpPr>
            <a:spLocks noGrp="1"/>
          </p:cNvSpPr>
          <p:nvPr>
            <p:ph type="body" sz="quarter" idx="16"/>
          </p:nvPr>
        </p:nvSpPr>
        <p:spPr/>
        <p:txBody>
          <a:bodyPr/>
          <a:lstStyle/>
          <a:p>
            <a:pPr algn="just"/>
            <a:r>
              <a:rPr lang="en-US" dirty="0">
                <a:hlinkClick r:id="rId3"/>
              </a:rPr>
              <a:t>Generally Available: Azure </a:t>
            </a:r>
            <a:r>
              <a:rPr lang="en-US" dirty="0" err="1">
                <a:hlinkClick r:id="rId3"/>
              </a:rPr>
              <a:t>HorizonDB</a:t>
            </a:r>
            <a:r>
              <a:rPr lang="en-US" dirty="0">
                <a:hlinkClick r:id="rId3"/>
              </a:rPr>
              <a:t> Agentic Advisor Solution Accelerator</a:t>
            </a:r>
            <a:endParaRPr lang="en-US" dirty="0"/>
          </a:p>
          <a:p>
            <a:pPr algn="just"/>
            <a:r>
              <a:rPr lang="en-US" b="1" dirty="0"/>
              <a:t>Agentic Advisor Solution Accelerator for Azure </a:t>
            </a:r>
            <a:r>
              <a:rPr lang="en-US" b="1" dirty="0" err="1"/>
              <a:t>HorizonDB</a:t>
            </a:r>
            <a:r>
              <a:rPr lang="en-US" dirty="0"/>
              <a:t> is now </a:t>
            </a:r>
            <a:r>
              <a:rPr lang="en-US" b="1" dirty="0"/>
              <a:t>generally available</a:t>
            </a:r>
            <a:r>
              <a:rPr lang="en-US" dirty="0"/>
              <a:t>, providing a reference architecture for building </a:t>
            </a:r>
            <a:r>
              <a:rPr lang="en-US" b="1" dirty="0"/>
              <a:t>financial services-focused multi-agent applications</a:t>
            </a:r>
            <a:r>
              <a:rPr lang="en-US" dirty="0"/>
              <a:t>. Built with </a:t>
            </a:r>
            <a:r>
              <a:rPr lang="en-US" b="1" dirty="0"/>
              <a:t>Python, </a:t>
            </a:r>
            <a:r>
              <a:rPr lang="en-US" b="1" dirty="0" err="1"/>
              <a:t>LangGraph</a:t>
            </a:r>
            <a:r>
              <a:rPr lang="en-US" b="1" dirty="0"/>
              <a:t>, and Mem0</a:t>
            </a:r>
            <a:r>
              <a:rPr lang="en-US" dirty="0"/>
              <a:t>, the accelerator uses </a:t>
            </a:r>
            <a:r>
              <a:rPr lang="en-US" b="1" dirty="0"/>
              <a:t>Azure </a:t>
            </a:r>
            <a:r>
              <a:rPr lang="en-US" b="1" dirty="0" err="1"/>
              <a:t>HorizonDB</a:t>
            </a:r>
            <a:r>
              <a:rPr lang="en-US" dirty="0"/>
              <a:t> as the central data, memory, and intelligence platform.</a:t>
            </a:r>
          </a:p>
          <a:p>
            <a:pPr algn="just"/>
            <a:r>
              <a:rPr lang="en-US" dirty="0"/>
              <a:t>The accelerator provides a practical blueprint for building </a:t>
            </a:r>
            <a:r>
              <a:rPr lang="en-US" b="1" dirty="0"/>
              <a:t>next-generation financial advisor, wealth management, customer support, and decision-assistance solutions</a:t>
            </a:r>
            <a:r>
              <a:rPr lang="en-US" dirty="0"/>
              <a:t>. By combining </a:t>
            </a:r>
            <a:r>
              <a:rPr lang="en-US" b="1" dirty="0"/>
              <a:t>multi-agent orchestration, graph intelligence, hybrid retrieval, and AI-native database capabilities</a:t>
            </a:r>
            <a:r>
              <a:rPr lang="en-US" dirty="0"/>
              <a:t>, organizations can accelerate development of more </a:t>
            </a:r>
            <a:r>
              <a:rPr lang="en-US" b="1" dirty="0"/>
              <a:t>context-aware, explainable, and responsive agentic applications</a:t>
            </a:r>
            <a:r>
              <a:rPr lang="en-US" dirty="0"/>
              <a:t> while reducing architectural complexity.</a:t>
            </a:r>
          </a:p>
        </p:txBody>
      </p:sp>
    </p:spTree>
    <p:extLst>
      <p:ext uri="{BB962C8B-B14F-4D97-AF65-F5344CB8AC3E}">
        <p14:creationId xmlns:p14="http://schemas.microsoft.com/office/powerpoint/2010/main" val="1244120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F3D64F-974C-8C79-2AA0-F1C26FB806D2}"/>
              </a:ext>
            </a:extLst>
          </p:cNvPr>
          <p:cNvSpPr>
            <a:spLocks noGrp="1"/>
          </p:cNvSpPr>
          <p:nvPr>
            <p:ph type="body" sz="quarter" idx="10"/>
          </p:nvPr>
        </p:nvSpPr>
        <p:spPr/>
        <p:txBody>
          <a:bodyPr/>
          <a:lstStyle/>
          <a:p>
            <a:pPr algn="just"/>
            <a:r>
              <a:rPr lang="en-US" sz="1000" dirty="0">
                <a:hlinkClick r:id="rId2"/>
              </a:rPr>
              <a:t>Generally Available: GitHub Copilot integration in Schema Designer for the MSSQL extension</a:t>
            </a:r>
            <a:endParaRPr lang="en-US" sz="1000" dirty="0"/>
          </a:p>
          <a:p>
            <a:pPr algn="just"/>
            <a:r>
              <a:rPr lang="en-US" sz="1000" b="1" dirty="0"/>
              <a:t>GitHub Copilot integration with Schema Designer (GA)</a:t>
            </a:r>
            <a:r>
              <a:rPr lang="en-US" sz="1000" dirty="0"/>
              <a:t> in the MSSQL VS Code extension enables developers to design and modify database schemas using natural language. Copilot can generate schema changes, visualize them in Schema Designer, track modifications with source-control-style change tracking, and generate ORM migration scripts. Combined with Data API Builder, it provides an end-to-end workflow from database design to backend API generation directly within Visual Studio Code.</a:t>
            </a:r>
          </a:p>
        </p:txBody>
      </p:sp>
      <p:sp>
        <p:nvSpPr>
          <p:cNvPr id="3" name="Title 2">
            <a:extLst>
              <a:ext uri="{FF2B5EF4-FFF2-40B4-BE49-F238E27FC236}">
                <a16:creationId xmlns:a16="http://schemas.microsoft.com/office/drawing/2014/main" id="{F8920A86-CDA6-E2F9-4020-62046170E4E7}"/>
              </a:ext>
            </a:extLst>
          </p:cNvPr>
          <p:cNvSpPr>
            <a:spLocks noGrp="1"/>
          </p:cNvSpPr>
          <p:nvPr>
            <p:ph type="title"/>
          </p:nvPr>
        </p:nvSpPr>
        <p:spPr/>
        <p:txBody>
          <a:bodyPr/>
          <a:lstStyle/>
          <a:p>
            <a:r>
              <a:rPr lang="en-US" sz="1600" dirty="0"/>
              <a:t>Databases Updates</a:t>
            </a:r>
            <a:endParaRPr lang="en-US" dirty="0"/>
          </a:p>
        </p:txBody>
      </p:sp>
      <p:sp>
        <p:nvSpPr>
          <p:cNvPr id="4" name="Text Placeholder 3">
            <a:extLst>
              <a:ext uri="{FF2B5EF4-FFF2-40B4-BE49-F238E27FC236}">
                <a16:creationId xmlns:a16="http://schemas.microsoft.com/office/drawing/2014/main" id="{3B883801-7AB7-346D-7EF0-7510D289D948}"/>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30D0D6DC-ABE4-E385-FD30-F26E0CCBE49D}"/>
              </a:ext>
            </a:extLst>
          </p:cNvPr>
          <p:cNvSpPr>
            <a:spLocks noGrp="1"/>
          </p:cNvSpPr>
          <p:nvPr>
            <p:ph type="body" sz="quarter" idx="16"/>
          </p:nvPr>
        </p:nvSpPr>
        <p:spPr/>
        <p:txBody>
          <a:bodyPr/>
          <a:lstStyle/>
          <a:p>
            <a:r>
              <a:rPr lang="en-US" dirty="0">
                <a:hlinkClick r:id="rId3"/>
              </a:rPr>
              <a:t>Generally Available: Azure Database for MySQL Flexible Server self-service quota management experience</a:t>
            </a:r>
            <a:endParaRPr lang="en-US" dirty="0"/>
          </a:p>
          <a:p>
            <a:r>
              <a:rPr lang="en-US" dirty="0"/>
              <a:t>Azure Database for MySQL Flexible Server now supports self-service quota management through the Azure Quotas experience in the Azure Portal. Administrators can view current quota usage and limits, request quota increases, and track approval status without opening a support ticket.</a:t>
            </a:r>
          </a:p>
          <a:p>
            <a:r>
              <a:rPr lang="en-US" dirty="0"/>
              <a:t>Key Benefits</a:t>
            </a:r>
          </a:p>
          <a:p>
            <a:pPr marL="171450" indent="-171450">
              <a:buFont typeface="Arial" panose="020B0604020202020204" pitchFamily="34" charset="0"/>
              <a:buChar char="•"/>
            </a:pPr>
            <a:r>
              <a:rPr lang="en-US" dirty="0"/>
              <a:t>Self-Service Quota Requests </a:t>
            </a:r>
          </a:p>
          <a:p>
            <a:pPr marL="514350" lvl="1" indent="-171450">
              <a:buFont typeface="Arial" panose="020B0604020202020204" pitchFamily="34" charset="0"/>
              <a:buChar char="•"/>
            </a:pPr>
            <a:r>
              <a:rPr lang="en-US" sz="1000" dirty="0">
                <a:latin typeface="+mj-lt"/>
              </a:rPr>
              <a:t>Request quota increases directly from the Azure Portal. </a:t>
            </a:r>
          </a:p>
          <a:p>
            <a:pPr marL="514350" lvl="1" indent="-171450">
              <a:buFont typeface="Arial" panose="020B0604020202020204" pitchFamily="34" charset="0"/>
              <a:buChar char="•"/>
            </a:pPr>
            <a:r>
              <a:rPr lang="en-US" sz="1000" dirty="0">
                <a:latin typeface="+mj-lt"/>
              </a:rPr>
              <a:t>Eliminates the need for manual support tickets in most scenarios. </a:t>
            </a:r>
          </a:p>
          <a:p>
            <a:pPr marL="171450" indent="-171450">
              <a:buFont typeface="Arial" panose="020B0604020202020204" pitchFamily="34" charset="0"/>
              <a:buChar char="•"/>
            </a:pPr>
            <a:r>
              <a:rPr lang="en-US" dirty="0"/>
              <a:t>Faster Approvals </a:t>
            </a:r>
          </a:p>
          <a:p>
            <a:pPr marL="514350" lvl="1" indent="-171450">
              <a:buFont typeface="Arial" panose="020B0604020202020204" pitchFamily="34" charset="0"/>
              <a:buChar char="•"/>
            </a:pPr>
            <a:r>
              <a:rPr lang="en-US" sz="1000" dirty="0">
                <a:latin typeface="+mj-lt"/>
              </a:rPr>
              <a:t>Eligible requests can be automatically evaluated and approved. </a:t>
            </a:r>
          </a:p>
          <a:p>
            <a:pPr marL="514350" lvl="1" indent="-171450">
              <a:buFont typeface="Arial" panose="020B0604020202020204" pitchFamily="34" charset="0"/>
              <a:buChar char="•"/>
            </a:pPr>
            <a:r>
              <a:rPr lang="en-US" sz="1000" dirty="0">
                <a:latin typeface="+mj-lt"/>
              </a:rPr>
              <a:t>Reduces waiting times from days to minutes. </a:t>
            </a:r>
          </a:p>
          <a:p>
            <a:pPr marL="171450" indent="-171450">
              <a:buFont typeface="Arial" panose="020B0604020202020204" pitchFamily="34" charset="0"/>
              <a:buChar char="•"/>
            </a:pPr>
            <a:r>
              <a:rPr lang="en-US" dirty="0"/>
              <a:t>Centralized Visibility </a:t>
            </a:r>
          </a:p>
          <a:p>
            <a:pPr marL="514350" lvl="1" indent="-171450">
              <a:buFont typeface="Arial" panose="020B0604020202020204" pitchFamily="34" charset="0"/>
              <a:buChar char="•"/>
            </a:pPr>
            <a:r>
              <a:rPr lang="en-US" sz="1000" dirty="0">
                <a:latin typeface="+mj-lt"/>
              </a:rPr>
              <a:t>View quota consumption and limits across subscriptions in a single location. </a:t>
            </a:r>
          </a:p>
          <a:p>
            <a:pPr marL="514350" lvl="1" indent="-171450">
              <a:buFont typeface="Arial" panose="020B0604020202020204" pitchFamily="34" charset="0"/>
              <a:buChar char="•"/>
            </a:pPr>
            <a:r>
              <a:rPr lang="en-US" sz="1000" dirty="0">
                <a:latin typeface="+mj-lt"/>
              </a:rPr>
              <a:t>Improves capacity planning and governance. </a:t>
            </a:r>
          </a:p>
          <a:p>
            <a:pPr marL="171450" indent="-171450">
              <a:buFont typeface="Arial" panose="020B0604020202020204" pitchFamily="34" charset="0"/>
              <a:buChar char="•"/>
            </a:pPr>
            <a:r>
              <a:rPr lang="en-US" dirty="0"/>
              <a:t>Reduced Deployment Delays </a:t>
            </a:r>
          </a:p>
          <a:p>
            <a:pPr marL="514350" lvl="1" indent="-171450">
              <a:buFont typeface="Arial" panose="020B0604020202020204" pitchFamily="34" charset="0"/>
              <a:buChar char="•"/>
            </a:pPr>
            <a:r>
              <a:rPr lang="en-US" sz="1000" dirty="0">
                <a:latin typeface="+mj-lt"/>
              </a:rPr>
              <a:t>Identify quota constraints before deployments fail. </a:t>
            </a:r>
          </a:p>
          <a:p>
            <a:endParaRPr lang="en-US" dirty="0"/>
          </a:p>
        </p:txBody>
      </p:sp>
    </p:spTree>
    <p:extLst>
      <p:ext uri="{BB962C8B-B14F-4D97-AF65-F5344CB8AC3E}">
        <p14:creationId xmlns:p14="http://schemas.microsoft.com/office/powerpoint/2010/main" val="499841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
                                            <p:txEl>
                                              <p:pRg st="0" end="0"/>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BBE62D0-48E4-99A6-53DD-72F700CA017E}"/>
              </a:ext>
            </a:extLst>
          </p:cNvPr>
          <p:cNvSpPr>
            <a:spLocks noGrp="1"/>
          </p:cNvSpPr>
          <p:nvPr>
            <p:ph type="body" sz="quarter" idx="10"/>
          </p:nvPr>
        </p:nvSpPr>
        <p:spPr/>
        <p:txBody>
          <a:bodyPr/>
          <a:lstStyle/>
          <a:p>
            <a:endParaRPr lang="en-US"/>
          </a:p>
        </p:txBody>
      </p:sp>
      <p:sp>
        <p:nvSpPr>
          <p:cNvPr id="3" name="Title 2">
            <a:extLst>
              <a:ext uri="{FF2B5EF4-FFF2-40B4-BE49-F238E27FC236}">
                <a16:creationId xmlns:a16="http://schemas.microsoft.com/office/drawing/2014/main" id="{C8C1A4CA-D065-EBCC-DA5D-0CCF6CC0C860}"/>
              </a:ext>
            </a:extLst>
          </p:cNvPr>
          <p:cNvSpPr>
            <a:spLocks noGrp="1"/>
          </p:cNvSpPr>
          <p:nvPr>
            <p:ph type="title"/>
          </p:nvPr>
        </p:nvSpPr>
        <p:spPr/>
        <p:txBody>
          <a:bodyPr/>
          <a:lstStyle/>
          <a:p>
            <a:r>
              <a:rPr lang="en-US" sz="1800" dirty="0"/>
              <a:t>Databases Updates</a:t>
            </a:r>
            <a:endParaRPr lang="en-US" dirty="0"/>
          </a:p>
        </p:txBody>
      </p:sp>
      <p:sp>
        <p:nvSpPr>
          <p:cNvPr id="4" name="Text Placeholder 3">
            <a:extLst>
              <a:ext uri="{FF2B5EF4-FFF2-40B4-BE49-F238E27FC236}">
                <a16:creationId xmlns:a16="http://schemas.microsoft.com/office/drawing/2014/main" id="{7FF4D9BB-42BB-659B-06B5-62BB958CCD42}"/>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242B3A84-D791-C1F2-3897-427F9DF70C71}"/>
              </a:ext>
            </a:extLst>
          </p:cNvPr>
          <p:cNvSpPr>
            <a:spLocks noGrp="1"/>
          </p:cNvSpPr>
          <p:nvPr>
            <p:ph type="body" sz="quarter" idx="16"/>
          </p:nvPr>
        </p:nvSpPr>
        <p:spPr/>
        <p:txBody>
          <a:bodyPr/>
          <a:lstStyle/>
          <a:p>
            <a:pPr algn="just"/>
            <a:r>
              <a:rPr lang="en-US" dirty="0">
                <a:hlinkClick r:id="rId2"/>
              </a:rPr>
              <a:t>Generally Available: Azure Database for MySQL now available in new regions and expanded availability zones</a:t>
            </a:r>
            <a:endParaRPr lang="en-US" dirty="0"/>
          </a:p>
          <a:p>
            <a:pPr algn="just"/>
            <a:r>
              <a:rPr lang="en-US" b="1" dirty="0"/>
              <a:t>Azure Database for MySQL Flexible Server</a:t>
            </a:r>
            <a:r>
              <a:rPr lang="en-US" dirty="0"/>
              <a:t> continues to expand its global presence with support for new regions, including </a:t>
            </a:r>
            <a:r>
              <a:rPr lang="en-US" b="1" dirty="0"/>
              <a:t>Denmark East, Austria East, and Belgium Central</a:t>
            </a:r>
            <a:r>
              <a:rPr lang="en-US" dirty="0"/>
              <a:t>. These regions provide customers with local deployment options that help meet data residency requirements while benefiting from Azure's managed MySQL service, including </a:t>
            </a:r>
            <a:r>
              <a:rPr lang="en-US" b="1" dirty="0"/>
              <a:t>zone-redundant high availability</a:t>
            </a:r>
            <a:r>
              <a:rPr lang="en-US" dirty="0"/>
              <a:t> and </a:t>
            </a:r>
            <a:r>
              <a:rPr lang="en-US" b="1" dirty="0"/>
              <a:t>geo-redundant backups</a:t>
            </a:r>
            <a:r>
              <a:rPr lang="en-US" dirty="0"/>
              <a:t>.</a:t>
            </a:r>
          </a:p>
          <a:p>
            <a:pPr algn="just"/>
            <a:r>
              <a:rPr lang="en-US" dirty="0"/>
              <a:t>In addition, Azure has expanded availability zone support in </a:t>
            </a:r>
            <a:r>
              <a:rPr lang="en-US" b="1" dirty="0"/>
              <a:t>Taiwan North, Japan West, South Central US, and US Gov Arizona</a:t>
            </a:r>
            <a:r>
              <a:rPr lang="en-US" dirty="0"/>
              <a:t>, giving organizations more flexibility to distribute workloads across physically separate datacenters within a region. This improves resilience, increases deployment options, and supports highly available architectures for mission-critical applications.</a:t>
            </a:r>
          </a:p>
          <a:p>
            <a:pPr algn="just"/>
            <a:r>
              <a:rPr lang="en-US" dirty="0"/>
              <a:t>The expansion strengthens Azure's global database footprint, enabling customers to deploy MySQL workloads closer to users, reduce latency, improve disaster recovery capabilities, and build more resilient database platforms with enterprise-grade availability and business continuity features.</a:t>
            </a:r>
          </a:p>
          <a:p>
            <a:pPr algn="just"/>
            <a:endParaRPr lang="en-US" dirty="0"/>
          </a:p>
        </p:txBody>
      </p:sp>
    </p:spTree>
    <p:extLst>
      <p:ext uri="{BB962C8B-B14F-4D97-AF65-F5344CB8AC3E}">
        <p14:creationId xmlns:p14="http://schemas.microsoft.com/office/powerpoint/2010/main" val="4252409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Integration</a:t>
            </a:r>
          </a:p>
        </p:txBody>
      </p:sp>
    </p:spTree>
    <p:extLst>
      <p:ext uri="{BB962C8B-B14F-4D97-AF65-F5344CB8AC3E}">
        <p14:creationId xmlns:p14="http://schemas.microsoft.com/office/powerpoint/2010/main" val="59623308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Public Preview: APIM Support for Foundry Models in Azure AI Search</a:t>
            </a:r>
            <a:endParaRPr lang="en-US" sz="1000" dirty="0"/>
          </a:p>
          <a:p>
            <a:pPr algn="just"/>
            <a:r>
              <a:rPr lang="en-US" sz="1000" dirty="0"/>
              <a:t>Microsoft Foundry brings Azure API Management support to all Foundry model integrations in Azure AI Search, now in public preview. Enterprise platform engineers and AI solution teams running large-scale RAG pipelines can place Foundry and Azure OpenAI models behind APIM for the GenAI Prompt Skill, embedding models, and vectorizer operations used at indexing and query time. APIM provides traffic shaping, load balancing, custom domains, identity governance, and private connectivity in front of every model endpoint a Search workload depends on. Customers can eliminate indexing failures caused by endpoint throttling or outages, stabilize high-throughput ingestion, and consolidate authentication and policy management into a single control plane. Operations teams gain consistent observability and audit trails across enrichment dependencies, while RAG systems hold accuracy and freshness as content volume grows. </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Integration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Azure API Management now supports token metrics for all token types</a:t>
            </a:r>
            <a:endParaRPr lang="en-US" dirty="0"/>
          </a:p>
          <a:p>
            <a:pPr algn="just"/>
            <a:r>
              <a:rPr lang="en-US" b="1" dirty="0"/>
              <a:t>Azure API Management</a:t>
            </a:r>
            <a:r>
              <a:rPr lang="en-US" dirty="0"/>
              <a:t> now provides enhanced </a:t>
            </a:r>
            <a:r>
              <a:rPr lang="en-US" b="1" dirty="0"/>
              <a:t>AI token observability</a:t>
            </a:r>
            <a:r>
              <a:rPr lang="en-US" dirty="0"/>
              <a:t>, enabling organizations to track and analyze a broader range of token types used by modern AI models. In addition to traditional </a:t>
            </a:r>
            <a:r>
              <a:rPr lang="en-US" b="1" dirty="0"/>
              <a:t>prompt, completion, and total tokens</a:t>
            </a:r>
            <a:r>
              <a:rPr lang="en-US" dirty="0"/>
              <a:t>, teams can now collect metrics for </a:t>
            </a:r>
            <a:r>
              <a:rPr lang="en-US" b="1" dirty="0"/>
              <a:t>cached tokens, reasoning tokens, thinking tokens, and other model-specific token categories</a:t>
            </a:r>
            <a:r>
              <a:rPr lang="en-US" dirty="0"/>
              <a:t>. These metrics are logged to </a:t>
            </a:r>
            <a:r>
              <a:rPr lang="en-US" b="1" dirty="0"/>
              <a:t>Application Insights</a:t>
            </a:r>
            <a:r>
              <a:rPr lang="en-US" dirty="0"/>
              <a:t>, providing deeper visibility into AI consumption patterns and costs.</a:t>
            </a:r>
          </a:p>
          <a:p>
            <a:pPr algn="just"/>
            <a:r>
              <a:rPr lang="en-US" dirty="0"/>
              <a:t>The capability supports multiple AI providers and API formats, including </a:t>
            </a:r>
            <a:r>
              <a:rPr lang="en-US" b="1" dirty="0"/>
              <a:t>OpenAI Chat Completions, OpenAI Responses API, Anthropic Messages API</a:t>
            </a:r>
            <a:r>
              <a:rPr lang="en-US" dirty="0"/>
              <a:t>, and models hosted through </a:t>
            </a:r>
            <a:r>
              <a:rPr lang="en-US" b="1" dirty="0"/>
              <a:t>Microsoft Foundry, Azure OpenAI, AWS Bedrock, Google Vertex AI, and other platforms</a:t>
            </a:r>
            <a:r>
              <a:rPr lang="en-US" dirty="0"/>
              <a:t>. Organizations can build more accurate dashboards, improve cost allocation and forecasting, enhance budget monitoring and alerting, and gain better insight into how advanced reasoning models consume resources.</a:t>
            </a:r>
          </a:p>
          <a:p>
            <a:pPr algn="just"/>
            <a:r>
              <a:rPr lang="en-US" dirty="0"/>
              <a:t>This enhancement strengthens governance and financial management for enterprise AI workloads by providing a unified view of token usage across multi-model and multi-provider environments.</a:t>
            </a:r>
          </a:p>
          <a:p>
            <a:pPr algn="just"/>
            <a:endParaRPr lang="en-US" dirty="0"/>
          </a:p>
        </p:txBody>
      </p:sp>
    </p:spTree>
    <p:extLst>
      <p:ext uri="{BB962C8B-B14F-4D97-AF65-F5344CB8AC3E}">
        <p14:creationId xmlns:p14="http://schemas.microsoft.com/office/powerpoint/2010/main" val="4065945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78F22-A9E3-2B6E-58E1-F0D0E1E104E0}"/>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70409C6D-0E1D-A764-A4B4-2D3FADB4EE00}"/>
              </a:ext>
            </a:extLst>
          </p:cNvPr>
          <p:cNvSpPr>
            <a:spLocks noGrp="1"/>
          </p:cNvSpPr>
          <p:nvPr>
            <p:ph type="body" sz="quarter" idx="10"/>
          </p:nvPr>
        </p:nvSpPr>
        <p:spPr/>
        <p:txBody>
          <a:bodyPr/>
          <a:lstStyle/>
          <a:p>
            <a:pPr algn="just"/>
            <a:r>
              <a:rPr lang="en-US" sz="1000" dirty="0">
                <a:hlinkClick r:id="rId2"/>
              </a:rPr>
              <a:t>Generally Available: Azure API Management now supports AI gateway capabilities for Anthropic and Vertex AI models.</a:t>
            </a:r>
            <a:endParaRPr lang="en-US" sz="1000" dirty="0"/>
          </a:p>
          <a:p>
            <a:pPr algn="just"/>
            <a:r>
              <a:rPr lang="en-US" sz="1000" b="1" dirty="0"/>
              <a:t>Azure API Management</a:t>
            </a:r>
            <a:r>
              <a:rPr lang="en-US" sz="1000" dirty="0"/>
              <a:t> now extends its </a:t>
            </a:r>
            <a:r>
              <a:rPr lang="en-US" sz="1000" b="1" dirty="0"/>
              <a:t>AI Gateway capabilities</a:t>
            </a:r>
            <a:r>
              <a:rPr lang="en-US" sz="1000" dirty="0"/>
              <a:t> to support </a:t>
            </a:r>
            <a:r>
              <a:rPr lang="en-US" sz="1000" b="1" dirty="0"/>
              <a:t>Anthropic and Google Vertex AI models</a:t>
            </a:r>
            <a:r>
              <a:rPr lang="en-US" sz="1000" dirty="0"/>
              <a:t>, enabling consistent governance across multi-model AI environments. Organizations can apply the same </a:t>
            </a:r>
            <a:r>
              <a:rPr lang="en-US" sz="1000" b="1" dirty="0"/>
              <a:t>runtime security and governance policies</a:t>
            </a:r>
            <a:r>
              <a:rPr lang="en-US" sz="1000" dirty="0"/>
              <a:t> used for Azure-hosted models, including content safety controls, token limits, semantic caching, and traffic management. The integration also provides centralized </a:t>
            </a:r>
            <a:r>
              <a:rPr lang="en-US" sz="1000" b="1" dirty="0"/>
              <a:t>logging, tracing, metrics, and observability</a:t>
            </a:r>
            <a:r>
              <a:rPr lang="en-US" sz="1000" dirty="0"/>
              <a:t> for Anthropic and Vertex AI model interactions. This gives platform teams a unified approach to managing AI services from multiple providers through a single API gateway. The result is improved </a:t>
            </a:r>
            <a:r>
              <a:rPr lang="en-US" sz="1000" b="1" dirty="0"/>
              <a:t>security, compliance, operational visibility, and governance</a:t>
            </a:r>
            <a:r>
              <a:rPr lang="en-US" sz="1000" dirty="0"/>
              <a:t> for enterprise AI deployments spanning multiple model vendors.</a:t>
            </a:r>
          </a:p>
        </p:txBody>
      </p:sp>
      <p:sp>
        <p:nvSpPr>
          <p:cNvPr id="11" name="Title 10">
            <a:extLst>
              <a:ext uri="{FF2B5EF4-FFF2-40B4-BE49-F238E27FC236}">
                <a16:creationId xmlns:a16="http://schemas.microsoft.com/office/drawing/2014/main" id="{1A1E796A-EE79-410E-046D-1D63E445E96B}"/>
              </a:ext>
            </a:extLst>
          </p:cNvPr>
          <p:cNvSpPr>
            <a:spLocks noGrp="1"/>
          </p:cNvSpPr>
          <p:nvPr>
            <p:ph type="title"/>
          </p:nvPr>
        </p:nvSpPr>
        <p:spPr/>
        <p:txBody>
          <a:bodyPr/>
          <a:lstStyle/>
          <a:p>
            <a:r>
              <a:rPr lang="en-US" sz="1800" dirty="0"/>
              <a:t>Integration Updates</a:t>
            </a:r>
            <a:endParaRPr lang="en-US" dirty="0"/>
          </a:p>
        </p:txBody>
      </p:sp>
      <p:sp>
        <p:nvSpPr>
          <p:cNvPr id="13" name="Text Placeholder 12">
            <a:extLst>
              <a:ext uri="{FF2B5EF4-FFF2-40B4-BE49-F238E27FC236}">
                <a16:creationId xmlns:a16="http://schemas.microsoft.com/office/drawing/2014/main" id="{AED4F9DC-B482-0291-E516-FC62C0D1927D}"/>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C3960749-A6C0-6C05-2CF4-B9E16BFA36F2}"/>
              </a:ext>
            </a:extLst>
          </p:cNvPr>
          <p:cNvSpPr>
            <a:spLocks noGrp="1"/>
          </p:cNvSpPr>
          <p:nvPr>
            <p:ph type="body" sz="quarter" idx="16"/>
          </p:nvPr>
        </p:nvSpPr>
        <p:spPr>
          <a:xfrm>
            <a:off x="342900" y="855080"/>
            <a:ext cx="3955312" cy="2549381"/>
          </a:xfrm>
        </p:spPr>
        <p:txBody>
          <a:bodyPr/>
          <a:lstStyle/>
          <a:p>
            <a:pPr algn="just"/>
            <a:r>
              <a:rPr lang="en-US" dirty="0">
                <a:hlinkClick r:id="rId3"/>
              </a:rPr>
              <a:t>Generally Available: Azure API Management adds support for Agent-to-Agent (A2A) APIs</a:t>
            </a:r>
            <a:endParaRPr lang="en-US" dirty="0"/>
          </a:p>
          <a:p>
            <a:pPr algn="just"/>
            <a:r>
              <a:rPr lang="en-US" b="1" dirty="0"/>
              <a:t>Azure API Management</a:t>
            </a:r>
            <a:r>
              <a:rPr lang="en-US" dirty="0"/>
              <a:t> now supports </a:t>
            </a:r>
            <a:r>
              <a:rPr lang="en-US" b="1" dirty="0"/>
              <a:t>JSON-RPC–based Agent-to-Agent (A2A) APIs</a:t>
            </a:r>
            <a:r>
              <a:rPr lang="en-US" dirty="0"/>
              <a:t>, enabling organizations to govern AI agent communications using the same platform that manages REST, </a:t>
            </a:r>
            <a:r>
              <a:rPr lang="en-US" dirty="0" err="1"/>
              <a:t>GraphQL</a:t>
            </a:r>
            <a:r>
              <a:rPr lang="en-US" dirty="0"/>
              <a:t>, MCP, and AI model APIs. This allows platform teams to apply existing </a:t>
            </a:r>
            <a:r>
              <a:rPr lang="en-US" b="1" dirty="0"/>
              <a:t>security, authentication, mediation, rate limiting, and governance policies</a:t>
            </a:r>
            <a:r>
              <a:rPr lang="en-US" dirty="0"/>
              <a:t> to agent interactions without introducing separate gateways or tooling. The integration also provides </a:t>
            </a:r>
            <a:r>
              <a:rPr lang="en-US" b="1" dirty="0"/>
              <a:t>end-to-end observability and tracing</a:t>
            </a:r>
            <a:r>
              <a:rPr lang="en-US" dirty="0"/>
              <a:t> for agent communications, improving visibility into multi-agent workflows. By bringing A2A traffic under Azure API Management, organizations can manage </a:t>
            </a:r>
            <a:r>
              <a:rPr lang="en-US" b="1" dirty="0"/>
              <a:t>agent ecosystems alongside traditional APIs</a:t>
            </a:r>
            <a:r>
              <a:rPr lang="en-US" dirty="0"/>
              <a:t> through a unified operational model. This helps enterprises scale </a:t>
            </a:r>
            <a:r>
              <a:rPr lang="en-US" b="1" dirty="0"/>
              <a:t>agentic AI architectures</a:t>
            </a:r>
            <a:r>
              <a:rPr lang="en-US" dirty="0"/>
              <a:t> while maintaining consistent security, compliance, and operational controls.</a:t>
            </a:r>
          </a:p>
        </p:txBody>
      </p:sp>
    </p:spTree>
    <p:extLst>
      <p:ext uri="{BB962C8B-B14F-4D97-AF65-F5344CB8AC3E}">
        <p14:creationId xmlns:p14="http://schemas.microsoft.com/office/powerpoint/2010/main" val="58293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027F4-E37F-9EF5-D9EA-7AA6B2B87EEE}"/>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7B3499D8-7C6B-2114-C57A-CC1635D22640}"/>
              </a:ext>
            </a:extLst>
          </p:cNvPr>
          <p:cNvSpPr>
            <a:spLocks noGrp="1"/>
          </p:cNvSpPr>
          <p:nvPr>
            <p:ph type="body" sz="quarter" idx="10"/>
          </p:nvPr>
        </p:nvSpPr>
        <p:spPr/>
        <p:txBody>
          <a:bodyPr/>
          <a:lstStyle/>
          <a:p>
            <a:pPr algn="just"/>
            <a:r>
              <a:rPr lang="en-US" sz="1000" dirty="0">
                <a:hlinkClick r:id="rId2"/>
              </a:rPr>
              <a:t>Generally Available: Azure API Management workspaces now support the built-in gateway</a:t>
            </a:r>
            <a:endParaRPr lang="en-US" sz="1000" dirty="0"/>
          </a:p>
          <a:p>
            <a:pPr algn="just"/>
            <a:r>
              <a:rPr lang="en-US" sz="1000" b="1" dirty="0"/>
              <a:t>Azure API Management</a:t>
            </a:r>
            <a:r>
              <a:rPr lang="en-US" sz="1000" dirty="0"/>
              <a:t> now allows </a:t>
            </a:r>
            <a:r>
              <a:rPr lang="en-US" sz="1000" b="1" dirty="0"/>
              <a:t>workspaces to be associated directly with the built-in gateway</a:t>
            </a:r>
            <a:r>
              <a:rPr lang="en-US" sz="1000" dirty="0"/>
              <a:t>, reducing the cost and complexity of adopting workspace-based API governance. Previously, workspaces required a dedicated workspace gateway and typically a </a:t>
            </a:r>
            <a:r>
              <a:rPr lang="en-US" sz="1000" b="1" dirty="0"/>
              <a:t>Premium-tier deployment</a:t>
            </a:r>
            <a:r>
              <a:rPr lang="en-US" sz="1000" dirty="0"/>
              <a:t>. With this enhancement, organizations can use </a:t>
            </a:r>
            <a:r>
              <a:rPr lang="en-US" sz="1000" b="1" dirty="0"/>
              <a:t>API Management workspaces across all tiers except Consumption</a:t>
            </a:r>
            <a:r>
              <a:rPr lang="en-US" sz="1000" dirty="0"/>
              <a:t>, and in any region where API Management is available. Workspaces also gain access to built-in gateway capabilities such as </a:t>
            </a:r>
            <a:r>
              <a:rPr lang="en-US" sz="1000" b="1" dirty="0"/>
              <a:t>multi-region deployments, custom hostnames, and Private Link connectivity</a:t>
            </a:r>
            <a:r>
              <a:rPr lang="en-US" sz="1000" dirty="0"/>
              <a:t>, which are not available with workspace gateways. This makes it easier for enterprises to implement </a:t>
            </a:r>
            <a:r>
              <a:rPr lang="en-US" sz="1000" b="1" dirty="0"/>
              <a:t>team-based API ownership, delegated administration, and scalable governance models</a:t>
            </a:r>
            <a:r>
              <a:rPr lang="en-US" sz="1000" dirty="0"/>
              <a:t> while minimizing infrastructure overhead. The feature is currently rolling out to </a:t>
            </a:r>
            <a:r>
              <a:rPr lang="en-US" sz="1000" b="1" dirty="0"/>
              <a:t>v2 API Management tiers</a:t>
            </a:r>
            <a:r>
              <a:rPr lang="en-US" sz="1000" dirty="0"/>
              <a:t>, with support for classic tiers expected to follow.</a:t>
            </a:r>
          </a:p>
        </p:txBody>
      </p:sp>
      <p:sp>
        <p:nvSpPr>
          <p:cNvPr id="11" name="Title 10">
            <a:extLst>
              <a:ext uri="{FF2B5EF4-FFF2-40B4-BE49-F238E27FC236}">
                <a16:creationId xmlns:a16="http://schemas.microsoft.com/office/drawing/2014/main" id="{9A87B58C-445F-0F9C-16BF-B45E2CAC6389}"/>
              </a:ext>
            </a:extLst>
          </p:cNvPr>
          <p:cNvSpPr>
            <a:spLocks noGrp="1"/>
          </p:cNvSpPr>
          <p:nvPr>
            <p:ph type="title"/>
          </p:nvPr>
        </p:nvSpPr>
        <p:spPr/>
        <p:txBody>
          <a:bodyPr/>
          <a:lstStyle/>
          <a:p>
            <a:r>
              <a:rPr lang="en-US" sz="1800" dirty="0"/>
              <a:t>Integration Updates</a:t>
            </a:r>
            <a:endParaRPr lang="en-US" dirty="0"/>
          </a:p>
        </p:txBody>
      </p:sp>
      <p:sp>
        <p:nvSpPr>
          <p:cNvPr id="13" name="Text Placeholder 12">
            <a:extLst>
              <a:ext uri="{FF2B5EF4-FFF2-40B4-BE49-F238E27FC236}">
                <a16:creationId xmlns:a16="http://schemas.microsoft.com/office/drawing/2014/main" id="{CD428E81-1DDF-1C0F-CE1C-114C2430C20D}"/>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256488B-5839-91E1-8F71-2D334A0D3442}"/>
              </a:ext>
            </a:extLst>
          </p:cNvPr>
          <p:cNvSpPr>
            <a:spLocks noGrp="1"/>
          </p:cNvSpPr>
          <p:nvPr>
            <p:ph type="body" sz="quarter" idx="16"/>
          </p:nvPr>
        </p:nvSpPr>
        <p:spPr/>
        <p:txBody>
          <a:bodyPr/>
          <a:lstStyle/>
          <a:p>
            <a:pPr algn="just"/>
            <a:r>
              <a:rPr lang="en-US" dirty="0">
                <a:hlinkClick r:id="rId3"/>
              </a:rPr>
              <a:t>Generally Available: Azure API Management now supports content safety controls for MCP and A2A APIs.</a:t>
            </a:r>
            <a:endParaRPr lang="en-US" dirty="0"/>
          </a:p>
          <a:p>
            <a:pPr algn="just"/>
            <a:r>
              <a:rPr lang="en-US" b="1" dirty="0"/>
              <a:t>Azure API Management</a:t>
            </a:r>
            <a:r>
              <a:rPr lang="en-US" dirty="0"/>
              <a:t> now extends </a:t>
            </a:r>
            <a:r>
              <a:rPr lang="en-US" b="1" dirty="0"/>
              <a:t>Content Safety controls</a:t>
            </a:r>
            <a:r>
              <a:rPr lang="en-US" dirty="0"/>
              <a:t> to </a:t>
            </a:r>
            <a:r>
              <a:rPr lang="en-US" b="1" dirty="0"/>
              <a:t>MCP (Model Context Protocol) tools</a:t>
            </a:r>
            <a:r>
              <a:rPr lang="en-US" dirty="0"/>
              <a:t> and </a:t>
            </a:r>
            <a:r>
              <a:rPr lang="en-US" b="1" dirty="0"/>
              <a:t>Agent-to-Agent (A2A) APIs</a:t>
            </a:r>
            <a:r>
              <a:rPr lang="en-US" dirty="0"/>
              <a:t>, enabling centralized governance for agentic AI ecosystems. Organizations can apply consistent </a:t>
            </a:r>
            <a:r>
              <a:rPr lang="en-US" b="1" dirty="0"/>
              <a:t>content filtering, safety policies, and compliance controls</a:t>
            </a:r>
            <a:r>
              <a:rPr lang="en-US" dirty="0"/>
              <a:t> across AI models, MCP-integrated tools, and multi-agent interactions from a single management layer. This reduces the risk of </a:t>
            </a:r>
            <a:r>
              <a:rPr lang="en-US" b="1" dirty="0"/>
              <a:t>unsafe, harmful, or non-compliant outputs</a:t>
            </a:r>
            <a:r>
              <a:rPr lang="en-US" dirty="0"/>
              <a:t> while eliminating the need for fragmented, custom policy implementations. By moving content safety enforcement into the API management layer, enterprises gain stronger </a:t>
            </a:r>
            <a:r>
              <a:rPr lang="en-US" b="1" dirty="0"/>
              <a:t>governance, auditability, and operational consistency</a:t>
            </a:r>
            <a:r>
              <a:rPr lang="en-US" dirty="0"/>
              <a:t> across AI agents and agent-driven workflows. The capability helps organizations scale agentic systems while maintaining enterprise-grade security and compliance standards.</a:t>
            </a:r>
          </a:p>
        </p:txBody>
      </p:sp>
    </p:spTree>
    <p:extLst>
      <p:ext uri="{BB962C8B-B14F-4D97-AF65-F5344CB8AC3E}">
        <p14:creationId xmlns:p14="http://schemas.microsoft.com/office/powerpoint/2010/main" val="806284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214EA-559C-C955-E503-5C746BE36C70}"/>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DF8F79A6-6F3E-8072-B701-2E7F250355E9}"/>
              </a:ext>
            </a:extLst>
          </p:cNvPr>
          <p:cNvSpPr>
            <a:spLocks noGrp="1"/>
          </p:cNvSpPr>
          <p:nvPr>
            <p:ph type="title"/>
          </p:nvPr>
        </p:nvSpPr>
        <p:spPr/>
        <p:txBody>
          <a:bodyPr/>
          <a:lstStyle/>
          <a:p>
            <a:r>
              <a:rPr lang="en-US" sz="1800" dirty="0"/>
              <a:t>Integration Updates</a:t>
            </a:r>
            <a:endParaRPr lang="en-US" dirty="0"/>
          </a:p>
        </p:txBody>
      </p:sp>
      <p:sp>
        <p:nvSpPr>
          <p:cNvPr id="13" name="Text Placeholder 12">
            <a:extLst>
              <a:ext uri="{FF2B5EF4-FFF2-40B4-BE49-F238E27FC236}">
                <a16:creationId xmlns:a16="http://schemas.microsoft.com/office/drawing/2014/main" id="{613C911E-2129-83F0-7798-EF5F805DF661}"/>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98429CD6-6C8E-8864-3288-60F201294D57}"/>
              </a:ext>
            </a:extLst>
          </p:cNvPr>
          <p:cNvSpPr>
            <a:spLocks noGrp="1"/>
          </p:cNvSpPr>
          <p:nvPr>
            <p:ph type="body" sz="quarter" idx="16"/>
          </p:nvPr>
        </p:nvSpPr>
        <p:spPr>
          <a:xfrm>
            <a:off x="296405" y="725927"/>
            <a:ext cx="3955312" cy="3774069"/>
          </a:xfrm>
        </p:spPr>
        <p:txBody>
          <a:bodyPr/>
          <a:lstStyle/>
          <a:p>
            <a:pPr algn="just"/>
            <a:r>
              <a:rPr lang="en-US" dirty="0">
                <a:hlinkClick r:id="rId2"/>
              </a:rPr>
              <a:t>Generally Available: Azure API Center now provides a data plane MCP server for enterprise-wide discovery of APIs and AI assets.</a:t>
            </a:r>
            <a:endParaRPr lang="en-US" dirty="0"/>
          </a:p>
          <a:p>
            <a:pPr algn="just"/>
            <a:r>
              <a:rPr lang="en-US" b="1" dirty="0"/>
              <a:t>Azure API Center</a:t>
            </a:r>
            <a:r>
              <a:rPr lang="en-US" dirty="0"/>
              <a:t> now introduces a </a:t>
            </a:r>
            <a:r>
              <a:rPr lang="en-US" b="1" dirty="0"/>
              <a:t>data plane MCP (Model Context Protocol) server</a:t>
            </a:r>
            <a:r>
              <a:rPr lang="en-US" dirty="0"/>
              <a:t>, providing a </a:t>
            </a:r>
            <a:r>
              <a:rPr lang="en-US" b="1" dirty="0"/>
              <a:t>single enterprise discovery endpoint</a:t>
            </a:r>
            <a:r>
              <a:rPr lang="en-US" dirty="0"/>
              <a:t> for APIs, AI assets, MCP servers, and tools. Instead of configuring connections to individual MCP servers, developers and AI agents can connect to one centralized endpoint to discover and access the organization's entire catalog of registered resources.</a:t>
            </a:r>
          </a:p>
          <a:p>
            <a:pPr algn="just"/>
            <a:r>
              <a:rPr lang="en-US" dirty="0"/>
              <a:t>Key benefits include:</a:t>
            </a:r>
          </a:p>
          <a:p>
            <a:pPr marL="171450" indent="-171450" algn="just">
              <a:buFont typeface="Arial" panose="020B0604020202020204" pitchFamily="34" charset="0"/>
              <a:buChar char="•"/>
            </a:pPr>
            <a:r>
              <a:rPr lang="en-US" b="1" dirty="0"/>
              <a:t>Centralized discovery</a:t>
            </a:r>
            <a:r>
              <a:rPr lang="en-US" dirty="0"/>
              <a:t> of enterprise APIs, AI models, tools, and MCP servers. </a:t>
            </a:r>
          </a:p>
          <a:p>
            <a:pPr marL="171450" indent="-171450" algn="just">
              <a:buFont typeface="Arial" panose="020B0604020202020204" pitchFamily="34" charset="0"/>
              <a:buChar char="•"/>
            </a:pPr>
            <a:r>
              <a:rPr lang="en-US" b="1" dirty="0"/>
              <a:t>Automatic exposure of newly registered assets</a:t>
            </a:r>
            <a:r>
              <a:rPr lang="en-US" dirty="0"/>
              <a:t>, eliminating manual reconfiguration. </a:t>
            </a:r>
          </a:p>
          <a:p>
            <a:pPr marL="171450" indent="-171450" algn="just">
              <a:buFont typeface="Arial" panose="020B0604020202020204" pitchFamily="34" charset="0"/>
              <a:buChar char="•"/>
            </a:pPr>
            <a:r>
              <a:rPr lang="en-US" b="1" dirty="0"/>
              <a:t>Simplified agent integration</a:t>
            </a:r>
            <a:r>
              <a:rPr lang="en-US" dirty="0"/>
              <a:t>, allowing AI agents to dynamically discover and consume available enterprise capabilities. </a:t>
            </a:r>
          </a:p>
          <a:p>
            <a:pPr marL="171450" indent="-171450" algn="just">
              <a:buFont typeface="Arial" panose="020B0604020202020204" pitchFamily="34" charset="0"/>
              <a:buChar char="•"/>
            </a:pPr>
            <a:r>
              <a:rPr lang="en-US" b="1" dirty="0"/>
              <a:t>Reduced operational complexity</a:t>
            </a:r>
            <a:r>
              <a:rPr lang="en-US" dirty="0"/>
              <a:t> by replacing multiple MCP server connections with a single entry point. </a:t>
            </a:r>
          </a:p>
          <a:p>
            <a:pPr marL="171450" indent="-171450" algn="just">
              <a:buFont typeface="Arial" panose="020B0604020202020204" pitchFamily="34" charset="0"/>
              <a:buChar char="•"/>
            </a:pPr>
            <a:r>
              <a:rPr lang="en-US" b="1" dirty="0"/>
              <a:t>Improved governance and visibility</a:t>
            </a:r>
            <a:r>
              <a:rPr lang="en-US" dirty="0"/>
              <a:t> across enterprise AI ecosystems. </a:t>
            </a:r>
          </a:p>
          <a:p>
            <a:pPr algn="just"/>
            <a:r>
              <a:rPr lang="en-US" dirty="0"/>
              <a:t>This capability helps organizations scale </a:t>
            </a:r>
            <a:r>
              <a:rPr lang="en-US" b="1" dirty="0"/>
              <a:t>agentic AI architectures</a:t>
            </a:r>
            <a:r>
              <a:rPr lang="en-US" dirty="0"/>
              <a:t> by making enterprise resources easier to discover, consume, and govern, while improving developer productivity and reducing integration overhead.</a:t>
            </a:r>
          </a:p>
          <a:p>
            <a:pPr algn="just"/>
            <a:endParaRPr lang="en-US" dirty="0"/>
          </a:p>
        </p:txBody>
      </p:sp>
      <p:sp>
        <p:nvSpPr>
          <p:cNvPr id="3" name="Text Placeholder 2">
            <a:extLst>
              <a:ext uri="{FF2B5EF4-FFF2-40B4-BE49-F238E27FC236}">
                <a16:creationId xmlns:a16="http://schemas.microsoft.com/office/drawing/2014/main" id="{31FF23E3-7418-66CD-1730-64E0EA068766}"/>
              </a:ext>
            </a:extLst>
          </p:cNvPr>
          <p:cNvSpPr>
            <a:spLocks noGrp="1"/>
          </p:cNvSpPr>
          <p:nvPr>
            <p:ph type="body" sz="quarter" idx="10"/>
          </p:nvPr>
        </p:nvSpPr>
        <p:spPr/>
        <p:txBody>
          <a:bodyPr/>
          <a:lstStyle/>
          <a:p>
            <a:pPr algn="just"/>
            <a:r>
              <a:rPr lang="en-US" sz="1000" dirty="0">
                <a:hlinkClick r:id="rId3"/>
              </a:rPr>
              <a:t>Generally Available: Azure Event Grid - MQTT v5 Subscription Identifier</a:t>
            </a:r>
            <a:endParaRPr lang="en-US" sz="1000" dirty="0"/>
          </a:p>
          <a:p>
            <a:pPr algn="just"/>
            <a:r>
              <a:rPr lang="en-US" sz="1000" dirty="0"/>
              <a:t>Azure Event Grid Standard Namespace now supports MQTT v5 subscription identifier capabilities in GA. </a:t>
            </a:r>
          </a:p>
          <a:p>
            <a:pPr algn="just"/>
            <a:r>
              <a:rPr lang="en-US" sz="1000" dirty="0"/>
              <a:t>Now each MQTT subscription can include an identifier that is delivered with incoming messages, enabling applications to route events immediately based on subscription context rather than parsing topic strings. This results in cleaner application logic and faster message handling for scenarios such as dashboards, alerts, and analytics pipelines. </a:t>
            </a:r>
          </a:p>
        </p:txBody>
      </p:sp>
    </p:spTree>
    <p:extLst>
      <p:ext uri="{BB962C8B-B14F-4D97-AF65-F5344CB8AC3E}">
        <p14:creationId xmlns:p14="http://schemas.microsoft.com/office/powerpoint/2010/main" val="3871121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 end="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ML &amp; AI &amp; IOT</a:t>
            </a:r>
          </a:p>
        </p:txBody>
      </p:sp>
    </p:spTree>
    <p:extLst>
      <p:ext uri="{BB962C8B-B14F-4D97-AF65-F5344CB8AC3E}">
        <p14:creationId xmlns:p14="http://schemas.microsoft.com/office/powerpoint/2010/main" val="351487831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Public Preview: Image serving in Foundry IQ knowledge bases</a:t>
            </a:r>
            <a:endParaRPr lang="en-US" sz="1000" dirty="0"/>
          </a:p>
          <a:p>
            <a:pPr algn="just"/>
            <a:r>
              <a:rPr lang="en-US" sz="1000" dirty="0"/>
              <a:t>Foundry IQ knowledge bases now surface document-extracted images at query time in public preview. When ingestion pulls figures, screenshots, and diagrams out of PDFs, slides, and Office files, Foundry IQ retains each image alongside the text it appeared with and can return it as part of a retrieval result. Agents can show the original chart to the user instead of describing it secondhand, so answers about technical diagrams, product photos, and report figures stay anchored to the source artwork. Customers building support assistants, internal research tools, and knowledge portals can render visual context inline without building a separate image pipeline. The capability is available across all Foundry IQ-supported document types. </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a:t>
            </a:r>
            <a:r>
              <a:rPr lang="en-US" dirty="0" err="1">
                <a:hlinkClick r:id="rId3"/>
              </a:rPr>
              <a:t>OneLake</a:t>
            </a:r>
            <a:r>
              <a:rPr lang="en-US" dirty="0">
                <a:hlinkClick r:id="rId3"/>
              </a:rPr>
              <a:t> Catalog integration for Foundry IQ Knowledge Sources</a:t>
            </a:r>
            <a:endParaRPr lang="en-US" dirty="0"/>
          </a:p>
          <a:p>
            <a:pPr algn="just"/>
            <a:r>
              <a:rPr lang="en-US" dirty="0"/>
              <a:t>Microsoft Foundry IQ adds public preview support for </a:t>
            </a:r>
            <a:r>
              <a:rPr lang="en-US" dirty="0" err="1"/>
              <a:t>OneLake</a:t>
            </a:r>
            <a:r>
              <a:rPr lang="en-US" dirty="0"/>
              <a:t> Catalog as a knowledge source, so agents can ground responses on </a:t>
            </a:r>
            <a:r>
              <a:rPr lang="en-US" dirty="0" err="1"/>
              <a:t>lakehouse</a:t>
            </a:r>
            <a:r>
              <a:rPr lang="en-US" dirty="0"/>
              <a:t> tables, files, and shortcuts already governed in Microsoft Fabric.</a:t>
            </a:r>
          </a:p>
          <a:p>
            <a:pPr algn="just"/>
            <a:r>
              <a:rPr lang="en-US" dirty="0"/>
              <a:t>Data engineers register the </a:t>
            </a:r>
            <a:r>
              <a:rPr lang="en-US" dirty="0" err="1"/>
              <a:t>OneLake</a:t>
            </a:r>
            <a:r>
              <a:rPr lang="en-US" dirty="0"/>
              <a:t> catalog once and Foundry IQ ingests the cataloged items, respecting Fabric permissions and sensitivity labels at query time. Analysts get agent answers that cite the same curated datasets used in dashboards and reports, instead of duplicate copies sitting in a separate vector store. The integration removes a common gap between BI data and AI applications, letting customers reuse their Fabric investment for agent grounding.</a:t>
            </a:r>
          </a:p>
        </p:txBody>
      </p:sp>
    </p:spTree>
    <p:extLst>
      <p:ext uri="{BB962C8B-B14F-4D97-AF65-F5344CB8AC3E}">
        <p14:creationId xmlns:p14="http://schemas.microsoft.com/office/powerpoint/2010/main" val="3732754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2ADB6-113C-7F12-FA61-67D8C365299F}"/>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2028B91B-AE7C-2437-0508-F4249B752765}"/>
              </a:ext>
            </a:extLst>
          </p:cNvPr>
          <p:cNvSpPr>
            <a:spLocks noGrp="1"/>
          </p:cNvSpPr>
          <p:nvPr>
            <p:ph type="body" sz="quarter" idx="10"/>
          </p:nvPr>
        </p:nvSpPr>
        <p:spPr/>
        <p:txBody>
          <a:bodyPr/>
          <a:lstStyle/>
          <a:p>
            <a:pPr algn="just"/>
            <a:r>
              <a:rPr lang="en-US" sz="1000" dirty="0">
                <a:hlinkClick r:id="rId2"/>
              </a:rPr>
              <a:t>Public Preview: MCP Server Knowledge Source in Microsoft Foundry IQ</a:t>
            </a:r>
            <a:endParaRPr lang="en-US" sz="1000" dirty="0"/>
          </a:p>
          <a:p>
            <a:pPr algn="just"/>
            <a:r>
              <a:rPr lang="en-US" sz="1000" dirty="0"/>
              <a:t>Microsoft Foundry IQ now supports </a:t>
            </a:r>
            <a:r>
              <a:rPr lang="en-US" sz="1000" b="1" dirty="0"/>
              <a:t>external MCP (Model Context Protocol) servers as federated knowledge sources (public preview)</a:t>
            </a:r>
            <a:r>
              <a:rPr lang="en-US" sz="1000" dirty="0"/>
              <a:t>. This enables AI agents to retrieve information directly from systems such as </a:t>
            </a:r>
            <a:r>
              <a:rPr lang="en-US" sz="1000" b="1" dirty="0"/>
              <a:t>Salesforce, ServiceNow, Atlassian, and Confluence</a:t>
            </a:r>
            <a:r>
              <a:rPr lang="en-US" sz="1000" dirty="0"/>
              <a:t> without requiring data to be copied into a separate index. Foundry IQ automatically selects the most relevant sources for each query and combines results into a </a:t>
            </a:r>
            <a:r>
              <a:rPr lang="en-US" sz="1000" b="1" dirty="0"/>
              <a:t>single response with citations</a:t>
            </a:r>
            <a:r>
              <a:rPr lang="en-US" sz="1000" dirty="0"/>
              <a:t>. The MCP-based approach allows organizations and partners to integrate </a:t>
            </a:r>
            <a:r>
              <a:rPr lang="en-US" sz="1000" b="1" dirty="0"/>
              <a:t>any compliant data source without building custom connectors</a:t>
            </a:r>
            <a:r>
              <a:rPr lang="en-US" sz="1000" dirty="0"/>
              <a:t>. Access control remains enforced by the source systems, ensuring agents only retrieve data the requesting user is authorized to view. This capability simplifies the creation of </a:t>
            </a:r>
            <a:r>
              <a:rPr lang="en-US" sz="1000" b="1" dirty="0"/>
              <a:t>enterprise AI agents that can securely access and reason across multiple systems of record</a:t>
            </a:r>
            <a:r>
              <a:rPr lang="en-US" sz="1000" dirty="0"/>
              <a:t>.</a:t>
            </a:r>
          </a:p>
        </p:txBody>
      </p:sp>
      <p:sp>
        <p:nvSpPr>
          <p:cNvPr id="11" name="Title 10">
            <a:extLst>
              <a:ext uri="{FF2B5EF4-FFF2-40B4-BE49-F238E27FC236}">
                <a16:creationId xmlns:a16="http://schemas.microsoft.com/office/drawing/2014/main" id="{EE84B67F-7026-D091-4F4B-F5819D59C9E7}"/>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55AD8010-EE62-F57B-5CA1-B8E7B6C0ECD1}"/>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B331A00-CF62-F468-BCCC-F6840B7358F5}"/>
              </a:ext>
            </a:extLst>
          </p:cNvPr>
          <p:cNvSpPr>
            <a:spLocks noGrp="1"/>
          </p:cNvSpPr>
          <p:nvPr>
            <p:ph type="body" sz="quarter" idx="16"/>
          </p:nvPr>
        </p:nvSpPr>
        <p:spPr/>
        <p:txBody>
          <a:bodyPr/>
          <a:lstStyle/>
          <a:p>
            <a:pPr algn="just"/>
            <a:r>
              <a:rPr lang="en-US" dirty="0">
                <a:hlinkClick r:id="rId3"/>
              </a:rPr>
              <a:t>Public Preview: Incremental SharePoint permissions sync for Azure AI Search and Foundry IQ</a:t>
            </a:r>
            <a:endParaRPr lang="en-US" dirty="0"/>
          </a:p>
          <a:p>
            <a:pPr algn="just"/>
            <a:r>
              <a:rPr lang="en-US" dirty="0"/>
              <a:t>Azure AI Search and </a:t>
            </a:r>
            <a:r>
              <a:rPr lang="en-US" b="1" dirty="0"/>
              <a:t>Foundry IQ Knowledge Sources</a:t>
            </a:r>
            <a:r>
              <a:rPr lang="en-US" dirty="0"/>
              <a:t> now support </a:t>
            </a:r>
            <a:r>
              <a:rPr lang="en-US" b="1" dirty="0"/>
              <a:t>incremental SharePoint permissions synchronization (public preview)</a:t>
            </a:r>
            <a:r>
              <a:rPr lang="en-US" dirty="0"/>
              <a:t>. This capability keeps </a:t>
            </a:r>
            <a:r>
              <a:rPr lang="en-US" b="1" dirty="0"/>
              <a:t>document-level, site, library, and list access control lists (ACLs)</a:t>
            </a:r>
            <a:r>
              <a:rPr lang="en-US" dirty="0"/>
              <a:t> aligned with SharePoint permission changes. Permission updates are applied during each indexer run, eliminating the need for </a:t>
            </a:r>
            <a:r>
              <a:rPr lang="en-US" b="1" dirty="0"/>
              <a:t>full re-indexing when access rights change</a:t>
            </a:r>
            <a:r>
              <a:rPr lang="en-US" dirty="0"/>
              <a:t>. This helps ensure that </a:t>
            </a:r>
            <a:r>
              <a:rPr lang="en-US" b="1" dirty="0"/>
              <a:t>AI Search, RAG applications, and enterprise agents</a:t>
            </a:r>
            <a:r>
              <a:rPr lang="en-US" dirty="0"/>
              <a:t> enforce the same security model as SharePoint. The feature improves governance, security, and compliance by reducing the risk of AI systems exposing content to unauthorized users.</a:t>
            </a:r>
          </a:p>
        </p:txBody>
      </p:sp>
    </p:spTree>
    <p:extLst>
      <p:ext uri="{BB962C8B-B14F-4D97-AF65-F5344CB8AC3E}">
        <p14:creationId xmlns:p14="http://schemas.microsoft.com/office/powerpoint/2010/main" val="586386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animEffect transition="in" filter="fade">
                                      <p:cBhvr>
                                        <p:cTn id="13" dur="500"/>
                                        <p:tgtEl>
                                          <p:spTgt spid="12">
                                            <p:txEl>
                                              <p:pRg st="0" end="0"/>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xEl>
                                              <p:pRg st="1" end="1"/>
                                            </p:txEl>
                                          </p:spTgt>
                                        </p:tgtEl>
                                        <p:attrNameLst>
                                          <p:attrName>style.visibility</p:attrName>
                                        </p:attrNameLst>
                                      </p:cBhvr>
                                      <p:to>
                                        <p:strVal val="visible"/>
                                      </p:to>
                                    </p:set>
                                    <p:animEffect transition="in" filter="fade">
                                      <p:cBhvr>
                                        <p:cTn id="16" dur="500"/>
                                        <p:tgtEl>
                                          <p:spTgt spid="1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FA9A4-6CEC-4710-DF58-BA5605D3C793}"/>
              </a:ext>
            </a:extLst>
          </p:cNvPr>
          <p:cNvSpPr>
            <a:spLocks noGrp="1"/>
          </p:cNvSpPr>
          <p:nvPr>
            <p:ph type="body" sz="quarter" idx="10"/>
          </p:nvPr>
        </p:nvSpPr>
        <p:spPr/>
        <p:txBody>
          <a:bodyPr/>
          <a:lstStyle/>
          <a:p>
            <a:pPr algn="just"/>
            <a:r>
              <a:rPr lang="en-US" sz="1000" dirty="0">
                <a:hlinkClick r:id="rId2"/>
              </a:rPr>
              <a:t>Public Preview: MAI-Transcribe-1.5 in Microsoft Foundry model catalog</a:t>
            </a:r>
            <a:endParaRPr lang="en-US" sz="1000" dirty="0"/>
          </a:p>
          <a:p>
            <a:pPr algn="just"/>
            <a:r>
              <a:rPr lang="en-US" sz="1000" dirty="0"/>
              <a:t>MAI-Transcribe-1.5 is now available in Microsoft Foundry (public preview) as Microsoft's next-generation speech-to-text model. The model delivers improved transcription accuracy, particularly for long-tail languages and regional dialects, while reducing word error rates compared to previous versions. It also provides faster real-time and batch transcription with more predictable latency. Key use cases include call center analytics, meeting transcription, voice agents, and media captioning. Available through Azure Speech and Microsoft Foundry, the model benefits from Foundry-native governance, regional deployment options, and content safety controls. This release helps organizations build more accurate and scalable speech-driven AI solutions.</a:t>
            </a:r>
          </a:p>
        </p:txBody>
      </p:sp>
      <p:sp>
        <p:nvSpPr>
          <p:cNvPr id="3" name="Title 2">
            <a:extLst>
              <a:ext uri="{FF2B5EF4-FFF2-40B4-BE49-F238E27FC236}">
                <a16:creationId xmlns:a16="http://schemas.microsoft.com/office/drawing/2014/main" id="{8EFE007B-0DBA-B3A1-BFF3-82AB2667AA6C}"/>
              </a:ext>
            </a:extLst>
          </p:cNvPr>
          <p:cNvSpPr>
            <a:spLocks noGrp="1"/>
          </p:cNvSpPr>
          <p:nvPr>
            <p:ph type="title"/>
          </p:nvPr>
        </p:nvSpPr>
        <p:spPr/>
        <p:txBody>
          <a:bodyPr/>
          <a:lstStyle/>
          <a:p>
            <a:r>
              <a:rPr lang="en-US" sz="1600" dirty="0"/>
              <a:t>ML &amp; AI &amp; IOT Updates</a:t>
            </a:r>
            <a:endParaRPr lang="en-US" dirty="0"/>
          </a:p>
        </p:txBody>
      </p:sp>
      <p:sp>
        <p:nvSpPr>
          <p:cNvPr id="4" name="Text Placeholder 3">
            <a:extLst>
              <a:ext uri="{FF2B5EF4-FFF2-40B4-BE49-F238E27FC236}">
                <a16:creationId xmlns:a16="http://schemas.microsoft.com/office/drawing/2014/main" id="{4FD8B6EF-84F8-CC60-0A4A-E14F51B5B3D5}"/>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448E65E2-18B1-CCC5-4DE4-C58FB3CAC83B}"/>
              </a:ext>
            </a:extLst>
          </p:cNvPr>
          <p:cNvSpPr>
            <a:spLocks noGrp="1"/>
          </p:cNvSpPr>
          <p:nvPr>
            <p:ph type="body" sz="quarter" idx="16"/>
          </p:nvPr>
        </p:nvSpPr>
        <p:spPr/>
        <p:txBody>
          <a:bodyPr/>
          <a:lstStyle/>
          <a:p>
            <a:pPr algn="just"/>
            <a:r>
              <a:rPr lang="en-US" dirty="0">
                <a:hlinkClick r:id="rId3"/>
              </a:rPr>
              <a:t>Public Preview: Toolbox connectors and triggers in Microsoft Foundry</a:t>
            </a:r>
            <a:endParaRPr lang="en-US" dirty="0"/>
          </a:p>
          <a:p>
            <a:pPr algn="just"/>
            <a:r>
              <a:rPr lang="en-US" b="1" dirty="0"/>
              <a:t>Microsoft Foundry Tools</a:t>
            </a:r>
            <a:r>
              <a:rPr lang="en-US" dirty="0"/>
              <a:t> now supports </a:t>
            </a:r>
            <a:r>
              <a:rPr lang="en-US" b="1" dirty="0"/>
              <a:t>connectors and time-based triggers (public preview)</a:t>
            </a:r>
            <a:r>
              <a:rPr lang="en-US" dirty="0"/>
              <a:t>, enabling the creation of </a:t>
            </a:r>
            <a:r>
              <a:rPr lang="en-US" b="1" dirty="0"/>
              <a:t>event-driven AI agents</a:t>
            </a:r>
            <a:r>
              <a:rPr lang="en-US" dirty="0"/>
              <a:t> without custom orchestration code. Agents can automatically respond to events from </a:t>
            </a:r>
            <a:r>
              <a:rPr lang="en-US" b="1" dirty="0"/>
              <a:t>Microsoft 365, Azure, and third-party systems</a:t>
            </a:r>
            <a:r>
              <a:rPr lang="en-US" dirty="0"/>
              <a:t>, or execute on scheduled intervals such as daily or hourly. The feature uses a </a:t>
            </a:r>
            <a:r>
              <a:rPr lang="en-US" b="1" dirty="0"/>
              <a:t>centrally managed toolbox endpoint</a:t>
            </a:r>
            <a:r>
              <a:rPr lang="en-US" dirty="0"/>
              <a:t> for connector discovery and authentication, simplifying integration management. Administrators retain governance by controlling which connectors and triggers are approved for use within the organization. This capability allows enterprises to build </a:t>
            </a:r>
            <a:r>
              <a:rPr lang="en-US" b="1" dirty="0"/>
              <a:t>automated, reactive AI workflows</a:t>
            </a:r>
            <a:r>
              <a:rPr lang="en-US" dirty="0"/>
              <a:t> that integrate directly with business processes and operational events.</a:t>
            </a:r>
          </a:p>
        </p:txBody>
      </p:sp>
    </p:spTree>
    <p:extLst>
      <p:ext uri="{BB962C8B-B14F-4D97-AF65-F5344CB8AC3E}">
        <p14:creationId xmlns:p14="http://schemas.microsoft.com/office/powerpoint/2010/main" val="3076729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1E86-1EBC-4F6B-6E64-6EB5FD91F4A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14285B5-6219-941D-B080-ACB23944E4D0}"/>
              </a:ext>
            </a:extLst>
          </p:cNvPr>
          <p:cNvSpPr>
            <a:spLocks noGrp="1"/>
          </p:cNvSpPr>
          <p:nvPr>
            <p:ph type="body" sz="quarter" idx="10"/>
          </p:nvPr>
        </p:nvSpPr>
        <p:spPr/>
        <p:txBody>
          <a:bodyPr/>
          <a:lstStyle/>
          <a:p>
            <a:pPr algn="just"/>
            <a:r>
              <a:rPr lang="en-US" sz="1000" dirty="0">
                <a:hlinkClick r:id="rId2"/>
              </a:rPr>
              <a:t>Public Preview: Trace Replay and trace visualizations for Foundry agents</a:t>
            </a:r>
            <a:endParaRPr lang="en-US" sz="1000" dirty="0"/>
          </a:p>
          <a:p>
            <a:pPr algn="just"/>
            <a:r>
              <a:rPr lang="en-US" sz="1000" b="1" dirty="0"/>
              <a:t>Microsoft Foundry Observability</a:t>
            </a:r>
            <a:r>
              <a:rPr lang="en-US" sz="1000" dirty="0"/>
              <a:t> now includes </a:t>
            </a:r>
            <a:r>
              <a:rPr lang="en-US" sz="1000" b="1" dirty="0"/>
              <a:t>Trace Replay and enhanced trace visualizations (public preview)</a:t>
            </a:r>
            <a:r>
              <a:rPr lang="en-US" sz="1000" dirty="0"/>
              <a:t> to simplify debugging of AI agents and multi-step workflows. Trace Replay allows developers to step through an execution trace, showing </a:t>
            </a:r>
            <a:r>
              <a:rPr lang="en-US" sz="1000" b="1" dirty="0"/>
              <a:t>model calls, tool invocations, agent interactions, inputs, outputs, latency, and token consumption</a:t>
            </a:r>
            <a:r>
              <a:rPr lang="en-US" sz="1000" dirty="0"/>
              <a:t> in sequence. New visualizations group nested traces by </a:t>
            </a:r>
            <a:r>
              <a:rPr lang="en-US" sz="1000" b="1" dirty="0"/>
              <a:t>agent and tool</a:t>
            </a:r>
            <a:r>
              <a:rPr lang="en-US" sz="1000" dirty="0"/>
              <a:t>, making it easier to identify failures, bottlenecks, and performance issues. Observability data is integrated with </a:t>
            </a:r>
            <a:r>
              <a:rPr lang="en-US" sz="1000" b="1" dirty="0"/>
              <a:t>Azure Monitor Application Insights</a:t>
            </a:r>
            <a:r>
              <a:rPr lang="en-US" sz="1000" dirty="0"/>
              <a:t>, providing a unified monitoring platform for AI workloads and other Azure services. This capability helps accelerate troubleshooting and improve the reliability of complex agent-based applications.</a:t>
            </a:r>
          </a:p>
        </p:txBody>
      </p:sp>
      <p:sp>
        <p:nvSpPr>
          <p:cNvPr id="11" name="Title 10">
            <a:extLst>
              <a:ext uri="{FF2B5EF4-FFF2-40B4-BE49-F238E27FC236}">
                <a16:creationId xmlns:a16="http://schemas.microsoft.com/office/drawing/2014/main" id="{F0107EA6-8DB4-F344-F529-449034C075F0}"/>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DA4EB956-5F49-48E0-B1D6-AE1A636CECB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383DE5A4-66B0-B9DC-0E46-93B58BC9C3FE}"/>
              </a:ext>
            </a:extLst>
          </p:cNvPr>
          <p:cNvSpPr>
            <a:spLocks noGrp="1"/>
          </p:cNvSpPr>
          <p:nvPr>
            <p:ph type="body" sz="quarter" idx="16"/>
          </p:nvPr>
        </p:nvSpPr>
        <p:spPr/>
        <p:txBody>
          <a:bodyPr/>
          <a:lstStyle/>
          <a:p>
            <a:pPr algn="just"/>
            <a:r>
              <a:rPr lang="en-US" dirty="0">
                <a:hlinkClick r:id="rId3"/>
              </a:rPr>
              <a:t>Public Preview: Purview admin access auditing for sensitivity-labeled content in Azure AI Search</a:t>
            </a:r>
            <a:endParaRPr lang="en-US" dirty="0"/>
          </a:p>
          <a:p>
            <a:pPr algn="just"/>
            <a:r>
              <a:rPr lang="en-US" dirty="0"/>
              <a:t>Azure AI Search now supports </a:t>
            </a:r>
            <a:r>
              <a:rPr lang="en-US" b="1" dirty="0"/>
              <a:t>Microsoft Purview admin access auditing for sensitivity-labeled content (public preview)</a:t>
            </a:r>
            <a:r>
              <a:rPr lang="en-US" dirty="0"/>
              <a:t>. Administrative actions involving </a:t>
            </a:r>
            <a:r>
              <a:rPr lang="en-US" b="1" dirty="0"/>
              <a:t>Purview-labeled documents</a:t>
            </a:r>
            <a:r>
              <a:rPr lang="en-US" dirty="0"/>
              <a:t> in Azure AI Search, knowledge retrieval, and Foundry IQ knowledge bases are now recorded in </a:t>
            </a:r>
            <a:r>
              <a:rPr lang="en-US" b="1" dirty="0"/>
              <a:t>Microsoft Purview’s unified audit log</a:t>
            </a:r>
            <a:r>
              <a:rPr lang="en-US" dirty="0"/>
              <a:t>. This provides security and compliance teams with </a:t>
            </a:r>
            <a:r>
              <a:rPr lang="en-US" b="1" dirty="0"/>
              <a:t>end-to-end visibility</a:t>
            </a:r>
            <a:r>
              <a:rPr lang="en-US" dirty="0"/>
              <a:t> across AI search and retrieval environments, alongside existing Microsoft 365 auditing. The capability covers </a:t>
            </a:r>
            <a:r>
              <a:rPr lang="en-US" b="1" dirty="0"/>
              <a:t>index management, data source configuration, and access changes</a:t>
            </a:r>
            <a:r>
              <a:rPr lang="en-US" dirty="0"/>
              <a:t> related to labeled content. It integrates with existing </a:t>
            </a:r>
            <a:r>
              <a:rPr lang="en-US" b="1" dirty="0"/>
              <a:t>Purview retention, governance, and access control policies</a:t>
            </a:r>
            <a:r>
              <a:rPr lang="en-US" dirty="0"/>
              <a:t> and is enabled without requiring application changes.</a:t>
            </a:r>
          </a:p>
        </p:txBody>
      </p:sp>
    </p:spTree>
    <p:extLst>
      <p:ext uri="{BB962C8B-B14F-4D97-AF65-F5344CB8AC3E}">
        <p14:creationId xmlns:p14="http://schemas.microsoft.com/office/powerpoint/2010/main" val="3849961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98FE391-556D-0476-9DAE-BECCF7E70787}"/>
              </a:ext>
            </a:extLst>
          </p:cNvPr>
          <p:cNvSpPr>
            <a:spLocks noGrp="1"/>
          </p:cNvSpPr>
          <p:nvPr>
            <p:ph type="body" sz="quarter" idx="10"/>
          </p:nvPr>
        </p:nvSpPr>
        <p:spPr/>
        <p:txBody>
          <a:bodyPr/>
          <a:lstStyle/>
          <a:p>
            <a:pPr algn="just"/>
            <a:r>
              <a:rPr lang="en-US" sz="1000" dirty="0">
                <a:hlinkClick r:id="rId2"/>
              </a:rPr>
              <a:t>Public Preview: Foundry Memory preview refresh</a:t>
            </a:r>
            <a:endParaRPr lang="en-US" sz="1000" dirty="0"/>
          </a:p>
          <a:p>
            <a:pPr algn="just"/>
            <a:r>
              <a:rPr lang="en-US" sz="1000" b="1" dirty="0"/>
              <a:t>Foundry Memory</a:t>
            </a:r>
            <a:r>
              <a:rPr lang="en-US" sz="1000" dirty="0"/>
              <a:t> has been enhanced in public preview with a redesigned storage architecture, improved retrieval controls, and deeper integration with </a:t>
            </a:r>
            <a:r>
              <a:rPr lang="en-US" sz="1000" b="1" dirty="0"/>
              <a:t>Microsoft Foundry Agent Service</a:t>
            </a:r>
            <a:r>
              <a:rPr lang="en-US" sz="1000" dirty="0"/>
              <a:t>. Agents can now </a:t>
            </a:r>
            <a:r>
              <a:rPr lang="en-US" sz="1000" b="1" dirty="0"/>
              <a:t>write, search, and update user-scoped and session-scoped memories</a:t>
            </a:r>
            <a:r>
              <a:rPr lang="en-US" sz="1000" dirty="0"/>
              <a:t> through a unified tool interface. New capabilities such as </a:t>
            </a:r>
            <a:r>
              <a:rPr lang="en-US" sz="1000" b="1" dirty="0"/>
              <a:t>semantic deduplication and time-to-live (TTL) policies</a:t>
            </a:r>
            <a:r>
              <a:rPr lang="en-US" sz="1000" dirty="0"/>
              <a:t> help keep memory stores relevant and prevent information drift over time. The update also introduces </a:t>
            </a:r>
            <a:r>
              <a:rPr lang="en-US" sz="1000" b="1" dirty="0"/>
              <a:t>content safety filtering, expanded regional availability, and enhanced observability</a:t>
            </a:r>
            <a:r>
              <a:rPr lang="en-US" sz="1000" dirty="0"/>
              <a:t>, with memory operations visible directly in Foundry tracing. This release is designed for AI agents that require </a:t>
            </a:r>
            <a:r>
              <a:rPr lang="en-US" sz="1000" b="1" dirty="0"/>
              <a:t>persistent user context across multiple conversations and sessions</a:t>
            </a:r>
            <a:r>
              <a:rPr lang="en-US" sz="1000" dirty="0"/>
              <a:t>, improving personalization and continuity in long-running interactions.</a:t>
            </a:r>
          </a:p>
        </p:txBody>
      </p:sp>
      <p:sp>
        <p:nvSpPr>
          <p:cNvPr id="3" name="Title 2">
            <a:extLst>
              <a:ext uri="{FF2B5EF4-FFF2-40B4-BE49-F238E27FC236}">
                <a16:creationId xmlns:a16="http://schemas.microsoft.com/office/drawing/2014/main" id="{E24EB8C4-4F5E-9476-9E60-2DA0F0C668FD}"/>
              </a:ext>
            </a:extLst>
          </p:cNvPr>
          <p:cNvSpPr>
            <a:spLocks noGrp="1"/>
          </p:cNvSpPr>
          <p:nvPr>
            <p:ph type="title"/>
          </p:nvPr>
        </p:nvSpPr>
        <p:spPr/>
        <p:txBody>
          <a:bodyPr/>
          <a:lstStyle/>
          <a:p>
            <a:r>
              <a:rPr lang="en-US" sz="1600" dirty="0"/>
              <a:t>ML &amp; AI &amp; IOT Updates</a:t>
            </a:r>
            <a:endParaRPr lang="en-US" dirty="0"/>
          </a:p>
        </p:txBody>
      </p:sp>
      <p:sp>
        <p:nvSpPr>
          <p:cNvPr id="4" name="Text Placeholder 3">
            <a:extLst>
              <a:ext uri="{FF2B5EF4-FFF2-40B4-BE49-F238E27FC236}">
                <a16:creationId xmlns:a16="http://schemas.microsoft.com/office/drawing/2014/main" id="{B65F01AF-3F1A-26E8-4337-F69694D16AD1}"/>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3606B6ED-F78F-F130-058F-5800C9CCE685}"/>
              </a:ext>
            </a:extLst>
          </p:cNvPr>
          <p:cNvSpPr>
            <a:spLocks noGrp="1"/>
          </p:cNvSpPr>
          <p:nvPr>
            <p:ph type="body" sz="quarter" idx="16"/>
          </p:nvPr>
        </p:nvSpPr>
        <p:spPr/>
        <p:txBody>
          <a:bodyPr/>
          <a:lstStyle/>
          <a:p>
            <a:pPr algn="just"/>
            <a:r>
              <a:rPr lang="en-US" dirty="0">
                <a:hlinkClick r:id="rId3"/>
              </a:rPr>
              <a:t>Public Preview: Hosted Agents in Microsoft Foundry Agent Service</a:t>
            </a:r>
            <a:endParaRPr lang="en-US" dirty="0"/>
          </a:p>
          <a:p>
            <a:pPr algn="just"/>
            <a:r>
              <a:rPr lang="en-US" b="1" dirty="0"/>
              <a:t>Microsoft Foundry Agent Service</a:t>
            </a:r>
            <a:r>
              <a:rPr lang="en-US" dirty="0"/>
              <a:t> now introduces </a:t>
            </a:r>
            <a:r>
              <a:rPr lang="en-US" b="1" dirty="0"/>
              <a:t>Hosted Agents (public preview)</a:t>
            </a:r>
            <a:r>
              <a:rPr lang="en-US" dirty="0"/>
              <a:t>, a fully managed runtime for deploying custom AI agents built with frameworks such as </a:t>
            </a:r>
            <a:r>
              <a:rPr lang="en-US" b="1" dirty="0"/>
              <a:t>Microsoft Agent Framework, </a:t>
            </a:r>
            <a:r>
              <a:rPr lang="en-US" b="1" dirty="0" err="1"/>
              <a:t>LangGraph</a:t>
            </a:r>
            <a:r>
              <a:rPr lang="en-US" b="1" dirty="0"/>
              <a:t>, Semantic Kernel, or proprietary code</a:t>
            </a:r>
            <a:r>
              <a:rPr lang="en-US" dirty="0"/>
              <a:t>. Hosted Agents run in </a:t>
            </a:r>
            <a:r>
              <a:rPr lang="en-US" b="1" dirty="0"/>
              <a:t>isolated per-session VM sandboxes</a:t>
            </a:r>
            <a:r>
              <a:rPr lang="en-US" dirty="0"/>
              <a:t> with persistent storage, automatic scale-to-zero, and a dedicated </a:t>
            </a:r>
            <a:r>
              <a:rPr lang="en-US" b="1" dirty="0"/>
              <a:t>Microsoft Entra identity</a:t>
            </a:r>
            <a:r>
              <a:rPr lang="en-US" dirty="0"/>
              <a:t> configured at deployment time. The service supports multiple agent protocols, including </a:t>
            </a:r>
            <a:r>
              <a:rPr lang="en-US" b="1" dirty="0"/>
              <a:t>Responses, Invocations, Activity, and Agent-to-Agent (A2A)</a:t>
            </a:r>
            <a:r>
              <a:rPr lang="en-US" dirty="0"/>
              <a:t> communication within a single deployment. It also includes </a:t>
            </a:r>
            <a:r>
              <a:rPr lang="en-US" b="1" dirty="0" err="1"/>
              <a:t>OpenTelemetry</a:t>
            </a:r>
            <a:r>
              <a:rPr lang="en-US" b="1" dirty="0"/>
              <a:t>-based observability</a:t>
            </a:r>
            <a:r>
              <a:rPr lang="en-US" dirty="0"/>
              <a:t> and support for </a:t>
            </a:r>
            <a:r>
              <a:rPr lang="en-US" b="1" dirty="0"/>
              <a:t>bring-your-own virtual networks</a:t>
            </a:r>
            <a:r>
              <a:rPr lang="en-US" dirty="0"/>
              <a:t> for secure outbound connectivity. This allows organizations to focus on agent development while Microsoft manages </a:t>
            </a:r>
            <a:r>
              <a:rPr lang="en-US" b="1" dirty="0"/>
              <a:t>hosting, scaling, identity, and operational infrastructure</a:t>
            </a:r>
            <a:r>
              <a:rPr lang="en-US" dirty="0"/>
              <a:t>, reducing complexity and accelerating production deployment of enterprise AI agents.</a:t>
            </a:r>
          </a:p>
        </p:txBody>
      </p:sp>
    </p:spTree>
    <p:extLst>
      <p:ext uri="{BB962C8B-B14F-4D97-AF65-F5344CB8AC3E}">
        <p14:creationId xmlns:p14="http://schemas.microsoft.com/office/powerpoint/2010/main" val="2152429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2E8F924-222B-22F3-05FB-D3E26A47BB34}"/>
              </a:ext>
            </a:extLst>
          </p:cNvPr>
          <p:cNvSpPr>
            <a:spLocks noGrp="1"/>
          </p:cNvSpPr>
          <p:nvPr>
            <p:ph type="body" sz="quarter" idx="10"/>
          </p:nvPr>
        </p:nvSpPr>
        <p:spPr/>
        <p:txBody>
          <a:bodyPr/>
          <a:lstStyle/>
          <a:p>
            <a:pPr algn="just"/>
            <a:r>
              <a:rPr lang="en-US" sz="1000" dirty="0">
                <a:hlinkClick r:id="rId2"/>
              </a:rPr>
              <a:t>Public Preview: Purview sensitivity labels in Azure AI Search knowledge sources</a:t>
            </a:r>
            <a:endParaRPr lang="en-US" sz="1000" dirty="0"/>
          </a:p>
          <a:p>
            <a:pPr algn="just"/>
            <a:r>
              <a:rPr lang="en-US" sz="1000" dirty="0"/>
              <a:t>Azure AI Search now supports </a:t>
            </a:r>
            <a:r>
              <a:rPr lang="en-US" sz="1000" b="1" dirty="0"/>
              <a:t>Microsoft Purview sensitivity labels for Knowledge Sources (public preview)</a:t>
            </a:r>
            <a:r>
              <a:rPr lang="en-US" sz="1000" dirty="0"/>
              <a:t>. Sensitivity labels applied to content in source systems are preserved throughout ingestion and carried into </a:t>
            </a:r>
            <a:r>
              <a:rPr lang="en-US" sz="1000" b="1" dirty="0"/>
              <a:t>Azure AI Search indexes, knowledge bases, and Foundry-powered agents</a:t>
            </a:r>
            <a:r>
              <a:rPr lang="en-US" sz="1000" dirty="0"/>
              <a:t>. This ensures that </a:t>
            </a:r>
            <a:r>
              <a:rPr lang="en-US" sz="1000" b="1" dirty="0"/>
              <a:t>vector search, retrieval-augmented generation (RAG), and agentic workflows</a:t>
            </a:r>
            <a:r>
              <a:rPr lang="en-US" sz="1000" dirty="0"/>
              <a:t> respect the same data classification and protection policies defined by security teams. Organizations working with </a:t>
            </a:r>
            <a:r>
              <a:rPr lang="en-US" sz="1000" b="1" dirty="0"/>
              <a:t>regulated or sensitive data</a:t>
            </a:r>
            <a:r>
              <a:rPr lang="en-US" sz="1000" dirty="0"/>
              <a:t> can maintain consistent governance without implementing custom controls at the retrieval layer. The feature provides </a:t>
            </a:r>
            <a:r>
              <a:rPr lang="en-US" sz="1000" b="1" dirty="0"/>
              <a:t>end-to-end label fidelity</a:t>
            </a:r>
            <a:r>
              <a:rPr lang="en-US" sz="1000" dirty="0"/>
              <a:t> and serves as a foundation for future </a:t>
            </a:r>
            <a:r>
              <a:rPr lang="en-US" sz="1000" b="1" dirty="0"/>
              <a:t>Purview-aware AI orchestration and compliance scenarios</a:t>
            </a:r>
            <a:r>
              <a:rPr lang="en-US" sz="1000" dirty="0"/>
              <a:t>.</a:t>
            </a:r>
          </a:p>
        </p:txBody>
      </p:sp>
      <p:sp>
        <p:nvSpPr>
          <p:cNvPr id="3" name="Title 2">
            <a:extLst>
              <a:ext uri="{FF2B5EF4-FFF2-40B4-BE49-F238E27FC236}">
                <a16:creationId xmlns:a16="http://schemas.microsoft.com/office/drawing/2014/main" id="{E5DC9200-02CE-5F1A-3DC3-C89DE0F28198}"/>
              </a:ext>
            </a:extLst>
          </p:cNvPr>
          <p:cNvSpPr>
            <a:spLocks noGrp="1"/>
          </p:cNvSpPr>
          <p:nvPr>
            <p:ph type="title"/>
          </p:nvPr>
        </p:nvSpPr>
        <p:spPr/>
        <p:txBody>
          <a:bodyPr/>
          <a:lstStyle/>
          <a:p>
            <a:r>
              <a:rPr lang="en-US" sz="1600" dirty="0"/>
              <a:t>ML &amp; AI &amp; IOT Updates</a:t>
            </a:r>
            <a:endParaRPr lang="en-US" dirty="0"/>
          </a:p>
        </p:txBody>
      </p:sp>
      <p:sp>
        <p:nvSpPr>
          <p:cNvPr id="4" name="Text Placeholder 3">
            <a:extLst>
              <a:ext uri="{FF2B5EF4-FFF2-40B4-BE49-F238E27FC236}">
                <a16:creationId xmlns:a16="http://schemas.microsoft.com/office/drawing/2014/main" id="{464C3C78-F68A-3B07-E7C2-B0B89F1F29B5}"/>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D6DFA82A-94B8-CF2F-99D0-7BFB748D2D75}"/>
              </a:ext>
            </a:extLst>
          </p:cNvPr>
          <p:cNvSpPr>
            <a:spLocks noGrp="1"/>
          </p:cNvSpPr>
          <p:nvPr>
            <p:ph type="body" sz="quarter" idx="16"/>
          </p:nvPr>
        </p:nvSpPr>
        <p:spPr/>
        <p:txBody>
          <a:bodyPr/>
          <a:lstStyle/>
          <a:p>
            <a:pPr algn="just"/>
            <a:r>
              <a:rPr lang="en-US" dirty="0">
                <a:hlinkClick r:id="rId3"/>
              </a:rPr>
              <a:t>Public Preview: Azure Logic Apps now enables developers to invoke Microsoft Foundry Agents directly from workflows.</a:t>
            </a:r>
            <a:endParaRPr lang="en-US" dirty="0"/>
          </a:p>
          <a:p>
            <a:pPr algn="just"/>
            <a:r>
              <a:rPr lang="en-US" dirty="0"/>
              <a:t>Azure AI Foundry and </a:t>
            </a:r>
            <a:r>
              <a:rPr lang="en-US" b="1" dirty="0"/>
              <a:t>Azure Logic Apps</a:t>
            </a:r>
            <a:r>
              <a:rPr lang="en-US" dirty="0"/>
              <a:t> now offer enhanced integration, making it easier to operationalize AI agents within enterprise workflows. Organizations can </a:t>
            </a:r>
            <a:r>
              <a:rPr lang="en-US" b="1" dirty="0"/>
              <a:t>invoke Foundry Hosted Agents directly from Logic Apps</a:t>
            </a:r>
            <a:r>
              <a:rPr lang="en-US" dirty="0"/>
              <a:t>, combining AI-driven decisions with business process automation. This enables agents to be orchestrated alongside </a:t>
            </a:r>
            <a:r>
              <a:rPr lang="en-US" b="1" dirty="0"/>
              <a:t>APIs, connectors, enterprise applications, schedules, and event-driven workflows</a:t>
            </a:r>
            <a:r>
              <a:rPr lang="en-US" dirty="0"/>
              <a:t>. Businesses can trigger AI-powered actions from operational events while leveraging Logic Apps' built-in scalability, monitoring, and governance capabilities. The integration helps bridge the gap between </a:t>
            </a:r>
            <a:r>
              <a:rPr lang="en-US" b="1" dirty="0"/>
              <a:t>AI agent development and real-world business automation</a:t>
            </a:r>
            <a:r>
              <a:rPr lang="en-US" dirty="0"/>
              <a:t>, accelerating the deployment of production-grade agentic workflows.</a:t>
            </a:r>
          </a:p>
        </p:txBody>
      </p:sp>
    </p:spTree>
    <p:extLst>
      <p:ext uri="{BB962C8B-B14F-4D97-AF65-F5344CB8AC3E}">
        <p14:creationId xmlns:p14="http://schemas.microsoft.com/office/powerpoint/2010/main" val="1252040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7F127-7FD6-7D68-43AC-9C1E3959757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737DD13-603C-F241-2E01-A85122999755}"/>
              </a:ext>
            </a:extLst>
          </p:cNvPr>
          <p:cNvSpPr>
            <a:spLocks noGrp="1"/>
          </p:cNvSpPr>
          <p:nvPr>
            <p:ph type="body" sz="quarter" idx="10"/>
          </p:nvPr>
        </p:nvSpPr>
        <p:spPr/>
        <p:txBody>
          <a:bodyPr/>
          <a:lstStyle/>
          <a:p>
            <a:pPr algn="just"/>
            <a:r>
              <a:rPr lang="en-US" sz="1000" dirty="0">
                <a:hlinkClick r:id="rId2"/>
              </a:rPr>
              <a:t>Public Preview: Benchmark evaluations for fine-tuned models in Microsoft Foundry</a:t>
            </a:r>
            <a:endParaRPr lang="en-US" sz="1000" dirty="0"/>
          </a:p>
          <a:p>
            <a:pPr algn="just"/>
            <a:r>
              <a:rPr lang="en-US" sz="1000" b="1" dirty="0"/>
              <a:t>Benchmarks in Microsoft Foundry (preview)</a:t>
            </a:r>
            <a:r>
              <a:rPr lang="en-US" sz="1000" dirty="0"/>
              <a:t> provide a standardized way to evaluate and compare </a:t>
            </a:r>
            <a:r>
              <a:rPr lang="en-US" sz="1000" b="1" dirty="0"/>
              <a:t>AI models and agents</a:t>
            </a:r>
            <a:r>
              <a:rPr lang="en-US" sz="1000" dirty="0"/>
              <a:t> throughout the development lifecycle. Organizations can run </a:t>
            </a:r>
            <a:r>
              <a:rPr lang="en-US" sz="1000" b="1" dirty="0"/>
              <a:t>well-known open-source benchmarks</a:t>
            </a:r>
            <a:r>
              <a:rPr lang="en-US" sz="1000" dirty="0"/>
              <a:t> against any model deployment or agent to measure performance under consistent conditions. Results can be compared side-by-side using the </a:t>
            </a:r>
            <a:r>
              <a:rPr lang="en-US" sz="1000" b="1" dirty="0"/>
              <a:t>evaluation group view</a:t>
            </a:r>
            <a:r>
              <a:rPr lang="en-US" sz="1000" dirty="0"/>
              <a:t>, making it easier to identify regressions caused by model, prompt, tool, or workflow changes. The capability supports both </a:t>
            </a:r>
            <a:r>
              <a:rPr lang="en-US" sz="1000" b="1" dirty="0"/>
              <a:t>portal-based and API-driven execution</a:t>
            </a:r>
            <a:r>
              <a:rPr lang="en-US" sz="1000" dirty="0"/>
              <a:t>, enabling integration into development and CI/CD processes. This helps teams make </a:t>
            </a:r>
            <a:r>
              <a:rPr lang="en-US" sz="1000" b="1" dirty="0"/>
              <a:t>data-driven decisions on model and agent selection</a:t>
            </a:r>
            <a:r>
              <a:rPr lang="en-US" sz="1000" dirty="0"/>
              <a:t>, improving reliability and reducing the risk of deploying underperforming AI solutions.</a:t>
            </a:r>
          </a:p>
        </p:txBody>
      </p:sp>
      <p:sp>
        <p:nvSpPr>
          <p:cNvPr id="3" name="Title 2">
            <a:extLst>
              <a:ext uri="{FF2B5EF4-FFF2-40B4-BE49-F238E27FC236}">
                <a16:creationId xmlns:a16="http://schemas.microsoft.com/office/drawing/2014/main" id="{BB8D0BC0-A5CA-62D3-4248-1CCB1DA7A945}"/>
              </a:ext>
            </a:extLst>
          </p:cNvPr>
          <p:cNvSpPr>
            <a:spLocks noGrp="1"/>
          </p:cNvSpPr>
          <p:nvPr>
            <p:ph type="title"/>
          </p:nvPr>
        </p:nvSpPr>
        <p:spPr/>
        <p:txBody>
          <a:bodyPr/>
          <a:lstStyle/>
          <a:p>
            <a:r>
              <a:rPr lang="en-US" sz="1600" dirty="0"/>
              <a:t>ML &amp; AI &amp; IOT Updates</a:t>
            </a:r>
            <a:endParaRPr lang="en-US" dirty="0"/>
          </a:p>
        </p:txBody>
      </p:sp>
      <p:sp>
        <p:nvSpPr>
          <p:cNvPr id="4" name="Text Placeholder 3">
            <a:extLst>
              <a:ext uri="{FF2B5EF4-FFF2-40B4-BE49-F238E27FC236}">
                <a16:creationId xmlns:a16="http://schemas.microsoft.com/office/drawing/2014/main" id="{99AA34F3-3A06-5AB0-AD33-62DDAFE8027A}"/>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82733F93-0009-817E-773E-D79ECB58E460}"/>
              </a:ext>
            </a:extLst>
          </p:cNvPr>
          <p:cNvSpPr>
            <a:spLocks noGrp="1"/>
          </p:cNvSpPr>
          <p:nvPr>
            <p:ph type="body" sz="quarter" idx="16"/>
          </p:nvPr>
        </p:nvSpPr>
        <p:spPr/>
        <p:txBody>
          <a:bodyPr/>
          <a:lstStyle/>
          <a:p>
            <a:pPr algn="just"/>
            <a:r>
              <a:rPr lang="en-US" dirty="0">
                <a:hlinkClick r:id="rId3"/>
              </a:rPr>
              <a:t>Public Preview: Azure Policy Coverage for Model Router in Foundry Models</a:t>
            </a:r>
            <a:endParaRPr lang="en-US" dirty="0"/>
          </a:p>
          <a:p>
            <a:pPr algn="just"/>
            <a:r>
              <a:rPr lang="en-US" dirty="0"/>
              <a:t>Azure Policy now provides </a:t>
            </a:r>
            <a:r>
              <a:rPr lang="en-US" b="1" dirty="0"/>
              <a:t>centralized governance for model router deployments</a:t>
            </a:r>
            <a:r>
              <a:rPr lang="en-US" dirty="0"/>
              <a:t>, helping organizations enforce consistent AI deployment standards across Azure environments. Built-in policy definitions allow administrators to control </a:t>
            </a:r>
            <a:r>
              <a:rPr lang="en-US" b="1" dirty="0"/>
              <a:t>approved models, deployment regions, routing configurations, and logging requirements</a:t>
            </a:r>
            <a:r>
              <a:rPr lang="en-US" dirty="0"/>
              <a:t>. Policies can be applied across </a:t>
            </a:r>
            <a:r>
              <a:rPr lang="en-US" b="1" dirty="0"/>
              <a:t>management groups and subscriptions</a:t>
            </a:r>
            <a:r>
              <a:rPr lang="en-US" dirty="0"/>
              <a:t>, enabling automated compliance monitoring and detection of configuration drift. Organizations can leverage existing Azure Policy capabilities for </a:t>
            </a:r>
            <a:r>
              <a:rPr lang="en-US" b="1" dirty="0"/>
              <a:t>reporting, remediation, exemptions, and governance workflows</a:t>
            </a:r>
            <a:r>
              <a:rPr lang="en-US" dirty="0"/>
              <a:t> without additional tooling. This helps regulated enterprises adopt AI services more quickly while maintaining </a:t>
            </a:r>
            <a:r>
              <a:rPr lang="en-US" b="1" dirty="0"/>
              <a:t>security, compliance, and operational control</a:t>
            </a:r>
            <a:r>
              <a:rPr lang="en-US" dirty="0"/>
              <a:t> over model routing decisions.</a:t>
            </a:r>
          </a:p>
        </p:txBody>
      </p:sp>
    </p:spTree>
    <p:extLst>
      <p:ext uri="{BB962C8B-B14F-4D97-AF65-F5344CB8AC3E}">
        <p14:creationId xmlns:p14="http://schemas.microsoft.com/office/powerpoint/2010/main" val="3326304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ECF27E5-CAEA-020B-9C2A-17793856F3E7}"/>
              </a:ext>
            </a:extLst>
          </p:cNvPr>
          <p:cNvSpPr>
            <a:spLocks noGrp="1"/>
          </p:cNvSpPr>
          <p:nvPr>
            <p:ph type="body" sz="quarter" idx="10"/>
          </p:nvPr>
        </p:nvSpPr>
        <p:spPr/>
        <p:txBody>
          <a:bodyPr/>
          <a:lstStyle/>
          <a:p>
            <a:pPr algn="just"/>
            <a:r>
              <a:rPr lang="en-US" sz="1000" dirty="0">
                <a:hlinkClick r:id="rId2"/>
              </a:rPr>
              <a:t>Public Preview: User feedback logging in Microsoft Foundry</a:t>
            </a:r>
            <a:endParaRPr lang="en-US" sz="1000" dirty="0"/>
          </a:p>
          <a:p>
            <a:pPr algn="just"/>
            <a:r>
              <a:rPr lang="en-US" sz="1000" dirty="0"/>
              <a:t>Microsoft Foundry now introduces </a:t>
            </a:r>
            <a:r>
              <a:rPr lang="en-US" sz="1000" b="1" dirty="0"/>
              <a:t>end-user feedback logging semantics</a:t>
            </a:r>
            <a:r>
              <a:rPr lang="en-US" sz="1000" dirty="0"/>
              <a:t>, enabling developers to capture structured feedback such as </a:t>
            </a:r>
            <a:r>
              <a:rPr lang="en-US" sz="1000" b="1" dirty="0"/>
              <a:t>thumbs up/down, ratings, and custom annotations</a:t>
            </a:r>
            <a:r>
              <a:rPr lang="en-US" sz="1000" dirty="0"/>
              <a:t> from users interacting with AI agents. Feedback is automatically correlated with the underlying </a:t>
            </a:r>
            <a:r>
              <a:rPr lang="en-US" sz="1000" b="1" dirty="0"/>
              <a:t>request traces and telemetry in Azure Monitor</a:t>
            </a:r>
            <a:r>
              <a:rPr lang="en-US" sz="1000" dirty="0"/>
              <a:t>, creating a direct link between user experience and system behavior. This allows teams to analyze agent quality, identify issues, and understand how users perceive AI responses in production. The captured feedback becomes part of the existing </a:t>
            </a:r>
            <a:r>
              <a:rPr lang="en-US" sz="1000" b="1" dirty="0"/>
              <a:t>observability and monitoring pipeline</a:t>
            </a:r>
            <a:r>
              <a:rPr lang="en-US" sz="1000" dirty="0"/>
              <a:t>, alongside performance and evaluation metrics. Organizations can use these real-world signals to drive </a:t>
            </a:r>
            <a:r>
              <a:rPr lang="en-US" sz="1000" b="1" dirty="0"/>
              <a:t>continuous model improvement, agent optimization, and data-driven product enhancements</a:t>
            </a:r>
            <a:r>
              <a:rPr lang="en-US" sz="1000" dirty="0"/>
              <a:t>.</a:t>
            </a:r>
          </a:p>
        </p:txBody>
      </p:sp>
      <p:sp>
        <p:nvSpPr>
          <p:cNvPr id="3" name="Title 2">
            <a:extLst>
              <a:ext uri="{FF2B5EF4-FFF2-40B4-BE49-F238E27FC236}">
                <a16:creationId xmlns:a16="http://schemas.microsoft.com/office/drawing/2014/main" id="{3EC60DE6-4465-C749-9809-C5738009CBB8}"/>
              </a:ext>
            </a:extLst>
          </p:cNvPr>
          <p:cNvSpPr>
            <a:spLocks noGrp="1"/>
          </p:cNvSpPr>
          <p:nvPr>
            <p:ph type="title"/>
          </p:nvPr>
        </p:nvSpPr>
        <p:spPr/>
        <p:txBody>
          <a:bodyPr/>
          <a:lstStyle/>
          <a:p>
            <a:r>
              <a:rPr lang="en-US" sz="1600" dirty="0"/>
              <a:t>ML &amp; AI &amp; IOT Updates</a:t>
            </a:r>
            <a:endParaRPr lang="en-US" dirty="0"/>
          </a:p>
        </p:txBody>
      </p:sp>
      <p:sp>
        <p:nvSpPr>
          <p:cNvPr id="4" name="Text Placeholder 3">
            <a:extLst>
              <a:ext uri="{FF2B5EF4-FFF2-40B4-BE49-F238E27FC236}">
                <a16:creationId xmlns:a16="http://schemas.microsoft.com/office/drawing/2014/main" id="{7815E823-CC10-2477-0A90-B5BDEBC74CEE}"/>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7AF81F8D-1EF7-6043-72DB-0ED209DD6170}"/>
              </a:ext>
            </a:extLst>
          </p:cNvPr>
          <p:cNvSpPr>
            <a:spLocks noGrp="1"/>
          </p:cNvSpPr>
          <p:nvPr>
            <p:ph type="body" sz="quarter" idx="16"/>
          </p:nvPr>
        </p:nvSpPr>
        <p:spPr/>
        <p:txBody>
          <a:bodyPr/>
          <a:lstStyle/>
          <a:p>
            <a:pPr algn="just"/>
            <a:r>
              <a:rPr lang="en-US" dirty="0">
                <a:hlinkClick r:id="rId3"/>
              </a:rPr>
              <a:t>Public Preview: Code-first observability for Foundry Agents in VS Code</a:t>
            </a:r>
            <a:endParaRPr lang="en-US" dirty="0"/>
          </a:p>
          <a:p>
            <a:pPr algn="just"/>
            <a:r>
              <a:rPr lang="en-US" b="1" dirty="0"/>
              <a:t>Code-First Observability for Microsoft Foundry (public preview)</a:t>
            </a:r>
            <a:r>
              <a:rPr lang="en-US" dirty="0"/>
              <a:t> is now available through an </a:t>
            </a:r>
            <a:r>
              <a:rPr lang="en-US" b="1" dirty="0"/>
              <a:t>Observe Skill</a:t>
            </a:r>
            <a:r>
              <a:rPr lang="en-US" dirty="0"/>
              <a:t> integrated into the Foundry Plugin for </a:t>
            </a:r>
            <a:r>
              <a:rPr lang="en-US" b="1" dirty="0"/>
              <a:t>VS Code Copilot Chat</a:t>
            </a:r>
            <a:r>
              <a:rPr lang="en-US" dirty="0"/>
              <a:t>. Developers can manage the entire </a:t>
            </a:r>
            <a:r>
              <a:rPr lang="en-US" b="1" dirty="0"/>
              <a:t>evaluation and optimization lifecycle directly from their development environment</a:t>
            </a:r>
            <a:r>
              <a:rPr lang="en-US" dirty="0"/>
              <a:t> using natural language commands. The skill automatically generates evaluators and test datasets, executes batch evaluations, analyzes and clusters failures, recommends prompt improvements, and compares agent versions side-by-side. It leverages </a:t>
            </a:r>
            <a:r>
              <a:rPr lang="en-US" b="1" dirty="0"/>
              <a:t>Foundry MCP tools</a:t>
            </a:r>
            <a:r>
              <a:rPr lang="en-US" dirty="0"/>
              <a:t> to streamline observability, testing, and deployment workflows. By bringing observability into the IDE, the feature reduces context switching, accelerates agent development, and promotes more consistent evaluation and quality control practices.</a:t>
            </a:r>
          </a:p>
        </p:txBody>
      </p:sp>
    </p:spTree>
    <p:extLst>
      <p:ext uri="{BB962C8B-B14F-4D97-AF65-F5344CB8AC3E}">
        <p14:creationId xmlns:p14="http://schemas.microsoft.com/office/powerpoint/2010/main" val="1940785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55AA9C7-2CC0-CF9F-3C98-17DE53930285}"/>
              </a:ext>
            </a:extLst>
          </p:cNvPr>
          <p:cNvSpPr>
            <a:spLocks noGrp="1"/>
          </p:cNvSpPr>
          <p:nvPr>
            <p:ph type="body" sz="quarter" idx="10"/>
          </p:nvPr>
        </p:nvSpPr>
        <p:spPr/>
        <p:txBody>
          <a:bodyPr/>
          <a:lstStyle/>
          <a:p>
            <a:pPr algn="just"/>
            <a:r>
              <a:rPr lang="en-US" sz="1000" dirty="0">
                <a:hlinkClick r:id="rId2"/>
              </a:rPr>
              <a:t>Public Preview: Voice sync for avatar support in Voice Live API in Microsoft Foundry</a:t>
            </a:r>
            <a:endParaRPr lang="en-US" sz="1000" dirty="0"/>
          </a:p>
          <a:p>
            <a:pPr algn="just"/>
            <a:r>
              <a:rPr lang="en-US" sz="1000" dirty="0"/>
              <a:t>Microsoft Foundry now supports </a:t>
            </a:r>
            <a:r>
              <a:rPr lang="en-US" sz="1000" b="1" dirty="0"/>
              <a:t>avatar voice synchronization with custom voices</a:t>
            </a:r>
            <a:r>
              <a:rPr lang="en-US" sz="1000" dirty="0"/>
              <a:t> in the </a:t>
            </a:r>
            <a:r>
              <a:rPr lang="en-US" sz="1000" b="1" dirty="0"/>
              <a:t>Voice Live API (public preview)</a:t>
            </a:r>
            <a:r>
              <a:rPr lang="en-US" sz="1000" dirty="0"/>
              <a:t>. This allows organizations to combine </a:t>
            </a:r>
            <a:r>
              <a:rPr lang="en-US" sz="1000" b="1" dirty="0"/>
              <a:t>custom neural voices</a:t>
            </a:r>
            <a:r>
              <a:rPr lang="en-US" sz="1000" dirty="0"/>
              <a:t> with real-time avatars, enabling branded and persona-specific digital experiences. Previously, avatars could only be paired with a limited set of predefined voices. The new capability delivers </a:t>
            </a:r>
            <a:r>
              <a:rPr lang="en-US" sz="1000" b="1" dirty="0"/>
              <a:t>low-latency, lip-synced avatar rendering</a:t>
            </a:r>
            <a:r>
              <a:rPr lang="en-US" sz="1000" dirty="0"/>
              <a:t> while preserving an organization's unique voice identity. It simplifies the development of </a:t>
            </a:r>
            <a:r>
              <a:rPr lang="en-US" sz="1000" b="1" dirty="0"/>
              <a:t>virtual agents, digital humans, kiosks, retail assistants, and accessibility solutions</a:t>
            </a:r>
            <a:r>
              <a:rPr lang="en-US" sz="1000" dirty="0"/>
              <a:t> by unifying voice and avatar functionality within a single real-time pipeline. As a preview feature, regional availability and configuration options may continue to evolve before general availability.</a:t>
            </a:r>
          </a:p>
        </p:txBody>
      </p:sp>
      <p:sp>
        <p:nvSpPr>
          <p:cNvPr id="3" name="Title 2">
            <a:extLst>
              <a:ext uri="{FF2B5EF4-FFF2-40B4-BE49-F238E27FC236}">
                <a16:creationId xmlns:a16="http://schemas.microsoft.com/office/drawing/2014/main" id="{1031A634-316C-D803-94A3-FC9F17C659E5}"/>
              </a:ext>
            </a:extLst>
          </p:cNvPr>
          <p:cNvSpPr>
            <a:spLocks noGrp="1"/>
          </p:cNvSpPr>
          <p:nvPr>
            <p:ph type="title"/>
          </p:nvPr>
        </p:nvSpPr>
        <p:spPr/>
        <p:txBody>
          <a:bodyPr/>
          <a:lstStyle/>
          <a:p>
            <a:r>
              <a:rPr lang="en-US" sz="1600" dirty="0"/>
              <a:t>ML &amp; AI &amp; IOT Updates</a:t>
            </a:r>
            <a:endParaRPr lang="en-US" dirty="0"/>
          </a:p>
        </p:txBody>
      </p:sp>
      <p:sp>
        <p:nvSpPr>
          <p:cNvPr id="4" name="Text Placeholder 3">
            <a:extLst>
              <a:ext uri="{FF2B5EF4-FFF2-40B4-BE49-F238E27FC236}">
                <a16:creationId xmlns:a16="http://schemas.microsoft.com/office/drawing/2014/main" id="{DA5BB6A6-4E58-1674-3D14-8F1E4A32B6B2}"/>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8AE33B18-026B-ADF4-6CAB-9B8C967BE68A}"/>
              </a:ext>
            </a:extLst>
          </p:cNvPr>
          <p:cNvSpPr>
            <a:spLocks noGrp="1"/>
          </p:cNvSpPr>
          <p:nvPr>
            <p:ph type="body" sz="quarter" idx="16"/>
          </p:nvPr>
        </p:nvSpPr>
        <p:spPr/>
        <p:txBody>
          <a:bodyPr/>
          <a:lstStyle/>
          <a:p>
            <a:pPr algn="just"/>
            <a:r>
              <a:rPr lang="en-US" dirty="0">
                <a:hlinkClick r:id="rId3"/>
              </a:rPr>
              <a:t>Public Preview: Tool search in Microsoft Foundry toolboxes</a:t>
            </a:r>
            <a:endParaRPr lang="en-US" dirty="0"/>
          </a:p>
          <a:p>
            <a:pPr algn="just"/>
            <a:r>
              <a:rPr lang="en-US" b="1" dirty="0"/>
              <a:t>Microsoft Foundry Tool Search</a:t>
            </a:r>
            <a:r>
              <a:rPr lang="en-US" dirty="0"/>
              <a:t> is now available in </a:t>
            </a:r>
            <a:r>
              <a:rPr lang="en-US" b="1" dirty="0"/>
              <a:t>public preview</a:t>
            </a:r>
            <a:r>
              <a:rPr lang="en-US" dirty="0"/>
              <a:t>, helping developers efficiently discover and use tools within large Foundry toolboxes. Instead of loading all tool definitions into the model context, Tool Search dynamically retrieves </a:t>
            </a:r>
            <a:r>
              <a:rPr lang="en-US" b="1" dirty="0"/>
              <a:t>only the most relevant tools at runtime</a:t>
            </a:r>
            <a:r>
              <a:rPr lang="en-US" dirty="0"/>
              <a:t>, reducing token consumption and improving performance. Agents can identify and select tools based on their </a:t>
            </a:r>
            <a:r>
              <a:rPr lang="en-US" b="1" dirty="0"/>
              <a:t>intent and task requirements</a:t>
            </a:r>
            <a:r>
              <a:rPr lang="en-US" dirty="0"/>
              <a:t>, eliminating the need to manually browse extensive tool catalogs. The capability also gives toolbox administrators greater control over </a:t>
            </a:r>
            <a:r>
              <a:rPr lang="en-US" b="1" dirty="0"/>
              <a:t>how tools are surfaced and discovered</a:t>
            </a:r>
            <a:r>
              <a:rPr lang="en-US" dirty="0"/>
              <a:t> across teams. This improves scalability, lowers operational costs, and enables more efficient </a:t>
            </a:r>
            <a:r>
              <a:rPr lang="en-US" b="1" dirty="0"/>
              <a:t>agent-driven tool orchestration</a:t>
            </a:r>
            <a:r>
              <a:rPr lang="en-US" dirty="0"/>
              <a:t> in enterprise AI environments.</a:t>
            </a:r>
          </a:p>
        </p:txBody>
      </p:sp>
    </p:spTree>
    <p:extLst>
      <p:ext uri="{BB962C8B-B14F-4D97-AF65-F5344CB8AC3E}">
        <p14:creationId xmlns:p14="http://schemas.microsoft.com/office/powerpoint/2010/main" val="2567705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B244FDB-F3AB-8EEA-5DFD-3DA673BA71BE}"/>
              </a:ext>
            </a:extLst>
          </p:cNvPr>
          <p:cNvSpPr>
            <a:spLocks noGrp="1"/>
          </p:cNvSpPr>
          <p:nvPr>
            <p:ph type="body" sz="quarter" idx="10"/>
          </p:nvPr>
        </p:nvSpPr>
        <p:spPr/>
        <p:txBody>
          <a:bodyPr/>
          <a:lstStyle/>
          <a:p>
            <a:pPr algn="just"/>
            <a:r>
              <a:rPr lang="en-US" sz="1000" dirty="0">
                <a:hlinkClick r:id="rId2"/>
              </a:rPr>
              <a:t>Introducing </a:t>
            </a:r>
            <a:r>
              <a:rPr lang="en-US" sz="1000" dirty="0" err="1">
                <a:hlinkClick r:id="rId2"/>
              </a:rPr>
              <a:t>OmniVec</a:t>
            </a:r>
            <a:r>
              <a:rPr lang="en-US" sz="1000" dirty="0">
                <a:hlinkClick r:id="rId2"/>
              </a:rPr>
              <a:t>: An Open-Source Embedding Platform for AI Apps on Azure</a:t>
            </a:r>
            <a:endParaRPr lang="en-US" sz="1000" dirty="0"/>
          </a:p>
          <a:p>
            <a:pPr algn="just"/>
            <a:r>
              <a:rPr lang="en-US" sz="1000" b="1" dirty="0" err="1"/>
              <a:t>OmniVec</a:t>
            </a:r>
            <a:r>
              <a:rPr lang="en-US" sz="1000" dirty="0"/>
              <a:t> is a new </a:t>
            </a:r>
            <a:r>
              <a:rPr lang="en-US" sz="1000" b="1" dirty="0"/>
              <a:t>open-source embedding platform</a:t>
            </a:r>
            <a:r>
              <a:rPr lang="en-US" sz="1000" dirty="0"/>
              <a:t> introduced by Microsoft for building AI applications on Azure. It provides a unified framework for generating, managing, and serving embeddings across multiple AI models and providers, helping organizations simplify vector-based AI architectures.</a:t>
            </a:r>
          </a:p>
          <a:p>
            <a:pPr algn="just"/>
            <a:r>
              <a:rPr lang="en-US" sz="1000" b="1" dirty="0"/>
              <a:t>Key Benefits</a:t>
            </a:r>
          </a:p>
          <a:p>
            <a:pPr marL="171450" indent="-171450" algn="just">
              <a:buFont typeface="Arial" panose="020B0604020202020204" pitchFamily="34" charset="0"/>
              <a:buChar char="•"/>
            </a:pPr>
            <a:r>
              <a:rPr lang="en-US" sz="1000" dirty="0"/>
              <a:t>Multi-Model Embedding Support </a:t>
            </a:r>
          </a:p>
          <a:p>
            <a:pPr marL="171450" indent="-171450" algn="just">
              <a:buFont typeface="Arial" panose="020B0604020202020204" pitchFamily="34" charset="0"/>
              <a:buChar char="•"/>
            </a:pPr>
            <a:r>
              <a:rPr lang="en-US" sz="1000" dirty="0"/>
              <a:t>Standardized Embedding Pipeline </a:t>
            </a:r>
          </a:p>
          <a:p>
            <a:pPr marL="171450" indent="-171450" algn="just">
              <a:buFont typeface="Arial" panose="020B0604020202020204" pitchFamily="34" charset="0"/>
              <a:buChar char="•"/>
            </a:pPr>
            <a:r>
              <a:rPr lang="en-US" sz="1000" dirty="0"/>
              <a:t>Built for AI Applications </a:t>
            </a:r>
          </a:p>
          <a:p>
            <a:pPr marL="171450" indent="-171450" algn="just">
              <a:buFont typeface="Arial" panose="020B0604020202020204" pitchFamily="34" charset="0"/>
              <a:buChar char="•"/>
            </a:pPr>
            <a:r>
              <a:rPr lang="en-US" sz="1000" dirty="0"/>
              <a:t>Azure Integration </a:t>
            </a:r>
          </a:p>
          <a:p>
            <a:pPr marL="171450" indent="-171450" algn="just">
              <a:buFont typeface="Arial" panose="020B0604020202020204" pitchFamily="34" charset="0"/>
              <a:buChar char="•"/>
            </a:pPr>
            <a:r>
              <a:rPr lang="en-US" sz="1000" dirty="0"/>
              <a:t>Open Source </a:t>
            </a:r>
          </a:p>
        </p:txBody>
      </p:sp>
      <p:sp>
        <p:nvSpPr>
          <p:cNvPr id="3" name="Title 2">
            <a:extLst>
              <a:ext uri="{FF2B5EF4-FFF2-40B4-BE49-F238E27FC236}">
                <a16:creationId xmlns:a16="http://schemas.microsoft.com/office/drawing/2014/main" id="{677D6EC4-5F46-1D03-EB22-8D2B47756900}"/>
              </a:ext>
            </a:extLst>
          </p:cNvPr>
          <p:cNvSpPr>
            <a:spLocks noGrp="1"/>
          </p:cNvSpPr>
          <p:nvPr>
            <p:ph type="title"/>
          </p:nvPr>
        </p:nvSpPr>
        <p:spPr/>
        <p:txBody>
          <a:bodyPr/>
          <a:lstStyle/>
          <a:p>
            <a:r>
              <a:rPr lang="en-US" sz="1600" dirty="0"/>
              <a:t>ML &amp; AI &amp; IOT Updates</a:t>
            </a:r>
            <a:endParaRPr lang="en-US" dirty="0"/>
          </a:p>
        </p:txBody>
      </p:sp>
      <p:sp>
        <p:nvSpPr>
          <p:cNvPr id="4" name="Text Placeholder 3">
            <a:extLst>
              <a:ext uri="{FF2B5EF4-FFF2-40B4-BE49-F238E27FC236}">
                <a16:creationId xmlns:a16="http://schemas.microsoft.com/office/drawing/2014/main" id="{9E7F362C-B3D5-1C89-D682-F7358D30D7BB}"/>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0F2BFFE4-0BC2-451D-B03A-16B7AD5312C9}"/>
              </a:ext>
            </a:extLst>
          </p:cNvPr>
          <p:cNvSpPr>
            <a:spLocks noGrp="1"/>
          </p:cNvSpPr>
          <p:nvPr>
            <p:ph type="body" sz="quarter" idx="16"/>
          </p:nvPr>
        </p:nvSpPr>
        <p:spPr>
          <a:xfrm>
            <a:off x="342900" y="855080"/>
            <a:ext cx="3955312" cy="2435755"/>
          </a:xfrm>
        </p:spPr>
        <p:txBody>
          <a:bodyPr/>
          <a:lstStyle/>
          <a:p>
            <a:pPr algn="just"/>
            <a:r>
              <a:rPr lang="en-US" dirty="0">
                <a:hlinkClick r:id="rId3"/>
              </a:rPr>
              <a:t>Public Preview: Fabric IQ Ontology Knowledge Source in Microsoft Foundry IQ</a:t>
            </a:r>
            <a:endParaRPr lang="en-US" dirty="0"/>
          </a:p>
          <a:p>
            <a:pPr algn="just"/>
            <a:r>
              <a:rPr lang="en-US" dirty="0"/>
              <a:t>Microsoft Foundry IQ now treats a Microsoft Fabric Ontology as a federated knowledge source in public preview, giving agents a way to query the semantic layer customers already curate in Fabric. Foundry IQ translates natural language questions into ontology-grounded queries and SQL against the entities, relationships, and bindings the Fabric team has defined, then returns results with citations back to the underlying Fabric tables. Analytics and platform teams can expose governed business definitions to agents without exporting data or maintaining a parallel schema. The source plugs into the same Foundry IQ retrieval flow as document and database sources, so a single agent call can combine ontology-grounded answers with unstructured knowledge. This release helps customers bring trusted business semantics into agentic applications.</a:t>
            </a:r>
          </a:p>
        </p:txBody>
      </p:sp>
    </p:spTree>
    <p:extLst>
      <p:ext uri="{BB962C8B-B14F-4D97-AF65-F5344CB8AC3E}">
        <p14:creationId xmlns:p14="http://schemas.microsoft.com/office/powerpoint/2010/main" val="1442424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B3899D4-FEE6-4E52-20E6-D12161814C60}"/>
              </a:ext>
            </a:extLst>
          </p:cNvPr>
          <p:cNvSpPr>
            <a:spLocks noGrp="1"/>
          </p:cNvSpPr>
          <p:nvPr>
            <p:ph type="body" sz="quarter" idx="10"/>
          </p:nvPr>
        </p:nvSpPr>
        <p:spPr/>
        <p:txBody>
          <a:bodyPr/>
          <a:lstStyle/>
          <a:p>
            <a:r>
              <a:rPr lang="en-US" sz="1000" dirty="0">
                <a:hlinkClick r:id="rId2"/>
              </a:rPr>
              <a:t>Public Preview: SharePoint in Microsoft 365 indexer supports ASPX pages and Lists</a:t>
            </a:r>
            <a:endParaRPr lang="en-US" sz="1000" dirty="0"/>
          </a:p>
          <a:p>
            <a:r>
              <a:rPr lang="en-US" sz="1000" dirty="0"/>
              <a:t>The </a:t>
            </a:r>
            <a:r>
              <a:rPr lang="en-US" sz="1000" b="1" dirty="0"/>
              <a:t>Azure AI Search SharePoint for Microsoft 365 Indexer</a:t>
            </a:r>
            <a:r>
              <a:rPr lang="en-US" sz="1000" dirty="0"/>
              <a:t> now supports indexing </a:t>
            </a:r>
            <a:r>
              <a:rPr lang="en-US" sz="1000" b="1" dirty="0"/>
              <a:t>ASPX site content and SharePoint Lists</a:t>
            </a:r>
            <a:r>
              <a:rPr lang="en-US" sz="1000" dirty="0"/>
              <a:t> in addition to traditional document libraries. The indexer connects through a </a:t>
            </a:r>
            <a:r>
              <a:rPr lang="en-US" sz="1000" b="1" dirty="0"/>
              <a:t>Microsoft Entra application registration</a:t>
            </a:r>
            <a:r>
              <a:rPr lang="en-US" sz="1000" dirty="0"/>
              <a:t> using either application or delegated permissions and supports </a:t>
            </a:r>
            <a:r>
              <a:rPr lang="en-US" sz="1000" b="1" dirty="0"/>
              <a:t>incremental synchronization</a:t>
            </a:r>
            <a:r>
              <a:rPr lang="en-US" sz="1000" dirty="0"/>
              <a:t>, automatically detecting new, updated, and deleted content. Administrators can define </a:t>
            </a:r>
            <a:r>
              <a:rPr lang="en-US" sz="1000" b="1" dirty="0"/>
              <a:t>inclusion and exclusion rules</a:t>
            </a:r>
            <a:r>
              <a:rPr lang="en-US" sz="1000" dirty="0"/>
              <a:t> to control which SharePoint sites, libraries, lists, or folders are indexed and can map additional SharePoint columns as searchable fields. The indexer continues to support </a:t>
            </a:r>
            <a:r>
              <a:rPr lang="en-US" sz="1000" b="1" dirty="0"/>
              <a:t>ACL preservation</a:t>
            </a:r>
            <a:r>
              <a:rPr lang="en-US" sz="1000" dirty="0"/>
              <a:t> and, in preview, </a:t>
            </a:r>
            <a:r>
              <a:rPr lang="en-US" sz="1000" b="1" dirty="0"/>
              <a:t>Microsoft Purview sensitivity label ingestion</a:t>
            </a:r>
            <a:r>
              <a:rPr lang="en-US" sz="1000" dirty="0"/>
              <a:t>, helping ensure that AI Search, RAG applications, and Copilot experiences respect enterprise security and compliance requirements. This enhancement enables organizations to build richer knowledge bases by incorporating both structured SharePoint data and traditional document content into a unified search experience.</a:t>
            </a:r>
          </a:p>
        </p:txBody>
      </p:sp>
      <p:sp>
        <p:nvSpPr>
          <p:cNvPr id="3" name="Title 2">
            <a:extLst>
              <a:ext uri="{FF2B5EF4-FFF2-40B4-BE49-F238E27FC236}">
                <a16:creationId xmlns:a16="http://schemas.microsoft.com/office/drawing/2014/main" id="{86E37CEC-8941-4FD6-0BC5-8B33729702F9}"/>
              </a:ext>
            </a:extLst>
          </p:cNvPr>
          <p:cNvSpPr>
            <a:spLocks noGrp="1"/>
          </p:cNvSpPr>
          <p:nvPr>
            <p:ph type="title"/>
          </p:nvPr>
        </p:nvSpPr>
        <p:spPr/>
        <p:txBody>
          <a:bodyPr/>
          <a:lstStyle/>
          <a:p>
            <a:r>
              <a:rPr lang="en-US" sz="1600" dirty="0"/>
              <a:t>ML &amp; AI &amp; IOT Updates</a:t>
            </a:r>
            <a:endParaRPr lang="en-US" dirty="0"/>
          </a:p>
        </p:txBody>
      </p:sp>
      <p:sp>
        <p:nvSpPr>
          <p:cNvPr id="4" name="Text Placeholder 3">
            <a:extLst>
              <a:ext uri="{FF2B5EF4-FFF2-40B4-BE49-F238E27FC236}">
                <a16:creationId xmlns:a16="http://schemas.microsoft.com/office/drawing/2014/main" id="{EB0660E8-1631-BFA6-8E5A-A6E4FBB3F7F3}"/>
              </a:ext>
            </a:extLst>
          </p:cNvPr>
          <p:cNvSpPr>
            <a:spLocks noGrp="1"/>
          </p:cNvSpPr>
          <p:nvPr>
            <p:ph type="body" sz="quarter" idx="15"/>
          </p:nvPr>
        </p:nvSpPr>
        <p:spPr/>
        <p:txBody>
          <a:bodyPr/>
          <a:lstStyle/>
          <a:p>
            <a:endParaRPr lang="en-US" dirty="0"/>
          </a:p>
        </p:txBody>
      </p:sp>
      <p:sp>
        <p:nvSpPr>
          <p:cNvPr id="5" name="Text Placeholder 4">
            <a:extLst>
              <a:ext uri="{FF2B5EF4-FFF2-40B4-BE49-F238E27FC236}">
                <a16:creationId xmlns:a16="http://schemas.microsoft.com/office/drawing/2014/main" id="{AD9DBE2E-7352-CA52-6A4B-08E4134E02A2}"/>
              </a:ext>
            </a:extLst>
          </p:cNvPr>
          <p:cNvSpPr>
            <a:spLocks noGrp="1"/>
          </p:cNvSpPr>
          <p:nvPr>
            <p:ph type="body" sz="quarter" idx="16"/>
          </p:nvPr>
        </p:nvSpPr>
        <p:spPr/>
        <p:txBody>
          <a:bodyPr/>
          <a:lstStyle/>
          <a:p>
            <a:r>
              <a:rPr lang="en-US" dirty="0">
                <a:hlinkClick r:id="rId3"/>
              </a:rPr>
              <a:t>Public Preview: Azure SQL as a knowledge source in Foundry IQ</a:t>
            </a:r>
            <a:endParaRPr lang="en-US" dirty="0"/>
          </a:p>
          <a:p>
            <a:r>
              <a:rPr lang="en-US" b="1" dirty="0"/>
              <a:t>Azure SQL Database</a:t>
            </a:r>
            <a:r>
              <a:rPr lang="en-US" dirty="0"/>
              <a:t> is now available as a </a:t>
            </a:r>
            <a:r>
              <a:rPr lang="en-US" b="1" dirty="0"/>
              <a:t>first-class Knowledge Source in Azure AI Search (public preview)</a:t>
            </a:r>
            <a:r>
              <a:rPr lang="en-US" dirty="0"/>
              <a:t>. This enables organizations to use </a:t>
            </a:r>
            <a:r>
              <a:rPr lang="en-US" b="1" dirty="0"/>
              <a:t>Azure SQL tables and views directly as searchable knowledge</a:t>
            </a:r>
            <a:r>
              <a:rPr lang="en-US" dirty="0"/>
              <a:t> for Copilots, RAG applications, Knowledge Bases, and Foundry agents. The integration leverages the familiar </a:t>
            </a:r>
            <a:r>
              <a:rPr lang="en-US" b="1" dirty="0"/>
              <a:t>Azure AI Search indexer framework</a:t>
            </a:r>
            <a:r>
              <a:rPr lang="en-US" dirty="0"/>
              <a:t>, simplifying ingestion and management without requiring custom data pipelines. Developers can ground AI responses using </a:t>
            </a:r>
            <a:r>
              <a:rPr lang="en-US" b="1" dirty="0"/>
              <a:t>live operational data</a:t>
            </a:r>
            <a:r>
              <a:rPr lang="en-US" dirty="0"/>
              <a:t>, such as customer records, transactions, and reference datasets, alongside unstructured content sources. Azure SQL joins other supported knowledge sources such as </a:t>
            </a:r>
            <a:r>
              <a:rPr lang="en-US" b="1" dirty="0"/>
              <a:t>SharePoint and </a:t>
            </a:r>
            <a:r>
              <a:rPr lang="en-US" b="1" dirty="0" err="1"/>
              <a:t>OneLake</a:t>
            </a:r>
            <a:r>
              <a:rPr lang="en-US" dirty="0"/>
              <a:t> under a unified configuration model. This creates a consolidated enterprise knowledge layer, improving the accuracy, relevance, and business value of AI-powered applications.</a:t>
            </a:r>
          </a:p>
        </p:txBody>
      </p:sp>
    </p:spTree>
    <p:extLst>
      <p:ext uri="{BB962C8B-B14F-4D97-AF65-F5344CB8AC3E}">
        <p14:creationId xmlns:p14="http://schemas.microsoft.com/office/powerpoint/2010/main" val="2806692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B3BDF3-E69F-52E5-A295-2B873C3CBA77}"/>
              </a:ext>
            </a:extLst>
          </p:cNvPr>
          <p:cNvSpPr>
            <a:spLocks noGrp="1"/>
          </p:cNvSpPr>
          <p:nvPr>
            <p:ph type="body" sz="quarter" idx="10"/>
          </p:nvPr>
        </p:nvSpPr>
        <p:spPr/>
        <p:txBody>
          <a:bodyPr/>
          <a:lstStyle/>
          <a:p>
            <a:pPr algn="just"/>
            <a:r>
              <a:rPr lang="en-US" sz="1000" dirty="0">
                <a:hlinkClick r:id="rId2"/>
              </a:rPr>
              <a:t>Public Preview: Neural HD voice update (HDv2.5) in Azure AI Speech</a:t>
            </a:r>
            <a:endParaRPr lang="en-US" sz="1000" dirty="0"/>
          </a:p>
          <a:p>
            <a:pPr algn="just"/>
            <a:r>
              <a:rPr lang="en-US" sz="1000" b="1" dirty="0"/>
              <a:t>Azure AI Speech</a:t>
            </a:r>
            <a:r>
              <a:rPr lang="en-US" sz="1000" dirty="0"/>
              <a:t> is rolling out an updated </a:t>
            </a:r>
            <a:r>
              <a:rPr lang="en-US" sz="1000" b="1" dirty="0"/>
              <a:t>Neural HD text-to-speech model (HDv2.5)</a:t>
            </a:r>
            <a:r>
              <a:rPr lang="en-US" sz="1000" dirty="0"/>
              <a:t>, replacing the previous </a:t>
            </a:r>
            <a:r>
              <a:rPr lang="en-US" sz="1000" b="1" dirty="0" err="1"/>
              <a:t>DragonHDLatest</a:t>
            </a:r>
            <a:r>
              <a:rPr lang="en-US" sz="1000" dirty="0"/>
              <a:t> model in public preview. The upgrade delivers </a:t>
            </a:r>
            <a:r>
              <a:rPr lang="en-US" sz="1000" b="1" dirty="0"/>
              <a:t>higher audio quality</a:t>
            </a:r>
            <a:r>
              <a:rPr lang="en-US" sz="1000" dirty="0"/>
              <a:t>, more natural speech synthesis, and enhanced expressiveness while maintaining compatibility with existing APIs and SSML implementations.</a:t>
            </a:r>
          </a:p>
          <a:p>
            <a:pPr algn="just"/>
            <a:r>
              <a:rPr lang="en-US" sz="1000" dirty="0"/>
              <a:t>Key improvements include:</a:t>
            </a:r>
          </a:p>
          <a:p>
            <a:pPr marL="171450" indent="-171450" algn="just">
              <a:buFont typeface="Arial" panose="020B0604020202020204" pitchFamily="34" charset="0"/>
              <a:buChar char="•"/>
            </a:pPr>
            <a:r>
              <a:rPr lang="en-US" sz="1000" b="1" dirty="0"/>
              <a:t>Improved speech quality and naturalness</a:t>
            </a:r>
            <a:r>
              <a:rPr lang="en-US" sz="1000" dirty="0"/>
              <a:t>, resulting in more human-like voice output. </a:t>
            </a:r>
          </a:p>
          <a:p>
            <a:pPr marL="171450" indent="-171450" algn="just">
              <a:buFont typeface="Arial" panose="020B0604020202020204" pitchFamily="34" charset="0"/>
              <a:buChar char="•"/>
            </a:pPr>
            <a:r>
              <a:rPr lang="en-US" sz="1000" b="1" dirty="0"/>
              <a:t>Support for style and paralinguistic tags</a:t>
            </a:r>
            <a:r>
              <a:rPr lang="en-US" sz="1000" dirty="0"/>
              <a:t> in English voices, enabling richer emotional expression, tone variation, and conversational delivery. </a:t>
            </a:r>
          </a:p>
          <a:p>
            <a:pPr marL="171450" indent="-171450" algn="just">
              <a:buFont typeface="Arial" panose="020B0604020202020204" pitchFamily="34" charset="0"/>
              <a:buChar char="•"/>
            </a:pPr>
            <a:r>
              <a:rPr lang="en-US" sz="1000" b="1" dirty="0"/>
              <a:t>Reduced word error rates</a:t>
            </a:r>
            <a:r>
              <a:rPr lang="en-US" sz="1000" dirty="0"/>
              <a:t> in secondary languages including Spanish, French, German, and Japanese, improving multilingual voice experiences. </a:t>
            </a:r>
          </a:p>
          <a:p>
            <a:pPr marL="171450" indent="-171450" algn="just">
              <a:buFont typeface="Arial" panose="020B0604020202020204" pitchFamily="34" charset="0"/>
              <a:buChar char="•"/>
            </a:pPr>
            <a:r>
              <a:rPr lang="en-US" sz="1000" b="1" dirty="0"/>
              <a:t>No application changes required</a:t>
            </a:r>
            <a:r>
              <a:rPr lang="en-US" sz="1000" dirty="0"/>
              <a:t>, as existing endpoints, SDKs, and SSML markup continue to function without modification. </a:t>
            </a:r>
          </a:p>
          <a:p>
            <a:pPr marL="171450" indent="-171450" algn="just">
              <a:buFont typeface="Arial" panose="020B0604020202020204" pitchFamily="34" charset="0"/>
              <a:buChar char="•"/>
            </a:pPr>
            <a:r>
              <a:rPr lang="en-US" sz="1000" b="1" dirty="0"/>
              <a:t>More consistent voice quality across languages</a:t>
            </a:r>
            <a:r>
              <a:rPr lang="en-US" sz="1000" dirty="0"/>
              <a:t>, helping organizations deliver a uniform customer experience in global deployments.</a:t>
            </a:r>
          </a:p>
          <a:p>
            <a:pPr algn="just"/>
            <a:endParaRPr lang="en-US" sz="1000" dirty="0"/>
          </a:p>
        </p:txBody>
      </p:sp>
      <p:sp>
        <p:nvSpPr>
          <p:cNvPr id="3" name="Title 2">
            <a:extLst>
              <a:ext uri="{FF2B5EF4-FFF2-40B4-BE49-F238E27FC236}">
                <a16:creationId xmlns:a16="http://schemas.microsoft.com/office/drawing/2014/main" id="{9E2186F1-1EE4-02E9-000B-56563F61440D}"/>
              </a:ext>
            </a:extLst>
          </p:cNvPr>
          <p:cNvSpPr>
            <a:spLocks noGrp="1"/>
          </p:cNvSpPr>
          <p:nvPr>
            <p:ph type="title"/>
          </p:nvPr>
        </p:nvSpPr>
        <p:spPr/>
        <p:txBody>
          <a:bodyPr/>
          <a:lstStyle/>
          <a:p>
            <a:r>
              <a:rPr lang="en-US" sz="1600" dirty="0"/>
              <a:t>ML &amp; AI &amp; IOT Updates</a:t>
            </a:r>
            <a:endParaRPr lang="en-US" dirty="0"/>
          </a:p>
        </p:txBody>
      </p:sp>
      <p:sp>
        <p:nvSpPr>
          <p:cNvPr id="4" name="Text Placeholder 3">
            <a:extLst>
              <a:ext uri="{FF2B5EF4-FFF2-40B4-BE49-F238E27FC236}">
                <a16:creationId xmlns:a16="http://schemas.microsoft.com/office/drawing/2014/main" id="{2E175665-0545-E24B-A509-9EF6D8D52700}"/>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A2BAFC26-DF74-6B33-A989-5C9D2DEFEA47}"/>
              </a:ext>
            </a:extLst>
          </p:cNvPr>
          <p:cNvSpPr>
            <a:spLocks noGrp="1"/>
          </p:cNvSpPr>
          <p:nvPr>
            <p:ph type="body" sz="quarter" idx="16"/>
          </p:nvPr>
        </p:nvSpPr>
        <p:spPr/>
        <p:txBody>
          <a:bodyPr/>
          <a:lstStyle/>
          <a:p>
            <a:pPr algn="just"/>
            <a:r>
              <a:rPr lang="en-US" dirty="0">
                <a:hlinkClick r:id="rId3"/>
              </a:rPr>
              <a:t>Public Preview: Content Understanding chunking and image verbalization in Azure AI Search</a:t>
            </a:r>
            <a:endParaRPr lang="en-US" dirty="0"/>
          </a:p>
          <a:p>
            <a:pPr algn="just"/>
            <a:r>
              <a:rPr lang="en-US" b="1" dirty="0"/>
              <a:t>Azure AI Search</a:t>
            </a:r>
            <a:r>
              <a:rPr lang="en-US" dirty="0"/>
              <a:t> now supports </a:t>
            </a:r>
            <a:r>
              <a:rPr lang="en-US" b="1" dirty="0"/>
              <a:t>Content Understanding chunking and image verbalization (public preview)</a:t>
            </a:r>
            <a:r>
              <a:rPr lang="en-US" dirty="0"/>
              <a:t>, enhancing document processing and retrieval quality for AI-powered search and RAG applications. During indexing, the service can automatically split documents into </a:t>
            </a:r>
            <a:r>
              <a:rPr lang="en-US" b="1" dirty="0"/>
              <a:t>semantically meaningful chunks</a:t>
            </a:r>
            <a:r>
              <a:rPr lang="en-US" dirty="0"/>
              <a:t> and generate </a:t>
            </a:r>
            <a:r>
              <a:rPr lang="en-US" b="1" dirty="0"/>
              <a:t>text descriptions for embedded images, charts, diagrams, and visual content</a:t>
            </a:r>
            <a:r>
              <a:rPr lang="en-US" dirty="0"/>
              <a:t>.</a:t>
            </a:r>
          </a:p>
          <a:p>
            <a:pPr algn="just"/>
            <a:r>
              <a:rPr lang="en-US" dirty="0"/>
              <a:t>Key benefits include:</a:t>
            </a:r>
          </a:p>
          <a:p>
            <a:pPr marL="171450" indent="-171450" algn="just">
              <a:buFont typeface="Arial" panose="020B0604020202020204" pitchFamily="34" charset="0"/>
              <a:buChar char="•"/>
            </a:pPr>
            <a:r>
              <a:rPr lang="en-US" b="1" dirty="0"/>
              <a:t>Semantic chunking</a:t>
            </a:r>
            <a:r>
              <a:rPr lang="en-US" dirty="0"/>
              <a:t> that improves retrieval accuracy by preserving document context instead of relying solely on fixed-size text segmentation. </a:t>
            </a:r>
          </a:p>
          <a:p>
            <a:pPr marL="171450" indent="-171450" algn="just">
              <a:buFont typeface="Arial" panose="020B0604020202020204" pitchFamily="34" charset="0"/>
              <a:buChar char="•"/>
            </a:pPr>
            <a:r>
              <a:rPr lang="en-US" b="1" dirty="0"/>
              <a:t>Image verbalization</a:t>
            </a:r>
            <a:r>
              <a:rPr lang="en-US" dirty="0"/>
              <a:t>, which converts visual content into searchable text representations, ensuring important information contained in diagrams, charts, and images is included in search and AI responses. </a:t>
            </a:r>
          </a:p>
          <a:p>
            <a:pPr marL="171450" indent="-171450" algn="just">
              <a:buFont typeface="Arial" panose="020B0604020202020204" pitchFamily="34" charset="0"/>
              <a:buChar char="•"/>
            </a:pPr>
            <a:r>
              <a:rPr lang="en-US" b="1" dirty="0"/>
              <a:t>Improved RAG performance</a:t>
            </a:r>
            <a:r>
              <a:rPr lang="en-US" dirty="0"/>
              <a:t>, as each chunk can contain both textual and visual context, leading to more accurate and complete answers. </a:t>
            </a:r>
          </a:p>
          <a:p>
            <a:pPr marL="171450" indent="-171450" algn="just">
              <a:buFont typeface="Arial" panose="020B0604020202020204" pitchFamily="34" charset="0"/>
              <a:buChar char="•"/>
            </a:pPr>
            <a:r>
              <a:rPr lang="en-US" b="1" dirty="0"/>
              <a:t>Support for complex content types</a:t>
            </a:r>
            <a:r>
              <a:rPr lang="en-US" dirty="0"/>
              <a:t> such as slide decks, technical documentation, engineering diagrams, manuals, and scanned forms. </a:t>
            </a:r>
          </a:p>
          <a:p>
            <a:pPr marL="171450" indent="-171450" algn="just">
              <a:buFont typeface="Arial" panose="020B0604020202020204" pitchFamily="34" charset="0"/>
              <a:buChar char="•"/>
            </a:pPr>
            <a:r>
              <a:rPr lang="en-US" b="1" dirty="0"/>
              <a:t>Integration with existing Azure AI Search skillsets and integrated vectorization workflows</a:t>
            </a:r>
            <a:r>
              <a:rPr lang="en-US" dirty="0"/>
              <a:t>, allowing organizations to enhance current indexes without redesigning their architecture.</a:t>
            </a:r>
          </a:p>
          <a:p>
            <a:pPr algn="just"/>
            <a:endParaRPr lang="en-US" dirty="0"/>
          </a:p>
        </p:txBody>
      </p:sp>
    </p:spTree>
    <p:extLst>
      <p:ext uri="{BB962C8B-B14F-4D97-AF65-F5344CB8AC3E}">
        <p14:creationId xmlns:p14="http://schemas.microsoft.com/office/powerpoint/2010/main" val="3377036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3" end="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4" end="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
                                            <p:txEl>
                                              <p:pRg st="5" end="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06F103F-C29A-4E8B-86AE-69D1D14CF133}"/>
              </a:ext>
            </a:extLst>
          </p:cNvPr>
          <p:cNvSpPr>
            <a:spLocks noGrp="1"/>
          </p:cNvSpPr>
          <p:nvPr>
            <p:ph type="body" sz="quarter" idx="10"/>
          </p:nvPr>
        </p:nvSpPr>
        <p:spPr/>
        <p:txBody>
          <a:bodyPr/>
          <a:lstStyle/>
          <a:p>
            <a:pPr algn="just"/>
            <a:r>
              <a:rPr lang="en-US" sz="1000" dirty="0">
                <a:hlinkClick r:id="rId2"/>
              </a:rPr>
              <a:t>Public Preview: MAI-Voice-2 in Microsoft Foundry</a:t>
            </a:r>
            <a:endParaRPr lang="en-US" sz="1000" dirty="0"/>
          </a:p>
          <a:p>
            <a:pPr algn="just"/>
            <a:r>
              <a:rPr lang="en-US" sz="1000" b="1" dirty="0"/>
              <a:t>MAI-Voice-2 (Public Preview)</a:t>
            </a:r>
            <a:r>
              <a:rPr lang="en-US" sz="1000" dirty="0"/>
              <a:t> is Microsoft's new </a:t>
            </a:r>
            <a:r>
              <a:rPr lang="en-US" sz="1000" b="1" dirty="0"/>
              <a:t>first-party voice generation model</a:t>
            </a:r>
            <a:r>
              <a:rPr lang="en-US" sz="1000" dirty="0"/>
              <a:t> available through </a:t>
            </a:r>
            <a:r>
              <a:rPr lang="en-US" sz="1000" b="1" dirty="0"/>
              <a:t>Microsoft Foundry</a:t>
            </a:r>
            <a:r>
              <a:rPr lang="en-US" sz="1000" dirty="0"/>
              <a:t>. The model enables organizations to create highly natural speech experiences with support for </a:t>
            </a:r>
            <a:r>
              <a:rPr lang="en-US" sz="1000" b="1" dirty="0"/>
              <a:t>more than 10 languages</a:t>
            </a:r>
            <a:r>
              <a:rPr lang="en-US" sz="1000" dirty="0"/>
              <a:t>, </a:t>
            </a:r>
            <a:r>
              <a:rPr lang="en-US" sz="1000" b="1" dirty="0"/>
              <a:t>voice cloning</a:t>
            </a:r>
            <a:r>
              <a:rPr lang="en-US" sz="1000" dirty="0"/>
              <a:t>, and </a:t>
            </a:r>
            <a:r>
              <a:rPr lang="en-US" sz="1000" b="1" dirty="0"/>
              <a:t>prompt-based voice customization</a:t>
            </a:r>
            <a:r>
              <a:rPr lang="en-US" sz="1000" dirty="0"/>
              <a:t>.</a:t>
            </a:r>
          </a:p>
          <a:p>
            <a:pPr algn="just"/>
            <a:r>
              <a:rPr lang="en-US" sz="1000" b="1" dirty="0"/>
              <a:t>Key Capabilities</a:t>
            </a:r>
          </a:p>
          <a:p>
            <a:pPr marL="171450" indent="-171450" algn="just">
              <a:buFont typeface="Arial" panose="020B0604020202020204" pitchFamily="34" charset="0"/>
              <a:buChar char="•"/>
            </a:pPr>
            <a:r>
              <a:rPr lang="en-US" sz="1000" dirty="0"/>
              <a:t>Multilingual Speech Generation </a:t>
            </a:r>
          </a:p>
          <a:p>
            <a:pPr marL="171450" indent="-171450" algn="just">
              <a:buFont typeface="Arial" panose="020B0604020202020204" pitchFamily="34" charset="0"/>
              <a:buChar char="•"/>
            </a:pPr>
            <a:r>
              <a:rPr lang="en-US" sz="1000" dirty="0"/>
              <a:t>Voice Cloning </a:t>
            </a:r>
          </a:p>
          <a:p>
            <a:pPr marL="171450" indent="-171450" algn="just">
              <a:buFont typeface="Arial" panose="020B0604020202020204" pitchFamily="34" charset="0"/>
              <a:buChar char="•"/>
            </a:pPr>
            <a:r>
              <a:rPr lang="en-US" sz="1000" dirty="0"/>
              <a:t>Voice Prompting </a:t>
            </a:r>
          </a:p>
          <a:p>
            <a:pPr marL="171450" indent="-171450" algn="just">
              <a:buFont typeface="Arial" panose="020B0604020202020204" pitchFamily="34" charset="0"/>
              <a:buChar char="•"/>
            </a:pPr>
            <a:r>
              <a:rPr lang="en-US" sz="1000" dirty="0"/>
              <a:t>Unified Foundry Experience </a:t>
            </a:r>
          </a:p>
          <a:p>
            <a:pPr marL="171450" indent="-171450" algn="just">
              <a:buFont typeface="Arial" panose="020B0604020202020204" pitchFamily="34" charset="0"/>
              <a:buChar char="•"/>
            </a:pPr>
            <a:r>
              <a:rPr lang="en-US" sz="1000" dirty="0"/>
              <a:t>Microsoft-Managed Governance </a:t>
            </a:r>
          </a:p>
          <a:p>
            <a:pPr algn="just"/>
            <a:endParaRPr lang="en-US" sz="1000" dirty="0"/>
          </a:p>
        </p:txBody>
      </p:sp>
      <p:sp>
        <p:nvSpPr>
          <p:cNvPr id="3" name="Title 2">
            <a:extLst>
              <a:ext uri="{FF2B5EF4-FFF2-40B4-BE49-F238E27FC236}">
                <a16:creationId xmlns:a16="http://schemas.microsoft.com/office/drawing/2014/main" id="{5FC3DDD5-4CA1-49DE-B67A-214DD6105C0B}"/>
              </a:ext>
            </a:extLst>
          </p:cNvPr>
          <p:cNvSpPr>
            <a:spLocks noGrp="1"/>
          </p:cNvSpPr>
          <p:nvPr>
            <p:ph type="title"/>
          </p:nvPr>
        </p:nvSpPr>
        <p:spPr/>
        <p:txBody>
          <a:bodyPr/>
          <a:lstStyle/>
          <a:p>
            <a:r>
              <a:rPr lang="en-US" sz="1600" dirty="0"/>
              <a:t>ML &amp; AI &amp; IOT Updates</a:t>
            </a:r>
            <a:endParaRPr lang="en-US" dirty="0"/>
          </a:p>
        </p:txBody>
      </p:sp>
      <p:sp>
        <p:nvSpPr>
          <p:cNvPr id="4" name="Text Placeholder 3">
            <a:extLst>
              <a:ext uri="{FF2B5EF4-FFF2-40B4-BE49-F238E27FC236}">
                <a16:creationId xmlns:a16="http://schemas.microsoft.com/office/drawing/2014/main" id="{4E468FA1-0817-DE1B-9C4F-ECAE57914B58}"/>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B83DAE5C-A515-646F-9BFA-06EA3AFFA95A}"/>
              </a:ext>
            </a:extLst>
          </p:cNvPr>
          <p:cNvSpPr>
            <a:spLocks noGrp="1"/>
          </p:cNvSpPr>
          <p:nvPr>
            <p:ph type="body" sz="quarter" idx="16"/>
          </p:nvPr>
        </p:nvSpPr>
        <p:spPr/>
        <p:txBody>
          <a:bodyPr/>
          <a:lstStyle/>
          <a:p>
            <a:pPr algn="just"/>
            <a:r>
              <a:rPr lang="en-US" dirty="0">
                <a:hlinkClick r:id="rId3"/>
              </a:rPr>
              <a:t>Public Preview: Copilot-assisted coding &amp; agent skills to build, deploy, and run Azure Functions faster in VS Code, CLI, and </a:t>
            </a:r>
            <a:r>
              <a:rPr lang="en-US" dirty="0" err="1">
                <a:hlinkClick r:id="rId3"/>
              </a:rPr>
              <a:t>azd</a:t>
            </a:r>
            <a:endParaRPr lang="en-US" dirty="0"/>
          </a:p>
          <a:p>
            <a:pPr algn="just"/>
            <a:r>
              <a:rPr lang="en-US" b="1" dirty="0"/>
              <a:t>Azure Functions AI Assistant Skills (Public Preview)</a:t>
            </a:r>
            <a:r>
              <a:rPr lang="en-US" dirty="0"/>
              <a:t> provide a set of </a:t>
            </a:r>
            <a:r>
              <a:rPr lang="en-US" b="1" dirty="0"/>
              <a:t>agent skills and plugins</a:t>
            </a:r>
            <a:r>
              <a:rPr lang="en-US" dirty="0"/>
              <a:t> that enhance AI coding assistants such as </a:t>
            </a:r>
            <a:r>
              <a:rPr lang="en-US" b="1" dirty="0"/>
              <a:t>GitHub Copilot, Claude Code, and Codex</a:t>
            </a:r>
            <a:r>
              <a:rPr lang="en-US" dirty="0"/>
              <a:t> with up-to-date Azure Functions expertise. With a simple installation, developers gain access to AI guidance grounded in the latest Azure documentation, best practices, and operational knowledge rather than relying solely on a model's training data.</a:t>
            </a:r>
          </a:p>
          <a:p>
            <a:pPr algn="just"/>
            <a:r>
              <a:rPr lang="en-US" b="1" dirty="0"/>
              <a:t>Key Benefits</a:t>
            </a:r>
          </a:p>
          <a:p>
            <a:pPr marL="171450" indent="-171450" algn="just">
              <a:buFont typeface="Arial" panose="020B0604020202020204" pitchFamily="34" charset="0"/>
              <a:buChar char="•"/>
            </a:pPr>
            <a:r>
              <a:rPr lang="en-US" dirty="0"/>
              <a:t>More Accurate AI Assistance </a:t>
            </a:r>
          </a:p>
          <a:p>
            <a:pPr marL="171450" indent="-171450" algn="just">
              <a:buFont typeface="Arial" panose="020B0604020202020204" pitchFamily="34" charset="0"/>
              <a:buChar char="•"/>
            </a:pPr>
            <a:r>
              <a:rPr lang="en-US" dirty="0"/>
              <a:t>Works Across Multiple AI Assistants </a:t>
            </a:r>
          </a:p>
          <a:p>
            <a:pPr marL="171450" indent="-171450" algn="just">
              <a:buFont typeface="Arial" panose="020B0604020202020204" pitchFamily="34" charset="0"/>
              <a:buChar char="•"/>
            </a:pPr>
            <a:r>
              <a:rPr lang="en-US" dirty="0"/>
              <a:t>End-to-End Azure Functions Support </a:t>
            </a:r>
          </a:p>
          <a:p>
            <a:pPr marL="171450" indent="-171450" algn="just">
              <a:buFont typeface="Arial" panose="020B0604020202020204" pitchFamily="34" charset="0"/>
              <a:buChar char="•"/>
            </a:pPr>
            <a:r>
              <a:rPr lang="en-US" dirty="0"/>
              <a:t>Grounded in Official Azure Guidance </a:t>
            </a:r>
          </a:p>
        </p:txBody>
      </p:sp>
    </p:spTree>
    <p:extLst>
      <p:ext uri="{BB962C8B-B14F-4D97-AF65-F5344CB8AC3E}">
        <p14:creationId xmlns:p14="http://schemas.microsoft.com/office/powerpoint/2010/main" val="1988102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5" end="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560CB4D-0661-BA62-6237-094A04888812}"/>
              </a:ext>
            </a:extLst>
          </p:cNvPr>
          <p:cNvSpPr>
            <a:spLocks noGrp="1"/>
          </p:cNvSpPr>
          <p:nvPr>
            <p:ph type="body" sz="quarter" idx="10"/>
          </p:nvPr>
        </p:nvSpPr>
        <p:spPr/>
        <p:txBody>
          <a:bodyPr/>
          <a:lstStyle/>
          <a:p>
            <a:pPr algn="just"/>
            <a:r>
              <a:rPr lang="en-US" sz="1000" dirty="0">
                <a:hlinkClick r:id="rId2"/>
              </a:rPr>
              <a:t>Public Preview: Domain filter for specialized model discovery in Foundry model catalog</a:t>
            </a:r>
            <a:endParaRPr lang="en-US" sz="1000" dirty="0"/>
          </a:p>
          <a:p>
            <a:pPr algn="just"/>
            <a:r>
              <a:rPr lang="en-US" sz="1000" dirty="0"/>
              <a:t>Microsoft Foundry model catalog adds a domain filter in public preview, helping developers narrow the catalog of over 1,900 models to the ones trained for a specific industry or use case. Filters cover domains such as robotics, biomedical sciences, materials discovery, and coding. The filter sits alongside existing filters for publisher, modality, deployment type, and capability, so a developer searching for a robotics-tuned reasoning model can find it in a few clicks instead of scrolling through hundreds of general-purpose entries. The same filter is exposed through the catalog REST API, which lets internal model-discovery portals built on top of Foundry surface domain-specific shortlists for their developer audiences. </a:t>
            </a:r>
          </a:p>
        </p:txBody>
      </p:sp>
      <p:sp>
        <p:nvSpPr>
          <p:cNvPr id="3" name="Title 2">
            <a:extLst>
              <a:ext uri="{FF2B5EF4-FFF2-40B4-BE49-F238E27FC236}">
                <a16:creationId xmlns:a16="http://schemas.microsoft.com/office/drawing/2014/main" id="{30984C4E-595C-F9A4-EE93-704D817AA51B}"/>
              </a:ext>
            </a:extLst>
          </p:cNvPr>
          <p:cNvSpPr>
            <a:spLocks noGrp="1"/>
          </p:cNvSpPr>
          <p:nvPr>
            <p:ph type="title"/>
          </p:nvPr>
        </p:nvSpPr>
        <p:spPr/>
        <p:txBody>
          <a:bodyPr/>
          <a:lstStyle/>
          <a:p>
            <a:r>
              <a:rPr lang="en-US" sz="1600" dirty="0"/>
              <a:t>ML &amp; AI &amp; IOT Updates</a:t>
            </a:r>
            <a:endParaRPr lang="en-US" dirty="0"/>
          </a:p>
        </p:txBody>
      </p:sp>
      <p:sp>
        <p:nvSpPr>
          <p:cNvPr id="4" name="Text Placeholder 3">
            <a:extLst>
              <a:ext uri="{FF2B5EF4-FFF2-40B4-BE49-F238E27FC236}">
                <a16:creationId xmlns:a16="http://schemas.microsoft.com/office/drawing/2014/main" id="{AF564F46-8534-6771-B48F-A4908D7DD052}"/>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29AB9758-412C-572D-76B0-9D522D76D75C}"/>
              </a:ext>
            </a:extLst>
          </p:cNvPr>
          <p:cNvSpPr>
            <a:spLocks noGrp="1"/>
          </p:cNvSpPr>
          <p:nvPr>
            <p:ph type="body" sz="quarter" idx="16"/>
          </p:nvPr>
        </p:nvSpPr>
        <p:spPr/>
        <p:txBody>
          <a:bodyPr/>
          <a:lstStyle/>
          <a:p>
            <a:pPr algn="just"/>
            <a:r>
              <a:rPr lang="en-US" dirty="0">
                <a:hlinkClick r:id="rId3"/>
              </a:rPr>
              <a:t>Public Preview: Evaluations with Intelligent Trace Sampling</a:t>
            </a:r>
            <a:endParaRPr lang="en-US" dirty="0"/>
          </a:p>
          <a:p>
            <a:pPr algn="just"/>
            <a:r>
              <a:rPr lang="en-US" dirty="0"/>
              <a:t>Microsoft Foundry observability introduces intelligent trace filtering and sampling for evaluations in public preview. Instead of running evaluations against all production traces, Foundry now select a representative subset of traces using a multi-stage </a:t>
            </a:r>
            <a:r>
              <a:rPr lang="en-US" dirty="0" err="1"/>
              <a:t>MinHash</a:t>
            </a:r>
            <a:r>
              <a:rPr lang="en-US" dirty="0"/>
              <a:t> farthest-first diversity algorithm, including deduplication, hard filers, aggregation and diversity-based selection for evaluation. This approach improves cost efficiency while producing significantly higher lexical diversity and diverse coverage compared to random sampling. Intelligent sampling is particularly effective for: evaluation and benchmarks, rubric generation and finetuning dataset curation.</a:t>
            </a:r>
          </a:p>
        </p:txBody>
      </p:sp>
    </p:spTree>
    <p:extLst>
      <p:ext uri="{BB962C8B-B14F-4D97-AF65-F5344CB8AC3E}">
        <p14:creationId xmlns:p14="http://schemas.microsoft.com/office/powerpoint/2010/main" val="21097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EDBE44D-7612-307C-0A9B-CE66A9D70F78}"/>
              </a:ext>
            </a:extLst>
          </p:cNvPr>
          <p:cNvSpPr>
            <a:spLocks noGrp="1"/>
          </p:cNvSpPr>
          <p:nvPr>
            <p:ph type="body" sz="quarter" idx="10"/>
          </p:nvPr>
        </p:nvSpPr>
        <p:spPr/>
        <p:txBody>
          <a:bodyPr/>
          <a:lstStyle/>
          <a:p>
            <a:pPr algn="just"/>
            <a:r>
              <a:rPr lang="en-US" sz="1000" dirty="0">
                <a:hlinkClick r:id="rId2"/>
              </a:rPr>
              <a:t>Public Preview: Rubric evaluator in Microsoft Foundry</a:t>
            </a:r>
            <a:endParaRPr lang="en-US" sz="1000" dirty="0"/>
          </a:p>
          <a:p>
            <a:pPr algn="just"/>
            <a:r>
              <a:rPr lang="en-US" sz="1000" dirty="0"/>
              <a:t>Microsoft Foundry introduces rubric evaluators for measuring agent quality, now in public preview for single-turn and multi-turn agent flows. Rubric evaluators enable developers to define context-specific evaluation criteria using agent prompts, production traces and context-specific files with weighted dimensions and optional human review, ensuring that quality is measured against what truly matters for each scenario. This establishes a reliable baseline that is powering downstream workflows, including evaluation, optimization, regression testing and deployment gates. </a:t>
            </a:r>
          </a:p>
        </p:txBody>
      </p:sp>
      <p:sp>
        <p:nvSpPr>
          <p:cNvPr id="3" name="Title 2">
            <a:extLst>
              <a:ext uri="{FF2B5EF4-FFF2-40B4-BE49-F238E27FC236}">
                <a16:creationId xmlns:a16="http://schemas.microsoft.com/office/drawing/2014/main" id="{167F1E8B-1739-ABE5-A1FD-0C67239186BB}"/>
              </a:ext>
            </a:extLst>
          </p:cNvPr>
          <p:cNvSpPr>
            <a:spLocks noGrp="1"/>
          </p:cNvSpPr>
          <p:nvPr>
            <p:ph type="title"/>
          </p:nvPr>
        </p:nvSpPr>
        <p:spPr/>
        <p:txBody>
          <a:bodyPr/>
          <a:lstStyle/>
          <a:p>
            <a:r>
              <a:rPr lang="en-US" sz="1600" dirty="0"/>
              <a:t>ML &amp; AI &amp; IOT Updates</a:t>
            </a:r>
            <a:endParaRPr lang="en-US" dirty="0"/>
          </a:p>
        </p:txBody>
      </p:sp>
      <p:sp>
        <p:nvSpPr>
          <p:cNvPr id="4" name="Text Placeholder 3">
            <a:extLst>
              <a:ext uri="{FF2B5EF4-FFF2-40B4-BE49-F238E27FC236}">
                <a16:creationId xmlns:a16="http://schemas.microsoft.com/office/drawing/2014/main" id="{5A33FDED-F005-8F1D-D28E-88DD92486BFA}"/>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F83CE43F-50FD-F084-3E6C-B79344CBA77F}"/>
              </a:ext>
            </a:extLst>
          </p:cNvPr>
          <p:cNvSpPr>
            <a:spLocks noGrp="1"/>
          </p:cNvSpPr>
          <p:nvPr>
            <p:ph type="body" sz="quarter" idx="16"/>
          </p:nvPr>
        </p:nvSpPr>
        <p:spPr/>
        <p:txBody>
          <a:bodyPr/>
          <a:lstStyle/>
          <a:p>
            <a:pPr algn="just"/>
            <a:r>
              <a:rPr lang="en-US" dirty="0">
                <a:hlinkClick r:id="rId3"/>
              </a:rPr>
              <a:t>Public Preview: </a:t>
            </a:r>
            <a:r>
              <a:rPr lang="en-US" dirty="0" err="1">
                <a:hlinkClick r:id="rId3"/>
              </a:rPr>
              <a:t>TextPII</a:t>
            </a:r>
            <a:r>
              <a:rPr lang="en-US" dirty="0">
                <a:hlinkClick r:id="rId3"/>
              </a:rPr>
              <a:t> NextGen Playground updates in Microsoft Foundry</a:t>
            </a:r>
            <a:endParaRPr lang="en-US" dirty="0"/>
          </a:p>
          <a:p>
            <a:pPr algn="just"/>
            <a:r>
              <a:rPr lang="en-US" dirty="0"/>
              <a:t>In public preview, Microsoft Foundry now offers an updated </a:t>
            </a:r>
            <a:r>
              <a:rPr lang="en-US" dirty="0" err="1"/>
              <a:t>TextPII</a:t>
            </a:r>
            <a:r>
              <a:rPr lang="en-US" dirty="0"/>
              <a:t> NextGen Playground with a refreshed API Configuration Panel, including preview features introduced at Ignite 2025. This update lets developers test predefined PII categories, redaction modes, and language settings interactively before integrating the API into production workflows. By providing a single interactive environment to validate configurations against sensitive text inputs, the playground reduces the learning curve for new preview capabilities and helps teams govern the AI lifecycle by catching misconfigurations early. The experience supports common PII detection scenarios such as document sanitization, transcript redaction, and dataset preparation for analytics. Preview availability and exact configuration options may evolve before general availability. To get started, open the </a:t>
            </a:r>
            <a:r>
              <a:rPr lang="en-US" dirty="0" err="1"/>
              <a:t>TextPII</a:t>
            </a:r>
            <a:r>
              <a:rPr lang="en-US" dirty="0"/>
              <a:t> playground in Microsoft Foundry and explore the updated configuration panel. </a:t>
            </a:r>
          </a:p>
        </p:txBody>
      </p:sp>
    </p:spTree>
    <p:extLst>
      <p:ext uri="{BB962C8B-B14F-4D97-AF65-F5344CB8AC3E}">
        <p14:creationId xmlns:p14="http://schemas.microsoft.com/office/powerpoint/2010/main" val="2038112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44010BD-F6EF-99D0-2E6C-BC82801D5AE8}"/>
              </a:ext>
            </a:extLst>
          </p:cNvPr>
          <p:cNvSpPr>
            <a:spLocks noGrp="1"/>
          </p:cNvSpPr>
          <p:nvPr>
            <p:ph type="body" sz="quarter" idx="10"/>
          </p:nvPr>
        </p:nvSpPr>
        <p:spPr/>
        <p:txBody>
          <a:bodyPr/>
          <a:lstStyle/>
          <a:p>
            <a:endParaRPr lang="en-US"/>
          </a:p>
        </p:txBody>
      </p:sp>
      <p:sp>
        <p:nvSpPr>
          <p:cNvPr id="3" name="Title 2">
            <a:extLst>
              <a:ext uri="{FF2B5EF4-FFF2-40B4-BE49-F238E27FC236}">
                <a16:creationId xmlns:a16="http://schemas.microsoft.com/office/drawing/2014/main" id="{BBA4007B-2674-F128-D085-BFAB290074E4}"/>
              </a:ext>
            </a:extLst>
          </p:cNvPr>
          <p:cNvSpPr>
            <a:spLocks noGrp="1"/>
          </p:cNvSpPr>
          <p:nvPr>
            <p:ph type="title"/>
          </p:nvPr>
        </p:nvSpPr>
        <p:spPr/>
        <p:txBody>
          <a:bodyPr/>
          <a:lstStyle/>
          <a:p>
            <a:r>
              <a:rPr lang="en-US" sz="1800" dirty="0"/>
              <a:t>ML &amp; AI &amp; IOT Updates</a:t>
            </a:r>
            <a:endParaRPr lang="en-US" dirty="0"/>
          </a:p>
        </p:txBody>
      </p:sp>
      <p:sp>
        <p:nvSpPr>
          <p:cNvPr id="4" name="Text Placeholder 3">
            <a:extLst>
              <a:ext uri="{FF2B5EF4-FFF2-40B4-BE49-F238E27FC236}">
                <a16:creationId xmlns:a16="http://schemas.microsoft.com/office/drawing/2014/main" id="{4733BEA2-A934-052E-6DB7-C55A6E81D9D8}"/>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513C58E4-0A01-7C17-6889-326AAEF76C91}"/>
              </a:ext>
            </a:extLst>
          </p:cNvPr>
          <p:cNvSpPr>
            <a:spLocks noGrp="1"/>
          </p:cNvSpPr>
          <p:nvPr>
            <p:ph type="body" sz="quarter" idx="16"/>
          </p:nvPr>
        </p:nvSpPr>
        <p:spPr/>
        <p:txBody>
          <a:bodyPr/>
          <a:lstStyle/>
          <a:p>
            <a:pPr algn="just"/>
            <a:r>
              <a:rPr lang="en-US" dirty="0">
                <a:hlinkClick r:id="rId2"/>
              </a:rPr>
              <a:t>Azure Sphere OS version 26.06 is now available</a:t>
            </a:r>
            <a:endParaRPr lang="en-US" dirty="0"/>
          </a:p>
          <a:p>
            <a:pPr algn="just"/>
            <a:r>
              <a:rPr lang="en-US" dirty="0"/>
              <a:t>Azure Sphere OS version 26.06 is now available in the </a:t>
            </a:r>
            <a:r>
              <a:rPr lang="en-US" b="1" dirty="0"/>
              <a:t>Retail </a:t>
            </a:r>
            <a:r>
              <a:rPr lang="en-US" dirty="0"/>
              <a:t>feed. This release includes updates to both the Azure Sphere OS and SDK. If your devices are connected to the internet, they will receive the updated OS from the cloud.</a:t>
            </a:r>
          </a:p>
          <a:p>
            <a:pPr algn="just"/>
            <a:r>
              <a:rPr lang="en-US" dirty="0"/>
              <a:t>The 26.06 OS Retail release includes significant underlying build system updates and addresses several CVEs, whilst the SDK release includes various bug fixes.</a:t>
            </a:r>
          </a:p>
        </p:txBody>
      </p:sp>
    </p:spTree>
    <p:extLst>
      <p:ext uri="{BB962C8B-B14F-4D97-AF65-F5344CB8AC3E}">
        <p14:creationId xmlns:p14="http://schemas.microsoft.com/office/powerpoint/2010/main" val="1392512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51C19-26D9-F0EC-D258-E03F4480B96F}"/>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17E32E8D-64A0-E920-A41E-F85F4412591D}"/>
              </a:ext>
            </a:extLst>
          </p:cNvPr>
          <p:cNvSpPr>
            <a:spLocks noGrp="1"/>
          </p:cNvSpPr>
          <p:nvPr>
            <p:ph type="body" sz="quarter" idx="10"/>
          </p:nvPr>
        </p:nvSpPr>
        <p:spPr/>
        <p:txBody>
          <a:bodyPr/>
          <a:lstStyle/>
          <a:p>
            <a:pPr algn="just"/>
            <a:r>
              <a:rPr lang="en-US" sz="1000" dirty="0">
                <a:hlinkClick r:id="rId2"/>
              </a:rPr>
              <a:t>Generally Available: Managed identity for Foundry billing calls from Azure AI Search</a:t>
            </a:r>
            <a:endParaRPr lang="en-US" sz="1000" dirty="0"/>
          </a:p>
          <a:p>
            <a:pPr algn="just"/>
            <a:r>
              <a:rPr lang="en-US" sz="1000" dirty="0"/>
              <a:t>Azure AI Search now supports </a:t>
            </a:r>
            <a:r>
              <a:rPr lang="en-US" sz="1000" b="1" dirty="0"/>
              <a:t>managed identity authentication</a:t>
            </a:r>
            <a:r>
              <a:rPr lang="en-US" sz="1000" dirty="0"/>
              <a:t> for billing operations against </a:t>
            </a:r>
            <a:r>
              <a:rPr lang="en-US" sz="1000" b="1" dirty="0"/>
              <a:t>Microsoft Foundry</a:t>
            </a:r>
            <a:r>
              <a:rPr lang="en-US" sz="1000" dirty="0"/>
              <a:t> resources, replacing key-based authentication. Search services can use </a:t>
            </a:r>
            <a:r>
              <a:rPr lang="en-US" sz="1000" b="1" dirty="0"/>
              <a:t>system-assigned or user-assigned managed identities</a:t>
            </a:r>
            <a:r>
              <a:rPr lang="en-US" sz="1000" dirty="0"/>
              <a:t> to securely access Foundry models for embeddings, chat completions, and data extraction. This eliminates the need for </a:t>
            </a:r>
            <a:r>
              <a:rPr lang="en-US" sz="1000" b="1" dirty="0"/>
              <a:t>long-lived secrets</a:t>
            </a:r>
            <a:r>
              <a:rPr lang="en-US" sz="1000" dirty="0"/>
              <a:t>, improving security and simplifying credential management. Organizations also gain </a:t>
            </a:r>
            <a:r>
              <a:rPr lang="en-US" sz="1000" b="1" dirty="0"/>
              <a:t>Microsoft Entra ID-based auditing and governance</a:t>
            </a:r>
            <a:r>
              <a:rPr lang="en-US" sz="1000" dirty="0"/>
              <a:t> for cross-service interactions. The feature applies to </a:t>
            </a:r>
            <a:r>
              <a:rPr lang="en-US" sz="1000" b="1" dirty="0"/>
              <a:t>indexer skillsets that invoke Foundry models</a:t>
            </a:r>
            <a:r>
              <a:rPr lang="en-US" sz="1000" dirty="0"/>
              <a:t> and is available in regions where Azure AI Search and Microsoft Foundry are co-located.</a:t>
            </a:r>
          </a:p>
        </p:txBody>
      </p:sp>
      <p:sp>
        <p:nvSpPr>
          <p:cNvPr id="11" name="Title 10">
            <a:extLst>
              <a:ext uri="{FF2B5EF4-FFF2-40B4-BE49-F238E27FC236}">
                <a16:creationId xmlns:a16="http://schemas.microsoft.com/office/drawing/2014/main" id="{3A7A328E-9FAE-90A5-47FC-D76F4B57B997}"/>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A605F26D-C766-BADD-96A7-69DE7AF10B9C}"/>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E6A30BB-2292-9F3C-31D8-001F91B8B143}"/>
              </a:ext>
            </a:extLst>
          </p:cNvPr>
          <p:cNvSpPr>
            <a:spLocks noGrp="1"/>
          </p:cNvSpPr>
          <p:nvPr>
            <p:ph type="body" sz="quarter" idx="16"/>
          </p:nvPr>
        </p:nvSpPr>
        <p:spPr/>
        <p:txBody>
          <a:bodyPr/>
          <a:lstStyle/>
          <a:p>
            <a:pPr algn="just"/>
            <a:r>
              <a:rPr lang="en-US" dirty="0">
                <a:hlinkClick r:id="rId3"/>
              </a:rPr>
              <a:t>Generally Available: Region-agnostic reservations for Global PTU in Microsoft Foundry</a:t>
            </a:r>
            <a:endParaRPr lang="en-US" dirty="0"/>
          </a:p>
          <a:p>
            <a:pPr algn="just"/>
            <a:r>
              <a:rPr lang="en-US" dirty="0"/>
              <a:t>Microsoft Foundry now supports </a:t>
            </a:r>
            <a:r>
              <a:rPr lang="en-US" b="1" dirty="0"/>
              <a:t>region-agnostic reservations for Global Provisioned Throughput Units (PTUs)</a:t>
            </a:r>
            <a:r>
              <a:rPr lang="en-US" dirty="0"/>
              <a:t> at general availability. Organizations can </a:t>
            </a:r>
            <a:r>
              <a:rPr lang="en-US" b="1" dirty="0"/>
              <a:t>purchase PTU capacity once and use it across any supported Azure region</a:t>
            </a:r>
            <a:r>
              <a:rPr lang="en-US" dirty="0"/>
              <a:t>, eliminating the need for region-specific reservations. This provides greater flexibility for </a:t>
            </a:r>
            <a:r>
              <a:rPr lang="en-US" b="1" dirty="0"/>
              <a:t>multi-region AI deployments</a:t>
            </a:r>
            <a:r>
              <a:rPr lang="en-US" dirty="0"/>
              <a:t> and allows workloads to be moved between regions as demand changes. Reservation discounts are applied automatically, simplifying cost management for both engineering and finance teams. The capability supports </a:t>
            </a:r>
            <a:r>
              <a:rPr lang="en-US" b="1" dirty="0"/>
              <a:t>Foundry Models, including Azure OpenAI models such as GPT-5 and GPT-4.1</a:t>
            </a:r>
            <a:r>
              <a:rPr lang="en-US" dirty="0"/>
              <a:t>. Existing region-specific reservations remain unaffected and continue under their current terms.</a:t>
            </a:r>
          </a:p>
        </p:txBody>
      </p:sp>
    </p:spTree>
    <p:extLst>
      <p:ext uri="{BB962C8B-B14F-4D97-AF65-F5344CB8AC3E}">
        <p14:creationId xmlns:p14="http://schemas.microsoft.com/office/powerpoint/2010/main" val="3656198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F4C81-B9E9-EE44-F53E-370746E0F7F3}"/>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04FFC20C-06BA-A810-40DB-BE93ED9D43E8}"/>
              </a:ext>
            </a:extLst>
          </p:cNvPr>
          <p:cNvSpPr>
            <a:spLocks noGrp="1"/>
          </p:cNvSpPr>
          <p:nvPr>
            <p:ph type="body" sz="quarter" idx="10"/>
          </p:nvPr>
        </p:nvSpPr>
        <p:spPr/>
        <p:txBody>
          <a:bodyPr/>
          <a:lstStyle/>
          <a:p>
            <a:pPr algn="just"/>
            <a:r>
              <a:rPr lang="en-US" sz="1000" dirty="0">
                <a:hlinkClick r:id="rId2"/>
              </a:rPr>
              <a:t>Generally Available: Content Understanding </a:t>
            </a:r>
            <a:r>
              <a:rPr lang="en-US" sz="1000" dirty="0" err="1">
                <a:hlinkClick r:id="rId2"/>
              </a:rPr>
              <a:t>extractionMode</a:t>
            </a:r>
            <a:r>
              <a:rPr lang="en-US" sz="1000" dirty="0">
                <a:hlinkClick r:id="rId2"/>
              </a:rPr>
              <a:t> for documents</a:t>
            </a:r>
            <a:endParaRPr lang="en-US" sz="1000" dirty="0"/>
          </a:p>
          <a:p>
            <a:pPr algn="just"/>
            <a:r>
              <a:rPr lang="en-US" sz="1000" b="1" dirty="0"/>
              <a:t>Content Understanding</a:t>
            </a:r>
            <a:r>
              <a:rPr lang="en-US" sz="1000" dirty="0"/>
              <a:t> in Microsoft Foundry now supports an </a:t>
            </a:r>
            <a:r>
              <a:rPr lang="en-US" sz="1000" b="1" dirty="0" err="1"/>
              <a:t>extractionMode</a:t>
            </a:r>
            <a:r>
              <a:rPr lang="en-US" sz="1000" dirty="0"/>
              <a:t> setting, allowing organizations to choose how documents are processed based on their use case. Users can select a </a:t>
            </a:r>
            <a:r>
              <a:rPr lang="en-US" sz="1000" b="1" dirty="0"/>
              <a:t>layout-aware mode</a:t>
            </a:r>
            <a:r>
              <a:rPr lang="en-US" sz="1000" dirty="0"/>
              <a:t> for structured documents where tables, sections, and reading order are important, or a </a:t>
            </a:r>
            <a:r>
              <a:rPr lang="en-US" sz="1000" b="1" dirty="0"/>
              <a:t>text-only mode</a:t>
            </a:r>
            <a:r>
              <a:rPr lang="en-US" sz="1000" dirty="0"/>
              <a:t> optimized for generating clean Markdown for RAG and search indexing scenarios. The Analyze API continues to return </a:t>
            </a:r>
            <a:r>
              <a:rPr lang="en-US" sz="1000" b="1" dirty="0"/>
              <a:t>extracted fields, confidence scores, and source grounding</a:t>
            </a:r>
            <a:r>
              <a:rPr lang="en-US" sz="1000" dirty="0"/>
              <a:t>, enabling automated workflows and human-review decisions based on extraction confidence. The feature is available through both the </a:t>
            </a:r>
            <a:r>
              <a:rPr lang="en-US" sz="1000" b="1" dirty="0"/>
              <a:t>Foundry portal and REST API</a:t>
            </a:r>
            <a:r>
              <a:rPr lang="en-US" sz="1000" dirty="0"/>
              <a:t> and is included in the GA </a:t>
            </a:r>
            <a:r>
              <a:rPr lang="en-US" sz="1000" b="1" dirty="0"/>
              <a:t>2025-11-01 API version</a:t>
            </a:r>
            <a:r>
              <a:rPr lang="en-US" sz="1000" dirty="0"/>
              <a:t>. This provides greater flexibility and efficiency for document processing, knowledge extraction, and AI-powered content workflows.</a:t>
            </a:r>
          </a:p>
        </p:txBody>
      </p:sp>
      <p:sp>
        <p:nvSpPr>
          <p:cNvPr id="11" name="Title 10">
            <a:extLst>
              <a:ext uri="{FF2B5EF4-FFF2-40B4-BE49-F238E27FC236}">
                <a16:creationId xmlns:a16="http://schemas.microsoft.com/office/drawing/2014/main" id="{FA5E8FDE-CAAC-E1AD-2376-D1E63F08E852}"/>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B29AE9C8-272D-0205-2CA6-F5A6F7A4D994}"/>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A07B9D99-AF97-3520-5226-F7B5BC06FD65}"/>
              </a:ext>
            </a:extLst>
          </p:cNvPr>
          <p:cNvSpPr>
            <a:spLocks noGrp="1"/>
          </p:cNvSpPr>
          <p:nvPr>
            <p:ph type="body" sz="quarter" idx="16"/>
          </p:nvPr>
        </p:nvSpPr>
        <p:spPr/>
        <p:txBody>
          <a:bodyPr/>
          <a:lstStyle/>
          <a:p>
            <a:pPr algn="just"/>
            <a:r>
              <a:rPr lang="en-US" dirty="0">
                <a:hlinkClick r:id="rId3"/>
              </a:rPr>
              <a:t>Generally Available: GenAI prompt skill and chat completion in Azure AI Search knowledge sources</a:t>
            </a:r>
            <a:endParaRPr lang="en-US" dirty="0"/>
          </a:p>
          <a:p>
            <a:pPr algn="just"/>
            <a:r>
              <a:rPr lang="en-US" dirty="0"/>
              <a:t>The </a:t>
            </a:r>
            <a:r>
              <a:rPr lang="en-US" b="1" dirty="0"/>
              <a:t>GenAI Prompt Skill</a:t>
            </a:r>
            <a:r>
              <a:rPr lang="en-US" dirty="0"/>
              <a:t> in Azure AI Search is now </a:t>
            </a:r>
            <a:r>
              <a:rPr lang="en-US" b="1" dirty="0"/>
              <a:t>generally available</a:t>
            </a:r>
            <a:r>
              <a:rPr lang="en-US" dirty="0"/>
              <a:t>, enabling indexers to invoke </a:t>
            </a:r>
            <a:r>
              <a:rPr lang="en-US" b="1" dirty="0"/>
              <a:t>chat completion models directly during data enrichment</a:t>
            </a:r>
            <a:r>
              <a:rPr lang="en-US" dirty="0"/>
              <a:t> without custom code. Organizations can use prompt templates that reference indexed fields and write the model output back into the search index as structured data. This supports use cases such as </a:t>
            </a:r>
            <a:r>
              <a:rPr lang="en-US" b="1" dirty="0"/>
              <a:t>content classification, summarization, entity extraction, normalization, and data cleansing</a:t>
            </a:r>
            <a:r>
              <a:rPr lang="en-US" dirty="0"/>
              <a:t>. The same capability is also available within </a:t>
            </a:r>
            <a:r>
              <a:rPr lang="en-US" b="1" dirty="0"/>
              <a:t>knowledge sources</a:t>
            </a:r>
            <a:r>
              <a:rPr lang="en-US" dirty="0"/>
              <a:t>, allowing retrieval-augmented agents to process retrieved content before returning responses. Authentication supports </a:t>
            </a:r>
            <a:r>
              <a:rPr lang="en-US" b="1" dirty="0"/>
              <a:t>managed identities</a:t>
            </a:r>
            <a:r>
              <a:rPr lang="en-US" dirty="0"/>
              <a:t>, eliminating the need for secrets and keeping interactions within the customer's Microsoft Entra tenant. This simplifies AI-powered enrichment and reduces the need for separate Azure Functions or Logic Apps in ingestion pipelines.</a:t>
            </a:r>
          </a:p>
        </p:txBody>
      </p:sp>
    </p:spTree>
    <p:extLst>
      <p:ext uri="{BB962C8B-B14F-4D97-AF65-F5344CB8AC3E}">
        <p14:creationId xmlns:p14="http://schemas.microsoft.com/office/powerpoint/2010/main" val="2292614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69ED4-27DF-C7F4-D7AE-87C975AB4C36}"/>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AD13B903-DD02-84B4-A1A0-D6F2F99D6C20}"/>
              </a:ext>
            </a:extLst>
          </p:cNvPr>
          <p:cNvSpPr>
            <a:spLocks noGrp="1"/>
          </p:cNvSpPr>
          <p:nvPr>
            <p:ph type="body" sz="quarter" idx="10"/>
          </p:nvPr>
        </p:nvSpPr>
        <p:spPr/>
        <p:txBody>
          <a:bodyPr/>
          <a:lstStyle/>
          <a:p>
            <a:pPr algn="just"/>
            <a:r>
              <a:rPr lang="en-US" sz="1000" dirty="0">
                <a:hlinkClick r:id="rId2"/>
              </a:rPr>
              <a:t>Public Preview: Content Understanding NextGen in Microsoft Foundry</a:t>
            </a:r>
            <a:endParaRPr lang="en-US" sz="1000" dirty="0"/>
          </a:p>
          <a:p>
            <a:pPr algn="just"/>
            <a:r>
              <a:rPr lang="en-US" sz="1000" b="1" dirty="0"/>
              <a:t>Microsoft Foundry</a:t>
            </a:r>
            <a:r>
              <a:rPr lang="en-US" sz="1000" dirty="0"/>
              <a:t> now includes </a:t>
            </a:r>
            <a:r>
              <a:rPr lang="en-US" sz="1000" b="1" dirty="0"/>
              <a:t>Content Understanding directly in the portal (public preview)</a:t>
            </a:r>
            <a:r>
              <a:rPr lang="en-US" sz="1000" dirty="0"/>
              <a:t>, allowing developers to perform OCR and document analysis without switching to a separate tool. New </a:t>
            </a:r>
            <a:r>
              <a:rPr lang="en-US" sz="1000" b="1" dirty="0"/>
              <a:t>Read and Layout playgrounds</a:t>
            </a:r>
            <a:r>
              <a:rPr lang="en-US" sz="1000" dirty="0"/>
              <a:t> provide capabilities for text extraction and structural analysis of documents, including </a:t>
            </a:r>
            <a:r>
              <a:rPr lang="en-US" sz="1000" b="1" dirty="0"/>
              <a:t>tables, figures, sections, and hyperlinks</a:t>
            </a:r>
            <a:r>
              <a:rPr lang="en-US" sz="1000" dirty="0"/>
              <a:t>. Prebuilt document and image analyzers are available as </a:t>
            </a:r>
            <a:r>
              <a:rPr lang="en-US" sz="1000" b="1" dirty="0"/>
              <a:t>native Foundry resources</a:t>
            </a:r>
            <a:r>
              <a:rPr lang="en-US" sz="1000" dirty="0"/>
              <a:t>, with results displayed in Markdown, table, or JSON formats. Advanced capabilities such as </a:t>
            </a:r>
            <a:r>
              <a:rPr lang="en-US" sz="1000" b="1" dirty="0"/>
              <a:t>custom analyzer creation, labeling, and model tuning</a:t>
            </a:r>
            <a:r>
              <a:rPr lang="en-US" sz="1000" dirty="0"/>
              <a:t> remain available through Content Understanding Studio. This integration enables teams to manage </a:t>
            </a:r>
            <a:r>
              <a:rPr lang="en-US" sz="1000" b="1" dirty="0"/>
              <a:t>AI models, agents, deployments, and document intelligence solutions from a single Foundry workspace</a:t>
            </a:r>
            <a:r>
              <a:rPr lang="en-US" sz="1000" dirty="0"/>
              <a:t>.</a:t>
            </a:r>
          </a:p>
        </p:txBody>
      </p:sp>
      <p:sp>
        <p:nvSpPr>
          <p:cNvPr id="11" name="Title 10">
            <a:extLst>
              <a:ext uri="{FF2B5EF4-FFF2-40B4-BE49-F238E27FC236}">
                <a16:creationId xmlns:a16="http://schemas.microsoft.com/office/drawing/2014/main" id="{EA563F13-CC96-185D-20A0-421A81924D08}"/>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FA7DD3F3-0F60-CBCA-3BD8-8FBD68395A5D}"/>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765A9D7-491B-EED6-49B4-EF46B41FAA4C}"/>
              </a:ext>
            </a:extLst>
          </p:cNvPr>
          <p:cNvSpPr>
            <a:spLocks noGrp="1"/>
          </p:cNvSpPr>
          <p:nvPr>
            <p:ph type="body" sz="quarter" idx="16"/>
          </p:nvPr>
        </p:nvSpPr>
        <p:spPr/>
        <p:txBody>
          <a:bodyPr/>
          <a:lstStyle/>
          <a:p>
            <a:pPr algn="just"/>
            <a:r>
              <a:rPr lang="en-US" dirty="0">
                <a:hlinkClick r:id="rId3"/>
              </a:rPr>
              <a:t>Generally Available: Adaptive custom translation in the Azure AI Foundry NextGen playground</a:t>
            </a:r>
            <a:endParaRPr lang="en-US" dirty="0"/>
          </a:p>
          <a:p>
            <a:pPr algn="just"/>
            <a:r>
              <a:rPr lang="en-US" b="1" dirty="0"/>
              <a:t>Adaptive Custom Translation (</a:t>
            </a:r>
            <a:r>
              <a:rPr lang="en-US" b="1" dirty="0" err="1"/>
              <a:t>AdaptCT</a:t>
            </a:r>
            <a:r>
              <a:rPr lang="en-US" b="1" dirty="0"/>
              <a:t>)</a:t>
            </a:r>
            <a:r>
              <a:rPr lang="en-US" dirty="0"/>
              <a:t> is now generally available in the </a:t>
            </a:r>
            <a:r>
              <a:rPr lang="en-US" b="1" dirty="0"/>
              <a:t>Azure AI Foundry NextGen playground for Azure Translator</a:t>
            </a:r>
            <a:r>
              <a:rPr lang="en-US" dirty="0"/>
              <a:t>. It enables organizations to customize translations using </a:t>
            </a:r>
            <a:r>
              <a:rPr lang="en-US" b="1" dirty="0"/>
              <a:t>small domain-specific datasets</a:t>
            </a:r>
            <a:r>
              <a:rPr lang="en-US" dirty="0"/>
              <a:t> without the need to retrain translation models. Instead, relevant examples are dynamically applied during translation through a </a:t>
            </a:r>
            <a:r>
              <a:rPr lang="en-US" b="1" dirty="0"/>
              <a:t>few-shot grounding approach</a:t>
            </a:r>
            <a:r>
              <a:rPr lang="en-US" dirty="0"/>
              <a:t>, improving terminology accuracy and consistency. This helps teams </a:t>
            </a:r>
            <a:r>
              <a:rPr lang="en-US" b="1" dirty="0"/>
              <a:t>accelerate multilingual content delivery</a:t>
            </a:r>
            <a:r>
              <a:rPr lang="en-US" dirty="0"/>
              <a:t>, maintain consistent business terminology, and reduce translation management overhead. </a:t>
            </a:r>
            <a:r>
              <a:rPr lang="en-US" dirty="0" err="1"/>
              <a:t>AdaptCT</a:t>
            </a:r>
            <a:r>
              <a:rPr lang="en-US" dirty="0"/>
              <a:t> is particularly valuable for </a:t>
            </a:r>
            <a:r>
              <a:rPr lang="en-US" b="1" dirty="0"/>
              <a:t>product documentation, support content, and customer-facing digital experiences</a:t>
            </a:r>
            <a:r>
              <a:rPr lang="en-US" dirty="0"/>
              <a:t> that require frequent updates across multiple languages.</a:t>
            </a:r>
          </a:p>
        </p:txBody>
      </p:sp>
    </p:spTree>
    <p:extLst>
      <p:ext uri="{BB962C8B-B14F-4D97-AF65-F5344CB8AC3E}">
        <p14:creationId xmlns:p14="http://schemas.microsoft.com/office/powerpoint/2010/main" val="2691887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39CC8-6222-2A53-8EE8-9FC8BB837A1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E58CD025-079E-7732-B186-92D53E8D869F}"/>
              </a:ext>
            </a:extLst>
          </p:cNvPr>
          <p:cNvSpPr>
            <a:spLocks noGrp="1"/>
          </p:cNvSpPr>
          <p:nvPr>
            <p:ph type="body" sz="quarter" idx="10"/>
          </p:nvPr>
        </p:nvSpPr>
        <p:spPr/>
        <p:txBody>
          <a:bodyPr/>
          <a:lstStyle/>
          <a:p>
            <a:pPr algn="just"/>
            <a:r>
              <a:rPr lang="en-US" sz="1000" dirty="0">
                <a:hlinkClick r:id="rId2"/>
              </a:rPr>
              <a:t>Generally Available: Voice Live integration with Microsoft Foundry Agent Service</a:t>
            </a:r>
            <a:endParaRPr lang="en-US" sz="1000" dirty="0"/>
          </a:p>
          <a:p>
            <a:pPr algn="just"/>
            <a:r>
              <a:rPr lang="en-US" sz="1000" b="1" dirty="0"/>
              <a:t>Microsoft Foundry Agent Service</a:t>
            </a:r>
            <a:r>
              <a:rPr lang="en-US" sz="1000" dirty="0"/>
              <a:t> now provides </a:t>
            </a:r>
            <a:r>
              <a:rPr lang="en-US" sz="1000" b="1" dirty="0"/>
              <a:t>general availability of Voice Live integration</a:t>
            </a:r>
            <a:r>
              <a:rPr lang="en-US" sz="1000" dirty="0"/>
              <a:t>, enabling developers to add real-time voice capabilities to AI agents without building custom audio pipelines. Agents can natively leverage </a:t>
            </a:r>
            <a:r>
              <a:rPr lang="en-US" sz="1000" b="1" dirty="0"/>
              <a:t>speech-to-text, text-to-speech, tool calling, knowledge sources, memory, guardrails, and enterprise integrations</a:t>
            </a:r>
            <a:r>
              <a:rPr lang="en-US" sz="1000" dirty="0"/>
              <a:t> through a single platform. The service supports </a:t>
            </a:r>
            <a:r>
              <a:rPr lang="en-US" sz="1000" b="1" dirty="0"/>
              <a:t>low-latency streaming audio, interrupt handling, turn-taking, barge-in functionality, connection management, natural voices, and avatars</a:t>
            </a:r>
            <a:r>
              <a:rPr lang="en-US" sz="1000" dirty="0"/>
              <a:t> for conversational experiences. This simplifies the development of </a:t>
            </a:r>
            <a:r>
              <a:rPr lang="en-US" sz="1000" b="1" dirty="0"/>
              <a:t>customer service assistants, learning companions, digital agents, and in-car voice assistants</a:t>
            </a:r>
            <a:r>
              <a:rPr lang="en-US" sz="1000" dirty="0"/>
              <a:t>. By combining agent logic and voice interactions in one managed service, organizations can accelerate deployment while reducing integration complexity and operational overhead.</a:t>
            </a:r>
          </a:p>
        </p:txBody>
      </p:sp>
      <p:sp>
        <p:nvSpPr>
          <p:cNvPr id="11" name="Title 10">
            <a:extLst>
              <a:ext uri="{FF2B5EF4-FFF2-40B4-BE49-F238E27FC236}">
                <a16:creationId xmlns:a16="http://schemas.microsoft.com/office/drawing/2014/main" id="{19437A1A-17DF-C331-2F62-B12122E96A62}"/>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C4DE3DF4-6E76-4728-8573-C4C3687DB055}"/>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96ED96C2-928B-F9B0-91D7-C5DD6DB15876}"/>
              </a:ext>
            </a:extLst>
          </p:cNvPr>
          <p:cNvSpPr>
            <a:spLocks noGrp="1"/>
          </p:cNvSpPr>
          <p:nvPr>
            <p:ph type="body" sz="quarter" idx="16"/>
          </p:nvPr>
        </p:nvSpPr>
        <p:spPr/>
        <p:txBody>
          <a:bodyPr/>
          <a:lstStyle/>
          <a:p>
            <a:pPr algn="just"/>
            <a:r>
              <a:rPr lang="en-US" dirty="0">
                <a:hlinkClick r:id="rId3"/>
              </a:rPr>
              <a:t>Generally Available: Managed virtual network for evaluations in Microsoft Foundry</a:t>
            </a:r>
            <a:endParaRPr lang="en-US" dirty="0"/>
          </a:p>
          <a:p>
            <a:pPr algn="just"/>
            <a:r>
              <a:rPr lang="en-US" b="1" dirty="0"/>
              <a:t>Microsoft Foundry</a:t>
            </a:r>
            <a:r>
              <a:rPr lang="en-US" dirty="0"/>
              <a:t> now provides </a:t>
            </a:r>
            <a:r>
              <a:rPr lang="en-US" b="1" dirty="0"/>
              <a:t>general availability of managed virtual network (VNET) support for evaluations</a:t>
            </a:r>
            <a:r>
              <a:rPr lang="en-US" dirty="0"/>
              <a:t>, enabling secure testing of models and agents that are accessible only through </a:t>
            </a:r>
            <a:r>
              <a:rPr lang="en-US" b="1" dirty="0"/>
              <a:t>private endpoints</a:t>
            </a:r>
            <a:r>
              <a:rPr lang="en-US" dirty="0"/>
              <a:t>. Evaluation jobs can connect to </a:t>
            </a:r>
            <a:r>
              <a:rPr lang="en-US" b="1" dirty="0"/>
              <a:t>model deployments, datasets, storage accounts, and tool endpoints</a:t>
            </a:r>
            <a:r>
              <a:rPr lang="en-US" dirty="0"/>
              <a:t> without requiring public network exposure, bastion hosts, or self-hosted runners. The Foundry-managed VNET maintains consistent </a:t>
            </a:r>
            <a:r>
              <a:rPr lang="en-US" b="1" dirty="0"/>
              <a:t>network isolation, private DNS resolution, and outbound access controls</a:t>
            </a:r>
            <a:r>
              <a:rPr lang="en-US" dirty="0"/>
              <a:t> aligned with enterprise security policies. Audit and monitoring data integrate with existing </a:t>
            </a:r>
            <a:r>
              <a:rPr lang="en-US" b="1" dirty="0"/>
              <a:t>Microsoft Defender and Microsoft Purview</a:t>
            </a:r>
            <a:r>
              <a:rPr lang="en-US" dirty="0"/>
              <a:t> governance workflows. This allows organizations to securely incorporate </a:t>
            </a:r>
            <a:r>
              <a:rPr lang="en-US" b="1" dirty="0"/>
              <a:t>AI model and agent evaluations into CI/CD pipelines</a:t>
            </a:r>
            <a:r>
              <a:rPr lang="en-US" dirty="0"/>
              <a:t> while maintaining compliance and network security standards. The capability is enabled by default for new evaluation jobs in supported regions.</a:t>
            </a:r>
          </a:p>
        </p:txBody>
      </p:sp>
    </p:spTree>
    <p:extLst>
      <p:ext uri="{BB962C8B-B14F-4D97-AF65-F5344CB8AC3E}">
        <p14:creationId xmlns:p14="http://schemas.microsoft.com/office/powerpoint/2010/main" val="3087676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EF49B-C005-DCD9-A1A6-1222D8CEBED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7F34E63B-DB3B-CAD1-56E2-50FA141373D7}"/>
              </a:ext>
            </a:extLst>
          </p:cNvPr>
          <p:cNvSpPr>
            <a:spLocks noGrp="1"/>
          </p:cNvSpPr>
          <p:nvPr>
            <p:ph type="body" sz="quarter" idx="10"/>
          </p:nvPr>
        </p:nvSpPr>
        <p:spPr/>
        <p:txBody>
          <a:bodyPr/>
          <a:lstStyle/>
          <a:p>
            <a:pPr algn="just"/>
            <a:r>
              <a:rPr lang="en-US" sz="1000" dirty="0">
                <a:hlinkClick r:id="rId2"/>
              </a:rPr>
              <a:t>Generally Available: Private Connectivity for Azure AI Search and Foundry Knowledge Bases</a:t>
            </a:r>
            <a:endParaRPr lang="en-US" sz="1000" dirty="0"/>
          </a:p>
          <a:p>
            <a:pPr algn="just"/>
            <a:r>
              <a:rPr lang="en-US" sz="1000" b="1" dirty="0"/>
              <a:t>Azure AI Search</a:t>
            </a:r>
            <a:r>
              <a:rPr lang="en-US" sz="1000" dirty="0"/>
              <a:t> and </a:t>
            </a:r>
            <a:r>
              <a:rPr lang="en-US" sz="1000" b="1" dirty="0"/>
              <a:t>Foundry Knowledge Bases</a:t>
            </a:r>
            <a:r>
              <a:rPr lang="en-US" sz="1000" dirty="0"/>
              <a:t> now support </a:t>
            </a:r>
            <a:r>
              <a:rPr lang="en-US" sz="1000" b="1" dirty="0"/>
              <a:t>private end-to-end network connectivity</a:t>
            </a:r>
            <a:r>
              <a:rPr lang="en-US" sz="1000" dirty="0"/>
              <a:t> between search resources and Microsoft Foundry services. Organizations can use </a:t>
            </a:r>
            <a:r>
              <a:rPr lang="en-US" sz="1000" b="1" dirty="0"/>
              <a:t>Shared Private Link</a:t>
            </a:r>
            <a:r>
              <a:rPr lang="en-US" sz="1000" dirty="0"/>
              <a:t> or </a:t>
            </a:r>
            <a:r>
              <a:rPr lang="en-US" sz="1000" b="1" dirty="0"/>
              <a:t>Network Security Perimeter (NSP)</a:t>
            </a:r>
            <a:r>
              <a:rPr lang="en-US" sz="1000" dirty="0"/>
              <a:t> to ensure that ingestion, enrichment, retrieval, and agent traffic remains on private networks and never traverses the public internet. This capability is particularly valuable for </a:t>
            </a:r>
            <a:r>
              <a:rPr lang="en-US" sz="1000" b="1" dirty="0"/>
              <a:t>regulated, sensitive, and compliance-driven workloads</a:t>
            </a:r>
            <a:r>
              <a:rPr lang="en-US" sz="1000" dirty="0"/>
              <a:t> using RAG pipelines, Knowledge Bases, and AI agents. Existing search indexes, indexers, and Knowledge Base configurations continue to work and can be enhanced with private connectivity through the portal or infrastructure-as-code deployments. Combined with </a:t>
            </a:r>
            <a:r>
              <a:rPr lang="en-US" sz="1000" b="1" dirty="0"/>
              <a:t>Azure RBAC and customer-managed keys</a:t>
            </a:r>
            <a:r>
              <a:rPr lang="en-US" sz="1000" dirty="0"/>
              <a:t>, the feature provides a comprehensive security model aligned with enterprise network isolation requirements.</a:t>
            </a:r>
          </a:p>
        </p:txBody>
      </p:sp>
      <p:sp>
        <p:nvSpPr>
          <p:cNvPr id="11" name="Title 10">
            <a:extLst>
              <a:ext uri="{FF2B5EF4-FFF2-40B4-BE49-F238E27FC236}">
                <a16:creationId xmlns:a16="http://schemas.microsoft.com/office/drawing/2014/main" id="{9765B07B-EACD-A982-196C-85D06769F32E}"/>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952A5B58-DC24-333C-056B-397B0A301E7B}"/>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684D65AC-6A0C-8D70-8D04-72B4F431994B}"/>
              </a:ext>
            </a:extLst>
          </p:cNvPr>
          <p:cNvSpPr>
            <a:spLocks noGrp="1"/>
          </p:cNvSpPr>
          <p:nvPr>
            <p:ph type="body" sz="quarter" idx="16"/>
          </p:nvPr>
        </p:nvSpPr>
        <p:spPr/>
        <p:txBody>
          <a:bodyPr/>
          <a:lstStyle/>
          <a:p>
            <a:pPr algn="just"/>
            <a:r>
              <a:rPr lang="en-US" dirty="0">
                <a:hlinkClick r:id="rId3"/>
              </a:rPr>
              <a:t>Generally Available: Text Analytics for Health NextGen Playground in Azure AI Language</a:t>
            </a:r>
            <a:endParaRPr lang="en-US" dirty="0"/>
          </a:p>
          <a:p>
            <a:pPr algn="just"/>
            <a:r>
              <a:rPr lang="en-US" dirty="0"/>
              <a:t>Azure AI Language now brings the next-generation Text Analytics for Health (TA4H) playground to general availability in Microsoft Foundry. Healthcare organizations, clinical informatics teams, and ISVs can analyze clinical documents such as doctor’s notes, discharge summaries, and research papers to extract diagnoses, medications, symptoms, temporal references, and clinical relationships. The service includes UMLS entity linking, relation extraction, and assertion detection, helping improve healthcare data understanding and interoperability. Results are returned in both FHIR-compliant formats and standard JSON, enabling easier integration with electronic health record (EHR) systems. The same Foundry resource powers both the playground and production APIs, simplifying development and validation of healthcare AI solutions.</a:t>
            </a:r>
          </a:p>
        </p:txBody>
      </p:sp>
    </p:spTree>
    <p:extLst>
      <p:ext uri="{BB962C8B-B14F-4D97-AF65-F5344CB8AC3E}">
        <p14:creationId xmlns:p14="http://schemas.microsoft.com/office/powerpoint/2010/main" val="3163194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B281C-F48A-F2FD-D049-75921F9F5D3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22FB625A-02FA-1D3C-B00D-115B62BE8297}"/>
              </a:ext>
            </a:extLst>
          </p:cNvPr>
          <p:cNvSpPr>
            <a:spLocks noGrp="1"/>
          </p:cNvSpPr>
          <p:nvPr>
            <p:ph type="body" sz="quarter" idx="10"/>
          </p:nvPr>
        </p:nvSpPr>
        <p:spPr/>
        <p:txBody>
          <a:bodyPr/>
          <a:lstStyle/>
          <a:p>
            <a:pPr algn="just"/>
            <a:r>
              <a:rPr lang="en-US" sz="1000" dirty="0">
                <a:hlinkClick r:id="rId2"/>
              </a:rPr>
              <a:t>Generally Available: Photo Avatar standard and custom in Azure AI Speech</a:t>
            </a:r>
            <a:endParaRPr lang="en-US" sz="1000" dirty="0"/>
          </a:p>
          <a:p>
            <a:pPr algn="just"/>
            <a:r>
              <a:rPr lang="en-US" sz="1000" b="1" dirty="0"/>
              <a:t>Photo Avatar</a:t>
            </a:r>
            <a:r>
              <a:rPr lang="en-US" sz="1000" dirty="0"/>
              <a:t> in </a:t>
            </a:r>
            <a:r>
              <a:rPr lang="en-US" sz="1000" b="1" dirty="0"/>
              <a:t>Azure AI Speech</a:t>
            </a:r>
            <a:r>
              <a:rPr lang="en-US" sz="1000" dirty="0"/>
              <a:t> is now </a:t>
            </a:r>
            <a:r>
              <a:rPr lang="en-US" sz="1000" b="1" dirty="0"/>
              <a:t>generally available</a:t>
            </a:r>
            <a:r>
              <a:rPr lang="en-US" sz="1000" dirty="0"/>
              <a:t>, offering both </a:t>
            </a:r>
            <a:r>
              <a:rPr lang="en-US" sz="1000" b="1" dirty="0"/>
              <a:t>Standard</a:t>
            </a:r>
            <a:r>
              <a:rPr lang="en-US" sz="1000" dirty="0"/>
              <a:t> and </a:t>
            </a:r>
            <a:r>
              <a:rPr lang="en-US" sz="1000" b="1" dirty="0"/>
              <a:t>Custom</a:t>
            </a:r>
            <a:r>
              <a:rPr lang="en-US" sz="1000" dirty="0"/>
              <a:t> avatar options. Standard Photo Avatar generates a talking-head video from a single image at </a:t>
            </a:r>
            <a:r>
              <a:rPr lang="en-US" sz="1000" b="1" dirty="0"/>
              <a:t>512×512 resolution</a:t>
            </a:r>
            <a:r>
              <a:rPr lang="en-US" sz="1000" dirty="0"/>
              <a:t>, while Custom Photo Avatar allows organizations to create a personalized avatar using their own image and approximately </a:t>
            </a:r>
            <a:r>
              <a:rPr lang="en-US" sz="1000" b="1" dirty="0"/>
              <a:t>one minute of consented audio</a:t>
            </a:r>
            <a:r>
              <a:rPr lang="en-US" sz="1000" dirty="0"/>
              <a:t> for voice matching. Both options use the same </a:t>
            </a:r>
            <a:r>
              <a:rPr lang="en-US" sz="1000" b="1" dirty="0"/>
              <a:t>batch and real-time synthesis APIs</a:t>
            </a:r>
            <a:r>
              <a:rPr lang="en-US" sz="1000" dirty="0"/>
              <a:t> already available for video avatars, ensuring compatibility with existing avatar implementations. Built on Microsoft's </a:t>
            </a:r>
            <a:r>
              <a:rPr lang="en-US" sz="1000" b="1" dirty="0"/>
              <a:t>VASA-1 model family</a:t>
            </a:r>
            <a:r>
              <a:rPr lang="en-US" sz="1000" dirty="0"/>
              <a:t>, Photo Avatar also integrates with </a:t>
            </a:r>
            <a:r>
              <a:rPr lang="en-US" sz="1000" b="1" dirty="0"/>
              <a:t>Voice Live</a:t>
            </a:r>
            <a:r>
              <a:rPr lang="en-US" sz="1000" dirty="0"/>
              <a:t>, enabling low-latency, interactive conversational experiences with visual avatars. This capability is ideal for </a:t>
            </a:r>
            <a:r>
              <a:rPr lang="en-US" sz="1000" b="1" dirty="0"/>
              <a:t>virtual assistants, customer service agents, training solutions, and digital human applications</a:t>
            </a:r>
            <a:r>
              <a:rPr lang="en-US" sz="1000" dirty="0"/>
              <a:t> that require a realistic visual presence.</a:t>
            </a:r>
          </a:p>
        </p:txBody>
      </p:sp>
      <p:sp>
        <p:nvSpPr>
          <p:cNvPr id="11" name="Title 10">
            <a:extLst>
              <a:ext uri="{FF2B5EF4-FFF2-40B4-BE49-F238E27FC236}">
                <a16:creationId xmlns:a16="http://schemas.microsoft.com/office/drawing/2014/main" id="{831EC6A8-3B2B-6B7C-E841-7A8BE83CB402}"/>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536B0BC2-7318-200F-A986-2C702299A0DC}"/>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EFF1022D-57B1-22BB-8031-74247D03A2E9}"/>
              </a:ext>
            </a:extLst>
          </p:cNvPr>
          <p:cNvSpPr>
            <a:spLocks noGrp="1"/>
          </p:cNvSpPr>
          <p:nvPr>
            <p:ph type="body" sz="quarter" idx="16"/>
          </p:nvPr>
        </p:nvSpPr>
        <p:spPr/>
        <p:txBody>
          <a:bodyPr/>
          <a:lstStyle/>
          <a:p>
            <a:pPr algn="just"/>
            <a:r>
              <a:rPr lang="en-US" dirty="0">
                <a:hlinkClick r:id="rId3"/>
              </a:rPr>
              <a:t>Generally Available: Custom Avatar and Custom Video portal in Microsoft Foundry</a:t>
            </a:r>
            <a:endParaRPr lang="en-US" dirty="0"/>
          </a:p>
          <a:p>
            <a:pPr algn="just"/>
            <a:r>
              <a:rPr lang="en-US" b="1" dirty="0"/>
              <a:t>Azure AI Speech</a:t>
            </a:r>
            <a:r>
              <a:rPr lang="en-US" dirty="0"/>
              <a:t> now brings </a:t>
            </a:r>
            <a:r>
              <a:rPr lang="en-US" b="1" dirty="0"/>
              <a:t>Custom Avatar and Custom Video authoring</a:t>
            </a:r>
            <a:r>
              <a:rPr lang="en-US" dirty="0"/>
              <a:t> directly into the </a:t>
            </a:r>
            <a:r>
              <a:rPr lang="en-US" b="1" dirty="0"/>
              <a:t>Microsoft Foundry portal (GA)</a:t>
            </a:r>
            <a:r>
              <a:rPr lang="en-US" dirty="0"/>
              <a:t>. Approved customers can create and manage custom video avatars by uploading actor recordings, training avatars, and generating synthetic talking-head videos within the same Foundry project used for speech and voice workloads. The portal also supports </a:t>
            </a:r>
            <a:r>
              <a:rPr lang="en-US" b="1" dirty="0"/>
              <a:t>Photo Avatar</a:t>
            </a:r>
            <a:r>
              <a:rPr lang="en-US" dirty="0"/>
              <a:t>, which uses a single image and Microsoft's VASA model to create head-only animated avatars. Avatars can be combined with </a:t>
            </a:r>
            <a:r>
              <a:rPr lang="en-US" b="1" dirty="0"/>
              <a:t>Custom Neural Voice, Personal Voice, or Voice Sync for Avatar</a:t>
            </a:r>
            <a:r>
              <a:rPr lang="en-US" dirty="0"/>
              <a:t> capabilities to create realistic multimedia experiences. Generated avatars are accessible through both </a:t>
            </a:r>
            <a:r>
              <a:rPr lang="en-US" b="1" dirty="0"/>
              <a:t>batch and real-time synthesis APIs</a:t>
            </a:r>
            <a:r>
              <a:rPr lang="en-US" dirty="0"/>
              <a:t>. Custom Avatar remains a </a:t>
            </a:r>
            <a:r>
              <a:rPr lang="en-US" b="1" dirty="0"/>
              <a:t>Limited Access feature</a:t>
            </a:r>
            <a:r>
              <a:rPr lang="en-US" dirty="0"/>
              <a:t> and requires responsible AI review and approval before use.</a:t>
            </a:r>
          </a:p>
        </p:txBody>
      </p:sp>
    </p:spTree>
    <p:extLst>
      <p:ext uri="{BB962C8B-B14F-4D97-AF65-F5344CB8AC3E}">
        <p14:creationId xmlns:p14="http://schemas.microsoft.com/office/powerpoint/2010/main" val="195653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EDCF2-EEF6-CF77-E557-A0A94C5A3FB3}"/>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0C4EB3E7-D17B-CE08-E311-D85AE51568B9}"/>
              </a:ext>
            </a:extLst>
          </p:cNvPr>
          <p:cNvSpPr>
            <a:spLocks noGrp="1"/>
          </p:cNvSpPr>
          <p:nvPr>
            <p:ph type="body" sz="quarter" idx="10"/>
          </p:nvPr>
        </p:nvSpPr>
        <p:spPr/>
        <p:txBody>
          <a:bodyPr/>
          <a:lstStyle/>
          <a:p>
            <a:pPr algn="just"/>
            <a:r>
              <a:rPr lang="en-US" sz="1000" dirty="0">
                <a:hlinkClick r:id="rId2"/>
              </a:rPr>
              <a:t>Generally Available: LLM Speech API in Azure AI Speech</a:t>
            </a:r>
            <a:endParaRPr lang="en-US" sz="1000" dirty="0"/>
          </a:p>
          <a:p>
            <a:pPr algn="just"/>
            <a:r>
              <a:rPr lang="en-US" sz="1000" dirty="0"/>
              <a:t>Azure AI Speech makes the LLM Speech API generally available, delivering state-of-the-art LLM-powered transcription and translation for audio files, with multi-lingual support across 25 languages (90+ locales), improved accuracy, expanded regions, and enhanced prompt-tuning capabilities. </a:t>
            </a:r>
          </a:p>
        </p:txBody>
      </p:sp>
      <p:sp>
        <p:nvSpPr>
          <p:cNvPr id="11" name="Title 10">
            <a:extLst>
              <a:ext uri="{FF2B5EF4-FFF2-40B4-BE49-F238E27FC236}">
                <a16:creationId xmlns:a16="http://schemas.microsoft.com/office/drawing/2014/main" id="{CECC3E52-21CF-9114-F2DC-45BC7614ED9F}"/>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36200D55-C8BE-5711-FBCB-05B2A13F64B8}"/>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9C76E13-2221-B3A6-4FBC-C53480268D82}"/>
              </a:ext>
            </a:extLst>
          </p:cNvPr>
          <p:cNvSpPr>
            <a:spLocks noGrp="1"/>
          </p:cNvSpPr>
          <p:nvPr>
            <p:ph type="body" sz="quarter" idx="16"/>
          </p:nvPr>
        </p:nvSpPr>
        <p:spPr/>
        <p:txBody>
          <a:bodyPr/>
          <a:lstStyle/>
          <a:p>
            <a:pPr algn="just"/>
            <a:r>
              <a:rPr lang="en-US" dirty="0">
                <a:hlinkClick r:id="rId3"/>
              </a:rPr>
              <a:t>Generally Available: Document translation for image files (synchronous, single document)</a:t>
            </a:r>
            <a:endParaRPr lang="en-US" dirty="0"/>
          </a:p>
          <a:p>
            <a:pPr algn="just"/>
            <a:r>
              <a:rPr lang="en-US" b="1" dirty="0"/>
              <a:t>Azure AI Translator</a:t>
            </a:r>
            <a:r>
              <a:rPr lang="en-US" dirty="0"/>
              <a:t> now supports </a:t>
            </a:r>
            <a:r>
              <a:rPr lang="en-US" b="1" dirty="0"/>
              <a:t>synchronous single-document image translation (GA)</a:t>
            </a:r>
            <a:r>
              <a:rPr lang="en-US" dirty="0"/>
              <a:t>, enabling organizations to translate images through a </a:t>
            </a:r>
            <a:r>
              <a:rPr lang="en-US" b="1" dirty="0"/>
              <a:t>single API call</a:t>
            </a:r>
            <a:r>
              <a:rPr lang="en-US" dirty="0"/>
              <a:t> and receive immediate results. The service supports common image formats such as </a:t>
            </a:r>
            <a:r>
              <a:rPr lang="en-US" b="1" dirty="0"/>
              <a:t>JPEG and PNG</a:t>
            </a:r>
            <a:r>
              <a:rPr lang="en-US" dirty="0"/>
              <a:t> and preserves the </a:t>
            </a:r>
            <a:r>
              <a:rPr lang="en-US" b="1" dirty="0"/>
              <a:t>original layout and formatting</a:t>
            </a:r>
            <a:r>
              <a:rPr lang="en-US" dirty="0"/>
              <a:t> of the source document. By combining </a:t>
            </a:r>
            <a:r>
              <a:rPr lang="en-US" b="1" dirty="0"/>
              <a:t>OCR and translation</a:t>
            </a:r>
            <a:r>
              <a:rPr lang="en-US" dirty="0"/>
              <a:t> into one managed service, it eliminates the need to build and maintain separate image recognition and translation pipelines. The feature uses the same enterprise-grade security, compliance, and regional availability model as </a:t>
            </a:r>
            <a:r>
              <a:rPr lang="en-US" b="1" dirty="0"/>
              <a:t>Document Translation</a:t>
            </a:r>
            <a:r>
              <a:rPr lang="en-US" dirty="0"/>
              <a:t>. Common use cases include </a:t>
            </a:r>
            <a:r>
              <a:rPr lang="en-US" b="1" dirty="0"/>
              <a:t>mobile applications, retail signage, restaurant menus, kiosks, forms, and real-time multilingual customer experiences</a:t>
            </a:r>
            <a:r>
              <a:rPr lang="en-US" dirty="0"/>
              <a:t>. This capability simplifies image localization workflows while reducing development and operational complexity.</a:t>
            </a:r>
          </a:p>
        </p:txBody>
      </p:sp>
    </p:spTree>
    <p:extLst>
      <p:ext uri="{BB962C8B-B14F-4D97-AF65-F5344CB8AC3E}">
        <p14:creationId xmlns:p14="http://schemas.microsoft.com/office/powerpoint/2010/main" val="4181476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A42BB-AC6C-2AA7-DD8D-F72AA7FFC43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C0F9F86E-2A6D-BDAE-C8EE-EE788A5258D5}"/>
              </a:ext>
            </a:extLst>
          </p:cNvPr>
          <p:cNvSpPr>
            <a:spLocks noGrp="1"/>
          </p:cNvSpPr>
          <p:nvPr>
            <p:ph type="body" sz="quarter" idx="10"/>
          </p:nvPr>
        </p:nvSpPr>
        <p:spPr/>
        <p:txBody>
          <a:bodyPr/>
          <a:lstStyle/>
          <a:p>
            <a:pPr algn="just"/>
            <a:r>
              <a:rPr lang="en-US" sz="1000" dirty="0">
                <a:hlinkClick r:id="rId2"/>
              </a:rPr>
              <a:t>Generally Available: Image translation inside Office documents for batch document translation</a:t>
            </a:r>
            <a:endParaRPr lang="en-US" sz="1000" dirty="0"/>
          </a:p>
          <a:p>
            <a:pPr algn="just"/>
            <a:r>
              <a:rPr lang="en-US" sz="1000" b="1" dirty="0"/>
              <a:t>Azure AI Translator</a:t>
            </a:r>
            <a:r>
              <a:rPr lang="en-US" sz="1000" dirty="0"/>
              <a:t> now supports </a:t>
            </a:r>
            <a:r>
              <a:rPr lang="en-US" sz="1000" b="1" dirty="0"/>
              <a:t>translation of text embedded within images inside Word (.docx) documents (GA)</a:t>
            </a:r>
            <a:r>
              <a:rPr lang="en-US" sz="1000" dirty="0"/>
              <a:t> as part of its </a:t>
            </a:r>
            <a:r>
              <a:rPr lang="en-US" sz="1000" b="1" dirty="0"/>
              <a:t>batch document translation</a:t>
            </a:r>
            <a:r>
              <a:rPr lang="en-US" sz="1000" dirty="0"/>
              <a:t> capability. The service automatically detects images, performs </a:t>
            </a:r>
            <a:r>
              <a:rPr lang="en-US" sz="1000" b="1" dirty="0"/>
              <a:t>OCR</a:t>
            </a:r>
            <a:r>
              <a:rPr lang="en-US" sz="1000" dirty="0"/>
              <a:t>, translates the extracted text, and reinserts the translated content while preserving the </a:t>
            </a:r>
            <a:r>
              <a:rPr lang="en-US" sz="1000" b="1" dirty="0"/>
              <a:t>original layout, fonts, formatting, and document structure</a:t>
            </a:r>
            <a:r>
              <a:rPr lang="en-US" sz="1000" dirty="0"/>
              <a:t>. The feature is integrated into the existing </a:t>
            </a:r>
            <a:r>
              <a:rPr lang="en-US" sz="1000" b="1" dirty="0"/>
              <a:t>batch translation REST APIs and SDKs</a:t>
            </a:r>
            <a:r>
              <a:rPr lang="en-US" sz="1000" dirty="0"/>
              <a:t>, using the same Azure Blob Storage source and destination workflow. Pricing combines standard </a:t>
            </a:r>
            <a:r>
              <a:rPr lang="en-US" sz="1000" b="1" dirty="0"/>
              <a:t>character-based translation charges</a:t>
            </a:r>
            <a:r>
              <a:rPr lang="en-US" sz="1000" dirty="0"/>
              <a:t> for document text with </a:t>
            </a:r>
            <a:r>
              <a:rPr lang="en-US" sz="1000" b="1" dirty="0"/>
              <a:t>per-image translation costs</a:t>
            </a:r>
            <a:r>
              <a:rPr lang="en-US" sz="1000" dirty="0"/>
              <a:t> for embedded images. This enhancement is particularly valuable for multilingual documentation containing </a:t>
            </a:r>
            <a:r>
              <a:rPr lang="en-US" sz="1000" b="1" dirty="0"/>
              <a:t>screenshots, diagrams, scanned content, forms, and graphical text</a:t>
            </a:r>
            <a:r>
              <a:rPr lang="en-US" sz="1000" dirty="0"/>
              <a:t>, reducing the need for manual translation and document reformatting.</a:t>
            </a:r>
          </a:p>
        </p:txBody>
      </p:sp>
      <p:sp>
        <p:nvSpPr>
          <p:cNvPr id="11" name="Title 10">
            <a:extLst>
              <a:ext uri="{FF2B5EF4-FFF2-40B4-BE49-F238E27FC236}">
                <a16:creationId xmlns:a16="http://schemas.microsoft.com/office/drawing/2014/main" id="{EF72EEE0-19C4-3124-5429-91324F7E9595}"/>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B669D008-31EC-793D-3B56-C9E4F2AE37DF}"/>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CB4E159-3299-1205-ACAC-F0A50D9B2BFA}"/>
              </a:ext>
            </a:extLst>
          </p:cNvPr>
          <p:cNvSpPr>
            <a:spLocks noGrp="1"/>
          </p:cNvSpPr>
          <p:nvPr>
            <p:ph type="body" sz="quarter" idx="16"/>
          </p:nvPr>
        </p:nvSpPr>
        <p:spPr/>
        <p:txBody>
          <a:bodyPr/>
          <a:lstStyle/>
          <a:p>
            <a:pPr algn="just"/>
            <a:r>
              <a:rPr lang="en-US" dirty="0">
                <a:hlinkClick r:id="rId3"/>
              </a:rPr>
              <a:t>Generally Available: </a:t>
            </a:r>
            <a:r>
              <a:rPr lang="en-US" dirty="0" err="1">
                <a:hlinkClick r:id="rId3"/>
              </a:rPr>
              <a:t>OneLake</a:t>
            </a:r>
            <a:r>
              <a:rPr lang="en-US" dirty="0">
                <a:hlinkClick r:id="rId3"/>
              </a:rPr>
              <a:t> catalog integration for Azure AI Search knowledge sources</a:t>
            </a:r>
            <a:endParaRPr lang="en-US" dirty="0"/>
          </a:p>
          <a:p>
            <a:pPr algn="just"/>
            <a:r>
              <a:rPr lang="en-US" b="1" dirty="0"/>
              <a:t>Azure AI Search</a:t>
            </a:r>
            <a:r>
              <a:rPr lang="en-US" dirty="0"/>
              <a:t> now provides </a:t>
            </a:r>
            <a:r>
              <a:rPr lang="en-US" b="1" dirty="0"/>
              <a:t>general availability of </a:t>
            </a:r>
            <a:r>
              <a:rPr lang="en-US" b="1" dirty="0" err="1"/>
              <a:t>OneLake</a:t>
            </a:r>
            <a:r>
              <a:rPr lang="en-US" b="1" dirty="0"/>
              <a:t> Catalog integration for Knowledge Sources</a:t>
            </a:r>
            <a:r>
              <a:rPr lang="en-US" dirty="0"/>
              <a:t>, enabling organizations to register a </a:t>
            </a:r>
            <a:r>
              <a:rPr lang="en-US" b="1" dirty="0" err="1"/>
              <a:t>OneLake</a:t>
            </a:r>
            <a:r>
              <a:rPr lang="en-US" b="1" dirty="0"/>
              <a:t> item once and reuse it across multiple knowledge sources, RAG applications, and Foundry agents</a:t>
            </a:r>
            <a:r>
              <a:rPr lang="en-US" dirty="0"/>
              <a:t>. The integration preserves existing </a:t>
            </a:r>
            <a:r>
              <a:rPr lang="en-US" b="1" dirty="0" err="1"/>
              <a:t>OneLake</a:t>
            </a:r>
            <a:r>
              <a:rPr lang="en-US" b="1" dirty="0"/>
              <a:t> permissions, sensitivity labels, data lineage, ownership, and governance policies</a:t>
            </a:r>
            <a:r>
              <a:rPr lang="en-US" dirty="0"/>
              <a:t>, ensuring that access changes made in Microsoft Fabric are automatically reflected in dependent AI solutions. Developers can select cataloged </a:t>
            </a:r>
            <a:r>
              <a:rPr lang="en-US" dirty="0" err="1"/>
              <a:t>OneLake</a:t>
            </a:r>
            <a:r>
              <a:rPr lang="en-US" dirty="0"/>
              <a:t> assets directly instead of manually configuring storage paths, while metadata such as </a:t>
            </a:r>
            <a:r>
              <a:rPr lang="en-US" b="1" dirty="0"/>
              <a:t>schema information, freshness indicators, and ownership details</a:t>
            </a:r>
            <a:r>
              <a:rPr lang="en-US" dirty="0"/>
              <a:t> is automatically inherited. This simplifies data onboarding, reduces duplicate registrations, and creates a unified knowledge layer between </a:t>
            </a:r>
            <a:r>
              <a:rPr lang="en-US" b="1" dirty="0"/>
              <a:t>Microsoft Fabric, Azure AI Search, and Microsoft Foundry</a:t>
            </a:r>
            <a:r>
              <a:rPr lang="en-US" dirty="0"/>
              <a:t>. The capability helps organizations build more secure, governed, and maintainable AI solutions on top of their existing </a:t>
            </a:r>
            <a:r>
              <a:rPr lang="en-US" dirty="0" err="1"/>
              <a:t>OneLake</a:t>
            </a:r>
            <a:r>
              <a:rPr lang="en-US" dirty="0"/>
              <a:t> data estate.</a:t>
            </a:r>
          </a:p>
        </p:txBody>
      </p:sp>
    </p:spTree>
    <p:extLst>
      <p:ext uri="{BB962C8B-B14F-4D97-AF65-F5344CB8AC3E}">
        <p14:creationId xmlns:p14="http://schemas.microsoft.com/office/powerpoint/2010/main" val="1247609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95D67-6292-A55D-7C96-EF88821DB25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3BFDEE5-9333-025C-3498-333C09F77A1B}"/>
              </a:ext>
            </a:extLst>
          </p:cNvPr>
          <p:cNvSpPr>
            <a:spLocks noGrp="1"/>
          </p:cNvSpPr>
          <p:nvPr>
            <p:ph type="title"/>
          </p:nvPr>
        </p:nvSpPr>
        <p:spPr/>
        <p:txBody>
          <a:bodyPr/>
          <a:lstStyle/>
          <a:p>
            <a:r>
              <a:rPr lang="en-US" sz="1600" dirty="0"/>
              <a:t>ML &amp; AI &amp; IOT Updates</a:t>
            </a:r>
            <a:endParaRPr lang="en-US" dirty="0"/>
          </a:p>
        </p:txBody>
      </p:sp>
      <p:sp>
        <p:nvSpPr>
          <p:cNvPr id="4" name="Text Placeholder 3">
            <a:extLst>
              <a:ext uri="{FF2B5EF4-FFF2-40B4-BE49-F238E27FC236}">
                <a16:creationId xmlns:a16="http://schemas.microsoft.com/office/drawing/2014/main" id="{791D4918-B8B9-9F54-52A5-0D3846790EB3}"/>
              </a:ext>
            </a:extLst>
          </p:cNvPr>
          <p:cNvSpPr>
            <a:spLocks noGrp="1"/>
          </p:cNvSpPr>
          <p:nvPr>
            <p:ph type="body" sz="quarter" idx="15"/>
          </p:nvPr>
        </p:nvSpPr>
        <p:spPr/>
        <p:txBody>
          <a:bodyPr/>
          <a:lstStyle/>
          <a:p>
            <a:endParaRPr lang="en-US" dirty="0"/>
          </a:p>
        </p:txBody>
      </p:sp>
      <p:sp>
        <p:nvSpPr>
          <p:cNvPr id="5" name="Text Placeholder 4">
            <a:extLst>
              <a:ext uri="{FF2B5EF4-FFF2-40B4-BE49-F238E27FC236}">
                <a16:creationId xmlns:a16="http://schemas.microsoft.com/office/drawing/2014/main" id="{3E902569-7A91-B00A-8B0D-8EA5FC1167FE}"/>
              </a:ext>
            </a:extLst>
          </p:cNvPr>
          <p:cNvSpPr>
            <a:spLocks noGrp="1"/>
          </p:cNvSpPr>
          <p:nvPr>
            <p:ph type="body" sz="quarter" idx="16"/>
          </p:nvPr>
        </p:nvSpPr>
        <p:spPr/>
        <p:txBody>
          <a:bodyPr/>
          <a:lstStyle/>
          <a:p>
            <a:pPr algn="just"/>
            <a:r>
              <a:rPr lang="en-US" dirty="0">
                <a:hlinkClick r:id="rId2"/>
              </a:rPr>
              <a:t>Generally Available: Improved PDF batch document translation in Azure AI Translator</a:t>
            </a:r>
            <a:endParaRPr lang="en-US" dirty="0"/>
          </a:p>
          <a:p>
            <a:pPr algn="just"/>
            <a:r>
              <a:rPr lang="en-US" b="1" dirty="0"/>
              <a:t>Azure AI Translator</a:t>
            </a:r>
            <a:r>
              <a:rPr lang="en-US" dirty="0"/>
              <a:t> has introduced </a:t>
            </a:r>
            <a:r>
              <a:rPr lang="en-US" b="1" dirty="0"/>
              <a:t>general availability enhancements for PDF translation</a:t>
            </a:r>
            <a:r>
              <a:rPr lang="en-US" dirty="0"/>
              <a:t>, improving the accuracy and layout preservation of translated documents. The service leverages </a:t>
            </a:r>
            <a:r>
              <a:rPr lang="en-US" b="1" dirty="0"/>
              <a:t>Azure AI Document Intelligence</a:t>
            </a:r>
            <a:r>
              <a:rPr lang="en-US" dirty="0"/>
              <a:t> to extract structure from both </a:t>
            </a:r>
            <a:r>
              <a:rPr lang="en-US" b="1" dirty="0"/>
              <a:t>digital-native and scanned PDFs</a:t>
            </a:r>
            <a:r>
              <a:rPr lang="en-US" dirty="0"/>
              <a:t>, then translates the content while maintaining the original </a:t>
            </a:r>
            <a:r>
              <a:rPr lang="en-US" b="1" dirty="0"/>
              <a:t>reading order, headings, tables, columns, and image placement</a:t>
            </a:r>
            <a:r>
              <a:rPr lang="en-US" dirty="0"/>
              <a:t>. The enhanced processing pipeline significantly reduces formatting drift in complex documents such as </a:t>
            </a:r>
            <a:r>
              <a:rPr lang="en-US" b="1" dirty="0"/>
              <a:t>reports, forms, manuals, and multi-column publications</a:t>
            </a:r>
            <a:r>
              <a:rPr lang="en-US" dirty="0"/>
              <a:t>. The capability is available through the existing </a:t>
            </a:r>
            <a:r>
              <a:rPr lang="en-US" b="1" dirty="0"/>
              <a:t>batch document translation APIs</a:t>
            </a:r>
            <a:r>
              <a:rPr lang="en-US" dirty="0"/>
              <a:t>, using Azure Blob Storage for source and destination documents. Authentication options remain unchanged, supporting both </a:t>
            </a:r>
            <a:r>
              <a:rPr lang="en-US" b="1" dirty="0"/>
              <a:t>managed identities and SAS tokens</a:t>
            </a:r>
            <a:r>
              <a:rPr lang="en-US" dirty="0"/>
              <a:t>, while pricing continues under the standard </a:t>
            </a:r>
            <a:r>
              <a:rPr lang="en-US" b="1" dirty="0"/>
              <a:t>character-based document translation model</a:t>
            </a:r>
            <a:r>
              <a:rPr lang="en-US" dirty="0"/>
              <a:t>.</a:t>
            </a:r>
          </a:p>
        </p:txBody>
      </p:sp>
      <p:sp>
        <p:nvSpPr>
          <p:cNvPr id="7" name="Text Placeholder 6">
            <a:extLst>
              <a:ext uri="{FF2B5EF4-FFF2-40B4-BE49-F238E27FC236}">
                <a16:creationId xmlns:a16="http://schemas.microsoft.com/office/drawing/2014/main" id="{95340794-149A-B277-432E-BD5BD55AACF1}"/>
              </a:ext>
            </a:extLst>
          </p:cNvPr>
          <p:cNvSpPr>
            <a:spLocks noGrp="1"/>
          </p:cNvSpPr>
          <p:nvPr>
            <p:ph type="body" sz="quarter" idx="10"/>
          </p:nvPr>
        </p:nvSpPr>
        <p:spPr/>
        <p:txBody>
          <a:bodyPr/>
          <a:lstStyle/>
          <a:p>
            <a:pPr algn="just"/>
            <a:r>
              <a:rPr lang="en-US" sz="1000" dirty="0">
                <a:hlinkClick r:id="rId3"/>
              </a:rPr>
              <a:t>Generally Available: </a:t>
            </a:r>
            <a:r>
              <a:rPr lang="en-US" sz="1000" dirty="0" err="1">
                <a:hlinkClick r:id="rId3"/>
              </a:rPr>
              <a:t>Github</a:t>
            </a:r>
            <a:r>
              <a:rPr lang="en-US" sz="1000" dirty="0">
                <a:hlinkClick r:id="rId3"/>
              </a:rPr>
              <a:t> Copilot modernization</a:t>
            </a:r>
            <a:endParaRPr lang="en-US" sz="1000" dirty="0"/>
          </a:p>
          <a:p>
            <a:pPr algn="just"/>
            <a:r>
              <a:rPr lang="en-US" sz="1000" dirty="0"/>
              <a:t>GitHub Copilot modernization agent is now generally available</a:t>
            </a:r>
          </a:p>
          <a:p>
            <a:pPr marL="171450" indent="-171450" algn="just">
              <a:buFont typeface="Arial" panose="020B0604020202020204" pitchFamily="34" charset="0"/>
              <a:buChar char="•"/>
            </a:pPr>
            <a:r>
              <a:rPr lang="en-US" sz="1000" b="1" dirty="0"/>
              <a:t>Coordinated orchestration from estate to code. </a:t>
            </a:r>
            <a:r>
              <a:rPr lang="en-US" sz="1000" dirty="0"/>
              <a:t>Scale application assessments and upgrades across your entire app portfolio with GitHub Copilot modernization agent (GA), connecting high-level estate planning to hands-on code transformation. </a:t>
            </a:r>
          </a:p>
          <a:p>
            <a:pPr marL="171450" indent="-171450" algn="just">
              <a:buFont typeface="Arial" panose="020B0604020202020204" pitchFamily="34" charset="0"/>
              <a:buChar char="•"/>
            </a:pPr>
            <a:r>
              <a:rPr lang="en-US" sz="1000" b="1" dirty="0"/>
              <a:t>Modernize your way. </a:t>
            </a:r>
            <a:r>
              <a:rPr lang="en-US" sz="1000" dirty="0"/>
              <a:t>Custom skills (GA) let teams and partners extend agent behavior with domain-specific expertise, tailoring modernization to the patterns and institutional knowledge unique to their environment </a:t>
            </a:r>
          </a:p>
          <a:p>
            <a:pPr algn="just"/>
            <a:endParaRPr lang="en-US" sz="1000" dirty="0"/>
          </a:p>
        </p:txBody>
      </p:sp>
    </p:spTree>
    <p:extLst>
      <p:ext uri="{BB962C8B-B14F-4D97-AF65-F5344CB8AC3E}">
        <p14:creationId xmlns:p14="http://schemas.microsoft.com/office/powerpoint/2010/main" val="362108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4D11A-1B14-60F9-7A1B-BF0DFD566F8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9D94C5F-178A-A76E-0A2D-5741940492D0}"/>
              </a:ext>
            </a:extLst>
          </p:cNvPr>
          <p:cNvSpPr>
            <a:spLocks noGrp="1"/>
          </p:cNvSpPr>
          <p:nvPr>
            <p:ph type="body" sz="quarter" idx="10"/>
          </p:nvPr>
        </p:nvSpPr>
        <p:spPr/>
        <p:txBody>
          <a:bodyPr/>
          <a:lstStyle/>
          <a:p>
            <a:pPr algn="just"/>
            <a:r>
              <a:rPr lang="en-US" sz="1000" dirty="0">
                <a:hlinkClick r:id="rId2"/>
              </a:rPr>
              <a:t>Generally Available: Microsoft Foundry IQ</a:t>
            </a:r>
            <a:endParaRPr lang="en-US" sz="1000" dirty="0"/>
          </a:p>
          <a:p>
            <a:pPr algn="just"/>
            <a:r>
              <a:rPr lang="en-US" sz="1000" dirty="0"/>
              <a:t>Microsoft Foundry IQ reaches general availability, giving developers a managed knowledge layer that grounds agents in enterprise data without rebuilding retrieval pipelines for each project. Teams connect to SharePoint, </a:t>
            </a:r>
            <a:r>
              <a:rPr lang="en-US" sz="1000" dirty="0" err="1"/>
              <a:t>OneLake</a:t>
            </a:r>
            <a:r>
              <a:rPr lang="en-US" sz="1000" dirty="0"/>
              <a:t>, Azure Blob, and other sources once, then Foundry IQ handles ingestion, chunking, vector indexing, and access enforcement using the calling user's permissions. Agents query a single knowledge base and receive ranked, source-cited results, so answers stay tied to the documents customers control. Foundry IQ runs inside the same Foundry project as the agent and shares its identity, observability, and content safety configuration. Customers can ship grounded copilots faster, reduce duplicated retrieval code across teams, and keep sensitive data inside the tenant boundary. </a:t>
            </a:r>
          </a:p>
        </p:txBody>
      </p:sp>
      <p:sp>
        <p:nvSpPr>
          <p:cNvPr id="3" name="Title 2">
            <a:extLst>
              <a:ext uri="{FF2B5EF4-FFF2-40B4-BE49-F238E27FC236}">
                <a16:creationId xmlns:a16="http://schemas.microsoft.com/office/drawing/2014/main" id="{CE90DA38-4576-D399-864A-BA5D056E002E}"/>
              </a:ext>
            </a:extLst>
          </p:cNvPr>
          <p:cNvSpPr>
            <a:spLocks noGrp="1"/>
          </p:cNvSpPr>
          <p:nvPr>
            <p:ph type="title"/>
          </p:nvPr>
        </p:nvSpPr>
        <p:spPr/>
        <p:txBody>
          <a:bodyPr/>
          <a:lstStyle/>
          <a:p>
            <a:r>
              <a:rPr lang="en-US" sz="1600" dirty="0"/>
              <a:t>ML &amp; AI &amp; IOT Updates</a:t>
            </a:r>
            <a:endParaRPr lang="en-US" dirty="0"/>
          </a:p>
        </p:txBody>
      </p:sp>
      <p:sp>
        <p:nvSpPr>
          <p:cNvPr id="4" name="Text Placeholder 3">
            <a:extLst>
              <a:ext uri="{FF2B5EF4-FFF2-40B4-BE49-F238E27FC236}">
                <a16:creationId xmlns:a16="http://schemas.microsoft.com/office/drawing/2014/main" id="{EF2D3653-783C-B96C-D15B-DB5F6D4EABEF}"/>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2E803089-0750-4BA9-96B5-7165D848BDA3}"/>
              </a:ext>
            </a:extLst>
          </p:cNvPr>
          <p:cNvSpPr>
            <a:spLocks noGrp="1"/>
          </p:cNvSpPr>
          <p:nvPr>
            <p:ph type="body" sz="quarter" idx="16"/>
          </p:nvPr>
        </p:nvSpPr>
        <p:spPr/>
        <p:txBody>
          <a:bodyPr/>
          <a:lstStyle/>
          <a:p>
            <a:pPr algn="just"/>
            <a:r>
              <a:rPr lang="en-US" dirty="0">
                <a:hlinkClick r:id="rId3"/>
              </a:rPr>
              <a:t>Generally Available: Self-serve custom photo avatar creation in Microsoft Foundry</a:t>
            </a:r>
            <a:endParaRPr lang="en-US" dirty="0"/>
          </a:p>
          <a:p>
            <a:pPr algn="just"/>
            <a:r>
              <a:rPr lang="en-US" dirty="0"/>
              <a:t>Microsoft Foundry brings self-serve custom photo avatar creation to GA in the Foundry NextGen fine-tuning portal. Enterprise customers building voice agents with avatars or producing content with avatar and speech often need a branded avatar instead of a standard one, but until now the only path ran through a manual white-glove engagement that was slow and dependent on internal teams. With this release, customers create custom photo avatars directly in the portal through a guided self-serve workflow, integrated alongside other model customization capabilities in NextGen fine-tuning. Teams iterate on a brand-aligned avatar in hours rather than weeks and deploy to production scenarios such as customer-facing voice agents and interactive training content, removing the bottleneck that limited avatar creation to a small number of partners. </a:t>
            </a:r>
          </a:p>
        </p:txBody>
      </p:sp>
    </p:spTree>
    <p:extLst>
      <p:ext uri="{BB962C8B-B14F-4D97-AF65-F5344CB8AC3E}">
        <p14:creationId xmlns:p14="http://schemas.microsoft.com/office/powerpoint/2010/main" val="1065432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5A88AC6-4112-BBA2-2976-51E8CA5681A3}"/>
              </a:ext>
            </a:extLst>
          </p:cNvPr>
          <p:cNvSpPr>
            <a:spLocks noGrp="1"/>
          </p:cNvSpPr>
          <p:nvPr>
            <p:ph type="body" sz="quarter" idx="10"/>
          </p:nvPr>
        </p:nvSpPr>
        <p:spPr>
          <a:xfrm>
            <a:off x="4433776" y="855080"/>
            <a:ext cx="4365038" cy="1395751"/>
          </a:xfrm>
        </p:spPr>
        <p:txBody>
          <a:bodyPr/>
          <a:lstStyle/>
          <a:p>
            <a:pPr algn="just"/>
            <a:r>
              <a:rPr lang="en-US" sz="1000" dirty="0">
                <a:hlinkClick r:id="rId2"/>
              </a:rPr>
              <a:t>Announcing Microsoft Discovery general availability</a:t>
            </a:r>
            <a:endParaRPr lang="en-US" sz="1000" dirty="0"/>
          </a:p>
          <a:p>
            <a:pPr algn="just"/>
            <a:r>
              <a:rPr lang="en-US" sz="1000" b="1" dirty="0"/>
              <a:t>Microsoft Discovery</a:t>
            </a:r>
            <a:r>
              <a:rPr lang="en-US" sz="1000" dirty="0"/>
              <a:t> is now </a:t>
            </a:r>
            <a:r>
              <a:rPr lang="en-US" sz="1000" b="1" dirty="0"/>
              <a:t>generally available</a:t>
            </a:r>
            <a:r>
              <a:rPr lang="en-US" sz="1000" dirty="0"/>
              <a:t>, providing a new AI-powered platform designed to accelerate scientific research and innovation by combining advanced AI, simulation, and scientific reasoning capabilities. The platform helps researchers, engineers, and R&amp;D teams explore complex scientific problems, generate hypotheses, analyze data, and accelerate discovery workflows across domains such as chemistry, materials science, pharmaceuticals, energy, and manufacturing.</a:t>
            </a:r>
          </a:p>
        </p:txBody>
      </p:sp>
      <p:sp>
        <p:nvSpPr>
          <p:cNvPr id="3" name="Title 2">
            <a:extLst>
              <a:ext uri="{FF2B5EF4-FFF2-40B4-BE49-F238E27FC236}">
                <a16:creationId xmlns:a16="http://schemas.microsoft.com/office/drawing/2014/main" id="{FB8E3472-B788-B0BD-DECC-D2BDF1337451}"/>
              </a:ext>
            </a:extLst>
          </p:cNvPr>
          <p:cNvSpPr>
            <a:spLocks noGrp="1"/>
          </p:cNvSpPr>
          <p:nvPr>
            <p:ph type="title"/>
          </p:nvPr>
        </p:nvSpPr>
        <p:spPr/>
        <p:txBody>
          <a:bodyPr/>
          <a:lstStyle/>
          <a:p>
            <a:r>
              <a:rPr lang="en-US" sz="1600" dirty="0"/>
              <a:t>ML &amp; AI &amp; IOT Updates</a:t>
            </a:r>
            <a:endParaRPr lang="en-US" dirty="0"/>
          </a:p>
        </p:txBody>
      </p:sp>
      <p:sp>
        <p:nvSpPr>
          <p:cNvPr id="4" name="Text Placeholder 3">
            <a:extLst>
              <a:ext uri="{FF2B5EF4-FFF2-40B4-BE49-F238E27FC236}">
                <a16:creationId xmlns:a16="http://schemas.microsoft.com/office/drawing/2014/main" id="{C39B95D8-2606-712B-C82C-C872E1262504}"/>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F76C6477-8526-6B9F-1FE3-A6348B647BB1}"/>
              </a:ext>
            </a:extLst>
          </p:cNvPr>
          <p:cNvSpPr>
            <a:spLocks noGrp="1"/>
          </p:cNvSpPr>
          <p:nvPr>
            <p:ph type="body" sz="quarter" idx="16"/>
          </p:nvPr>
        </p:nvSpPr>
        <p:spPr/>
        <p:txBody>
          <a:bodyPr/>
          <a:lstStyle/>
          <a:p>
            <a:pPr algn="just"/>
            <a:r>
              <a:rPr lang="en-US" dirty="0">
                <a:hlinkClick r:id="rId3"/>
              </a:rPr>
              <a:t>Generally Available: Microsoft Foundry for Visual Studio Code (June Build 2026 refresh)</a:t>
            </a:r>
            <a:endParaRPr lang="en-US" dirty="0"/>
          </a:p>
          <a:p>
            <a:pPr algn="just"/>
            <a:r>
              <a:rPr lang="en-US" dirty="0"/>
              <a:t>The Microsoft Foundry extension for Visual Studio Code reaches general availability with a Build 2026 refresh that brings the full model catalog, model playground, and Hosted agent deployment into the editor. Developers can sign in with their Azure account, create or open a Foundry project, browse over 1,900 models with filters for publisher and capability, and deploy a model into the project without leaving VS Code. The extension also generates starter code for Python, .NET, JavaScript, or Java in the SDK and authentication style the developer prefers. For Hosted agents, the extension supports both local development and one-click deploy to Foundry Agent Service, with side-by-side model and agent playgrounds for fast iteration. </a:t>
            </a:r>
          </a:p>
        </p:txBody>
      </p:sp>
      <p:pic>
        <p:nvPicPr>
          <p:cNvPr id="7" name="Picture 6">
            <a:extLst>
              <a:ext uri="{FF2B5EF4-FFF2-40B4-BE49-F238E27FC236}">
                <a16:creationId xmlns:a16="http://schemas.microsoft.com/office/drawing/2014/main" id="{1D038A86-AF63-8759-FE08-934BCCBCB8F0}"/>
              </a:ext>
            </a:extLst>
          </p:cNvPr>
          <p:cNvPicPr>
            <a:picLocks noChangeAspect="1"/>
          </p:cNvPicPr>
          <p:nvPr/>
        </p:nvPicPr>
        <p:blipFill>
          <a:blip r:embed="rId4"/>
          <a:stretch>
            <a:fillRect/>
          </a:stretch>
        </p:blipFill>
        <p:spPr>
          <a:xfrm>
            <a:off x="4618072" y="2169816"/>
            <a:ext cx="4135525" cy="2571750"/>
          </a:xfrm>
          <a:prstGeom prst="rect">
            <a:avLst/>
          </a:prstGeom>
        </p:spPr>
      </p:pic>
    </p:spTree>
    <p:extLst>
      <p:ext uri="{BB962C8B-B14F-4D97-AF65-F5344CB8AC3E}">
        <p14:creationId xmlns:p14="http://schemas.microsoft.com/office/powerpoint/2010/main" val="26101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4748646" cy="1714500"/>
          </a:xfrm>
        </p:spPr>
        <p:txBody>
          <a:bodyPr/>
          <a:lstStyle/>
          <a:p>
            <a:r>
              <a:rPr lang="en-US" sz="4000" dirty="0"/>
              <a:t>DevOps &amp; IaC &amp; Automation</a:t>
            </a:r>
          </a:p>
        </p:txBody>
      </p:sp>
    </p:spTree>
    <p:extLst>
      <p:ext uri="{BB962C8B-B14F-4D97-AF65-F5344CB8AC3E}">
        <p14:creationId xmlns:p14="http://schemas.microsoft.com/office/powerpoint/2010/main" val="65378462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Regional Endpoints for Azure Container Registry Geo-Replication — Now in Public Preview</a:t>
            </a:r>
            <a:endParaRPr lang="en-US" sz="1000" dirty="0"/>
          </a:p>
          <a:p>
            <a:pPr algn="just"/>
            <a:r>
              <a:rPr lang="en-US" sz="1000" dirty="0"/>
              <a:t>Azure Container Registry (ACR) now introduces </a:t>
            </a:r>
            <a:r>
              <a:rPr lang="en-US" sz="1000" b="1" dirty="0"/>
              <a:t>regional endpoints for geo-replicated registries</a:t>
            </a:r>
            <a:r>
              <a:rPr lang="en-US" sz="1000" dirty="0"/>
              <a:t>, allowing clients to connect directly to a specific regional replica instead of relying on a global registry endpoint. This improves performance by reducing latency and keeping image pulls and pushes closer to the workloads consuming them. Regional endpoints also enhance resiliency by allowing applications and CI/CD pipelines to continue operating against a local replica during regional connectivity issues. The feature provides greater control over traffic routing, helping organizations optimize container image distribution across multi-region deployments. It is particularly beneficial for global AKS, Azure Container Apps, and Kubernetes environments that require predictable performance and reduced cross-region data transfer. This enhancement strengthens ACR's support for large-scale, geographically distributed container platforms while improving availability and operational flexibility.</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DevOps &amp; IaC &amp; Automation</a:t>
            </a:r>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a:xfrm>
            <a:off x="342900" y="855080"/>
            <a:ext cx="3955312" cy="2023773"/>
          </a:xfrm>
        </p:spPr>
        <p:txBody>
          <a:bodyPr/>
          <a:lstStyle/>
          <a:p>
            <a:pPr algn="just"/>
            <a:r>
              <a:rPr lang="en-US" dirty="0">
                <a:hlinkClick r:id="rId3"/>
              </a:rPr>
              <a:t>Public Preview: Azure Logic Apps </a:t>
            </a:r>
            <a:r>
              <a:rPr lang="en-US" dirty="0" err="1">
                <a:hlinkClick r:id="rId3"/>
              </a:rPr>
              <a:t>Codeful</a:t>
            </a:r>
            <a:r>
              <a:rPr lang="en-US" dirty="0">
                <a:hlinkClick r:id="rId3"/>
              </a:rPr>
              <a:t> Workflows with Logic Apps Standard SDK.</a:t>
            </a:r>
            <a:endParaRPr lang="en-US" dirty="0"/>
          </a:p>
          <a:p>
            <a:pPr algn="just"/>
            <a:r>
              <a:rPr lang="en-US" dirty="0"/>
              <a:t>Modern integration and automation teams increasingly want the flexibility of writing workflows directly in code while still benefiting from managed orchestration, enterprise connectors, and cloud-scale operational capabilities. Traditional workflow models can create friction for pro developers who prefer imperative programming patterns and code-first development experiences.  </a:t>
            </a:r>
          </a:p>
          <a:p>
            <a:pPr algn="just"/>
            <a:r>
              <a:rPr lang="en-US" dirty="0"/>
              <a:t>With </a:t>
            </a:r>
            <a:r>
              <a:rPr lang="en-US" dirty="0" err="1"/>
              <a:t>Codeful</a:t>
            </a:r>
            <a:r>
              <a:rPr lang="en-US" dirty="0"/>
              <a:t> Workflows, Azure Logic Apps extends Logic Apps Standard with a code-first authoring and execution model built on .NET and a first-class Logic Apps Standard SDK. </a:t>
            </a:r>
          </a:p>
        </p:txBody>
      </p:sp>
    </p:spTree>
    <p:extLst>
      <p:ext uri="{BB962C8B-B14F-4D97-AF65-F5344CB8AC3E}">
        <p14:creationId xmlns:p14="http://schemas.microsoft.com/office/powerpoint/2010/main" val="1921881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86D8C-1CF7-CFC9-5082-9B054DB0E4B0}"/>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7CBCE21E-6E97-4575-224A-07A9BE04CC17}"/>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913ABE3E-5CF4-60DA-7E03-258003FB6E61}"/>
              </a:ext>
            </a:extLst>
          </p:cNvPr>
          <p:cNvSpPr>
            <a:spLocks noGrp="1"/>
          </p:cNvSpPr>
          <p:nvPr>
            <p:ph type="title"/>
          </p:nvPr>
        </p:nvSpPr>
        <p:spPr/>
        <p:txBody>
          <a:bodyPr/>
          <a:lstStyle/>
          <a:p>
            <a:r>
              <a:rPr lang="en-US" sz="1800" dirty="0"/>
              <a:t>DevOps &amp; IaC &amp; Automation</a:t>
            </a:r>
          </a:p>
        </p:txBody>
      </p:sp>
      <p:sp>
        <p:nvSpPr>
          <p:cNvPr id="13" name="Text Placeholder 12">
            <a:extLst>
              <a:ext uri="{FF2B5EF4-FFF2-40B4-BE49-F238E27FC236}">
                <a16:creationId xmlns:a16="http://schemas.microsoft.com/office/drawing/2014/main" id="{F39435DB-59FA-A2E5-622B-52C33AFF7708}"/>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D47C64A-30C7-BF38-06B4-45C2009206FC}"/>
              </a:ext>
            </a:extLst>
          </p:cNvPr>
          <p:cNvSpPr>
            <a:spLocks noGrp="1"/>
          </p:cNvSpPr>
          <p:nvPr>
            <p:ph type="body" sz="quarter" idx="16"/>
          </p:nvPr>
        </p:nvSpPr>
        <p:spPr/>
        <p:txBody>
          <a:bodyPr/>
          <a:lstStyle/>
          <a:p>
            <a:pPr algn="just"/>
            <a:r>
              <a:rPr lang="en-US" dirty="0">
                <a:hlinkClick r:id="rId2"/>
              </a:rPr>
              <a:t>Public Preview: Deployment Templates support packaging deployment configurations in registries for curated deployment</a:t>
            </a:r>
            <a:endParaRPr lang="en-US" dirty="0"/>
          </a:p>
          <a:p>
            <a:pPr algn="just"/>
            <a:r>
              <a:rPr lang="en-US" dirty="0"/>
              <a:t>Deployment templates in Azure Machine Learning add public preview support for deploying from registries, expanding the set of model registries that customers can use as the source for a templated deployment. Deployment templates package a model, deployment configuration, and container information into a reusable artifact that platform teams can share with development teams. This update makes it easier for platform owners to standardize how a team deploys curated models from registries, while preserving governance through the template itself. </a:t>
            </a:r>
          </a:p>
        </p:txBody>
      </p:sp>
    </p:spTree>
    <p:extLst>
      <p:ext uri="{BB962C8B-B14F-4D97-AF65-F5344CB8AC3E}">
        <p14:creationId xmlns:p14="http://schemas.microsoft.com/office/powerpoint/2010/main" val="1082689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E166B-5F98-EE8E-5B62-AEAB3F55337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ACB0A5D-ABFF-FDBA-2981-B5840044FB65}"/>
              </a:ext>
            </a:extLst>
          </p:cNvPr>
          <p:cNvSpPr>
            <a:spLocks noGrp="1"/>
          </p:cNvSpPr>
          <p:nvPr>
            <p:ph type="body" sz="quarter" idx="10"/>
          </p:nvPr>
        </p:nvSpPr>
        <p:spPr/>
        <p:txBody>
          <a:bodyPr/>
          <a:lstStyle/>
          <a:p>
            <a:pPr algn="just"/>
            <a:r>
              <a:rPr lang="en-US" sz="1000" dirty="0">
                <a:hlinkClick r:id="rId2"/>
              </a:rPr>
              <a:t>Generally Available: Azure AI Translator SDKs for the latest text translation API</a:t>
            </a:r>
            <a:endParaRPr lang="en-US" sz="1000" dirty="0"/>
          </a:p>
          <a:p>
            <a:pPr algn="just"/>
            <a:r>
              <a:rPr lang="en-US" sz="1000" dirty="0"/>
              <a:t>Azure AI Translator publishes generally available SDKs that target the latest text translation REST API across four languages: C#/.NET, Java, JavaScript, and Python. The SDKs expose Translator API v4 SDK to GA across all four supported programming languages, giving developers a single client surface to choose between traditional neural machine translation and LLM-based translation per request. Teams building multilingual products and support content have had to manage two parallel translation paths, with different SDKs, request shapes, and quality profiles, making it hard to mix models within one workflow. </a:t>
            </a:r>
          </a:p>
          <a:p>
            <a:pPr algn="just"/>
            <a:r>
              <a:rPr lang="en-US" sz="1000" dirty="0"/>
              <a:t>With the new SDK, developers can set the translation model, output tone, target gender, and adaptive settings on every call from the same Translator client. The release simplifies integration code, makes feature parity across .NET, Python, Java, and JavaScript clients consistent, and aligns the SDK surface with Translator API v4 capabilities including LLM model selection and the latest adaptive translation features. </a:t>
            </a:r>
          </a:p>
        </p:txBody>
      </p:sp>
      <p:sp>
        <p:nvSpPr>
          <p:cNvPr id="11" name="Title 10">
            <a:extLst>
              <a:ext uri="{FF2B5EF4-FFF2-40B4-BE49-F238E27FC236}">
                <a16:creationId xmlns:a16="http://schemas.microsoft.com/office/drawing/2014/main" id="{16AAAE0B-0E99-B9BA-C719-42AF0D574738}"/>
              </a:ext>
            </a:extLst>
          </p:cNvPr>
          <p:cNvSpPr>
            <a:spLocks noGrp="1"/>
          </p:cNvSpPr>
          <p:nvPr>
            <p:ph type="title"/>
          </p:nvPr>
        </p:nvSpPr>
        <p:spPr/>
        <p:txBody>
          <a:bodyPr/>
          <a:lstStyle/>
          <a:p>
            <a:r>
              <a:rPr lang="en-US" sz="1800" dirty="0"/>
              <a:t>DevOps &amp; IaC &amp; Automation</a:t>
            </a:r>
          </a:p>
        </p:txBody>
      </p:sp>
      <p:sp>
        <p:nvSpPr>
          <p:cNvPr id="13" name="Text Placeholder 12">
            <a:extLst>
              <a:ext uri="{FF2B5EF4-FFF2-40B4-BE49-F238E27FC236}">
                <a16:creationId xmlns:a16="http://schemas.microsoft.com/office/drawing/2014/main" id="{E12F1E69-46C9-B918-9382-5DFF0FC578B8}"/>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ACB295C0-8FE1-D74E-47AD-C2C789F6372C}"/>
              </a:ext>
            </a:extLst>
          </p:cNvPr>
          <p:cNvSpPr>
            <a:spLocks noGrp="1"/>
          </p:cNvSpPr>
          <p:nvPr>
            <p:ph type="body" sz="quarter" idx="16"/>
          </p:nvPr>
        </p:nvSpPr>
        <p:spPr/>
        <p:txBody>
          <a:bodyPr/>
          <a:lstStyle/>
          <a:p>
            <a:pPr algn="just"/>
            <a:r>
              <a:rPr lang="en-US" dirty="0">
                <a:hlinkClick r:id="rId3"/>
              </a:rPr>
              <a:t>Generally Available: Speech SDK 1.50 for Azure AI Speech</a:t>
            </a:r>
            <a:endParaRPr lang="en-US" dirty="0"/>
          </a:p>
          <a:p>
            <a:pPr algn="just"/>
            <a:r>
              <a:rPr lang="en-US" dirty="0"/>
              <a:t>Speech SDK 1.50 ships as a generally available release across all supported languages: C#, C++, Java, JavaScript, Python, Objective-C, Swift, and Go. The release rolls up the latest speech-to-text and text-to-speech features behind a stable API surface and is published to the standard NuGet, Maven, </a:t>
            </a:r>
            <a:r>
              <a:rPr lang="en-US" dirty="0" err="1"/>
              <a:t>npm</a:t>
            </a:r>
            <a:r>
              <a:rPr lang="en-US" dirty="0"/>
              <a:t>, </a:t>
            </a:r>
            <a:r>
              <a:rPr lang="en-US" dirty="0" err="1"/>
              <a:t>PyPI</a:t>
            </a:r>
            <a:r>
              <a:rPr lang="en-US" dirty="0"/>
              <a:t>, and </a:t>
            </a:r>
            <a:r>
              <a:rPr lang="en-US" dirty="0" err="1"/>
              <a:t>CocoaPods</a:t>
            </a:r>
            <a:r>
              <a:rPr lang="en-US" dirty="0"/>
              <a:t> feeds. Existing apps can move to 1.50 with a package version bump in most cases. The SDK continues to support real-time and offline scenarios against local devices, files, Azure Blob Storage, and input/output streams. </a:t>
            </a:r>
          </a:p>
        </p:txBody>
      </p:sp>
    </p:spTree>
    <p:extLst>
      <p:ext uri="{BB962C8B-B14F-4D97-AF65-F5344CB8AC3E}">
        <p14:creationId xmlns:p14="http://schemas.microsoft.com/office/powerpoint/2010/main" val="1359911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Miscellaneous</a:t>
            </a:r>
          </a:p>
        </p:txBody>
      </p:sp>
    </p:spTree>
    <p:extLst>
      <p:ext uri="{BB962C8B-B14F-4D97-AF65-F5344CB8AC3E}">
        <p14:creationId xmlns:p14="http://schemas.microsoft.com/office/powerpoint/2010/main" val="158841815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Announcing Intelligent Terminal 0.1</a:t>
            </a:r>
            <a:endParaRPr lang="en-US" sz="1000" dirty="0"/>
          </a:p>
          <a:p>
            <a:pPr algn="just"/>
            <a:r>
              <a:rPr lang="en-US" sz="1000" dirty="0"/>
              <a:t>Microsoft has introduced Intelligent Terminal v0.1, an experimental AI-powered command-line experience designed to make terminal interactions more intuitive and productive. The tool combines traditional shell capabilities with AI assistance, helping users understand commands, troubleshoot errors, generate scripts, and perform complex tasks using natural language. Rather than replacing the terminal, Intelligent Terminal augments it by providing contextual guidance and command suggestions directly within the command-line workflow. It can help developers and administrators reduce time spent searching documentation, deciphering error messages, and constructing complex commands. The project is open source and aims to explore how AI can improve developer productivity while preserving the flexibility and power of command-line environments. This release represents Microsoft's vision for a more intelligent, conversational terminal experience that integrates AI assistance directly into everyday development and operations tasks.</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Miscellaneous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Observability developer experience in Azure Developer CLI (</a:t>
            </a:r>
            <a:r>
              <a:rPr lang="en-US" dirty="0" err="1">
                <a:hlinkClick r:id="rId3"/>
              </a:rPr>
              <a:t>azd</a:t>
            </a:r>
            <a:r>
              <a:rPr lang="en-US" dirty="0">
                <a:hlinkClick r:id="rId3"/>
              </a:rPr>
              <a:t>)</a:t>
            </a:r>
            <a:endParaRPr lang="en-US" dirty="0"/>
          </a:p>
          <a:p>
            <a:pPr algn="just"/>
            <a:r>
              <a:rPr lang="en-US" dirty="0"/>
              <a:t>Use the Azure Developer CLI (</a:t>
            </a:r>
            <a:r>
              <a:rPr lang="en-US" dirty="0" err="1"/>
              <a:t>azd</a:t>
            </a:r>
            <a:r>
              <a:rPr lang="en-US" dirty="0"/>
              <a:t>) CLI evaluation experience to add a measured quality loop to an agent created with Microsoft Foundry. It empowers users on the hosted-agent lifecycle in </a:t>
            </a:r>
            <a:r>
              <a:rPr lang="en-US" dirty="0" err="1"/>
              <a:t>azd</a:t>
            </a:r>
            <a:r>
              <a:rPr lang="en-US" dirty="0"/>
              <a:t>, where you create, provision, deploy, initialize evaluation assets, run a first evaluation, inspect the run, and reuse the evaluation recipe for later runs. </a:t>
            </a:r>
          </a:p>
        </p:txBody>
      </p:sp>
    </p:spTree>
    <p:extLst>
      <p:ext uri="{BB962C8B-B14F-4D97-AF65-F5344CB8AC3E}">
        <p14:creationId xmlns:p14="http://schemas.microsoft.com/office/powerpoint/2010/main" val="954020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BB758-24BC-C7E4-BF87-3DCA23EF4558}"/>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ED05302F-8CC9-E6C3-B3FE-2196226826D5}"/>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B38CC501-A225-12DF-0512-D8F6CC4E6D4E}"/>
              </a:ext>
            </a:extLst>
          </p:cNvPr>
          <p:cNvSpPr>
            <a:spLocks noGrp="1"/>
          </p:cNvSpPr>
          <p:nvPr>
            <p:ph type="title"/>
          </p:nvPr>
        </p:nvSpPr>
        <p:spPr/>
        <p:txBody>
          <a:bodyPr/>
          <a:lstStyle/>
          <a:p>
            <a:r>
              <a:rPr lang="en-US" sz="1800" dirty="0"/>
              <a:t>Miscellaneous Updates</a:t>
            </a:r>
            <a:endParaRPr lang="en-US" dirty="0"/>
          </a:p>
        </p:txBody>
      </p:sp>
      <p:sp>
        <p:nvSpPr>
          <p:cNvPr id="13" name="Text Placeholder 12">
            <a:extLst>
              <a:ext uri="{FF2B5EF4-FFF2-40B4-BE49-F238E27FC236}">
                <a16:creationId xmlns:a16="http://schemas.microsoft.com/office/drawing/2014/main" id="{166D860D-4F27-DA91-CAED-C08905E08AE7}"/>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C2A38DD5-5388-69B7-9975-14827283FDC5}"/>
              </a:ext>
            </a:extLst>
          </p:cNvPr>
          <p:cNvSpPr>
            <a:spLocks noGrp="1"/>
          </p:cNvSpPr>
          <p:nvPr>
            <p:ph type="body" sz="quarter" idx="16"/>
          </p:nvPr>
        </p:nvSpPr>
        <p:spPr/>
        <p:txBody>
          <a:bodyPr/>
          <a:lstStyle/>
          <a:p>
            <a:pPr algn="just"/>
            <a:r>
              <a:rPr lang="en-US" dirty="0">
                <a:hlinkClick r:id="rId2"/>
              </a:rPr>
              <a:t>Public Preview: CLI and SDK support for Deployment Templates</a:t>
            </a:r>
            <a:endParaRPr lang="en-US" dirty="0"/>
          </a:p>
          <a:p>
            <a:pPr algn="just"/>
            <a:r>
              <a:rPr lang="en-US" b="1" dirty="0"/>
              <a:t>Azure Machine Learning Deployment Templates</a:t>
            </a:r>
            <a:r>
              <a:rPr lang="en-US" dirty="0"/>
              <a:t> now support management through the </a:t>
            </a:r>
            <a:r>
              <a:rPr lang="en-US" b="1" dirty="0"/>
              <a:t>Azure CLI and Python SDK</a:t>
            </a:r>
            <a:r>
              <a:rPr lang="en-US" dirty="0"/>
              <a:t>, enabling platform teams to automate model deployment standards using Infrastructure-as-Code practices. Previously managed primarily through the Azure portal, deployment templates can now be created, updated, listed, and deleted using CLI commands and SDK APIs.</a:t>
            </a:r>
          </a:p>
          <a:p>
            <a:pPr algn="just"/>
            <a:r>
              <a:rPr lang="en-US" dirty="0"/>
              <a:t>This enhancement allows organizations to store deployment templates in </a:t>
            </a:r>
            <a:r>
              <a:rPr lang="en-US" b="1" dirty="0"/>
              <a:t>Git repositories</a:t>
            </a:r>
            <a:r>
              <a:rPr lang="en-US" dirty="0"/>
              <a:t>, manage them through </a:t>
            </a:r>
            <a:r>
              <a:rPr lang="en-US" b="1" dirty="0"/>
              <a:t>pull requests</a:t>
            </a:r>
            <a:r>
              <a:rPr lang="en-US" dirty="0"/>
              <a:t>, and integrate them into </a:t>
            </a:r>
            <a:r>
              <a:rPr lang="en-US" b="1" dirty="0"/>
              <a:t>Azure DevOps and GitHub Actions pipelines</a:t>
            </a:r>
            <a:r>
              <a:rPr lang="en-US" dirty="0"/>
              <a:t>. Teams can deploy standardized model configurations consistently across multiple projects using automated deployment workflows, improving governance and operational consistency.</a:t>
            </a:r>
          </a:p>
          <a:p>
            <a:pPr algn="just"/>
            <a:r>
              <a:rPr lang="en-US" dirty="0"/>
              <a:t>By bringing deployment templates into CI/CD pipelines, Azure Machine Learning enables </a:t>
            </a:r>
            <a:r>
              <a:rPr lang="en-US" b="1" dirty="0"/>
              <a:t>repeatable, auditable, and scalable model deployment processes</a:t>
            </a:r>
            <a:r>
              <a:rPr lang="en-US" dirty="0"/>
              <a:t>, reducing manual effort and helping organizations enforce deployment standards across their AI and machine learning environments.</a:t>
            </a:r>
          </a:p>
          <a:p>
            <a:pPr algn="just"/>
            <a:endParaRPr lang="en-US" dirty="0"/>
          </a:p>
        </p:txBody>
      </p:sp>
    </p:spTree>
    <p:extLst>
      <p:ext uri="{BB962C8B-B14F-4D97-AF65-F5344CB8AC3E}">
        <p14:creationId xmlns:p14="http://schemas.microsoft.com/office/powerpoint/2010/main" val="2384958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F6376-AFAE-7966-3832-BF94E416269A}"/>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58E78F44-EBA7-0070-3283-4FD74A0787A3}"/>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2FB73DF5-B435-B08A-FA0B-4E67E050E300}"/>
              </a:ext>
            </a:extLst>
          </p:cNvPr>
          <p:cNvSpPr>
            <a:spLocks noGrp="1"/>
          </p:cNvSpPr>
          <p:nvPr>
            <p:ph type="title"/>
          </p:nvPr>
        </p:nvSpPr>
        <p:spPr/>
        <p:txBody>
          <a:bodyPr/>
          <a:lstStyle/>
          <a:p>
            <a:r>
              <a:rPr lang="en-US" sz="1800" dirty="0"/>
              <a:t>Miscellaneous Updates</a:t>
            </a:r>
            <a:endParaRPr lang="en-US" dirty="0"/>
          </a:p>
        </p:txBody>
      </p:sp>
      <p:sp>
        <p:nvSpPr>
          <p:cNvPr id="13" name="Text Placeholder 12">
            <a:extLst>
              <a:ext uri="{FF2B5EF4-FFF2-40B4-BE49-F238E27FC236}">
                <a16:creationId xmlns:a16="http://schemas.microsoft.com/office/drawing/2014/main" id="{34A31A64-CCC6-D99D-7AF9-F1B68C99CE8F}"/>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28244EA9-AA7C-544B-0E10-45F0A7930630}"/>
              </a:ext>
            </a:extLst>
          </p:cNvPr>
          <p:cNvSpPr>
            <a:spLocks noGrp="1"/>
          </p:cNvSpPr>
          <p:nvPr>
            <p:ph type="body" sz="quarter" idx="16"/>
          </p:nvPr>
        </p:nvSpPr>
        <p:spPr/>
        <p:txBody>
          <a:bodyPr/>
          <a:lstStyle/>
          <a:p>
            <a:pPr algn="just"/>
            <a:r>
              <a:rPr lang="en-US" dirty="0">
                <a:hlinkClick r:id="rId2"/>
              </a:rPr>
              <a:t>Generally Available: Microsoft Discovery</a:t>
            </a:r>
            <a:endParaRPr lang="en-US" dirty="0"/>
          </a:p>
          <a:p>
            <a:pPr algn="just"/>
            <a:r>
              <a:rPr lang="en-US" dirty="0"/>
              <a:t>Microsoft Discovery is now generally available, providing research and development organizations an enterprise platform for building and governing agentic AI workflows across scientific and engineering disciplines. Also available in preview is the Microsoft Discovery app, a local desktop experience that helps researchers and scientific teams begin working with agentic discovery today without requiring cloud infrastructure.</a:t>
            </a:r>
          </a:p>
        </p:txBody>
      </p:sp>
    </p:spTree>
    <p:extLst>
      <p:ext uri="{BB962C8B-B14F-4D97-AF65-F5344CB8AC3E}">
        <p14:creationId xmlns:p14="http://schemas.microsoft.com/office/powerpoint/2010/main" val="3277490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Information</a:t>
            </a:r>
          </a:p>
        </p:txBody>
      </p:sp>
    </p:spTree>
    <p:extLst>
      <p:ext uri="{BB962C8B-B14F-4D97-AF65-F5344CB8AC3E}">
        <p14:creationId xmlns:p14="http://schemas.microsoft.com/office/powerpoint/2010/main" val="127604162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9E4E97-A385-759E-BD70-47D0B91CA39E}"/>
              </a:ext>
            </a:extLst>
          </p:cNvPr>
          <p:cNvSpPr>
            <a:spLocks noGrp="1"/>
          </p:cNvSpPr>
          <p:nvPr>
            <p:ph type="body" sz="quarter" idx="10"/>
          </p:nvPr>
        </p:nvSpPr>
        <p:spPr>
          <a:xfrm>
            <a:off x="342900" y="855080"/>
            <a:ext cx="8455914" cy="3774069"/>
          </a:xfrm>
        </p:spPr>
        <p:txBody>
          <a:bodyPr/>
          <a:lstStyle/>
          <a:p>
            <a:r>
              <a:rPr lang="en-US" dirty="0">
                <a:hlinkClick r:id="rId2"/>
              </a:rPr>
              <a:t>Azure Times GitHub Repo</a:t>
            </a:r>
            <a:endParaRPr lang="en-US" dirty="0"/>
          </a:p>
        </p:txBody>
      </p:sp>
      <p:sp>
        <p:nvSpPr>
          <p:cNvPr id="3" name="Title 2">
            <a:extLst>
              <a:ext uri="{FF2B5EF4-FFF2-40B4-BE49-F238E27FC236}">
                <a16:creationId xmlns:a16="http://schemas.microsoft.com/office/drawing/2014/main" id="{78BEF490-0130-4022-0399-BE422CD7CB94}"/>
              </a:ext>
            </a:extLst>
          </p:cNvPr>
          <p:cNvSpPr>
            <a:spLocks noGrp="1"/>
          </p:cNvSpPr>
          <p:nvPr>
            <p:ph type="title"/>
          </p:nvPr>
        </p:nvSpPr>
        <p:spPr/>
        <p:txBody>
          <a:bodyPr/>
          <a:lstStyle/>
          <a:p>
            <a:r>
              <a:rPr lang="en-US" sz="1800" dirty="0"/>
              <a:t>Information</a:t>
            </a:r>
            <a:br>
              <a:rPr lang="en-US" sz="1800" dirty="0"/>
            </a:br>
            <a:endParaRPr lang="en-US" dirty="0"/>
          </a:p>
        </p:txBody>
      </p:sp>
    </p:spTree>
    <p:extLst>
      <p:ext uri="{BB962C8B-B14F-4D97-AF65-F5344CB8AC3E}">
        <p14:creationId xmlns:p14="http://schemas.microsoft.com/office/powerpoint/2010/main" val="74768153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Questions</a:t>
            </a:r>
          </a:p>
        </p:txBody>
      </p:sp>
    </p:spTree>
    <p:extLst>
      <p:ext uri="{BB962C8B-B14F-4D97-AF65-F5344CB8AC3E}">
        <p14:creationId xmlns:p14="http://schemas.microsoft.com/office/powerpoint/2010/main" val="2482707150"/>
      </p:ext>
    </p:extLst>
  </p:cSld>
  <p:clrMapOvr>
    <a:masterClrMapping/>
  </p:clrMapOvr>
</p:sld>
</file>

<file path=ppt/theme/theme1.xml><?xml version="1.0" encoding="utf-8"?>
<a:theme xmlns:a="http://schemas.openxmlformats.org/drawingml/2006/main" name="Continuum Theme">
  <a:themeElements>
    <a:clrScheme name="EPAM Continuum Final">
      <a:dk1>
        <a:srgbClr val="222222"/>
      </a:dk1>
      <a:lt1>
        <a:srgbClr val="FFFFFF"/>
      </a:lt1>
      <a:dk2>
        <a:srgbClr val="A0A0A0"/>
      </a:dk2>
      <a:lt2>
        <a:srgbClr val="DBDAD6"/>
      </a:lt2>
      <a:accent1>
        <a:srgbClr val="545454"/>
      </a:accent1>
      <a:accent2>
        <a:srgbClr val="FFC000"/>
      </a:accent2>
      <a:accent3>
        <a:srgbClr val="38C2D7"/>
      </a:accent3>
      <a:accent4>
        <a:srgbClr val="445464"/>
      </a:accent4>
      <a:accent5>
        <a:srgbClr val="008ACE"/>
      </a:accent5>
      <a:accent6>
        <a:srgbClr val="E53B2E"/>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C3A9FD6A1D2BC41832AF270024651C7" ma:contentTypeVersion="6" ma:contentTypeDescription="Create a new document." ma:contentTypeScope="" ma:versionID="0421700c9180782018be286cde8a21da">
  <xsd:schema xmlns:xsd="http://www.w3.org/2001/XMLSchema" xmlns:xs="http://www.w3.org/2001/XMLSchema" xmlns:p="http://schemas.microsoft.com/office/2006/metadata/properties" xmlns:ns2="2e7e23d5-2c80-4164-89d2-1708db4037b8" xmlns:ns3="4e7ac07f-2cd6-47aa-8863-e3015989625c" targetNamespace="http://schemas.microsoft.com/office/2006/metadata/properties" ma:root="true" ma:fieldsID="541d07e3f89946b63e942fc7370dae48" ns2:_="" ns3:_="">
    <xsd:import namespace="2e7e23d5-2c80-4164-89d2-1708db4037b8"/>
    <xsd:import namespace="4e7ac07f-2cd6-47aa-8863-e3015989625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7e23d5-2c80-4164-89d2-1708db4037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7ac07f-2cd6-47aa-8863-e3015989625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7C614-AA74-4D4D-9D2D-D96DA5126C78}">
  <ds:schemaRefs>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2e7e23d5-2c80-4164-89d2-1708db4037b8"/>
    <ds:schemaRef ds:uri="http://purl.org/dc/dcmitype/"/>
    <ds:schemaRef ds:uri="http://schemas.openxmlformats.org/package/2006/metadata/core-properties"/>
    <ds:schemaRef ds:uri="4e7ac07f-2cd6-47aa-8863-e3015989625c"/>
    <ds:schemaRef ds:uri="http://www.w3.org/XML/1998/namespace"/>
  </ds:schemaRefs>
</ds:datastoreItem>
</file>

<file path=customXml/itemProps2.xml><?xml version="1.0" encoding="utf-8"?>
<ds:datastoreItem xmlns:ds="http://schemas.openxmlformats.org/officeDocument/2006/customXml" ds:itemID="{EE04B39D-0CBA-4F8F-8809-785207E87965}">
  <ds:schemaRefs>
    <ds:schemaRef ds:uri="http://schemas.microsoft.com/sharepoint/v3/contenttype/forms"/>
  </ds:schemaRefs>
</ds:datastoreItem>
</file>

<file path=customXml/itemProps3.xml><?xml version="1.0" encoding="utf-8"?>
<ds:datastoreItem xmlns:ds="http://schemas.openxmlformats.org/officeDocument/2006/customXml" ds:itemID="{25D63988-C0DC-4185-91C3-6687DBA2F390}">
  <ds:schemaRefs>
    <ds:schemaRef ds:uri="2e7e23d5-2c80-4164-89d2-1708db4037b8"/>
    <ds:schemaRef ds:uri="4e7ac07f-2cd6-47aa-8863-e301598962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2590e1b2-66ea-4d45-b1aa-185c322e3ba5}" enabled="1" method="Standard" siteId="{40a64d0b-f2f9-4a34-b1b3-0992ac0e5e4e}" contentBits="0" removed="0"/>
</clbl:labelList>
</file>

<file path=docProps/app.xml><?xml version="1.0" encoding="utf-8"?>
<Properties xmlns="http://schemas.openxmlformats.org/officeDocument/2006/extended-properties" xmlns:vt="http://schemas.openxmlformats.org/officeDocument/2006/docPropsVTypes">
  <Template>Covers</Template>
  <TotalTime>1800</TotalTime>
  <Words>20630</Words>
  <Application>Microsoft Office PowerPoint</Application>
  <PresentationFormat>On-screen Show (16:9)</PresentationFormat>
  <Paragraphs>689</Paragraphs>
  <Slides>104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104</vt:i4>
      </vt:variant>
    </vt:vector>
  </HeadingPairs>
  <TitlesOfParts>
    <vt:vector size="109" baseType="lpstr">
      <vt:lpstr>Arial</vt:lpstr>
      <vt:lpstr>Calibri</vt:lpstr>
      <vt:lpstr>Human Sans</vt:lpstr>
      <vt:lpstr>Human Sans Regular</vt:lpstr>
      <vt:lpstr>Continuum Theme</vt:lpstr>
      <vt:lpstr>Azure Times #209</vt:lpstr>
      <vt:lpstr>PowerPoint Presentation</vt:lpstr>
      <vt:lpstr>Microsoft Defender for Cloud</vt:lpstr>
      <vt:lpstr>Microsoft Defender for Cloud</vt:lpstr>
      <vt:lpstr>Microsoft Defender for Cloud</vt:lpstr>
      <vt:lpstr>Microsoft Defender for Cloud</vt:lpstr>
      <vt:lpstr>Microsoft Defender for Cloud</vt:lpstr>
      <vt:lpstr>Microsoft Defender for Cloud</vt:lpstr>
      <vt:lpstr>Microsoft Defender for Cloud</vt:lpstr>
      <vt:lpstr>Microsoft Defender for Cloud</vt:lpstr>
      <vt:lpstr>MS Entra ID Updates</vt:lpstr>
      <vt:lpstr>MS Entra ID Updates</vt:lpstr>
      <vt:lpstr>MS Entra ID Updates</vt:lpstr>
      <vt:lpstr>MS Entra ID Updates</vt:lpstr>
      <vt:lpstr>MS Entra ID Updates</vt:lpstr>
      <vt:lpstr>PowerPoint Presentation</vt:lpstr>
      <vt:lpstr>Management &amp; Governance Updates</vt:lpstr>
      <vt:lpstr>Management &amp; Governance Updates</vt:lpstr>
      <vt:lpstr>Management &amp; Governance Updates</vt:lpstr>
      <vt:lpstr>Management &amp; Governance Updates</vt:lpstr>
      <vt:lpstr>Management &amp; Governance Updates</vt:lpstr>
      <vt:lpstr>Management &amp; Governance Updates</vt:lpstr>
      <vt:lpstr>PowerPoint Presentation</vt:lpstr>
      <vt:lpstr>Compute Updates</vt:lpstr>
      <vt:lpstr>Compute Updates</vt:lpstr>
      <vt:lpstr>Compute Updates</vt:lpstr>
      <vt:lpstr>Compute Updates</vt:lpstr>
      <vt:lpstr>Compute Updates</vt:lpstr>
      <vt:lpstr>Compute Updates</vt:lpstr>
      <vt:lpstr>Compute Updates</vt:lpstr>
      <vt:lpstr>Compute Updates</vt:lpstr>
      <vt:lpstr>Compute Updates</vt:lpstr>
      <vt:lpstr>Compute Updates</vt:lpstr>
      <vt:lpstr>Compute Updates</vt:lpstr>
      <vt:lpstr>Compute Updates</vt:lpstr>
      <vt:lpstr>Compute Updates</vt:lpstr>
      <vt:lpstr>Compute Updates</vt:lpstr>
      <vt:lpstr>Compute Updates</vt:lpstr>
      <vt:lpstr>PowerPoint Presentation</vt:lpstr>
      <vt:lpstr>Storage &amp; Data Updates</vt:lpstr>
      <vt:lpstr>PowerPoint Presentation</vt:lpstr>
      <vt:lpstr>Databases Updates</vt:lpstr>
      <vt:lpstr>Databases Updates</vt:lpstr>
      <vt:lpstr>Databases Updates</vt:lpstr>
      <vt:lpstr>Databases Updates</vt:lpstr>
      <vt:lpstr>Databases Updates</vt:lpstr>
      <vt:lpstr>Databases Updates</vt:lpstr>
      <vt:lpstr>Databases Updates</vt:lpstr>
      <vt:lpstr>Databases Updates</vt:lpstr>
      <vt:lpstr>Databases Updates</vt:lpstr>
      <vt:lpstr>Databases Updates</vt:lpstr>
      <vt:lpstr>Databases Updates</vt:lpstr>
      <vt:lpstr>Databases Updates</vt:lpstr>
      <vt:lpstr>Databases Updates</vt:lpstr>
      <vt:lpstr>Databases Updates</vt:lpstr>
      <vt:lpstr>Databases Updates</vt:lpstr>
      <vt:lpstr>Databases Updates</vt:lpstr>
      <vt:lpstr>Databases Updates</vt:lpstr>
      <vt:lpstr>Databases Updates</vt:lpstr>
      <vt:lpstr>Databases Updates</vt:lpstr>
      <vt:lpstr>PowerPoint Presentation</vt:lpstr>
      <vt:lpstr>Integration Updates</vt:lpstr>
      <vt:lpstr>Integration Updates</vt:lpstr>
      <vt:lpstr>Integration Updates</vt:lpstr>
      <vt:lpstr>Integration Updates</vt:lpstr>
      <vt:lpstr>PowerPoint Presentation</vt:lpstr>
      <vt:lpstr>ML &amp; AI &amp; IOT Updates</vt:lpstr>
      <vt:lpstr>ML &amp; AI &amp; IOT Updates</vt:lpstr>
      <vt:lpstr>ML &amp; AI &amp; IOT Updates</vt:lpstr>
      <vt:lpstr>ML &amp; AI &amp; IOT Updates</vt:lpstr>
      <vt:lpstr>ML &amp; AI &amp; IOT Updates</vt:lpstr>
      <vt:lpstr>ML &amp; AI &amp; IOT Updates</vt:lpstr>
      <vt:lpstr>ML &amp; AI &amp; IOT Updates</vt:lpstr>
      <vt:lpstr>ML &amp; AI &amp; IOT Updates</vt:lpstr>
      <vt:lpstr>ML &amp; AI &amp; IOT Updates</vt:lpstr>
      <vt:lpstr>ML &amp; AI &amp; IOT Updates</vt:lpstr>
      <vt:lpstr>ML &amp; AI &amp; IOT Updates</vt:lpstr>
      <vt:lpstr>ML &amp; AI &amp; IOT Updates</vt:lpstr>
      <vt:lpstr>ML &amp; AI &amp; IOT Updates</vt:lpstr>
      <vt:lpstr>ML &amp; AI &amp; IOT Updates</vt:lpstr>
      <vt:lpstr>ML &amp; AI &amp; IOT Updates</vt:lpstr>
      <vt:lpstr>ML &amp; AI &amp; IOT Updates</vt:lpstr>
      <vt:lpstr>ML &amp; AI &amp; IOT Updates</vt:lpstr>
      <vt:lpstr>ML &amp; AI &amp; IOT Updates</vt:lpstr>
      <vt:lpstr>ML &amp; AI &amp; IOT Updates</vt:lpstr>
      <vt:lpstr>ML &amp; AI &amp; IOT Updates</vt:lpstr>
      <vt:lpstr>ML &amp; AI &amp; IOT Updates</vt:lpstr>
      <vt:lpstr>ML &amp; AI &amp; IOT Updates</vt:lpstr>
      <vt:lpstr>ML &amp; AI &amp; IOT Updates</vt:lpstr>
      <vt:lpstr>ML &amp; AI &amp; IOT Updates</vt:lpstr>
      <vt:lpstr>ML &amp; AI &amp; IOT Updates</vt:lpstr>
      <vt:lpstr>ML &amp; AI &amp; IOT Updates</vt:lpstr>
      <vt:lpstr>ML &amp; AI &amp; IOT Updates</vt:lpstr>
      <vt:lpstr>PowerPoint Presentation</vt:lpstr>
      <vt:lpstr>DevOps &amp; IaC &amp; Automation</vt:lpstr>
      <vt:lpstr>DevOps &amp; IaC &amp; Automation</vt:lpstr>
      <vt:lpstr>DevOps &amp; IaC &amp; Automation</vt:lpstr>
      <vt:lpstr>PowerPoint Presentation</vt:lpstr>
      <vt:lpstr>Miscellaneous Updates</vt:lpstr>
      <vt:lpstr>Miscellaneous Updates</vt:lpstr>
      <vt:lpstr>Miscellaneous Updates</vt:lpstr>
      <vt:lpstr>PowerPoint Presentation</vt:lpstr>
      <vt:lpstr>Information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Maksim Admin Rotar</cp:lastModifiedBy>
  <cp:revision>700</cp:revision>
  <dcterms:created xsi:type="dcterms:W3CDTF">2018-01-26T19:23:30Z</dcterms:created>
  <dcterms:modified xsi:type="dcterms:W3CDTF">2026-06-08T05:53:43Z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0x0101008C3A9FD6A1D2BC41832AF270024651C7</vt:lpwstr>
  </property>
</Properties>
</file>