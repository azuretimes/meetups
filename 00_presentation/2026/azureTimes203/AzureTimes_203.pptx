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31"/>
  </p:notesMasterIdLst>
  <p:handoutMasterIdLst>
    <p:handoutMasterId r:id="rId32"/>
  </p:handoutMasterIdLst>
  <p:sldIdLst>
    <p:sldId id="2142532340" r:id="rId5"/>
    <p:sldId id="2146847046" r:id="rId6"/>
    <p:sldId id="2146847130" r:id="rId7"/>
    <p:sldId id="2146847129" r:id="rId8"/>
    <p:sldId id="2146847048" r:id="rId9"/>
    <p:sldId id="2146847049" r:id="rId10"/>
    <p:sldId id="2146847131" r:id="rId11"/>
    <p:sldId id="2146847132" r:id="rId12"/>
    <p:sldId id="2146847133" r:id="rId13"/>
    <p:sldId id="2146847156" r:id="rId14"/>
    <p:sldId id="2146847050" r:id="rId15"/>
    <p:sldId id="2146847096" r:id="rId16"/>
    <p:sldId id="2146847134" r:id="rId17"/>
    <p:sldId id="2146847136" r:id="rId18"/>
    <p:sldId id="2146847052" r:id="rId19"/>
    <p:sldId id="2146847137" r:id="rId20"/>
    <p:sldId id="2146847054" r:id="rId21"/>
    <p:sldId id="2146847103" r:id="rId22"/>
    <p:sldId id="2146847141" r:id="rId23"/>
    <p:sldId id="2146847142" r:id="rId24"/>
    <p:sldId id="2146847058" r:id="rId25"/>
    <p:sldId id="2146847111" r:id="rId26"/>
    <p:sldId id="2146847146" r:id="rId27"/>
    <p:sldId id="2146847085" r:id="rId28"/>
    <p:sldId id="2146847084" r:id="rId29"/>
    <p:sldId id="2146847064" r:id="rId30"/>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ection>
        <p14:section name="Security &amp; Identity" id="{1AA42572-B3BD-44F7-813B-C2C647DDBB3C}">
          <p14:sldIdLst>
            <p14:sldId id="2146847046"/>
            <p14:sldId id="2146847130"/>
            <p14:sldId id="2146847129"/>
          </p14:sldIdLst>
        </p14:section>
        <p14:section name="Management &amp; Governance" id="{34181601-6D48-4406-A525-C7B5A12C6C5B}">
          <p14:sldIdLst>
            <p14:sldId id="2146847048"/>
            <p14:sldId id="2146847049"/>
            <p14:sldId id="2146847131"/>
            <p14:sldId id="2146847132"/>
            <p14:sldId id="2146847133"/>
            <p14:sldId id="2146847156"/>
          </p14:sldIdLst>
        </p14:section>
        <p14:section name="Compute" id="{05AA80BB-8802-49AB-8336-A884227CE2F7}">
          <p14:sldIdLst>
            <p14:sldId id="2146847050"/>
            <p14:sldId id="2146847096"/>
            <p14:sldId id="2146847134"/>
            <p14:sldId id="2146847136"/>
          </p14:sldIdLst>
        </p14:section>
        <p14:section name="Storage &amp; Data" id="{1F159046-CE0A-45BC-9D5B-6E6C95980F78}">
          <p14:sldIdLst>
            <p14:sldId id="2146847052"/>
            <p14:sldId id="2146847137"/>
          </p14:sldIdLst>
        </p14:section>
        <p14:section name="Databases" id="{AEAFAE72-AD56-48F3-926B-38BAE269038F}">
          <p14:sldIdLst>
            <p14:sldId id="2146847054"/>
            <p14:sldId id="2146847103"/>
            <p14:sldId id="2146847141"/>
            <p14:sldId id="2146847142"/>
          </p14:sldIdLst>
        </p14:section>
        <p14:section name="Integration" id="{ACBD46A3-6F1C-451B-A154-0A056E0DEFF6}">
          <p14:sldIdLst/>
        </p14:section>
        <p14:section name="ML &amp; AI &amp; IOT" id="{F4E1EAF1-55E9-4CA4-8ADC-28B69C1D66D2}">
          <p14:sldIdLst>
            <p14:sldId id="2146847058"/>
            <p14:sldId id="2146847111"/>
            <p14:sldId id="2146847146"/>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94"/>
  </p:normalViewPr>
  <p:slideViewPr>
    <p:cSldViewPr snapToGrid="0">
      <p:cViewPr varScale="1">
        <p:scale>
          <a:sx n="138" d="100"/>
          <a:sy n="138" d="100"/>
        </p:scale>
        <p:origin x="2688" y="12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4/24/2026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techcommunity.microsoft.com/blog/microsoft-entra-blog/now-generally-available-license-usage-insights-in-microsoft-entra/4507463" TargetMode="External"/><Relationship Id="rId2" Type="http://schemas.openxmlformats.org/officeDocument/2006/relationships/hyperlink" Target="https://devblogs.microsoft.com/identity/native-auth-sso-ga/"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hyperlink" Target="https://techcommunity.microsoft.com/blog/azurestorageblog/secure-keyless-application-access-with-managed-identities---now-ga-in-azure-file/4513053"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azure.microsoft.com/ru-ru/updates?id=560805" TargetMode="External"/><Relationship Id="rId2" Type="http://schemas.openxmlformats.org/officeDocument/2006/relationships/hyperlink" Target="https://azure.microsoft.com/ru-ru/updates?id=560530"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azure.microsoft.com/ru-ru/updates?id=560904" TargetMode="External"/><Relationship Id="rId2" Type="http://schemas.openxmlformats.org/officeDocument/2006/relationships/hyperlink" Target="https://techcommunity.microsoft.com/blog/windows-admin-center-blog/announcing-windows-admin-center-virtualization-mode-public-preview-2/4508937"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azure.microsoft.com/ru-ru/updates?id=560919" TargetMode="External"/><Relationship Id="rId2" Type="http://schemas.openxmlformats.org/officeDocument/2006/relationships/hyperlink" Target="https://azure.microsoft.com/ru-ru/updates?id=560358"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hyperlink" Target="https://azure.microsoft.com/ru-ru/updates?id=559886"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azure.microsoft.com/ru-ru/updates?id=transition-to-azure-ad-to-query-data-from-azure-monitor-application-insights-by-31-march-2026"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techcommunity.microsoft.com/blog/azurevirtualdesktopblog/announcing-public-preview-of-redundant-tcp-support-for-rdp-multipath-for-azure-v/4511241"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https://azure.microsoft.com/ru-ru/updates?id=560015"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azure.microsoft.com/ru-ru/updates?id=558033"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azure.microsoft.com/ru-ru/updates?id=560188" TargetMode="External"/><Relationship Id="rId2" Type="http://schemas.openxmlformats.org/officeDocument/2006/relationships/hyperlink" Target="https://azure.microsoft.com/ru-ru/updates?id=560889"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azure.microsoft.com/ru-ru/updates?id=513249" TargetMode="External"/><Relationship Id="rId2" Type="http://schemas.openxmlformats.org/officeDocument/2006/relationships/hyperlink" Target="https://azure.microsoft.com/ru-ru/updates?id=560298"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hyperlink" Target="https://azure.microsoft.com/ru-ru/updates?id=560293" TargetMode="External"/><Relationship Id="rId2" Type="http://schemas.openxmlformats.org/officeDocument/2006/relationships/hyperlink" Target="https://azure.microsoft.com/ru-ru/updates?id=559633"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hyperlink" Target="https://azure.microsoft.com/ru-ru/updates?id=560939"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techcommunity.microsoft.com/blog/azure-ai-foundry-blog/introducing-openais-gpt-image-2-in-microsoft-foundry/4500571" TargetMode="External"/><Relationship Id="rId2" Type="http://schemas.openxmlformats.org/officeDocument/2006/relationships/hyperlink" Target="https://devblogs.microsoft.com/foundry/introducing-toolboxes-in-foundry/"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azure.microsoft.com/ru-ru/updates?id=560987" TargetMode="External"/><Relationship Id="rId2" Type="http://schemas.openxmlformats.org/officeDocument/2006/relationships/hyperlink" Target="https://azure.microsoft.com/ru-ru/updates?id=560997"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#203</a:t>
            </a:r>
          </a:p>
        </p:txBody>
      </p:sp>
      <p:sp>
        <p:nvSpPr>
          <p:cNvPr id="4" name="Text Placeholder 3"/>
          <p:cNvSpPr>
            <a:spLocks noGrp="1"/>
          </p:cNvSpPr>
          <p:nvPr>
            <p:ph type="body" sz="quarter" idx="11"/>
          </p:nvPr>
        </p:nvSpPr>
        <p:spPr/>
        <p:txBody>
          <a:bodyPr/>
          <a:lstStyle/>
          <a:p>
            <a:r>
              <a:rPr lang="en-US" spc="300" dirty="0"/>
              <a:t>April 27,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4E758-0E9C-1A59-D8C1-58D462C987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EFDCEC-74D7-CC9F-3A0E-1009C7BB635B}"/>
              </a:ext>
            </a:extLst>
          </p:cNvPr>
          <p:cNvSpPr>
            <a:spLocks noGrp="1"/>
          </p:cNvSpPr>
          <p:nvPr>
            <p:ph type="body" sz="quarter" idx="10"/>
          </p:nvPr>
        </p:nvSpPr>
        <p:spPr/>
        <p:txBody>
          <a:bodyPr/>
          <a:lstStyle/>
          <a:p>
            <a:pPr algn="just"/>
            <a:r>
              <a:rPr lang="en-US" sz="1000" dirty="0">
                <a:hlinkClick r:id="rId2"/>
              </a:rPr>
              <a:t>General Availability: Single Sign-On (SSO) from Native Apps to Embedded Web Views in Microsoft Entra External ID Native Authentication</a:t>
            </a:r>
            <a:endParaRPr lang="en-US" sz="1000" dirty="0"/>
          </a:p>
          <a:p>
            <a:pPr algn="just"/>
            <a:r>
              <a:rPr lang="en-US" sz="1000" dirty="0"/>
              <a:t>Native Authentication with </a:t>
            </a:r>
            <a:r>
              <a:rPr lang="en-US" sz="1000" b="1" dirty="0"/>
              <a:t>Single Sign-On (SSO)</a:t>
            </a:r>
            <a:r>
              <a:rPr lang="en-US" sz="1000" dirty="0"/>
              <a:t> is now generally available in Microsoft Entra, enabling applications to provide a </a:t>
            </a:r>
            <a:r>
              <a:rPr lang="en-US" sz="1000" b="1" dirty="0"/>
              <a:t>seamless, embedded sign-in experience</a:t>
            </a:r>
            <a:r>
              <a:rPr lang="en-US" sz="1000" dirty="0"/>
              <a:t>. It allows users to authenticate directly within the app while still benefiting from </a:t>
            </a:r>
            <a:r>
              <a:rPr lang="en-US" sz="1000" b="1" dirty="0"/>
              <a:t>centralized identity management and SSO capabilities</a:t>
            </a:r>
            <a:r>
              <a:rPr lang="en-US" sz="1000" dirty="0"/>
              <a:t>. This improves user experience by reducing redirects and simplifying login flows. At the same time, it maintains strong security with </a:t>
            </a:r>
            <a:r>
              <a:rPr lang="en-US" sz="1000" b="1" dirty="0"/>
              <a:t>Entra ID policies and controls</a:t>
            </a:r>
            <a:r>
              <a:rPr lang="en-US" sz="1000" dirty="0"/>
              <a:t>. Developers can build modern apps with </a:t>
            </a:r>
            <a:r>
              <a:rPr lang="en-US" sz="1000" b="1" dirty="0"/>
              <a:t>integrated authentication and consistent identity across services</a:t>
            </a:r>
            <a:r>
              <a:rPr lang="en-US" sz="1000" dirty="0"/>
              <a:t>.</a:t>
            </a:r>
          </a:p>
        </p:txBody>
      </p:sp>
      <p:sp>
        <p:nvSpPr>
          <p:cNvPr id="11" name="Title 10">
            <a:extLst>
              <a:ext uri="{FF2B5EF4-FFF2-40B4-BE49-F238E27FC236}">
                <a16:creationId xmlns:a16="http://schemas.microsoft.com/office/drawing/2014/main" id="{108EB9BC-7C8E-C179-D7B3-FA8C3832EAD4}"/>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5B52A8BE-107A-17D0-9868-4A2D8C2F4337}"/>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25CF61-DD31-42B7-98F6-ACEF3D4AB8DC}"/>
              </a:ext>
            </a:extLst>
          </p:cNvPr>
          <p:cNvSpPr>
            <a:spLocks noGrp="1"/>
          </p:cNvSpPr>
          <p:nvPr>
            <p:ph type="body" sz="quarter" idx="16"/>
          </p:nvPr>
        </p:nvSpPr>
        <p:spPr/>
        <p:txBody>
          <a:bodyPr/>
          <a:lstStyle/>
          <a:p>
            <a:pPr algn="just"/>
            <a:r>
              <a:rPr lang="en-US" dirty="0">
                <a:hlinkClick r:id="rId3"/>
              </a:rPr>
              <a:t>Now generally available: License usage insights in Microsoft Entra</a:t>
            </a:r>
            <a:endParaRPr lang="en-US" dirty="0"/>
          </a:p>
          <a:p>
            <a:pPr algn="just"/>
            <a:r>
              <a:rPr lang="en-US" dirty="0"/>
              <a:t>License Usage Insights in </a:t>
            </a:r>
            <a:r>
              <a:rPr lang="en-US" b="1" dirty="0"/>
              <a:t>Microsoft Entra</a:t>
            </a:r>
            <a:r>
              <a:rPr lang="en-US" dirty="0"/>
              <a:t> is now generally available, providing </a:t>
            </a:r>
            <a:r>
              <a:rPr lang="en-US" b="1" dirty="0"/>
              <a:t>visibility into license allocation and actual usage</a:t>
            </a:r>
            <a:r>
              <a:rPr lang="en-US" dirty="0"/>
              <a:t> across the organization. Administrators can identify </a:t>
            </a:r>
            <a:r>
              <a:rPr lang="en-US" b="1" dirty="0"/>
              <a:t>unused or underutilized licenses</a:t>
            </a:r>
            <a:r>
              <a:rPr lang="en-US" dirty="0"/>
              <a:t>, helping optimize costs. The feature offers </a:t>
            </a:r>
            <a:r>
              <a:rPr lang="en-US" b="1" dirty="0"/>
              <a:t>built-in reporting and analytics</a:t>
            </a:r>
            <a:r>
              <a:rPr lang="en-US" dirty="0"/>
              <a:t> to support better decision-making. It enables organizations to align licensing with real usage patterns and improve governance.</a:t>
            </a:r>
          </a:p>
        </p:txBody>
      </p:sp>
    </p:spTree>
    <p:extLst>
      <p:ext uri="{BB962C8B-B14F-4D97-AF65-F5344CB8AC3E}">
        <p14:creationId xmlns:p14="http://schemas.microsoft.com/office/powerpoint/2010/main" val="2813364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DF80C-C4B2-CA2E-DC53-D014432A0FBB}"/>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F0B3E087-D7E0-A826-1AA8-170A462C1EA4}"/>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7848980B-3A78-D666-3450-DFE39787814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3B30361-210F-0C86-1A80-ECA062F48EE8}"/>
              </a:ext>
            </a:extLst>
          </p:cNvPr>
          <p:cNvSpPr>
            <a:spLocks noGrp="1"/>
          </p:cNvSpPr>
          <p:nvPr>
            <p:ph type="body" sz="quarter" idx="16"/>
          </p:nvPr>
        </p:nvSpPr>
        <p:spPr/>
        <p:txBody>
          <a:bodyPr/>
          <a:lstStyle/>
          <a:p>
            <a:r>
              <a:rPr lang="en-US" dirty="0">
                <a:hlinkClick r:id="rId2"/>
              </a:rPr>
              <a:t>Secure, Keyless Application Access with Managed Identities - Now GA in Azure Files SMB</a:t>
            </a:r>
            <a:endParaRPr lang="en-US" dirty="0"/>
          </a:p>
          <a:p>
            <a:r>
              <a:rPr lang="en-US" dirty="0"/>
              <a:t>Azure Files now supports </a:t>
            </a:r>
            <a:r>
              <a:rPr lang="en-US" b="1" dirty="0"/>
              <a:t>managed identities (GA)</a:t>
            </a:r>
            <a:r>
              <a:rPr lang="en-US" dirty="0"/>
              <a:t> for secure, keyless access to file shares. This allows applications to authenticate using </a:t>
            </a:r>
            <a:r>
              <a:rPr lang="en-US" b="1" dirty="0"/>
              <a:t>Microsoft Entra ID identities</a:t>
            </a:r>
            <a:r>
              <a:rPr lang="en-US" dirty="0"/>
              <a:t> instead of storage account keys. It eliminates the need to manage and rotate secrets, improving security and reducing operational overhead. Access can be controlled using </a:t>
            </a:r>
            <a:r>
              <a:rPr lang="en-US" b="1" dirty="0"/>
              <a:t>Azure RBAC and identity-based permissions</a:t>
            </a:r>
            <a:r>
              <a:rPr lang="en-US" dirty="0"/>
              <a:t>. This enables a more secure, Zero Trust–aligned approach to accessing Azure Files.</a:t>
            </a:r>
          </a:p>
        </p:txBody>
      </p:sp>
    </p:spTree>
    <p:extLst>
      <p:ext uri="{BB962C8B-B14F-4D97-AF65-F5344CB8AC3E}">
        <p14:creationId xmlns:p14="http://schemas.microsoft.com/office/powerpoint/2010/main" val="199692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Azure Monitor supports native OTLP ingestion using the Azure Monitor Agent</a:t>
            </a:r>
            <a:endParaRPr lang="en-US" sz="1000" dirty="0"/>
          </a:p>
          <a:p>
            <a:pPr algn="just"/>
            <a:r>
              <a:rPr lang="en-US" sz="1000" dirty="0"/>
              <a:t>Azure Monitor now supports </a:t>
            </a:r>
            <a:r>
              <a:rPr lang="en-US" sz="1000" b="1" dirty="0"/>
              <a:t>native ingestion of </a:t>
            </a:r>
            <a:r>
              <a:rPr lang="en-US" sz="1000" b="1" dirty="0" err="1"/>
              <a:t>OpenTelemetry</a:t>
            </a:r>
            <a:r>
              <a:rPr lang="en-US" sz="1000" b="1" dirty="0"/>
              <a:t> Protocol (OTLP) signals</a:t>
            </a:r>
            <a:r>
              <a:rPr lang="en-US" sz="1000" dirty="0"/>
              <a:t>, enabling direct telemetry collection from instrumented applications. The </a:t>
            </a:r>
            <a:r>
              <a:rPr lang="en-US" sz="1000" b="1" dirty="0"/>
              <a:t>Azure Monitor Agent (AMA)</a:t>
            </a:r>
            <a:r>
              <a:rPr lang="en-US" sz="1000" dirty="0"/>
              <a:t> can receive OTLP data and export it to Azure Monitor across </a:t>
            </a:r>
            <a:r>
              <a:rPr lang="en-US" sz="1000" b="1" dirty="0"/>
              <a:t>VMs, scale sets, and Azure Arc-enabled environments</a:t>
            </a:r>
            <a:r>
              <a:rPr lang="en-US" sz="1000" dirty="0"/>
              <a:t>. Applications can be instrumented using </a:t>
            </a:r>
            <a:r>
              <a:rPr lang="en-US" sz="1000" b="1" dirty="0" err="1"/>
              <a:t>OpenTelemetry</a:t>
            </a:r>
            <a:r>
              <a:rPr lang="en-US" sz="1000" b="1" dirty="0"/>
              <a:t> SDKs</a:t>
            </a:r>
            <a:r>
              <a:rPr lang="en-US" sz="1000" dirty="0"/>
              <a:t> without vendor lock-in. OTLP data can be analyzed in </a:t>
            </a:r>
            <a:r>
              <a:rPr lang="en-US" sz="1000" b="1" dirty="0"/>
              <a:t>Application Insights</a:t>
            </a:r>
            <a:r>
              <a:rPr lang="en-US" sz="1000" dirty="0"/>
              <a:t>, visualized with </a:t>
            </a:r>
            <a:r>
              <a:rPr lang="en-US" sz="1000" b="1" dirty="0"/>
              <a:t>Grafana and Prometheus queries</a:t>
            </a:r>
            <a:r>
              <a:rPr lang="en-US" sz="1000" dirty="0"/>
              <a:t>, and queried in </a:t>
            </a:r>
            <a:r>
              <a:rPr lang="en-US" sz="1000" b="1" dirty="0"/>
              <a:t>Log Analytics</a:t>
            </a:r>
            <a:r>
              <a:rPr lang="en-US" sz="1000" dirty="0"/>
              <a:t> using </a:t>
            </a:r>
            <a:r>
              <a:rPr lang="en-US" sz="1000" dirty="0" err="1"/>
              <a:t>OpenTelemetry</a:t>
            </a:r>
            <a:r>
              <a:rPr lang="en-US" sz="1000" dirty="0"/>
              <a:t> semantics. This provides </a:t>
            </a:r>
            <a:r>
              <a:rPr lang="en-US" sz="1000" b="1" dirty="0"/>
              <a:t>unified observability across metrics, logs, and traces</a:t>
            </a:r>
            <a:r>
              <a:rPr lang="en-US" sz="1000" dirty="0"/>
              <a:t>.</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Azure Arc adds SQL Server on Azure Virtual Machines as a migration target</a:t>
            </a:r>
            <a:endParaRPr lang="en-US" dirty="0"/>
          </a:p>
          <a:p>
            <a:pPr algn="just"/>
            <a:r>
              <a:rPr lang="en-US" dirty="0"/>
              <a:t>Azure Arc migration now supports SQL Server on Azure Virtual Machines as a migration target. You can migrate Arc-enabled SQL Server instances not only to Azure SQL Managed Instance but also to SQL Server running on Azure infrastructure—using the same unified workflow.</a:t>
            </a:r>
          </a:p>
        </p:txBody>
      </p:sp>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9EACE-2947-B6B2-9E8D-58D66D66FE2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0E0244-34EC-E9DD-ACD9-50A13C40D4E3}"/>
              </a:ext>
            </a:extLst>
          </p:cNvPr>
          <p:cNvSpPr>
            <a:spLocks noGrp="1"/>
          </p:cNvSpPr>
          <p:nvPr>
            <p:ph type="body" sz="quarter" idx="10"/>
          </p:nvPr>
        </p:nvSpPr>
        <p:spPr/>
        <p:txBody>
          <a:bodyPr/>
          <a:lstStyle/>
          <a:p>
            <a:r>
              <a:rPr lang="en-US" sz="1000" dirty="0">
                <a:hlinkClick r:id="rId2"/>
              </a:rPr>
              <a:t>Announcing Windows Admin Center: Virtualization Mode Public Preview 2!</a:t>
            </a:r>
            <a:endParaRPr lang="en-US" sz="1000" dirty="0"/>
          </a:p>
          <a:p>
            <a:r>
              <a:rPr lang="en-US" sz="1000" dirty="0"/>
              <a:t>Windows Admin Center now introduces </a:t>
            </a:r>
            <a:r>
              <a:rPr lang="en-US" sz="1000" b="1" dirty="0"/>
              <a:t>Virtualization Mode (public preview)</a:t>
            </a:r>
            <a:r>
              <a:rPr lang="en-US" sz="1000" dirty="0"/>
              <a:t>, enabling centralized management of virtualization workloads directly from the Windows Admin Center interface. It provides a </a:t>
            </a:r>
            <a:r>
              <a:rPr lang="en-US" sz="1000" b="1" dirty="0"/>
              <a:t>unified experience for managing virtual machines and host resources</a:t>
            </a:r>
            <a:r>
              <a:rPr lang="en-US" sz="1000" dirty="0"/>
              <a:t> without requiring separate tools. The feature improves operational efficiency by simplifying </a:t>
            </a:r>
            <a:r>
              <a:rPr lang="en-US" sz="1000" b="1" dirty="0"/>
              <a:t>deployment, monitoring, and administration of virtualized environments</a:t>
            </a:r>
            <a:r>
              <a:rPr lang="en-US" sz="1000" dirty="0"/>
              <a:t>. It is designed to support modern infrastructure scenarios, including hybrid and on-premises deployments. This update enhances visibility and control over virtualization resources.</a:t>
            </a:r>
          </a:p>
        </p:txBody>
      </p:sp>
      <p:sp>
        <p:nvSpPr>
          <p:cNvPr id="11" name="Title 10">
            <a:extLst>
              <a:ext uri="{FF2B5EF4-FFF2-40B4-BE49-F238E27FC236}">
                <a16:creationId xmlns:a16="http://schemas.microsoft.com/office/drawing/2014/main" id="{F799D386-8FFB-9287-3092-EBC4EED0ED44}"/>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3ECB1CBE-D19D-DB22-C144-06273C1863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9E41336-3964-F676-4CD6-656D0DDBD34A}"/>
              </a:ext>
            </a:extLst>
          </p:cNvPr>
          <p:cNvSpPr>
            <a:spLocks noGrp="1"/>
          </p:cNvSpPr>
          <p:nvPr>
            <p:ph type="body" sz="quarter" idx="16"/>
          </p:nvPr>
        </p:nvSpPr>
        <p:spPr/>
        <p:txBody>
          <a:bodyPr/>
          <a:lstStyle/>
          <a:p>
            <a:pPr algn="just"/>
            <a:r>
              <a:rPr lang="en-US" dirty="0">
                <a:hlinkClick r:id="rId3"/>
              </a:rPr>
              <a:t>Public Preview: Azure Backup for Elastic SAN</a:t>
            </a:r>
            <a:endParaRPr lang="en-US" dirty="0"/>
          </a:p>
          <a:p>
            <a:pPr algn="just"/>
            <a:r>
              <a:rPr lang="en-US" dirty="0"/>
              <a:t>Azure Backup now supports Elastic SAN, offering a fully managed solution for backing up and restoring Elastic SAN volumes. This integration helps protect data against accidental deletions, ransomware attacks, and application updates by exporting Elastic SAN volumes to independent Managed Disk Incremental Snapshots. These snapshots are stored in locally redundant storage and are independent of the Elastic SAN volume lifecycle. </a:t>
            </a:r>
          </a:p>
          <a:p>
            <a:pPr algn="just"/>
            <a:r>
              <a:rPr lang="en-US" dirty="0"/>
              <a:t>The solution supports up to 450 restore points with 24 hours backup frequency. It is currently available in select Azure regions and supports volumes up to 4 TiB. Long-term vaulted backups and hourly backups are not supported in this preview.   </a:t>
            </a:r>
          </a:p>
          <a:p>
            <a:pPr algn="just"/>
            <a:r>
              <a:rPr lang="en-US" dirty="0"/>
              <a:t>This public preview does not incur Azure Backup Protected Instance fees. However, standard charges apply for Managed Disk Incremental Snapshots. </a:t>
            </a:r>
          </a:p>
        </p:txBody>
      </p:sp>
    </p:spTree>
    <p:extLst>
      <p:ext uri="{BB962C8B-B14F-4D97-AF65-F5344CB8AC3E}">
        <p14:creationId xmlns:p14="http://schemas.microsoft.com/office/powerpoint/2010/main" val="3089708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21B0A37-B626-6209-EE63-BDBE1E100FF0}"/>
              </a:ext>
            </a:extLst>
          </p:cNvPr>
          <p:cNvSpPr>
            <a:spLocks noGrp="1"/>
          </p:cNvSpPr>
          <p:nvPr>
            <p:ph type="body" sz="quarter" idx="10"/>
          </p:nvPr>
        </p:nvSpPr>
        <p:spPr/>
        <p:txBody>
          <a:bodyPr/>
          <a:lstStyle/>
          <a:p>
            <a:pPr algn="just"/>
            <a:r>
              <a:rPr lang="en-US" sz="1000" dirty="0">
                <a:hlinkClick r:id="rId2"/>
              </a:rPr>
              <a:t>Generally Available: Azure Monitor for Azure Arc-enabled Kubernetes with OpenShift and Azure Red Hat OpenShift</a:t>
            </a:r>
            <a:endParaRPr lang="en-US" sz="1000" dirty="0"/>
          </a:p>
          <a:p>
            <a:pPr algn="just"/>
            <a:r>
              <a:rPr lang="en-US" sz="1000" dirty="0"/>
              <a:t>Azure Monitor support for </a:t>
            </a:r>
            <a:r>
              <a:rPr lang="en-US" sz="1000" b="1" dirty="0"/>
              <a:t>Azure Arc-enabled Kubernetes (OpenShift) and Azure Red Hat OpenShift</a:t>
            </a:r>
            <a:r>
              <a:rPr lang="en-US" sz="1000" dirty="0"/>
              <a:t> is now generally available. This provides </a:t>
            </a:r>
            <a:r>
              <a:rPr lang="en-US" sz="1000" b="1" dirty="0"/>
              <a:t>end-to-end monitoring across infrastructure and applications</a:t>
            </a:r>
            <a:r>
              <a:rPr lang="en-US" sz="1000" dirty="0"/>
              <a:t> using Container Insights and Managed Prometheus. Organizations can gain </a:t>
            </a:r>
            <a:r>
              <a:rPr lang="en-US" sz="1000" b="1" dirty="0"/>
              <a:t>unified visibility into hybrid and </a:t>
            </a:r>
            <a:r>
              <a:rPr lang="en-US" sz="1000" b="1" dirty="0" err="1"/>
              <a:t>multicloud</a:t>
            </a:r>
            <a:r>
              <a:rPr lang="en-US" sz="1000" b="1" dirty="0"/>
              <a:t> Kubernetes environments</a:t>
            </a:r>
            <a:r>
              <a:rPr lang="en-US" sz="1000" dirty="0"/>
              <a:t>. It enables consistent monitoring, troubleshooting, and performance analysis across clusters. The integration simplifies observability while supporting </a:t>
            </a:r>
            <a:r>
              <a:rPr lang="en-US" sz="1000" b="1" dirty="0"/>
              <a:t>enterprise-scale operations</a:t>
            </a:r>
            <a:r>
              <a:rPr lang="en-US" sz="1000" dirty="0"/>
              <a:t>.</a:t>
            </a:r>
          </a:p>
        </p:txBody>
      </p:sp>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p:txBody>
          <a:bodyPr/>
          <a:lstStyle/>
          <a:p>
            <a:pPr algn="just"/>
            <a:r>
              <a:rPr lang="en-US" dirty="0">
                <a:hlinkClick r:id="rId3"/>
              </a:rPr>
              <a:t>Generally Available: Capacity Autoscaling</a:t>
            </a:r>
            <a:endParaRPr lang="en-US" dirty="0"/>
          </a:p>
          <a:p>
            <a:pPr algn="just"/>
            <a:r>
              <a:rPr lang="en-US" dirty="0"/>
              <a:t>Capacity Autoscaling support is now generally available on Elastic SAN. Customers can avoid the constraints of overprovisioning and manual capacity management by setting a policy to automatically expand SAN Capacity based on usage. Autoscaling provides the ability to specify scaling increments for cost control and predictability. This capability is especially helpful for customers navigating rapid growth scenarios and unplanned usage spikes.</a:t>
            </a:r>
          </a:p>
        </p:txBody>
      </p:sp>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43C16-70E1-76E8-34FC-4D971266F2E4}"/>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EFEF9D-C531-5164-3001-CAB3E530800A}"/>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1469B97F-5DC9-9FCE-E7F9-3A690CE53011}"/>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21B9C0FA-660D-52E2-A52D-5071C6022C4D}"/>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4278EE4-80FF-FF66-93C7-3BE34B7B9EDB}"/>
              </a:ext>
            </a:extLst>
          </p:cNvPr>
          <p:cNvSpPr>
            <a:spLocks noGrp="1"/>
          </p:cNvSpPr>
          <p:nvPr>
            <p:ph type="body" sz="quarter" idx="16"/>
          </p:nvPr>
        </p:nvSpPr>
        <p:spPr/>
        <p:txBody>
          <a:bodyPr/>
          <a:lstStyle/>
          <a:p>
            <a:pPr algn="just"/>
            <a:r>
              <a:rPr lang="en-US" dirty="0">
                <a:hlinkClick r:id="rId2"/>
              </a:rPr>
              <a:t>Generally Available: Azure Monitor pipeline</a:t>
            </a:r>
            <a:endParaRPr lang="en-US" dirty="0"/>
          </a:p>
          <a:p>
            <a:pPr algn="just"/>
            <a:r>
              <a:rPr lang="en-US" dirty="0"/>
              <a:t>Azure Monitor pipeline is now </a:t>
            </a:r>
            <a:r>
              <a:rPr lang="en-US" b="1" dirty="0"/>
              <a:t>generally available</a:t>
            </a:r>
            <a:r>
              <a:rPr lang="en-US" dirty="0"/>
              <a:t>, providing a </a:t>
            </a:r>
            <a:r>
              <a:rPr lang="en-US" b="1" dirty="0"/>
              <a:t>centralized control point for telemetry ingestion and processing</a:t>
            </a:r>
            <a:r>
              <a:rPr lang="en-US" dirty="0"/>
              <a:t>. It enables automatic mapping of logs into </a:t>
            </a:r>
            <a:r>
              <a:rPr lang="en-US" b="1" dirty="0"/>
              <a:t>Azure-native schemas</a:t>
            </a:r>
            <a:r>
              <a:rPr lang="en-US" dirty="0"/>
              <a:t> like Syslog and </a:t>
            </a:r>
            <a:r>
              <a:rPr lang="en-US" dirty="0" err="1"/>
              <a:t>CommonSecurityLog</a:t>
            </a:r>
            <a:r>
              <a:rPr lang="en-US" dirty="0"/>
              <a:t>. The pipeline supports </a:t>
            </a:r>
            <a:r>
              <a:rPr lang="en-US" b="1" dirty="0"/>
              <a:t>local buffering with backfill</a:t>
            </a:r>
            <a:r>
              <a:rPr lang="en-US" dirty="0"/>
              <a:t>, preventing data loss during connectivity issues. It allows </a:t>
            </a:r>
            <a:r>
              <a:rPr lang="en-US" b="1" dirty="0"/>
              <a:t>pre-ingestion filtering, aggregation, and transformation</a:t>
            </a:r>
            <a:r>
              <a:rPr lang="en-US" dirty="0"/>
              <a:t>, helping reduce costs. The architecture is </a:t>
            </a:r>
            <a:r>
              <a:rPr lang="en-US" b="1" dirty="0"/>
              <a:t>scalable for high-throughput environments</a:t>
            </a:r>
            <a:r>
              <a:rPr lang="en-US" dirty="0"/>
              <a:t>, handling large volumes of events. It also enhances security with </a:t>
            </a:r>
            <a:r>
              <a:rPr lang="en-US" b="1" dirty="0"/>
              <a:t>centralized TLS/</a:t>
            </a:r>
            <a:r>
              <a:rPr lang="en-US" b="1" dirty="0" err="1"/>
              <a:t>mTLS</a:t>
            </a:r>
            <a:r>
              <a:rPr lang="en-US" b="1" dirty="0"/>
              <a:t> and automated certificate management</a:t>
            </a:r>
            <a:r>
              <a:rPr lang="en-US" dirty="0"/>
              <a:t>.</a:t>
            </a:r>
          </a:p>
        </p:txBody>
      </p:sp>
    </p:spTree>
    <p:extLst>
      <p:ext uri="{BB962C8B-B14F-4D97-AF65-F5344CB8AC3E}">
        <p14:creationId xmlns:p14="http://schemas.microsoft.com/office/powerpoint/2010/main" val="359488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AA18C-FA4F-DF63-7FB8-AB31942D324E}"/>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52B96498-AC10-8A17-5839-12809F622956}"/>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FDD8759-1FCE-AC90-A419-2821E8BE2842}"/>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D120C21B-B568-AD97-C2FD-65D81DFF968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D4C590D-244D-CFC9-64FD-D69EED6DAA2B}"/>
              </a:ext>
            </a:extLst>
          </p:cNvPr>
          <p:cNvSpPr>
            <a:spLocks noGrp="1"/>
          </p:cNvSpPr>
          <p:nvPr>
            <p:ph type="body" sz="quarter" idx="16"/>
          </p:nvPr>
        </p:nvSpPr>
        <p:spPr/>
        <p:txBody>
          <a:bodyPr/>
          <a:lstStyle/>
          <a:p>
            <a:pPr algn="just"/>
            <a:r>
              <a:rPr lang="en-US" dirty="0">
                <a:hlinkClick r:id="rId2"/>
              </a:rPr>
              <a:t>Retirement: Transition to Entra ID (formerly known as Azure AD) to query data from Azure Monitor application insights by September 30, 2026</a:t>
            </a:r>
            <a:endParaRPr lang="en-US" dirty="0"/>
          </a:p>
          <a:p>
            <a:pPr algn="just"/>
            <a:r>
              <a:rPr lang="en-US" dirty="0"/>
              <a:t>API keys for querying Application Insights will be </a:t>
            </a:r>
            <a:r>
              <a:rPr lang="en-US" b="1" dirty="0"/>
              <a:t>retired on September 30, 2026</a:t>
            </a:r>
            <a:r>
              <a:rPr lang="en-US" dirty="0"/>
              <a:t>. Organizations must transition to </a:t>
            </a:r>
            <a:r>
              <a:rPr lang="en-US" b="1" dirty="0"/>
              <a:t>Microsoft Entra ID authentication</a:t>
            </a:r>
            <a:r>
              <a:rPr lang="en-US" dirty="0"/>
              <a:t> to maintain access. Entra ID provides enhanced security features such as </a:t>
            </a:r>
            <a:r>
              <a:rPr lang="en-US" b="1" dirty="0"/>
              <a:t>Multi-Factor Authentication and centralized identity management</a:t>
            </a:r>
            <a:r>
              <a:rPr lang="en-US" dirty="0"/>
              <a:t>. It also supports </a:t>
            </a:r>
            <a:r>
              <a:rPr lang="en-US" b="1" dirty="0"/>
              <a:t>hybrid integration with on-premises environments</a:t>
            </a:r>
            <a:r>
              <a:rPr lang="en-US" dirty="0"/>
              <a:t>. Migration should be planned early to avoid disruption.</a:t>
            </a:r>
          </a:p>
        </p:txBody>
      </p:sp>
    </p:spTree>
    <p:extLst>
      <p:ext uri="{BB962C8B-B14F-4D97-AF65-F5344CB8AC3E}">
        <p14:creationId xmlns:p14="http://schemas.microsoft.com/office/powerpoint/2010/main" val="2031677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1"/>
            <a:ext cx="3955312" cy="1887034"/>
          </a:xfrm>
        </p:spPr>
        <p:txBody>
          <a:bodyPr/>
          <a:lstStyle/>
          <a:p>
            <a:pPr algn="just"/>
            <a:r>
              <a:rPr lang="en-US" dirty="0">
                <a:hlinkClick r:id="rId2"/>
              </a:rPr>
              <a:t>Announcing public preview of redundant TCP support for RDP Multipath for Azure Virtual Desktop</a:t>
            </a:r>
            <a:endParaRPr lang="en-US" dirty="0"/>
          </a:p>
          <a:p>
            <a:pPr algn="just"/>
            <a:r>
              <a:rPr lang="en-US" dirty="0"/>
              <a:t>Azure Virtual Desktop introduces </a:t>
            </a:r>
            <a:r>
              <a:rPr lang="en-US" b="1" dirty="0"/>
              <a:t>redundant TCP transport paths for RDP Multipath (public preview)</a:t>
            </a:r>
            <a:r>
              <a:rPr lang="en-US" dirty="0"/>
              <a:t> to improve connection resiliency. It allows multiple </a:t>
            </a:r>
            <a:r>
              <a:rPr lang="en-US" b="1" dirty="0"/>
              <a:t>UDP and TCP network paths</a:t>
            </a:r>
            <a:r>
              <a:rPr lang="en-US" dirty="0"/>
              <a:t> between client and session host, dynamically selecting the most reliable path. If a connection degrades or fails, sessions </a:t>
            </a:r>
            <a:r>
              <a:rPr lang="en-US" b="1" dirty="0"/>
              <a:t>automatically switch to another available path</a:t>
            </a:r>
            <a:r>
              <a:rPr lang="en-US" dirty="0"/>
              <a:t> without user disruption. This is especially beneficial for </a:t>
            </a:r>
            <a:r>
              <a:rPr lang="en-US" b="1" dirty="0"/>
              <a:t>TCP-only or UDP-restricted environments</a:t>
            </a:r>
            <a:r>
              <a:rPr lang="en-US" dirty="0"/>
              <a:t>, where multiple standby TCP paths improve stability. It reduces session drops and improves continuity during </a:t>
            </a:r>
            <a:r>
              <a:rPr lang="en-US" b="1" dirty="0"/>
              <a:t>network instability or outages</a:t>
            </a:r>
            <a:r>
              <a:rPr lang="en-US" dirty="0"/>
              <a:t>.</a:t>
            </a:r>
          </a:p>
        </p:txBody>
      </p:sp>
      <p:pic>
        <p:nvPicPr>
          <p:cNvPr id="3" name="Picture 2">
            <a:extLst>
              <a:ext uri="{FF2B5EF4-FFF2-40B4-BE49-F238E27FC236}">
                <a16:creationId xmlns:a16="http://schemas.microsoft.com/office/drawing/2014/main" id="{F1776DB1-63C1-238C-5E3A-DBE0F2241EED}"/>
              </a:ext>
            </a:extLst>
          </p:cNvPr>
          <p:cNvPicPr>
            <a:picLocks noChangeAspect="1"/>
          </p:cNvPicPr>
          <p:nvPr/>
        </p:nvPicPr>
        <p:blipFill>
          <a:blip r:embed="rId3"/>
          <a:stretch>
            <a:fillRect/>
          </a:stretch>
        </p:blipFill>
        <p:spPr>
          <a:xfrm>
            <a:off x="722664" y="2742114"/>
            <a:ext cx="2978373" cy="1998518"/>
          </a:xfrm>
          <a:prstGeom prst="rect">
            <a:avLst/>
          </a:prstGeom>
        </p:spPr>
      </p:pic>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4" name="Text Placeholder 13">
            <a:extLst>
              <a:ext uri="{FF2B5EF4-FFF2-40B4-BE49-F238E27FC236}">
                <a16:creationId xmlns:a16="http://schemas.microsoft.com/office/drawing/2014/main" id="{27C5A928-62F4-1449-B155-3257B6056184}"/>
              </a:ext>
            </a:extLst>
          </p:cNvPr>
          <p:cNvSpPr txBox="1">
            <a:spLocks/>
          </p:cNvSpPr>
          <p:nvPr/>
        </p:nvSpPr>
        <p:spPr>
          <a:xfrm>
            <a:off x="342900" y="798785"/>
            <a:ext cx="3955312" cy="3774069"/>
          </a:xfrm>
          <a:prstGeom prst="rect">
            <a:avLst/>
          </a:prstGeom>
        </p:spPr>
        <p:txBody>
          <a:bodyPr vert="horz" lIns="0" tIns="0" rIns="0" bIns="0" rtlCol="0">
            <a:noAutofit/>
          </a:bodyPr>
          <a:lstStyle>
            <a:lvl1pPr marL="0" indent="0" algn="l" defTabSz="685800" rtl="0" eaLnBrk="1" latinLnBrk="0" hangingPunct="1">
              <a:lnSpc>
                <a:spcPct val="110000"/>
              </a:lnSpc>
              <a:spcBef>
                <a:spcPts val="450"/>
              </a:spcBef>
              <a:spcAft>
                <a:spcPts val="0"/>
              </a:spcAft>
              <a:buFont typeface="Arial" panose="020B0604020202020204" pitchFamily="34" charset="0"/>
              <a:buNone/>
              <a:tabLst>
                <a:tab pos="2438400" algn="l"/>
              </a:tabLst>
              <a:defRPr sz="1000" b="0" i="0" kern="1200" baseline="0">
                <a:solidFill>
                  <a:schemeClr val="tx1"/>
                </a:solidFill>
                <a:latin typeface="+mj-lt"/>
                <a:ea typeface="Calibri" panose="020F0502020204030204" pitchFamily="34" charset="0"/>
                <a:cs typeface="Calibri" panose="020F0502020204030204" pitchFamily="34" charset="0"/>
              </a:defRPr>
            </a:lvl1pPr>
            <a:lvl2pPr marL="3429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2pPr>
            <a:lvl3pPr marL="6858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3pPr>
            <a:lvl4pPr marL="10287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4pPr>
            <a:lvl5pPr marL="137160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just"/>
            <a:r>
              <a:rPr lang="en-US" dirty="0">
                <a:hlinkClick r:id="rId2"/>
              </a:rPr>
              <a:t>Generally Available: </a:t>
            </a:r>
            <a:r>
              <a:rPr lang="en-US" dirty="0" err="1">
                <a:hlinkClick r:id="rId2"/>
              </a:rPr>
              <a:t>WireGuard</a:t>
            </a:r>
            <a:r>
              <a:rPr lang="en-US" dirty="0">
                <a:hlinkClick r:id="rId2"/>
              </a:rPr>
              <a:t> In‑Transit Encryption for Azure Kubernetes Service (AKS)</a:t>
            </a:r>
            <a:endParaRPr lang="en-US" dirty="0"/>
          </a:p>
          <a:p>
            <a:pPr algn="just"/>
            <a:r>
              <a:rPr lang="en-US" dirty="0" err="1"/>
              <a:t>WireGuard</a:t>
            </a:r>
            <a:r>
              <a:rPr lang="en-US" dirty="0"/>
              <a:t> in‑transit encryption is now generally available for Azure Kubernetes Service (AKS) clusters using Azure CNI powered by Cilium and Advanced Container Networking Services (ACNS). </a:t>
            </a:r>
          </a:p>
          <a:p>
            <a:pPr algn="just"/>
            <a:r>
              <a:rPr lang="en-US" dirty="0"/>
              <a:t>This capability enables transparent, node‑level encryption for inter‑node pod traffic using </a:t>
            </a:r>
            <a:r>
              <a:rPr lang="en-US" dirty="0" err="1"/>
              <a:t>WireGuard’s</a:t>
            </a:r>
            <a:r>
              <a:rPr lang="en-US" dirty="0"/>
              <a:t> modern cryptography, helping protect data in transit as it traverses the underlying network infrastructure  without requiring application changes. </a:t>
            </a:r>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p:txBody>
          <a:bodyPr/>
          <a:lstStyle/>
          <a:p>
            <a:pPr algn="just"/>
            <a:r>
              <a:rPr lang="en-US" dirty="0">
                <a:hlinkClick r:id="rId2"/>
              </a:rPr>
              <a:t>Retirement: Support for .NET 8 (LTS) ends on November 10, 2026—upgrade your apps to .NET 10 (LTS)</a:t>
            </a:r>
            <a:endParaRPr lang="en-US" dirty="0"/>
          </a:p>
          <a:p>
            <a:pPr algn="just"/>
            <a:r>
              <a:rPr lang="en-US" dirty="0"/>
              <a:t>Support for </a:t>
            </a:r>
            <a:r>
              <a:rPr lang="en-US" b="1" dirty="0"/>
              <a:t>.NET 8 (LTS)</a:t>
            </a:r>
            <a:r>
              <a:rPr lang="en-US" dirty="0"/>
              <a:t> will end on </a:t>
            </a:r>
            <a:r>
              <a:rPr lang="en-US" b="1" dirty="0"/>
              <a:t>November 10, 2026</a:t>
            </a:r>
            <a:r>
              <a:rPr lang="en-US" dirty="0"/>
              <a:t>. Applications on Azure App Service will continue to run, but </a:t>
            </a:r>
            <a:r>
              <a:rPr lang="en-US" b="1" dirty="0"/>
              <a:t>no security updates or support will be provided</a:t>
            </a:r>
            <a:r>
              <a:rPr lang="en-US" dirty="0"/>
              <a:t>. This increases the risk of vulnerabilities over time. Organizations must </a:t>
            </a:r>
            <a:r>
              <a:rPr lang="en-US" b="1" dirty="0"/>
              <a:t>upgrade to .NET 10 (LTS)</a:t>
            </a:r>
            <a:r>
              <a:rPr lang="en-US" dirty="0"/>
              <a:t> before the deadline. Planning and testing the upgrade early is recommended to avoid disruptions.</a:t>
            </a:r>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BC30-BE9D-D666-D8EC-C477902CDD33}"/>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089CA58-5DC8-3994-AD5C-78748D2555F0}"/>
              </a:ext>
            </a:extLst>
          </p:cNvPr>
          <p:cNvSpPr>
            <a:spLocks noGrp="1"/>
          </p:cNvSpPr>
          <p:nvPr>
            <p:ph type="body" sz="quarter" idx="10"/>
          </p:nvPr>
        </p:nvSpPr>
        <p:spPr/>
        <p:txBody>
          <a:bodyPr/>
          <a:lstStyle/>
          <a:p>
            <a:pPr algn="just"/>
            <a:r>
              <a:rPr lang="en-US" sz="1000" dirty="0">
                <a:hlinkClick r:id="rId2"/>
              </a:rPr>
              <a:t>Generally Available: CRC Protection</a:t>
            </a:r>
            <a:endParaRPr lang="en-US" sz="1000" dirty="0"/>
          </a:p>
          <a:p>
            <a:pPr algn="just"/>
            <a:r>
              <a:rPr lang="en-US" sz="1000" dirty="0"/>
              <a:t>Azure Elastic SAN now supports </a:t>
            </a:r>
            <a:r>
              <a:rPr lang="en-US" sz="1000" b="1" dirty="0"/>
              <a:t>CRC-32C checksum verification</a:t>
            </a:r>
            <a:r>
              <a:rPr lang="en-US" sz="1000" dirty="0"/>
              <a:t> for connections to volumes, enhancing data integrity. When enabled, it validates </a:t>
            </a:r>
            <a:r>
              <a:rPr lang="en-US" sz="1000" b="1" dirty="0"/>
              <a:t>header and data digests</a:t>
            </a:r>
            <a:r>
              <a:rPr lang="en-US" sz="1000" dirty="0"/>
              <a:t> to detect transmission errors. Administrators can enforce this at the </a:t>
            </a:r>
            <a:r>
              <a:rPr lang="en-US" sz="1000" b="1" dirty="0"/>
              <a:t>volume group level</a:t>
            </a:r>
            <a:r>
              <a:rPr lang="en-US" sz="1000" dirty="0"/>
              <a:t>, ensuring all volumes inherit the policy. If enforcement is enabled, </a:t>
            </a:r>
            <a:r>
              <a:rPr lang="en-US" sz="1000" b="1" dirty="0"/>
              <a:t>connections without CRC protection are rejected</a:t>
            </a:r>
            <a:r>
              <a:rPr lang="en-US" sz="1000" dirty="0"/>
              <a:t>, strengthening reliability. When disabled, checksum verification depends on client configuration without blocking access.</a:t>
            </a:r>
          </a:p>
        </p:txBody>
      </p:sp>
      <p:sp>
        <p:nvSpPr>
          <p:cNvPr id="11" name="Title 10">
            <a:extLst>
              <a:ext uri="{FF2B5EF4-FFF2-40B4-BE49-F238E27FC236}">
                <a16:creationId xmlns:a16="http://schemas.microsoft.com/office/drawing/2014/main" id="{9338C940-1C5A-F159-79FA-059EBE1E77FE}"/>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79819030-1C59-2813-CD9C-4D9347E3D50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6F37A70-680F-B50D-A1A9-E9D2AE2C922F}"/>
              </a:ext>
            </a:extLst>
          </p:cNvPr>
          <p:cNvSpPr>
            <a:spLocks noGrp="1"/>
          </p:cNvSpPr>
          <p:nvPr>
            <p:ph type="body" sz="quarter" idx="16"/>
          </p:nvPr>
        </p:nvSpPr>
        <p:spPr/>
        <p:txBody>
          <a:bodyPr/>
          <a:lstStyle/>
          <a:p>
            <a:pPr algn="just"/>
            <a:r>
              <a:rPr lang="en-US" dirty="0">
                <a:hlinkClick r:id="rId3"/>
              </a:rPr>
              <a:t>Generally Available: Azure NetApp Files advanced ransomware protection</a:t>
            </a:r>
            <a:endParaRPr lang="en-US" dirty="0"/>
          </a:p>
          <a:p>
            <a:pPr algn="just"/>
            <a:r>
              <a:rPr lang="en-US" dirty="0"/>
              <a:t>Azure NetApp Files advanced ransomware protection (ANF ARP) is now in GA (General Availability).  ANF ARP is designed to help organizations proactively detect, respond to, and recover from ransomware threats on cloud volumes. ANF ARP monitors Azure NetApp Files volumes for suspicious activity using file extension profiling, entropy, and IOPS patterns. When a threat is detected, the system creates a point-in-time snapshot, enabling rapid evaluation and recovery. Notifications are sent via Azure Activity log and attack reports are retained for 30 days.  There is no specific additional charge for ANF ARP but see Considerations section when sizing your deployment to accommodate ANF ARP. </a:t>
            </a:r>
          </a:p>
          <a:p>
            <a:pPr algn="just"/>
            <a:r>
              <a:rPr lang="en-US" dirty="0"/>
              <a:t>Azure NetApp Files advanced ransomware protection is available in all Azure NetApp Files regions. </a:t>
            </a:r>
          </a:p>
          <a:p>
            <a:pPr algn="just"/>
            <a:endParaRPr lang="en-US" dirty="0"/>
          </a:p>
        </p:txBody>
      </p:sp>
    </p:spTree>
    <p:extLst>
      <p:ext uri="{BB962C8B-B14F-4D97-AF65-F5344CB8AC3E}">
        <p14:creationId xmlns:p14="http://schemas.microsoft.com/office/powerpoint/2010/main" val="67053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Migrating from virtual network-integrated to Private Endpoint–capable network configuration</a:t>
            </a:r>
            <a:endParaRPr lang="en-US" sz="1000" dirty="0"/>
          </a:p>
          <a:p>
            <a:pPr algn="just"/>
            <a:r>
              <a:rPr lang="en-US" sz="1000" dirty="0"/>
              <a:t>You can now migrate </a:t>
            </a:r>
            <a:r>
              <a:rPr lang="en-US" sz="1000" b="1" dirty="0"/>
              <a:t>Azure Database for PostgreSQL</a:t>
            </a:r>
            <a:r>
              <a:rPr lang="en-US" sz="1000" dirty="0"/>
              <a:t> from </a:t>
            </a:r>
            <a:r>
              <a:rPr lang="en-US" sz="1000" b="1" dirty="0"/>
              <a:t>VNet-integrated deployment to Private Endpoint-based networking</a:t>
            </a:r>
            <a:r>
              <a:rPr lang="en-US" sz="1000" dirty="0"/>
              <a:t>. This provides a more </a:t>
            </a:r>
            <a:r>
              <a:rPr lang="en-US" sz="1000" b="1" dirty="0"/>
              <a:t>flexible and scalable connectivity model</a:t>
            </a:r>
            <a:r>
              <a:rPr lang="en-US" sz="1000" dirty="0"/>
              <a:t> while maintaining private access over the Azure backbone. The migration can be initiated via </a:t>
            </a:r>
            <a:r>
              <a:rPr lang="en-US" sz="1000" b="1" dirty="0"/>
              <a:t>Azure CLI, API, or SDK</a:t>
            </a:r>
            <a:r>
              <a:rPr lang="en-US" sz="1000" dirty="0"/>
              <a:t> without recreating the server or moving data. It reduces reliance on </a:t>
            </a:r>
            <a:r>
              <a:rPr lang="en-US" sz="1000" b="1" dirty="0"/>
              <a:t>delegated subnets</a:t>
            </a:r>
            <a:r>
              <a:rPr lang="en-US" sz="1000" dirty="0"/>
              <a:t> and aligns with modern network architectures. The process involves </a:t>
            </a:r>
            <a:r>
              <a:rPr lang="en-US" sz="1000" b="1" dirty="0"/>
              <a:t>planned downtime</a:t>
            </a:r>
            <a:r>
              <a:rPr lang="en-US" sz="1000" dirty="0"/>
              <a:t> and requires post-migration configuration such as Private Endpoints or firewall rules. Currently, it supports servers </a:t>
            </a:r>
            <a:r>
              <a:rPr lang="en-US" sz="1000" b="1" dirty="0"/>
              <a:t>without high availability or read replicas</a:t>
            </a:r>
            <a:r>
              <a:rPr lang="en-US" sz="1000" dirty="0"/>
              <a:t>.</a:t>
            </a:r>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Logical replication slot sync Status metric for Azure PostgreSQL Flexible Server</a:t>
            </a:r>
            <a:endParaRPr lang="en-US" dirty="0"/>
          </a:p>
          <a:p>
            <a:pPr algn="just"/>
            <a:r>
              <a:rPr lang="en-US" dirty="0"/>
              <a:t>You can now monitor logical replication slots in </a:t>
            </a:r>
            <a:r>
              <a:rPr lang="en-US" b="1" dirty="0"/>
              <a:t>Azure Database for PostgreSQL – Flexible Server</a:t>
            </a:r>
            <a:r>
              <a:rPr lang="en-US" dirty="0"/>
              <a:t> using the </a:t>
            </a:r>
            <a:r>
              <a:rPr lang="en-US" b="1" dirty="0" err="1"/>
              <a:t>logical_replication_slot_sync_status</a:t>
            </a:r>
            <a:r>
              <a:rPr lang="en-US" b="1" dirty="0"/>
              <a:t> metric (preview)</a:t>
            </a:r>
            <a:r>
              <a:rPr lang="en-US" dirty="0"/>
              <a:t>. It shows whether each slot is </a:t>
            </a:r>
            <a:r>
              <a:rPr lang="en-US" b="1" dirty="0"/>
              <a:t>synchronized, catching up, or in an unknown state</a:t>
            </a:r>
            <a:r>
              <a:rPr lang="en-US" dirty="0"/>
              <a:t>, improving visibility into replication health. This is particularly useful for </a:t>
            </a:r>
            <a:r>
              <a:rPr lang="en-US" b="1" dirty="0"/>
              <a:t>CDC and logical decoding tools like </a:t>
            </a:r>
            <a:r>
              <a:rPr lang="en-US" b="1" dirty="0" err="1"/>
              <a:t>Debezium</a:t>
            </a:r>
            <a:r>
              <a:rPr lang="en-US" b="1" dirty="0"/>
              <a:t> or Kafka</a:t>
            </a:r>
            <a:r>
              <a:rPr lang="en-US" dirty="0"/>
              <a:t>. It enables </a:t>
            </a:r>
            <a:r>
              <a:rPr lang="en-US" b="1" dirty="0"/>
              <a:t>per-slot monitoring and alerting</a:t>
            </a:r>
            <a:r>
              <a:rPr lang="en-US" dirty="0"/>
              <a:t> to detect issues early. It helps ensure replication consistency during </a:t>
            </a:r>
            <a:r>
              <a:rPr lang="en-US" b="1" dirty="0"/>
              <a:t>maintenance, migrations, and operational events</a:t>
            </a:r>
            <a:r>
              <a:rPr lang="en-US" dirty="0"/>
              <a:t>.</a:t>
            </a:r>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p:txBody>
          <a:bodyPr/>
          <a:lstStyle/>
          <a:p>
            <a:pPr algn="just"/>
            <a:r>
              <a:rPr lang="en-US" sz="1000" dirty="0">
                <a:hlinkClick r:id="rId2"/>
              </a:rPr>
              <a:t>Generally Available: Dynamic data masking with Azure Cosmos DB</a:t>
            </a:r>
            <a:endParaRPr lang="en-US" sz="1000" dirty="0"/>
          </a:p>
          <a:p>
            <a:pPr algn="just"/>
            <a:r>
              <a:rPr lang="en-US" sz="1000" dirty="0"/>
              <a:t>Dynamic Data Masking (DDM) in </a:t>
            </a:r>
            <a:r>
              <a:rPr lang="en-US" sz="1000" b="1" dirty="0"/>
              <a:t>Azure Cosmos DB</a:t>
            </a:r>
            <a:r>
              <a:rPr lang="en-US" sz="1000" dirty="0"/>
              <a:t> is a </a:t>
            </a:r>
            <a:r>
              <a:rPr lang="en-US" sz="1000" b="1" dirty="0"/>
              <a:t>server-side, policy-based security feature</a:t>
            </a:r>
            <a:r>
              <a:rPr lang="en-US" sz="1000" dirty="0"/>
              <a:t> that protects sensitive data. It dynamically </a:t>
            </a:r>
            <a:r>
              <a:rPr lang="en-US" sz="1000" b="1" dirty="0"/>
              <a:t>masks data for non-privileged users</a:t>
            </a:r>
            <a:r>
              <a:rPr lang="en-US" sz="1000" dirty="0"/>
              <a:t>, ensuring sensitive information is hidden in real time. The original data remains unchanged in the database. It helps reduce exposure of </a:t>
            </a:r>
            <a:r>
              <a:rPr lang="en-US" sz="1000" b="1" dirty="0"/>
              <a:t>PII and PHI</a:t>
            </a:r>
            <a:r>
              <a:rPr lang="en-US" sz="1000" dirty="0"/>
              <a:t> while maintaining application functionality. It supports </a:t>
            </a:r>
            <a:r>
              <a:rPr lang="en-US" sz="1000" b="1" dirty="0"/>
              <a:t>security, compliance, and regulatory requirements</a:t>
            </a:r>
            <a:r>
              <a:rPr lang="en-US" sz="1000" dirty="0"/>
              <a:t> by controlling data visibility.</a:t>
            </a:r>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p:txBody>
          <a:bodyPr/>
          <a:lstStyle/>
          <a:p>
            <a:pPr algn="just"/>
            <a:r>
              <a:rPr lang="en-US" dirty="0">
                <a:hlinkClick r:id="rId3"/>
              </a:rPr>
              <a:t>Generally Available: Enhanced Mirroring Azure Database for PostgreSQL in Microsoft Fabric</a:t>
            </a:r>
            <a:endParaRPr lang="en-US" dirty="0"/>
          </a:p>
          <a:p>
            <a:pPr algn="just"/>
            <a:r>
              <a:rPr lang="en-US" dirty="0"/>
              <a:t>Microsoft Fabric mirroring for </a:t>
            </a:r>
            <a:r>
              <a:rPr lang="en-US" b="1" dirty="0"/>
              <a:t>Azure Database for PostgreSQL</a:t>
            </a:r>
            <a:r>
              <a:rPr lang="en-US" dirty="0"/>
              <a:t> now supports </a:t>
            </a:r>
            <a:r>
              <a:rPr lang="en-US" b="1" dirty="0"/>
              <a:t>native data types like JSON and JSONB</a:t>
            </a:r>
            <a:r>
              <a:rPr lang="en-US" dirty="0"/>
              <a:t>, enabling richer schemas without workarounds. Setup is simplified as the </a:t>
            </a:r>
            <a:r>
              <a:rPr lang="en-US" b="1" dirty="0"/>
              <a:t>replication user no longer needs table ownership</a:t>
            </a:r>
            <a:r>
              <a:rPr lang="en-US" dirty="0"/>
              <a:t>, allowing mirroring on existing databases without security changes. New </a:t>
            </a:r>
            <a:r>
              <a:rPr lang="en-US" b="1" dirty="0"/>
              <a:t>error messaging and PostgreSQL UDFs</a:t>
            </a:r>
            <a:r>
              <a:rPr lang="en-US" dirty="0"/>
              <a:t> provide better visibility into mirroring status and issues. The feature also supports </a:t>
            </a:r>
            <a:r>
              <a:rPr lang="en-US" b="1" dirty="0"/>
              <a:t>high availability (HA) configurations on earlier PostgreSQL versions</a:t>
            </a:r>
            <a:r>
              <a:rPr lang="en-US" dirty="0"/>
              <a:t>, improving flexibility. These enhancements make mirroring more transparent and easier to operate at scale.</a:t>
            </a:r>
          </a:p>
        </p:txBody>
      </p:sp>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1DA1-B55D-EF7E-C705-3E2EBD8AB3D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337F290-7F05-F6C7-FB30-521D100BB24B}"/>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C62E7423-4266-2E57-7ECF-35621C61E139}"/>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915420FD-81AB-F129-C44C-1ADB2CE508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99C1840-42CB-2AAA-82F4-807BF7A8EB8F}"/>
              </a:ext>
            </a:extLst>
          </p:cNvPr>
          <p:cNvSpPr>
            <a:spLocks noGrp="1"/>
          </p:cNvSpPr>
          <p:nvPr>
            <p:ph type="body" sz="quarter" idx="16"/>
          </p:nvPr>
        </p:nvSpPr>
        <p:spPr/>
        <p:txBody>
          <a:bodyPr/>
          <a:lstStyle/>
          <a:p>
            <a:pPr algn="just"/>
            <a:r>
              <a:rPr lang="en-US" dirty="0">
                <a:hlinkClick r:id="rId2"/>
              </a:rPr>
              <a:t>Generally Available: Cascading read replicas in Azure Database for PostgreSQL</a:t>
            </a:r>
            <a:endParaRPr lang="en-US" dirty="0"/>
          </a:p>
          <a:p>
            <a:pPr algn="just"/>
            <a:r>
              <a:rPr lang="en-US" dirty="0"/>
              <a:t>Cascading read replicas in </a:t>
            </a:r>
            <a:r>
              <a:rPr lang="en-US" b="1" dirty="0"/>
              <a:t>Azure Database for PostgreSQL</a:t>
            </a:r>
            <a:r>
              <a:rPr lang="en-US" dirty="0"/>
              <a:t> are now generally available, enabling </a:t>
            </a:r>
            <a:r>
              <a:rPr lang="en-US" b="1" dirty="0"/>
              <a:t>multi-level replication from existing replicas</a:t>
            </a:r>
            <a:r>
              <a:rPr lang="en-US" dirty="0"/>
              <a:t>. You can create up to </a:t>
            </a:r>
            <a:r>
              <a:rPr lang="en-US" b="1" dirty="0"/>
              <a:t>30 replicas across two levels</a:t>
            </a:r>
            <a:r>
              <a:rPr lang="en-US" dirty="0"/>
              <a:t>, with each source supporting up to five replicas. This allows </a:t>
            </a:r>
            <a:r>
              <a:rPr lang="en-US" b="1" dirty="0"/>
              <a:t>flexible, tree-like replication topologies</a:t>
            </a:r>
            <a:r>
              <a:rPr lang="en-US" dirty="0"/>
              <a:t> for global applications. It helps place replicas closer to users, improving </a:t>
            </a:r>
            <a:r>
              <a:rPr lang="en-US" b="1" dirty="0"/>
              <a:t>read latency and performance</a:t>
            </a:r>
            <a:r>
              <a:rPr lang="en-US" dirty="0"/>
              <a:t>. It also enables </a:t>
            </a:r>
            <a:r>
              <a:rPr lang="en-US" b="1" dirty="0"/>
              <a:t>better load distribution and reduced pressure on the primary server</a:t>
            </a:r>
            <a:r>
              <a:rPr lang="en-US" dirty="0"/>
              <a:t>.</a:t>
            </a:r>
          </a:p>
        </p:txBody>
      </p:sp>
    </p:spTree>
    <p:extLst>
      <p:ext uri="{BB962C8B-B14F-4D97-AF65-F5344CB8AC3E}">
        <p14:creationId xmlns:p14="http://schemas.microsoft.com/office/powerpoint/2010/main" val="72484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Introducing Toolboxes in Foundry</a:t>
            </a:r>
            <a:endParaRPr lang="en-US" sz="1000" dirty="0"/>
          </a:p>
          <a:p>
            <a:pPr algn="just"/>
            <a:r>
              <a:rPr lang="en-US" sz="1000" dirty="0"/>
              <a:t>Microsoft Foundry introduces </a:t>
            </a:r>
            <a:r>
              <a:rPr lang="en-US" sz="1000" b="1" dirty="0"/>
              <a:t>Toolboxes</a:t>
            </a:r>
            <a:r>
              <a:rPr lang="en-US" sz="1000" dirty="0"/>
              <a:t>, a new capability that simplifies how developers integrate and manage tools within AI applications. Toolboxes provide a </a:t>
            </a:r>
            <a:r>
              <a:rPr lang="en-US" sz="1000" b="1" dirty="0"/>
              <a:t>centralized way to define, organize, and reuse tools</a:t>
            </a:r>
            <a:r>
              <a:rPr lang="en-US" sz="1000" dirty="0"/>
              <a:t> such as APIs, functions, and connectors across agents and workflows. This improves consistency and reduces duplication when building </a:t>
            </a:r>
            <a:r>
              <a:rPr lang="en-US" sz="1000" b="1" dirty="0"/>
              <a:t>agent-based and AI-driven solutions</a:t>
            </a:r>
            <a:r>
              <a:rPr lang="en-US" sz="1000" dirty="0"/>
              <a:t>. Developers can more easily </a:t>
            </a:r>
            <a:r>
              <a:rPr lang="en-US" sz="1000" b="1" dirty="0"/>
              <a:t>compose complex workflows</a:t>
            </a:r>
            <a:r>
              <a:rPr lang="en-US" sz="1000" dirty="0"/>
              <a:t> by combining multiple tools in a structured way. Toolboxes integrate with Foundry’s existing </a:t>
            </a:r>
            <a:r>
              <a:rPr lang="en-US" sz="1000" b="1" dirty="0"/>
              <a:t>orchestration and governance model</a:t>
            </a:r>
            <a:r>
              <a:rPr lang="en-US" sz="1000" dirty="0"/>
              <a:t>, ensuring secure and scalable usage.</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Introducing OpenAI's GPT-image-2 in Microsoft Foundry</a:t>
            </a:r>
            <a:endParaRPr lang="en-US" dirty="0"/>
          </a:p>
          <a:p>
            <a:pPr algn="just"/>
            <a:r>
              <a:rPr lang="en-US" dirty="0"/>
              <a:t>OpenAI’s </a:t>
            </a:r>
            <a:r>
              <a:rPr lang="en-US" b="1" dirty="0"/>
              <a:t>GPT-Image-2</a:t>
            </a:r>
            <a:r>
              <a:rPr lang="en-US" dirty="0"/>
              <a:t> is now available in </a:t>
            </a:r>
            <a:r>
              <a:rPr lang="en-US" b="1" dirty="0"/>
              <a:t>Microsoft Foundry</a:t>
            </a:r>
            <a:r>
              <a:rPr lang="en-US" dirty="0"/>
              <a:t>, bringing advanced image generation capabilities to enterprise AI workflows. The model enables creation of </a:t>
            </a:r>
            <a:r>
              <a:rPr lang="en-US" b="1" dirty="0"/>
              <a:t>high-quality, context-aware images</a:t>
            </a:r>
            <a:r>
              <a:rPr lang="en-US" dirty="0"/>
              <a:t> from text prompts, supporting use cases such as content generation, design, and automation. It integrates with Foundry’s </a:t>
            </a:r>
            <a:r>
              <a:rPr lang="en-US" b="1" dirty="0"/>
              <a:t>standard APIs and governance framework</a:t>
            </a:r>
            <a:r>
              <a:rPr lang="en-US" dirty="0"/>
              <a:t>, allowing teams to use it within existing secure, compliant environments. Developers can incorporate image generation into </a:t>
            </a:r>
            <a:r>
              <a:rPr lang="en-US" b="1" dirty="0"/>
              <a:t>applications, copilots, and agent-based solutions</a:t>
            </a:r>
            <a:r>
              <a:rPr lang="en-US" dirty="0"/>
              <a:t> with minimal changes. This release expands multimodal AI capabilities, combining </a:t>
            </a:r>
            <a:r>
              <a:rPr lang="en-US" b="1" dirty="0"/>
              <a:t>text and visual generation in a unified platform</a:t>
            </a:r>
            <a:r>
              <a:rPr lang="en-US" dirty="0"/>
              <a:t>.</a:t>
            </a:r>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028B91B-AE7C-2437-0508-F4249B752765}"/>
              </a:ext>
            </a:extLst>
          </p:cNvPr>
          <p:cNvSpPr>
            <a:spLocks noGrp="1"/>
          </p:cNvSpPr>
          <p:nvPr>
            <p:ph type="body" sz="quarter" idx="10"/>
          </p:nvPr>
        </p:nvSpPr>
        <p:spPr/>
        <p:txBody>
          <a:bodyPr/>
          <a:lstStyle/>
          <a:p>
            <a:pPr algn="just"/>
            <a:r>
              <a:rPr lang="en-US" sz="1000" dirty="0">
                <a:hlinkClick r:id="rId2"/>
              </a:rPr>
              <a:t>Public Preview: Hosted Agents in Foundry Agent Service</a:t>
            </a:r>
            <a:endParaRPr lang="en-US" sz="1000" dirty="0"/>
          </a:p>
          <a:p>
            <a:pPr algn="just"/>
            <a:r>
              <a:rPr lang="en-US" sz="1000" dirty="0"/>
              <a:t>Hosted agents run in an isolated execution sandbox that provides a dedicated, secure runtime per agent session. Sessions start with a clean environment with no shared state between sessions, no cross-session data leakage, and strong compute boundaries between tenants. </a:t>
            </a:r>
          </a:p>
        </p:txBody>
      </p:sp>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p:txBody>
          <a:bodyPr/>
          <a:lstStyle/>
          <a:p>
            <a:pPr algn="just"/>
            <a:r>
              <a:rPr lang="en-US" dirty="0">
                <a:hlinkClick r:id="rId3"/>
              </a:rPr>
              <a:t>Generally Available: Foundry Toolkit for Visual Studio Code (formerly AI Toolkit for VS Code)</a:t>
            </a:r>
            <a:endParaRPr lang="en-US" dirty="0"/>
          </a:p>
          <a:p>
            <a:pPr algn="just"/>
            <a:r>
              <a:rPr lang="en-US" dirty="0"/>
              <a:t>Foundry Toolkit for VS Code is now generally available and provides VS Code tooling for Microsoft Agent Framework, including agent creation from templates or via GitHub Copilot, local test/debug with visualization and traces, and direct deployment to Foundry Agent Service from VS Code.</a:t>
            </a:r>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a:p>
            <a:r>
              <a:rPr lang="en-US" dirty="0"/>
              <a:t>AzureTimes.org</a:t>
            </a:r>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3.xml><?xml version="1.0" encoding="utf-8"?>
<ds:datastoreItem xmlns:ds="http://schemas.openxmlformats.org/officeDocument/2006/customXml" ds:itemID="{EE04B39D-0CBA-4F8F-8809-785207E87965}">
  <ds:schemaRefs>
    <ds:schemaRef ds:uri="http://schemas.microsoft.com/sharepoint/v3/contenttype/forms"/>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2949</TotalTime>
  <Words>2439</Words>
  <Application>Microsoft Office PowerPoint</Application>
  <PresentationFormat>On-screen Show (16:9)</PresentationFormat>
  <Paragraphs>84</Paragraphs>
  <Slides>26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Human Sans</vt:lpstr>
      <vt:lpstr>Human Sans Regular</vt:lpstr>
      <vt:lpstr>Continuum Theme</vt:lpstr>
      <vt:lpstr>Azure Times #203</vt:lpstr>
      <vt:lpstr>PowerPoint Presentation</vt:lpstr>
      <vt:lpstr>Security &amp; Identity Updates</vt:lpstr>
      <vt:lpstr>Security &amp; Identity Updates</vt:lpstr>
      <vt:lpstr>PowerPoint Presentation</vt:lpstr>
      <vt:lpstr>Management &amp; Governance Updates</vt:lpstr>
      <vt:lpstr>Management &amp; Governance Updates</vt:lpstr>
      <vt:lpstr>Management &amp; Governance Updates</vt:lpstr>
      <vt:lpstr>Management &amp; Governance Updates</vt:lpstr>
      <vt:lpstr>Management &amp; Governance Updates</vt:lpstr>
      <vt:lpstr>PowerPoint Presentation</vt:lpstr>
      <vt:lpstr>Compute Updates</vt:lpstr>
      <vt:lpstr>Compute Updates</vt:lpstr>
      <vt:lpstr>Compute Updates</vt:lpstr>
      <vt:lpstr>PowerPoint Presentation</vt:lpstr>
      <vt:lpstr>Storage &amp; Data Updates</vt:lpstr>
      <vt:lpstr>PowerPoint Presentation</vt:lpstr>
      <vt:lpstr>Databases Updates</vt:lpstr>
      <vt:lpstr>Databases Updates</vt:lpstr>
      <vt:lpstr>Databases Updates</vt:lpstr>
      <vt:lpstr>PowerPoint Presentation</vt:lpstr>
      <vt:lpstr>ML &amp; AI &amp; IOT Updates</vt:lpstr>
      <vt:lpstr>ML &amp; AI &amp; IOT Updates</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142</cp:revision>
  <dcterms:created xsi:type="dcterms:W3CDTF">2018-01-26T19:23:30Z</dcterms:created>
  <dcterms:modified xsi:type="dcterms:W3CDTF">2026-04-26T10:13:44Z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