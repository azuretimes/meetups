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2"/>
  </p:notesMasterIdLst>
  <p:handoutMasterIdLst>
    <p:handoutMasterId r:id="rId33"/>
  </p:handoutMasterIdLst>
  <p:sldIdLst>
    <p:sldId id="2142532340" r:id="rId5"/>
    <p:sldId id="2146847045" r:id="rId6"/>
    <p:sldId id="10657" r:id="rId7"/>
    <p:sldId id="2146847048" r:id="rId8"/>
    <p:sldId id="2146847049" r:id="rId9"/>
    <p:sldId id="2146847132" r:id="rId10"/>
    <p:sldId id="2146847133" r:id="rId11"/>
    <p:sldId id="2146847050" r:id="rId12"/>
    <p:sldId id="2146847096" r:id="rId13"/>
    <p:sldId id="2146847135" r:id="rId14"/>
    <p:sldId id="2146847134" r:id="rId15"/>
    <p:sldId id="2146847136" r:id="rId16"/>
    <p:sldId id="2146847052" r:id="rId17"/>
    <p:sldId id="2146847100" r:id="rId18"/>
    <p:sldId id="2146847137" r:id="rId19"/>
    <p:sldId id="2146847138" r:id="rId20"/>
    <p:sldId id="2146847054" r:id="rId21"/>
    <p:sldId id="2146847103" r:id="rId22"/>
    <p:sldId id="2146847140" r:id="rId23"/>
    <p:sldId id="2146847058" r:id="rId24"/>
    <p:sldId id="2146847111" r:id="rId25"/>
    <p:sldId id="2146847146" r:id="rId26"/>
    <p:sldId id="2146847062" r:id="rId27"/>
    <p:sldId id="2146847153" r:id="rId28"/>
    <p:sldId id="2146847085" r:id="rId29"/>
    <p:sldId id="2146847084" r:id="rId30"/>
    <p:sldId id="2146847064" r:id="rId3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ection>
        <p14:section name="Management &amp; Governance" id="{34181601-6D48-4406-A525-C7B5A12C6C5B}">
          <p14:sldIdLst>
            <p14:sldId id="2146847048"/>
            <p14:sldId id="2146847049"/>
            <p14:sldId id="2146847132"/>
            <p14:sldId id="2146847133"/>
          </p14:sldIdLst>
        </p14:section>
        <p14:section name="Compute" id="{05AA80BB-8802-49AB-8336-A884227CE2F7}">
          <p14:sldIdLst>
            <p14:sldId id="2146847050"/>
            <p14:sldId id="2146847096"/>
            <p14:sldId id="2146847135"/>
            <p14:sldId id="2146847134"/>
            <p14:sldId id="2146847136"/>
          </p14:sldIdLst>
        </p14:section>
        <p14:section name="Storage &amp; Data" id="{1F159046-CE0A-45BC-9D5B-6E6C95980F78}">
          <p14:sldIdLst>
            <p14:sldId id="2146847052"/>
            <p14:sldId id="2146847100"/>
            <p14:sldId id="2146847137"/>
            <p14:sldId id="2146847138"/>
          </p14:sldIdLst>
        </p14:section>
        <p14:section name="Databases" id="{AEAFAE72-AD56-48F3-926B-38BAE269038F}">
          <p14:sldIdLst>
            <p14:sldId id="2146847054"/>
            <p14:sldId id="2146847103"/>
            <p14:sldId id="2146847140"/>
          </p14:sldIdLst>
        </p14:section>
        <p14:section name="Integration" id="{ACBD46A3-6F1C-451B-A154-0A056E0DEFF6}">
          <p14:sldIdLst/>
        </p14:section>
        <p14:section name="ML &amp; AI &amp; IOT" id="{F4E1EAF1-55E9-4CA4-8ADC-28B69C1D66D2}">
          <p14:sldIdLst>
            <p14:sldId id="2146847058"/>
            <p14:sldId id="2146847111"/>
            <p14:sldId id="2146847146"/>
          </p14:sldIdLst>
        </p14:section>
        <p14:section name="Miscellaneous" id="{A1456D7A-93BE-4023-90AA-7269D2F177BA}">
          <p14:sldIdLst>
            <p14:sldId id="2146847062"/>
            <p14:sldId id="2146847153"/>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p:scale>
          <a:sx n="125" d="100"/>
          <a:sy n="125" d="100"/>
        </p:scale>
        <p:origin x="3048" y="324"/>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5/10/2026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5/10/2026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58403"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zure.microsoft.com/ru-ru/updates?id=561373" TargetMode="External"/><Relationship Id="rId2" Type="http://schemas.openxmlformats.org/officeDocument/2006/relationships/hyperlink" Target="https://learn.microsoft.com/en-us/azure/backup/whats-new#cross-subscription-backup-for-azure-vms-preview"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techcommunity.microsoft.com/blog/azurearcblog/introducing-cert-manager-for-azure-arc-enabled-kubernetes-now-in-public-preview/4514549"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learn.microsoft.com/en-us/azure/backup/whats-new#cross-subscription-backup-for-azure-vms-preview"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techcommunity.microsoft.com/blog/azurecompute/public-preview-migrate-availability-sets-to-virtual-machine-scale-sets/4517061" TargetMode="External"/><Relationship Id="rId2" Type="http://schemas.openxmlformats.org/officeDocument/2006/relationships/hyperlink" Target="https://techcommunity.microsoft.com/blog/azurecompute/public-preview-migrate-your-regional-virtual-machines-to-availability-zones/4517298" TargetMode="Externa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hyperlink" Target="https://techcommunity.microsoft.com/blog/integrationsonazureblog/announcing-the-public-preview-of-oracle-database-built-in-connector-for-azure-lo/4516714" TargetMode="External"/><Relationship Id="rId2" Type="http://schemas.openxmlformats.org/officeDocument/2006/relationships/hyperlink" Target="https://techcommunity.microsoft.com/blog/windows-itpro-blog/windows-365-and-azure-virtual-desktop-expanding-access/4515931"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60734" TargetMode="External"/><Relationship Id="rId2" Type="http://schemas.openxmlformats.org/officeDocument/2006/relationships/hyperlink" Target="https://azure.microsoft.com/ru-ru/updates?id=560957"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azure.microsoft.com/ru-ru/updates?id=560948"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azure.microsoft.com/ru-ru/updates?id=560668"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azure.microsoft.com/ru-ru/updates?id=560894" TargetMode="External"/><Relationship Id="rId2" Type="http://schemas.openxmlformats.org/officeDocument/2006/relationships/hyperlink" Target="https://azure.microsoft.com/ru-ru/updates?id=560899"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zure.microsoft.com/ru-ru/updates?id=560909" TargetMode="External"/><Relationship Id="rId2" Type="http://schemas.openxmlformats.org/officeDocument/2006/relationships/hyperlink" Target="https://azure.microsoft.com/ru-ru/updates?id=561814"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61162" TargetMode="External"/><Relationship Id="rId2" Type="http://schemas.openxmlformats.org/officeDocument/2006/relationships/hyperlink" Target="https://azure.microsoft.com/ru-ru/updates?id=560283"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azure.microsoft.com/ru-ru/updates?id=561176"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techcommunity.microsoft.com/blog/azure-ai-foundry-blog/introducing-openais-newest-chat-model-in-microsoft-foundry/4516848" TargetMode="External"/><Relationship Id="rId2" Type="http://schemas.openxmlformats.org/officeDocument/2006/relationships/hyperlink" Target="https://azure.microsoft.com/ru-ru/updates?id=561167"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techcommunity.microsoft.com/blog/azure-ai-foundry-blog/a-new-chapter-for-realtime-ai-reasoning-translation-and-real-time-transcription/4517124" TargetMode="External"/><Relationship Id="rId2" Type="http://schemas.openxmlformats.org/officeDocument/2006/relationships/hyperlink" Target="https://techcommunity.microsoft.com/blog/azure-ai-foundry-blog/now-in-foundry-ibm-granite-4-1-nvidia-nemotron-nano-omni-and-qwen3-6-35b-a3b/4516858"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azure.microsoft.com/ru-ru/updates?id=561432"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#205</a:t>
            </a:r>
          </a:p>
        </p:txBody>
      </p:sp>
      <p:sp>
        <p:nvSpPr>
          <p:cNvPr id="4" name="Text Placeholder 3"/>
          <p:cNvSpPr>
            <a:spLocks noGrp="1"/>
          </p:cNvSpPr>
          <p:nvPr>
            <p:ph type="body" sz="quarter" idx="11"/>
          </p:nvPr>
        </p:nvSpPr>
        <p:spPr/>
        <p:txBody>
          <a:bodyPr/>
          <a:lstStyle/>
          <a:p>
            <a:r>
              <a:rPr lang="en-US" spc="300" dirty="0"/>
              <a:t>May 11,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Application Gateway for Containers managed add-on + AKS Automatic</a:t>
            </a:r>
            <a:endParaRPr lang="en-US" dirty="0"/>
          </a:p>
          <a:p>
            <a:pPr algn="just"/>
            <a:r>
              <a:rPr lang="en-US" dirty="0"/>
              <a:t>Application Gateway for Containers can now be used with AKS Automatic through the Application Gateway for Containers AKS Add-on.  </a:t>
            </a:r>
          </a:p>
          <a:p>
            <a:pPr algn="just"/>
            <a:r>
              <a:rPr lang="en-US" dirty="0"/>
              <a:t>With this update, customers using AKS Automatic can deploy Application Gateway for Containers by enabling the AKS Add-on, allowing Application Gateway for Containers to be managed and integrated as part of the AKS Automatic experience. This removes the need to manually provision or manage supporting infrastructure and aligns with the simplified operational model of AKS Automatic. </a:t>
            </a:r>
          </a:p>
          <a:p>
            <a:pPr algn="just"/>
            <a:r>
              <a:rPr lang="en-US" dirty="0"/>
              <a:t>This enhancement enables customers to:  </a:t>
            </a:r>
          </a:p>
          <a:p>
            <a:pPr marL="171450" indent="-171450" algn="just">
              <a:buFont typeface="Arial" panose="020B0604020202020204" pitchFamily="34" charset="0"/>
              <a:buChar char="•"/>
            </a:pPr>
            <a:r>
              <a:rPr lang="en-US" dirty="0"/>
              <a:t>Use Application Gateway for Containers as the managed ingress and load balancing solution for AKS Automatic clusters  </a:t>
            </a:r>
          </a:p>
          <a:p>
            <a:pPr marL="171450" indent="-171450" algn="just">
              <a:buFont typeface="Arial" panose="020B0604020202020204" pitchFamily="34" charset="0"/>
              <a:buChar char="•"/>
            </a:pPr>
            <a:r>
              <a:rPr lang="en-US" dirty="0"/>
              <a:t>Benefit from a fully managed, Azure-native experience through the AKS Add-on  </a:t>
            </a:r>
          </a:p>
          <a:p>
            <a:pPr marL="171450" indent="-171450" algn="just">
              <a:buFont typeface="Arial" panose="020B0604020202020204" pitchFamily="34" charset="0"/>
              <a:buChar char="•"/>
            </a:pPr>
            <a:r>
              <a:rPr lang="en-US" dirty="0"/>
              <a:t>Reduce operational overhead while adopting a Gateway API–based application delivery  </a:t>
            </a:r>
          </a:p>
          <a:p>
            <a:pPr algn="just"/>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Cross-subscription backup for Azure VMs (preview)</a:t>
            </a:r>
            <a:endParaRPr lang="en-US" sz="1000" dirty="0"/>
          </a:p>
          <a:p>
            <a:r>
              <a:rPr lang="en-US" sz="1000" dirty="0"/>
              <a:t>Azure Backup now supports protecting Azure VMs using a Recovery Services vault in a different subscription, within the same Azure AD tenant and region. This capability lets central backup or security teams maintain a single vault to govern VM protection across multiple team or project subscriptions, without requiring the vault and the VM to share the same subscription.</a:t>
            </a:r>
          </a:p>
          <a:p>
            <a:r>
              <a:rPr lang="en-US" sz="1000" dirty="0"/>
              <a:t>Key capabilities:</a:t>
            </a:r>
          </a:p>
          <a:p>
            <a:pPr marL="171450" indent="-171450">
              <a:buFont typeface="Arial" panose="020B0604020202020204" pitchFamily="34" charset="0"/>
              <a:buChar char="•"/>
            </a:pPr>
            <a:r>
              <a:rPr lang="en-US" sz="1000" dirty="0"/>
              <a:t>Centralized governance: One vault can protect VMs spread across many subscriptions in the same tenant, simplifying policy management and compliance reporting.</a:t>
            </a:r>
          </a:p>
          <a:p>
            <a:pPr marL="171450" indent="-171450">
              <a:buFont typeface="Arial" panose="020B0604020202020204" pitchFamily="34" charset="0"/>
              <a:buChar char="•"/>
            </a:pPr>
            <a:r>
              <a:rPr lang="en-US" sz="1000" dirty="0"/>
              <a:t>Flexible restore: Vault-tier recovery points can be restored to the protected VM subscription, the vault subscription, or any other subscription when Cross Subscription Restore is enabled on the vault. Snapshot-tier recovery points restore only within the protected VM subscription.</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Bulk Restore for Azure Virtual Machines using Azure Backup</a:t>
            </a:r>
            <a:endParaRPr lang="en-US" dirty="0"/>
          </a:p>
          <a:p>
            <a:pPr algn="just"/>
            <a:r>
              <a:rPr lang="en-US" dirty="0"/>
              <a:t>Azure Backup now supports ‘Bulk Restore’ for Azure virtual machines (VMs), enabling customers to restore multiple VMs (up to 100) in a single operation. This feature simplifies large-scale recovery scenarios while preserving control and granularity at an individual VM level. Customers can select multiple VMs, choose restore points, apply common restore parameters and track restore progress centrally. This feature is optimized for scenarios such as outages, ransomware recovery, improving recovery speed and operational efficiency. </a:t>
            </a:r>
          </a:p>
          <a:p>
            <a:pPr marL="171450" indent="-171450">
              <a:buFont typeface="Arial" panose="020B0604020202020204" pitchFamily="34" charset="0"/>
              <a:buChar char="•"/>
            </a:pPr>
            <a:r>
              <a:rPr lang="en-US" dirty="0"/>
              <a:t>Bulk VM restore doesn’t support Classic, Unmanaged, Encrypted, or Confidential virtual machines.</a:t>
            </a:r>
          </a:p>
          <a:p>
            <a:pPr marL="171450" indent="-171450">
              <a:buFont typeface="Arial" panose="020B0604020202020204" pitchFamily="34" charset="0"/>
              <a:buChar char="•"/>
            </a:pPr>
            <a:r>
              <a:rPr lang="en-US" dirty="0"/>
              <a:t>Bulk VM restore isn’t supported for cross‑region restore (CRR) scenarios.</a:t>
            </a:r>
          </a:p>
          <a:p>
            <a:pPr marL="171450" indent="-171450">
              <a:buFont typeface="Arial" panose="020B0604020202020204" pitchFamily="34" charset="0"/>
              <a:buChar char="•"/>
            </a:pPr>
            <a:r>
              <a:rPr lang="en-US" dirty="0"/>
              <a:t>Target subnets must use /16 or a smaller subnet mask.</a:t>
            </a:r>
          </a:p>
          <a:p>
            <a:pPr algn="just"/>
            <a:endParaRPr lang="en-US" dirty="0"/>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2"/>
              </a:rPr>
              <a:t>Introducing cert-manager for Azure Arc-enabled Kubernetes: now in Public Preview</a:t>
            </a:r>
            <a:endParaRPr lang="en-US" dirty="0"/>
          </a:p>
          <a:p>
            <a:pPr algn="just"/>
            <a:r>
              <a:rPr lang="en-US" dirty="0"/>
              <a:t>Cert-manager for </a:t>
            </a:r>
            <a:r>
              <a:rPr lang="en-US" b="1" dirty="0"/>
              <a:t>Azure Arc-enabled Kubernetes</a:t>
            </a:r>
            <a:r>
              <a:rPr lang="en-US" dirty="0"/>
              <a:t> is now in </a:t>
            </a:r>
            <a:r>
              <a:rPr lang="en-US" b="1" dirty="0"/>
              <a:t>public preview</a:t>
            </a:r>
            <a:r>
              <a:rPr lang="en-US" dirty="0"/>
              <a:t>, enabling automated certificate management for Kubernetes environments connected through Azure Arc. It simplifies the issuance, renewal, and lifecycle management of TLS certificates across clusters. The integration helps standardize </a:t>
            </a:r>
            <a:r>
              <a:rPr lang="en-US" b="1" dirty="0"/>
              <a:t>secure communication and identity management</a:t>
            </a:r>
            <a:r>
              <a:rPr lang="en-US" dirty="0"/>
              <a:t> in hybrid and </a:t>
            </a:r>
            <a:r>
              <a:rPr lang="en-US" dirty="0" err="1"/>
              <a:t>multicloud</a:t>
            </a:r>
            <a:r>
              <a:rPr lang="en-US" dirty="0"/>
              <a:t> Kubernetes deployments. It also reduces manual certificate operations and improves operational reliability. This enhances security and simplifies management for enterprise Kubernetes environments.</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2"/>
              </a:rPr>
              <a:t>Simplified CLI experience to enable backup for AKS clusters</a:t>
            </a:r>
            <a:endParaRPr lang="en-US" dirty="0"/>
          </a:p>
          <a:p>
            <a:pPr algn="just"/>
            <a:r>
              <a:rPr lang="en-US" dirty="0"/>
              <a:t>Azure Backup now supports configuring backups for Azure Kubernetes Service (AKS) clusters using a single Azure CLI command. This simplified experience eliminates the need for multiple manual setup steps, such as installing the Backup extension, preparing storage, creating a backup vault and policy, configuring Trusted Access, and creating the backup instance.</a:t>
            </a:r>
          </a:p>
          <a:p>
            <a:pPr algn="just"/>
            <a:r>
              <a:rPr lang="en-US" dirty="0"/>
              <a:t>The single command automatically completes all required configuration, including extension deployment, storage preparation, vault and policy provisioning or reuse, Trusted Access setup, and backup instance creation. Optional configuration files let you reference existing resources and apply tags, making this capability well‑suited for automation, infrastructure‑as‑code, and CI/CD pipelines.</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1"/>
            <a:ext cx="4365038" cy="1716670"/>
          </a:xfrm>
        </p:spPr>
        <p:txBody>
          <a:bodyPr/>
          <a:lstStyle/>
          <a:p>
            <a:pPr algn="just"/>
            <a:r>
              <a:rPr lang="en-US" sz="1000" dirty="0">
                <a:hlinkClick r:id="rId2"/>
              </a:rPr>
              <a:t>Public Preview: Migrate your regional virtual machines to availability zones</a:t>
            </a:r>
            <a:endParaRPr lang="en-US" sz="1000" dirty="0"/>
          </a:p>
          <a:p>
            <a:pPr algn="just"/>
            <a:r>
              <a:rPr lang="en-US" sz="1000" dirty="0"/>
              <a:t>This new capability enables you to move your existing regional (nonzonal) VMs and VMSS Flex deployments into specific availability zones while preserving the VM names, data disks, and other stateful properties.</a:t>
            </a:r>
          </a:p>
          <a:p>
            <a:pPr algn="just"/>
            <a:r>
              <a:rPr lang="en-US" sz="1000" dirty="0"/>
              <a:t>MS announced the public preview of regional to zonal migration for Azure Virtual Machines and for VMs in Virtual Machine Scale Sets with Flexible orchestration. With a small number of API calls, it is possible to take a VM that was originally deployed without a zone and assign it to availability zone 1, 2, or 3—keeping the same VM resource ID, name, OS and data disks, NICs, IP addresses, and scale set membership.</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486338"/>
          </a:xfrm>
        </p:spPr>
        <p:txBody>
          <a:bodyPr/>
          <a:lstStyle/>
          <a:p>
            <a:pPr algn="just"/>
            <a:r>
              <a:rPr lang="en-US" dirty="0">
                <a:hlinkClick r:id="rId3"/>
              </a:rPr>
              <a:t>Public Preview: Migrate Availability Sets to Virtual Machine Scale Sets</a:t>
            </a:r>
            <a:endParaRPr lang="en-US" dirty="0"/>
          </a:p>
          <a:p>
            <a:pPr algn="just"/>
            <a:r>
              <a:rPr lang="en-US" dirty="0"/>
              <a:t>MS announced the public preview of availability set to Virtual Machine Scale Set migration for Azure Virtual Machines. This new capability enables to move existing VMs from availability sets to Virtual Machine Scale Sets with Flexible orchestration—unlocking higher availability, autoscaling, and zone-level resiliency without recreating your workloads from scratch.</a:t>
            </a:r>
          </a:p>
          <a:p>
            <a:pPr algn="just"/>
            <a:r>
              <a:rPr lang="en-US" dirty="0"/>
              <a:t>Virtual Machine Scale Sets with Flexible orchestration provide several advantages over availability sets:</a:t>
            </a:r>
          </a:p>
          <a:p>
            <a:pPr algn="just"/>
            <a:endParaRPr lang="en-US" dirty="0"/>
          </a:p>
          <a:p>
            <a:pPr algn="just"/>
            <a:endParaRPr lang="en-US" dirty="0"/>
          </a:p>
        </p:txBody>
      </p:sp>
      <p:pic>
        <p:nvPicPr>
          <p:cNvPr id="5" name="Picture 4">
            <a:extLst>
              <a:ext uri="{FF2B5EF4-FFF2-40B4-BE49-F238E27FC236}">
                <a16:creationId xmlns:a16="http://schemas.microsoft.com/office/drawing/2014/main" id="{45ACC083-FC4E-1EB7-DFBF-98E956E8E106}"/>
              </a:ext>
            </a:extLst>
          </p:cNvPr>
          <p:cNvPicPr>
            <a:picLocks noChangeAspect="1"/>
          </p:cNvPicPr>
          <p:nvPr/>
        </p:nvPicPr>
        <p:blipFill>
          <a:blip r:embed="rId4"/>
          <a:stretch>
            <a:fillRect/>
          </a:stretch>
        </p:blipFill>
        <p:spPr>
          <a:xfrm>
            <a:off x="502228" y="2499241"/>
            <a:ext cx="3439391" cy="1789178"/>
          </a:xfrm>
          <a:prstGeom prst="rect">
            <a:avLst/>
          </a:prstGeom>
        </p:spPr>
      </p:pic>
      <p:pic>
        <p:nvPicPr>
          <p:cNvPr id="7" name="Picture 6">
            <a:extLst>
              <a:ext uri="{FF2B5EF4-FFF2-40B4-BE49-F238E27FC236}">
                <a16:creationId xmlns:a16="http://schemas.microsoft.com/office/drawing/2014/main" id="{49B74783-8729-F04B-388F-809F89F19A0B}"/>
              </a:ext>
            </a:extLst>
          </p:cNvPr>
          <p:cNvPicPr>
            <a:picLocks noChangeAspect="1"/>
          </p:cNvPicPr>
          <p:nvPr/>
        </p:nvPicPr>
        <p:blipFill>
          <a:blip r:embed="rId5"/>
          <a:stretch>
            <a:fillRect/>
          </a:stretch>
        </p:blipFill>
        <p:spPr>
          <a:xfrm>
            <a:off x="4511300" y="2639753"/>
            <a:ext cx="4070584" cy="941647"/>
          </a:xfrm>
          <a:prstGeom prst="rect">
            <a:avLst/>
          </a:prstGeom>
        </p:spPr>
      </p:pic>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Windows 365 and Azure Virtual Desktop: Expanding access</a:t>
            </a:r>
            <a:endParaRPr lang="en-US" sz="1000" dirty="0"/>
          </a:p>
          <a:p>
            <a:pPr algn="just"/>
            <a:r>
              <a:rPr lang="en-US" sz="1000" dirty="0"/>
              <a:t>Windows 365 and Azure Virtual Desktop are expanding access with broader availability and enhanced deployment options. The updates improve flexibility for organizations adopting </a:t>
            </a:r>
            <a:r>
              <a:rPr lang="en-US" sz="1000" b="1" dirty="0"/>
              <a:t>cloud-based desktop and application delivery</a:t>
            </a:r>
            <a:r>
              <a:rPr lang="en-US" sz="1000" dirty="0"/>
              <a:t>. Customers can better align deployments with </a:t>
            </a:r>
            <a:r>
              <a:rPr lang="en-US" sz="1000" b="1" dirty="0"/>
              <a:t>regional, compliance, and performance requirements</a:t>
            </a:r>
            <a:r>
              <a:rPr lang="en-US" sz="1000" dirty="0"/>
              <a:t>. The expansion also supports more scalable and accessible virtual desktop experiences for different user scenarios. This helps organizations accelerate </a:t>
            </a:r>
            <a:r>
              <a:rPr lang="en-US" sz="1000" b="1" dirty="0"/>
              <a:t>hybrid work and cloud desktop adoption</a:t>
            </a:r>
            <a:r>
              <a:rPr lang="en-US" sz="1000" dirty="0"/>
              <a:t>.</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Announcing the public preview of Oracle Database built-in connector for Azure Logic Apps Standard</a:t>
            </a:r>
            <a:endParaRPr lang="en-US" dirty="0"/>
          </a:p>
          <a:p>
            <a:pPr algn="just"/>
            <a:r>
              <a:rPr lang="en-US" dirty="0"/>
              <a:t>Azure Logic Apps now includes a </a:t>
            </a:r>
            <a:r>
              <a:rPr lang="en-US" b="1" dirty="0"/>
              <a:t>built-in Oracle Database connector (public preview)</a:t>
            </a:r>
            <a:r>
              <a:rPr lang="en-US" dirty="0"/>
              <a:t>, simplifying integration with Oracle workloads. The connector enables direct connectivity to Oracle databases without requiring additional gateway infrastructure. It supports building </a:t>
            </a:r>
            <a:r>
              <a:rPr lang="en-US" b="1" dirty="0"/>
              <a:t>automated workflows and integrations</a:t>
            </a:r>
            <a:r>
              <a:rPr lang="en-US" dirty="0"/>
              <a:t> between Oracle systems and Azure services. This helps organizations modernize hybrid and enterprise integration scenarios more easily. The built-in approach improves </a:t>
            </a:r>
            <a:r>
              <a:rPr lang="en-US" b="1" dirty="0"/>
              <a:t>performance, manageability, and deployment simplicity</a:t>
            </a:r>
            <a:r>
              <a:rPr lang="en-US" dirty="0"/>
              <a:t> for Oracle-based integrations.</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Generally Available: Azure Functions durable task scheduler Consumption SKU</a:t>
            </a:r>
            <a:endParaRPr lang="en-US" sz="1000" dirty="0"/>
          </a:p>
          <a:p>
            <a:pPr algn="just"/>
            <a:r>
              <a:rPr lang="en-US" sz="1000" dirty="0"/>
              <a:t>The Durable Task Scheduler Consumption SKU is now generally available. Run durable workflows and AI agent orchestrations on Azure with pay-per-use pricing. No storage to manage, no capacity to plan, and no idle costs.</a:t>
            </a:r>
          </a:p>
          <a:p>
            <a:pPr algn="just"/>
            <a:r>
              <a:rPr lang="en-US" sz="1000" dirty="0"/>
              <a:t>The Consumption SKU charges only for actions dispatched, making it ideal for bursty workloads like AI agent orchestration, event-driven pipelines, and API-triggered workflows.</a:t>
            </a:r>
          </a:p>
          <a:p>
            <a:pPr algn="just"/>
            <a:r>
              <a:rPr lang="en-US" sz="1000" dirty="0"/>
              <a:t>It supports up to 500 actions/second, 30-day data retention, a built-in monitoring dashboard, and identity-based security with Entra ID and RBAC. Works across Azure Functions, Azure Container Apps, AKS, and any compute environment using the Durable Task SDKs.</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Generally Available: Azure Dl/D/E v7 Virtual Machines</a:t>
            </a:r>
            <a:endParaRPr lang="en-US" dirty="0"/>
          </a:p>
          <a:p>
            <a:pPr algn="just"/>
            <a:r>
              <a:rPr lang="en-US" dirty="0"/>
              <a:t>Azure has announced the general availability of the new Dl/D/E v7 Virtual Machines, powered by the latest Intel® Xeon® 6 (Granite Rapids) processors. These general‑purpose and memory‑optimized VMs deliver up to 20% better general compute performance than previous-generation Intel‑based v6 VMs, alongside major improvements in scale, networking, and storage.</a:t>
            </a:r>
          </a:p>
          <a:p>
            <a:pPr algn="just"/>
            <a:r>
              <a:rPr lang="en-US" dirty="0"/>
              <a:t>The v7 families support three memory-to-vCPU ratios (2:1, 4:1, and 8:1) and offer configurations with or without local </a:t>
            </a:r>
            <a:r>
              <a:rPr lang="en-US" dirty="0" err="1"/>
              <a:t>NVMe</a:t>
            </a:r>
            <a:r>
              <a:rPr lang="en-US" dirty="0"/>
              <a:t> temp disks. Customers can scale up to 372 vCPUs and 2.8 TiB of memory on Esv7/Edsv7 sizes, enabling larger and more demanding workloads.</a:t>
            </a:r>
          </a:p>
          <a:p>
            <a:pPr algn="just"/>
            <a:r>
              <a:rPr lang="en-US" dirty="0"/>
              <a:t>Built on Azure Boost, the v7 VMs deliver up to 400 Gbps networking, up to 800k IOPS and 20 </a:t>
            </a:r>
            <a:r>
              <a:rPr lang="en-US" dirty="0" err="1"/>
              <a:t>GBps</a:t>
            </a:r>
            <a:r>
              <a:rPr lang="en-US" dirty="0"/>
              <a:t> of remote storage throughput, and up to 9.6M IOPS on local </a:t>
            </a:r>
            <a:r>
              <a:rPr lang="en-US" dirty="0" err="1"/>
              <a:t>NVMe</a:t>
            </a:r>
            <a:r>
              <a:rPr lang="en-US" dirty="0"/>
              <a:t>. Intel® AMX enables built‑in AI acceleration for inference workloads, while Intel® TME enhances memory security.</a:t>
            </a:r>
          </a:p>
          <a:p>
            <a:pPr algn="just"/>
            <a:r>
              <a:rPr lang="en-US" dirty="0"/>
              <a:t>Dl/D/E v7 VMs are ideal for web and application servers, containerized workloads, databases, analytics, and in‑memory workloads such as SAP and Redis.</a:t>
            </a:r>
          </a:p>
          <a:p>
            <a:pPr algn="just"/>
            <a:r>
              <a:rPr lang="en-US" dirty="0"/>
              <a:t>These VMs are now generally available in Central US, with additional regions coming soon.</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2"/>
              </a:rPr>
              <a:t>Retirement: Azure Reserved Virtual Machines Instances for select VM series</a:t>
            </a:r>
            <a:endParaRPr lang="en-US" dirty="0"/>
          </a:p>
          <a:p>
            <a:pPr algn="just"/>
            <a:r>
              <a:rPr lang="en-US" dirty="0"/>
              <a:t>Starting July 1, 2026, purchases and renewals will no longer be available for one-year Azure Reserved VM Instances for the Av2, Amv2, Bv1, D, Ds, Dv2, Dsv2, F, Fs, Fsv2, G, </a:t>
            </a:r>
            <a:r>
              <a:rPr lang="en-US" dirty="0" err="1"/>
              <a:t>Gs</a:t>
            </a:r>
            <a:r>
              <a:rPr lang="en-US" dirty="0"/>
              <a:t>, Ls, and Lsv2 VM series. Additionally, one-year and three-year reserved instances (RIs) for the Dv3, Dsv3, Ev3, and Esv3 VM series will no longer be available for purchase and renewal. </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NetApp Files enable backup by default</a:t>
            </a:r>
            <a:endParaRPr lang="en-US" dirty="0"/>
          </a:p>
          <a:p>
            <a:pPr algn="just"/>
            <a:r>
              <a:rPr lang="en-US" dirty="0"/>
              <a:t>Azure NetApp Files now enables backup by default when creating new volumes, delivering a more seamless and secure data‑protection experience. Backups are automatically provisioned during volume creation, reducing setup effort while still allowing customers to opt out when needed. This enhancement improves usability, strengthens data resilience, and is available across all Azure NetApp Files regions  </a:t>
            </a:r>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pPr algn="just"/>
            <a:r>
              <a:rPr lang="en-US" sz="1000" dirty="0">
                <a:hlinkClick r:id="rId2"/>
              </a:rPr>
              <a:t>Generally Available: Single Volume Snapshots on Azure Elastic SAN</a:t>
            </a:r>
            <a:endParaRPr lang="en-US" sz="1000" dirty="0"/>
          </a:p>
          <a:p>
            <a:pPr algn="just"/>
            <a:r>
              <a:rPr lang="en-US" sz="1000" dirty="0"/>
              <a:t>Azure Elastic SAN now supports single volume snapshots, enabling incremental, point‑in‑time backups of individual SAN volumes. Snapshots capture only changes since the previous snapshot and reside within the SAN, allowing customers to quickly deploy new volumes from a restore point or export data to managed disk snapshots for long‑term retention. Snapshots are capacity efficient, consume SAN storage instead of incurring separate billing, and inherit the redundancy configuration of the parent SAN.</a:t>
            </a:r>
          </a:p>
          <a:p>
            <a:pPr algn="just"/>
            <a:r>
              <a:rPr lang="en-US" sz="1000" dirty="0"/>
              <a:t>Snapshots consume provisioned SAN capacity rather than incurring separate billing and can be exported to managed disk snapshots for longer‑term retention beyond the lifecycle of the source volume. Snapshot redundancy is automatically aligned with the redundancy configuration of the parent Elastic SAN. </a:t>
            </a:r>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3"/>
              </a:rPr>
              <a:t>Generally Available: AVS Support for AV64 SKU on Azure Elastic SAN</a:t>
            </a:r>
            <a:endParaRPr lang="en-US" dirty="0"/>
          </a:p>
          <a:p>
            <a:pPr algn="just"/>
            <a:r>
              <a:rPr lang="en-US" dirty="0"/>
              <a:t>Azure Elastic SAN datastores are now supported with AV64 SKUs, enabling higher-scale and higher-performance storage options for Azure VMware Solution deployments.</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pPr algn="just"/>
            <a:r>
              <a:rPr lang="en-US" sz="1000" dirty="0">
                <a:hlinkClick r:id="rId2"/>
              </a:rPr>
              <a:t>Generally Available: Azure Premium SSD v2 Disk is now available in all three available zones in Japan West</a:t>
            </a:r>
            <a:endParaRPr lang="en-US" sz="1000" dirty="0"/>
          </a:p>
          <a:p>
            <a:pPr algn="just"/>
            <a:r>
              <a:rPr lang="en-US" sz="1000" dirty="0"/>
              <a:t>Azure Premium SSD v2 is now available in all three Availability Zones in Japan West.    </a:t>
            </a:r>
          </a:p>
          <a:p>
            <a:pPr algn="just"/>
            <a:r>
              <a:rPr lang="en-US" sz="1000" dirty="0"/>
              <a:t>Azure Premium SSD v2 disk, a next-generation general-purpose block storage option for Azure virtual machines, offers sub-millisecond latencies and exceptional price performance for IO-intensive workloads at a low cost. Premium SSD v2 is suited for a broad range of enterprise production scenarios, including SQL Server, Oracle, MariaDB, SAP, Cassandra, MongoDB, big data/analytics, and gaming on virtual machines or stateful containers. </a:t>
            </a:r>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pPr algn="just"/>
            <a:r>
              <a:rPr lang="en-US" dirty="0">
                <a:hlinkClick r:id="rId3"/>
              </a:rPr>
              <a:t>Generally Available: Azure Elastic SAN support for AVS Gen2 Private Cloud</a:t>
            </a:r>
            <a:endParaRPr lang="en-US" dirty="0"/>
          </a:p>
          <a:p>
            <a:pPr algn="just"/>
            <a:r>
              <a:rPr lang="en-US" dirty="0"/>
              <a:t>Elastic SAN datastores deliver simpler connectivity and improved performance when used with AVS Gen2 Private Cloud:   </a:t>
            </a:r>
          </a:p>
          <a:p>
            <a:pPr algn="just"/>
            <a:r>
              <a:rPr lang="en-US" dirty="0"/>
              <a:t>Simpler connectivity &amp; configuration   </a:t>
            </a:r>
          </a:p>
          <a:p>
            <a:pPr marL="171450" indent="-171450" algn="just">
              <a:buFont typeface="Arial" panose="020B0604020202020204" pitchFamily="34" charset="0"/>
              <a:buChar char="•"/>
            </a:pPr>
            <a:r>
              <a:rPr lang="en-US" dirty="0"/>
              <a:t>No ExpressRoute gateway required   </a:t>
            </a:r>
          </a:p>
          <a:p>
            <a:pPr marL="171450" indent="-171450" algn="just">
              <a:buFont typeface="Arial" panose="020B0604020202020204" pitchFamily="34" charset="0"/>
              <a:buChar char="•"/>
            </a:pPr>
            <a:r>
              <a:rPr lang="en-US" dirty="0"/>
              <a:t>A single Private Endpoint is sufficient to configure the optimal number of iSCSI sessions   </a:t>
            </a:r>
          </a:p>
          <a:p>
            <a:pPr algn="just"/>
            <a:r>
              <a:rPr lang="en-US" dirty="0"/>
              <a:t>Higher performance   </a:t>
            </a:r>
          </a:p>
          <a:p>
            <a:pPr marL="171450" indent="-171450" algn="just">
              <a:buFont typeface="Arial" panose="020B0604020202020204" pitchFamily="34" charset="0"/>
              <a:buChar char="•"/>
            </a:pPr>
            <a:r>
              <a:rPr lang="en-US" dirty="0"/>
              <a:t>No throughput limitations imposed by the ExpressRoute gateway bandwidth   </a:t>
            </a:r>
          </a:p>
          <a:p>
            <a:pPr marL="171450" indent="-171450" algn="just">
              <a:buFont typeface="Arial" panose="020B0604020202020204" pitchFamily="34" charset="0"/>
              <a:buChar char="•"/>
            </a:pPr>
            <a:r>
              <a:rPr lang="en-US" dirty="0"/>
              <a:t>Ability to achieve the entire provisioned Elastic SAN throughput   </a:t>
            </a:r>
          </a:p>
          <a:p>
            <a:pPr algn="just"/>
            <a:r>
              <a:rPr lang="en-US" dirty="0"/>
              <a:t>This significantly simplifies deployment while maximizing performance for throughput‑intensive AVS workloads.  </a:t>
            </a:r>
          </a:p>
          <a:p>
            <a:pPr algn="just"/>
            <a:endParaRPr lang="en-US" dirty="0"/>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Public Preview: Azure SQL update for early-May 2026</a:t>
            </a:r>
            <a:endParaRPr lang="en-US" sz="1000" dirty="0"/>
          </a:p>
          <a:p>
            <a:r>
              <a:rPr lang="en-US" sz="1000" dirty="0"/>
              <a:t>In early May 2026, the following update and enhancement was made to Azure SQL: </a:t>
            </a:r>
          </a:p>
          <a:p>
            <a:pPr marL="171450" indent="-171450">
              <a:buFont typeface="Arial" panose="020B0604020202020204" pitchFamily="34" charset="0"/>
              <a:buChar char="•"/>
            </a:pPr>
            <a:r>
              <a:rPr lang="en-US" sz="1000" dirty="0"/>
              <a:t>Right‑size memory for Business-Critical Azure SQL Managed Instance to improve performance without overprovisioning.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Cosmos DB Shell—your new command line for data workflows</a:t>
            </a:r>
            <a:endParaRPr lang="en-US" dirty="0"/>
          </a:p>
          <a:p>
            <a:pPr algn="just"/>
            <a:r>
              <a:rPr lang="en-US" dirty="0"/>
              <a:t>Azure Cosmos DB Shell is now available in public preview, introducing a modern command-line experience with agentic capabilities powered by Model Context Protocol (MCP). You can now query, explore, and manage your data more efficiently through intelligent, AI-assisted workflows.</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r>
              <a:rPr lang="en-US" dirty="0">
                <a:hlinkClick r:id="rId2"/>
              </a:rPr>
              <a:t>Retirement: Azure Document Intelligence v3.0 API will be retired on March 30, 2029</a:t>
            </a:r>
            <a:endParaRPr lang="en-US" dirty="0"/>
          </a:p>
          <a:p>
            <a:r>
              <a:rPr lang="en-US" dirty="0"/>
              <a:t>On March 30, 2029, Azure Document Intelligence v3.0 API will be retired. Please migrate to latest generally available Azure Document Intelligence API version, v4.0, by that date.</a:t>
            </a:r>
            <a:br>
              <a:rPr lang="en-US" dirty="0"/>
            </a:br>
            <a:r>
              <a:rPr lang="en-US" dirty="0"/>
              <a:t>After March 30, 2029, Azure Document Intelligence v3.0 API will no longer be supported and will become unusable.</a:t>
            </a:r>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Azure Cosmos DB spherical quantization for improved vector search</a:t>
            </a:r>
            <a:endParaRPr lang="en-US" sz="1000" dirty="0"/>
          </a:p>
          <a:p>
            <a:pPr algn="just"/>
            <a:r>
              <a:rPr lang="en-US" sz="1000" dirty="0"/>
              <a:t>Azure Cosmos DB now offers spherical quantization in public preview to help you achieve faster vector indexing with higher recall and accuracy at scale. Spherical quantization is an advanced vector compression technique designed to preserve search quality while improving vector indexing and search performance.</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Introducing OpenAI's newest chat model in Microsoft Foundry</a:t>
            </a:r>
            <a:endParaRPr lang="en-US" dirty="0"/>
          </a:p>
          <a:p>
            <a:pPr algn="just"/>
            <a:r>
              <a:rPr lang="en-US" dirty="0"/>
              <a:t>OpenAI's GPT-5.5 Instant (or Chat-latest in the API) begins rolling out in Microsoft Foundry today as GPT-chat-latest. Built on GPT-5.4 and GPT-5.3-chat, the new model delivers measurable gains in factual accuracy, tool calling, and response efficiency. These improvements translate directly into more reliable production deployments.</a:t>
            </a:r>
          </a:p>
          <a:p>
            <a:pPr algn="just"/>
            <a:r>
              <a:rPr lang="en-US" dirty="0"/>
              <a:t>GPT-chat-latest is designed for the workflows builders are actually shipping: multi-turn assistants, agentic systems that orchestrate tools, and retrieval-grounded applications where precision and grounding matter as much as conversational quality.</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r>
              <a:rPr lang="en-US" sz="1000" dirty="0">
                <a:hlinkClick r:id="rId2"/>
              </a:rPr>
              <a:t>Now in Foundry: IBM Granite 4.1, NVIDIA Nemotron Nano Omni, and Qwen3.6-35B-A3B</a:t>
            </a:r>
            <a:endParaRPr lang="en-US" sz="1000" dirty="0"/>
          </a:p>
          <a:p>
            <a:r>
              <a:rPr lang="en-US" sz="1000" dirty="0"/>
              <a:t>Microsoft added two major model families alongside a reasoning powerhouse that spans the full spectrum from specialized speech and vision to general-purpose coding and long-context analysis. </a:t>
            </a:r>
          </a:p>
          <a:p>
            <a:pPr marL="171450" indent="-171450">
              <a:buFont typeface="Arial" panose="020B0604020202020204" pitchFamily="34" charset="0"/>
              <a:buChar char="•"/>
            </a:pPr>
            <a:r>
              <a:rPr lang="en-US" sz="1000" dirty="0"/>
              <a:t>IBM's Granite 4.1 is a family of 10: six LLMs across 3B, 8B, and 30B sizes in both full-precision and FP8 variants, plus a safety model, a vision-language model for document extraction, and a multilingual speech recognition model.</a:t>
            </a:r>
          </a:p>
          <a:p>
            <a:pPr marL="171450" indent="-171450">
              <a:buFont typeface="Arial" panose="020B0604020202020204" pitchFamily="34" charset="0"/>
              <a:buChar char="•"/>
            </a:pPr>
            <a:r>
              <a:rPr lang="en-US" sz="1000" dirty="0"/>
              <a:t>NVIDIA's Nemotron-3-Nano-Omni-30B-A3B-Reasoning brings multimodal capability—video, audio, image, and text—to a 31B Mamba2-Transformer Hybrid Mixture-of-Experts (</a:t>
            </a:r>
            <a:r>
              <a:rPr lang="en-US" sz="1000" dirty="0" err="1"/>
              <a:t>MoE</a:t>
            </a:r>
            <a:r>
              <a:rPr lang="en-US" sz="1000" dirty="0"/>
              <a:t>) architecture that activates only 3B parameters per forward pass; three variants are available in Foundry (BF16, FP8, and NVFP4), with the FP8 variant featured here.</a:t>
            </a:r>
          </a:p>
          <a:p>
            <a:pPr marL="171450" indent="-171450">
              <a:buFont typeface="Arial" panose="020B0604020202020204" pitchFamily="34" charset="0"/>
              <a:buChar char="•"/>
            </a:pPr>
            <a:r>
              <a:rPr lang="en-US" sz="1000" dirty="0"/>
              <a:t>Qwen3.6-35B-A3B is designed for agentic coding among open models, with thinking preservation across conversation turns and a context window extensible to 1 million tokens.</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Three real-time models are now available</a:t>
            </a:r>
            <a:endParaRPr lang="en-US" dirty="0"/>
          </a:p>
          <a:p>
            <a:pPr algn="just"/>
            <a:r>
              <a:rPr lang="en-US" dirty="0"/>
              <a:t>OpenAI’s GPT-</a:t>
            </a:r>
            <a:r>
              <a:rPr lang="en-US" dirty="0" err="1"/>
              <a:t>realtime</a:t>
            </a:r>
            <a:r>
              <a:rPr lang="en-US" dirty="0"/>
              <a:t>-translate, GPT‑realtime‑2 and, GPT-</a:t>
            </a:r>
            <a:r>
              <a:rPr lang="en-US" dirty="0" err="1"/>
              <a:t>realtime</a:t>
            </a:r>
            <a:r>
              <a:rPr lang="en-US" dirty="0"/>
              <a:t>-whisper are now available in Microsoft Foundry.</a:t>
            </a:r>
          </a:p>
          <a:p>
            <a:pPr marL="171450" indent="-171450" algn="just">
              <a:buFont typeface="Arial" panose="020B0604020202020204" pitchFamily="34" charset="0"/>
              <a:buChar char="•"/>
            </a:pPr>
            <a:r>
              <a:rPr lang="en-US" dirty="0"/>
              <a:t>GPT-</a:t>
            </a:r>
            <a:r>
              <a:rPr lang="en-US" dirty="0" err="1"/>
              <a:t>realtime</a:t>
            </a:r>
            <a:r>
              <a:rPr lang="en-US" dirty="0"/>
              <a:t>-translate and GPT-</a:t>
            </a:r>
            <a:r>
              <a:rPr lang="en-US" dirty="0" err="1"/>
              <a:t>realtime</a:t>
            </a:r>
            <a:r>
              <a:rPr lang="en-US" dirty="0"/>
              <a:t>-whisper together extend the </a:t>
            </a:r>
            <a:r>
              <a:rPr lang="en-US" dirty="0" err="1"/>
              <a:t>realtime</a:t>
            </a:r>
            <a:r>
              <a:rPr lang="en-US" dirty="0"/>
              <a:t> stack for live multilingual audio workflows. GPT-</a:t>
            </a:r>
            <a:r>
              <a:rPr lang="en-US" dirty="0" err="1"/>
              <a:t>realtime</a:t>
            </a:r>
            <a:r>
              <a:rPr lang="en-US" dirty="0"/>
              <a:t>-translate is built for continuous, real-time translation, producing translated output as speech unfolds without relying on segmented pipeline processing, while GPT-</a:t>
            </a:r>
            <a:r>
              <a:rPr lang="en-US" dirty="0" err="1"/>
              <a:t>realtime</a:t>
            </a:r>
            <a:r>
              <a:rPr lang="en-US" dirty="0"/>
              <a:t>-whisper provides low-latency streaming transcription of the original audio in parallel.</a:t>
            </a:r>
          </a:p>
          <a:p>
            <a:pPr marL="171450" indent="-171450" algn="just">
              <a:buFont typeface="Arial" panose="020B0604020202020204" pitchFamily="34" charset="0"/>
              <a:buChar char="•"/>
            </a:pPr>
            <a:r>
              <a:rPr lang="en-US" dirty="0"/>
              <a:t>GPT‑realtime‑2 is a generational upgrade to OpenAI's speech-to-speech model, bringing internal reasoning and an expanded context window to real-time voice applications. Where previous speech to speech models responded immediately, GPT‑realtime‑2 can work through a problem before speaking — making it well suited for voice applications that need to handle complex, multi-step queries entirely in the audio layer without routing to a separate text pipeline.</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Miscellaneous</a:t>
            </a:r>
          </a:p>
        </p:txBody>
      </p:sp>
    </p:spTree>
    <p:extLst>
      <p:ext uri="{BB962C8B-B14F-4D97-AF65-F5344CB8AC3E}">
        <p14:creationId xmlns:p14="http://schemas.microsoft.com/office/powerpoint/2010/main" val="1588418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F6376-AFAE-7966-3832-BF94E416269A}"/>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8E78F44-EBA7-0070-3283-4FD74A0787A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2FB73DF5-B435-B08A-FA0B-4E67E050E300}"/>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34A31A64-CCC6-D99D-7AF9-F1B68C99CE8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28244EA9-AA7C-544B-0E10-45F0A7930630}"/>
              </a:ext>
            </a:extLst>
          </p:cNvPr>
          <p:cNvSpPr>
            <a:spLocks noGrp="1"/>
          </p:cNvSpPr>
          <p:nvPr>
            <p:ph type="body" sz="quarter" idx="16"/>
          </p:nvPr>
        </p:nvSpPr>
        <p:spPr/>
        <p:txBody>
          <a:bodyPr/>
          <a:lstStyle/>
          <a:p>
            <a:pPr algn="just"/>
            <a:r>
              <a:rPr lang="en-US" dirty="0">
                <a:hlinkClick r:id="rId2"/>
              </a:rPr>
              <a:t>Generally Available: Cleanup legacy </a:t>
            </a:r>
            <a:r>
              <a:rPr lang="en-US" dirty="0" err="1">
                <a:hlinkClick r:id="rId2"/>
              </a:rPr>
              <a:t>AlternateId</a:t>
            </a:r>
            <a:r>
              <a:rPr lang="en-US" dirty="0">
                <a:hlinkClick r:id="rId2"/>
              </a:rPr>
              <a:t> usage to ensure continued service</a:t>
            </a:r>
            <a:endParaRPr lang="en-US" dirty="0"/>
          </a:p>
          <a:p>
            <a:pPr algn="just"/>
            <a:r>
              <a:rPr lang="en-US" dirty="0"/>
              <a:t>MS identified an issue impacting Multi-line (Multiple Number Assignment) feature for Teams Phone enablement related to the usage of </a:t>
            </a:r>
            <a:r>
              <a:rPr lang="en-US" dirty="0" err="1"/>
              <a:t>AlternateId</a:t>
            </a:r>
            <a:r>
              <a:rPr lang="en-US" dirty="0"/>
              <a:t> in customer internal implementations for Azure Communication Services (ACS). </a:t>
            </a:r>
            <a:r>
              <a:rPr lang="en-US" dirty="0" err="1"/>
              <a:t>AlternateId</a:t>
            </a:r>
            <a:r>
              <a:rPr lang="en-US" dirty="0"/>
              <a:t> is an Microsoft internal usage parameter for phone numbers related to Multi-line in Teams Phone. To ensure compatibility with the phone system, </a:t>
            </a:r>
            <a:r>
              <a:rPr lang="en-US" dirty="0" err="1"/>
              <a:t>AlternateId</a:t>
            </a:r>
            <a:r>
              <a:rPr lang="en-US" dirty="0"/>
              <a:t> should not be used by any customer for ACS. We have detected that some customer configurations are currently using non-phone MRI values for </a:t>
            </a:r>
            <a:r>
              <a:rPr lang="en-US" dirty="0" err="1"/>
              <a:t>AlternateId</a:t>
            </a:r>
            <a:r>
              <a:rPr lang="en-US" dirty="0"/>
              <a:t> in internal provisioning workflows. This configuration is not supported and can result in call failures or unintended behavior as Multi-line capabilities are enabled within your tenant.</a:t>
            </a:r>
          </a:p>
          <a:p>
            <a:r>
              <a:rPr lang="en-US" dirty="0"/>
              <a:t>If your organization is using </a:t>
            </a:r>
            <a:r>
              <a:rPr lang="en-US" dirty="0" err="1"/>
              <a:t>AlternateId</a:t>
            </a:r>
            <a:r>
              <a:rPr lang="en-US" dirty="0"/>
              <a:t>: </a:t>
            </a:r>
          </a:p>
          <a:p>
            <a:pPr marL="171450" indent="-171450">
              <a:buFont typeface="Arial" panose="020B0604020202020204" pitchFamily="34" charset="0"/>
              <a:buChar char="•"/>
            </a:pPr>
            <a:r>
              <a:rPr lang="en-US" dirty="0"/>
              <a:t>Ensure that usage of </a:t>
            </a:r>
            <a:r>
              <a:rPr lang="en-US" dirty="0" err="1"/>
              <a:t>AlternateId</a:t>
            </a:r>
            <a:r>
              <a:rPr lang="en-US" dirty="0"/>
              <a:t> is ceased immediately </a:t>
            </a:r>
          </a:p>
          <a:p>
            <a:pPr marL="171450" indent="-171450">
              <a:buFont typeface="Arial" panose="020B0604020202020204" pitchFamily="34" charset="0"/>
              <a:buChar char="•"/>
            </a:pPr>
            <a:r>
              <a:rPr lang="en-US" dirty="0"/>
              <a:t>Continued use of unsupported </a:t>
            </a:r>
            <a:r>
              <a:rPr lang="en-US" dirty="0" err="1"/>
              <a:t>AlternateId</a:t>
            </a:r>
            <a:r>
              <a:rPr lang="en-US" dirty="0"/>
              <a:t> values may result in service disruption. </a:t>
            </a:r>
          </a:p>
          <a:p>
            <a:pPr algn="just"/>
            <a:endParaRPr lang="en-US" dirty="0"/>
          </a:p>
          <a:p>
            <a:pPr algn="just"/>
            <a:endParaRPr lang="en-US" dirty="0"/>
          </a:p>
        </p:txBody>
      </p:sp>
    </p:spTree>
    <p:extLst>
      <p:ext uri="{BB962C8B-B14F-4D97-AF65-F5344CB8AC3E}">
        <p14:creationId xmlns:p14="http://schemas.microsoft.com/office/powerpoint/2010/main" val="3277490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790</TotalTime>
  <Words>2805</Words>
  <Application>Microsoft Office PowerPoint</Application>
  <PresentationFormat>On-screen Show (16:9)</PresentationFormat>
  <Paragraphs>119</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Human Sans</vt:lpstr>
      <vt:lpstr>Human Sans Regular</vt:lpstr>
      <vt:lpstr>Continuum Theme</vt:lpstr>
      <vt:lpstr>Azure Times #205</vt:lpstr>
      <vt:lpstr>PowerPoint Presentation</vt:lpstr>
      <vt:lpstr>Networking Updates</vt:lpstr>
      <vt:lpstr>PowerPoint Presentation</vt:lpstr>
      <vt:lpstr>Management &amp; Governance Updates</vt:lpstr>
      <vt:lpstr>Management &amp; Governance Updates</vt:lpstr>
      <vt:lpstr>Management &amp; Governance Updates</vt:lpstr>
      <vt:lpstr>PowerPoint Presentation</vt:lpstr>
      <vt:lpstr>Compute Updates</vt:lpstr>
      <vt:lpstr>Compute Updates</vt:lpstr>
      <vt:lpstr>Compute Updates</vt:lpstr>
      <vt:lpstr>Compute Updates</vt:lpstr>
      <vt:lpstr>PowerPoint Presentation</vt:lpstr>
      <vt:lpstr>Storage &amp; Data Updates</vt:lpstr>
      <vt:lpstr>Storage &amp; Data Updates</vt:lpstr>
      <vt:lpstr>Storage &amp; Data Updates</vt:lpstr>
      <vt:lpstr>PowerPoint Presentation</vt:lpstr>
      <vt:lpstr>Databases Updates</vt:lpstr>
      <vt:lpstr>Databases Updates</vt:lpstr>
      <vt:lpstr>PowerPoint Presentation</vt:lpstr>
      <vt:lpstr>ML &amp; AI &amp; IOT Updates</vt:lpstr>
      <vt:lpstr>ML &amp; AI &amp; IOT Updates</vt:lpstr>
      <vt:lpstr>PowerPoint Presentation</vt:lpstr>
      <vt:lpstr>Miscellaneous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150</cp:revision>
  <dcterms:created xsi:type="dcterms:W3CDTF">2018-01-26T19:23:30Z</dcterms:created>
  <dcterms:modified xsi:type="dcterms:W3CDTF">2026-05-10T12:27:58Z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