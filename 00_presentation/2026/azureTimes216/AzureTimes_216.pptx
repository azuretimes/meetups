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2" r:id="rId4"/>
  </p:sldMasterIdLst>
  <p:notesMasterIdLst>
    <p:notesMasterId r:id="rId21"/>
  </p:notesMasterIdLst>
  <p:handoutMasterIdLst>
    <p:handoutMasterId r:id="rId22"/>
  </p:handoutMasterIdLst>
  <p:sldIdLst>
    <p:sldId id="2142532340" r:id="rId5"/>
    <p:sldId id="2146847045" r:id="rId6"/>
    <p:sldId id="10657" r:id="rId7"/>
    <p:sldId id="2146847126" r:id="rId8"/>
    <p:sldId id="2146847046" r:id="rId9"/>
    <p:sldId id="2146847130" r:id="rId10"/>
    <p:sldId id="2146847050" r:id="rId11"/>
    <p:sldId id="2146847135" r:id="rId12"/>
    <p:sldId id="2146847058" r:id="rId13"/>
    <p:sldId id="2146847111" r:id="rId14"/>
    <p:sldId id="2146847146" r:id="rId15"/>
    <p:sldId id="2146847119" r:id="rId16"/>
    <p:sldId id="2146847150" r:id="rId17"/>
    <p:sldId id="2146847085" r:id="rId18"/>
    <p:sldId id="2146847084" r:id="rId19"/>
    <p:sldId id="2146847064" r:id="rId20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752CF65-4D58-4370-B229-5F4CB000B44D}">
          <p14:sldIdLst>
            <p14:sldId id="2142532340"/>
          </p14:sldIdLst>
        </p14:section>
        <p14:section name="Networking" id="{8B3AEA99-85F7-477B-B976-48DC47AA1A88}">
          <p14:sldIdLst>
            <p14:sldId id="2146847045"/>
            <p14:sldId id="10657"/>
            <p14:sldId id="2146847126"/>
          </p14:sldIdLst>
        </p14:section>
        <p14:section name="Security &amp; Identity" id="{1AA42572-B3BD-44F7-813B-C2C647DDBB3C}">
          <p14:sldIdLst>
            <p14:sldId id="2146847046"/>
            <p14:sldId id="2146847130"/>
          </p14:sldIdLst>
        </p14:section>
        <p14:section name="Management &amp; Governance" id="{34181601-6D48-4406-A525-C7B5A12C6C5B}">
          <p14:sldIdLst/>
        </p14:section>
        <p14:section name="Compute" id="{05AA80BB-8802-49AB-8336-A884227CE2F7}">
          <p14:sldIdLst>
            <p14:sldId id="2146847050"/>
            <p14:sldId id="2146847135"/>
          </p14:sldIdLst>
        </p14:section>
        <p14:section name="Storage &amp; Data" id="{1F159046-CE0A-45BC-9D5B-6E6C95980F78}">
          <p14:sldIdLst/>
        </p14:section>
        <p14:section name="Databases" id="{AEAFAE72-AD56-48F3-926B-38BAE269038F}">
          <p14:sldIdLst/>
        </p14:section>
        <p14:section name="Integration" id="{ACBD46A3-6F1C-451B-A154-0A056E0DEFF6}">
          <p14:sldIdLst/>
        </p14:section>
        <p14:section name="ML &amp; AI &amp; IOT" id="{F4E1EAF1-55E9-4CA4-8ADC-28B69C1D66D2}">
          <p14:sldIdLst>
            <p14:sldId id="2146847058"/>
            <p14:sldId id="2146847111"/>
            <p14:sldId id="2146847146"/>
          </p14:sldIdLst>
        </p14:section>
        <p14:section name="DevOps &amp; IaC &amp; Automation" id="{F6B4D80D-E14D-4C7A-8D68-4A7208E569BC}">
          <p14:sldIdLst>
            <p14:sldId id="2146847119"/>
            <p14:sldId id="2146847150"/>
          </p14:sldIdLst>
        </p14:section>
        <p14:section name="Miscellaneous" id="{A1456D7A-93BE-4023-90AA-7269D2F177BA}">
          <p14:sldIdLst/>
        </p14:section>
        <p14:section name="End" id="{82899442-2AC4-4699-95EB-48D45B913575}">
          <p14:sldIdLst>
            <p14:sldId id="2146847085"/>
            <p14:sldId id="2146847084"/>
            <p14:sldId id="214684706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736" userDrawn="1">
          <p15:clr>
            <a:srgbClr val="A4A3A4"/>
          </p15:clr>
        </p15:guide>
        <p15:guide id="2" pos="147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Emily Catuzzi" initials="EC" lastIdx="19" clrIdx="9">
    <p:extLst>
      <p:ext uri="{19B8F6BF-5375-455C-9EA6-DF929625EA0E}">
        <p15:presenceInfo xmlns:p15="http://schemas.microsoft.com/office/powerpoint/2012/main" userId="S::Emily_Catuzzi@epam.com::b46d6ad4-ac70-4125-82a7-0ece5134c360" providerId="AD"/>
      </p:ext>
    </p:extLst>
  </p:cmAuthor>
  <p:cmAuthor id="1" name="Laura Brady" initials="LB" lastIdx="52" clrIdx="3">
    <p:extLst>
      <p:ext uri="{19B8F6BF-5375-455C-9EA6-DF929625EA0E}">
        <p15:presenceInfo xmlns:p15="http://schemas.microsoft.com/office/powerpoint/2012/main" userId="S::Laura_Brady@epam.com::b18c91b0-83fb-4c27-875b-18626d50463b" providerId="AD"/>
      </p:ext>
    </p:extLst>
  </p:cmAuthor>
  <p:cmAuthor id="8" name="Gretchen Rice" initials="GR" lastIdx="4" clrIdx="10">
    <p:extLst>
      <p:ext uri="{19B8F6BF-5375-455C-9EA6-DF929625EA0E}">
        <p15:presenceInfo xmlns:p15="http://schemas.microsoft.com/office/powerpoint/2012/main" userId="S::gretchen_rice@epam.com::e279efbb-a837-440d-b0bd-684dd084c605" providerId="AD"/>
      </p:ext>
    </p:extLst>
  </p:cmAuthor>
  <p:cmAuthor id="2" name="Amy Legere" initials="AL" lastIdx="5" clrIdx="5">
    <p:extLst>
      <p:ext uri="{19B8F6BF-5375-455C-9EA6-DF929625EA0E}">
        <p15:presenceInfo xmlns:p15="http://schemas.microsoft.com/office/powerpoint/2012/main" userId="S::Amy_Legere@epam.com::36c3e91a-2059-4c30-8d42-5285dd7a2555" providerId="AD"/>
      </p:ext>
    </p:extLst>
  </p:cmAuthor>
  <p:cmAuthor id="9" name="Jennifer Markowitz" initials="JM" lastIdx="1" clrIdx="11">
    <p:extLst>
      <p:ext uri="{19B8F6BF-5375-455C-9EA6-DF929625EA0E}">
        <p15:presenceInfo xmlns:p15="http://schemas.microsoft.com/office/powerpoint/2012/main" userId="S::jennifer_markowitz@epam.com::f9148081-3671-49e1-8328-0a911bc72bfd" providerId="AD"/>
      </p:ext>
    </p:extLst>
  </p:cmAuthor>
  <p:cmAuthor id="3" name="John Hatz" initials="JH" lastIdx="1" clrIdx="4">
    <p:extLst>
      <p:ext uri="{19B8F6BF-5375-455C-9EA6-DF929625EA0E}">
        <p15:presenceInfo xmlns:p15="http://schemas.microsoft.com/office/powerpoint/2012/main" userId="S-1-5-21-2676001572-3131771074-2776907194-23347" providerId="AD"/>
      </p:ext>
    </p:extLst>
  </p:cmAuthor>
  <p:cmAuthor id="10" name="Nastassia Smolskaya" initials="NS" lastIdx="11" clrIdx="12">
    <p:extLst>
      <p:ext uri="{19B8F6BF-5375-455C-9EA6-DF929625EA0E}">
        <p15:presenceInfo xmlns:p15="http://schemas.microsoft.com/office/powerpoint/2012/main" userId="S::Nastassia_Smolskaya@epam.com::8ff1f7bc-3066-491e-a683-ea021ab0c825" providerId="AD"/>
      </p:ext>
    </p:extLst>
  </p:cmAuthor>
  <p:cmAuthor id="4" name="John Hatz" initials="JH [2]" lastIdx="3" clrIdx="6">
    <p:extLst>
      <p:ext uri="{19B8F6BF-5375-455C-9EA6-DF929625EA0E}">
        <p15:presenceInfo xmlns:p15="http://schemas.microsoft.com/office/powerpoint/2012/main" userId="S::john_hatz@epam.com::7f3a8b4b-4b1e-493d-b3f9-196adf0a1de0" providerId="AD"/>
      </p:ext>
    </p:extLst>
  </p:cmAuthor>
  <p:cmAuthor id="5" name="Mariette Kouwenberg-Mooney" initials="MK" lastIdx="19" clrIdx="7">
    <p:extLst>
      <p:ext uri="{19B8F6BF-5375-455C-9EA6-DF929625EA0E}">
        <p15:presenceInfo xmlns:p15="http://schemas.microsoft.com/office/powerpoint/2012/main" userId="S::Mariette_Kouwenberg-Mooney@epam.com::e2a13c51-a5c6-436b-ad7f-addd34212f51" providerId="AD"/>
      </p:ext>
    </p:extLst>
  </p:cmAuthor>
  <p:cmAuthor id="6" name="Julie Hansberry" initials="JH" lastIdx="13" clrIdx="8">
    <p:extLst>
      <p:ext uri="{19B8F6BF-5375-455C-9EA6-DF929625EA0E}">
        <p15:presenceInfo xmlns:p15="http://schemas.microsoft.com/office/powerpoint/2012/main" userId="S::julie_hansberry@epam.com::6cd6a8f9-b761-4260-92e9-1b9e9757868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6CBD"/>
    <a:srgbClr val="002050"/>
    <a:srgbClr val="F25D43"/>
    <a:srgbClr val="CADC49"/>
    <a:srgbClr val="E53B2E"/>
    <a:srgbClr val="FFC000"/>
    <a:srgbClr val="D35D47"/>
    <a:srgbClr val="008ACF"/>
    <a:srgbClr val="76CDD8"/>
    <a:srgbClr val="75A0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B79132-3F09-4EB7-9156-AFD2ABE5B897}" v="37" dt="2021-04-12T18:27:46.9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94"/>
  </p:normalViewPr>
  <p:slideViewPr>
    <p:cSldViewPr snapToGrid="0">
      <p:cViewPr varScale="1">
        <p:scale>
          <a:sx n="138" d="100"/>
          <a:sy n="138" d="100"/>
        </p:scale>
        <p:origin x="268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7662" y="90"/>
      </p:cViewPr>
      <p:guideLst>
        <p:guide orient="horz" pos="2736"/>
        <p:guide pos="147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C14FC-A894-4869-A797-1EC82735D106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3E97-F2BE-44DB-A57D-0C85E2CBF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78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99C05-63F9-4248-8E20-3ACD9DF9DE7F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4FABB-6DBE-47C4-B626-20167906F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6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4FABB-6DBE-47C4-B626-20167906F4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4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2900" y="1200151"/>
            <a:ext cx="8458200" cy="2228850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85000"/>
              </a:lnSpc>
              <a:defRPr sz="9000" b="0" i="0">
                <a:solidFill>
                  <a:schemeClr val="accent3"/>
                </a:solidFill>
                <a:latin typeface="+mj-lt"/>
                <a:ea typeface="Human Sans Thin" pitchFamily="2" charset="77"/>
                <a:cs typeface="Human Sans Thin" pitchFamily="2" charset="77"/>
              </a:defRPr>
            </a:lvl1pPr>
          </a:lstStyle>
          <a:p>
            <a:r>
              <a:rPr lang="en-US"/>
              <a:t>Proposal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3600450"/>
            <a:ext cx="8455914" cy="171450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baseline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/>
              <a:t>Subtitle description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42900" y="3864095"/>
            <a:ext cx="1988344" cy="1714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900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0377794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2901" y="3429000"/>
            <a:ext cx="4148137" cy="1200150"/>
          </a:xfr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450"/>
              </a:spcBef>
              <a:spcAft>
                <a:spcPts val="0"/>
              </a:spcAft>
              <a:buNone/>
              <a:defRPr sz="900" b="0" i="0" baseline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type section description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42901" y="2743200"/>
            <a:ext cx="6299597" cy="51435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0" i="0" baseline="0">
                <a:solidFill>
                  <a:schemeClr val="accent3"/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252845" y="1285875"/>
            <a:ext cx="4148138" cy="1714500"/>
          </a:xfrm>
        </p:spPr>
        <p:txBody>
          <a:bodyPr wrap="square"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0" b="0" i="0">
                <a:solidFill>
                  <a:schemeClr val="accent3"/>
                </a:solidFill>
                <a:latin typeface="+mj-lt"/>
                <a:ea typeface="Human Sans Thin" pitchFamily="2" charset="77"/>
                <a:cs typeface="Human Sans Thin" pitchFamily="2" charset="77"/>
              </a:defRPr>
            </a:lvl1pPr>
          </a:lstStyle>
          <a:p>
            <a:pPr lvl="0"/>
            <a:r>
              <a:rPr lang="en-US"/>
              <a:t>0</a:t>
            </a:r>
          </a:p>
        </p:txBody>
      </p:sp>
      <p:sp>
        <p:nvSpPr>
          <p:cNvPr id="7" name="Slide Number Placeholder 13"/>
          <p:cNvSpPr txBox="1">
            <a:spLocks/>
          </p:cNvSpPr>
          <p:nvPr userDrawn="1"/>
        </p:nvSpPr>
        <p:spPr>
          <a:xfrm>
            <a:off x="8522494" y="4800599"/>
            <a:ext cx="276320" cy="1714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5F3C1C-9817-214B-A493-8D89031D0F96}" type="slidenum">
              <a:rPr lang="en-US" sz="600" b="0" i="0" smtClean="0">
                <a:solidFill>
                  <a:schemeClr val="bg1"/>
                </a:solidFill>
                <a:latin typeface="+mn-lt"/>
              </a:rPr>
              <a:pPr/>
              <a:t>‹#›</a:t>
            </a:fld>
            <a:endParaRPr lang="en-US" sz="600" b="0" i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13291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358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8455914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</p:spPr>
        <p:txBody>
          <a:bodyPr/>
          <a:lstStyle>
            <a:lvl1pPr>
              <a:defRPr sz="675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30546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</p:spPr>
        <p:txBody>
          <a:bodyPr/>
          <a:lstStyle>
            <a:lvl1pPr>
              <a:defRPr sz="675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21397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342900" y="855080"/>
            <a:ext cx="7022306" cy="3774069"/>
          </a:xfrm>
        </p:spPr>
        <p:txBody>
          <a:bodyPr lIns="0" tIns="0" rIns="0" bIns="0"/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tabLst>
                <a:tab pos="2438400" algn="l"/>
              </a:tabLst>
              <a:defRPr sz="1200" b="0" i="0" baseline="0">
                <a:latin typeface="+mn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8455914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</p:spPr>
        <p:txBody>
          <a:bodyPr/>
          <a:lstStyle>
            <a:lvl1pPr>
              <a:defRPr sz="675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027869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433776" y="855080"/>
            <a:ext cx="4365038" cy="3774069"/>
          </a:xfrm>
        </p:spPr>
        <p:txBody>
          <a:bodyPr lIns="0" tIns="0" rIns="0" bIns="0"/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tabLst>
                <a:tab pos="2438400" algn="l"/>
              </a:tabLst>
              <a:defRPr sz="1200" b="0" i="0" baseline="0"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8455914" cy="342900"/>
          </a:xfrm>
        </p:spPr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</p:spPr>
        <p:txBody>
          <a:bodyPr/>
          <a:lstStyle>
            <a:lvl1pPr>
              <a:defRPr sz="675" b="1" cap="all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47BF3F39-D94F-BC48-8482-2214B9D803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2900" y="855080"/>
            <a:ext cx="3955312" cy="3774069"/>
          </a:xfrm>
        </p:spPr>
        <p:txBody>
          <a:bodyPr lIns="0" tIns="0" rIns="0" bIns="0"/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tabLst>
                <a:tab pos="2438400" algn="l"/>
              </a:tabLst>
              <a:defRPr sz="1000" b="0" i="0" baseline="0"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12176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342900" y="855080"/>
            <a:ext cx="8455914" cy="3774069"/>
          </a:xfrm>
        </p:spPr>
        <p:txBody>
          <a:bodyPr lIns="0" tIns="0" rIns="0" bIns="0"/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tabLst>
                <a:tab pos="2438400" algn="l"/>
              </a:tabLst>
              <a:defRPr sz="1000" b="0" i="0" baseline="0"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8455914" cy="34290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</p:spPr>
        <p:txBody>
          <a:bodyPr/>
          <a:lstStyle>
            <a:lvl1pPr>
              <a:defRPr sz="675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582225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+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342900" y="855080"/>
            <a:ext cx="8455914" cy="3774069"/>
          </a:xfrm>
        </p:spPr>
        <p:txBody>
          <a:bodyPr lIns="0" tIns="0" rIns="0" bIns="0"/>
          <a:lstStyle>
            <a:lvl1pPr marL="0" indent="0">
              <a:lnSpc>
                <a:spcPct val="110000"/>
              </a:lnSpc>
              <a:spcAft>
                <a:spcPts val="0"/>
              </a:spcAft>
              <a:buNone/>
              <a:tabLst>
                <a:tab pos="2438400" algn="l"/>
              </a:tabLst>
              <a:defRPr sz="6600" b="0" i="0" baseline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42900" y="342900"/>
            <a:ext cx="8455914" cy="3429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173620"/>
            <a:ext cx="2708910" cy="169280"/>
          </a:xfrm>
        </p:spPr>
        <p:txBody>
          <a:bodyPr/>
          <a:lstStyle>
            <a:lvl1pPr>
              <a:defRPr sz="675" b="1" cap="all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841CA2A1-3D39-2344-A5FA-9709C1FE6425}"/>
              </a:ext>
            </a:extLst>
          </p:cNvPr>
          <p:cNvSpPr txBox="1">
            <a:spLocks/>
          </p:cNvSpPr>
          <p:nvPr userDrawn="1"/>
        </p:nvSpPr>
        <p:spPr>
          <a:xfrm>
            <a:off x="8522494" y="4800599"/>
            <a:ext cx="276320" cy="1714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5F3C1C-9817-214B-A493-8D89031D0F96}" type="slidenum">
              <a:rPr lang="en-US" sz="600" b="0" i="0" smtClean="0">
                <a:solidFill>
                  <a:schemeClr val="bg1"/>
                </a:solidFill>
                <a:latin typeface="Human Sans Regular" pitchFamily="2" charset="77"/>
              </a:rPr>
              <a:pPr/>
              <a:t>‹#›</a:t>
            </a:fld>
            <a:endParaRPr lang="en-US" sz="600" b="0" i="0">
              <a:solidFill>
                <a:schemeClr val="bg1"/>
              </a:solidFill>
              <a:latin typeface="Human Sans Regular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816918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1" y="342900"/>
            <a:ext cx="7020408" cy="3429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859971"/>
            <a:ext cx="7022306" cy="37691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13"/>
          <p:cNvSpPr txBox="1">
            <a:spLocks/>
          </p:cNvSpPr>
          <p:nvPr userDrawn="1"/>
        </p:nvSpPr>
        <p:spPr>
          <a:xfrm>
            <a:off x="8522494" y="4800599"/>
            <a:ext cx="276320" cy="17145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tx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15F3C1C-9817-214B-A493-8D89031D0F96}" type="slidenum">
              <a:rPr lang="en-US" sz="600" b="0" i="0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‹#›</a:t>
            </a:fld>
            <a:endParaRPr lang="en-US" sz="600" b="0" i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938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16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8" r:id="rId8"/>
    <p:sldLayoutId id="2147483829" r:id="rId9"/>
  </p:sldLayoutIdLst>
  <p:hf hd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65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10000"/>
        </a:lnSpc>
        <a:spcBef>
          <a:spcPts val="450"/>
        </a:spcBef>
        <a:spcAft>
          <a:spcPts val="0"/>
        </a:spcAft>
        <a:buFont typeface="Arial" panose="020B0604020202020204" pitchFamily="34" charset="0"/>
        <a:buNone/>
        <a:defRPr sz="75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1pPr>
      <a:lvl2pPr marL="514350" indent="-171450" algn="l" defTabSz="685800" rtl="0" eaLnBrk="1" latinLnBrk="0" hangingPunct="1">
        <a:lnSpc>
          <a:spcPct val="110000"/>
        </a:lnSpc>
        <a:spcBef>
          <a:spcPts val="450"/>
        </a:spcBef>
        <a:spcAft>
          <a:spcPts val="0"/>
        </a:spcAft>
        <a:buFont typeface="Arial" panose="020B0604020202020204" pitchFamily="34" charset="0"/>
        <a:buChar char="•"/>
        <a:defRPr sz="75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450"/>
        </a:spcBef>
        <a:spcAft>
          <a:spcPts val="0"/>
        </a:spcAft>
        <a:buFont typeface="Arial" panose="020B0604020202020204" pitchFamily="34" charset="0"/>
        <a:buChar char="•"/>
        <a:defRPr sz="75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450"/>
        </a:spcBef>
        <a:spcAft>
          <a:spcPts val="0"/>
        </a:spcAft>
        <a:buFont typeface="Arial" panose="020B0604020202020204" pitchFamily="34" charset="0"/>
        <a:buChar char="•"/>
        <a:defRPr sz="75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450"/>
        </a:spcBef>
        <a:spcAft>
          <a:spcPts val="0"/>
        </a:spcAft>
        <a:buFont typeface="Arial" panose="020B0604020202020204" pitchFamily="34" charset="0"/>
        <a:buChar char="•"/>
        <a:defRPr sz="750" b="0" i="0" kern="1200">
          <a:solidFill>
            <a:schemeClr val="tx1"/>
          </a:solidFill>
          <a:latin typeface="+mn-lt"/>
          <a:ea typeface="Calibri" panose="020F0502020204030204" pitchFamily="34" charset="0"/>
          <a:cs typeface="Calibri" panose="020F05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16" orient="horz" pos="144">
          <p15:clr>
            <a:srgbClr val="F26B43"/>
          </p15:clr>
        </p15:guide>
        <p15:guide id="17" orient="horz" pos="288">
          <p15:clr>
            <a:srgbClr val="F26B43"/>
          </p15:clr>
        </p15:guide>
        <p15:guide id="18" orient="horz" pos="432">
          <p15:clr>
            <a:srgbClr val="F26B43"/>
          </p15:clr>
        </p15:guide>
        <p15:guide id="19" orient="horz" pos="576">
          <p15:clr>
            <a:srgbClr val="F26B43"/>
          </p15:clr>
        </p15:guide>
        <p15:guide id="20" orient="horz" pos="720">
          <p15:clr>
            <a:srgbClr val="F26B43"/>
          </p15:clr>
        </p15:guide>
        <p15:guide id="21" orient="horz" pos="864">
          <p15:clr>
            <a:srgbClr val="F26B43"/>
          </p15:clr>
        </p15:guide>
        <p15:guide id="22" orient="horz" pos="1008">
          <p15:clr>
            <a:srgbClr val="F26B43"/>
          </p15:clr>
        </p15:guide>
        <p15:guide id="23" orient="horz" pos="1152">
          <p15:clr>
            <a:srgbClr val="F26B43"/>
          </p15:clr>
        </p15:guide>
        <p15:guide id="24" orient="horz" pos="1296">
          <p15:clr>
            <a:srgbClr val="F26B43"/>
          </p15:clr>
        </p15:guide>
        <p15:guide id="25" orient="horz" pos="1440">
          <p15:clr>
            <a:srgbClr val="F26B43"/>
          </p15:clr>
        </p15:guide>
        <p15:guide id="26" orient="horz" pos="1584">
          <p15:clr>
            <a:srgbClr val="F26B43"/>
          </p15:clr>
        </p15:guide>
        <p15:guide id="27" orient="horz" pos="1728">
          <p15:clr>
            <a:srgbClr val="F26B43"/>
          </p15:clr>
        </p15:guide>
        <p15:guide id="28" orient="horz" pos="1872">
          <p15:clr>
            <a:srgbClr val="F26B43"/>
          </p15:clr>
        </p15:guide>
        <p15:guide id="29" orient="horz" pos="2016">
          <p15:clr>
            <a:srgbClr val="F26B43"/>
          </p15:clr>
        </p15:guide>
        <p15:guide id="30" orient="horz" pos="2304">
          <p15:clr>
            <a:srgbClr val="F26B43"/>
          </p15:clr>
        </p15:guide>
        <p15:guide id="31" orient="horz" pos="2448">
          <p15:clr>
            <a:srgbClr val="F26B43"/>
          </p15:clr>
        </p15:guide>
        <p15:guide id="32" orient="horz" pos="2592">
          <p15:clr>
            <a:srgbClr val="F26B43"/>
          </p15:clr>
        </p15:guide>
        <p15:guide id="33" orient="horz" pos="2736">
          <p15:clr>
            <a:srgbClr val="F26B43"/>
          </p15:clr>
        </p15:guide>
        <p15:guide id="34" orient="horz" pos="2880">
          <p15:clr>
            <a:srgbClr val="F26B43"/>
          </p15:clr>
        </p15:guide>
        <p15:guide id="35" orient="horz" pos="3024">
          <p15:clr>
            <a:srgbClr val="F26B43"/>
          </p15:clr>
        </p15:guide>
        <p15:guide id="36" orient="horz" pos="3168">
          <p15:clr>
            <a:srgbClr val="F26B43"/>
          </p15:clr>
        </p15:guide>
        <p15:guide id="37" orient="horz" pos="3312">
          <p15:clr>
            <a:srgbClr val="F26B43"/>
          </p15:clr>
        </p15:guide>
        <p15:guide id="38" orient="horz" pos="3456">
          <p15:clr>
            <a:srgbClr val="F26B43"/>
          </p15:clr>
        </p15:guide>
        <p15:guide id="39" orient="horz" pos="3600">
          <p15:clr>
            <a:srgbClr val="F26B43"/>
          </p15:clr>
        </p15:guide>
        <p15:guide id="40" orient="horz" pos="3744">
          <p15:clr>
            <a:srgbClr val="F26B43"/>
          </p15:clr>
        </p15:guide>
        <p15:guide id="41" orient="horz" pos="3888">
          <p15:clr>
            <a:srgbClr val="F26B43"/>
          </p15:clr>
        </p15:guide>
        <p15:guide id="43" orient="horz" pos="4176">
          <p15:clr>
            <a:srgbClr val="F26B43"/>
          </p15:clr>
        </p15:guide>
        <p15:guide id="56" orient="horz">
          <p15:clr>
            <a:srgbClr val="F26B43"/>
          </p15:clr>
        </p15:guide>
        <p15:guide id="57" orient="horz" pos="4320">
          <p15:clr>
            <a:srgbClr val="F26B43"/>
          </p15:clr>
        </p15:guide>
        <p15:guide id="58" orient="horz" pos="4032">
          <p15:clr>
            <a:srgbClr val="F26B43"/>
          </p15:clr>
        </p15:guide>
        <p15:guide id="59" pos="288">
          <p15:clr>
            <a:srgbClr val="F26B43"/>
          </p15:clr>
        </p15:guide>
        <p15:guide id="61" pos="7392">
          <p15:clr>
            <a:srgbClr val="F26B43"/>
          </p15:clr>
        </p15:guide>
        <p15:guide id="62" pos="894">
          <p15:clr>
            <a:srgbClr val="F26B43"/>
          </p15:clr>
        </p15:guide>
        <p15:guide id="63" pos="750">
          <p15:clr>
            <a:srgbClr val="F26B43"/>
          </p15:clr>
        </p15:guide>
        <p15:guide id="64" pos="1354">
          <p15:clr>
            <a:srgbClr val="F26B43"/>
          </p15:clr>
        </p15:guide>
        <p15:guide id="65" pos="1498">
          <p15:clr>
            <a:srgbClr val="F26B43"/>
          </p15:clr>
        </p15:guide>
        <p15:guide id="66" pos="1958">
          <p15:clr>
            <a:srgbClr val="F26B43"/>
          </p15:clr>
        </p15:guide>
        <p15:guide id="67" pos="2104">
          <p15:clr>
            <a:srgbClr val="F26B43"/>
          </p15:clr>
        </p15:guide>
        <p15:guide id="68" pos="2710">
          <p15:clr>
            <a:srgbClr val="F26B43"/>
          </p15:clr>
        </p15:guide>
        <p15:guide id="69" pos="2565">
          <p15:clr>
            <a:srgbClr val="F26B43"/>
          </p15:clr>
        </p15:guide>
        <p15:guide id="70" pos="3310">
          <p15:clr>
            <a:srgbClr val="F26B43"/>
          </p15:clr>
        </p15:guide>
        <p15:guide id="71" pos="3168">
          <p15:clr>
            <a:srgbClr val="F26B43"/>
          </p15:clr>
        </p15:guide>
        <p15:guide id="72" pos="3772">
          <p15:clr>
            <a:srgbClr val="F26B43"/>
          </p15:clr>
        </p15:guide>
        <p15:guide id="73" pos="3919">
          <p15:clr>
            <a:srgbClr val="F26B43"/>
          </p15:clr>
        </p15:guide>
        <p15:guide id="74" pos="4376">
          <p15:clr>
            <a:srgbClr val="F26B43"/>
          </p15:clr>
        </p15:guide>
        <p15:guide id="75" pos="4523">
          <p15:clr>
            <a:srgbClr val="F26B43"/>
          </p15:clr>
        </p15:guide>
        <p15:guide id="76" pos="5128">
          <p15:clr>
            <a:srgbClr val="F26B43"/>
          </p15:clr>
        </p15:guide>
        <p15:guide id="77" pos="4981">
          <p15:clr>
            <a:srgbClr val="F26B43"/>
          </p15:clr>
        </p15:guide>
        <p15:guide id="78" pos="5579">
          <p15:clr>
            <a:srgbClr val="F26B43"/>
          </p15:clr>
        </p15:guide>
        <p15:guide id="79" pos="5726">
          <p15:clr>
            <a:srgbClr val="F26B43"/>
          </p15:clr>
        </p15:guide>
        <p15:guide id="80" pos="6186">
          <p15:clr>
            <a:srgbClr val="F26B43"/>
          </p15:clr>
        </p15:guide>
        <p15:guide id="81" pos="6330">
          <p15:clr>
            <a:srgbClr val="F26B43"/>
          </p15:clr>
        </p15:guide>
        <p15:guide id="82" pos="6793">
          <p15:clr>
            <a:srgbClr val="F26B43"/>
          </p15:clr>
        </p15:guide>
        <p15:guide id="83" pos="69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zure.microsoft.com/ru-ru/updates?id=568063" TargetMode="External"/><Relationship Id="rId2" Type="http://schemas.openxmlformats.org/officeDocument/2006/relationships/hyperlink" Target="https://azure.microsoft.com/ru-ru/updates?id=567847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zure.microsoft.com/ru-ru/updates?id=567847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techcommunity.microsoft.com/blog/microsoft-entra-blog/microsoft-entra-id-enhances-security-of-branded-sign-ins/4537471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techcommunity.microsoft.com/blog/azurearcblog/azure-local-expands-san-capabilities-with-iscsi-support/4531999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zure.microsoft.com/ru-ru/updates?id=567594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community.microsoft.com/blog/azure-ai-foundry-blog/introducing-mai-image-2-5-pro-and-mai-voice-2-flash-in-microsoft-foundry/4539446" TargetMode="External"/><Relationship Id="rId2" Type="http://schemas.openxmlformats.org/officeDocument/2006/relationships/hyperlink" Target="https://azure.microsoft.com/en-us/blog/gpt-5-6-now-available-in-microsoft-foundry/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evblogs.microsoft.com/devops/july-patches-for-azure-devops-server-3/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zureTimes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DB9B821-34BB-CD1F-240C-32A91FACE9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1666" y="1200151"/>
            <a:ext cx="8458200" cy="2228850"/>
          </a:xfrm>
        </p:spPr>
        <p:txBody>
          <a:bodyPr/>
          <a:lstStyle/>
          <a:p>
            <a:r>
              <a:rPr lang="en-US" sz="5400" dirty="0">
                <a:solidFill>
                  <a:schemeClr val="bg1"/>
                </a:solidFill>
              </a:rPr>
              <a:t>Azure Times #216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pc="300" dirty="0"/>
              <a:t>July 27,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924944-231A-274C-AB8B-3C574947B123}"/>
              </a:ext>
            </a:extLst>
          </p:cNvPr>
          <p:cNvSpPr txBox="1"/>
          <p:nvPr/>
        </p:nvSpPr>
        <p:spPr>
          <a:xfrm>
            <a:off x="539318" y="488715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110000"/>
              </a:lnSpc>
              <a:spcBef>
                <a:spcPts val="450"/>
              </a:spcBef>
            </a:pPr>
            <a:endParaRPr lang="en-US" sz="900" err="1">
              <a:ea typeface="Human Sans" charset="0"/>
              <a:cs typeface="Huma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55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56E32C-301E-742F-F34C-CB987E7FEA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39168-7046-60A5-1EEA-8D2B5EAAE2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bg1"/>
                </a:solidFill>
              </a:rPr>
              <a:t>Networking</a:t>
            </a:r>
          </a:p>
        </p:txBody>
      </p:sp>
    </p:spTree>
    <p:extLst>
      <p:ext uri="{BB962C8B-B14F-4D97-AF65-F5344CB8AC3E}">
        <p14:creationId xmlns:p14="http://schemas.microsoft.com/office/powerpoint/2010/main" val="4021054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5D0A865-EAC9-D4DF-765C-2BBCA9EC1F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just"/>
            <a:r>
              <a:rPr lang="en-US" sz="1000" dirty="0">
                <a:hlinkClick r:id="rId2"/>
              </a:rPr>
              <a:t>Public Preview: Standard service endpoint</a:t>
            </a:r>
            <a:endParaRPr lang="ru-RU" sz="1000" dirty="0"/>
          </a:p>
          <a:p>
            <a:pPr algn="just"/>
            <a:r>
              <a:rPr lang="en-US" sz="1000" dirty="0"/>
              <a:t>Azure Standard service endpoints provide a scalable way for IaaS workloads in virtual networks to reach Azure PaaS services securely. The feature is currently in public preview and is not recommended for production workloads.</a:t>
            </a:r>
          </a:p>
          <a:p>
            <a:pPr algn="just"/>
            <a:r>
              <a:rPr lang="en-US" sz="1000" dirty="0"/>
              <a:t>How it works: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A public IP address is assigned to one or more subnets as a network identifier.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The IP identifies traffic originating from those subnets; it is not used as the traffic’s public routing path.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Target PaaS resources are placed inside a Network Security Perimeter.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Perimeter inbound rules allow traffic associated with the network identifier.</a:t>
            </a:r>
          </a:p>
          <a:p>
            <a:pPr algn="just"/>
            <a:r>
              <a:rPr lang="en-US" sz="1000" dirty="0"/>
              <a:t>One public IP can represent many subnets and </a:t>
            </a:r>
            <a:r>
              <a:rPr lang="en-US" sz="1000" dirty="0" err="1"/>
              <a:t>VNets</a:t>
            </a:r>
            <a:r>
              <a:rPr lang="en-US" sz="1000" dirty="0"/>
              <a:t>, including resources across subscriptions in the same tenant and region. This avoids maintaining large service-side ACL lists and reduces throttling issues when governing thousands of connections.</a:t>
            </a:r>
          </a:p>
          <a:p>
            <a:pPr algn="just"/>
            <a:r>
              <a:rPr lang="en-US" sz="1000" dirty="0"/>
              <a:t>Supported services: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Azure Storage — generally available across all Azure regions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Azure Key Vault — generally available across all regions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Azure SQL Database — public preview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Azure Cosmos DB — public preview</a:t>
            </a:r>
          </a:p>
          <a:p>
            <a:pPr algn="just"/>
            <a:endParaRPr lang="en-US" sz="10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A19052D-1C06-3BF6-CD73-31098A551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Networking Updates (Preview)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B83368C-23D2-63DD-1F2B-65AB8A48B2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DF1A36F-4250-259D-24AE-F82FE69A7F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Public Preview: Azure DDoS Protection custom policy</a:t>
            </a:r>
            <a:endParaRPr lang="en-US" dirty="0"/>
          </a:p>
          <a:p>
            <a:r>
              <a:rPr lang="en-US" dirty="0"/>
              <a:t>Azure DDoS Protection Custom Policy is now available in public preview. It gives customers per-resource control over DDoS mitigation thresholds for public frontend IP configurations on Azure Standard Load Balancer.</a:t>
            </a:r>
          </a:p>
          <a:p>
            <a:r>
              <a:rPr lang="en-US" dirty="0"/>
              <a:t>Key capabilities: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Set fixed inbound detection thresholds for TCP, UDP, and TCP SYN traffic.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Configure thresholds from 50,000 to 2,000,000 packets per second.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Accommodate known traffic patterns such as product launches, seasonal peaks, gaming events, or sustained high-volume workloads.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Apply custom thresholds selectively: protocols without a custom value continue using Azure’s adaptive automatic tuning.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Manage policies through the Azure portal, Azure CLI, ARM templates, or REST API.</a:t>
            </a:r>
          </a:p>
          <a:p>
            <a:r>
              <a:rPr lang="en-US" dirty="0"/>
              <a:t>Current limitations: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Only inbound traffic is supported.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The protected resource must be a Standard Load Balancer frontend IP configuration.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Regional availability is limited during the preview.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580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DD891-4CE7-3684-E998-D623020E5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4226539-98A3-C40F-4648-61D3893ECB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98EDA87-FEEC-7025-3A81-E2B223F8F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Networking Updates (General Available)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D842EA0-D1D6-E5CA-35A9-265810B841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B72E1AC-FDA0-FB61-4BF0-E75C2B8A16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Generally Available: IPv6 support for Azure VPN Gateway</a:t>
            </a:r>
            <a:endParaRPr lang="ru-RU" dirty="0"/>
          </a:p>
          <a:p>
            <a:r>
              <a:rPr lang="en-US" dirty="0"/>
              <a:t>IPv6 support for Azure VPN Gateway is now generally available. Customers can carry IPv6 traffic inside VPN tunnels while running the gateway in dual-stack IPv4/IPv6 mode.</a:t>
            </a:r>
          </a:p>
          <a:p>
            <a:r>
              <a:rPr lang="en-US" dirty="0"/>
              <a:t>Key capabilities: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Supported on all production VPN Gateway SKUs that use Standard public IP addresses.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Available for both new and existing gateway deployments.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IPv4 and IPv6 workloads can use the same gateway configuration.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Site-to-Site VPN connections can carry IPv6 traffic between Azure and branch or on-premises networks through IPsec/IKE tunnels.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Point-to-Site VPN supports IPv6 client address pools and IPv6 routed traffic for remote users.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/>
              <a:t>The announcement concerns inner-tunnel traffic: the workloads and networks communicating through the VPN can use IPv6. It does not mean every component of the gateway’s external transport must operate as IPv6-only. Deployment remains dual-stack.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/>
              <a:t>Organizations adopting it should review address planning, route definitions, network-security rules, and on-premises VPN-device compatibility before enabling IPv6.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33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568778-FA5D-0368-E208-4FAB7C1EAF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39168-7046-60A5-1EEA-8D2B5EAAE2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2845" y="1285875"/>
            <a:ext cx="6271326" cy="1714500"/>
          </a:xfrm>
        </p:spPr>
        <p:txBody>
          <a:bodyPr/>
          <a:lstStyle/>
          <a:p>
            <a:r>
              <a:rPr lang="en-US" sz="4000" dirty="0">
                <a:solidFill>
                  <a:schemeClr val="bg1"/>
                </a:solidFill>
              </a:rPr>
              <a:t>Security &amp; Identity</a:t>
            </a:r>
          </a:p>
        </p:txBody>
      </p:sp>
    </p:spTree>
    <p:extLst>
      <p:ext uri="{BB962C8B-B14F-4D97-AF65-F5344CB8AC3E}">
        <p14:creationId xmlns:p14="http://schemas.microsoft.com/office/powerpoint/2010/main" val="3117920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4E758-0E9C-1A59-D8C1-58D462C98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4EFDCEC-74D7-CC9F-3A0E-1009C7BB63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08EB9BC-7C8E-C179-D7B3-FA8C3832E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Security &amp; Identity Updates (General Available)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B52A8BE-107A-17D0-9868-4A2D8C2F43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125CF61-DD31-42B7-98F6-ACEF3D4AB8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2900" y="716535"/>
            <a:ext cx="3955312" cy="3774069"/>
          </a:xfrm>
        </p:spPr>
        <p:txBody>
          <a:bodyPr/>
          <a:lstStyle/>
          <a:p>
            <a:r>
              <a:rPr lang="en-US" dirty="0">
                <a:hlinkClick r:id="rId2"/>
              </a:rPr>
              <a:t>Microsoft Entra ID enhances security of branded sign-ins</a:t>
            </a:r>
            <a:endParaRPr lang="en-US" dirty="0"/>
          </a:p>
          <a:p>
            <a:r>
              <a:rPr lang="en-US" dirty="0"/>
              <a:t>Microsoft Entra ID is retiring CSS properties that can reposition or obscure elements on branded sign-in pages. The goal is to prevent deceptive layouts, improve phishing resistance, and make authentication screens more consistent.</a:t>
            </a:r>
          </a:p>
          <a:p>
            <a:r>
              <a:rPr lang="en-US" dirty="0"/>
              <a:t>What is changing: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Beginning October 26, 2026, Entra ID will stop honoring CSS properties including position, margins, transform, opacity, overflow, filter, pointer-events, clip-path, mix-blend-mode, and translate.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Logos, images, and text will remain, but affected elements may return to their default position and appearance.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There is no replacement or migration path for these properties.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Microsoft plans to retire all custom CSS later, with advance notice.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Worldwide and GCC rollout should finish by late November 2026.</a:t>
            </a:r>
          </a:p>
          <a:p>
            <a:r>
              <a:rPr lang="en-US" dirty="0"/>
              <a:t>Who is affected: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Organizations already using these properties in Entra ID company branding or branding themes.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Tenants not using them as of July 21, 2026 cannot begin using them.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New Entra ID tenants created after January 5, 2026 already lack company-branding CSS support.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364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E070E0-1172-0461-DF36-41256FE66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41" cy="51435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39168-7046-60A5-1EEA-8D2B5EAAE2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bg1"/>
                </a:solidFill>
              </a:rPr>
              <a:t>Compute</a:t>
            </a:r>
          </a:p>
        </p:txBody>
      </p:sp>
    </p:spTree>
    <p:extLst>
      <p:ext uri="{BB962C8B-B14F-4D97-AF65-F5344CB8AC3E}">
        <p14:creationId xmlns:p14="http://schemas.microsoft.com/office/powerpoint/2010/main" val="274742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098EE-BBE3-B9BF-C218-E4DEA9A76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82964C-E8A1-73CC-B206-1A48825462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DE59A08-9A25-40C0-DC79-D2FB88CF7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Compute Updates (General Available)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D7D0670-36E5-9279-0AB3-70FC83D5A9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C89A86-0455-61DD-7A55-DACDA81B83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algn="just"/>
            <a:r>
              <a:rPr lang="en-US" dirty="0">
                <a:hlinkClick r:id="rId2"/>
              </a:rPr>
              <a:t>Azure Local expands SAN capabilities with iSCSI support</a:t>
            </a:r>
            <a:endParaRPr lang="en-US" dirty="0"/>
          </a:p>
          <a:p>
            <a:pPr algn="just"/>
            <a:r>
              <a:rPr lang="en-US" dirty="0"/>
              <a:t>Azure Local now supports external iSCSI SAN integration in preview, complementing its generally available </a:t>
            </a:r>
            <a:r>
              <a:rPr lang="en-US" dirty="0" err="1"/>
              <a:t>Fibre</a:t>
            </a:r>
            <a:r>
              <a:rPr lang="en-US" dirty="0"/>
              <a:t> Channel support. This lets organizations reuse existing IP-based storage while adopting Azure Local.</a:t>
            </a:r>
          </a:p>
          <a:p>
            <a:pPr algn="just"/>
            <a:r>
              <a:rPr lang="en-US" dirty="0"/>
              <a:t>Two deployment models are supported: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Hybrid: Storage Spaces Direct remains available for platform or selected workloads, while an external SAN supplies additional storage.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Disaggregated/SAN-only: external </a:t>
            </a:r>
            <a:r>
              <a:rPr lang="en-US" dirty="0" err="1"/>
              <a:t>Fibre</a:t>
            </a:r>
            <a:r>
              <a:rPr lang="en-US" dirty="0"/>
              <a:t> Channel or iSCSI storage becomes the primary platform for infrastructure and workloads, allowing compute and storage to scale independently.</a:t>
            </a:r>
          </a:p>
          <a:p>
            <a:pPr algn="just"/>
            <a:r>
              <a:rPr lang="en-US" dirty="0"/>
              <a:t>Key capabilities include: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Dedicated iSCSI paths through a six-network-adapter configuration for performance and redundancy.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SAN volumes presented as NTFS-formatted Cluster Shared Volumes.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Storage for VMs, AKS clusters, and Azure Virtual Desktop.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Connected and disconnected Azure Local deployments.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5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6F8BCD-425D-C7B7-1AFF-05991429F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39168-7046-60A5-1EEA-8D2B5EAAE2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bg1"/>
                </a:solidFill>
              </a:rPr>
              <a:t>ML &amp; AI &amp; IOT</a:t>
            </a:r>
          </a:p>
        </p:txBody>
      </p:sp>
    </p:spTree>
    <p:extLst>
      <p:ext uri="{BB962C8B-B14F-4D97-AF65-F5344CB8AC3E}">
        <p14:creationId xmlns:p14="http://schemas.microsoft.com/office/powerpoint/2010/main" val="3514878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5D0A865-EAC9-D4DF-765C-2BBCA9EC1F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0A19052D-1C06-3BF6-CD73-31098A551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ML &amp; AI &amp; IOT Updates (Preview)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B83368C-23D2-63DD-1F2B-65AB8A48B2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DF1A36F-4250-259D-24AE-F82FE69A7F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algn="just"/>
            <a:r>
              <a:rPr lang="en-US" dirty="0">
                <a:hlinkClick r:id="rId2"/>
              </a:rPr>
              <a:t>Public Preview: Protect sensitive generative AI telemetry in Application Insights and Microsoft Foundry</a:t>
            </a:r>
            <a:endParaRPr lang="ru-RU" dirty="0"/>
          </a:p>
          <a:p>
            <a:pPr algn="just"/>
            <a:r>
              <a:rPr lang="en-US" dirty="0"/>
              <a:t>Azure Monitor Application Insights can now protect sensitive generative-AI telemetry using dedicated storage and table-level access controls. The feature is in public preview.</a:t>
            </a:r>
          </a:p>
          <a:p>
            <a:pPr algn="just"/>
            <a:r>
              <a:rPr lang="en-US" dirty="0"/>
              <a:t>What changes: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Generative-AI content is stored in a dedicated </a:t>
            </a:r>
            <a:r>
              <a:rPr lang="en-US" dirty="0" err="1"/>
              <a:t>GenAIContent</a:t>
            </a:r>
            <a:r>
              <a:rPr lang="en-US" dirty="0"/>
              <a:t> table, named </a:t>
            </a:r>
            <a:r>
              <a:rPr lang="en-US" dirty="0" err="1"/>
              <a:t>AppGenAIContent</a:t>
            </a:r>
            <a:r>
              <a:rPr lang="en-US" dirty="0"/>
              <a:t> in Log Analytics.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Organizations can apply more restrictive access roles to this table than to ordinary application telemetry.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Protected data can include prompts, model responses, tool calls, and other AI-generated content containing PII, PHI, or confidential business information.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Because Application Insights provides observability for Microsoft Foundry, the protections apply to customers working through either Application Insights or Foundry.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The underlying Log Analytics capability is general: administrators can configure restrictive access for other Azure Monitor tables too, not only AI telemetry.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754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2ADB6-113C-7F12-FA61-67D8C3652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028B91B-AE7C-2437-0508-F4249B7527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just"/>
            <a:r>
              <a:rPr lang="en-US" sz="1000" dirty="0">
                <a:hlinkClick r:id="rId2"/>
              </a:rPr>
              <a:t>GPT-5.6 now available in Microsoft Foundry</a:t>
            </a:r>
            <a:endParaRPr lang="en-US" sz="1000" dirty="0"/>
          </a:p>
          <a:p>
            <a:pPr algn="just"/>
            <a:r>
              <a:rPr lang="en-US" sz="1000" dirty="0"/>
              <a:t>GPT‑5.6 is now generally available in Microsoft Foundry, alongside major updates for deploying production AI agents.</a:t>
            </a:r>
          </a:p>
          <a:p>
            <a:pPr algn="just"/>
            <a:r>
              <a:rPr lang="en-US" sz="1000" dirty="0"/>
              <a:t>The GPT‑5.6 family includes: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GPT‑5.6 Sol — strongest reasoning and coding model for demanding, extended agent workflows. Pricing: $5 input and $30 output per million tokens.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GPT‑5.6 Terra — balanced performance and cost for everyday enterprise applications. Microsoft says it is competitive with GPT‑5.5. Pricing: $2.50 input and $15 output.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000" dirty="0"/>
              <a:t>GPT‑5.6 Luna — fastest and least expensive option for high-volume, latency-sensitive workloads. Pricing: $1 input and $6 output.</a:t>
            </a:r>
          </a:p>
          <a:p>
            <a:pPr algn="just"/>
            <a:r>
              <a:rPr lang="en-US" sz="1000" dirty="0"/>
              <a:t>The models support Standard Global and Data Zone deployments. GPT‑5.6 is also available with Global Priority Processing across 28 regions and through Global Provisioned deployments.</a:t>
            </a:r>
          </a:p>
          <a:p>
            <a:pPr algn="just"/>
            <a:endParaRPr lang="en-US" sz="10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E84B67F-7026-D091-4F4B-F5819D59C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ML &amp; AI &amp; IOT Updates (Preview)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5AD8010-EE62-F57B-5CA1-B8E7B6C0EC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B331A00-CF62-F468-BCCC-F6840B7358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algn="just"/>
            <a:r>
              <a:rPr lang="en-US" dirty="0">
                <a:hlinkClick r:id="rId3"/>
              </a:rPr>
              <a:t>Introducing MAI-Image-2.5 Pro and MAI-Voice-2 Flash in Microsoft Foundry</a:t>
            </a:r>
            <a:endParaRPr lang="en-US" dirty="0"/>
          </a:p>
          <a:p>
            <a:pPr algn="just"/>
            <a:r>
              <a:rPr lang="en-US" dirty="0"/>
              <a:t>Microsoft announced two new in-house MAI model variants, both now in public preview through Microsoft Foundry.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b="1" dirty="0"/>
              <a:t>MAI-Image-2.5-Pro</a:t>
            </a:r>
            <a:r>
              <a:rPr lang="en-US" dirty="0"/>
              <a:t> prioritizes maximum image quality. It targets hero imagery, detailed editing, natural-language revisions, and accurate text rendering inside images. Pricing is $5 per million text-input tokens, $8 per million image-input tokens, and $106 per million output tokens.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b="1" dirty="0"/>
              <a:t>MAI-Voice-2-Flash </a:t>
            </a:r>
            <a:r>
              <a:rPr lang="en-US" dirty="0"/>
              <a:t>prioritizes low latency, scale, and cost. Microsoft says it is twice as fast and 32% cheaper than MAI-Voice-2 while retaining natural prosody and audio quality. It supports expressive speech across 15 languages, voice prompting from a 5–60-second consented sample, and emotion controls. Pricing is $15 per million characters.</a:t>
            </a:r>
          </a:p>
        </p:txBody>
      </p:sp>
    </p:spTree>
    <p:extLst>
      <p:ext uri="{BB962C8B-B14F-4D97-AF65-F5344CB8AC3E}">
        <p14:creationId xmlns:p14="http://schemas.microsoft.com/office/powerpoint/2010/main" val="586386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5F9B1C-792B-99EC-B7CD-0AF8D296B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39168-7046-60A5-1EEA-8D2B5EAAE2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2845" y="1285875"/>
            <a:ext cx="4748646" cy="1714500"/>
          </a:xfrm>
        </p:spPr>
        <p:txBody>
          <a:bodyPr/>
          <a:lstStyle/>
          <a:p>
            <a:r>
              <a:rPr lang="en-US" sz="4000" dirty="0">
                <a:solidFill>
                  <a:schemeClr val="bg1"/>
                </a:solidFill>
              </a:rPr>
              <a:t>DevOps &amp; IaC &amp; Automation</a:t>
            </a:r>
          </a:p>
        </p:txBody>
      </p:sp>
    </p:spTree>
    <p:extLst>
      <p:ext uri="{BB962C8B-B14F-4D97-AF65-F5344CB8AC3E}">
        <p14:creationId xmlns:p14="http://schemas.microsoft.com/office/powerpoint/2010/main" val="6537846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E166B-5F98-EE8E-5B62-AEAB3F553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CB0A5D-ABFF-FDBA-2981-B5840044FB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6AAAE0B-0E99-B9BA-C719-42AF0D574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DevOps &amp; IaC &amp; Automation (Preview)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12F1E69-46C9-B918-9382-5DFF0FC578B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CB295C0-8FE1-D74E-47AD-C2C789F637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algn="just"/>
            <a:r>
              <a:rPr lang="en-US" dirty="0">
                <a:hlinkClick r:id="rId2"/>
              </a:rPr>
              <a:t>July Patches for Azure DevOps Server</a:t>
            </a:r>
            <a:endParaRPr lang="en-US" dirty="0"/>
          </a:p>
          <a:p>
            <a:pPr algn="just"/>
            <a:r>
              <a:rPr lang="en-US" dirty="0"/>
              <a:t>Microsoft released July 2026 patches for its self-hosted Azure DevOps Server: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Azure DevOps Server — Patch 6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Azure DevOps Server 2022.2 — Patch 11</a:t>
            </a:r>
          </a:p>
          <a:p>
            <a:pPr algn="just"/>
            <a:r>
              <a:rPr lang="en-US" dirty="0"/>
              <a:t>Microsoft strongly recommends installing the latest applicable patch to keep deployments secure and current.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911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AA57029-74C6-97A0-54A8-DC04D3842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39168-7046-60A5-1EEA-8D2B5EAAE2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bg1"/>
                </a:solidFill>
              </a:rPr>
              <a:t>Information</a:t>
            </a:r>
          </a:p>
        </p:txBody>
      </p:sp>
    </p:spTree>
    <p:extLst>
      <p:ext uri="{BB962C8B-B14F-4D97-AF65-F5344CB8AC3E}">
        <p14:creationId xmlns:p14="http://schemas.microsoft.com/office/powerpoint/2010/main" val="1276041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9E4E97-A385-759E-BD70-47D0B91CA3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855080"/>
            <a:ext cx="8455914" cy="3774069"/>
          </a:xfrm>
        </p:spPr>
        <p:txBody>
          <a:bodyPr/>
          <a:lstStyle/>
          <a:p>
            <a:r>
              <a:rPr lang="en-US" dirty="0">
                <a:hlinkClick r:id="rId2"/>
              </a:rPr>
              <a:t>Azure Times GitHub Repo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BEF490-0130-4022-0399-BE422CD7C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/>
              <a:t>Information</a:t>
            </a:r>
            <a:br>
              <a:rPr lang="en-US" sz="18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6815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0A7218-B9CA-F7E4-39B3-13A96D264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39168-7046-60A5-1EEA-8D2B5EAAE2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bg1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2482707150"/>
      </p:ext>
    </p:extLst>
  </p:cSld>
  <p:clrMapOvr>
    <a:masterClrMapping/>
  </p:clrMapOvr>
</p:sld>
</file>

<file path=ppt/theme/theme1.xml><?xml version="1.0" encoding="utf-8"?>
<a:theme xmlns:a="http://schemas.openxmlformats.org/drawingml/2006/main" name="Continuum Theme">
  <a:themeElements>
    <a:clrScheme name="EPAM Continuum Final">
      <a:dk1>
        <a:srgbClr val="222222"/>
      </a:dk1>
      <a:lt1>
        <a:srgbClr val="FFFFFF"/>
      </a:lt1>
      <a:dk2>
        <a:srgbClr val="A0A0A0"/>
      </a:dk2>
      <a:lt2>
        <a:srgbClr val="DBDAD6"/>
      </a:lt2>
      <a:accent1>
        <a:srgbClr val="545454"/>
      </a:accent1>
      <a:accent2>
        <a:srgbClr val="FFC000"/>
      </a:accent2>
      <a:accent3>
        <a:srgbClr val="38C2D7"/>
      </a:accent3>
      <a:accent4>
        <a:srgbClr val="445464"/>
      </a:accent4>
      <a:accent5>
        <a:srgbClr val="008ACE"/>
      </a:accent5>
      <a:accent6>
        <a:srgbClr val="E53B2E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wrap="none" rtlCol="0" anchor="ctr"/>
      <a:lstStyle>
        <a:defPPr algn="ctr">
          <a:defRPr sz="2400" dirty="0" err="1" smtClean="0">
            <a:solidFill>
              <a:schemeClr val="bg1"/>
            </a:solidFill>
            <a:latin typeface="Calibri Light" panose="020F0302020204030204" pitchFamily="34" charset="0"/>
            <a:ea typeface="Human Sans ExtraLight" charset="0"/>
            <a:cs typeface="Human Sans ExtraLight" charset="0"/>
          </a:defRPr>
        </a:defPPr>
      </a:lstStyle>
    </a:spDef>
    <a:lnDef>
      <a:spPr>
        <a:ln w="635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110000"/>
          </a:lnSpc>
          <a:spcBef>
            <a:spcPts val="600"/>
          </a:spcBef>
          <a:defRPr sz="1200" dirty="0" err="1" smtClean="0">
            <a:ea typeface="Human Sans" charset="0"/>
            <a:cs typeface="Human Sans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ntinuum_Master_v1.1" id="{D2F91407-39AD-2344-8F42-01B4155FF2FD}" vid="{09F1F252-BD3A-0A45-9F6B-518524EA32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3A9FD6A1D2BC41832AF270024651C7" ma:contentTypeVersion="6" ma:contentTypeDescription="Create a new document." ma:contentTypeScope="" ma:versionID="0421700c9180782018be286cde8a21da">
  <xsd:schema xmlns:xsd="http://www.w3.org/2001/XMLSchema" xmlns:xs="http://www.w3.org/2001/XMLSchema" xmlns:p="http://schemas.microsoft.com/office/2006/metadata/properties" xmlns:ns2="2e7e23d5-2c80-4164-89d2-1708db4037b8" xmlns:ns3="4e7ac07f-2cd6-47aa-8863-e3015989625c" targetNamespace="http://schemas.microsoft.com/office/2006/metadata/properties" ma:root="true" ma:fieldsID="541d07e3f89946b63e942fc7370dae48" ns2:_="" ns3:_="">
    <xsd:import namespace="2e7e23d5-2c80-4164-89d2-1708db4037b8"/>
    <xsd:import namespace="4e7ac07f-2cd6-47aa-8863-e301598962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7e23d5-2c80-4164-89d2-1708db4037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7ac07f-2cd6-47aa-8863-e3015989625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7C614-AA74-4D4D-9D2D-D96DA5126C78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2e7e23d5-2c80-4164-89d2-1708db4037b8"/>
    <ds:schemaRef ds:uri="http://purl.org/dc/dcmitype/"/>
    <ds:schemaRef ds:uri="http://schemas.openxmlformats.org/package/2006/metadata/core-properties"/>
    <ds:schemaRef ds:uri="4e7ac07f-2cd6-47aa-8863-e3015989625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E04B39D-0CBA-4F8F-8809-785207E879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D63988-C0DC-4185-91C3-6687DBA2F390}">
  <ds:schemaRefs>
    <ds:schemaRef ds:uri="2e7e23d5-2c80-4164-89d2-1708db4037b8"/>
    <ds:schemaRef ds:uri="4e7ac07f-2cd6-47aa-8863-e3015989625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2590e1b2-66ea-4d45-b1aa-185c322e3ba5}" enabled="1" method="Standard" siteId="{40a64d0b-f2f9-4a34-b1b3-0992ac0e5e4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Covers</Template>
  <TotalTime>597</TotalTime>
  <Words>1386</Words>
  <Application>Microsoft Office PowerPoint</Application>
  <PresentationFormat>On-screen Show (16:9)</PresentationFormat>
  <Paragraphs>100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Human Sans</vt:lpstr>
      <vt:lpstr>Human Sans Regular</vt:lpstr>
      <vt:lpstr>Continuum Theme</vt:lpstr>
      <vt:lpstr>Azure Times #216</vt:lpstr>
      <vt:lpstr>PowerPoint Presentation</vt:lpstr>
      <vt:lpstr>Networking Updates (Preview)</vt:lpstr>
      <vt:lpstr>Networking Updates (General Available)</vt:lpstr>
      <vt:lpstr>PowerPoint Presentation</vt:lpstr>
      <vt:lpstr>Security &amp; Identity Updates (General Available)</vt:lpstr>
      <vt:lpstr>PowerPoint Presentation</vt:lpstr>
      <vt:lpstr>Compute Updates (General Available)</vt:lpstr>
      <vt:lpstr>PowerPoint Presentation</vt:lpstr>
      <vt:lpstr>ML &amp; AI &amp; IOT Updates (Preview)</vt:lpstr>
      <vt:lpstr>ML &amp; AI &amp; IOT Updates (Preview)</vt:lpstr>
      <vt:lpstr>PowerPoint Presentation</vt:lpstr>
      <vt:lpstr>DevOps &amp; IaC &amp; Automation (Preview)</vt:lpstr>
      <vt:lpstr>PowerPoint Presentation</vt:lpstr>
      <vt:lpstr>Information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Maksim Admin Rotar</cp:lastModifiedBy>
  <cp:revision>106</cp:revision>
  <dcterms:created xsi:type="dcterms:W3CDTF">2018-01-26T19:23:30Z</dcterms:created>
  <dcterms:modified xsi:type="dcterms:W3CDTF">2026-07-26T13:08:38Z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0x0101008C3A9FD6A1D2BC41832AF270024651C7</vt:lpwstr>
  </property>
</Properties>
</file>