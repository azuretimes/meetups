
<file path=[Content_Types].xml><?xml version="1.0" encoding="utf-8"?>
<Types xmlns="http://schemas.openxmlformats.org/package/2006/content-types">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5" Type="http://schemas.microsoft.com/office/2020/02/relationships/classificationlabels" Target="docMetadata/LabelInfo.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812" r:id="rId4"/>
  </p:sldMasterIdLst>
  <p:notesMasterIdLst>
    <p:notesMasterId r:id="rId33"/>
  </p:notesMasterIdLst>
  <p:handoutMasterIdLst>
    <p:handoutMasterId r:id="rId34"/>
  </p:handoutMasterIdLst>
  <p:sldIdLst>
    <p:sldId id="2142532340" r:id="rId5"/>
    <p:sldId id="2146847045" r:id="rId6"/>
    <p:sldId id="10657" r:id="rId7"/>
    <p:sldId id="2146847126" r:id="rId8"/>
    <p:sldId id="2146847046" r:id="rId9"/>
    <p:sldId id="2146847089" r:id="rId10"/>
    <p:sldId id="2146847129" r:id="rId11"/>
    <p:sldId id="2146847048" r:id="rId12"/>
    <p:sldId id="2146847049" r:id="rId13"/>
    <p:sldId id="2146847133" r:id="rId14"/>
    <p:sldId id="2146847131" r:id="rId15"/>
    <p:sldId id="2146847050" r:id="rId16"/>
    <p:sldId id="2146847096" r:id="rId17"/>
    <p:sldId id="2146847136" r:id="rId18"/>
    <p:sldId id="2146847135" r:id="rId19"/>
    <p:sldId id="2146847052" r:id="rId20"/>
    <p:sldId id="2146847100" r:id="rId21"/>
    <p:sldId id="2146847054" r:id="rId22"/>
    <p:sldId id="2146847103" r:id="rId23"/>
    <p:sldId id="2146847142" r:id="rId24"/>
    <p:sldId id="2146847056" r:id="rId25"/>
    <p:sldId id="2146847107" r:id="rId26"/>
    <p:sldId id="2146847058" r:id="rId27"/>
    <p:sldId id="2146847147" r:id="rId28"/>
    <p:sldId id="2146847120" r:id="rId29"/>
    <p:sldId id="2146847085" r:id="rId30"/>
    <p:sldId id="2146847084" r:id="rId31"/>
    <p:sldId id="2146847064" r:id="rId32"/>
  </p:sldIdLst>
  <p:sldSz cx="9144000" cy="5143500" type="screen16x9"/>
  <p:notesSz cx="6858000" cy="9144000"/>
  <p:defaultTextStyle>
    <a:defPPr>
      <a:defRPr lang="en-US"/>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p:defaultTextStyle>
  <p:extLst>
    <p:ext uri="{521415D9-36F7-43E2-AB2F-B90AF26B5E84}">
      <p14:sectionLst xmlns:p14="http://schemas.microsoft.com/office/powerpoint/2010/main">
        <p14:section name="Intro" id="{A752CF65-4D58-4370-B229-5F4CB000B44D}">
          <p14:sldIdLst>
            <p14:sldId id="2142532340"/>
          </p14:sldIdLst>
        </p14:section>
        <p14:section name="Networking" id="{8B3AEA99-85F7-477B-B976-48DC47AA1A88}">
          <p14:sldIdLst>
            <p14:sldId id="2146847045"/>
            <p14:sldId id="10657"/>
            <p14:sldId id="2146847126"/>
          </p14:sldIdLst>
        </p14:section>
        <p14:section name="Security &amp; Identity" id="{1AA42572-B3BD-44F7-813B-C2C647DDBB3C}">
          <p14:sldIdLst>
            <p14:sldId id="2146847046"/>
            <p14:sldId id="2146847089"/>
            <p14:sldId id="2146847129"/>
          </p14:sldIdLst>
        </p14:section>
        <p14:section name="Management &amp; Governance" id="{34181601-6D48-4406-A525-C7B5A12C6C5B}">
          <p14:sldIdLst>
            <p14:sldId id="2146847048"/>
            <p14:sldId id="2146847049"/>
            <p14:sldId id="2146847133"/>
            <p14:sldId id="2146847131"/>
          </p14:sldIdLst>
        </p14:section>
        <p14:section name="Compute" id="{05AA80BB-8802-49AB-8336-A884227CE2F7}">
          <p14:sldIdLst>
            <p14:sldId id="2146847050"/>
            <p14:sldId id="2146847096"/>
            <p14:sldId id="2146847136"/>
            <p14:sldId id="2146847135"/>
          </p14:sldIdLst>
        </p14:section>
        <p14:section name="Storage &amp; Data" id="{1F159046-CE0A-45BC-9D5B-6E6C95980F78}">
          <p14:sldIdLst>
            <p14:sldId id="2146847052"/>
            <p14:sldId id="2146847100"/>
          </p14:sldIdLst>
        </p14:section>
        <p14:section name="Databases" id="{AEAFAE72-AD56-48F3-926B-38BAE269038F}">
          <p14:sldIdLst>
            <p14:sldId id="2146847054"/>
            <p14:sldId id="2146847103"/>
            <p14:sldId id="2146847142"/>
          </p14:sldIdLst>
        </p14:section>
        <p14:section name="Integration" id="{ACBD46A3-6F1C-451B-A154-0A056E0DEFF6}">
          <p14:sldIdLst>
            <p14:sldId id="2146847056"/>
            <p14:sldId id="2146847107"/>
          </p14:sldIdLst>
        </p14:section>
        <p14:section name="ML &amp; AI &amp; IOT" id="{F4E1EAF1-55E9-4CA4-8ADC-28B69C1D66D2}">
          <p14:sldIdLst>
            <p14:sldId id="2146847058"/>
            <p14:sldId id="2146847147"/>
          </p14:sldIdLst>
        </p14:section>
        <p14:section name="DevOps &amp; IaC &amp; Automation" id="{A1B23FE8-BD24-477B-81AD-FE484F08F197}">
          <p14:sldIdLst>
            <p14:sldId id="2146847120"/>
          </p14:sldIdLst>
        </p14:section>
        <p14:section name="Miscellaneous" id="{A1456D7A-93BE-4023-90AA-7269D2F177BA}">
          <p14:sldIdLst/>
        </p14:section>
        <p14:section name="End" id="{82899442-2AC4-4699-95EB-48D45B913575}">
          <p14:sldIdLst>
            <p14:sldId id="2146847085"/>
            <p14:sldId id="2146847084"/>
            <p14:sldId id="2146847064"/>
          </p14:sldIdLst>
        </p14:section>
      </p14:sectionLst>
    </p:ext>
    <p:ext uri="{EFAFB233-063F-42B5-8137-9DF3F51BA10A}">
      <p15:sldGuideLst xmlns:p15="http://schemas.microsoft.com/office/powerpoint/2012/main"/>
    </p:ext>
    <p:ext uri="{2D200454-40CA-4A62-9FC3-DE9A4176ACB9}">
      <p15:notesGuideLst xmlns:p15="http://schemas.microsoft.com/office/powerpoint/2012/main">
        <p15:guide id="1" orient="horz" pos="2736" userDrawn="1">
          <p15:clr>
            <a:srgbClr val="A4A3A4"/>
          </p15:clr>
        </p15:guide>
        <p15:guide id="2" pos="1477" userDrawn="1">
          <p15:clr>
            <a:srgbClr val="A4A3A4"/>
          </p15:clr>
        </p15:guide>
      </p15:notesGuideLst>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7" name="Emily Catuzzi" initials="EC" lastIdx="19" clrIdx="9">
    <p:extLst>
      <p:ext uri="{19B8F6BF-5375-455C-9EA6-DF929625EA0E}">
        <p15:presenceInfo xmlns:p15="http://schemas.microsoft.com/office/powerpoint/2012/main" userId="S::Emily_Catuzzi@epam.com::b46d6ad4-ac70-4125-82a7-0ece5134c360" providerId="AD"/>
      </p:ext>
    </p:extLst>
  </p:cmAuthor>
  <p:cmAuthor id="1" name="Laura Brady" initials="LB" lastIdx="52" clrIdx="3">
    <p:extLst>
      <p:ext uri="{19B8F6BF-5375-455C-9EA6-DF929625EA0E}">
        <p15:presenceInfo xmlns:p15="http://schemas.microsoft.com/office/powerpoint/2012/main" userId="S::Laura_Brady@epam.com::b18c91b0-83fb-4c27-875b-18626d50463b" providerId="AD"/>
      </p:ext>
    </p:extLst>
  </p:cmAuthor>
  <p:cmAuthor id="8" name="Gretchen Rice" initials="GR" lastIdx="4" clrIdx="10">
    <p:extLst>
      <p:ext uri="{19B8F6BF-5375-455C-9EA6-DF929625EA0E}">
        <p15:presenceInfo xmlns:p15="http://schemas.microsoft.com/office/powerpoint/2012/main" userId="S::gretchen_rice@epam.com::e279efbb-a837-440d-b0bd-684dd084c605" providerId="AD"/>
      </p:ext>
    </p:extLst>
  </p:cmAuthor>
  <p:cmAuthor id="2" name="Amy Legere" initials="AL" lastIdx="5" clrIdx="5">
    <p:extLst>
      <p:ext uri="{19B8F6BF-5375-455C-9EA6-DF929625EA0E}">
        <p15:presenceInfo xmlns:p15="http://schemas.microsoft.com/office/powerpoint/2012/main" userId="S::Amy_Legere@epam.com::36c3e91a-2059-4c30-8d42-5285dd7a2555" providerId="AD"/>
      </p:ext>
    </p:extLst>
  </p:cmAuthor>
  <p:cmAuthor id="9" name="Jennifer Markowitz" initials="JM" lastIdx="1" clrIdx="11">
    <p:extLst>
      <p:ext uri="{19B8F6BF-5375-455C-9EA6-DF929625EA0E}">
        <p15:presenceInfo xmlns:p15="http://schemas.microsoft.com/office/powerpoint/2012/main" userId="S::jennifer_markowitz@epam.com::f9148081-3671-49e1-8328-0a911bc72bfd" providerId="AD"/>
      </p:ext>
    </p:extLst>
  </p:cmAuthor>
  <p:cmAuthor id="3" name="John Hatz" initials="JH" lastIdx="1" clrIdx="4">
    <p:extLst>
      <p:ext uri="{19B8F6BF-5375-455C-9EA6-DF929625EA0E}">
        <p15:presenceInfo xmlns:p15="http://schemas.microsoft.com/office/powerpoint/2012/main" userId="S-1-5-21-2676001572-3131771074-2776907194-23347" providerId="AD"/>
      </p:ext>
    </p:extLst>
  </p:cmAuthor>
  <p:cmAuthor id="10" name="Nastassia Smolskaya" initials="NS" lastIdx="11" clrIdx="12">
    <p:extLst>
      <p:ext uri="{19B8F6BF-5375-455C-9EA6-DF929625EA0E}">
        <p15:presenceInfo xmlns:p15="http://schemas.microsoft.com/office/powerpoint/2012/main" userId="S::Nastassia_Smolskaya@epam.com::8ff1f7bc-3066-491e-a683-ea021ab0c825" providerId="AD"/>
      </p:ext>
    </p:extLst>
  </p:cmAuthor>
  <p:cmAuthor id="4" name="John Hatz" initials="JH [2]" lastIdx="3" clrIdx="6">
    <p:extLst>
      <p:ext uri="{19B8F6BF-5375-455C-9EA6-DF929625EA0E}">
        <p15:presenceInfo xmlns:p15="http://schemas.microsoft.com/office/powerpoint/2012/main" userId="S::john_hatz@epam.com::7f3a8b4b-4b1e-493d-b3f9-196adf0a1de0" providerId="AD"/>
      </p:ext>
    </p:extLst>
  </p:cmAuthor>
  <p:cmAuthor id="5" name="Mariette Kouwenberg-Mooney" initials="MK" lastIdx="19" clrIdx="7">
    <p:extLst>
      <p:ext uri="{19B8F6BF-5375-455C-9EA6-DF929625EA0E}">
        <p15:presenceInfo xmlns:p15="http://schemas.microsoft.com/office/powerpoint/2012/main" userId="S::Mariette_Kouwenberg-Mooney@epam.com::e2a13c51-a5c6-436b-ad7f-addd34212f51" providerId="AD"/>
      </p:ext>
    </p:extLst>
  </p:cmAuthor>
  <p:cmAuthor id="6" name="Julie Hansberry" initials="JH" lastIdx="13" clrIdx="8">
    <p:extLst>
      <p:ext uri="{19B8F6BF-5375-455C-9EA6-DF929625EA0E}">
        <p15:presenceInfo xmlns:p15="http://schemas.microsoft.com/office/powerpoint/2012/main" userId="S::julie_hansberry@epam.com::6cd6a8f9-b761-4260-92e9-1b9e97578688" providerId="AD"/>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F6CBD"/>
    <a:srgbClr val="002050"/>
    <a:srgbClr val="F25D43"/>
    <a:srgbClr val="CADC49"/>
    <a:srgbClr val="E53B2E"/>
    <a:srgbClr val="FFC000"/>
    <a:srgbClr val="D35D47"/>
    <a:srgbClr val="008ACF"/>
    <a:srgbClr val="76CDD8"/>
    <a:srgbClr val="75A0A6"/>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30B79132-3F09-4EB7-9156-AFD2ABE5B897}" v="37" dt="2021-04-12T18:27:46.962"/>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2591" autoAdjust="0"/>
    <p:restoredTop sz="94694"/>
  </p:normalViewPr>
  <p:slideViewPr>
    <p:cSldViewPr snapToGrid="0">
      <p:cViewPr varScale="1">
        <p:scale>
          <a:sx n="138" d="100"/>
          <a:sy n="138" d="100"/>
        </p:scale>
        <p:origin x="2688" y="120"/>
      </p:cViewPr>
      <p:guideLst/>
    </p:cSldViewPr>
  </p:slideViewPr>
  <p:notesTextViewPr>
    <p:cViewPr>
      <p:scale>
        <a:sx n="1" d="1"/>
        <a:sy n="1" d="1"/>
      </p:scale>
      <p:origin x="0" y="0"/>
    </p:cViewPr>
  </p:notesTextViewPr>
  <p:notesViewPr>
    <p:cSldViewPr snapToGrid="0">
      <p:cViewPr varScale="1">
        <p:scale>
          <a:sx n="121" d="100"/>
          <a:sy n="121" d="100"/>
        </p:scale>
        <p:origin x="7662" y="90"/>
      </p:cViewPr>
      <p:guideLst>
        <p:guide orient="horz" pos="2736"/>
        <p:guide pos="1477"/>
      </p:guideLst>
    </p:cSldViewPr>
  </p:notes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slide" Target="slides/slide22.xml"/><Relationship Id="rId39" Type="http://schemas.openxmlformats.org/officeDocument/2006/relationships/tableStyles" Target="tableStyles.xml"/><Relationship Id="rId21" Type="http://schemas.openxmlformats.org/officeDocument/2006/relationships/slide" Target="slides/slide17.xml"/><Relationship Id="rId34" Type="http://schemas.openxmlformats.org/officeDocument/2006/relationships/handoutMaster" Target="handoutMasters/handoutMaster1.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slide" Target="slides/slide21.xml"/><Relationship Id="rId33" Type="http://schemas.openxmlformats.org/officeDocument/2006/relationships/notesMaster" Target="notesMasters/notesMaster1.xml"/><Relationship Id="rId38" Type="http://schemas.openxmlformats.org/officeDocument/2006/relationships/theme" Target="theme/theme1.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slide" Target="slides/slide16.xml"/><Relationship Id="rId29" Type="http://schemas.openxmlformats.org/officeDocument/2006/relationships/slide" Target="slides/slide25.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slide" Target="slides/slide20.xml"/><Relationship Id="rId32" Type="http://schemas.openxmlformats.org/officeDocument/2006/relationships/slide" Target="slides/slide28.xml"/><Relationship Id="rId37" Type="http://schemas.openxmlformats.org/officeDocument/2006/relationships/viewProps" Target="viewProps.xml"/><Relationship Id="rId40" Type="http://schemas.microsoft.com/office/2015/10/relationships/revisionInfo" Target="revisionInfo.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slide" Target="slides/slide24.xml"/><Relationship Id="rId36" Type="http://schemas.openxmlformats.org/officeDocument/2006/relationships/presProps" Target="presProps.xml"/><Relationship Id="rId10" Type="http://schemas.openxmlformats.org/officeDocument/2006/relationships/slide" Target="slides/slide6.xml"/><Relationship Id="rId19" Type="http://schemas.openxmlformats.org/officeDocument/2006/relationships/slide" Target="slides/slide15.xml"/><Relationship Id="rId31" Type="http://schemas.openxmlformats.org/officeDocument/2006/relationships/slide" Target="slides/slide27.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slide" Target="slides/slide23.xml"/><Relationship Id="rId30" Type="http://schemas.openxmlformats.org/officeDocument/2006/relationships/slide" Target="slides/slide26.xml"/><Relationship Id="rId35" Type="http://schemas.openxmlformats.org/officeDocument/2006/relationships/commentAuthors" Target="commentAuthors.xml"/><Relationship Id="rId8" Type="http://schemas.openxmlformats.org/officeDocument/2006/relationships/slide" Target="slides/slide4.xml"/><Relationship Id="rId3" Type="http://schemas.openxmlformats.org/officeDocument/2006/relationships/customXml" Target="../customXml/item3.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3FDC14FC-A894-4869-A797-1EC82735D106}" type="datetimeFigureOut">
              <a:rPr lang="en-US" smtClean="0"/>
              <a:t>8/1/2026</a:t>
            </a:fld>
            <a:endParaRPr lang="en-US"/>
          </a:p>
        </p:txBody>
      </p:sp>
      <p:sp>
        <p:nvSpPr>
          <p:cNvPr id="4" name="Footer Placeholder 3"/>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5" name="Slide Number Placeholder 4"/>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5CD33E97-F2BE-44DB-A57D-0C85E2CBF508}" type="slidenum">
              <a:rPr lang="en-US" smtClean="0"/>
              <a:t>‹#›</a:t>
            </a:fld>
            <a:endParaRPr lang="en-US"/>
          </a:p>
        </p:txBody>
      </p:sp>
    </p:spTree>
    <p:extLst>
      <p:ext uri="{BB962C8B-B14F-4D97-AF65-F5344CB8AC3E}">
        <p14:creationId xmlns:p14="http://schemas.microsoft.com/office/powerpoint/2010/main" val="2967778149"/>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B4F99C05-63F9-4248-8E20-3ACD9DF9DE7F}" type="datetimeFigureOut">
              <a:rPr lang="en-US" smtClean="0"/>
              <a:t>8/1/2026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A874FABB-6DBE-47C4-B626-20167906F475}" type="slidenum">
              <a:rPr lang="en-US" smtClean="0"/>
              <a:t>‹#›</a:t>
            </a:fld>
            <a:endParaRPr lang="en-US"/>
          </a:p>
        </p:txBody>
      </p:sp>
    </p:spTree>
    <p:extLst>
      <p:ext uri="{BB962C8B-B14F-4D97-AF65-F5344CB8AC3E}">
        <p14:creationId xmlns:p14="http://schemas.microsoft.com/office/powerpoint/2010/main" val="4274864021"/>
      </p:ext>
    </p:extLst>
  </p:cSld>
  <p:clrMap bg1="lt1" tx1="dk1" bg2="lt2" tx2="dk2" accent1="accent1" accent2="accent2" accent3="accent3" accent4="accent4" accent5="accent5" accent6="accent6" hlink="hlink" folHlink="folHlink"/>
  <p:notesStyle>
    <a:lvl1pPr marL="0" algn="l" defTabSz="685800" rtl="0" eaLnBrk="1" latinLnBrk="0" hangingPunct="1">
      <a:defRPr sz="900" kern="1200">
        <a:solidFill>
          <a:schemeClr val="tx1"/>
        </a:solidFill>
        <a:latin typeface="+mn-lt"/>
        <a:ea typeface="+mn-ea"/>
        <a:cs typeface="+mn-cs"/>
      </a:defRPr>
    </a:lvl1pPr>
    <a:lvl2pPr marL="342900" algn="l" defTabSz="685800" rtl="0" eaLnBrk="1" latinLnBrk="0" hangingPunct="1">
      <a:defRPr sz="900" kern="1200">
        <a:solidFill>
          <a:schemeClr val="tx1"/>
        </a:solidFill>
        <a:latin typeface="+mn-lt"/>
        <a:ea typeface="+mn-ea"/>
        <a:cs typeface="+mn-cs"/>
      </a:defRPr>
    </a:lvl2pPr>
    <a:lvl3pPr marL="685800" algn="l" defTabSz="685800" rtl="0" eaLnBrk="1" latinLnBrk="0" hangingPunct="1">
      <a:defRPr sz="900" kern="1200">
        <a:solidFill>
          <a:schemeClr val="tx1"/>
        </a:solidFill>
        <a:latin typeface="+mn-lt"/>
        <a:ea typeface="+mn-ea"/>
        <a:cs typeface="+mn-cs"/>
      </a:defRPr>
    </a:lvl3pPr>
    <a:lvl4pPr marL="1028700" algn="l" defTabSz="685800" rtl="0" eaLnBrk="1" latinLnBrk="0" hangingPunct="1">
      <a:defRPr sz="900" kern="1200">
        <a:solidFill>
          <a:schemeClr val="tx1"/>
        </a:solidFill>
        <a:latin typeface="+mn-lt"/>
        <a:ea typeface="+mn-ea"/>
        <a:cs typeface="+mn-cs"/>
      </a:defRPr>
    </a:lvl4pPr>
    <a:lvl5pPr marL="1371600" algn="l" defTabSz="685800" rtl="0" eaLnBrk="1" latinLnBrk="0" hangingPunct="1">
      <a:defRPr sz="900" kern="1200">
        <a:solidFill>
          <a:schemeClr val="tx1"/>
        </a:solidFill>
        <a:latin typeface="+mn-lt"/>
        <a:ea typeface="+mn-ea"/>
        <a:cs typeface="+mn-cs"/>
      </a:defRPr>
    </a:lvl5pPr>
    <a:lvl6pPr marL="1714500" algn="l" defTabSz="685800" rtl="0" eaLnBrk="1" latinLnBrk="0" hangingPunct="1">
      <a:defRPr sz="900" kern="1200">
        <a:solidFill>
          <a:schemeClr val="tx1"/>
        </a:solidFill>
        <a:latin typeface="+mn-lt"/>
        <a:ea typeface="+mn-ea"/>
        <a:cs typeface="+mn-cs"/>
      </a:defRPr>
    </a:lvl6pPr>
    <a:lvl7pPr marL="2057400" algn="l" defTabSz="685800" rtl="0" eaLnBrk="1" latinLnBrk="0" hangingPunct="1">
      <a:defRPr sz="900" kern="1200">
        <a:solidFill>
          <a:schemeClr val="tx1"/>
        </a:solidFill>
        <a:latin typeface="+mn-lt"/>
        <a:ea typeface="+mn-ea"/>
        <a:cs typeface="+mn-cs"/>
      </a:defRPr>
    </a:lvl7pPr>
    <a:lvl8pPr marL="2400300" algn="l" defTabSz="685800" rtl="0" eaLnBrk="1" latinLnBrk="0" hangingPunct="1">
      <a:defRPr sz="900" kern="1200">
        <a:solidFill>
          <a:schemeClr val="tx1"/>
        </a:solidFill>
        <a:latin typeface="+mn-lt"/>
        <a:ea typeface="+mn-ea"/>
        <a:cs typeface="+mn-cs"/>
      </a:defRPr>
    </a:lvl8pPr>
    <a:lvl9pPr marL="2743200" algn="l" defTabSz="685800" rtl="0" eaLnBrk="1" latinLnBrk="0" hangingPunct="1">
      <a:defRPr sz="9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A874FABB-6DBE-47C4-B626-20167906F475}" type="slidenum">
              <a:rPr lang="en-US" smtClean="0"/>
              <a:t>1</a:t>
            </a:fld>
            <a:endParaRPr lang="en-US"/>
          </a:p>
        </p:txBody>
      </p:sp>
    </p:spTree>
    <p:extLst>
      <p:ext uri="{BB962C8B-B14F-4D97-AF65-F5344CB8AC3E}">
        <p14:creationId xmlns:p14="http://schemas.microsoft.com/office/powerpoint/2010/main" val="4144144876"/>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userDrawn="1">
  <p:cSld name="Cover Text">
    <p:bg>
      <p:bgPr>
        <a:solidFill>
          <a:schemeClr val="tx1"/>
        </a:solidFill>
        <a:effectLst/>
      </p:bgPr>
    </p:bg>
    <p:spTree>
      <p:nvGrpSpPr>
        <p:cNvPr id="1" name=""/>
        <p:cNvGrpSpPr/>
        <p:nvPr/>
      </p:nvGrpSpPr>
      <p:grpSpPr>
        <a:xfrm>
          <a:off x="0" y="0"/>
          <a:ext cx="0" cy="0"/>
          <a:chOff x="0" y="0"/>
          <a:chExt cx="0" cy="0"/>
        </a:xfrm>
      </p:grpSpPr>
      <p:sp>
        <p:nvSpPr>
          <p:cNvPr id="2" name="Title 1"/>
          <p:cNvSpPr>
            <a:spLocks noGrp="1"/>
          </p:cNvSpPr>
          <p:nvPr>
            <p:ph type="ctrTitle" hasCustomPrompt="1"/>
          </p:nvPr>
        </p:nvSpPr>
        <p:spPr>
          <a:xfrm>
            <a:off x="342900" y="1200151"/>
            <a:ext cx="8458200" cy="2228850"/>
          </a:xfrm>
        </p:spPr>
        <p:txBody>
          <a:bodyPr lIns="0" tIns="0" rIns="0" bIns="0" anchor="b">
            <a:noAutofit/>
          </a:bodyPr>
          <a:lstStyle>
            <a:lvl1pPr algn="l">
              <a:lnSpc>
                <a:spcPct val="85000"/>
              </a:lnSpc>
              <a:defRPr sz="9000" b="0" i="0">
                <a:solidFill>
                  <a:schemeClr val="accent3"/>
                </a:solidFill>
                <a:latin typeface="+mj-lt"/>
                <a:ea typeface="Human Sans Thin" pitchFamily="2" charset="77"/>
                <a:cs typeface="Human Sans Thin" pitchFamily="2" charset="77"/>
              </a:defRPr>
            </a:lvl1pPr>
          </a:lstStyle>
          <a:p>
            <a:r>
              <a:rPr lang="en-US"/>
              <a:t>Proposal</a:t>
            </a:r>
            <a:br>
              <a:rPr lang="en-US"/>
            </a:br>
            <a:r>
              <a:rPr lang="en-US"/>
              <a:t>Title</a:t>
            </a:r>
          </a:p>
        </p:txBody>
      </p:sp>
      <p:sp>
        <p:nvSpPr>
          <p:cNvPr id="8" name="Text Placeholder 7"/>
          <p:cNvSpPr>
            <a:spLocks noGrp="1"/>
          </p:cNvSpPr>
          <p:nvPr>
            <p:ph type="body" sz="quarter" idx="11" hasCustomPrompt="1"/>
          </p:nvPr>
        </p:nvSpPr>
        <p:spPr>
          <a:xfrm>
            <a:off x="342900" y="3600450"/>
            <a:ext cx="8455914" cy="171450"/>
          </a:xfrm>
        </p:spPr>
        <p:txBody>
          <a:bodyPr lIns="0" tIns="0" rIns="0" bIns="0" anchor="t">
            <a:noAutofit/>
          </a:bodyPr>
          <a:lstStyle>
            <a:lvl1pPr marL="0" indent="0">
              <a:lnSpc>
                <a:spcPct val="100000"/>
              </a:lnSpc>
              <a:spcBef>
                <a:spcPts val="0"/>
              </a:spcBef>
              <a:spcAft>
                <a:spcPts val="0"/>
              </a:spcAft>
              <a:buNone/>
              <a:defRPr sz="1200" b="0" i="0" baseline="0">
                <a:solidFill>
                  <a:schemeClr val="bg1"/>
                </a:solidFill>
                <a:latin typeface="+mn-lt"/>
                <a:ea typeface="Calibri" panose="020F0502020204030204" pitchFamily="34" charset="0"/>
                <a:cs typeface="Calibri" panose="020F0502020204030204" pitchFamily="34" charset="0"/>
              </a:defRPr>
            </a:lvl1pPr>
            <a:lvl2pPr>
              <a:defRPr sz="1200">
                <a:solidFill>
                  <a:schemeClr val="bg1"/>
                </a:solidFill>
              </a:defRPr>
            </a:lvl2pPr>
            <a:lvl3pPr>
              <a:defRPr sz="1200">
                <a:solidFill>
                  <a:schemeClr val="bg1"/>
                </a:solidFill>
              </a:defRPr>
            </a:lvl3pPr>
            <a:lvl4pPr>
              <a:defRPr sz="1200">
                <a:solidFill>
                  <a:schemeClr val="bg1"/>
                </a:solidFill>
              </a:defRPr>
            </a:lvl4pPr>
            <a:lvl5pPr>
              <a:defRPr sz="1200">
                <a:solidFill>
                  <a:schemeClr val="bg1"/>
                </a:solidFill>
              </a:defRPr>
            </a:lvl5pPr>
          </a:lstStyle>
          <a:p>
            <a:r>
              <a:rPr lang="en-US"/>
              <a:t>Subtitle description</a:t>
            </a:r>
          </a:p>
        </p:txBody>
      </p:sp>
      <p:sp>
        <p:nvSpPr>
          <p:cNvPr id="5" name="Text Placeholder 4"/>
          <p:cNvSpPr>
            <a:spLocks noGrp="1"/>
          </p:cNvSpPr>
          <p:nvPr>
            <p:ph type="body" sz="quarter" idx="12" hasCustomPrompt="1"/>
          </p:nvPr>
        </p:nvSpPr>
        <p:spPr>
          <a:xfrm>
            <a:off x="342900" y="3864095"/>
            <a:ext cx="1988344" cy="171450"/>
          </a:xfrm>
        </p:spPr>
        <p:txBody>
          <a:bodyPr/>
          <a:lstStyle>
            <a:lvl1pPr>
              <a:lnSpc>
                <a:spcPct val="100000"/>
              </a:lnSpc>
              <a:spcBef>
                <a:spcPts val="0"/>
              </a:spcBef>
              <a:defRPr sz="900" b="0" i="0" cap="all" baseline="0">
                <a:solidFill>
                  <a:schemeClr val="bg1"/>
                </a:solidFill>
                <a:latin typeface="+mn-lt"/>
              </a:defRPr>
            </a:lvl1pPr>
          </a:lstStyle>
          <a:p>
            <a:pPr lvl="0"/>
            <a:r>
              <a:rPr lang="en-US"/>
              <a:t>Date</a:t>
            </a:r>
          </a:p>
        </p:txBody>
      </p:sp>
    </p:spTree>
    <p:extLst>
      <p:ext uri="{BB962C8B-B14F-4D97-AF65-F5344CB8AC3E}">
        <p14:creationId xmlns:p14="http://schemas.microsoft.com/office/powerpoint/2010/main" val="3037779421"/>
      </p:ext>
    </p:extLst>
  </p:cSld>
  <p:clrMapOvr>
    <a:masterClrMapping/>
  </p:clrMapOvr>
  <p:extLst>
    <p:ext uri="{DCECCB84-F9BA-43D5-87BE-67443E8EF086}">
      <p15:sldGuideLst xmlns:p15="http://schemas.microsoft.com/office/powerpoint/2012/main"/>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Section">
    <p:bg>
      <p:bgPr>
        <a:solidFill>
          <a:schemeClr val="tx1"/>
        </a:solidFill>
        <a:effectLst/>
      </p:bgPr>
    </p:bg>
    <p:spTree>
      <p:nvGrpSpPr>
        <p:cNvPr id="1" name=""/>
        <p:cNvGrpSpPr/>
        <p:nvPr/>
      </p:nvGrpSpPr>
      <p:grpSpPr>
        <a:xfrm>
          <a:off x="0" y="0"/>
          <a:ext cx="0" cy="0"/>
          <a:chOff x="0" y="0"/>
          <a:chExt cx="0" cy="0"/>
        </a:xfrm>
      </p:grpSpPr>
      <p:sp>
        <p:nvSpPr>
          <p:cNvPr id="3" name="Subtitle 2"/>
          <p:cNvSpPr>
            <a:spLocks noGrp="1"/>
          </p:cNvSpPr>
          <p:nvPr>
            <p:ph type="subTitle" idx="1" hasCustomPrompt="1"/>
          </p:nvPr>
        </p:nvSpPr>
        <p:spPr>
          <a:xfrm>
            <a:off x="342901" y="3429000"/>
            <a:ext cx="4148137" cy="1200150"/>
          </a:xfrm>
        </p:spPr>
        <p:txBody>
          <a:bodyPr lIns="0" tIns="0" rIns="0" bIns="0" anchor="t">
            <a:normAutofit/>
          </a:bodyPr>
          <a:lstStyle>
            <a:lvl1pPr marL="0" indent="0" algn="l">
              <a:lnSpc>
                <a:spcPct val="110000"/>
              </a:lnSpc>
              <a:spcBef>
                <a:spcPts val="450"/>
              </a:spcBef>
              <a:spcAft>
                <a:spcPts val="0"/>
              </a:spcAft>
              <a:buNone/>
              <a:defRPr sz="900" b="0" i="0" baseline="0">
                <a:solidFill>
                  <a:schemeClr val="bg1"/>
                </a:solidFill>
                <a:latin typeface="+mn-lt"/>
                <a:ea typeface="Calibri" panose="020F0502020204030204" pitchFamily="34" charset="0"/>
                <a:cs typeface="Calibri" panose="020F0502020204030204" pitchFamily="34" charset="0"/>
              </a:defRPr>
            </a:lvl1pPr>
            <a:lvl2pPr marL="342900" indent="0" algn="ctr">
              <a:buNone/>
              <a:defRPr sz="1500"/>
            </a:lvl2pPr>
            <a:lvl3pPr marL="685800" indent="0" algn="ctr">
              <a:buNone/>
              <a:defRPr sz="1350"/>
            </a:lvl3pPr>
            <a:lvl4pPr marL="1028700" indent="0" algn="ctr">
              <a:buNone/>
              <a:defRPr sz="1200"/>
            </a:lvl4pPr>
            <a:lvl5pPr marL="1371600" indent="0" algn="ctr">
              <a:buNone/>
              <a:defRPr sz="1200"/>
            </a:lvl5pPr>
            <a:lvl6pPr marL="1714500" indent="0" algn="ctr">
              <a:buNone/>
              <a:defRPr sz="1200"/>
            </a:lvl6pPr>
            <a:lvl7pPr marL="2057400" indent="0" algn="ctr">
              <a:buNone/>
              <a:defRPr sz="1200"/>
            </a:lvl7pPr>
            <a:lvl8pPr marL="2400300" indent="0" algn="ctr">
              <a:buNone/>
              <a:defRPr sz="1200"/>
            </a:lvl8pPr>
            <a:lvl9pPr marL="2743200" indent="0" algn="ctr">
              <a:buNone/>
              <a:defRPr sz="1200"/>
            </a:lvl9pPr>
          </a:lstStyle>
          <a:p>
            <a:r>
              <a:rPr lang="en-US"/>
              <a:t>Click to type section description</a:t>
            </a:r>
          </a:p>
        </p:txBody>
      </p:sp>
      <p:sp>
        <p:nvSpPr>
          <p:cNvPr id="8" name="Text Placeholder 7"/>
          <p:cNvSpPr>
            <a:spLocks noGrp="1"/>
          </p:cNvSpPr>
          <p:nvPr>
            <p:ph type="body" sz="quarter" idx="12" hasCustomPrompt="1"/>
          </p:nvPr>
        </p:nvSpPr>
        <p:spPr>
          <a:xfrm>
            <a:off x="342901" y="2743200"/>
            <a:ext cx="6299597" cy="514350"/>
          </a:xfrm>
        </p:spPr>
        <p:txBody>
          <a:bodyPr/>
          <a:lstStyle>
            <a:lvl1pPr marL="0" indent="0">
              <a:lnSpc>
                <a:spcPct val="100000"/>
              </a:lnSpc>
              <a:spcBef>
                <a:spcPts val="0"/>
              </a:spcBef>
              <a:spcAft>
                <a:spcPts val="0"/>
              </a:spcAft>
              <a:buNone/>
              <a:defRPr sz="3600" b="0" i="0" baseline="0">
                <a:solidFill>
                  <a:schemeClr val="accent3"/>
                </a:solidFill>
                <a:latin typeface="+mj-lt"/>
                <a:ea typeface="Calibri Light" charset="0"/>
                <a:cs typeface="Calibri Light" charset="0"/>
              </a:defRPr>
            </a:lvl1pPr>
          </a:lstStyle>
          <a:p>
            <a:pPr lvl="0"/>
            <a:r>
              <a:rPr lang="en-US"/>
              <a:t>Section Header</a:t>
            </a:r>
          </a:p>
        </p:txBody>
      </p:sp>
      <p:sp>
        <p:nvSpPr>
          <p:cNvPr id="11" name="Text Placeholder 10"/>
          <p:cNvSpPr>
            <a:spLocks noGrp="1"/>
          </p:cNvSpPr>
          <p:nvPr>
            <p:ph type="body" sz="quarter" idx="13" hasCustomPrompt="1"/>
          </p:nvPr>
        </p:nvSpPr>
        <p:spPr>
          <a:xfrm>
            <a:off x="252845" y="1285875"/>
            <a:ext cx="4148138" cy="1714500"/>
          </a:xfrm>
        </p:spPr>
        <p:txBody>
          <a:bodyPr wrap="square" anchor="b"/>
          <a:lstStyle>
            <a:lvl1pPr>
              <a:lnSpc>
                <a:spcPct val="100000"/>
              </a:lnSpc>
              <a:spcBef>
                <a:spcPts val="0"/>
              </a:spcBef>
              <a:spcAft>
                <a:spcPts val="0"/>
              </a:spcAft>
              <a:defRPr sz="16500" b="0" i="0">
                <a:solidFill>
                  <a:schemeClr val="accent3"/>
                </a:solidFill>
                <a:latin typeface="+mj-lt"/>
                <a:ea typeface="Human Sans Thin" pitchFamily="2" charset="77"/>
                <a:cs typeface="Human Sans Thin" pitchFamily="2" charset="77"/>
              </a:defRPr>
            </a:lvl1pPr>
          </a:lstStyle>
          <a:p>
            <a:pPr lvl="0"/>
            <a:r>
              <a:rPr lang="en-US"/>
              <a:t>0</a:t>
            </a:r>
          </a:p>
        </p:txBody>
      </p:sp>
      <p:sp>
        <p:nvSpPr>
          <p:cNvPr id="7" name="Slide Number Placeholder 13"/>
          <p:cNvSpPr txBox="1">
            <a:spLocks/>
          </p:cNvSpPr>
          <p:nvPr userDrawn="1"/>
        </p:nvSpPr>
        <p:spPr>
          <a:xfrm>
            <a:off x="8522494" y="4800599"/>
            <a:ext cx="276320" cy="171450"/>
          </a:xfrm>
          <a:prstGeom prst="rect">
            <a:avLst/>
          </a:prstGeom>
        </p:spPr>
        <p:txBody>
          <a:bodyPr vert="horz" lIns="0" tIns="0" rIns="0" bIns="0" rtlCol="0" anchor="ctr"/>
          <a:lstStyle>
            <a:defPPr>
              <a:defRPr lang="en-US"/>
            </a:defPPr>
            <a:lvl1pPr marL="0" algn="r" defTabSz="914400" rtl="0" eaLnBrk="1" latinLnBrk="0" hangingPunct="1">
              <a:defRPr sz="800" b="0" i="0" kern="1200">
                <a:solidFill>
                  <a:schemeClr val="tx1"/>
                </a:solidFill>
                <a:latin typeface="+mn-lt"/>
                <a:ea typeface="Calibri" panose="020F0502020204030204" pitchFamily="34" charset="0"/>
                <a:cs typeface="Calibri" panose="020F0502020204030204" pitchFamily="34" charset="0"/>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315F3C1C-9817-214B-A493-8D89031D0F96}" type="slidenum">
              <a:rPr lang="en-US" sz="600" b="0" i="0" smtClean="0">
                <a:solidFill>
                  <a:schemeClr val="bg1"/>
                </a:solidFill>
                <a:latin typeface="+mn-lt"/>
              </a:rPr>
              <a:pPr/>
              <a:t>‹#›</a:t>
            </a:fld>
            <a:endParaRPr lang="en-US" sz="600" b="0" i="0">
              <a:solidFill>
                <a:schemeClr val="bg1"/>
              </a:solidFill>
              <a:latin typeface="+mn-lt"/>
            </a:endParaRPr>
          </a:p>
        </p:txBody>
      </p:sp>
    </p:spTree>
    <p:extLst>
      <p:ext uri="{BB962C8B-B14F-4D97-AF65-F5344CB8AC3E}">
        <p14:creationId xmlns:p14="http://schemas.microsoft.com/office/powerpoint/2010/main" val="2513291986"/>
      </p:ext>
    </p:extLst>
  </p:cSld>
  <p:clrMapOvr>
    <a:masterClrMapping/>
  </p:clrMapOvr>
  <p:extLst>
    <p:ext uri="{DCECCB84-F9BA-43D5-87BE-67443E8EF086}">
      <p15:sldGuideLst xmlns:p15="http://schemas.microsoft.com/office/powerpoint/2012/main"/>
    </p:ext>
  </p:extLst>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1_Blank">
    <p:spTree>
      <p:nvGrpSpPr>
        <p:cNvPr id="1" name=""/>
        <p:cNvGrpSpPr/>
        <p:nvPr/>
      </p:nvGrpSpPr>
      <p:grpSpPr>
        <a:xfrm>
          <a:off x="0" y="0"/>
          <a:ext cx="0" cy="0"/>
          <a:chOff x="0" y="0"/>
          <a:chExt cx="0" cy="0"/>
        </a:xfrm>
      </p:grpSpPr>
    </p:spTree>
    <p:extLst>
      <p:ext uri="{BB962C8B-B14F-4D97-AF65-F5344CB8AC3E}">
        <p14:creationId xmlns:p14="http://schemas.microsoft.com/office/powerpoint/2010/main" val="25235836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Title">
    <p:spTree>
      <p:nvGrpSpPr>
        <p:cNvPr id="1" name=""/>
        <p:cNvGrpSpPr/>
        <p:nvPr/>
      </p:nvGrpSpPr>
      <p:grpSpPr>
        <a:xfrm>
          <a:off x="0" y="0"/>
          <a:ext cx="0" cy="0"/>
          <a:chOff x="0" y="0"/>
          <a:chExt cx="0" cy="0"/>
        </a:xfrm>
      </p:grpSpPr>
      <p:sp>
        <p:nvSpPr>
          <p:cNvPr id="2" name="Title 1"/>
          <p:cNvSpPr>
            <a:spLocks noGrp="1"/>
          </p:cNvSpPr>
          <p:nvPr>
            <p:ph type="title"/>
          </p:nvPr>
        </p:nvSpPr>
        <p:spPr>
          <a:xfrm>
            <a:off x="342900" y="342900"/>
            <a:ext cx="8455914" cy="342900"/>
          </a:xfrm>
        </p:spPr>
        <p:txBody>
          <a:bodyPr/>
          <a:lstStyle>
            <a:lvl1pPr>
              <a:defRPr b="1">
                <a:latin typeface="+mn-lt"/>
              </a:defRPr>
            </a:lvl1pPr>
          </a:lstStyle>
          <a:p>
            <a:r>
              <a:rPr lang="en-US"/>
              <a:t>Click to edit Master title style</a:t>
            </a:r>
          </a:p>
        </p:txBody>
      </p:sp>
      <p:sp>
        <p:nvSpPr>
          <p:cNvPr id="8" name="Text Placeholder 10"/>
          <p:cNvSpPr>
            <a:spLocks noGrp="1"/>
          </p:cNvSpPr>
          <p:nvPr>
            <p:ph type="body" sz="quarter" idx="15" hasCustomPrompt="1"/>
          </p:nvPr>
        </p:nvSpPr>
        <p:spPr>
          <a:xfrm>
            <a:off x="342900" y="173620"/>
            <a:ext cx="2708910" cy="169280"/>
          </a:xfrm>
        </p:spPr>
        <p:txBody>
          <a:bodyPr/>
          <a:lstStyle>
            <a:lvl1pPr>
              <a:defRPr sz="675" b="1" cap="all" baseline="0">
                <a:solidFill>
                  <a:schemeClr val="accent3"/>
                </a:solidFill>
                <a:latin typeface="+mn-lt"/>
              </a:defRPr>
            </a:lvl1pPr>
          </a:lstStyle>
          <a:p>
            <a:pPr lvl="0"/>
            <a:r>
              <a:rPr lang="en-US"/>
              <a:t>Click to add section title</a:t>
            </a:r>
          </a:p>
        </p:txBody>
      </p:sp>
    </p:spTree>
    <p:extLst>
      <p:ext uri="{BB962C8B-B14F-4D97-AF65-F5344CB8AC3E}">
        <p14:creationId xmlns:p14="http://schemas.microsoft.com/office/powerpoint/2010/main" val="333054623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1_Title">
    <p:spTree>
      <p:nvGrpSpPr>
        <p:cNvPr id="1" name=""/>
        <p:cNvGrpSpPr/>
        <p:nvPr/>
      </p:nvGrpSpPr>
      <p:grpSpPr>
        <a:xfrm>
          <a:off x="0" y="0"/>
          <a:ext cx="0" cy="0"/>
          <a:chOff x="0" y="0"/>
          <a:chExt cx="0" cy="0"/>
        </a:xfrm>
      </p:grpSpPr>
      <p:sp>
        <p:nvSpPr>
          <p:cNvPr id="8" name="Text Placeholder 10"/>
          <p:cNvSpPr>
            <a:spLocks noGrp="1"/>
          </p:cNvSpPr>
          <p:nvPr>
            <p:ph type="body" sz="quarter" idx="15" hasCustomPrompt="1"/>
          </p:nvPr>
        </p:nvSpPr>
        <p:spPr>
          <a:xfrm>
            <a:off x="342900" y="173620"/>
            <a:ext cx="2708910" cy="169280"/>
          </a:xfrm>
        </p:spPr>
        <p:txBody>
          <a:bodyPr/>
          <a:lstStyle>
            <a:lvl1pPr>
              <a:defRPr sz="675" b="1" cap="all" baseline="0">
                <a:solidFill>
                  <a:schemeClr val="accent3"/>
                </a:solidFill>
                <a:latin typeface="+mn-lt"/>
              </a:defRPr>
            </a:lvl1pPr>
          </a:lstStyle>
          <a:p>
            <a:pPr lvl="0"/>
            <a:r>
              <a:rPr lang="en-US"/>
              <a:t>Click to add section title</a:t>
            </a:r>
          </a:p>
        </p:txBody>
      </p:sp>
    </p:spTree>
    <p:extLst>
      <p:ext uri="{BB962C8B-B14F-4D97-AF65-F5344CB8AC3E}">
        <p14:creationId xmlns:p14="http://schemas.microsoft.com/office/powerpoint/2010/main" val="3321397323"/>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Title + Text">
    <p:spTree>
      <p:nvGrpSpPr>
        <p:cNvPr id="1" name=""/>
        <p:cNvGrpSpPr/>
        <p:nvPr/>
      </p:nvGrpSpPr>
      <p:grpSpPr>
        <a:xfrm>
          <a:off x="0" y="0"/>
          <a:ext cx="0" cy="0"/>
          <a:chOff x="0" y="0"/>
          <a:chExt cx="0" cy="0"/>
        </a:xfrm>
      </p:grpSpPr>
      <p:sp>
        <p:nvSpPr>
          <p:cNvPr id="10" name="Text Placeholder 9"/>
          <p:cNvSpPr>
            <a:spLocks noGrp="1"/>
          </p:cNvSpPr>
          <p:nvPr>
            <p:ph type="body" sz="quarter" idx="10"/>
          </p:nvPr>
        </p:nvSpPr>
        <p:spPr>
          <a:xfrm>
            <a:off x="342900" y="855080"/>
            <a:ext cx="7022306" cy="3774069"/>
          </a:xfrm>
        </p:spPr>
        <p:txBody>
          <a:bodyPr lIns="0" tIns="0" rIns="0" bIns="0"/>
          <a:lstStyle>
            <a:lvl1pPr marL="0" indent="0">
              <a:lnSpc>
                <a:spcPct val="110000"/>
              </a:lnSpc>
              <a:spcAft>
                <a:spcPts val="0"/>
              </a:spcAft>
              <a:buNone/>
              <a:tabLst>
                <a:tab pos="2438400" algn="l"/>
              </a:tabLst>
              <a:defRPr sz="1200" b="0" i="0" baseline="0">
                <a:latin typeface="+mn-lt"/>
              </a:defRPr>
            </a:lvl1pPr>
            <a:lvl2pPr marL="342900" indent="0">
              <a:buNone/>
              <a:defRPr/>
            </a:lvl2pPr>
            <a:lvl3pPr marL="685800" indent="0">
              <a:buNone/>
              <a:defRPr/>
            </a:lvl3pPr>
            <a:lvl4pPr marL="1028700" indent="0">
              <a:buNone/>
              <a:defRPr/>
            </a:lvl4pPr>
            <a:lvl5pPr marL="1371600" indent="0">
              <a:buNone/>
              <a:defRPr/>
            </a:lvl5pPr>
          </a:lstStyle>
          <a:p>
            <a:pPr lvl="0"/>
            <a:r>
              <a:rPr lang="en-US"/>
              <a:t>Edit Master text styles</a:t>
            </a:r>
          </a:p>
        </p:txBody>
      </p:sp>
      <p:sp>
        <p:nvSpPr>
          <p:cNvPr id="11" name="Title 1"/>
          <p:cNvSpPr>
            <a:spLocks noGrp="1"/>
          </p:cNvSpPr>
          <p:nvPr>
            <p:ph type="title"/>
          </p:nvPr>
        </p:nvSpPr>
        <p:spPr>
          <a:xfrm>
            <a:off x="342900" y="342900"/>
            <a:ext cx="8455914" cy="342900"/>
          </a:xfrm>
        </p:spPr>
        <p:txBody>
          <a:bodyPr/>
          <a:lstStyle>
            <a:lvl1pPr>
              <a:defRPr b="1">
                <a:latin typeface="+mn-lt"/>
              </a:defRPr>
            </a:lvl1pPr>
          </a:lstStyle>
          <a:p>
            <a:r>
              <a:rPr lang="en-US"/>
              <a:t>Click to edit Master title style</a:t>
            </a:r>
          </a:p>
        </p:txBody>
      </p:sp>
      <p:sp>
        <p:nvSpPr>
          <p:cNvPr id="12" name="Text Placeholder 10"/>
          <p:cNvSpPr>
            <a:spLocks noGrp="1"/>
          </p:cNvSpPr>
          <p:nvPr>
            <p:ph type="body" sz="quarter" idx="15" hasCustomPrompt="1"/>
          </p:nvPr>
        </p:nvSpPr>
        <p:spPr>
          <a:xfrm>
            <a:off x="342900" y="173620"/>
            <a:ext cx="2708910" cy="169280"/>
          </a:xfrm>
        </p:spPr>
        <p:txBody>
          <a:bodyPr/>
          <a:lstStyle>
            <a:lvl1pPr>
              <a:defRPr sz="675" b="1" cap="all" baseline="0">
                <a:solidFill>
                  <a:schemeClr val="accent3"/>
                </a:solidFill>
                <a:latin typeface="+mn-lt"/>
              </a:defRPr>
            </a:lvl1pPr>
          </a:lstStyle>
          <a:p>
            <a:pPr lvl="0"/>
            <a:r>
              <a:rPr lang="en-US"/>
              <a:t>Click to add section title</a:t>
            </a:r>
          </a:p>
        </p:txBody>
      </p:sp>
    </p:spTree>
    <p:extLst>
      <p:ext uri="{BB962C8B-B14F-4D97-AF65-F5344CB8AC3E}">
        <p14:creationId xmlns:p14="http://schemas.microsoft.com/office/powerpoint/2010/main" val="2402786929"/>
      </p:ext>
    </p:extLst>
  </p:cSld>
  <p:clrMapOvr>
    <a:masterClrMapping/>
  </p:clrMapOvr>
  <p:extLst>
    <p:ext uri="{DCECCB84-F9BA-43D5-87BE-67443E8EF086}">
      <p15:sldGuideLst xmlns:p15="http://schemas.microsoft.com/office/powerpoint/2012/main"/>
    </p:ext>
  </p:extLst>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3_Title + Text">
    <p:spTree>
      <p:nvGrpSpPr>
        <p:cNvPr id="1" name=""/>
        <p:cNvGrpSpPr/>
        <p:nvPr/>
      </p:nvGrpSpPr>
      <p:grpSpPr>
        <a:xfrm>
          <a:off x="0" y="0"/>
          <a:ext cx="0" cy="0"/>
          <a:chOff x="0" y="0"/>
          <a:chExt cx="0" cy="0"/>
        </a:xfrm>
      </p:grpSpPr>
      <p:sp>
        <p:nvSpPr>
          <p:cNvPr id="10" name="Text Placeholder 9"/>
          <p:cNvSpPr>
            <a:spLocks noGrp="1"/>
          </p:cNvSpPr>
          <p:nvPr>
            <p:ph type="body" sz="quarter" idx="10"/>
          </p:nvPr>
        </p:nvSpPr>
        <p:spPr>
          <a:xfrm>
            <a:off x="4433776" y="855080"/>
            <a:ext cx="4365038" cy="3774069"/>
          </a:xfrm>
        </p:spPr>
        <p:txBody>
          <a:bodyPr lIns="0" tIns="0" rIns="0" bIns="0"/>
          <a:lstStyle>
            <a:lvl1pPr marL="0" indent="0">
              <a:lnSpc>
                <a:spcPct val="110000"/>
              </a:lnSpc>
              <a:spcAft>
                <a:spcPts val="0"/>
              </a:spcAft>
              <a:buNone/>
              <a:tabLst>
                <a:tab pos="2438400" algn="l"/>
              </a:tabLst>
              <a:defRPr sz="1200" b="0" i="0" baseline="0">
                <a:latin typeface="+mj-lt"/>
              </a:defRPr>
            </a:lvl1pPr>
            <a:lvl2pPr marL="342900" indent="0">
              <a:buNone/>
              <a:defRPr/>
            </a:lvl2pPr>
            <a:lvl3pPr marL="685800" indent="0">
              <a:buNone/>
              <a:defRPr/>
            </a:lvl3pPr>
            <a:lvl4pPr marL="1028700" indent="0">
              <a:buNone/>
              <a:defRPr/>
            </a:lvl4pPr>
            <a:lvl5pPr marL="1371600" indent="0">
              <a:buNone/>
              <a:defRPr/>
            </a:lvl5pPr>
          </a:lstStyle>
          <a:p>
            <a:pPr lvl="0"/>
            <a:r>
              <a:rPr lang="en-US" dirty="0"/>
              <a:t>Edit Master text styles</a:t>
            </a:r>
          </a:p>
        </p:txBody>
      </p:sp>
      <p:sp>
        <p:nvSpPr>
          <p:cNvPr id="11" name="Title 1"/>
          <p:cNvSpPr>
            <a:spLocks noGrp="1"/>
          </p:cNvSpPr>
          <p:nvPr>
            <p:ph type="title"/>
          </p:nvPr>
        </p:nvSpPr>
        <p:spPr>
          <a:xfrm>
            <a:off x="342900" y="342900"/>
            <a:ext cx="8455914" cy="342900"/>
          </a:xfrm>
        </p:spPr>
        <p:txBody>
          <a:bodyPr/>
          <a:lstStyle>
            <a:lvl1pPr>
              <a:defRPr b="1">
                <a:latin typeface="+mj-lt"/>
              </a:defRPr>
            </a:lvl1pPr>
          </a:lstStyle>
          <a:p>
            <a:r>
              <a:rPr lang="en-US" dirty="0"/>
              <a:t>Click to edit Master title style</a:t>
            </a:r>
          </a:p>
        </p:txBody>
      </p:sp>
      <p:sp>
        <p:nvSpPr>
          <p:cNvPr id="12" name="Text Placeholder 10"/>
          <p:cNvSpPr>
            <a:spLocks noGrp="1"/>
          </p:cNvSpPr>
          <p:nvPr>
            <p:ph type="body" sz="quarter" idx="15" hasCustomPrompt="1"/>
          </p:nvPr>
        </p:nvSpPr>
        <p:spPr>
          <a:xfrm>
            <a:off x="342900" y="173620"/>
            <a:ext cx="2708910" cy="169280"/>
          </a:xfrm>
        </p:spPr>
        <p:txBody>
          <a:bodyPr/>
          <a:lstStyle>
            <a:lvl1pPr>
              <a:defRPr sz="675" b="1" cap="all" baseline="0">
                <a:solidFill>
                  <a:schemeClr val="accent3"/>
                </a:solidFill>
                <a:latin typeface="+mj-lt"/>
              </a:defRPr>
            </a:lvl1pPr>
          </a:lstStyle>
          <a:p>
            <a:pPr lvl="0"/>
            <a:r>
              <a:rPr lang="en-US"/>
              <a:t>Click to add section title</a:t>
            </a:r>
          </a:p>
        </p:txBody>
      </p:sp>
      <p:sp>
        <p:nvSpPr>
          <p:cNvPr id="6" name="Text Placeholder 9">
            <a:extLst>
              <a:ext uri="{FF2B5EF4-FFF2-40B4-BE49-F238E27FC236}">
                <a16:creationId xmlns:a16="http://schemas.microsoft.com/office/drawing/2014/main" id="{47BF3F39-D94F-BC48-8482-2214B9D8033C}"/>
              </a:ext>
            </a:extLst>
          </p:cNvPr>
          <p:cNvSpPr>
            <a:spLocks noGrp="1"/>
          </p:cNvSpPr>
          <p:nvPr>
            <p:ph type="body" sz="quarter" idx="16"/>
          </p:nvPr>
        </p:nvSpPr>
        <p:spPr>
          <a:xfrm>
            <a:off x="342900" y="855080"/>
            <a:ext cx="3955312" cy="3774069"/>
          </a:xfrm>
        </p:spPr>
        <p:txBody>
          <a:bodyPr lIns="0" tIns="0" rIns="0" bIns="0"/>
          <a:lstStyle>
            <a:lvl1pPr marL="0" indent="0">
              <a:lnSpc>
                <a:spcPct val="110000"/>
              </a:lnSpc>
              <a:spcAft>
                <a:spcPts val="0"/>
              </a:spcAft>
              <a:buNone/>
              <a:tabLst>
                <a:tab pos="2438400" algn="l"/>
              </a:tabLst>
              <a:defRPr sz="1000" b="0" i="0" baseline="0">
                <a:latin typeface="+mj-lt"/>
              </a:defRPr>
            </a:lvl1pPr>
            <a:lvl2pPr marL="342900" indent="0">
              <a:buNone/>
              <a:defRPr/>
            </a:lvl2pPr>
            <a:lvl3pPr marL="685800" indent="0">
              <a:buNone/>
              <a:defRPr/>
            </a:lvl3pPr>
            <a:lvl4pPr marL="1028700" indent="0">
              <a:buNone/>
              <a:defRPr/>
            </a:lvl4pPr>
            <a:lvl5pPr marL="1371600" indent="0">
              <a:buNone/>
              <a:defRPr/>
            </a:lvl5pPr>
          </a:lstStyle>
          <a:p>
            <a:pPr lvl="0"/>
            <a:r>
              <a:rPr lang="en-US" dirty="0"/>
              <a:t>Edit Master text styles</a:t>
            </a:r>
          </a:p>
        </p:txBody>
      </p:sp>
    </p:spTree>
    <p:extLst>
      <p:ext uri="{BB962C8B-B14F-4D97-AF65-F5344CB8AC3E}">
        <p14:creationId xmlns:p14="http://schemas.microsoft.com/office/powerpoint/2010/main" val="2291217687"/>
      </p:ext>
    </p:extLst>
  </p:cSld>
  <p:clrMapOvr>
    <a:masterClrMapping/>
  </p:clrMapOvr>
  <p:extLst>
    <p:ext uri="{DCECCB84-F9BA-43D5-87BE-67443E8EF086}">
      <p15:sldGuideLst xmlns:p15="http://schemas.microsoft.com/office/powerpoint/2012/main"/>
    </p:ext>
  </p:extLst>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1_Title + Text">
    <p:spTree>
      <p:nvGrpSpPr>
        <p:cNvPr id="1" name=""/>
        <p:cNvGrpSpPr/>
        <p:nvPr/>
      </p:nvGrpSpPr>
      <p:grpSpPr>
        <a:xfrm>
          <a:off x="0" y="0"/>
          <a:ext cx="0" cy="0"/>
          <a:chOff x="0" y="0"/>
          <a:chExt cx="0" cy="0"/>
        </a:xfrm>
      </p:grpSpPr>
      <p:sp>
        <p:nvSpPr>
          <p:cNvPr id="10" name="Text Placeholder 9"/>
          <p:cNvSpPr>
            <a:spLocks noGrp="1"/>
          </p:cNvSpPr>
          <p:nvPr>
            <p:ph type="body" sz="quarter" idx="10"/>
          </p:nvPr>
        </p:nvSpPr>
        <p:spPr>
          <a:xfrm>
            <a:off x="342900" y="855080"/>
            <a:ext cx="8455914" cy="3774069"/>
          </a:xfrm>
        </p:spPr>
        <p:txBody>
          <a:bodyPr lIns="0" tIns="0" rIns="0" bIns="0"/>
          <a:lstStyle>
            <a:lvl1pPr marL="0" indent="0">
              <a:lnSpc>
                <a:spcPct val="110000"/>
              </a:lnSpc>
              <a:spcAft>
                <a:spcPts val="0"/>
              </a:spcAft>
              <a:buNone/>
              <a:tabLst>
                <a:tab pos="2438400" algn="l"/>
              </a:tabLst>
              <a:defRPr sz="1000" b="0" i="0" baseline="0">
                <a:latin typeface="+mj-lt"/>
              </a:defRPr>
            </a:lvl1pPr>
            <a:lvl2pPr marL="342900" indent="0">
              <a:buNone/>
              <a:defRPr/>
            </a:lvl2pPr>
            <a:lvl3pPr marL="685800" indent="0">
              <a:buNone/>
              <a:defRPr/>
            </a:lvl3pPr>
            <a:lvl4pPr marL="1028700" indent="0">
              <a:buNone/>
              <a:defRPr/>
            </a:lvl4pPr>
            <a:lvl5pPr marL="1371600" indent="0">
              <a:buNone/>
              <a:defRPr/>
            </a:lvl5pPr>
          </a:lstStyle>
          <a:p>
            <a:pPr lvl="0"/>
            <a:r>
              <a:rPr lang="en-US" dirty="0"/>
              <a:t>Edit Master text styles</a:t>
            </a:r>
          </a:p>
        </p:txBody>
      </p:sp>
      <p:sp>
        <p:nvSpPr>
          <p:cNvPr id="11" name="Title 1"/>
          <p:cNvSpPr>
            <a:spLocks noGrp="1"/>
          </p:cNvSpPr>
          <p:nvPr>
            <p:ph type="title"/>
          </p:nvPr>
        </p:nvSpPr>
        <p:spPr>
          <a:xfrm>
            <a:off x="342900" y="342900"/>
            <a:ext cx="8455914" cy="342900"/>
          </a:xfrm>
        </p:spPr>
        <p:txBody>
          <a:bodyPr/>
          <a:lstStyle>
            <a:lvl1pPr>
              <a:defRPr b="1">
                <a:latin typeface="+mn-lt"/>
              </a:defRPr>
            </a:lvl1pPr>
          </a:lstStyle>
          <a:p>
            <a:r>
              <a:rPr lang="en-US"/>
              <a:t>Click to edit Master title style</a:t>
            </a:r>
          </a:p>
        </p:txBody>
      </p:sp>
      <p:sp>
        <p:nvSpPr>
          <p:cNvPr id="12" name="Text Placeholder 10"/>
          <p:cNvSpPr>
            <a:spLocks noGrp="1"/>
          </p:cNvSpPr>
          <p:nvPr>
            <p:ph type="body" sz="quarter" idx="15" hasCustomPrompt="1"/>
          </p:nvPr>
        </p:nvSpPr>
        <p:spPr>
          <a:xfrm>
            <a:off x="342900" y="173620"/>
            <a:ext cx="2708910" cy="169280"/>
          </a:xfrm>
        </p:spPr>
        <p:txBody>
          <a:bodyPr/>
          <a:lstStyle>
            <a:lvl1pPr>
              <a:defRPr sz="675" b="1" cap="all" baseline="0">
                <a:solidFill>
                  <a:schemeClr val="accent3"/>
                </a:solidFill>
                <a:latin typeface="+mn-lt"/>
              </a:defRPr>
            </a:lvl1pPr>
          </a:lstStyle>
          <a:p>
            <a:pPr lvl="0"/>
            <a:r>
              <a:rPr lang="en-US"/>
              <a:t>Click to add section title</a:t>
            </a:r>
          </a:p>
        </p:txBody>
      </p:sp>
    </p:spTree>
    <p:extLst>
      <p:ext uri="{BB962C8B-B14F-4D97-AF65-F5344CB8AC3E}">
        <p14:creationId xmlns:p14="http://schemas.microsoft.com/office/powerpoint/2010/main" val="2858222598"/>
      </p:ext>
    </p:extLst>
  </p:cSld>
  <p:clrMapOvr>
    <a:masterClrMapping/>
  </p:clrMapOvr>
  <p:extLst>
    <p:ext uri="{DCECCB84-F9BA-43D5-87BE-67443E8EF086}">
      <p15:sldGuideLst xmlns:p15="http://schemas.microsoft.com/office/powerpoint/2012/main"/>
    </p:ext>
  </p:extLst>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2_Title + Text">
    <p:bg>
      <p:bgPr>
        <a:solidFill>
          <a:schemeClr val="tx1"/>
        </a:solidFill>
        <a:effectLst/>
      </p:bgPr>
    </p:bg>
    <p:spTree>
      <p:nvGrpSpPr>
        <p:cNvPr id="1" name=""/>
        <p:cNvGrpSpPr/>
        <p:nvPr/>
      </p:nvGrpSpPr>
      <p:grpSpPr>
        <a:xfrm>
          <a:off x="0" y="0"/>
          <a:ext cx="0" cy="0"/>
          <a:chOff x="0" y="0"/>
          <a:chExt cx="0" cy="0"/>
        </a:xfrm>
      </p:grpSpPr>
      <p:sp>
        <p:nvSpPr>
          <p:cNvPr id="10" name="Text Placeholder 9"/>
          <p:cNvSpPr>
            <a:spLocks noGrp="1"/>
          </p:cNvSpPr>
          <p:nvPr>
            <p:ph type="body" sz="quarter" idx="10"/>
          </p:nvPr>
        </p:nvSpPr>
        <p:spPr>
          <a:xfrm>
            <a:off x="342900" y="855080"/>
            <a:ext cx="8455914" cy="3774069"/>
          </a:xfrm>
        </p:spPr>
        <p:txBody>
          <a:bodyPr lIns="0" tIns="0" rIns="0" bIns="0"/>
          <a:lstStyle>
            <a:lvl1pPr marL="0" indent="0">
              <a:lnSpc>
                <a:spcPct val="110000"/>
              </a:lnSpc>
              <a:spcAft>
                <a:spcPts val="0"/>
              </a:spcAft>
              <a:buNone/>
              <a:tabLst>
                <a:tab pos="2438400" algn="l"/>
              </a:tabLst>
              <a:defRPr sz="6600" b="0" i="0" baseline="0">
                <a:solidFill>
                  <a:schemeClr val="bg1"/>
                </a:solidFill>
                <a:latin typeface="+mj-lt"/>
              </a:defRPr>
            </a:lvl1pPr>
            <a:lvl2pPr marL="342900" indent="0">
              <a:buNone/>
              <a:defRPr/>
            </a:lvl2pPr>
            <a:lvl3pPr marL="685800" indent="0">
              <a:buNone/>
              <a:defRPr/>
            </a:lvl3pPr>
            <a:lvl4pPr marL="1028700" indent="0">
              <a:buNone/>
              <a:defRPr/>
            </a:lvl4pPr>
            <a:lvl5pPr marL="1371600" indent="0">
              <a:buNone/>
              <a:defRPr/>
            </a:lvl5pPr>
          </a:lstStyle>
          <a:p>
            <a:pPr lvl="0"/>
            <a:r>
              <a:rPr lang="en-US"/>
              <a:t>Edit Master text styles</a:t>
            </a:r>
          </a:p>
        </p:txBody>
      </p:sp>
      <p:sp>
        <p:nvSpPr>
          <p:cNvPr id="11" name="Title 1"/>
          <p:cNvSpPr>
            <a:spLocks noGrp="1"/>
          </p:cNvSpPr>
          <p:nvPr>
            <p:ph type="title"/>
          </p:nvPr>
        </p:nvSpPr>
        <p:spPr>
          <a:xfrm>
            <a:off x="342900" y="342900"/>
            <a:ext cx="8455914" cy="342900"/>
          </a:xfrm>
        </p:spPr>
        <p:txBody>
          <a:bodyPr/>
          <a:lstStyle>
            <a:lvl1pPr>
              <a:defRPr b="1">
                <a:solidFill>
                  <a:schemeClr val="bg1"/>
                </a:solidFill>
                <a:latin typeface="+mn-lt"/>
              </a:defRPr>
            </a:lvl1pPr>
          </a:lstStyle>
          <a:p>
            <a:r>
              <a:rPr lang="en-US"/>
              <a:t>Click to edit Master title style</a:t>
            </a:r>
          </a:p>
        </p:txBody>
      </p:sp>
      <p:sp>
        <p:nvSpPr>
          <p:cNvPr id="12" name="Text Placeholder 10"/>
          <p:cNvSpPr>
            <a:spLocks noGrp="1"/>
          </p:cNvSpPr>
          <p:nvPr>
            <p:ph type="body" sz="quarter" idx="15" hasCustomPrompt="1"/>
          </p:nvPr>
        </p:nvSpPr>
        <p:spPr>
          <a:xfrm>
            <a:off x="342900" y="173620"/>
            <a:ext cx="2708910" cy="169280"/>
          </a:xfrm>
        </p:spPr>
        <p:txBody>
          <a:bodyPr/>
          <a:lstStyle>
            <a:lvl1pPr>
              <a:defRPr sz="675" b="1" cap="all" baseline="0">
                <a:solidFill>
                  <a:schemeClr val="accent3"/>
                </a:solidFill>
                <a:latin typeface="+mn-lt"/>
              </a:defRPr>
            </a:lvl1pPr>
          </a:lstStyle>
          <a:p>
            <a:pPr lvl="0"/>
            <a:r>
              <a:rPr lang="en-US"/>
              <a:t>Click to add section title</a:t>
            </a:r>
          </a:p>
        </p:txBody>
      </p:sp>
      <p:sp>
        <p:nvSpPr>
          <p:cNvPr id="8" name="Slide Number Placeholder 13">
            <a:extLst>
              <a:ext uri="{FF2B5EF4-FFF2-40B4-BE49-F238E27FC236}">
                <a16:creationId xmlns:a16="http://schemas.microsoft.com/office/drawing/2014/main" id="{841CA2A1-3D39-2344-A5FA-9709C1FE6425}"/>
              </a:ext>
            </a:extLst>
          </p:cNvPr>
          <p:cNvSpPr txBox="1">
            <a:spLocks/>
          </p:cNvSpPr>
          <p:nvPr userDrawn="1"/>
        </p:nvSpPr>
        <p:spPr>
          <a:xfrm>
            <a:off x="8522494" y="4800599"/>
            <a:ext cx="276320" cy="171450"/>
          </a:xfrm>
          <a:prstGeom prst="rect">
            <a:avLst/>
          </a:prstGeom>
        </p:spPr>
        <p:txBody>
          <a:bodyPr vert="horz" lIns="0" tIns="0" rIns="0" bIns="0" rtlCol="0" anchor="ctr"/>
          <a:lstStyle>
            <a:defPPr>
              <a:defRPr lang="en-US"/>
            </a:defPPr>
            <a:lvl1pPr marL="0" algn="r" defTabSz="914400" rtl="0" eaLnBrk="1" latinLnBrk="0" hangingPunct="1">
              <a:defRPr sz="800" b="0" i="0" kern="1200">
                <a:solidFill>
                  <a:schemeClr val="tx1"/>
                </a:solidFill>
                <a:latin typeface="+mn-lt"/>
                <a:ea typeface="Calibri" panose="020F0502020204030204" pitchFamily="34" charset="0"/>
                <a:cs typeface="Calibri" panose="020F0502020204030204" pitchFamily="34" charset="0"/>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315F3C1C-9817-214B-A493-8D89031D0F96}" type="slidenum">
              <a:rPr lang="en-US" sz="600" b="0" i="0" smtClean="0">
                <a:solidFill>
                  <a:schemeClr val="bg1"/>
                </a:solidFill>
                <a:latin typeface="Human Sans Regular" pitchFamily="2" charset="77"/>
              </a:rPr>
              <a:pPr/>
              <a:t>‹#›</a:t>
            </a:fld>
            <a:endParaRPr lang="en-US" sz="600" b="0" i="0">
              <a:solidFill>
                <a:schemeClr val="bg1"/>
              </a:solidFill>
              <a:latin typeface="Human Sans Regular" pitchFamily="2" charset="77"/>
            </a:endParaRPr>
          </a:p>
        </p:txBody>
      </p:sp>
    </p:spTree>
    <p:extLst>
      <p:ext uri="{BB962C8B-B14F-4D97-AF65-F5344CB8AC3E}">
        <p14:creationId xmlns:p14="http://schemas.microsoft.com/office/powerpoint/2010/main" val="1481691825"/>
      </p:ext>
    </p:extLst>
  </p:cSld>
  <p:clrMapOvr>
    <a:masterClrMapping/>
  </p:clrMapOvr>
  <p:extLst>
    <p:ext uri="{DCECCB84-F9BA-43D5-87BE-67443E8EF086}">
      <p15:sldGuideLst xmlns:p15="http://schemas.microsoft.com/office/powerpoint/2012/main"/>
    </p:ext>
  </p:extLst>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5" Type="http://schemas.openxmlformats.org/officeDocument/2006/relationships/slideLayout" Target="../slideLayouts/slideLayout5.xml"/><Relationship Id="rId10" Type="http://schemas.openxmlformats.org/officeDocument/2006/relationships/theme" Target="../theme/theme1.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342901" y="342900"/>
            <a:ext cx="7020408" cy="342900"/>
          </a:xfrm>
          <a:prstGeom prst="rect">
            <a:avLst/>
          </a:prstGeom>
        </p:spPr>
        <p:txBody>
          <a:bodyPr vert="horz" lIns="0" tIns="0" rIns="0" bIns="0" rtlCol="0" anchor="t">
            <a:noAutofit/>
          </a:bodyPr>
          <a:lstStyle/>
          <a:p>
            <a:r>
              <a:rPr lang="en-US"/>
              <a:t>Click to edit Master title style</a:t>
            </a:r>
          </a:p>
        </p:txBody>
      </p:sp>
      <p:sp>
        <p:nvSpPr>
          <p:cNvPr id="3" name="Text Placeholder 2"/>
          <p:cNvSpPr>
            <a:spLocks noGrp="1"/>
          </p:cNvSpPr>
          <p:nvPr>
            <p:ph type="body" idx="1"/>
          </p:nvPr>
        </p:nvSpPr>
        <p:spPr>
          <a:xfrm>
            <a:off x="342901" y="859971"/>
            <a:ext cx="7022306" cy="3769178"/>
          </a:xfrm>
          <a:prstGeom prst="rect">
            <a:avLst/>
          </a:prstGeom>
        </p:spPr>
        <p:txBody>
          <a:bodyPr vert="horz" lIns="0" tIns="0" rIns="0" bIns="0" rtlCol="0">
            <a:no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Slide Number Placeholder 13"/>
          <p:cNvSpPr txBox="1">
            <a:spLocks/>
          </p:cNvSpPr>
          <p:nvPr userDrawn="1"/>
        </p:nvSpPr>
        <p:spPr>
          <a:xfrm>
            <a:off x="8522494" y="4800599"/>
            <a:ext cx="276320" cy="171450"/>
          </a:xfrm>
          <a:prstGeom prst="rect">
            <a:avLst/>
          </a:prstGeom>
        </p:spPr>
        <p:txBody>
          <a:bodyPr vert="horz" lIns="0" tIns="0" rIns="0" bIns="0" rtlCol="0" anchor="ctr"/>
          <a:lstStyle>
            <a:defPPr>
              <a:defRPr lang="en-US"/>
            </a:defPPr>
            <a:lvl1pPr marL="0" algn="r" defTabSz="914400" rtl="0" eaLnBrk="1" latinLnBrk="0" hangingPunct="1">
              <a:defRPr sz="800" b="0" i="0" kern="1200">
                <a:solidFill>
                  <a:schemeClr val="tx1"/>
                </a:solidFill>
                <a:latin typeface="+mn-lt"/>
                <a:ea typeface="Calibri" panose="020F0502020204030204" pitchFamily="34" charset="0"/>
                <a:cs typeface="Calibri" panose="020F0502020204030204" pitchFamily="34" charset="0"/>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315F3C1C-9817-214B-A493-8D89031D0F96}" type="slidenum">
              <a:rPr lang="en-US" sz="600" b="0" i="0" smtClean="0">
                <a:latin typeface="Calibri" panose="020F0502020204030204" pitchFamily="34" charset="0"/>
                <a:cs typeface="Calibri" panose="020F0502020204030204" pitchFamily="34" charset="0"/>
              </a:rPr>
              <a:pPr/>
              <a:t>‹#›</a:t>
            </a:fld>
            <a:endParaRPr lang="en-US" sz="600" b="0" i="0">
              <a:latin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1127938063"/>
      </p:ext>
    </p:extLst>
  </p:cSld>
  <p:clrMap bg1="lt1" tx1="dk1" bg2="lt2" tx2="dk2" accent1="accent1" accent2="accent2" accent3="accent3" accent4="accent4" accent5="accent5" accent6="accent6" hlink="hlink" folHlink="folHlink"/>
  <p:sldLayoutIdLst>
    <p:sldLayoutId id="2147483863" r:id="rId1"/>
    <p:sldLayoutId id="2147483816" r:id="rId2"/>
    <p:sldLayoutId id="2147483822" r:id="rId3"/>
    <p:sldLayoutId id="2147483823" r:id="rId4"/>
    <p:sldLayoutId id="2147483824" r:id="rId5"/>
    <p:sldLayoutId id="2147483825" r:id="rId6"/>
    <p:sldLayoutId id="2147483826" r:id="rId7"/>
    <p:sldLayoutId id="2147483828" r:id="rId8"/>
    <p:sldLayoutId id="2147483829" r:id="rId9"/>
  </p:sldLayoutIdLst>
  <p:hf hdr="0" dt="0"/>
  <p:txStyles>
    <p:titleStyle>
      <a:lvl1pPr algn="l" defTabSz="685800" rtl="0" eaLnBrk="1" latinLnBrk="0" hangingPunct="1">
        <a:lnSpc>
          <a:spcPct val="100000"/>
        </a:lnSpc>
        <a:spcBef>
          <a:spcPct val="0"/>
        </a:spcBef>
        <a:buNone/>
        <a:defRPr sz="1650" b="0" i="0" kern="1200">
          <a:solidFill>
            <a:schemeClr val="tx1"/>
          </a:solidFill>
          <a:latin typeface="+mn-lt"/>
          <a:ea typeface="Calibri" panose="020F0502020204030204" pitchFamily="34" charset="0"/>
          <a:cs typeface="Calibri" panose="020F0502020204030204" pitchFamily="34" charset="0"/>
        </a:defRPr>
      </a:lvl1pPr>
    </p:titleStyle>
    <p:bodyStyle>
      <a:lvl1pPr marL="0" indent="0" algn="l" defTabSz="685800" rtl="0" eaLnBrk="1" latinLnBrk="0" hangingPunct="1">
        <a:lnSpc>
          <a:spcPct val="110000"/>
        </a:lnSpc>
        <a:spcBef>
          <a:spcPts val="450"/>
        </a:spcBef>
        <a:spcAft>
          <a:spcPts val="0"/>
        </a:spcAft>
        <a:buFont typeface="Arial" panose="020B0604020202020204" pitchFamily="34" charset="0"/>
        <a:buNone/>
        <a:defRPr sz="750" b="0" i="0" kern="1200">
          <a:solidFill>
            <a:schemeClr val="tx1"/>
          </a:solidFill>
          <a:latin typeface="+mn-lt"/>
          <a:ea typeface="Calibri" panose="020F0502020204030204" pitchFamily="34" charset="0"/>
          <a:cs typeface="Calibri" panose="020F0502020204030204" pitchFamily="34" charset="0"/>
        </a:defRPr>
      </a:lvl1pPr>
      <a:lvl2pPr marL="514350" indent="-171450" algn="l" defTabSz="685800" rtl="0" eaLnBrk="1" latinLnBrk="0" hangingPunct="1">
        <a:lnSpc>
          <a:spcPct val="110000"/>
        </a:lnSpc>
        <a:spcBef>
          <a:spcPts val="450"/>
        </a:spcBef>
        <a:spcAft>
          <a:spcPts val="0"/>
        </a:spcAft>
        <a:buFont typeface="Arial" panose="020B0604020202020204" pitchFamily="34" charset="0"/>
        <a:buChar char="•"/>
        <a:defRPr sz="750" b="0" i="0" kern="1200">
          <a:solidFill>
            <a:schemeClr val="tx1"/>
          </a:solidFill>
          <a:latin typeface="+mn-lt"/>
          <a:ea typeface="Calibri" panose="020F0502020204030204" pitchFamily="34" charset="0"/>
          <a:cs typeface="Calibri" panose="020F0502020204030204" pitchFamily="34" charset="0"/>
        </a:defRPr>
      </a:lvl2pPr>
      <a:lvl3pPr marL="857250" indent="-171450" algn="l" defTabSz="685800" rtl="0" eaLnBrk="1" latinLnBrk="0" hangingPunct="1">
        <a:lnSpc>
          <a:spcPct val="110000"/>
        </a:lnSpc>
        <a:spcBef>
          <a:spcPts val="450"/>
        </a:spcBef>
        <a:spcAft>
          <a:spcPts val="0"/>
        </a:spcAft>
        <a:buFont typeface="Arial" panose="020B0604020202020204" pitchFamily="34" charset="0"/>
        <a:buChar char="•"/>
        <a:defRPr sz="750" b="0" i="0" kern="1200">
          <a:solidFill>
            <a:schemeClr val="tx1"/>
          </a:solidFill>
          <a:latin typeface="+mn-lt"/>
          <a:ea typeface="Calibri" panose="020F0502020204030204" pitchFamily="34" charset="0"/>
          <a:cs typeface="Calibri" panose="020F0502020204030204" pitchFamily="34" charset="0"/>
        </a:defRPr>
      </a:lvl3pPr>
      <a:lvl4pPr marL="1200150" indent="-171450" algn="l" defTabSz="685800" rtl="0" eaLnBrk="1" latinLnBrk="0" hangingPunct="1">
        <a:lnSpc>
          <a:spcPct val="110000"/>
        </a:lnSpc>
        <a:spcBef>
          <a:spcPts val="450"/>
        </a:spcBef>
        <a:spcAft>
          <a:spcPts val="0"/>
        </a:spcAft>
        <a:buFont typeface="Arial" panose="020B0604020202020204" pitchFamily="34" charset="0"/>
        <a:buChar char="•"/>
        <a:defRPr sz="750" b="0" i="0" kern="1200">
          <a:solidFill>
            <a:schemeClr val="tx1"/>
          </a:solidFill>
          <a:latin typeface="+mn-lt"/>
          <a:ea typeface="Calibri" panose="020F0502020204030204" pitchFamily="34" charset="0"/>
          <a:cs typeface="Calibri" panose="020F0502020204030204" pitchFamily="34" charset="0"/>
        </a:defRPr>
      </a:lvl4pPr>
      <a:lvl5pPr marL="1543050" indent="-171450" algn="l" defTabSz="685800" rtl="0" eaLnBrk="1" latinLnBrk="0" hangingPunct="1">
        <a:lnSpc>
          <a:spcPct val="110000"/>
        </a:lnSpc>
        <a:spcBef>
          <a:spcPts val="450"/>
        </a:spcBef>
        <a:spcAft>
          <a:spcPts val="0"/>
        </a:spcAft>
        <a:buFont typeface="Arial" panose="020B0604020202020204" pitchFamily="34" charset="0"/>
        <a:buChar char="•"/>
        <a:defRPr sz="750" b="0" i="0" kern="1200">
          <a:solidFill>
            <a:schemeClr val="tx1"/>
          </a:solidFill>
          <a:latin typeface="+mn-lt"/>
          <a:ea typeface="Calibri" panose="020F0502020204030204" pitchFamily="34" charset="0"/>
          <a:cs typeface="Calibri" panose="020F0502020204030204" pitchFamily="34" charset="0"/>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p:bodyStyle>
    <p:otherStyle>
      <a:defPPr>
        <a:defRPr lang="en-US"/>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2160">
          <p15:clr>
            <a:srgbClr val="F26B43"/>
          </p15:clr>
        </p15:guide>
        <p15:guide id="16" orient="horz" pos="144">
          <p15:clr>
            <a:srgbClr val="F26B43"/>
          </p15:clr>
        </p15:guide>
        <p15:guide id="17" orient="horz" pos="288">
          <p15:clr>
            <a:srgbClr val="F26B43"/>
          </p15:clr>
        </p15:guide>
        <p15:guide id="18" orient="horz" pos="432">
          <p15:clr>
            <a:srgbClr val="F26B43"/>
          </p15:clr>
        </p15:guide>
        <p15:guide id="19" orient="horz" pos="576">
          <p15:clr>
            <a:srgbClr val="F26B43"/>
          </p15:clr>
        </p15:guide>
        <p15:guide id="20" orient="horz" pos="720">
          <p15:clr>
            <a:srgbClr val="F26B43"/>
          </p15:clr>
        </p15:guide>
        <p15:guide id="21" orient="horz" pos="864">
          <p15:clr>
            <a:srgbClr val="F26B43"/>
          </p15:clr>
        </p15:guide>
        <p15:guide id="22" orient="horz" pos="1008">
          <p15:clr>
            <a:srgbClr val="F26B43"/>
          </p15:clr>
        </p15:guide>
        <p15:guide id="23" orient="horz" pos="1152">
          <p15:clr>
            <a:srgbClr val="F26B43"/>
          </p15:clr>
        </p15:guide>
        <p15:guide id="24" orient="horz" pos="1296">
          <p15:clr>
            <a:srgbClr val="F26B43"/>
          </p15:clr>
        </p15:guide>
        <p15:guide id="25" orient="horz" pos="1440">
          <p15:clr>
            <a:srgbClr val="F26B43"/>
          </p15:clr>
        </p15:guide>
        <p15:guide id="26" orient="horz" pos="1584">
          <p15:clr>
            <a:srgbClr val="F26B43"/>
          </p15:clr>
        </p15:guide>
        <p15:guide id="27" orient="horz" pos="1728">
          <p15:clr>
            <a:srgbClr val="F26B43"/>
          </p15:clr>
        </p15:guide>
        <p15:guide id="28" orient="horz" pos="1872">
          <p15:clr>
            <a:srgbClr val="F26B43"/>
          </p15:clr>
        </p15:guide>
        <p15:guide id="29" orient="horz" pos="2016">
          <p15:clr>
            <a:srgbClr val="F26B43"/>
          </p15:clr>
        </p15:guide>
        <p15:guide id="30" orient="horz" pos="2304">
          <p15:clr>
            <a:srgbClr val="F26B43"/>
          </p15:clr>
        </p15:guide>
        <p15:guide id="31" orient="horz" pos="2448">
          <p15:clr>
            <a:srgbClr val="F26B43"/>
          </p15:clr>
        </p15:guide>
        <p15:guide id="32" orient="horz" pos="2592">
          <p15:clr>
            <a:srgbClr val="F26B43"/>
          </p15:clr>
        </p15:guide>
        <p15:guide id="33" orient="horz" pos="2736">
          <p15:clr>
            <a:srgbClr val="F26B43"/>
          </p15:clr>
        </p15:guide>
        <p15:guide id="34" orient="horz" pos="2880">
          <p15:clr>
            <a:srgbClr val="F26B43"/>
          </p15:clr>
        </p15:guide>
        <p15:guide id="35" orient="horz" pos="3024">
          <p15:clr>
            <a:srgbClr val="F26B43"/>
          </p15:clr>
        </p15:guide>
        <p15:guide id="36" orient="horz" pos="3168">
          <p15:clr>
            <a:srgbClr val="F26B43"/>
          </p15:clr>
        </p15:guide>
        <p15:guide id="37" orient="horz" pos="3312">
          <p15:clr>
            <a:srgbClr val="F26B43"/>
          </p15:clr>
        </p15:guide>
        <p15:guide id="38" orient="horz" pos="3456">
          <p15:clr>
            <a:srgbClr val="F26B43"/>
          </p15:clr>
        </p15:guide>
        <p15:guide id="39" orient="horz" pos="3600">
          <p15:clr>
            <a:srgbClr val="F26B43"/>
          </p15:clr>
        </p15:guide>
        <p15:guide id="40" orient="horz" pos="3744">
          <p15:clr>
            <a:srgbClr val="F26B43"/>
          </p15:clr>
        </p15:guide>
        <p15:guide id="41" orient="horz" pos="3888">
          <p15:clr>
            <a:srgbClr val="F26B43"/>
          </p15:clr>
        </p15:guide>
        <p15:guide id="43" orient="horz" pos="4176">
          <p15:clr>
            <a:srgbClr val="F26B43"/>
          </p15:clr>
        </p15:guide>
        <p15:guide id="56" orient="horz">
          <p15:clr>
            <a:srgbClr val="F26B43"/>
          </p15:clr>
        </p15:guide>
        <p15:guide id="57" orient="horz" pos="4320">
          <p15:clr>
            <a:srgbClr val="F26B43"/>
          </p15:clr>
        </p15:guide>
        <p15:guide id="58" orient="horz" pos="4032">
          <p15:clr>
            <a:srgbClr val="F26B43"/>
          </p15:clr>
        </p15:guide>
        <p15:guide id="59" pos="288">
          <p15:clr>
            <a:srgbClr val="F26B43"/>
          </p15:clr>
        </p15:guide>
        <p15:guide id="61" pos="7392">
          <p15:clr>
            <a:srgbClr val="F26B43"/>
          </p15:clr>
        </p15:guide>
        <p15:guide id="62" pos="894">
          <p15:clr>
            <a:srgbClr val="F26B43"/>
          </p15:clr>
        </p15:guide>
        <p15:guide id="63" pos="750">
          <p15:clr>
            <a:srgbClr val="F26B43"/>
          </p15:clr>
        </p15:guide>
        <p15:guide id="64" pos="1354">
          <p15:clr>
            <a:srgbClr val="F26B43"/>
          </p15:clr>
        </p15:guide>
        <p15:guide id="65" pos="1498">
          <p15:clr>
            <a:srgbClr val="F26B43"/>
          </p15:clr>
        </p15:guide>
        <p15:guide id="66" pos="1958">
          <p15:clr>
            <a:srgbClr val="F26B43"/>
          </p15:clr>
        </p15:guide>
        <p15:guide id="67" pos="2104">
          <p15:clr>
            <a:srgbClr val="F26B43"/>
          </p15:clr>
        </p15:guide>
        <p15:guide id="68" pos="2710">
          <p15:clr>
            <a:srgbClr val="F26B43"/>
          </p15:clr>
        </p15:guide>
        <p15:guide id="69" pos="2565">
          <p15:clr>
            <a:srgbClr val="F26B43"/>
          </p15:clr>
        </p15:guide>
        <p15:guide id="70" pos="3310">
          <p15:clr>
            <a:srgbClr val="F26B43"/>
          </p15:clr>
        </p15:guide>
        <p15:guide id="71" pos="3168">
          <p15:clr>
            <a:srgbClr val="F26B43"/>
          </p15:clr>
        </p15:guide>
        <p15:guide id="72" pos="3772">
          <p15:clr>
            <a:srgbClr val="F26B43"/>
          </p15:clr>
        </p15:guide>
        <p15:guide id="73" pos="3919">
          <p15:clr>
            <a:srgbClr val="F26B43"/>
          </p15:clr>
        </p15:guide>
        <p15:guide id="74" pos="4376">
          <p15:clr>
            <a:srgbClr val="F26B43"/>
          </p15:clr>
        </p15:guide>
        <p15:guide id="75" pos="4523">
          <p15:clr>
            <a:srgbClr val="F26B43"/>
          </p15:clr>
        </p15:guide>
        <p15:guide id="76" pos="5128">
          <p15:clr>
            <a:srgbClr val="F26B43"/>
          </p15:clr>
        </p15:guide>
        <p15:guide id="77" pos="4981">
          <p15:clr>
            <a:srgbClr val="F26B43"/>
          </p15:clr>
        </p15:guide>
        <p15:guide id="78" pos="5579">
          <p15:clr>
            <a:srgbClr val="F26B43"/>
          </p15:clr>
        </p15:guide>
        <p15:guide id="79" pos="5726">
          <p15:clr>
            <a:srgbClr val="F26B43"/>
          </p15:clr>
        </p15:guide>
        <p15:guide id="80" pos="6186">
          <p15:clr>
            <a:srgbClr val="F26B43"/>
          </p15:clr>
        </p15:guide>
        <p15:guide id="81" pos="6330">
          <p15:clr>
            <a:srgbClr val="F26B43"/>
          </p15:clr>
        </p15:guide>
        <p15:guide id="82" pos="6793">
          <p15:clr>
            <a:srgbClr val="F26B43"/>
          </p15:clr>
        </p15:guide>
        <p15:guide id="83" pos="6933">
          <p15:clr>
            <a:srgbClr val="F26B43"/>
          </p15:clr>
        </p15:guide>
      </p15:sldGuideLst>
    </p:ext>
  </p:extLst>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hyperlink" Target="https://azure.microsoft.com/ru-ru/updates?id=568631" TargetMode="External"/><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3" Type="http://schemas.openxmlformats.org/officeDocument/2006/relationships/hyperlink" Target="https://azure.microsoft.com/ru-ru/updates?id=568409" TargetMode="External"/><Relationship Id="rId2" Type="http://schemas.openxmlformats.org/officeDocument/2006/relationships/hyperlink" Target="https://azure.microsoft.com/ru-ru/updates?id=568115" TargetMode="External"/><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hyperlink" Target="https://azure.microsoft.com/ru-ru/updates?id=566746" TargetMode="External"/><Relationship Id="rId2" Type="http://schemas.openxmlformats.org/officeDocument/2006/relationships/hyperlink" Target="https://azure.microsoft.com/ru-ru/updates?id=568377" TargetMode="External"/><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2" Type="http://schemas.openxmlformats.org/officeDocument/2006/relationships/hyperlink" Target="https://techcommunity.microsoft.com/blog/linuxandopensourceblog/now-generally-available-built-in-cis-benchmark-auditing-for-linux-on-azure/4529819" TargetMode="External"/><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hyperlink" Target="https://azure.microsoft.com/ru-ru/updates?id=568322" TargetMode="External"/><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3" Type="http://schemas.openxmlformats.org/officeDocument/2006/relationships/hyperlink" Target="https://azure.microsoft.com/ru-ru/updates?id=568591" TargetMode="External"/><Relationship Id="rId2" Type="http://schemas.openxmlformats.org/officeDocument/2006/relationships/hyperlink" Target="https://azure.microsoft.com/ru-ru/updates?id=568013" TargetMode="External"/><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3" Type="http://schemas.openxmlformats.org/officeDocument/2006/relationships/hyperlink" Target="https://learn.microsoft.com/en-us/azure/cost-management-billing/reservations/exchange-and-refund-azure-reservations" TargetMode="External"/><Relationship Id="rId2" Type="http://schemas.openxmlformats.org/officeDocument/2006/relationships/hyperlink" Target="https://azure.microsoft.com/ru-ru/updates?id=568514" TargetMode="External"/><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hyperlink" Target="https://azure.microsoft.com/ru-ru/updates?id=567939" TargetMode="External"/><Relationship Id="rId2" Type="http://schemas.openxmlformats.org/officeDocument/2006/relationships/hyperlink" Target="https://azure.microsoft.com/ru-ru/updates?id=567949" TargetMode="External"/><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3" Type="http://schemas.openxmlformats.org/officeDocument/2006/relationships/hyperlink" Target="https://azure.microsoft.com/ru-ru/updates?id=567944" TargetMode="External"/><Relationship Id="rId2" Type="http://schemas.openxmlformats.org/officeDocument/2006/relationships/hyperlink" Target="https://azure.microsoft.com/ru-ru/updates?id=567931" TargetMode="External"/><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2" Type="http://schemas.openxmlformats.org/officeDocument/2006/relationships/hyperlink" Target="https://azure.microsoft.com/ru-ru/updates?id=568102" TargetMode="External"/><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hyperlink" Target="https://azure.microsoft.com/ru-ru/updates?id=568396" TargetMode="External"/><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hyperlink" Target="https://azure.microsoft.com/ru-ru/updates?id=568139" TargetMode="External"/><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2" Type="http://schemas.openxmlformats.org/officeDocument/2006/relationships/hyperlink" Target="https://azure.microsoft.com/ru-ru/updates?id=568334" TargetMode="External"/><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hyperlink" Target="https://azure.microsoft.com/ru-ru/updates?id=568184" TargetMode="External"/><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3" Type="http://schemas.openxmlformats.org/officeDocument/2006/relationships/hyperlink" Target="https://techcommunity.microsoft.com/blog/azure-ai-foundry-blog/introducing-kimi-k3-through-fireworks-ai-on-microsoft-foundry/4540187" TargetMode="External"/><Relationship Id="rId2" Type="http://schemas.openxmlformats.org/officeDocument/2006/relationships/hyperlink" Target="https://techcommunity.microsoft.com/blog/iotblog/azure-sphere-os-version-26-09-rc1-is-now-available-for-evaluation/4539007" TargetMode="External"/><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2" Type="http://schemas.openxmlformats.org/officeDocument/2006/relationships/hyperlink" Target="https://techcommunity.microsoft.com/blog/azuretoolsblog/terraform-azurerm-provider-5-0-now-generally-available/4542085" TargetMode="External"/><Relationship Id="rId1"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hyperlink" Target="https://github.com/azureTimes" TargetMode="External"/><Relationship Id="rId1" Type="http://schemas.openxmlformats.org/officeDocument/2006/relationships/slideLayout" Target="../slideLayouts/slideLayout7.xml"/></Relationships>
</file>

<file path=ppt/slides/_rels/slide28.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showMasterSp="0">
  <p:cSld>
    <p:bg>
      <p:bgPr>
        <a:solidFill>
          <a:schemeClr val="tx1"/>
        </a:solidFill>
        <a:effectLst/>
      </p:bgPr>
    </p:bg>
    <p:spTree>
      <p:nvGrpSpPr>
        <p:cNvPr id="1" name=""/>
        <p:cNvGrpSpPr/>
        <p:nvPr/>
      </p:nvGrpSpPr>
      <p:grpSpPr>
        <a:xfrm>
          <a:off x="0" y="0"/>
          <a:ext cx="0" cy="0"/>
          <a:chOff x="0" y="0"/>
          <a:chExt cx="0" cy="0"/>
        </a:xfrm>
      </p:grpSpPr>
      <p:pic>
        <p:nvPicPr>
          <p:cNvPr id="6" name="Picture 5">
            <a:extLst>
              <a:ext uri="{FF2B5EF4-FFF2-40B4-BE49-F238E27FC236}">
                <a16:creationId xmlns:a16="http://schemas.microsoft.com/office/drawing/2014/main" id="{2DB9B821-34BB-CD1F-240C-32A91FACE9B4}"/>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429" y="0"/>
            <a:ext cx="9139141" cy="5143500"/>
          </a:xfrm>
          <a:prstGeom prst="rect">
            <a:avLst/>
          </a:prstGeom>
        </p:spPr>
      </p:pic>
      <p:sp>
        <p:nvSpPr>
          <p:cNvPr id="2" name="Title 1"/>
          <p:cNvSpPr>
            <a:spLocks noGrp="1"/>
          </p:cNvSpPr>
          <p:nvPr>
            <p:ph type="ctrTitle"/>
          </p:nvPr>
        </p:nvSpPr>
        <p:spPr>
          <a:xfrm>
            <a:off x="281666" y="1200151"/>
            <a:ext cx="8458200" cy="2228850"/>
          </a:xfrm>
        </p:spPr>
        <p:txBody>
          <a:bodyPr/>
          <a:lstStyle/>
          <a:p>
            <a:r>
              <a:rPr lang="en-US" sz="5400" dirty="0">
                <a:solidFill>
                  <a:schemeClr val="bg1"/>
                </a:solidFill>
              </a:rPr>
              <a:t>Azure Times #</a:t>
            </a:r>
          </a:p>
        </p:txBody>
      </p:sp>
      <p:sp>
        <p:nvSpPr>
          <p:cNvPr id="4" name="Text Placeholder 3"/>
          <p:cNvSpPr>
            <a:spLocks noGrp="1"/>
          </p:cNvSpPr>
          <p:nvPr>
            <p:ph type="body" sz="quarter" idx="11"/>
          </p:nvPr>
        </p:nvSpPr>
        <p:spPr/>
        <p:txBody>
          <a:bodyPr/>
          <a:lstStyle/>
          <a:p>
            <a:r>
              <a:rPr lang="en-US" spc="300" dirty="0"/>
              <a:t>June 22, 2026</a:t>
            </a:r>
          </a:p>
        </p:txBody>
      </p:sp>
      <p:sp>
        <p:nvSpPr>
          <p:cNvPr id="3" name="TextBox 2">
            <a:extLst>
              <a:ext uri="{FF2B5EF4-FFF2-40B4-BE49-F238E27FC236}">
                <a16:creationId xmlns:a16="http://schemas.microsoft.com/office/drawing/2014/main" id="{ED924944-231A-274C-AB8B-3C574947B123}"/>
              </a:ext>
            </a:extLst>
          </p:cNvPr>
          <p:cNvSpPr txBox="1"/>
          <p:nvPr/>
        </p:nvSpPr>
        <p:spPr>
          <a:xfrm>
            <a:off x="539318" y="4887158"/>
            <a:ext cx="0" cy="0"/>
          </a:xfrm>
          <a:prstGeom prst="rect">
            <a:avLst/>
          </a:prstGeom>
          <a:noFill/>
        </p:spPr>
        <p:txBody>
          <a:bodyPr wrap="none" lIns="0" tIns="0" rIns="0" bIns="0" rtlCol="0">
            <a:noAutofit/>
          </a:bodyPr>
          <a:lstStyle/>
          <a:p>
            <a:pPr>
              <a:lnSpc>
                <a:spcPct val="110000"/>
              </a:lnSpc>
              <a:spcBef>
                <a:spcPts val="450"/>
              </a:spcBef>
            </a:pPr>
            <a:endParaRPr lang="en-US" sz="900" err="1">
              <a:ea typeface="Human Sans" charset="0"/>
              <a:cs typeface="Human Sans" charset="0"/>
            </a:endParaRPr>
          </a:p>
        </p:txBody>
      </p:sp>
    </p:spTree>
    <p:extLst>
      <p:ext uri="{BB962C8B-B14F-4D97-AF65-F5344CB8AC3E}">
        <p14:creationId xmlns:p14="http://schemas.microsoft.com/office/powerpoint/2010/main" val="44755204"/>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1256E32C-301E-742F-F34C-CB987E7FEA71}"/>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429" y="0"/>
            <a:ext cx="9139141" cy="5143500"/>
          </a:xfrm>
          <a:prstGeom prst="rect">
            <a:avLst/>
          </a:prstGeom>
        </p:spPr>
      </p:pic>
      <p:sp>
        <p:nvSpPr>
          <p:cNvPr id="4" name="Text Placeholder 3">
            <a:extLst>
              <a:ext uri="{FF2B5EF4-FFF2-40B4-BE49-F238E27FC236}">
                <a16:creationId xmlns:a16="http://schemas.microsoft.com/office/drawing/2014/main" id="{17F39168-7046-60A5-1EEA-8D2B5EAAE24F}"/>
              </a:ext>
            </a:extLst>
          </p:cNvPr>
          <p:cNvSpPr>
            <a:spLocks noGrp="1"/>
          </p:cNvSpPr>
          <p:nvPr>
            <p:ph type="body" sz="quarter" idx="13"/>
          </p:nvPr>
        </p:nvSpPr>
        <p:spPr/>
        <p:txBody>
          <a:bodyPr/>
          <a:lstStyle/>
          <a:p>
            <a:r>
              <a:rPr lang="en-US" sz="4000" dirty="0">
                <a:solidFill>
                  <a:schemeClr val="bg1"/>
                </a:solidFill>
              </a:rPr>
              <a:t>Networking</a:t>
            </a:r>
          </a:p>
        </p:txBody>
      </p:sp>
    </p:spTree>
    <p:extLst>
      <p:ext uri="{BB962C8B-B14F-4D97-AF65-F5344CB8AC3E}">
        <p14:creationId xmlns:p14="http://schemas.microsoft.com/office/powerpoint/2010/main" val="4021054514"/>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11" name="Title 10">
            <a:extLst>
              <a:ext uri="{FF2B5EF4-FFF2-40B4-BE49-F238E27FC236}">
                <a16:creationId xmlns:a16="http://schemas.microsoft.com/office/drawing/2014/main" id="{0A19052D-1C06-3BF6-CD73-31098A5519FB}"/>
              </a:ext>
            </a:extLst>
          </p:cNvPr>
          <p:cNvSpPr>
            <a:spLocks noGrp="1"/>
          </p:cNvSpPr>
          <p:nvPr>
            <p:ph type="title"/>
          </p:nvPr>
        </p:nvSpPr>
        <p:spPr/>
        <p:txBody>
          <a:bodyPr/>
          <a:lstStyle/>
          <a:p>
            <a:r>
              <a:rPr lang="en-US" sz="1800" dirty="0"/>
              <a:t>Networking Updates (Preview)</a:t>
            </a:r>
            <a:endParaRPr lang="en-US" dirty="0"/>
          </a:p>
        </p:txBody>
      </p:sp>
      <p:sp>
        <p:nvSpPr>
          <p:cNvPr id="13" name="Text Placeholder 12">
            <a:extLst>
              <a:ext uri="{FF2B5EF4-FFF2-40B4-BE49-F238E27FC236}">
                <a16:creationId xmlns:a16="http://schemas.microsoft.com/office/drawing/2014/main" id="{AB83368C-23D2-63DD-1F2B-65AB8A48B236}"/>
              </a:ext>
            </a:extLst>
          </p:cNvPr>
          <p:cNvSpPr>
            <a:spLocks noGrp="1"/>
          </p:cNvSpPr>
          <p:nvPr>
            <p:ph type="body" sz="quarter" idx="15"/>
          </p:nvPr>
        </p:nvSpPr>
        <p:spPr/>
        <p:txBody>
          <a:bodyPr/>
          <a:lstStyle/>
          <a:p>
            <a:endParaRPr lang="en-US"/>
          </a:p>
        </p:txBody>
      </p:sp>
      <p:sp>
        <p:nvSpPr>
          <p:cNvPr id="14" name="Text Placeholder 13">
            <a:extLst>
              <a:ext uri="{FF2B5EF4-FFF2-40B4-BE49-F238E27FC236}">
                <a16:creationId xmlns:a16="http://schemas.microsoft.com/office/drawing/2014/main" id="{1DF1A36F-4250-259D-24AE-F82FE69A7F7E}"/>
              </a:ext>
            </a:extLst>
          </p:cNvPr>
          <p:cNvSpPr>
            <a:spLocks noGrp="1"/>
          </p:cNvSpPr>
          <p:nvPr>
            <p:ph type="body" sz="quarter" idx="16"/>
          </p:nvPr>
        </p:nvSpPr>
        <p:spPr/>
        <p:txBody>
          <a:bodyPr/>
          <a:lstStyle/>
          <a:p>
            <a:pPr algn="just"/>
            <a:r>
              <a:rPr lang="en-US" dirty="0">
                <a:hlinkClick r:id="rId2"/>
              </a:rPr>
              <a:t>Public Preview: Route-Maps for Azure Route Server</a:t>
            </a:r>
            <a:endParaRPr lang="en-US" dirty="0"/>
          </a:p>
          <a:p>
            <a:pPr algn="just"/>
            <a:r>
              <a:rPr lang="en-US" dirty="0"/>
              <a:t>Route maps for Azure Route Server are now available in public preview, providing fine-grained control over inbound and outbound routing across hybrid connections. Customers can manage routes advertised to and from Azure Route Server BGP </a:t>
            </a:r>
            <a:r>
              <a:rPr lang="en-US" dirty="0" err="1"/>
              <a:t>peerings</a:t>
            </a:r>
            <a:r>
              <a:rPr lang="en-US" dirty="0"/>
              <a:t> with Network Virtual Appliances (NVAs), ExpressRoute gateways, and VPN gateways in the same virtual network. Route-maps provide the following capabilities: </a:t>
            </a:r>
          </a:p>
          <a:p>
            <a:pPr marL="171450" lvl="0" indent="-171450" algn="just">
              <a:buFont typeface="Arial" panose="020B0604020202020204" pitchFamily="34" charset="0"/>
              <a:buChar char="•"/>
            </a:pPr>
            <a:r>
              <a:rPr lang="en-US" dirty="0"/>
              <a:t>Route summarization: Summarize routes when on-premises networks connect to the virtual network through ExpressRoute or VPN. </a:t>
            </a:r>
          </a:p>
          <a:p>
            <a:pPr marL="171450" lvl="0" indent="-171450" algn="just">
              <a:buFont typeface="Arial" panose="020B0604020202020204" pitchFamily="34" charset="0"/>
              <a:buChar char="•"/>
            </a:pPr>
            <a:r>
              <a:rPr lang="en-US" dirty="0"/>
              <a:t>Route control: Control routes entering and leaving Azure Route Server between on-premises networks, NVAs, and virtual networks. </a:t>
            </a:r>
          </a:p>
          <a:p>
            <a:pPr marL="171450" lvl="0" indent="-171450" algn="just">
              <a:buFont typeface="Arial" panose="020B0604020202020204" pitchFamily="34" charset="0"/>
              <a:buChar char="•"/>
            </a:pPr>
            <a:r>
              <a:rPr lang="en-US" dirty="0"/>
              <a:t>Path selection: Modify BGP attributes such as AS-PATH to make routes more or less preferred. </a:t>
            </a:r>
          </a:p>
          <a:p>
            <a:pPr lvl="0" algn="just"/>
            <a:r>
              <a:rPr lang="en-US" dirty="0"/>
              <a:t>Route tagging: Tag routes by using the BGP Community attribute. </a:t>
            </a:r>
          </a:p>
          <a:p>
            <a:pPr algn="just"/>
            <a:endParaRPr lang="en-US" dirty="0"/>
          </a:p>
        </p:txBody>
      </p:sp>
      <p:pic>
        <p:nvPicPr>
          <p:cNvPr id="2" name="Graphic 1" descr="Diagram that shows how inbound and outbound route maps process routes passing through Azure Route Server.">
            <a:extLst>
              <a:ext uri="{FF2B5EF4-FFF2-40B4-BE49-F238E27FC236}">
                <a16:creationId xmlns:a16="http://schemas.microsoft.com/office/drawing/2014/main" id="{5B4A0EED-F679-07F2-8BE7-45D3C910EFA8}"/>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4384964" y="1334061"/>
            <a:ext cx="4533240" cy="2586122"/>
          </a:xfrm>
          <a:prstGeom prst="rect">
            <a:avLst/>
          </a:prstGeom>
        </p:spPr>
      </p:pic>
    </p:spTree>
    <p:extLst>
      <p:ext uri="{BB962C8B-B14F-4D97-AF65-F5344CB8AC3E}">
        <p14:creationId xmlns:p14="http://schemas.microsoft.com/office/powerpoint/2010/main" val="365858012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4">
                                            <p:txEl>
                                              <p:pRg st="0" end="0"/>
                                            </p:txEl>
                                          </p:spTgt>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14">
                                            <p:txEl>
                                              <p:pRg st="1" end="1"/>
                                            </p:txEl>
                                          </p:spTgt>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14">
                                            <p:txEl>
                                              <p:pRg st="2" end="2"/>
                                            </p:txEl>
                                          </p:spTgt>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14">
                                            <p:txEl>
                                              <p:pRg st="3" end="3"/>
                                            </p:txEl>
                                          </p:spTgt>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14">
                                            <p:txEl>
                                              <p:pRg st="4" end="4"/>
                                            </p:txEl>
                                          </p:spTgt>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14">
                                            <p:txEl>
                                              <p:pRg st="5" end="5"/>
                                            </p:txEl>
                                          </p:spTgt>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 grpId="0" build="p"/>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F7DD891-4CE7-3684-E998-D623020E5F58}"/>
            </a:ext>
          </a:extLst>
        </p:cNvPr>
        <p:cNvGrpSpPr/>
        <p:nvPr/>
      </p:nvGrpSpPr>
      <p:grpSpPr>
        <a:xfrm>
          <a:off x="0" y="0"/>
          <a:ext cx="0" cy="0"/>
          <a:chOff x="0" y="0"/>
          <a:chExt cx="0" cy="0"/>
        </a:xfrm>
      </p:grpSpPr>
      <p:sp>
        <p:nvSpPr>
          <p:cNvPr id="11" name="Title 10">
            <a:extLst>
              <a:ext uri="{FF2B5EF4-FFF2-40B4-BE49-F238E27FC236}">
                <a16:creationId xmlns:a16="http://schemas.microsoft.com/office/drawing/2014/main" id="{498EDA87-FEEC-7025-3A81-E2B223F8F83C}"/>
              </a:ext>
            </a:extLst>
          </p:cNvPr>
          <p:cNvSpPr>
            <a:spLocks noGrp="1"/>
          </p:cNvSpPr>
          <p:nvPr>
            <p:ph type="title"/>
          </p:nvPr>
        </p:nvSpPr>
        <p:spPr/>
        <p:txBody>
          <a:bodyPr/>
          <a:lstStyle/>
          <a:p>
            <a:r>
              <a:rPr lang="en-US" sz="1800" dirty="0"/>
              <a:t>Networking Updates (General Available)</a:t>
            </a:r>
            <a:endParaRPr lang="en-US" dirty="0"/>
          </a:p>
        </p:txBody>
      </p:sp>
      <p:sp>
        <p:nvSpPr>
          <p:cNvPr id="13" name="Text Placeholder 12">
            <a:extLst>
              <a:ext uri="{FF2B5EF4-FFF2-40B4-BE49-F238E27FC236}">
                <a16:creationId xmlns:a16="http://schemas.microsoft.com/office/drawing/2014/main" id="{FD842EA0-D1D6-E5CA-35A9-265810B8410B}"/>
              </a:ext>
            </a:extLst>
          </p:cNvPr>
          <p:cNvSpPr>
            <a:spLocks noGrp="1"/>
          </p:cNvSpPr>
          <p:nvPr>
            <p:ph type="body" sz="quarter" idx="15"/>
          </p:nvPr>
        </p:nvSpPr>
        <p:spPr/>
        <p:txBody>
          <a:bodyPr/>
          <a:lstStyle/>
          <a:p>
            <a:endParaRPr lang="en-US"/>
          </a:p>
        </p:txBody>
      </p:sp>
      <p:sp>
        <p:nvSpPr>
          <p:cNvPr id="14" name="Text Placeholder 13">
            <a:extLst>
              <a:ext uri="{FF2B5EF4-FFF2-40B4-BE49-F238E27FC236}">
                <a16:creationId xmlns:a16="http://schemas.microsoft.com/office/drawing/2014/main" id="{4B72E1AC-FDA0-FB61-4BF0-E75C2B8A1664}"/>
              </a:ext>
            </a:extLst>
          </p:cNvPr>
          <p:cNvSpPr>
            <a:spLocks noGrp="1"/>
          </p:cNvSpPr>
          <p:nvPr>
            <p:ph type="body" sz="quarter" idx="16"/>
          </p:nvPr>
        </p:nvSpPr>
        <p:spPr/>
        <p:txBody>
          <a:bodyPr/>
          <a:lstStyle/>
          <a:p>
            <a:pPr algn="just"/>
            <a:r>
              <a:rPr lang="en-US" dirty="0">
                <a:hlinkClick r:id="rId2"/>
              </a:rPr>
              <a:t>Generally Available: HTTP header insertion in Azure Firewall</a:t>
            </a:r>
            <a:endParaRPr lang="en-US" dirty="0"/>
          </a:p>
          <a:p>
            <a:pPr algn="just"/>
            <a:r>
              <a:rPr lang="en-US" dirty="0"/>
              <a:t>Azure Firewall now supports HTTP header insertion, enabling organizations to add or overwrite HTTP/HTTPS </a:t>
            </a:r>
            <a:r>
              <a:rPr lang="en-US" u="sng" dirty="0"/>
              <a:t>request</a:t>
            </a:r>
            <a:r>
              <a:rPr lang="en-US" dirty="0"/>
              <a:t> headers directly from Azure Firewall application rules. This capability helps customers enforce security controls, support tenant restriction scenarios, integrate with backend services, and simplify application access management without relying on third-party proxies or on-premises infrastructure. </a:t>
            </a:r>
            <a:br>
              <a:rPr lang="en-US" dirty="0"/>
            </a:br>
            <a:endParaRPr lang="en-US" dirty="0"/>
          </a:p>
          <a:p>
            <a:pPr algn="just"/>
            <a:r>
              <a:rPr lang="en-US" dirty="0"/>
              <a:t>The feature is especially useful for scenarios such as Microsoft Entra tenant restrictions, Azure Virtual Desktop, VDI, SaaS access control, and enterprise egress filtering. By enabling header insertion natively in Azure Firewall, customers can reduce proxy dependencies, avoid routing traffic back on premises solely for header injection, and improve operational efficiency.  </a:t>
            </a:r>
          </a:p>
          <a:p>
            <a:pPr algn="just"/>
            <a:r>
              <a:rPr lang="en-US" dirty="0"/>
              <a:t>HTTP header insertion is supported in Azure Firewall Premium for HTTP traffic and HTTPS traffic decrypted using TLS Inspection. In Standard and Basic SKUs, it is supported for HTTP traffic. The feature can be configured through Azure Portal, Azure CLI, PowerShell, REST APIs, Terraform, and Azure Firewall Draft + Deploy. </a:t>
            </a:r>
          </a:p>
          <a:p>
            <a:pPr algn="just"/>
            <a:endParaRPr lang="en-US" dirty="0"/>
          </a:p>
        </p:txBody>
      </p:sp>
      <p:sp>
        <p:nvSpPr>
          <p:cNvPr id="2" name="Text Placeholder 13">
            <a:extLst>
              <a:ext uri="{FF2B5EF4-FFF2-40B4-BE49-F238E27FC236}">
                <a16:creationId xmlns:a16="http://schemas.microsoft.com/office/drawing/2014/main" id="{06D884AE-3074-77B9-2821-DC774A2B2C02}"/>
              </a:ext>
            </a:extLst>
          </p:cNvPr>
          <p:cNvSpPr txBox="1">
            <a:spLocks/>
          </p:cNvSpPr>
          <p:nvPr/>
        </p:nvSpPr>
        <p:spPr>
          <a:xfrm>
            <a:off x="4570857" y="855079"/>
            <a:ext cx="3955312" cy="3774069"/>
          </a:xfrm>
          <a:prstGeom prst="rect">
            <a:avLst/>
          </a:prstGeom>
        </p:spPr>
        <p:txBody>
          <a:bodyPr vert="horz" lIns="0" tIns="0" rIns="0" bIns="0" rtlCol="0">
            <a:noAutofit/>
          </a:bodyPr>
          <a:lstStyle>
            <a:lvl1pPr marL="0" indent="0" algn="l" defTabSz="685800" rtl="0" eaLnBrk="1" latinLnBrk="0" hangingPunct="1">
              <a:lnSpc>
                <a:spcPct val="110000"/>
              </a:lnSpc>
              <a:spcBef>
                <a:spcPts val="450"/>
              </a:spcBef>
              <a:spcAft>
                <a:spcPts val="0"/>
              </a:spcAft>
              <a:buFont typeface="Arial" panose="020B0604020202020204" pitchFamily="34" charset="0"/>
              <a:buNone/>
              <a:tabLst>
                <a:tab pos="2438400" algn="l"/>
              </a:tabLst>
              <a:defRPr sz="1000" b="0" i="0" kern="1200" baseline="0">
                <a:solidFill>
                  <a:schemeClr val="tx1"/>
                </a:solidFill>
                <a:latin typeface="+mj-lt"/>
                <a:ea typeface="Calibri" panose="020F0502020204030204" pitchFamily="34" charset="0"/>
                <a:cs typeface="Calibri" panose="020F0502020204030204" pitchFamily="34" charset="0"/>
              </a:defRPr>
            </a:lvl1pPr>
            <a:lvl2pPr marL="342900" indent="0" algn="l" defTabSz="685800" rtl="0" eaLnBrk="1" latinLnBrk="0" hangingPunct="1">
              <a:lnSpc>
                <a:spcPct val="110000"/>
              </a:lnSpc>
              <a:spcBef>
                <a:spcPts val="450"/>
              </a:spcBef>
              <a:spcAft>
                <a:spcPts val="0"/>
              </a:spcAft>
              <a:buFont typeface="Arial" panose="020B0604020202020204" pitchFamily="34" charset="0"/>
              <a:buNone/>
              <a:defRPr sz="750" b="0" i="0" kern="1200">
                <a:solidFill>
                  <a:schemeClr val="tx1"/>
                </a:solidFill>
                <a:latin typeface="+mn-lt"/>
                <a:ea typeface="Calibri" panose="020F0502020204030204" pitchFamily="34" charset="0"/>
                <a:cs typeface="Calibri" panose="020F0502020204030204" pitchFamily="34" charset="0"/>
              </a:defRPr>
            </a:lvl2pPr>
            <a:lvl3pPr marL="685800" indent="0" algn="l" defTabSz="685800" rtl="0" eaLnBrk="1" latinLnBrk="0" hangingPunct="1">
              <a:lnSpc>
                <a:spcPct val="110000"/>
              </a:lnSpc>
              <a:spcBef>
                <a:spcPts val="450"/>
              </a:spcBef>
              <a:spcAft>
                <a:spcPts val="0"/>
              </a:spcAft>
              <a:buFont typeface="Arial" panose="020B0604020202020204" pitchFamily="34" charset="0"/>
              <a:buNone/>
              <a:defRPr sz="750" b="0" i="0" kern="1200">
                <a:solidFill>
                  <a:schemeClr val="tx1"/>
                </a:solidFill>
                <a:latin typeface="+mn-lt"/>
                <a:ea typeface="Calibri" panose="020F0502020204030204" pitchFamily="34" charset="0"/>
                <a:cs typeface="Calibri" panose="020F0502020204030204" pitchFamily="34" charset="0"/>
              </a:defRPr>
            </a:lvl3pPr>
            <a:lvl4pPr marL="1028700" indent="0" algn="l" defTabSz="685800" rtl="0" eaLnBrk="1" latinLnBrk="0" hangingPunct="1">
              <a:lnSpc>
                <a:spcPct val="110000"/>
              </a:lnSpc>
              <a:spcBef>
                <a:spcPts val="450"/>
              </a:spcBef>
              <a:spcAft>
                <a:spcPts val="0"/>
              </a:spcAft>
              <a:buFont typeface="Arial" panose="020B0604020202020204" pitchFamily="34" charset="0"/>
              <a:buNone/>
              <a:defRPr sz="750" b="0" i="0" kern="1200">
                <a:solidFill>
                  <a:schemeClr val="tx1"/>
                </a:solidFill>
                <a:latin typeface="+mn-lt"/>
                <a:ea typeface="Calibri" panose="020F0502020204030204" pitchFamily="34" charset="0"/>
                <a:cs typeface="Calibri" panose="020F0502020204030204" pitchFamily="34" charset="0"/>
              </a:defRPr>
            </a:lvl4pPr>
            <a:lvl5pPr marL="1371600" indent="0" algn="l" defTabSz="685800" rtl="0" eaLnBrk="1" latinLnBrk="0" hangingPunct="1">
              <a:lnSpc>
                <a:spcPct val="110000"/>
              </a:lnSpc>
              <a:spcBef>
                <a:spcPts val="450"/>
              </a:spcBef>
              <a:spcAft>
                <a:spcPts val="0"/>
              </a:spcAft>
              <a:buFont typeface="Arial" panose="020B0604020202020204" pitchFamily="34" charset="0"/>
              <a:buNone/>
              <a:defRPr sz="750" b="0" i="0" kern="1200">
                <a:solidFill>
                  <a:schemeClr val="tx1"/>
                </a:solidFill>
                <a:latin typeface="+mn-lt"/>
                <a:ea typeface="Calibri" panose="020F0502020204030204" pitchFamily="34" charset="0"/>
                <a:cs typeface="Calibri" panose="020F0502020204030204" pitchFamily="34" charset="0"/>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a:lstStyle>
          <a:p>
            <a:pPr algn="just"/>
            <a:r>
              <a:rPr lang="en-US">
                <a:hlinkClick r:id="rId3"/>
              </a:rPr>
              <a:t>Generally Available: NAT64 on StandardV2 NAT Gateway</a:t>
            </a:r>
            <a:endParaRPr lang="en-US"/>
          </a:p>
          <a:p>
            <a:pPr algn="just"/>
            <a:r>
              <a:rPr lang="en-US"/>
              <a:t>StandardV2 NAT Gateway now supports NAT64, enabling IPv6 workloads to communicate with IPv4-only internet destinations by translating synthesized outbound IPv6 traffic into IPv4 traffic. NAT64 relies on a DNS64-capable resolver to synthesize IPv6 addresses by embedding the IPv4 address within the NAT64 Well-Known Prefix 64:ff9b::/96 – so client traffic is naturally addressed to NAT64 for translation.</a:t>
            </a:r>
            <a:endParaRPr lang="en-US" dirty="0"/>
          </a:p>
        </p:txBody>
      </p:sp>
    </p:spTree>
    <p:extLst>
      <p:ext uri="{BB962C8B-B14F-4D97-AF65-F5344CB8AC3E}">
        <p14:creationId xmlns:p14="http://schemas.microsoft.com/office/powerpoint/2010/main" val="9113386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4">
                                            <p:txEl>
                                              <p:pRg st="0" end="0"/>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14">
                                            <p:txEl>
                                              <p:pRg st="1" end="1"/>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14">
                                            <p:txEl>
                                              <p:pRg st="2" end="2"/>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14">
                                            <p:txEl>
                                              <p:pRg st="3" end="3"/>
                                            </p:txEl>
                                          </p:spTgt>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nodeType="clickEffect">
                                  <p:stCondLst>
                                    <p:cond delay="0"/>
                                  </p:stCondLst>
                                  <p:childTnLst>
                                    <p:set>
                                      <p:cBhvr>
                                        <p:cTn id="16" dur="1" fill="hold">
                                          <p:stCondLst>
                                            <p:cond delay="0"/>
                                          </p:stCondLst>
                                        </p:cTn>
                                        <p:tgtEl>
                                          <p:spTgt spid="2">
                                            <p:txEl>
                                              <p:pRg st="0" end="0"/>
                                            </p:txEl>
                                          </p:spTgt>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2">
                                            <p:txEl>
                                              <p:pRg st="1" end="1"/>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AA568778-FA5D-0368-E208-4FAB7C1EAF4E}"/>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429" y="0"/>
            <a:ext cx="9139141" cy="5143500"/>
          </a:xfrm>
          <a:prstGeom prst="rect">
            <a:avLst/>
          </a:prstGeom>
        </p:spPr>
      </p:pic>
      <p:sp>
        <p:nvSpPr>
          <p:cNvPr id="4" name="Text Placeholder 3">
            <a:extLst>
              <a:ext uri="{FF2B5EF4-FFF2-40B4-BE49-F238E27FC236}">
                <a16:creationId xmlns:a16="http://schemas.microsoft.com/office/drawing/2014/main" id="{17F39168-7046-60A5-1EEA-8D2B5EAAE24F}"/>
              </a:ext>
            </a:extLst>
          </p:cNvPr>
          <p:cNvSpPr>
            <a:spLocks noGrp="1"/>
          </p:cNvSpPr>
          <p:nvPr>
            <p:ph type="body" sz="quarter" idx="13"/>
          </p:nvPr>
        </p:nvSpPr>
        <p:spPr>
          <a:xfrm>
            <a:off x="252845" y="1285875"/>
            <a:ext cx="6271326" cy="1714500"/>
          </a:xfrm>
        </p:spPr>
        <p:txBody>
          <a:bodyPr/>
          <a:lstStyle/>
          <a:p>
            <a:r>
              <a:rPr lang="en-US" sz="4000" dirty="0">
                <a:solidFill>
                  <a:schemeClr val="bg1"/>
                </a:solidFill>
              </a:rPr>
              <a:t>Security &amp; Identity</a:t>
            </a:r>
          </a:p>
        </p:txBody>
      </p:sp>
    </p:spTree>
    <p:extLst>
      <p:ext uri="{BB962C8B-B14F-4D97-AF65-F5344CB8AC3E}">
        <p14:creationId xmlns:p14="http://schemas.microsoft.com/office/powerpoint/2010/main" val="3117920021"/>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12" name="Text Placeholder 11">
            <a:extLst>
              <a:ext uri="{FF2B5EF4-FFF2-40B4-BE49-F238E27FC236}">
                <a16:creationId xmlns:a16="http://schemas.microsoft.com/office/drawing/2014/main" id="{F5D0A865-EAC9-D4DF-765C-2BBCA9EC1F5C}"/>
              </a:ext>
            </a:extLst>
          </p:cNvPr>
          <p:cNvSpPr>
            <a:spLocks noGrp="1"/>
          </p:cNvSpPr>
          <p:nvPr>
            <p:ph type="body" sz="quarter" idx="10"/>
          </p:nvPr>
        </p:nvSpPr>
        <p:spPr/>
        <p:txBody>
          <a:bodyPr/>
          <a:lstStyle/>
          <a:p>
            <a:r>
              <a:rPr lang="en-US" sz="1000" dirty="0">
                <a:hlinkClick r:id="rId2"/>
              </a:rPr>
              <a:t>Public Preview: Azure Enclave</a:t>
            </a:r>
            <a:endParaRPr lang="en-US" sz="1000" dirty="0"/>
          </a:p>
          <a:p>
            <a:r>
              <a:rPr lang="en-US" sz="1000" b="1" dirty="0"/>
              <a:t>Azure Enclave</a:t>
            </a:r>
            <a:r>
              <a:rPr lang="en-US" sz="1000" dirty="0"/>
              <a:t> is now available in </a:t>
            </a:r>
            <a:r>
              <a:rPr lang="en-US" sz="1000" b="1" dirty="0"/>
              <a:t>public preview</a:t>
            </a:r>
            <a:r>
              <a:rPr lang="en-US" sz="1000" dirty="0"/>
              <a:t> for </a:t>
            </a:r>
            <a:r>
              <a:rPr lang="en-US" sz="1000" b="1" dirty="0"/>
              <a:t>Microsoft Azure</a:t>
            </a:r>
            <a:r>
              <a:rPr lang="en-US" sz="1000" dirty="0"/>
              <a:t>, </a:t>
            </a:r>
            <a:r>
              <a:rPr lang="en-US" sz="1000" b="1" dirty="0"/>
              <a:t>Azure Government</a:t>
            </a:r>
            <a:r>
              <a:rPr lang="en-US" sz="1000" dirty="0"/>
              <a:t>, </a:t>
            </a:r>
            <a:r>
              <a:rPr lang="en-US" sz="1000" b="1" dirty="0"/>
              <a:t>Azure Government Secret</a:t>
            </a:r>
            <a:r>
              <a:rPr lang="en-US" sz="1000" dirty="0"/>
              <a:t>, and </a:t>
            </a:r>
            <a:r>
              <a:rPr lang="en-US" sz="1000" b="1" dirty="0"/>
              <a:t>Azure Government Top Secret</a:t>
            </a:r>
            <a:r>
              <a:rPr lang="en-US" sz="1000" dirty="0"/>
              <a:t>. The service provides a managed foundation for deploying </a:t>
            </a:r>
            <a:r>
              <a:rPr lang="en-US" sz="1000" b="1" dirty="0"/>
              <a:t>highly isolated cloud environments</a:t>
            </a:r>
            <a:r>
              <a:rPr lang="en-US" sz="1000" dirty="0"/>
              <a:t> designed for government agencies and organizations operating sensitive or regulated workloads.</a:t>
            </a:r>
          </a:p>
          <a:p>
            <a:r>
              <a:rPr lang="en-US" sz="1000" dirty="0"/>
              <a:t>Azure Enclave simplifies the deployment of secure environments by providing </a:t>
            </a:r>
            <a:r>
              <a:rPr lang="en-US" sz="1000" b="1" dirty="0"/>
              <a:t>predefined architectural patterns, managed infrastructure, and isolated virtual networking by default</a:t>
            </a:r>
            <a:r>
              <a:rPr lang="en-US" sz="1000" dirty="0"/>
              <a:t>. Customers can establish secure connectivity using controlled endpoints, enforce </a:t>
            </a:r>
            <a:r>
              <a:rPr lang="en-US" sz="1000" b="1" dirty="0"/>
              <a:t>role-based access control (RBAC)</a:t>
            </a:r>
            <a:r>
              <a:rPr lang="en-US" sz="1000" dirty="0"/>
              <a:t>, implement network segmentation, and apply centralized monitoring to protect critical applications and data.</a:t>
            </a:r>
          </a:p>
          <a:p>
            <a:r>
              <a:rPr lang="en-US" sz="1000" dirty="0"/>
              <a:t>This capability helps organizations accelerate the deployment of secure cloud environments while maintaining strict security, compliance, and isolation requirements. For government and regulated industries, Azure Enclave provides a standardized approach to building and managing sensitive workloads with reduced operational complexity and stronger governance.</a:t>
            </a:r>
          </a:p>
          <a:p>
            <a:endParaRPr lang="en-US" sz="1000" dirty="0"/>
          </a:p>
        </p:txBody>
      </p:sp>
      <p:sp>
        <p:nvSpPr>
          <p:cNvPr id="11" name="Title 10">
            <a:extLst>
              <a:ext uri="{FF2B5EF4-FFF2-40B4-BE49-F238E27FC236}">
                <a16:creationId xmlns:a16="http://schemas.microsoft.com/office/drawing/2014/main" id="{0A19052D-1C06-3BF6-CD73-31098A5519FB}"/>
              </a:ext>
            </a:extLst>
          </p:cNvPr>
          <p:cNvSpPr>
            <a:spLocks noGrp="1"/>
          </p:cNvSpPr>
          <p:nvPr>
            <p:ph type="title"/>
          </p:nvPr>
        </p:nvSpPr>
        <p:spPr/>
        <p:txBody>
          <a:bodyPr/>
          <a:lstStyle/>
          <a:p>
            <a:r>
              <a:rPr lang="en-US" sz="1800" dirty="0"/>
              <a:t>Security &amp; Identity Updates (Preview)</a:t>
            </a:r>
            <a:endParaRPr lang="en-US" dirty="0"/>
          </a:p>
        </p:txBody>
      </p:sp>
      <p:sp>
        <p:nvSpPr>
          <p:cNvPr id="13" name="Text Placeholder 12">
            <a:extLst>
              <a:ext uri="{FF2B5EF4-FFF2-40B4-BE49-F238E27FC236}">
                <a16:creationId xmlns:a16="http://schemas.microsoft.com/office/drawing/2014/main" id="{AB83368C-23D2-63DD-1F2B-65AB8A48B236}"/>
              </a:ext>
            </a:extLst>
          </p:cNvPr>
          <p:cNvSpPr>
            <a:spLocks noGrp="1"/>
          </p:cNvSpPr>
          <p:nvPr>
            <p:ph type="body" sz="quarter" idx="15"/>
          </p:nvPr>
        </p:nvSpPr>
        <p:spPr/>
        <p:txBody>
          <a:bodyPr/>
          <a:lstStyle/>
          <a:p>
            <a:endParaRPr lang="en-US"/>
          </a:p>
        </p:txBody>
      </p:sp>
      <p:sp>
        <p:nvSpPr>
          <p:cNvPr id="14" name="Text Placeholder 13">
            <a:extLst>
              <a:ext uri="{FF2B5EF4-FFF2-40B4-BE49-F238E27FC236}">
                <a16:creationId xmlns:a16="http://schemas.microsoft.com/office/drawing/2014/main" id="{1DF1A36F-4250-259D-24AE-F82FE69A7F7E}"/>
              </a:ext>
            </a:extLst>
          </p:cNvPr>
          <p:cNvSpPr>
            <a:spLocks noGrp="1"/>
          </p:cNvSpPr>
          <p:nvPr>
            <p:ph type="body" sz="quarter" idx="16"/>
          </p:nvPr>
        </p:nvSpPr>
        <p:spPr/>
        <p:txBody>
          <a:bodyPr/>
          <a:lstStyle/>
          <a:p>
            <a:pPr algn="just"/>
            <a:r>
              <a:rPr lang="en-US" dirty="0">
                <a:hlinkClick r:id="rId3"/>
              </a:rPr>
              <a:t>Public Preview: Symmetric keys on Azure Key Vault Premium</a:t>
            </a:r>
            <a:endParaRPr lang="en-US" dirty="0"/>
          </a:p>
          <a:p>
            <a:pPr algn="just"/>
            <a:r>
              <a:rPr lang="en-US" b="1" dirty="0"/>
              <a:t>Azure Key Vault Premium</a:t>
            </a:r>
            <a:r>
              <a:rPr lang="en-US" dirty="0"/>
              <a:t> now supports </a:t>
            </a:r>
            <a:r>
              <a:rPr lang="en-US" b="1" dirty="0"/>
              <a:t>hardware-protected symmetric keys</a:t>
            </a:r>
            <a:r>
              <a:rPr lang="en-US" dirty="0"/>
              <a:t> in </a:t>
            </a:r>
            <a:r>
              <a:rPr lang="en-US" b="1" dirty="0"/>
              <a:t>public preview</a:t>
            </a:r>
            <a:r>
              <a:rPr lang="en-US" dirty="0"/>
              <a:t>, enabling organizations to manage </a:t>
            </a:r>
            <a:r>
              <a:rPr lang="en-US" b="1" dirty="0"/>
              <a:t>AES-based encryption keys</a:t>
            </a:r>
            <a:r>
              <a:rPr lang="en-US" dirty="0"/>
              <a:t> directly within Azure Key Vault using the new </a:t>
            </a:r>
            <a:r>
              <a:rPr lang="en-US" b="1" dirty="0"/>
              <a:t>oct-HSM</a:t>
            </a:r>
            <a:r>
              <a:rPr lang="en-US" dirty="0"/>
              <a:t> key type. Customers can perform </a:t>
            </a:r>
            <a:r>
              <a:rPr lang="en-US" b="1" dirty="0"/>
              <a:t>encrypt, decrypt, wrap, and unwrap</a:t>
            </a:r>
            <a:r>
              <a:rPr lang="en-US" dirty="0"/>
              <a:t> operations while benefiting from Azure's hardware-backed security, compliance, and centralized key management.</a:t>
            </a:r>
          </a:p>
          <a:p>
            <a:pPr algn="just"/>
            <a:r>
              <a:rPr lang="en-US" dirty="0"/>
              <a:t>The preview introduces support for </a:t>
            </a:r>
            <a:r>
              <a:rPr lang="en-US" b="1" dirty="0"/>
              <a:t>256-bit AES keys</a:t>
            </a:r>
            <a:r>
              <a:rPr lang="en-US" dirty="0"/>
              <a:t>, aligned with </a:t>
            </a:r>
            <a:r>
              <a:rPr lang="en-US" b="1" dirty="0"/>
              <a:t>CNSA 2.0</a:t>
            </a:r>
            <a:r>
              <a:rPr lang="en-US" dirty="0"/>
              <a:t> recommendations, helping organizations prepare for future cryptographic and post-quantum security requirements. Symmetric keys integrate seamlessly with existing Azure security workflows, providing consistent governance, auditing, and lifecycle management across Azure services.</a:t>
            </a:r>
          </a:p>
          <a:p>
            <a:pPr algn="just"/>
            <a:r>
              <a:rPr lang="en-US" dirty="0"/>
              <a:t>Currently, symmetric key management is available through </a:t>
            </a:r>
            <a:r>
              <a:rPr lang="en-US" b="1" dirty="0"/>
              <a:t>Azure CLI</a:t>
            </a:r>
            <a:r>
              <a:rPr lang="en-US" dirty="0"/>
              <a:t> and </a:t>
            </a:r>
            <a:r>
              <a:rPr lang="en-US" b="1" dirty="0"/>
              <a:t>ARM templates</a:t>
            </a:r>
            <a:r>
              <a:rPr lang="en-US" dirty="0"/>
              <a:t>, with Azure Portal support rolling out. This enhancement expands Azure Key Vault's cryptographic capabilities, allowing customers to centrally manage both asymmetric and symmetric keys within a single, enterprise-grade Hardware Security Module (HSM) platform.</a:t>
            </a:r>
          </a:p>
          <a:p>
            <a:pPr algn="just"/>
            <a:endParaRPr lang="en-US" dirty="0"/>
          </a:p>
        </p:txBody>
      </p:sp>
    </p:spTree>
    <p:extLst>
      <p:ext uri="{BB962C8B-B14F-4D97-AF65-F5344CB8AC3E}">
        <p14:creationId xmlns:p14="http://schemas.microsoft.com/office/powerpoint/2010/main" val="49331056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4">
                                            <p:txEl>
                                              <p:pRg st="0" end="0"/>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14">
                                            <p:txEl>
                                              <p:pRg st="1" end="1"/>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14">
                                            <p:txEl>
                                              <p:pRg st="2" end="2"/>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14">
                                            <p:txEl>
                                              <p:pRg st="3" end="3"/>
                                            </p:txEl>
                                          </p:spTgt>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nodeType="clickEffect">
                                  <p:stCondLst>
                                    <p:cond delay="0"/>
                                  </p:stCondLst>
                                  <p:childTnLst>
                                    <p:set>
                                      <p:cBhvr>
                                        <p:cTn id="16" dur="1" fill="hold">
                                          <p:stCondLst>
                                            <p:cond delay="0"/>
                                          </p:stCondLst>
                                        </p:cTn>
                                        <p:tgtEl>
                                          <p:spTgt spid="12">
                                            <p:txEl>
                                              <p:pRg st="0" end="0"/>
                                            </p:txEl>
                                          </p:spTgt>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12">
                                            <p:txEl>
                                              <p:pRg st="1" end="1"/>
                                            </p:txEl>
                                          </p:spTgt>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12">
                                            <p:txEl>
                                              <p:pRg st="2" end="2"/>
                                            </p:txEl>
                                          </p:spTgt>
                                        </p:tgtEl>
                                        <p:attrNameLst>
                                          <p:attrName>style.visibility</p:attrName>
                                        </p:attrNameLst>
                                      </p:cBhvr>
                                      <p:to>
                                        <p:strVal val="visible"/>
                                      </p:to>
                                    </p:set>
                                  </p:childTnLst>
                                </p:cTn>
                              </p:par>
                              <p:par>
                                <p:cTn id="21" presetID="1" presetClass="entr" presetSubtype="0" fill="hold" nodeType="withEffect">
                                  <p:stCondLst>
                                    <p:cond delay="0"/>
                                  </p:stCondLst>
                                  <p:childTnLst>
                                    <p:set>
                                      <p:cBhvr>
                                        <p:cTn id="22" dur="1" fill="hold">
                                          <p:stCondLst>
                                            <p:cond delay="0"/>
                                          </p:stCondLst>
                                        </p:cTn>
                                        <p:tgtEl>
                                          <p:spTgt spid="12">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06DF80C-C4B2-CA2E-DC53-D014432A0FBB}"/>
            </a:ext>
          </a:extLst>
        </p:cNvPr>
        <p:cNvGrpSpPr/>
        <p:nvPr/>
      </p:nvGrpSpPr>
      <p:grpSpPr>
        <a:xfrm>
          <a:off x="0" y="0"/>
          <a:ext cx="0" cy="0"/>
          <a:chOff x="0" y="0"/>
          <a:chExt cx="0" cy="0"/>
        </a:xfrm>
      </p:grpSpPr>
      <p:sp>
        <p:nvSpPr>
          <p:cNvPr id="12" name="Text Placeholder 11">
            <a:extLst>
              <a:ext uri="{FF2B5EF4-FFF2-40B4-BE49-F238E27FC236}">
                <a16:creationId xmlns:a16="http://schemas.microsoft.com/office/drawing/2014/main" id="{53E3FAB3-0EAA-3876-F96C-F85CCCDCCDD7}"/>
              </a:ext>
            </a:extLst>
          </p:cNvPr>
          <p:cNvSpPr>
            <a:spLocks noGrp="1"/>
          </p:cNvSpPr>
          <p:nvPr>
            <p:ph type="body" sz="quarter" idx="10"/>
          </p:nvPr>
        </p:nvSpPr>
        <p:spPr/>
        <p:txBody>
          <a:bodyPr/>
          <a:lstStyle/>
          <a:p>
            <a:endParaRPr lang="en-US" sz="1000" dirty="0"/>
          </a:p>
        </p:txBody>
      </p:sp>
      <p:sp>
        <p:nvSpPr>
          <p:cNvPr id="11" name="Title 10">
            <a:extLst>
              <a:ext uri="{FF2B5EF4-FFF2-40B4-BE49-F238E27FC236}">
                <a16:creationId xmlns:a16="http://schemas.microsoft.com/office/drawing/2014/main" id="{F0B3E087-D7E0-A826-1AA8-170A462C1EA4}"/>
              </a:ext>
            </a:extLst>
          </p:cNvPr>
          <p:cNvSpPr>
            <a:spLocks noGrp="1"/>
          </p:cNvSpPr>
          <p:nvPr>
            <p:ph type="title"/>
          </p:nvPr>
        </p:nvSpPr>
        <p:spPr/>
        <p:txBody>
          <a:bodyPr/>
          <a:lstStyle/>
          <a:p>
            <a:r>
              <a:rPr lang="en-US" sz="1800" dirty="0"/>
              <a:t>Security &amp; Identity Updates (General Available)</a:t>
            </a:r>
            <a:endParaRPr lang="en-US" dirty="0"/>
          </a:p>
        </p:txBody>
      </p:sp>
      <p:sp>
        <p:nvSpPr>
          <p:cNvPr id="13" name="Text Placeholder 12">
            <a:extLst>
              <a:ext uri="{FF2B5EF4-FFF2-40B4-BE49-F238E27FC236}">
                <a16:creationId xmlns:a16="http://schemas.microsoft.com/office/drawing/2014/main" id="{7848980B-3A78-D666-3450-DFE397878148}"/>
              </a:ext>
            </a:extLst>
          </p:cNvPr>
          <p:cNvSpPr>
            <a:spLocks noGrp="1"/>
          </p:cNvSpPr>
          <p:nvPr>
            <p:ph type="body" sz="quarter" idx="15"/>
          </p:nvPr>
        </p:nvSpPr>
        <p:spPr/>
        <p:txBody>
          <a:bodyPr/>
          <a:lstStyle/>
          <a:p>
            <a:endParaRPr lang="en-US"/>
          </a:p>
        </p:txBody>
      </p:sp>
      <p:sp>
        <p:nvSpPr>
          <p:cNvPr id="14" name="Text Placeholder 13">
            <a:extLst>
              <a:ext uri="{FF2B5EF4-FFF2-40B4-BE49-F238E27FC236}">
                <a16:creationId xmlns:a16="http://schemas.microsoft.com/office/drawing/2014/main" id="{53B30361-210F-0C86-1A80-ECA062F48EE8}"/>
              </a:ext>
            </a:extLst>
          </p:cNvPr>
          <p:cNvSpPr>
            <a:spLocks noGrp="1"/>
          </p:cNvSpPr>
          <p:nvPr>
            <p:ph type="body" sz="quarter" idx="16"/>
          </p:nvPr>
        </p:nvSpPr>
        <p:spPr/>
        <p:txBody>
          <a:bodyPr/>
          <a:lstStyle/>
          <a:p>
            <a:pPr algn="just"/>
            <a:r>
              <a:rPr lang="en-US" dirty="0">
                <a:hlinkClick r:id="rId2"/>
              </a:rPr>
              <a:t>Now Generally Available: Built-in CIS Benchmark Auditing for Linux on Azure</a:t>
            </a:r>
            <a:endParaRPr lang="en-US" dirty="0"/>
          </a:p>
          <a:p>
            <a:pPr algn="just"/>
            <a:r>
              <a:rPr lang="en-US" b="1" dirty="0"/>
              <a:t>Built-in CIS Benchmark auditing for Linux</a:t>
            </a:r>
            <a:r>
              <a:rPr lang="en-US" dirty="0"/>
              <a:t> is now </a:t>
            </a:r>
            <a:r>
              <a:rPr lang="en-US" b="1" dirty="0"/>
              <a:t>generally available</a:t>
            </a:r>
            <a:r>
              <a:rPr lang="en-US" dirty="0"/>
              <a:t> on Azure, enabling organizations to continuously assess Linux virtual machines against the </a:t>
            </a:r>
            <a:r>
              <a:rPr lang="en-US" b="1" dirty="0"/>
              <a:t>Center for Internet Security (CIS) Benchmarks</a:t>
            </a:r>
            <a:r>
              <a:rPr lang="en-US" dirty="0"/>
              <a:t> without deploying third-party assessment tools. The capability provides automated security configuration checks to help identify deviations from industry-recognized hardening standards.</a:t>
            </a:r>
          </a:p>
          <a:p>
            <a:pPr algn="just"/>
            <a:r>
              <a:rPr lang="en-US" dirty="0"/>
              <a:t>The service evaluates Linux systems against CIS recommendations and surfaces compliance results, failed controls, and remediation guidance through Azure's native management and security experience. This allows security and operations teams to continuously monitor security baselines, simplify compliance reporting, and quickly identify configuration drift across their Linux estate.</a:t>
            </a:r>
          </a:p>
          <a:p>
            <a:pPr algn="just"/>
            <a:r>
              <a:rPr lang="en-US" dirty="0"/>
              <a:t>For enterprises running Linux workloads on Azure, built-in CIS auditing reduces operational overhead, strengthens security governance, and helps demonstrate compliance with internal policies and regulatory requirements. It also supports standardized Linux hardening by integrating security assessments directly into Azure's native management and monitoring ecosystem.</a:t>
            </a:r>
          </a:p>
          <a:p>
            <a:pPr algn="just"/>
            <a:endParaRPr lang="en-US" dirty="0"/>
          </a:p>
        </p:txBody>
      </p:sp>
    </p:spTree>
    <p:extLst>
      <p:ext uri="{BB962C8B-B14F-4D97-AF65-F5344CB8AC3E}">
        <p14:creationId xmlns:p14="http://schemas.microsoft.com/office/powerpoint/2010/main" val="199692643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4">
                                            <p:txEl>
                                              <p:pRg st="0" end="0"/>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14">
                                            <p:txEl>
                                              <p:pRg st="1" end="1"/>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14">
                                            <p:txEl>
                                              <p:pRg st="2" end="2"/>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14">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55404AB4-665F-F8DC-DFC8-3BE90D9EDF06}"/>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429" y="0"/>
            <a:ext cx="9139141" cy="5143500"/>
          </a:xfrm>
          <a:prstGeom prst="rect">
            <a:avLst/>
          </a:prstGeom>
        </p:spPr>
      </p:pic>
      <p:sp>
        <p:nvSpPr>
          <p:cNvPr id="4" name="Text Placeholder 3">
            <a:extLst>
              <a:ext uri="{FF2B5EF4-FFF2-40B4-BE49-F238E27FC236}">
                <a16:creationId xmlns:a16="http://schemas.microsoft.com/office/drawing/2014/main" id="{17F39168-7046-60A5-1EEA-8D2B5EAAE24F}"/>
              </a:ext>
            </a:extLst>
          </p:cNvPr>
          <p:cNvSpPr>
            <a:spLocks noGrp="1"/>
          </p:cNvSpPr>
          <p:nvPr>
            <p:ph type="body" sz="quarter" idx="13"/>
          </p:nvPr>
        </p:nvSpPr>
        <p:spPr>
          <a:xfrm>
            <a:off x="252845" y="1285875"/>
            <a:ext cx="8796812" cy="1714500"/>
          </a:xfrm>
        </p:spPr>
        <p:txBody>
          <a:bodyPr/>
          <a:lstStyle/>
          <a:p>
            <a:r>
              <a:rPr lang="en-US" sz="4000" dirty="0">
                <a:solidFill>
                  <a:schemeClr val="bg1"/>
                </a:solidFill>
              </a:rPr>
              <a:t>Management &amp; </a:t>
            </a:r>
          </a:p>
          <a:p>
            <a:r>
              <a:rPr lang="en-US" sz="4000" dirty="0">
                <a:solidFill>
                  <a:schemeClr val="bg1"/>
                </a:solidFill>
              </a:rPr>
              <a:t>Governance</a:t>
            </a:r>
          </a:p>
        </p:txBody>
      </p:sp>
    </p:spTree>
    <p:extLst>
      <p:ext uri="{BB962C8B-B14F-4D97-AF65-F5344CB8AC3E}">
        <p14:creationId xmlns:p14="http://schemas.microsoft.com/office/powerpoint/2010/main" val="3479183145"/>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12" name="Text Placeholder 11">
            <a:extLst>
              <a:ext uri="{FF2B5EF4-FFF2-40B4-BE49-F238E27FC236}">
                <a16:creationId xmlns:a16="http://schemas.microsoft.com/office/drawing/2014/main" id="{F5D0A865-EAC9-D4DF-765C-2BBCA9EC1F5C}"/>
              </a:ext>
            </a:extLst>
          </p:cNvPr>
          <p:cNvSpPr>
            <a:spLocks noGrp="1"/>
          </p:cNvSpPr>
          <p:nvPr>
            <p:ph type="body" sz="quarter" idx="10"/>
          </p:nvPr>
        </p:nvSpPr>
        <p:spPr/>
        <p:txBody>
          <a:bodyPr/>
          <a:lstStyle/>
          <a:p>
            <a:endParaRPr lang="en-US" sz="1000" dirty="0"/>
          </a:p>
        </p:txBody>
      </p:sp>
      <p:sp>
        <p:nvSpPr>
          <p:cNvPr id="11" name="Title 10">
            <a:extLst>
              <a:ext uri="{FF2B5EF4-FFF2-40B4-BE49-F238E27FC236}">
                <a16:creationId xmlns:a16="http://schemas.microsoft.com/office/drawing/2014/main" id="{0A19052D-1C06-3BF6-CD73-31098A5519FB}"/>
              </a:ext>
            </a:extLst>
          </p:cNvPr>
          <p:cNvSpPr>
            <a:spLocks noGrp="1"/>
          </p:cNvSpPr>
          <p:nvPr>
            <p:ph type="title"/>
          </p:nvPr>
        </p:nvSpPr>
        <p:spPr/>
        <p:txBody>
          <a:bodyPr/>
          <a:lstStyle/>
          <a:p>
            <a:r>
              <a:rPr lang="en-US" sz="1800" dirty="0"/>
              <a:t>Management &amp; Governance Updates (Preview)</a:t>
            </a:r>
            <a:endParaRPr lang="en-US" dirty="0"/>
          </a:p>
        </p:txBody>
      </p:sp>
      <p:sp>
        <p:nvSpPr>
          <p:cNvPr id="13" name="Text Placeholder 12">
            <a:extLst>
              <a:ext uri="{FF2B5EF4-FFF2-40B4-BE49-F238E27FC236}">
                <a16:creationId xmlns:a16="http://schemas.microsoft.com/office/drawing/2014/main" id="{AB83368C-23D2-63DD-1F2B-65AB8A48B236}"/>
              </a:ext>
            </a:extLst>
          </p:cNvPr>
          <p:cNvSpPr>
            <a:spLocks noGrp="1"/>
          </p:cNvSpPr>
          <p:nvPr>
            <p:ph type="body" sz="quarter" idx="15"/>
          </p:nvPr>
        </p:nvSpPr>
        <p:spPr/>
        <p:txBody>
          <a:bodyPr/>
          <a:lstStyle/>
          <a:p>
            <a:endParaRPr lang="en-US"/>
          </a:p>
        </p:txBody>
      </p:sp>
      <p:sp>
        <p:nvSpPr>
          <p:cNvPr id="14" name="Text Placeholder 13">
            <a:extLst>
              <a:ext uri="{FF2B5EF4-FFF2-40B4-BE49-F238E27FC236}">
                <a16:creationId xmlns:a16="http://schemas.microsoft.com/office/drawing/2014/main" id="{1DF1A36F-4250-259D-24AE-F82FE69A7F7E}"/>
              </a:ext>
            </a:extLst>
          </p:cNvPr>
          <p:cNvSpPr>
            <a:spLocks noGrp="1"/>
          </p:cNvSpPr>
          <p:nvPr>
            <p:ph type="body" sz="quarter" idx="16"/>
          </p:nvPr>
        </p:nvSpPr>
        <p:spPr/>
        <p:txBody>
          <a:bodyPr/>
          <a:lstStyle/>
          <a:p>
            <a:pPr algn="just"/>
            <a:r>
              <a:rPr lang="en-US" dirty="0">
                <a:hlinkClick r:id="rId2"/>
              </a:rPr>
              <a:t>Public Preview: Azure Monitor Logs mirroring into Microsoft Fabric</a:t>
            </a:r>
            <a:endParaRPr lang="en-US" dirty="0"/>
          </a:p>
          <a:p>
            <a:pPr algn="just"/>
            <a:r>
              <a:rPr lang="en-US" b="1" dirty="0"/>
              <a:t>Azure Monitor</a:t>
            </a:r>
            <a:r>
              <a:rPr lang="en-US" dirty="0"/>
              <a:t> now supports </a:t>
            </a:r>
            <a:r>
              <a:rPr lang="en-US" b="1" dirty="0"/>
              <a:t>sharing Log Analytics telemetry directly with Microsoft Fabric</a:t>
            </a:r>
            <a:r>
              <a:rPr lang="en-US" dirty="0"/>
              <a:t>, making observability data available in </a:t>
            </a:r>
            <a:r>
              <a:rPr lang="en-US" b="1" dirty="0" err="1"/>
              <a:t>OneLake</a:t>
            </a:r>
            <a:r>
              <a:rPr lang="en-US" dirty="0"/>
              <a:t> as </a:t>
            </a:r>
            <a:r>
              <a:rPr lang="en-US" b="1" dirty="0"/>
              <a:t>Delta Parquet</a:t>
            </a:r>
            <a:r>
              <a:rPr lang="en-US" dirty="0"/>
              <a:t> without duplicating data and with </a:t>
            </a:r>
            <a:r>
              <a:rPr lang="en-US" b="1" dirty="0"/>
              <a:t>near real-time synchronization</a:t>
            </a:r>
            <a:r>
              <a:rPr lang="en-US" dirty="0"/>
              <a:t>. The integration supports </a:t>
            </a:r>
            <a:r>
              <a:rPr lang="en-US" b="1" dirty="0"/>
              <a:t>all Azure Monitor log tiers</a:t>
            </a:r>
            <a:r>
              <a:rPr lang="en-US" dirty="0"/>
              <a:t>, including </a:t>
            </a:r>
            <a:r>
              <a:rPr lang="en-US" b="1" dirty="0"/>
              <a:t>Analytics, Basic, and Auxiliary</a:t>
            </a:r>
            <a:r>
              <a:rPr lang="en-US" dirty="0"/>
              <a:t>, enabling organizations to analyze operational telemetry using Microsoft Fabric services such as </a:t>
            </a:r>
            <a:r>
              <a:rPr lang="en-US" b="1" dirty="0" err="1"/>
              <a:t>Eventhouse</a:t>
            </a:r>
            <a:r>
              <a:rPr lang="en-US" b="1" dirty="0"/>
              <a:t>, Power BI, and Spark</a:t>
            </a:r>
            <a:r>
              <a:rPr lang="en-US" dirty="0"/>
              <a:t>.</a:t>
            </a:r>
          </a:p>
          <a:p>
            <a:pPr algn="just"/>
            <a:r>
              <a:rPr lang="en-US" dirty="0"/>
              <a:t>By combining Azure Monitor logs with business data from systems like </a:t>
            </a:r>
            <a:r>
              <a:rPr lang="en-US" b="1" dirty="0"/>
              <a:t>ERP, CRM, and other enterprise applications</a:t>
            </a:r>
            <a:r>
              <a:rPr lang="en-US" dirty="0"/>
              <a:t>, organizations can correlate operational events with business outcomes, enabling richer cross-domain analytics and faster decision-making. The open Delta Parquet format also supports advanced analytics, machine learning, long-term trend analysis, and enterprise reporting using the broader Microsoft Fabric ecosystem.</a:t>
            </a:r>
          </a:p>
          <a:p>
            <a:pPr algn="just"/>
            <a:r>
              <a:rPr lang="en-US" dirty="0"/>
              <a:t>This integration strengthens the connection between </a:t>
            </a:r>
            <a:r>
              <a:rPr lang="en-US" b="1" dirty="0"/>
              <a:t>IT operations and business intelligence</a:t>
            </a:r>
            <a:r>
              <a:rPr lang="en-US" dirty="0"/>
              <a:t>, allowing organizations to perform unified analytics across operational telemetry and enterprise data while reducing data duplication and simplifying observability architectures.</a:t>
            </a:r>
          </a:p>
          <a:p>
            <a:pPr algn="just"/>
            <a:endParaRPr lang="en-US" dirty="0"/>
          </a:p>
        </p:txBody>
      </p:sp>
    </p:spTree>
    <p:extLst>
      <p:ext uri="{BB962C8B-B14F-4D97-AF65-F5344CB8AC3E}">
        <p14:creationId xmlns:p14="http://schemas.microsoft.com/office/powerpoint/2010/main" val="52086407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4">
                                            <p:txEl>
                                              <p:pRg st="0" end="0"/>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14">
                                            <p:txEl>
                                              <p:pRg st="1" end="1"/>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14">
                                            <p:txEl>
                                              <p:pRg st="2" end="2"/>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14">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6743C16-70E1-76E8-34FC-4D971266F2E4}"/>
            </a:ext>
          </a:extLst>
        </p:cNvPr>
        <p:cNvGrpSpPr/>
        <p:nvPr/>
      </p:nvGrpSpPr>
      <p:grpSpPr>
        <a:xfrm>
          <a:off x="0" y="0"/>
          <a:ext cx="0" cy="0"/>
          <a:chOff x="0" y="0"/>
          <a:chExt cx="0" cy="0"/>
        </a:xfrm>
      </p:grpSpPr>
      <p:sp>
        <p:nvSpPr>
          <p:cNvPr id="12" name="Text Placeholder 11">
            <a:extLst>
              <a:ext uri="{FF2B5EF4-FFF2-40B4-BE49-F238E27FC236}">
                <a16:creationId xmlns:a16="http://schemas.microsoft.com/office/drawing/2014/main" id="{F6EFEF9D-C531-5164-3001-CAB3E530800A}"/>
              </a:ext>
            </a:extLst>
          </p:cNvPr>
          <p:cNvSpPr>
            <a:spLocks noGrp="1"/>
          </p:cNvSpPr>
          <p:nvPr>
            <p:ph type="body" sz="quarter" idx="10"/>
          </p:nvPr>
        </p:nvSpPr>
        <p:spPr/>
        <p:txBody>
          <a:bodyPr/>
          <a:lstStyle/>
          <a:p>
            <a:pPr algn="just"/>
            <a:r>
              <a:rPr lang="en-US" sz="1000" dirty="0">
                <a:hlinkClick r:id="rId2"/>
              </a:rPr>
              <a:t>Generally Available: Microsoft Azure now available from new cloud region in India (India South Central)</a:t>
            </a:r>
            <a:endParaRPr lang="en-US" sz="1000" dirty="0"/>
          </a:p>
          <a:p>
            <a:pPr algn="just"/>
            <a:r>
              <a:rPr lang="en-US" sz="1000" dirty="0"/>
              <a:t>Microsoft announces the opening of its fourth datacenter region in India, India South Central, with campuses in Hyderabad, Telangana. The region will provide customers with local, secure, state-of-the-art cloud infrastructure designed with AI readiness as a key focus. It supports growing demand for cloud and AI services, customer digital transformation, local data residency, improved latency, and resilient cloud capacity in India.</a:t>
            </a:r>
          </a:p>
        </p:txBody>
      </p:sp>
      <p:sp>
        <p:nvSpPr>
          <p:cNvPr id="11" name="Title 10">
            <a:extLst>
              <a:ext uri="{FF2B5EF4-FFF2-40B4-BE49-F238E27FC236}">
                <a16:creationId xmlns:a16="http://schemas.microsoft.com/office/drawing/2014/main" id="{1469B97F-5DC9-9FCE-E7F9-3A690CE53011}"/>
              </a:ext>
            </a:extLst>
          </p:cNvPr>
          <p:cNvSpPr>
            <a:spLocks noGrp="1"/>
          </p:cNvSpPr>
          <p:nvPr>
            <p:ph type="title"/>
          </p:nvPr>
        </p:nvSpPr>
        <p:spPr/>
        <p:txBody>
          <a:bodyPr/>
          <a:lstStyle/>
          <a:p>
            <a:r>
              <a:rPr lang="en-US" sz="1800" dirty="0"/>
              <a:t>Management &amp; Governance Updates (General Available)</a:t>
            </a:r>
            <a:endParaRPr lang="en-US" dirty="0"/>
          </a:p>
        </p:txBody>
      </p:sp>
      <p:sp>
        <p:nvSpPr>
          <p:cNvPr id="13" name="Text Placeholder 12">
            <a:extLst>
              <a:ext uri="{FF2B5EF4-FFF2-40B4-BE49-F238E27FC236}">
                <a16:creationId xmlns:a16="http://schemas.microsoft.com/office/drawing/2014/main" id="{21B9C0FA-660D-52E2-A52D-5071C6022C4D}"/>
              </a:ext>
            </a:extLst>
          </p:cNvPr>
          <p:cNvSpPr>
            <a:spLocks noGrp="1"/>
          </p:cNvSpPr>
          <p:nvPr>
            <p:ph type="body" sz="quarter" idx="15"/>
          </p:nvPr>
        </p:nvSpPr>
        <p:spPr/>
        <p:txBody>
          <a:bodyPr/>
          <a:lstStyle/>
          <a:p>
            <a:endParaRPr lang="en-US"/>
          </a:p>
        </p:txBody>
      </p:sp>
      <p:sp>
        <p:nvSpPr>
          <p:cNvPr id="14" name="Text Placeholder 13">
            <a:extLst>
              <a:ext uri="{FF2B5EF4-FFF2-40B4-BE49-F238E27FC236}">
                <a16:creationId xmlns:a16="http://schemas.microsoft.com/office/drawing/2014/main" id="{B4278EE4-80FF-FF66-93C7-3BE34B7B9EDB}"/>
              </a:ext>
            </a:extLst>
          </p:cNvPr>
          <p:cNvSpPr>
            <a:spLocks noGrp="1"/>
          </p:cNvSpPr>
          <p:nvPr>
            <p:ph type="body" sz="quarter" idx="16"/>
          </p:nvPr>
        </p:nvSpPr>
        <p:spPr/>
        <p:txBody>
          <a:bodyPr/>
          <a:lstStyle/>
          <a:p>
            <a:pPr algn="just"/>
            <a:r>
              <a:rPr lang="en-US" dirty="0">
                <a:hlinkClick r:id="rId3"/>
              </a:rPr>
              <a:t>Generally Available: Single-click purchase for public SaaS offers</a:t>
            </a:r>
            <a:endParaRPr lang="en-US" dirty="0"/>
          </a:p>
          <a:p>
            <a:pPr algn="just"/>
            <a:r>
              <a:rPr lang="en-US" dirty="0"/>
              <a:t>Eligible SaaS products on Microsoft Marketplace now support a simplified purchase experience in Azure portal. Customers can review plan, billing, resource group, contact details, and terms information on a single page for completing the purchase. This experience isn’t currently supported for SaaS offers that use a custom purchasing experience</a:t>
            </a:r>
          </a:p>
        </p:txBody>
      </p:sp>
    </p:spTree>
    <p:extLst>
      <p:ext uri="{BB962C8B-B14F-4D97-AF65-F5344CB8AC3E}">
        <p14:creationId xmlns:p14="http://schemas.microsoft.com/office/powerpoint/2010/main" val="359488965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4">
                                            <p:txEl>
                                              <p:pRg st="0" end="0"/>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14">
                                            <p:txEl>
                                              <p:pRg st="1" end="1"/>
                                            </p:txEl>
                                          </p:spTgt>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12">
                                            <p:txEl>
                                              <p:pRg st="0" end="0"/>
                                            </p:txEl>
                                          </p:spTgt>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12">
                                            <p:txEl>
                                              <p:pRg st="1" end="1"/>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259EACE-2947-B6B2-9E8D-58D66D66FE2C}"/>
            </a:ext>
          </a:extLst>
        </p:cNvPr>
        <p:cNvGrpSpPr/>
        <p:nvPr/>
      </p:nvGrpSpPr>
      <p:grpSpPr>
        <a:xfrm>
          <a:off x="0" y="0"/>
          <a:ext cx="0" cy="0"/>
          <a:chOff x="0" y="0"/>
          <a:chExt cx="0" cy="0"/>
        </a:xfrm>
      </p:grpSpPr>
      <p:sp>
        <p:nvSpPr>
          <p:cNvPr id="12" name="Text Placeholder 11">
            <a:extLst>
              <a:ext uri="{FF2B5EF4-FFF2-40B4-BE49-F238E27FC236}">
                <a16:creationId xmlns:a16="http://schemas.microsoft.com/office/drawing/2014/main" id="{B10E0244-34EC-E9DD-ACD9-50A13C40D4E3}"/>
              </a:ext>
            </a:extLst>
          </p:cNvPr>
          <p:cNvSpPr>
            <a:spLocks noGrp="1"/>
          </p:cNvSpPr>
          <p:nvPr>
            <p:ph type="body" sz="quarter" idx="10"/>
          </p:nvPr>
        </p:nvSpPr>
        <p:spPr/>
        <p:txBody>
          <a:bodyPr/>
          <a:lstStyle/>
          <a:p>
            <a:endParaRPr lang="en-US" sz="1000" dirty="0"/>
          </a:p>
        </p:txBody>
      </p:sp>
      <p:sp>
        <p:nvSpPr>
          <p:cNvPr id="11" name="Title 10">
            <a:extLst>
              <a:ext uri="{FF2B5EF4-FFF2-40B4-BE49-F238E27FC236}">
                <a16:creationId xmlns:a16="http://schemas.microsoft.com/office/drawing/2014/main" id="{F799D386-8FFB-9287-3092-EBC4EED0ED44}"/>
              </a:ext>
            </a:extLst>
          </p:cNvPr>
          <p:cNvSpPr>
            <a:spLocks noGrp="1"/>
          </p:cNvSpPr>
          <p:nvPr>
            <p:ph type="title"/>
          </p:nvPr>
        </p:nvSpPr>
        <p:spPr/>
        <p:txBody>
          <a:bodyPr/>
          <a:lstStyle/>
          <a:p>
            <a:r>
              <a:rPr lang="en-US" sz="1800" dirty="0"/>
              <a:t>Management &amp; Governance Updates (General Available)</a:t>
            </a:r>
            <a:endParaRPr lang="en-US" dirty="0"/>
          </a:p>
        </p:txBody>
      </p:sp>
      <p:sp>
        <p:nvSpPr>
          <p:cNvPr id="13" name="Text Placeholder 12">
            <a:extLst>
              <a:ext uri="{FF2B5EF4-FFF2-40B4-BE49-F238E27FC236}">
                <a16:creationId xmlns:a16="http://schemas.microsoft.com/office/drawing/2014/main" id="{3ECB1CBE-D19D-DB22-C144-06273C18631E}"/>
              </a:ext>
            </a:extLst>
          </p:cNvPr>
          <p:cNvSpPr>
            <a:spLocks noGrp="1"/>
          </p:cNvSpPr>
          <p:nvPr>
            <p:ph type="body" sz="quarter" idx="15"/>
          </p:nvPr>
        </p:nvSpPr>
        <p:spPr/>
        <p:txBody>
          <a:bodyPr/>
          <a:lstStyle/>
          <a:p>
            <a:endParaRPr lang="en-US"/>
          </a:p>
        </p:txBody>
      </p:sp>
      <p:sp>
        <p:nvSpPr>
          <p:cNvPr id="14" name="Text Placeholder 13">
            <a:extLst>
              <a:ext uri="{FF2B5EF4-FFF2-40B4-BE49-F238E27FC236}">
                <a16:creationId xmlns:a16="http://schemas.microsoft.com/office/drawing/2014/main" id="{19E41336-3964-F676-4CD6-656D0DDBD34A}"/>
              </a:ext>
            </a:extLst>
          </p:cNvPr>
          <p:cNvSpPr>
            <a:spLocks noGrp="1"/>
          </p:cNvSpPr>
          <p:nvPr>
            <p:ph type="body" sz="quarter" idx="16"/>
          </p:nvPr>
        </p:nvSpPr>
        <p:spPr/>
        <p:txBody>
          <a:bodyPr/>
          <a:lstStyle/>
          <a:p>
            <a:pPr algn="just"/>
            <a:r>
              <a:rPr lang="en-US" dirty="0">
                <a:hlinkClick r:id="rId2"/>
              </a:rPr>
              <a:t>Announcing: Reservation exchanges for Azure services supported by savings plans will no longer be available starting February 1, 2027</a:t>
            </a:r>
            <a:endParaRPr lang="ru-RU" dirty="0"/>
          </a:p>
          <a:p>
            <a:pPr algn="just"/>
            <a:r>
              <a:rPr lang="en-US" dirty="0"/>
              <a:t>Starting February 1, 2027, Azure reservations </a:t>
            </a:r>
            <a:r>
              <a:rPr lang="en-US" u="sng" dirty="0">
                <a:hlinkClick r:id="rId3"/>
              </a:rPr>
              <a:t>exchanges</a:t>
            </a:r>
            <a:r>
              <a:rPr lang="en-US" dirty="0"/>
              <a:t> will no longer be available for services covered by savings plans.  At the time of this announcement, this includes reservations for the following services:    </a:t>
            </a:r>
          </a:p>
          <a:p>
            <a:pPr marL="171450" lvl="0" indent="-171450" algn="just">
              <a:buFont typeface="Arial" panose="020B0604020202020204" pitchFamily="34" charset="0"/>
              <a:buChar char="•"/>
            </a:pPr>
            <a:r>
              <a:rPr lang="en-US" dirty="0"/>
              <a:t>Compute services: Azure Virtual Machines, including exchanges between non-premium and premium storage, Azure Dedicated Host, and Azure App Service. </a:t>
            </a:r>
          </a:p>
          <a:p>
            <a:pPr marL="171450" lvl="0" indent="-171450" algn="just">
              <a:buFont typeface="Arial" panose="020B0604020202020204" pitchFamily="34" charset="0"/>
              <a:buChar char="•"/>
            </a:pPr>
            <a:r>
              <a:rPr lang="en-US" dirty="0"/>
              <a:t>Database services: Azure Database for PostgreSQL, Azure Database for MySQL, Azure </a:t>
            </a:r>
            <a:r>
              <a:rPr lang="en-US" dirty="0" err="1"/>
              <a:t>DocumentDB</a:t>
            </a:r>
            <a:r>
              <a:rPr lang="en-US" dirty="0"/>
              <a:t>, Azure Cosmos DB, Azure SQL Database, and Azure SQL Managed Instance.  </a:t>
            </a:r>
          </a:p>
          <a:p>
            <a:pPr algn="just"/>
            <a:r>
              <a:rPr lang="en-US" dirty="0"/>
              <a:t>Each active reservation for impacted services purchased before February 1, 2027, will retain the right to one final exchange after that date.  </a:t>
            </a:r>
          </a:p>
          <a:p>
            <a:pPr algn="just"/>
            <a:r>
              <a:rPr lang="en-US" dirty="0"/>
              <a:t>This reservation exchange policy update excludes products or services that are deprecated and approaching end of life, as well as cloud environments that don’t currently support savings plans. </a:t>
            </a:r>
          </a:p>
          <a:p>
            <a:pPr algn="just"/>
            <a:r>
              <a:rPr lang="en-US" dirty="0"/>
              <a:t>As savings plans coverage expands, reservations for those services will follow this policy and will not support exchanges. </a:t>
            </a:r>
          </a:p>
          <a:p>
            <a:pPr algn="just"/>
            <a:endParaRPr lang="en-US" dirty="0"/>
          </a:p>
        </p:txBody>
      </p:sp>
    </p:spTree>
    <p:extLst>
      <p:ext uri="{BB962C8B-B14F-4D97-AF65-F5344CB8AC3E}">
        <p14:creationId xmlns:p14="http://schemas.microsoft.com/office/powerpoint/2010/main" val="308970828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4">
                                            <p:txEl>
                                              <p:pRg st="0" end="0"/>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14">
                                            <p:txEl>
                                              <p:pRg st="1" end="1"/>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14">
                                            <p:txEl>
                                              <p:pRg st="2" end="2"/>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14">
                                            <p:txEl>
                                              <p:pRg st="3" end="3"/>
                                            </p:txEl>
                                          </p:spTgt>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14">
                                            <p:txEl>
                                              <p:pRg st="4" end="4"/>
                                            </p:txEl>
                                          </p:spTgt>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14">
                                            <p:txEl>
                                              <p:pRg st="5" end="5"/>
                                            </p:txEl>
                                          </p:spTgt>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14">
                                            <p:txEl>
                                              <p:pRg st="6" end="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2.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D2E070E0-1172-0461-DF36-41256FE66DEB}"/>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9139141" cy="5143500"/>
          </a:xfrm>
          <a:prstGeom prst="rect">
            <a:avLst/>
          </a:prstGeom>
        </p:spPr>
      </p:pic>
      <p:sp>
        <p:nvSpPr>
          <p:cNvPr id="4" name="Text Placeholder 3">
            <a:extLst>
              <a:ext uri="{FF2B5EF4-FFF2-40B4-BE49-F238E27FC236}">
                <a16:creationId xmlns:a16="http://schemas.microsoft.com/office/drawing/2014/main" id="{17F39168-7046-60A5-1EEA-8D2B5EAAE24F}"/>
              </a:ext>
            </a:extLst>
          </p:cNvPr>
          <p:cNvSpPr>
            <a:spLocks noGrp="1"/>
          </p:cNvSpPr>
          <p:nvPr>
            <p:ph type="body" sz="quarter" idx="13"/>
          </p:nvPr>
        </p:nvSpPr>
        <p:spPr/>
        <p:txBody>
          <a:bodyPr/>
          <a:lstStyle/>
          <a:p>
            <a:r>
              <a:rPr lang="en-US" sz="4000" dirty="0">
                <a:solidFill>
                  <a:schemeClr val="bg1"/>
                </a:solidFill>
              </a:rPr>
              <a:t>Compute</a:t>
            </a:r>
          </a:p>
        </p:txBody>
      </p:sp>
    </p:spTree>
    <p:extLst>
      <p:ext uri="{BB962C8B-B14F-4D97-AF65-F5344CB8AC3E}">
        <p14:creationId xmlns:p14="http://schemas.microsoft.com/office/powerpoint/2010/main" val="274742856"/>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12" name="Text Placeholder 11">
            <a:extLst>
              <a:ext uri="{FF2B5EF4-FFF2-40B4-BE49-F238E27FC236}">
                <a16:creationId xmlns:a16="http://schemas.microsoft.com/office/drawing/2014/main" id="{F5D0A865-EAC9-D4DF-765C-2BBCA9EC1F5C}"/>
              </a:ext>
            </a:extLst>
          </p:cNvPr>
          <p:cNvSpPr>
            <a:spLocks noGrp="1"/>
          </p:cNvSpPr>
          <p:nvPr>
            <p:ph type="body" sz="quarter" idx="10"/>
          </p:nvPr>
        </p:nvSpPr>
        <p:spPr/>
        <p:txBody>
          <a:bodyPr/>
          <a:lstStyle/>
          <a:p>
            <a:pPr algn="just"/>
            <a:r>
              <a:rPr lang="en-US" sz="1000" dirty="0">
                <a:hlinkClick r:id="rId2"/>
              </a:rPr>
              <a:t>Public Preview: Prepared Image Specification</a:t>
            </a:r>
            <a:endParaRPr lang="en-US" sz="1000" dirty="0"/>
          </a:p>
          <a:p>
            <a:pPr algn="just"/>
            <a:r>
              <a:rPr lang="en-US" sz="1000" dirty="0"/>
              <a:t>Organizations running large-scale, AI, GPU, Windows, and other performance-sensitive workloads on AKS often experience longer node startup times because new nodes must repeatedly download container images and perform initialization tasks before workloads can run.</a:t>
            </a:r>
          </a:p>
          <a:p>
            <a:pPr algn="just"/>
            <a:r>
              <a:rPr lang="en-US" sz="1000" dirty="0"/>
              <a:t>With AKS Prepared Image Specification, now in preview, customers can create preconfigured node images that include required container images and customizations ahead of time, enabling new nodes to start in a ready-to-run state. This helps workloads achieve faster and more predictable scaling, reduce application startup latency, and improve operational efficiency during growth and burst traffic events.</a:t>
            </a:r>
          </a:p>
        </p:txBody>
      </p:sp>
      <p:sp>
        <p:nvSpPr>
          <p:cNvPr id="11" name="Title 10">
            <a:extLst>
              <a:ext uri="{FF2B5EF4-FFF2-40B4-BE49-F238E27FC236}">
                <a16:creationId xmlns:a16="http://schemas.microsoft.com/office/drawing/2014/main" id="{0A19052D-1C06-3BF6-CD73-31098A5519FB}"/>
              </a:ext>
            </a:extLst>
          </p:cNvPr>
          <p:cNvSpPr>
            <a:spLocks noGrp="1"/>
          </p:cNvSpPr>
          <p:nvPr>
            <p:ph type="title"/>
          </p:nvPr>
        </p:nvSpPr>
        <p:spPr/>
        <p:txBody>
          <a:bodyPr/>
          <a:lstStyle/>
          <a:p>
            <a:r>
              <a:rPr lang="en-US" sz="1800" dirty="0"/>
              <a:t>Compute Updates (Preview)</a:t>
            </a:r>
            <a:endParaRPr lang="en-US" dirty="0"/>
          </a:p>
        </p:txBody>
      </p:sp>
      <p:sp>
        <p:nvSpPr>
          <p:cNvPr id="13" name="Text Placeholder 12">
            <a:extLst>
              <a:ext uri="{FF2B5EF4-FFF2-40B4-BE49-F238E27FC236}">
                <a16:creationId xmlns:a16="http://schemas.microsoft.com/office/drawing/2014/main" id="{AB83368C-23D2-63DD-1F2B-65AB8A48B236}"/>
              </a:ext>
            </a:extLst>
          </p:cNvPr>
          <p:cNvSpPr>
            <a:spLocks noGrp="1"/>
          </p:cNvSpPr>
          <p:nvPr>
            <p:ph type="body" sz="quarter" idx="15"/>
          </p:nvPr>
        </p:nvSpPr>
        <p:spPr/>
        <p:txBody>
          <a:bodyPr/>
          <a:lstStyle/>
          <a:p>
            <a:endParaRPr lang="en-US" dirty="0"/>
          </a:p>
        </p:txBody>
      </p:sp>
      <p:sp>
        <p:nvSpPr>
          <p:cNvPr id="14" name="Text Placeholder 13">
            <a:extLst>
              <a:ext uri="{FF2B5EF4-FFF2-40B4-BE49-F238E27FC236}">
                <a16:creationId xmlns:a16="http://schemas.microsoft.com/office/drawing/2014/main" id="{1DF1A36F-4250-259D-24AE-F82FE69A7F7E}"/>
              </a:ext>
            </a:extLst>
          </p:cNvPr>
          <p:cNvSpPr>
            <a:spLocks noGrp="1"/>
          </p:cNvSpPr>
          <p:nvPr>
            <p:ph type="body" sz="quarter" idx="16"/>
          </p:nvPr>
        </p:nvSpPr>
        <p:spPr/>
        <p:txBody>
          <a:bodyPr/>
          <a:lstStyle/>
          <a:p>
            <a:pPr algn="just"/>
            <a:r>
              <a:rPr lang="en-US" dirty="0">
                <a:hlinkClick r:id="rId3"/>
              </a:rPr>
              <a:t>Public Preview: Maximum allowed failures for update runs in Azure Kubernetes Fleet Manager</a:t>
            </a:r>
            <a:endParaRPr lang="en-US" dirty="0"/>
          </a:p>
          <a:p>
            <a:pPr algn="just"/>
            <a:r>
              <a:rPr lang="en-US" dirty="0"/>
              <a:t>In fail-fast update rollouts, a small number of member cluster update failures can halt progress across a broader update deployment. Maximum Allowed Failures for update runs in Azure Kubernetes Fleet Manager, now available in preview, introduces an optional setting that allows update runs to continue when some member cluster updates fail.</a:t>
            </a:r>
          </a:p>
          <a:p>
            <a:pPr algn="just"/>
            <a:r>
              <a:rPr lang="en-US" dirty="0"/>
              <a:t>Customers can define failure thresholds at either the stage or group level using fixed counts or percentages. This gives platform teams more control over the balance between rollout correctness and continued update progress, enabling more flexible and failure-tolerant update strategies across fleet-managed clusters.</a:t>
            </a:r>
          </a:p>
        </p:txBody>
      </p:sp>
    </p:spTree>
    <p:extLst>
      <p:ext uri="{BB962C8B-B14F-4D97-AF65-F5344CB8AC3E}">
        <p14:creationId xmlns:p14="http://schemas.microsoft.com/office/powerpoint/2010/main" val="67413513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4">
                                            <p:txEl>
                                              <p:pRg st="0" end="0"/>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14">
                                            <p:txEl>
                                              <p:pRg st="1" end="1"/>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14">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12">
                                            <p:txEl>
                                              <p:pRg st="0" end="0"/>
                                            </p:txEl>
                                          </p:spTgt>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12">
                                            <p:txEl>
                                              <p:pRg st="1" end="1"/>
                                            </p:txEl>
                                          </p:spTgt>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12">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F2817E1-BA7F-D700-A07D-CF35C50119CB}"/>
            </a:ext>
          </a:extLst>
        </p:cNvPr>
        <p:cNvGrpSpPr/>
        <p:nvPr/>
      </p:nvGrpSpPr>
      <p:grpSpPr>
        <a:xfrm>
          <a:off x="0" y="0"/>
          <a:ext cx="0" cy="0"/>
          <a:chOff x="0" y="0"/>
          <a:chExt cx="0" cy="0"/>
        </a:xfrm>
      </p:grpSpPr>
      <p:sp>
        <p:nvSpPr>
          <p:cNvPr id="12" name="Text Placeholder 11">
            <a:extLst>
              <a:ext uri="{FF2B5EF4-FFF2-40B4-BE49-F238E27FC236}">
                <a16:creationId xmlns:a16="http://schemas.microsoft.com/office/drawing/2014/main" id="{995ECF59-E5F0-A908-6FBA-7B62FCFAAF59}"/>
              </a:ext>
            </a:extLst>
          </p:cNvPr>
          <p:cNvSpPr>
            <a:spLocks noGrp="1"/>
          </p:cNvSpPr>
          <p:nvPr>
            <p:ph type="body" sz="quarter" idx="10"/>
          </p:nvPr>
        </p:nvSpPr>
        <p:spPr/>
        <p:txBody>
          <a:bodyPr/>
          <a:lstStyle/>
          <a:p>
            <a:pPr algn="just"/>
            <a:r>
              <a:rPr lang="en-US" sz="1000" dirty="0">
                <a:hlinkClick r:id="rId2"/>
              </a:rPr>
              <a:t>Generally Available: Resource placement in Azure Kubernetes Fleet Manager</a:t>
            </a:r>
            <a:endParaRPr lang="en-US" sz="1000" dirty="0"/>
          </a:p>
          <a:p>
            <a:pPr algn="just"/>
            <a:r>
              <a:rPr lang="en-US" sz="1000" dirty="0"/>
              <a:t>Managing Kubernetes resources across multiple clusters can require significant manual effort to apply updates and maintain consistency. Resource placement in Azure Kubernetes Fleet Manager is now generally available and enables platform and application teams to consistently distribute Kubernetes resources across multiple AKS and Arc-enabled clusters.</a:t>
            </a:r>
          </a:p>
          <a:p>
            <a:pPr algn="just"/>
            <a:r>
              <a:rPr lang="en-US" sz="1000" dirty="0"/>
              <a:t>This release includes the Resource Placement Kubernetes APIs in v1 and introduces a new Azure portal experience for creating, viewing, and managing placements across a fleet. By using placement policies that select target member clusters based on labels and properties, teams can reduce the effort and risk associated with applying, updating, and tracking resources on a cluster-by-cluster basis.</a:t>
            </a:r>
          </a:p>
        </p:txBody>
      </p:sp>
      <p:sp>
        <p:nvSpPr>
          <p:cNvPr id="11" name="Title 10">
            <a:extLst>
              <a:ext uri="{FF2B5EF4-FFF2-40B4-BE49-F238E27FC236}">
                <a16:creationId xmlns:a16="http://schemas.microsoft.com/office/drawing/2014/main" id="{F56FF68D-660F-2CAA-B09A-5A59259AACC4}"/>
              </a:ext>
            </a:extLst>
          </p:cNvPr>
          <p:cNvSpPr>
            <a:spLocks noGrp="1"/>
          </p:cNvSpPr>
          <p:nvPr>
            <p:ph type="title"/>
          </p:nvPr>
        </p:nvSpPr>
        <p:spPr/>
        <p:txBody>
          <a:bodyPr/>
          <a:lstStyle/>
          <a:p>
            <a:r>
              <a:rPr lang="en-US" sz="1800" dirty="0"/>
              <a:t>Compute Updates (General Available)</a:t>
            </a:r>
            <a:endParaRPr lang="en-US" dirty="0"/>
          </a:p>
        </p:txBody>
      </p:sp>
      <p:sp>
        <p:nvSpPr>
          <p:cNvPr id="13" name="Text Placeholder 12">
            <a:extLst>
              <a:ext uri="{FF2B5EF4-FFF2-40B4-BE49-F238E27FC236}">
                <a16:creationId xmlns:a16="http://schemas.microsoft.com/office/drawing/2014/main" id="{1749C152-D6B4-AF3B-2578-E699D30AD2F0}"/>
              </a:ext>
            </a:extLst>
          </p:cNvPr>
          <p:cNvSpPr>
            <a:spLocks noGrp="1"/>
          </p:cNvSpPr>
          <p:nvPr>
            <p:ph type="body" sz="quarter" idx="15"/>
          </p:nvPr>
        </p:nvSpPr>
        <p:spPr/>
        <p:txBody>
          <a:bodyPr/>
          <a:lstStyle/>
          <a:p>
            <a:endParaRPr lang="en-US" dirty="0"/>
          </a:p>
        </p:txBody>
      </p:sp>
      <p:sp>
        <p:nvSpPr>
          <p:cNvPr id="14" name="Text Placeholder 13">
            <a:extLst>
              <a:ext uri="{FF2B5EF4-FFF2-40B4-BE49-F238E27FC236}">
                <a16:creationId xmlns:a16="http://schemas.microsoft.com/office/drawing/2014/main" id="{49104E40-B616-5259-A98B-8099EE2331BE}"/>
              </a:ext>
            </a:extLst>
          </p:cNvPr>
          <p:cNvSpPr>
            <a:spLocks noGrp="1"/>
          </p:cNvSpPr>
          <p:nvPr>
            <p:ph type="body" sz="quarter" idx="16"/>
          </p:nvPr>
        </p:nvSpPr>
        <p:spPr/>
        <p:txBody>
          <a:bodyPr/>
          <a:lstStyle/>
          <a:p>
            <a:pPr algn="just"/>
            <a:r>
              <a:rPr lang="en-US" dirty="0">
                <a:hlinkClick r:id="rId3"/>
              </a:rPr>
              <a:t>Generally Available: Application Routing with Gateway API</a:t>
            </a:r>
            <a:endParaRPr lang="en-US" dirty="0"/>
          </a:p>
          <a:p>
            <a:pPr algn="just"/>
            <a:r>
              <a:rPr lang="en-US" dirty="0"/>
              <a:t>Managing ingress routing while adopting newer Kubernetes standards can require balancing modernization efforts with existing deployments. Application Routing with Gateway API is now generally available on AKS, bringing the Kubernetes Gateway API to ingress management without requiring a service mesh. </a:t>
            </a:r>
            <a:br>
              <a:rPr lang="en-US" dirty="0"/>
            </a:br>
            <a:r>
              <a:rPr lang="en-US" dirty="0"/>
              <a:t>Existing ingress-nginx-based Application Routing remains supported until November, and customers can migrate to the Gateway API-based model at their own pace using the open-source ingress2gateway tool. This enables technical practitioners to adopt a standardized routing model while maintaining a lightweight footprint and supporting a gradual transition from existing ingress configurations.</a:t>
            </a:r>
          </a:p>
        </p:txBody>
      </p:sp>
    </p:spTree>
    <p:extLst>
      <p:ext uri="{BB962C8B-B14F-4D97-AF65-F5344CB8AC3E}">
        <p14:creationId xmlns:p14="http://schemas.microsoft.com/office/powerpoint/2010/main" val="16393277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4">
                                            <p:txEl>
                                              <p:pRg st="0" end="0"/>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14">
                                            <p:txEl>
                                              <p:pRg st="1" end="1"/>
                                            </p:txEl>
                                          </p:spTgt>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12">
                                            <p:txEl>
                                              <p:pRg st="0" end="0"/>
                                            </p:txEl>
                                          </p:spTgt>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12">
                                            <p:txEl>
                                              <p:pRg st="1" end="1"/>
                                            </p:txEl>
                                          </p:spTgt>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12">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EF098EE-BBE3-B9BF-C218-E4DEA9A76D9C}"/>
            </a:ext>
          </a:extLst>
        </p:cNvPr>
        <p:cNvGrpSpPr/>
        <p:nvPr/>
      </p:nvGrpSpPr>
      <p:grpSpPr>
        <a:xfrm>
          <a:off x="0" y="0"/>
          <a:ext cx="0" cy="0"/>
          <a:chOff x="0" y="0"/>
          <a:chExt cx="0" cy="0"/>
        </a:xfrm>
      </p:grpSpPr>
      <p:sp>
        <p:nvSpPr>
          <p:cNvPr id="12" name="Text Placeholder 11">
            <a:extLst>
              <a:ext uri="{FF2B5EF4-FFF2-40B4-BE49-F238E27FC236}">
                <a16:creationId xmlns:a16="http://schemas.microsoft.com/office/drawing/2014/main" id="{D082964C-E8A1-73CC-B206-1A488254620C}"/>
              </a:ext>
            </a:extLst>
          </p:cNvPr>
          <p:cNvSpPr>
            <a:spLocks noGrp="1"/>
          </p:cNvSpPr>
          <p:nvPr>
            <p:ph type="body" sz="quarter" idx="10"/>
          </p:nvPr>
        </p:nvSpPr>
        <p:spPr/>
        <p:txBody>
          <a:bodyPr/>
          <a:lstStyle/>
          <a:p>
            <a:endParaRPr lang="en-US" sz="1000" dirty="0"/>
          </a:p>
        </p:txBody>
      </p:sp>
      <p:sp>
        <p:nvSpPr>
          <p:cNvPr id="11" name="Title 10">
            <a:extLst>
              <a:ext uri="{FF2B5EF4-FFF2-40B4-BE49-F238E27FC236}">
                <a16:creationId xmlns:a16="http://schemas.microsoft.com/office/drawing/2014/main" id="{DDE59A08-9A25-40C0-DC79-D2FB88CF728E}"/>
              </a:ext>
            </a:extLst>
          </p:cNvPr>
          <p:cNvSpPr>
            <a:spLocks noGrp="1"/>
          </p:cNvSpPr>
          <p:nvPr>
            <p:ph type="title"/>
          </p:nvPr>
        </p:nvSpPr>
        <p:spPr/>
        <p:txBody>
          <a:bodyPr/>
          <a:lstStyle/>
          <a:p>
            <a:r>
              <a:rPr lang="en-US" sz="1800" dirty="0"/>
              <a:t>Compute Updates (General Available)</a:t>
            </a:r>
            <a:endParaRPr lang="en-US" dirty="0"/>
          </a:p>
        </p:txBody>
      </p:sp>
      <p:sp>
        <p:nvSpPr>
          <p:cNvPr id="13" name="Text Placeholder 12">
            <a:extLst>
              <a:ext uri="{FF2B5EF4-FFF2-40B4-BE49-F238E27FC236}">
                <a16:creationId xmlns:a16="http://schemas.microsoft.com/office/drawing/2014/main" id="{4D7D0670-36E5-9279-0AB3-70FC83D5A9FE}"/>
              </a:ext>
            </a:extLst>
          </p:cNvPr>
          <p:cNvSpPr>
            <a:spLocks noGrp="1"/>
          </p:cNvSpPr>
          <p:nvPr>
            <p:ph type="body" sz="quarter" idx="15"/>
          </p:nvPr>
        </p:nvSpPr>
        <p:spPr/>
        <p:txBody>
          <a:bodyPr/>
          <a:lstStyle/>
          <a:p>
            <a:endParaRPr lang="en-US" dirty="0"/>
          </a:p>
        </p:txBody>
      </p:sp>
      <p:sp>
        <p:nvSpPr>
          <p:cNvPr id="14" name="Text Placeholder 13">
            <a:extLst>
              <a:ext uri="{FF2B5EF4-FFF2-40B4-BE49-F238E27FC236}">
                <a16:creationId xmlns:a16="http://schemas.microsoft.com/office/drawing/2014/main" id="{9AC89A86-0455-61DD-7A55-DACDA81B83B1}"/>
              </a:ext>
            </a:extLst>
          </p:cNvPr>
          <p:cNvSpPr>
            <a:spLocks noGrp="1"/>
          </p:cNvSpPr>
          <p:nvPr>
            <p:ph type="body" sz="quarter" idx="16"/>
          </p:nvPr>
        </p:nvSpPr>
        <p:spPr/>
        <p:txBody>
          <a:bodyPr/>
          <a:lstStyle/>
          <a:p>
            <a:pPr algn="just"/>
            <a:r>
              <a:rPr lang="en-US" dirty="0">
                <a:hlinkClick r:id="rId2"/>
              </a:rPr>
              <a:t>Generally Available: Azure Automation supports PowerShell 7.6 runbooks and Runtime environment</a:t>
            </a:r>
            <a:endParaRPr lang="en-US" dirty="0"/>
          </a:p>
          <a:p>
            <a:pPr lvl="0" algn="just"/>
            <a:r>
              <a:rPr lang="en-US" dirty="0"/>
              <a:t>Azure Automation is pleased to announce: General Availability of in-support PowerShell 7.6  runbooks</a:t>
            </a:r>
          </a:p>
          <a:p>
            <a:pPr marL="171450" lvl="0" indent="-171450" algn="just">
              <a:buFont typeface="Arial" panose="020B0604020202020204" pitchFamily="34" charset="0"/>
              <a:buChar char="•"/>
            </a:pPr>
            <a:r>
              <a:rPr lang="en-US" dirty="0"/>
              <a:t>Runtime Environment GA, enabling customers to seamlessly upgrade their outdated scripts to supported runtime versions.  </a:t>
            </a:r>
          </a:p>
          <a:p>
            <a:pPr marL="171450" lvl="0" indent="-171450" algn="just">
              <a:buFont typeface="Arial" panose="020B0604020202020204" pitchFamily="34" charset="0"/>
              <a:buChar char="•"/>
            </a:pPr>
            <a:r>
              <a:rPr lang="en-US" dirty="0"/>
              <a:t>Support for Azure CLI commands in PowerShell 7.6 runbooks GA </a:t>
            </a:r>
          </a:p>
          <a:p>
            <a:pPr algn="just"/>
            <a:r>
              <a:rPr lang="en-US" dirty="0"/>
              <a:t>Benefits: </a:t>
            </a:r>
          </a:p>
          <a:p>
            <a:pPr marL="171450" lvl="0" indent="-171450" algn="just">
              <a:buFont typeface="Arial" panose="020B0604020202020204" pitchFamily="34" charset="0"/>
              <a:buChar char="•"/>
            </a:pPr>
            <a:r>
              <a:rPr lang="en-US" dirty="0"/>
              <a:t>Stay current – Access to new language versions for improved security and performance. </a:t>
            </a:r>
          </a:p>
          <a:p>
            <a:pPr marL="171450" lvl="0" indent="-171450" algn="just">
              <a:buFont typeface="Arial" panose="020B0604020202020204" pitchFamily="34" charset="0"/>
              <a:buChar char="•"/>
            </a:pPr>
            <a:r>
              <a:rPr lang="en-US" dirty="0"/>
              <a:t>Faster Runbook upgrade – Easy portability of runbooks across different versions to keep pace with PowerShell and Python releases. </a:t>
            </a:r>
          </a:p>
          <a:p>
            <a:pPr marL="171450" lvl="0" indent="-171450" algn="just">
              <a:buFont typeface="Arial" panose="020B0604020202020204" pitchFamily="34" charset="0"/>
              <a:buChar char="•"/>
            </a:pPr>
            <a:r>
              <a:rPr lang="en-US" dirty="0"/>
              <a:t>Granular control – Complete control to configure the script execution environment, without worrying about conflicting module versions. </a:t>
            </a:r>
          </a:p>
          <a:p>
            <a:pPr marL="171450" lvl="0" indent="-171450" algn="just">
              <a:buFont typeface="Arial" panose="020B0604020202020204" pitchFamily="34" charset="0"/>
              <a:buChar char="•"/>
            </a:pPr>
            <a:r>
              <a:rPr lang="en-US" dirty="0"/>
              <a:t>Efficient Code organization – Eliminate the need to create multiple Automation accounts to segregate different versions of modules or conflicting modules. </a:t>
            </a:r>
          </a:p>
          <a:p>
            <a:pPr algn="just"/>
            <a:endParaRPr lang="en-US" dirty="0"/>
          </a:p>
        </p:txBody>
      </p:sp>
    </p:spTree>
    <p:extLst>
      <p:ext uri="{BB962C8B-B14F-4D97-AF65-F5344CB8AC3E}">
        <p14:creationId xmlns:p14="http://schemas.microsoft.com/office/powerpoint/2010/main" val="18735346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4">
                                            <p:txEl>
                                              <p:pRg st="0" end="0"/>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14">
                                            <p:txEl>
                                              <p:pRg st="1" end="1"/>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14">
                                            <p:txEl>
                                              <p:pRg st="2" end="2"/>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14">
                                            <p:txEl>
                                              <p:pRg st="3" end="3"/>
                                            </p:txEl>
                                          </p:spTgt>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14">
                                            <p:txEl>
                                              <p:pRg st="4" end="4"/>
                                            </p:txEl>
                                          </p:spTgt>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14">
                                            <p:txEl>
                                              <p:pRg st="5" end="5"/>
                                            </p:txEl>
                                          </p:spTgt>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14">
                                            <p:txEl>
                                              <p:pRg st="6" end="6"/>
                                            </p:txEl>
                                          </p:spTgt>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14">
                                            <p:txEl>
                                              <p:pRg st="7" end="7"/>
                                            </p:txEl>
                                          </p:spTgt>
                                        </p:tgtEl>
                                        <p:attrNameLst>
                                          <p:attrName>style.visibility</p:attrName>
                                        </p:attrNameLst>
                                      </p:cBhvr>
                                      <p:to>
                                        <p:strVal val="visible"/>
                                      </p:to>
                                    </p:set>
                                  </p:childTnLst>
                                </p:cTn>
                              </p:par>
                              <p:par>
                                <p:cTn id="21" presetID="1" presetClass="entr" presetSubtype="0" fill="hold" nodeType="withEffect">
                                  <p:stCondLst>
                                    <p:cond delay="0"/>
                                  </p:stCondLst>
                                  <p:childTnLst>
                                    <p:set>
                                      <p:cBhvr>
                                        <p:cTn id="22" dur="1" fill="hold">
                                          <p:stCondLst>
                                            <p:cond delay="0"/>
                                          </p:stCondLst>
                                        </p:cTn>
                                        <p:tgtEl>
                                          <p:spTgt spid="14">
                                            <p:txEl>
                                              <p:pRg st="8" end="8"/>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6.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A894A7C3-5FB1-1142-43BB-C9D9D2F5FDA1}"/>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429" y="0"/>
            <a:ext cx="9139141" cy="5143500"/>
          </a:xfrm>
          <a:prstGeom prst="rect">
            <a:avLst/>
          </a:prstGeom>
        </p:spPr>
      </p:pic>
      <p:sp>
        <p:nvSpPr>
          <p:cNvPr id="4" name="Text Placeholder 3">
            <a:extLst>
              <a:ext uri="{FF2B5EF4-FFF2-40B4-BE49-F238E27FC236}">
                <a16:creationId xmlns:a16="http://schemas.microsoft.com/office/drawing/2014/main" id="{17F39168-7046-60A5-1EEA-8D2B5EAAE24F}"/>
              </a:ext>
            </a:extLst>
          </p:cNvPr>
          <p:cNvSpPr>
            <a:spLocks noGrp="1"/>
          </p:cNvSpPr>
          <p:nvPr>
            <p:ph type="body" sz="quarter" idx="13"/>
          </p:nvPr>
        </p:nvSpPr>
        <p:spPr/>
        <p:txBody>
          <a:bodyPr/>
          <a:lstStyle/>
          <a:p>
            <a:r>
              <a:rPr lang="en-US" sz="4000" dirty="0">
                <a:solidFill>
                  <a:schemeClr val="bg1"/>
                </a:solidFill>
              </a:rPr>
              <a:t>Storage &amp; Data</a:t>
            </a:r>
          </a:p>
        </p:txBody>
      </p:sp>
    </p:spTree>
    <p:extLst>
      <p:ext uri="{BB962C8B-B14F-4D97-AF65-F5344CB8AC3E}">
        <p14:creationId xmlns:p14="http://schemas.microsoft.com/office/powerpoint/2010/main" val="2188140750"/>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12" name="Text Placeholder 11">
            <a:extLst>
              <a:ext uri="{FF2B5EF4-FFF2-40B4-BE49-F238E27FC236}">
                <a16:creationId xmlns:a16="http://schemas.microsoft.com/office/drawing/2014/main" id="{F5D0A865-EAC9-D4DF-765C-2BBCA9EC1F5C}"/>
              </a:ext>
            </a:extLst>
          </p:cNvPr>
          <p:cNvSpPr>
            <a:spLocks noGrp="1"/>
          </p:cNvSpPr>
          <p:nvPr>
            <p:ph type="body" sz="quarter" idx="10"/>
          </p:nvPr>
        </p:nvSpPr>
        <p:spPr/>
        <p:txBody>
          <a:bodyPr/>
          <a:lstStyle/>
          <a:p>
            <a:endParaRPr lang="en-US" sz="1000" dirty="0"/>
          </a:p>
        </p:txBody>
      </p:sp>
      <p:sp>
        <p:nvSpPr>
          <p:cNvPr id="11" name="Title 10">
            <a:extLst>
              <a:ext uri="{FF2B5EF4-FFF2-40B4-BE49-F238E27FC236}">
                <a16:creationId xmlns:a16="http://schemas.microsoft.com/office/drawing/2014/main" id="{0A19052D-1C06-3BF6-CD73-31098A5519FB}"/>
              </a:ext>
            </a:extLst>
          </p:cNvPr>
          <p:cNvSpPr>
            <a:spLocks noGrp="1"/>
          </p:cNvSpPr>
          <p:nvPr>
            <p:ph type="title"/>
          </p:nvPr>
        </p:nvSpPr>
        <p:spPr/>
        <p:txBody>
          <a:bodyPr/>
          <a:lstStyle/>
          <a:p>
            <a:r>
              <a:rPr lang="en-US" sz="1800" dirty="0"/>
              <a:t>Storage &amp; Data Updates (Preview)</a:t>
            </a:r>
            <a:endParaRPr lang="en-US" dirty="0"/>
          </a:p>
        </p:txBody>
      </p:sp>
      <p:sp>
        <p:nvSpPr>
          <p:cNvPr id="13" name="Text Placeholder 12">
            <a:extLst>
              <a:ext uri="{FF2B5EF4-FFF2-40B4-BE49-F238E27FC236}">
                <a16:creationId xmlns:a16="http://schemas.microsoft.com/office/drawing/2014/main" id="{AB83368C-23D2-63DD-1F2B-65AB8A48B236}"/>
              </a:ext>
            </a:extLst>
          </p:cNvPr>
          <p:cNvSpPr>
            <a:spLocks noGrp="1"/>
          </p:cNvSpPr>
          <p:nvPr>
            <p:ph type="body" sz="quarter" idx="15"/>
          </p:nvPr>
        </p:nvSpPr>
        <p:spPr/>
        <p:txBody>
          <a:bodyPr/>
          <a:lstStyle/>
          <a:p>
            <a:endParaRPr lang="en-US"/>
          </a:p>
        </p:txBody>
      </p:sp>
      <p:sp>
        <p:nvSpPr>
          <p:cNvPr id="14" name="Text Placeholder 13">
            <a:extLst>
              <a:ext uri="{FF2B5EF4-FFF2-40B4-BE49-F238E27FC236}">
                <a16:creationId xmlns:a16="http://schemas.microsoft.com/office/drawing/2014/main" id="{1DF1A36F-4250-259D-24AE-F82FE69A7F7E}"/>
              </a:ext>
            </a:extLst>
          </p:cNvPr>
          <p:cNvSpPr>
            <a:spLocks noGrp="1"/>
          </p:cNvSpPr>
          <p:nvPr>
            <p:ph type="body" sz="quarter" idx="16"/>
          </p:nvPr>
        </p:nvSpPr>
        <p:spPr/>
        <p:txBody>
          <a:bodyPr/>
          <a:lstStyle/>
          <a:p>
            <a:pPr algn="just"/>
            <a:r>
              <a:rPr lang="en-US" dirty="0">
                <a:hlinkClick r:id="rId2"/>
              </a:rPr>
              <a:t>Public Preview: Support for SMB Opportunistic Locking (Oplocks) configuration</a:t>
            </a:r>
            <a:endParaRPr lang="en-US" dirty="0"/>
          </a:p>
          <a:p>
            <a:pPr algn="just"/>
            <a:r>
              <a:rPr lang="en-US" dirty="0"/>
              <a:t>Azure NetApp Files now supports configuration of SMB opportunistic locking (oplocks) for SMB and dual-protocol volumes. Opportunistic locks (Oplocks) improve SMB client caching and are enabled by default.</a:t>
            </a:r>
          </a:p>
          <a:p>
            <a:pPr algn="just"/>
            <a:r>
              <a:rPr lang="en-US" dirty="0"/>
              <a:t>It is possible to configure oplocks on new volumes or update the setting on existing volumes. System default is the default selection and enables opportunistic locks on the volume. A cross-region replication destination volume can use an oplock setting independent of its source volume. </a:t>
            </a:r>
          </a:p>
        </p:txBody>
      </p:sp>
    </p:spTree>
    <p:extLst>
      <p:ext uri="{BB962C8B-B14F-4D97-AF65-F5344CB8AC3E}">
        <p14:creationId xmlns:p14="http://schemas.microsoft.com/office/powerpoint/2010/main" val="325940316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4">
                                            <p:txEl>
                                              <p:pRg st="0" end="0"/>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14">
                                            <p:txEl>
                                              <p:pRg st="1" end="1"/>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14">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8.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CACC0756-30F1-C5A0-AC58-437AF10EEF7F}"/>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429" y="0"/>
            <a:ext cx="9139141" cy="5143500"/>
          </a:xfrm>
          <a:prstGeom prst="rect">
            <a:avLst/>
          </a:prstGeom>
        </p:spPr>
      </p:pic>
      <p:sp>
        <p:nvSpPr>
          <p:cNvPr id="4" name="Text Placeholder 3">
            <a:extLst>
              <a:ext uri="{FF2B5EF4-FFF2-40B4-BE49-F238E27FC236}">
                <a16:creationId xmlns:a16="http://schemas.microsoft.com/office/drawing/2014/main" id="{17F39168-7046-60A5-1EEA-8D2B5EAAE24F}"/>
              </a:ext>
            </a:extLst>
          </p:cNvPr>
          <p:cNvSpPr>
            <a:spLocks noGrp="1"/>
          </p:cNvSpPr>
          <p:nvPr>
            <p:ph type="body" sz="quarter" idx="13"/>
          </p:nvPr>
        </p:nvSpPr>
        <p:spPr/>
        <p:txBody>
          <a:bodyPr/>
          <a:lstStyle/>
          <a:p>
            <a:r>
              <a:rPr lang="en-US" sz="4000" dirty="0">
                <a:solidFill>
                  <a:schemeClr val="bg1"/>
                </a:solidFill>
              </a:rPr>
              <a:t>Databases</a:t>
            </a:r>
          </a:p>
        </p:txBody>
      </p:sp>
    </p:spTree>
    <p:extLst>
      <p:ext uri="{BB962C8B-B14F-4D97-AF65-F5344CB8AC3E}">
        <p14:creationId xmlns:p14="http://schemas.microsoft.com/office/powerpoint/2010/main" val="124095989"/>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12" name="Text Placeholder 11">
            <a:extLst>
              <a:ext uri="{FF2B5EF4-FFF2-40B4-BE49-F238E27FC236}">
                <a16:creationId xmlns:a16="http://schemas.microsoft.com/office/drawing/2014/main" id="{F5D0A865-EAC9-D4DF-765C-2BBCA9EC1F5C}"/>
              </a:ext>
            </a:extLst>
          </p:cNvPr>
          <p:cNvSpPr>
            <a:spLocks noGrp="1"/>
          </p:cNvSpPr>
          <p:nvPr>
            <p:ph type="body" sz="quarter" idx="10"/>
          </p:nvPr>
        </p:nvSpPr>
        <p:spPr/>
        <p:txBody>
          <a:bodyPr/>
          <a:lstStyle/>
          <a:p>
            <a:endParaRPr lang="en-US" sz="1000" dirty="0"/>
          </a:p>
        </p:txBody>
      </p:sp>
      <p:sp>
        <p:nvSpPr>
          <p:cNvPr id="11" name="Title 10">
            <a:extLst>
              <a:ext uri="{FF2B5EF4-FFF2-40B4-BE49-F238E27FC236}">
                <a16:creationId xmlns:a16="http://schemas.microsoft.com/office/drawing/2014/main" id="{0A19052D-1C06-3BF6-CD73-31098A5519FB}"/>
              </a:ext>
            </a:extLst>
          </p:cNvPr>
          <p:cNvSpPr>
            <a:spLocks noGrp="1"/>
          </p:cNvSpPr>
          <p:nvPr>
            <p:ph type="title"/>
          </p:nvPr>
        </p:nvSpPr>
        <p:spPr/>
        <p:txBody>
          <a:bodyPr/>
          <a:lstStyle/>
          <a:p>
            <a:r>
              <a:rPr lang="en-US" sz="1800" dirty="0"/>
              <a:t>Databases Updates (Preview)</a:t>
            </a:r>
            <a:endParaRPr lang="en-US" dirty="0"/>
          </a:p>
        </p:txBody>
      </p:sp>
      <p:sp>
        <p:nvSpPr>
          <p:cNvPr id="13" name="Text Placeholder 12">
            <a:extLst>
              <a:ext uri="{FF2B5EF4-FFF2-40B4-BE49-F238E27FC236}">
                <a16:creationId xmlns:a16="http://schemas.microsoft.com/office/drawing/2014/main" id="{AB83368C-23D2-63DD-1F2B-65AB8A48B236}"/>
              </a:ext>
            </a:extLst>
          </p:cNvPr>
          <p:cNvSpPr>
            <a:spLocks noGrp="1"/>
          </p:cNvSpPr>
          <p:nvPr>
            <p:ph type="body" sz="quarter" idx="15"/>
          </p:nvPr>
        </p:nvSpPr>
        <p:spPr/>
        <p:txBody>
          <a:bodyPr/>
          <a:lstStyle/>
          <a:p>
            <a:endParaRPr lang="en-US"/>
          </a:p>
        </p:txBody>
      </p:sp>
      <p:sp>
        <p:nvSpPr>
          <p:cNvPr id="14" name="Text Placeholder 13">
            <a:extLst>
              <a:ext uri="{FF2B5EF4-FFF2-40B4-BE49-F238E27FC236}">
                <a16:creationId xmlns:a16="http://schemas.microsoft.com/office/drawing/2014/main" id="{1DF1A36F-4250-259D-24AE-F82FE69A7F7E}"/>
              </a:ext>
            </a:extLst>
          </p:cNvPr>
          <p:cNvSpPr>
            <a:spLocks noGrp="1"/>
          </p:cNvSpPr>
          <p:nvPr>
            <p:ph type="body" sz="quarter" idx="16"/>
          </p:nvPr>
        </p:nvSpPr>
        <p:spPr/>
        <p:txBody>
          <a:bodyPr/>
          <a:lstStyle/>
          <a:p>
            <a:pPr algn="just"/>
            <a:r>
              <a:rPr lang="en-US" dirty="0">
                <a:hlinkClick r:id="rId2"/>
              </a:rPr>
              <a:t>Public Preview: Azure SQL updates for late-July</a:t>
            </a:r>
            <a:endParaRPr lang="en-US" dirty="0"/>
          </a:p>
          <a:p>
            <a:pPr algn="just"/>
            <a:r>
              <a:rPr lang="en-US" dirty="0"/>
              <a:t>In late-July 2026, the following update and enhancement was made to Azure SQL: </a:t>
            </a:r>
          </a:p>
          <a:p>
            <a:pPr marL="171450" lvl="0" indent="-171450" algn="just">
              <a:buFont typeface="Arial" panose="020B0604020202020204" pitchFamily="34" charset="0"/>
              <a:buChar char="•"/>
            </a:pPr>
            <a:r>
              <a:rPr lang="en-US" dirty="0"/>
              <a:t>Regex-based dynamic data masking (DDM) extends the built-in DDM feature with pattern‑based masking to hide sensitive data like emails, phone numbers, and identifiers—centrally enforced at the database layer.</a:t>
            </a:r>
          </a:p>
          <a:p>
            <a:pPr algn="just"/>
            <a:endParaRPr lang="en-US" dirty="0"/>
          </a:p>
        </p:txBody>
      </p:sp>
    </p:spTree>
    <p:extLst>
      <p:ext uri="{BB962C8B-B14F-4D97-AF65-F5344CB8AC3E}">
        <p14:creationId xmlns:p14="http://schemas.microsoft.com/office/powerpoint/2010/main" val="177697900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4">
                                            <p:txEl>
                                              <p:pRg st="0" end="0"/>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14">
                                            <p:txEl>
                                              <p:pRg st="1" end="1"/>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14">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4471DA1-B55D-EF7E-C705-3E2EBD8AB3D2}"/>
            </a:ext>
          </a:extLst>
        </p:cNvPr>
        <p:cNvGrpSpPr/>
        <p:nvPr/>
      </p:nvGrpSpPr>
      <p:grpSpPr>
        <a:xfrm>
          <a:off x="0" y="0"/>
          <a:ext cx="0" cy="0"/>
          <a:chOff x="0" y="0"/>
          <a:chExt cx="0" cy="0"/>
        </a:xfrm>
      </p:grpSpPr>
      <p:sp>
        <p:nvSpPr>
          <p:cNvPr id="12" name="Text Placeholder 11">
            <a:extLst>
              <a:ext uri="{FF2B5EF4-FFF2-40B4-BE49-F238E27FC236}">
                <a16:creationId xmlns:a16="http://schemas.microsoft.com/office/drawing/2014/main" id="{3337F290-7F05-F6C7-FB30-521D100BB24B}"/>
              </a:ext>
            </a:extLst>
          </p:cNvPr>
          <p:cNvSpPr>
            <a:spLocks noGrp="1"/>
          </p:cNvSpPr>
          <p:nvPr>
            <p:ph type="body" sz="quarter" idx="10"/>
          </p:nvPr>
        </p:nvSpPr>
        <p:spPr/>
        <p:txBody>
          <a:bodyPr/>
          <a:lstStyle/>
          <a:p>
            <a:endParaRPr lang="en-US" sz="1000" dirty="0"/>
          </a:p>
        </p:txBody>
      </p:sp>
      <p:sp>
        <p:nvSpPr>
          <p:cNvPr id="11" name="Title 10">
            <a:extLst>
              <a:ext uri="{FF2B5EF4-FFF2-40B4-BE49-F238E27FC236}">
                <a16:creationId xmlns:a16="http://schemas.microsoft.com/office/drawing/2014/main" id="{C62E7423-4266-2E57-7ECF-35621C61E139}"/>
              </a:ext>
            </a:extLst>
          </p:cNvPr>
          <p:cNvSpPr>
            <a:spLocks noGrp="1"/>
          </p:cNvSpPr>
          <p:nvPr>
            <p:ph type="title"/>
          </p:nvPr>
        </p:nvSpPr>
        <p:spPr/>
        <p:txBody>
          <a:bodyPr/>
          <a:lstStyle/>
          <a:p>
            <a:r>
              <a:rPr lang="en-US" sz="1800" dirty="0"/>
              <a:t>Databases Updates (General Available)</a:t>
            </a:r>
            <a:endParaRPr lang="en-US" dirty="0"/>
          </a:p>
        </p:txBody>
      </p:sp>
      <p:sp>
        <p:nvSpPr>
          <p:cNvPr id="13" name="Text Placeholder 12">
            <a:extLst>
              <a:ext uri="{FF2B5EF4-FFF2-40B4-BE49-F238E27FC236}">
                <a16:creationId xmlns:a16="http://schemas.microsoft.com/office/drawing/2014/main" id="{915420FD-81AB-F129-C44C-1ADB2CE5081E}"/>
              </a:ext>
            </a:extLst>
          </p:cNvPr>
          <p:cNvSpPr>
            <a:spLocks noGrp="1"/>
          </p:cNvSpPr>
          <p:nvPr>
            <p:ph type="body" sz="quarter" idx="15"/>
          </p:nvPr>
        </p:nvSpPr>
        <p:spPr/>
        <p:txBody>
          <a:bodyPr/>
          <a:lstStyle/>
          <a:p>
            <a:endParaRPr lang="en-US"/>
          </a:p>
        </p:txBody>
      </p:sp>
      <p:sp>
        <p:nvSpPr>
          <p:cNvPr id="14" name="Text Placeholder 13">
            <a:extLst>
              <a:ext uri="{FF2B5EF4-FFF2-40B4-BE49-F238E27FC236}">
                <a16:creationId xmlns:a16="http://schemas.microsoft.com/office/drawing/2014/main" id="{A99C1840-42CB-2AAA-82F4-807BF7A8EB8F}"/>
              </a:ext>
            </a:extLst>
          </p:cNvPr>
          <p:cNvSpPr>
            <a:spLocks noGrp="1"/>
          </p:cNvSpPr>
          <p:nvPr>
            <p:ph type="body" sz="quarter" idx="16"/>
          </p:nvPr>
        </p:nvSpPr>
        <p:spPr/>
        <p:txBody>
          <a:bodyPr/>
          <a:lstStyle/>
          <a:p>
            <a:pPr algn="just"/>
            <a:r>
              <a:rPr lang="en-US" dirty="0">
                <a:hlinkClick r:id="rId2"/>
              </a:rPr>
              <a:t>Generally Available: Azure Database for PostgreSQL flexible server in India South Central</a:t>
            </a:r>
            <a:endParaRPr lang="ru-RU" dirty="0"/>
          </a:p>
          <a:p>
            <a:pPr algn="just"/>
            <a:r>
              <a:rPr lang="en-US" dirty="0"/>
              <a:t>Now it is possible to deploy Azure Database for PostgreSQL flexible server in the India South Central Azure region. </a:t>
            </a:r>
          </a:p>
        </p:txBody>
      </p:sp>
    </p:spTree>
    <p:extLst>
      <p:ext uri="{BB962C8B-B14F-4D97-AF65-F5344CB8AC3E}">
        <p14:creationId xmlns:p14="http://schemas.microsoft.com/office/powerpoint/2010/main" val="72484598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4">
                                            <p:txEl>
                                              <p:pRg st="0" end="0"/>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14">
                                            <p:txEl>
                                              <p:pRg st="1" end="1"/>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0DF7611D-9ADD-B577-7122-32EA1F69F2D9}"/>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429" y="0"/>
            <a:ext cx="9139141" cy="5143500"/>
          </a:xfrm>
          <a:prstGeom prst="rect">
            <a:avLst/>
          </a:prstGeom>
        </p:spPr>
      </p:pic>
      <p:sp>
        <p:nvSpPr>
          <p:cNvPr id="4" name="Text Placeholder 3">
            <a:extLst>
              <a:ext uri="{FF2B5EF4-FFF2-40B4-BE49-F238E27FC236}">
                <a16:creationId xmlns:a16="http://schemas.microsoft.com/office/drawing/2014/main" id="{17F39168-7046-60A5-1EEA-8D2B5EAAE24F}"/>
              </a:ext>
            </a:extLst>
          </p:cNvPr>
          <p:cNvSpPr>
            <a:spLocks noGrp="1"/>
          </p:cNvSpPr>
          <p:nvPr>
            <p:ph type="body" sz="quarter" idx="13"/>
          </p:nvPr>
        </p:nvSpPr>
        <p:spPr/>
        <p:txBody>
          <a:bodyPr/>
          <a:lstStyle/>
          <a:p>
            <a:r>
              <a:rPr lang="en-US" sz="4000" dirty="0">
                <a:solidFill>
                  <a:schemeClr val="bg1"/>
                </a:solidFill>
              </a:rPr>
              <a:t>Integration</a:t>
            </a:r>
          </a:p>
        </p:txBody>
      </p:sp>
    </p:spTree>
    <p:extLst>
      <p:ext uri="{BB962C8B-B14F-4D97-AF65-F5344CB8AC3E}">
        <p14:creationId xmlns:p14="http://schemas.microsoft.com/office/powerpoint/2010/main" val="596233084"/>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12" name="Text Placeholder 11">
            <a:extLst>
              <a:ext uri="{FF2B5EF4-FFF2-40B4-BE49-F238E27FC236}">
                <a16:creationId xmlns:a16="http://schemas.microsoft.com/office/drawing/2014/main" id="{F5D0A865-EAC9-D4DF-765C-2BBCA9EC1F5C}"/>
              </a:ext>
            </a:extLst>
          </p:cNvPr>
          <p:cNvSpPr>
            <a:spLocks noGrp="1"/>
          </p:cNvSpPr>
          <p:nvPr>
            <p:ph type="body" sz="quarter" idx="10"/>
          </p:nvPr>
        </p:nvSpPr>
        <p:spPr/>
        <p:txBody>
          <a:bodyPr/>
          <a:lstStyle/>
          <a:p>
            <a:endParaRPr lang="en-US" sz="1000" dirty="0"/>
          </a:p>
        </p:txBody>
      </p:sp>
      <p:sp>
        <p:nvSpPr>
          <p:cNvPr id="11" name="Title 10">
            <a:extLst>
              <a:ext uri="{FF2B5EF4-FFF2-40B4-BE49-F238E27FC236}">
                <a16:creationId xmlns:a16="http://schemas.microsoft.com/office/drawing/2014/main" id="{0A19052D-1C06-3BF6-CD73-31098A5519FB}"/>
              </a:ext>
            </a:extLst>
          </p:cNvPr>
          <p:cNvSpPr>
            <a:spLocks noGrp="1"/>
          </p:cNvSpPr>
          <p:nvPr>
            <p:ph type="title"/>
          </p:nvPr>
        </p:nvSpPr>
        <p:spPr/>
        <p:txBody>
          <a:bodyPr/>
          <a:lstStyle/>
          <a:p>
            <a:r>
              <a:rPr lang="en-US" sz="1800" dirty="0"/>
              <a:t>Integration Updates (Preview)</a:t>
            </a:r>
            <a:endParaRPr lang="en-US" dirty="0"/>
          </a:p>
        </p:txBody>
      </p:sp>
      <p:sp>
        <p:nvSpPr>
          <p:cNvPr id="13" name="Text Placeholder 12">
            <a:extLst>
              <a:ext uri="{FF2B5EF4-FFF2-40B4-BE49-F238E27FC236}">
                <a16:creationId xmlns:a16="http://schemas.microsoft.com/office/drawing/2014/main" id="{AB83368C-23D2-63DD-1F2B-65AB8A48B236}"/>
              </a:ext>
            </a:extLst>
          </p:cNvPr>
          <p:cNvSpPr>
            <a:spLocks noGrp="1"/>
          </p:cNvSpPr>
          <p:nvPr>
            <p:ph type="body" sz="quarter" idx="15"/>
          </p:nvPr>
        </p:nvSpPr>
        <p:spPr/>
        <p:txBody>
          <a:bodyPr/>
          <a:lstStyle/>
          <a:p>
            <a:endParaRPr lang="en-US"/>
          </a:p>
        </p:txBody>
      </p:sp>
      <p:sp>
        <p:nvSpPr>
          <p:cNvPr id="14" name="Text Placeholder 13">
            <a:extLst>
              <a:ext uri="{FF2B5EF4-FFF2-40B4-BE49-F238E27FC236}">
                <a16:creationId xmlns:a16="http://schemas.microsoft.com/office/drawing/2014/main" id="{1DF1A36F-4250-259D-24AE-F82FE69A7F7E}"/>
              </a:ext>
            </a:extLst>
          </p:cNvPr>
          <p:cNvSpPr>
            <a:spLocks noGrp="1"/>
          </p:cNvSpPr>
          <p:nvPr>
            <p:ph type="body" sz="quarter" idx="16"/>
          </p:nvPr>
        </p:nvSpPr>
        <p:spPr/>
        <p:txBody>
          <a:bodyPr/>
          <a:lstStyle/>
          <a:p>
            <a:pPr algn="just"/>
            <a:r>
              <a:rPr lang="en-US" dirty="0">
                <a:hlinkClick r:id="rId2"/>
              </a:rPr>
              <a:t>Public Preview: AI Gateway in Azure API Management</a:t>
            </a:r>
            <a:endParaRPr lang="en-US" dirty="0"/>
          </a:p>
          <a:p>
            <a:pPr algn="just"/>
            <a:r>
              <a:rPr lang="en-US" dirty="0"/>
              <a:t>Microsoft has introduced the </a:t>
            </a:r>
            <a:r>
              <a:rPr lang="en-US" b="1" dirty="0"/>
              <a:t>AI Gateway</a:t>
            </a:r>
            <a:r>
              <a:rPr lang="en-US" dirty="0"/>
              <a:t> tier for </a:t>
            </a:r>
            <a:r>
              <a:rPr lang="en-US" b="1" dirty="0"/>
              <a:t>Azure API Management (APIM)</a:t>
            </a:r>
            <a:r>
              <a:rPr lang="en-US" dirty="0"/>
              <a:t>, providing a dedicated gateway designed specifically for </a:t>
            </a:r>
            <a:r>
              <a:rPr lang="en-US" b="1" dirty="0"/>
              <a:t>AI workloads</a:t>
            </a:r>
            <a:r>
              <a:rPr lang="en-US" dirty="0"/>
              <a:t>. Built on the Azure API Management platform, AI Gateway enables organizations to centrally expose, secure, and govern </a:t>
            </a:r>
            <a:r>
              <a:rPr lang="en-US" b="1" dirty="0"/>
              <a:t>AI models, Model Context Protocol (MCP) servers, and AI tools</a:t>
            </a:r>
            <a:r>
              <a:rPr lang="en-US" dirty="0"/>
              <a:t> using consistent enterprise controls.</a:t>
            </a:r>
          </a:p>
          <a:p>
            <a:pPr algn="just"/>
            <a:r>
              <a:rPr lang="en-US" dirty="0"/>
              <a:t>The new tier offers a unified experience for managing AI assets with built-in </a:t>
            </a:r>
            <a:r>
              <a:rPr lang="en-US" b="1" dirty="0"/>
              <a:t>authentication, policy enforcement, </a:t>
            </a:r>
            <a:r>
              <a:rPr lang="en-US" b="1" dirty="0" err="1"/>
              <a:t>OpenTelemetry</a:t>
            </a:r>
            <a:r>
              <a:rPr lang="en-US" b="1" dirty="0"/>
              <a:t>-based observability, security, and operational governance</a:t>
            </a:r>
            <a:r>
              <a:rPr lang="en-US" dirty="0"/>
              <a:t>. It supports AI models hosted on </a:t>
            </a:r>
            <a:r>
              <a:rPr lang="en-US" b="1" dirty="0"/>
              <a:t>Microsoft Foundry</a:t>
            </a:r>
            <a:r>
              <a:rPr lang="en-US" dirty="0"/>
              <a:t>, as well as external providers including </a:t>
            </a:r>
            <a:r>
              <a:rPr lang="en-US" b="1" dirty="0"/>
              <a:t>OpenAI, Anthropic, AWS Bedrock, and Google Vertex AI</a:t>
            </a:r>
            <a:r>
              <a:rPr lang="en-US" dirty="0"/>
              <a:t>. AI Gateway also enables organizations to publish MCP servers created from existing backends, </a:t>
            </a:r>
            <a:r>
              <a:rPr lang="en-US" dirty="0" err="1"/>
              <a:t>OpenAPI</a:t>
            </a:r>
            <a:r>
              <a:rPr lang="en-US" dirty="0"/>
              <a:t> definitions, or connectors.</a:t>
            </a:r>
          </a:p>
          <a:p>
            <a:pPr algn="just"/>
            <a:r>
              <a:rPr lang="en-US" dirty="0"/>
              <a:t>For enterprises adopting generative AI at scale, AI Gateway provides a centralized control plane for AI services, helping platform teams standardize security, monitoring, and access management across multiple AI providers. This simplifies AI operations while enabling consistent governance and reducing integration complexity across enterprise AI ecosystems.</a:t>
            </a:r>
          </a:p>
          <a:p>
            <a:pPr algn="just"/>
            <a:endParaRPr lang="en-US" dirty="0"/>
          </a:p>
        </p:txBody>
      </p:sp>
    </p:spTree>
    <p:extLst>
      <p:ext uri="{BB962C8B-B14F-4D97-AF65-F5344CB8AC3E}">
        <p14:creationId xmlns:p14="http://schemas.microsoft.com/office/powerpoint/2010/main" val="406594554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4">
                                            <p:txEl>
                                              <p:pRg st="0" end="0"/>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14">
                                            <p:txEl>
                                              <p:pRg st="1" end="1"/>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14">
                                            <p:txEl>
                                              <p:pRg st="2" end="2"/>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14">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3.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F56F8BCD-425D-C7B7-1AFF-05991429FE7D}"/>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429" y="0"/>
            <a:ext cx="9139141" cy="5143500"/>
          </a:xfrm>
          <a:prstGeom prst="rect">
            <a:avLst/>
          </a:prstGeom>
        </p:spPr>
      </p:pic>
      <p:sp>
        <p:nvSpPr>
          <p:cNvPr id="4" name="Text Placeholder 3">
            <a:extLst>
              <a:ext uri="{FF2B5EF4-FFF2-40B4-BE49-F238E27FC236}">
                <a16:creationId xmlns:a16="http://schemas.microsoft.com/office/drawing/2014/main" id="{17F39168-7046-60A5-1EEA-8D2B5EAAE24F}"/>
              </a:ext>
            </a:extLst>
          </p:cNvPr>
          <p:cNvSpPr>
            <a:spLocks noGrp="1"/>
          </p:cNvSpPr>
          <p:nvPr>
            <p:ph type="body" sz="quarter" idx="13"/>
          </p:nvPr>
        </p:nvSpPr>
        <p:spPr/>
        <p:txBody>
          <a:bodyPr/>
          <a:lstStyle/>
          <a:p>
            <a:r>
              <a:rPr lang="en-US" sz="4000" dirty="0">
                <a:solidFill>
                  <a:schemeClr val="bg1"/>
                </a:solidFill>
              </a:rPr>
              <a:t>ML &amp; AI &amp; IOT</a:t>
            </a:r>
          </a:p>
        </p:txBody>
      </p:sp>
    </p:spTree>
    <p:extLst>
      <p:ext uri="{BB962C8B-B14F-4D97-AF65-F5344CB8AC3E}">
        <p14:creationId xmlns:p14="http://schemas.microsoft.com/office/powerpoint/2010/main" val="3514878316"/>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C591E86-1EBC-4F6B-6E64-6EB5FD91F4AC}"/>
            </a:ext>
          </a:extLst>
        </p:cNvPr>
        <p:cNvGrpSpPr/>
        <p:nvPr/>
      </p:nvGrpSpPr>
      <p:grpSpPr>
        <a:xfrm>
          <a:off x="0" y="0"/>
          <a:ext cx="0" cy="0"/>
          <a:chOff x="0" y="0"/>
          <a:chExt cx="0" cy="0"/>
        </a:xfrm>
      </p:grpSpPr>
      <p:sp>
        <p:nvSpPr>
          <p:cNvPr id="12" name="Text Placeholder 11">
            <a:extLst>
              <a:ext uri="{FF2B5EF4-FFF2-40B4-BE49-F238E27FC236}">
                <a16:creationId xmlns:a16="http://schemas.microsoft.com/office/drawing/2014/main" id="{914285B5-6219-941D-B080-ACB23944E4D0}"/>
              </a:ext>
            </a:extLst>
          </p:cNvPr>
          <p:cNvSpPr>
            <a:spLocks noGrp="1"/>
          </p:cNvSpPr>
          <p:nvPr>
            <p:ph type="body" sz="quarter" idx="10"/>
          </p:nvPr>
        </p:nvSpPr>
        <p:spPr/>
        <p:txBody>
          <a:bodyPr/>
          <a:lstStyle/>
          <a:p>
            <a:pPr algn="just"/>
            <a:r>
              <a:rPr lang="en-US" sz="1000" dirty="0">
                <a:hlinkClick r:id="rId2"/>
              </a:rPr>
              <a:t>Azure Sphere OS version 26.09 RC1 is now available for evaluation</a:t>
            </a:r>
            <a:endParaRPr lang="en-US" sz="1000" dirty="0"/>
          </a:p>
          <a:p>
            <a:pPr algn="just"/>
            <a:r>
              <a:rPr lang="en-US" sz="1000" dirty="0"/>
              <a:t>Microsoft has released </a:t>
            </a:r>
            <a:r>
              <a:rPr lang="en-US" sz="1000" b="1" dirty="0"/>
              <a:t>Azure Sphere OS 26.09 RC1</a:t>
            </a:r>
            <a:r>
              <a:rPr lang="en-US" sz="1000" dirty="0"/>
              <a:t> for evaluation, giving developers and device manufacturers early access to upcoming operating system improvements before the general availability release. The release candidate enables organizations to validate applications, hardware compatibility, and deployment processes in advance, helping ensure a smooth transition to the next Azure Sphere OS version.</a:t>
            </a:r>
          </a:p>
          <a:p>
            <a:pPr algn="just"/>
            <a:r>
              <a:rPr lang="en-US" sz="1000" dirty="0"/>
              <a:t>The update includes the latest </a:t>
            </a:r>
            <a:r>
              <a:rPr lang="en-US" sz="1000" b="1" dirty="0"/>
              <a:t>security patches, reliability improvements, bug fixes, and platform enhancements</a:t>
            </a:r>
            <a:r>
              <a:rPr lang="en-US" sz="1000" dirty="0"/>
              <a:t> across the Azure Sphere ecosystem. Customers are encouraged to test their IoT devices and applications with the new release to identify any compatibility issues before production rollout.</a:t>
            </a:r>
          </a:p>
          <a:p>
            <a:pPr algn="just"/>
            <a:r>
              <a:rPr lang="en-US" sz="1000" dirty="0"/>
              <a:t>For organizations using Azure Sphere to secure connected devices, evaluating the RC1 release helps reduce deployment risk, maintain device security, and prepare for future production updates. This continues Microsoft's commitment to delivering a secure, continuously updated platform for Internet of Things (IoT) solutions.</a:t>
            </a:r>
          </a:p>
          <a:p>
            <a:pPr algn="just"/>
            <a:endParaRPr lang="en-US" sz="1000" dirty="0"/>
          </a:p>
        </p:txBody>
      </p:sp>
      <p:sp>
        <p:nvSpPr>
          <p:cNvPr id="11" name="Title 10">
            <a:extLst>
              <a:ext uri="{FF2B5EF4-FFF2-40B4-BE49-F238E27FC236}">
                <a16:creationId xmlns:a16="http://schemas.microsoft.com/office/drawing/2014/main" id="{F0107EA6-8DB4-F344-F529-449034C075F0}"/>
              </a:ext>
            </a:extLst>
          </p:cNvPr>
          <p:cNvSpPr>
            <a:spLocks noGrp="1"/>
          </p:cNvSpPr>
          <p:nvPr>
            <p:ph type="title"/>
          </p:nvPr>
        </p:nvSpPr>
        <p:spPr/>
        <p:txBody>
          <a:bodyPr/>
          <a:lstStyle/>
          <a:p>
            <a:r>
              <a:rPr lang="en-US" sz="1800" dirty="0"/>
              <a:t>ML &amp; AI &amp; IOT Updates (General Available)</a:t>
            </a:r>
            <a:endParaRPr lang="en-US" dirty="0"/>
          </a:p>
        </p:txBody>
      </p:sp>
      <p:sp>
        <p:nvSpPr>
          <p:cNvPr id="13" name="Text Placeholder 12">
            <a:extLst>
              <a:ext uri="{FF2B5EF4-FFF2-40B4-BE49-F238E27FC236}">
                <a16:creationId xmlns:a16="http://schemas.microsoft.com/office/drawing/2014/main" id="{DA4EB956-5F49-48E0-B1D6-AE1A636CECB0}"/>
              </a:ext>
            </a:extLst>
          </p:cNvPr>
          <p:cNvSpPr>
            <a:spLocks noGrp="1"/>
          </p:cNvSpPr>
          <p:nvPr>
            <p:ph type="body" sz="quarter" idx="15"/>
          </p:nvPr>
        </p:nvSpPr>
        <p:spPr/>
        <p:txBody>
          <a:bodyPr/>
          <a:lstStyle/>
          <a:p>
            <a:endParaRPr lang="en-US"/>
          </a:p>
        </p:txBody>
      </p:sp>
      <p:sp>
        <p:nvSpPr>
          <p:cNvPr id="14" name="Text Placeholder 13">
            <a:extLst>
              <a:ext uri="{FF2B5EF4-FFF2-40B4-BE49-F238E27FC236}">
                <a16:creationId xmlns:a16="http://schemas.microsoft.com/office/drawing/2014/main" id="{383DE5A4-66B0-B9DC-0E46-93B58BC9C3FE}"/>
              </a:ext>
            </a:extLst>
          </p:cNvPr>
          <p:cNvSpPr>
            <a:spLocks noGrp="1"/>
          </p:cNvSpPr>
          <p:nvPr>
            <p:ph type="body" sz="quarter" idx="16"/>
          </p:nvPr>
        </p:nvSpPr>
        <p:spPr/>
        <p:txBody>
          <a:bodyPr/>
          <a:lstStyle/>
          <a:p>
            <a:pPr algn="just"/>
            <a:r>
              <a:rPr lang="en-US" dirty="0">
                <a:hlinkClick r:id="rId3"/>
              </a:rPr>
              <a:t>Introducing Kimi K3 through Fireworks AI on Microsoft Foundry</a:t>
            </a:r>
            <a:endParaRPr lang="en-US" dirty="0"/>
          </a:p>
          <a:p>
            <a:pPr algn="just"/>
            <a:r>
              <a:rPr lang="en-US" b="1" dirty="0"/>
              <a:t>Kimi K3</a:t>
            </a:r>
            <a:r>
              <a:rPr lang="en-US" dirty="0"/>
              <a:t> is now available in </a:t>
            </a:r>
            <a:r>
              <a:rPr lang="en-US" b="1" dirty="0"/>
              <a:t>Microsoft Foundry</a:t>
            </a:r>
            <a:r>
              <a:rPr lang="en-US" dirty="0"/>
              <a:t> through </a:t>
            </a:r>
            <a:r>
              <a:rPr lang="en-US" b="1" dirty="0"/>
              <a:t>Fireworks AI</a:t>
            </a:r>
            <a:r>
              <a:rPr lang="en-US" dirty="0"/>
              <a:t>, expanding Foundry's growing catalog of enterprise AI models. The model is designed for </a:t>
            </a:r>
            <a:r>
              <a:rPr lang="en-US" b="1" dirty="0"/>
              <a:t>advanced reasoning, coding, long-context understanding, and AI agent scenarios</a:t>
            </a:r>
            <a:r>
              <a:rPr lang="en-US" dirty="0"/>
              <a:t>, enabling developers to build sophisticated generative AI applications using a managed deployment platform.</a:t>
            </a:r>
          </a:p>
          <a:p>
            <a:pPr algn="just"/>
            <a:r>
              <a:rPr lang="en-US" dirty="0"/>
              <a:t>By accessing Kimi K3 through </a:t>
            </a:r>
            <a:r>
              <a:rPr lang="en-US" b="1" dirty="0"/>
              <a:t>Fireworks AI</a:t>
            </a:r>
            <a:r>
              <a:rPr lang="en-US" dirty="0"/>
              <a:t> in Microsoft Foundry, organizations can rapidly deploy and scale the model while benefiting from Foundry's built-in capabilities for </a:t>
            </a:r>
            <a:r>
              <a:rPr lang="en-US" b="1" dirty="0"/>
              <a:t>model management, governance, evaluation, observability, and enterprise security</a:t>
            </a:r>
            <a:r>
              <a:rPr lang="en-US" dirty="0"/>
              <a:t>. The integration allows developers to use Kimi K3 alongside other leading foundation models within the same AI development environment.</a:t>
            </a:r>
          </a:p>
          <a:p>
            <a:pPr algn="just"/>
            <a:r>
              <a:rPr lang="en-US" dirty="0"/>
              <a:t>The addition of Kimi K3 further strengthens Foundry's </a:t>
            </a:r>
            <a:r>
              <a:rPr lang="en-US" b="1" dirty="0"/>
              <a:t>multi-model AI ecosystem</a:t>
            </a:r>
            <a:r>
              <a:rPr lang="en-US" dirty="0"/>
              <a:t>, giving customers greater flexibility to select the most appropriate model for coding assistants, enterprise agents, retrieval-augmented generation (RAG), and complex reasoning workloads. This reinforces Microsoft's strategy of making Foundry a unified platform for developing and operating enterprise-grade AI solutions regardless of the underlying model provider.</a:t>
            </a:r>
          </a:p>
          <a:p>
            <a:pPr algn="just"/>
            <a:endParaRPr lang="en-US" dirty="0"/>
          </a:p>
        </p:txBody>
      </p:sp>
    </p:spTree>
    <p:extLst>
      <p:ext uri="{BB962C8B-B14F-4D97-AF65-F5344CB8AC3E}">
        <p14:creationId xmlns:p14="http://schemas.microsoft.com/office/powerpoint/2010/main" val="384996199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4">
                                            <p:txEl>
                                              <p:pRg st="0" end="0"/>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14">
                                            <p:txEl>
                                              <p:pRg st="1" end="1"/>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14">
                                            <p:txEl>
                                              <p:pRg st="2" end="2"/>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14">
                                            <p:txEl>
                                              <p:pRg st="3" end="3"/>
                                            </p:txEl>
                                          </p:spTgt>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nodeType="clickEffect">
                                  <p:stCondLst>
                                    <p:cond delay="0"/>
                                  </p:stCondLst>
                                  <p:childTnLst>
                                    <p:set>
                                      <p:cBhvr>
                                        <p:cTn id="16" dur="1" fill="hold">
                                          <p:stCondLst>
                                            <p:cond delay="0"/>
                                          </p:stCondLst>
                                        </p:cTn>
                                        <p:tgtEl>
                                          <p:spTgt spid="12">
                                            <p:txEl>
                                              <p:pRg st="0" end="0"/>
                                            </p:txEl>
                                          </p:spTgt>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12">
                                            <p:txEl>
                                              <p:pRg st="1" end="1"/>
                                            </p:txEl>
                                          </p:spTgt>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12">
                                            <p:txEl>
                                              <p:pRg st="2" end="2"/>
                                            </p:txEl>
                                          </p:spTgt>
                                        </p:tgtEl>
                                        <p:attrNameLst>
                                          <p:attrName>style.visibility</p:attrName>
                                        </p:attrNameLst>
                                      </p:cBhvr>
                                      <p:to>
                                        <p:strVal val="visible"/>
                                      </p:to>
                                    </p:set>
                                  </p:childTnLst>
                                </p:cTn>
                              </p:par>
                              <p:par>
                                <p:cTn id="21" presetID="1" presetClass="entr" presetSubtype="0" fill="hold" nodeType="withEffect">
                                  <p:stCondLst>
                                    <p:cond delay="0"/>
                                  </p:stCondLst>
                                  <p:childTnLst>
                                    <p:set>
                                      <p:cBhvr>
                                        <p:cTn id="22" dur="1" fill="hold">
                                          <p:stCondLst>
                                            <p:cond delay="0"/>
                                          </p:stCondLst>
                                        </p:cTn>
                                        <p:tgtEl>
                                          <p:spTgt spid="12">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Text Placeholder 11">
            <a:extLst>
              <a:ext uri="{FF2B5EF4-FFF2-40B4-BE49-F238E27FC236}">
                <a16:creationId xmlns:a16="http://schemas.microsoft.com/office/drawing/2014/main" id="{F5D0A865-EAC9-D4DF-765C-2BBCA9EC1F5C}"/>
              </a:ext>
            </a:extLst>
          </p:cNvPr>
          <p:cNvSpPr>
            <a:spLocks noGrp="1"/>
          </p:cNvSpPr>
          <p:nvPr>
            <p:ph type="body" sz="quarter" idx="10"/>
          </p:nvPr>
        </p:nvSpPr>
        <p:spPr/>
        <p:txBody>
          <a:bodyPr/>
          <a:lstStyle/>
          <a:p>
            <a:endParaRPr lang="en-US" sz="1000" dirty="0"/>
          </a:p>
        </p:txBody>
      </p:sp>
      <p:sp>
        <p:nvSpPr>
          <p:cNvPr id="11" name="Title 10">
            <a:extLst>
              <a:ext uri="{FF2B5EF4-FFF2-40B4-BE49-F238E27FC236}">
                <a16:creationId xmlns:a16="http://schemas.microsoft.com/office/drawing/2014/main" id="{0A19052D-1C06-3BF6-CD73-31098A5519FB}"/>
              </a:ext>
            </a:extLst>
          </p:cNvPr>
          <p:cNvSpPr>
            <a:spLocks noGrp="1"/>
          </p:cNvSpPr>
          <p:nvPr>
            <p:ph type="title"/>
          </p:nvPr>
        </p:nvSpPr>
        <p:spPr/>
        <p:txBody>
          <a:bodyPr/>
          <a:lstStyle/>
          <a:p>
            <a:r>
              <a:rPr lang="en-US" sz="1800" dirty="0"/>
              <a:t>DevOps &amp; IaC &amp; Automation (Preview)</a:t>
            </a:r>
          </a:p>
        </p:txBody>
      </p:sp>
      <p:sp>
        <p:nvSpPr>
          <p:cNvPr id="13" name="Text Placeholder 12">
            <a:extLst>
              <a:ext uri="{FF2B5EF4-FFF2-40B4-BE49-F238E27FC236}">
                <a16:creationId xmlns:a16="http://schemas.microsoft.com/office/drawing/2014/main" id="{AB83368C-23D2-63DD-1F2B-65AB8A48B236}"/>
              </a:ext>
            </a:extLst>
          </p:cNvPr>
          <p:cNvSpPr>
            <a:spLocks noGrp="1"/>
          </p:cNvSpPr>
          <p:nvPr>
            <p:ph type="body" sz="quarter" idx="15"/>
          </p:nvPr>
        </p:nvSpPr>
        <p:spPr/>
        <p:txBody>
          <a:bodyPr/>
          <a:lstStyle/>
          <a:p>
            <a:endParaRPr lang="en-US"/>
          </a:p>
        </p:txBody>
      </p:sp>
      <p:sp>
        <p:nvSpPr>
          <p:cNvPr id="14" name="Text Placeholder 13">
            <a:extLst>
              <a:ext uri="{FF2B5EF4-FFF2-40B4-BE49-F238E27FC236}">
                <a16:creationId xmlns:a16="http://schemas.microsoft.com/office/drawing/2014/main" id="{1DF1A36F-4250-259D-24AE-F82FE69A7F7E}"/>
              </a:ext>
            </a:extLst>
          </p:cNvPr>
          <p:cNvSpPr>
            <a:spLocks noGrp="1"/>
          </p:cNvSpPr>
          <p:nvPr>
            <p:ph type="body" sz="quarter" idx="16"/>
          </p:nvPr>
        </p:nvSpPr>
        <p:spPr/>
        <p:txBody>
          <a:bodyPr/>
          <a:lstStyle/>
          <a:p>
            <a:pPr algn="just"/>
            <a:r>
              <a:rPr lang="en-US" dirty="0">
                <a:hlinkClick r:id="rId2"/>
              </a:rPr>
              <a:t>Terraform </a:t>
            </a:r>
            <a:r>
              <a:rPr lang="en-US" dirty="0" err="1">
                <a:hlinkClick r:id="rId2"/>
              </a:rPr>
              <a:t>AzureRM</a:t>
            </a:r>
            <a:r>
              <a:rPr lang="en-US" dirty="0">
                <a:hlinkClick r:id="rId2"/>
              </a:rPr>
              <a:t> provider 5.0 now generally available</a:t>
            </a:r>
            <a:endParaRPr lang="en-US" dirty="0"/>
          </a:p>
          <a:p>
            <a:pPr algn="just"/>
            <a:r>
              <a:rPr lang="en-US" b="1" dirty="0"/>
              <a:t>Terraform </a:t>
            </a:r>
            <a:r>
              <a:rPr lang="en-US" b="1" dirty="0" err="1"/>
              <a:t>AzureRM</a:t>
            </a:r>
            <a:r>
              <a:rPr lang="en-US" b="1" dirty="0"/>
              <a:t> Provider 5.0</a:t>
            </a:r>
            <a:r>
              <a:rPr lang="en-US" dirty="0"/>
              <a:t> is now </a:t>
            </a:r>
            <a:r>
              <a:rPr lang="en-US" b="1" dirty="0"/>
              <a:t>generally available</a:t>
            </a:r>
            <a:r>
              <a:rPr lang="en-US" dirty="0"/>
              <a:t>, introducing the next major release of the provider used to provision and manage Azure resources with Terraform. The release includes new Azure service support, enhanced resource capabilities, and a number of breaking changes aimed at improving consistency, performance, and alignment with the latest Azure Resource Manager APIs.</a:t>
            </a:r>
          </a:p>
          <a:p>
            <a:pPr algn="just"/>
            <a:r>
              <a:rPr lang="en-US" dirty="0"/>
              <a:t>Version 5.0 expands support for newer Azure services and features while refining existing resource definitions and deprecating legacy behaviors. Organizations adopting the new version should review the upgrade guidance, as some resource schemas and provider settings have changed and may require updates to existing Infrastructure-as-Code deployments.</a:t>
            </a:r>
          </a:p>
          <a:p>
            <a:pPr algn="just"/>
            <a:r>
              <a:rPr lang="en-US" dirty="0"/>
              <a:t>For platform engineering teams, </a:t>
            </a:r>
            <a:r>
              <a:rPr lang="en-US" dirty="0" err="1"/>
              <a:t>AzureRM</a:t>
            </a:r>
            <a:r>
              <a:rPr lang="en-US" dirty="0"/>
              <a:t> Provider 5.0 provides a more modern and consistent foundation for automating Azure infrastructure. Upgrading enables access to the latest Azure capabilities while helping standardize Terraform deployments and maintain long-term compatibility with Microsoft's evolving cloud platform.</a:t>
            </a:r>
          </a:p>
          <a:p>
            <a:pPr algn="just"/>
            <a:endParaRPr lang="en-US" dirty="0"/>
          </a:p>
        </p:txBody>
      </p:sp>
    </p:spTree>
    <p:extLst>
      <p:ext uri="{BB962C8B-B14F-4D97-AF65-F5344CB8AC3E}">
        <p14:creationId xmlns:p14="http://schemas.microsoft.com/office/powerpoint/2010/main" val="192188109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4">
                                            <p:txEl>
                                              <p:pRg st="0" end="0"/>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14">
                                            <p:txEl>
                                              <p:pRg st="1" end="1"/>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14">
                                            <p:txEl>
                                              <p:pRg st="2" end="2"/>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14">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6.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pic>
        <p:nvPicPr>
          <p:cNvPr id="6" name="Picture 5">
            <a:extLst>
              <a:ext uri="{FF2B5EF4-FFF2-40B4-BE49-F238E27FC236}">
                <a16:creationId xmlns:a16="http://schemas.microsoft.com/office/drawing/2014/main" id="{DAA57029-74C6-97A0-54A8-DC04D3842218}"/>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429" y="0"/>
            <a:ext cx="9139141" cy="5143500"/>
          </a:xfrm>
          <a:prstGeom prst="rect">
            <a:avLst/>
          </a:prstGeom>
        </p:spPr>
      </p:pic>
      <p:sp>
        <p:nvSpPr>
          <p:cNvPr id="4" name="Text Placeholder 3">
            <a:extLst>
              <a:ext uri="{FF2B5EF4-FFF2-40B4-BE49-F238E27FC236}">
                <a16:creationId xmlns:a16="http://schemas.microsoft.com/office/drawing/2014/main" id="{17F39168-7046-60A5-1EEA-8D2B5EAAE24F}"/>
              </a:ext>
            </a:extLst>
          </p:cNvPr>
          <p:cNvSpPr>
            <a:spLocks noGrp="1"/>
          </p:cNvSpPr>
          <p:nvPr>
            <p:ph type="body" sz="quarter" idx="13"/>
          </p:nvPr>
        </p:nvSpPr>
        <p:spPr/>
        <p:txBody>
          <a:bodyPr/>
          <a:lstStyle/>
          <a:p>
            <a:r>
              <a:rPr lang="en-US" sz="4000" dirty="0">
                <a:solidFill>
                  <a:schemeClr val="bg1"/>
                </a:solidFill>
              </a:rPr>
              <a:t>Information</a:t>
            </a:r>
          </a:p>
        </p:txBody>
      </p:sp>
    </p:spTree>
    <p:extLst>
      <p:ext uri="{BB962C8B-B14F-4D97-AF65-F5344CB8AC3E}">
        <p14:creationId xmlns:p14="http://schemas.microsoft.com/office/powerpoint/2010/main" val="1276041622"/>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BD9E4E97-A385-759E-BD70-47D0B91CA39E}"/>
              </a:ext>
            </a:extLst>
          </p:cNvPr>
          <p:cNvSpPr>
            <a:spLocks noGrp="1"/>
          </p:cNvSpPr>
          <p:nvPr>
            <p:ph type="body" sz="quarter" idx="10"/>
          </p:nvPr>
        </p:nvSpPr>
        <p:spPr>
          <a:xfrm>
            <a:off x="342900" y="855080"/>
            <a:ext cx="8455914" cy="3774069"/>
          </a:xfrm>
        </p:spPr>
        <p:txBody>
          <a:bodyPr/>
          <a:lstStyle/>
          <a:p>
            <a:r>
              <a:rPr lang="en-US" dirty="0">
                <a:hlinkClick r:id="rId2"/>
              </a:rPr>
              <a:t>Azure Times GitHub Repo</a:t>
            </a:r>
            <a:endParaRPr lang="en-US" dirty="0"/>
          </a:p>
        </p:txBody>
      </p:sp>
      <p:sp>
        <p:nvSpPr>
          <p:cNvPr id="3" name="Title 2">
            <a:extLst>
              <a:ext uri="{FF2B5EF4-FFF2-40B4-BE49-F238E27FC236}">
                <a16:creationId xmlns:a16="http://schemas.microsoft.com/office/drawing/2014/main" id="{78BEF490-0130-4022-0399-BE422CD7CB94}"/>
              </a:ext>
            </a:extLst>
          </p:cNvPr>
          <p:cNvSpPr>
            <a:spLocks noGrp="1"/>
          </p:cNvSpPr>
          <p:nvPr>
            <p:ph type="title"/>
          </p:nvPr>
        </p:nvSpPr>
        <p:spPr/>
        <p:txBody>
          <a:bodyPr/>
          <a:lstStyle/>
          <a:p>
            <a:r>
              <a:rPr lang="en-US" sz="1800" dirty="0"/>
              <a:t>Information</a:t>
            </a:r>
            <a:br>
              <a:rPr lang="en-US" sz="1800" dirty="0"/>
            </a:br>
            <a:endParaRPr lang="en-US" dirty="0"/>
          </a:p>
        </p:txBody>
      </p:sp>
    </p:spTree>
    <p:extLst>
      <p:ext uri="{BB962C8B-B14F-4D97-AF65-F5344CB8AC3E}">
        <p14:creationId xmlns:p14="http://schemas.microsoft.com/office/powerpoint/2010/main" val="747681537"/>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960A7218-B9CA-F7E4-39B3-13A96D264569}"/>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429" y="0"/>
            <a:ext cx="9139141" cy="5143500"/>
          </a:xfrm>
          <a:prstGeom prst="rect">
            <a:avLst/>
          </a:prstGeom>
        </p:spPr>
      </p:pic>
      <p:sp>
        <p:nvSpPr>
          <p:cNvPr id="4" name="Text Placeholder 3">
            <a:extLst>
              <a:ext uri="{FF2B5EF4-FFF2-40B4-BE49-F238E27FC236}">
                <a16:creationId xmlns:a16="http://schemas.microsoft.com/office/drawing/2014/main" id="{17F39168-7046-60A5-1EEA-8D2B5EAAE24F}"/>
              </a:ext>
            </a:extLst>
          </p:cNvPr>
          <p:cNvSpPr>
            <a:spLocks noGrp="1"/>
          </p:cNvSpPr>
          <p:nvPr>
            <p:ph type="body" sz="quarter" idx="13"/>
          </p:nvPr>
        </p:nvSpPr>
        <p:spPr/>
        <p:txBody>
          <a:bodyPr/>
          <a:lstStyle/>
          <a:p>
            <a:r>
              <a:rPr lang="en-US" sz="4000" dirty="0">
                <a:solidFill>
                  <a:schemeClr val="bg1"/>
                </a:solidFill>
              </a:rPr>
              <a:t>Questions</a:t>
            </a:r>
          </a:p>
        </p:txBody>
      </p:sp>
    </p:spTree>
    <p:extLst>
      <p:ext uri="{BB962C8B-B14F-4D97-AF65-F5344CB8AC3E}">
        <p14:creationId xmlns:p14="http://schemas.microsoft.com/office/powerpoint/2010/main" val="2482707150"/>
      </p:ext>
    </p:extLst>
  </p:cSld>
  <p:clrMapOvr>
    <a:masterClrMapping/>
  </p:clrMapOvr>
</p:sld>
</file>

<file path=ppt/theme/theme1.xml><?xml version="1.0" encoding="utf-8"?>
<a:theme xmlns:a="http://schemas.openxmlformats.org/drawingml/2006/main" name="Continuum Theme">
  <a:themeElements>
    <a:clrScheme name="EPAM Continuum Final">
      <a:dk1>
        <a:srgbClr val="222222"/>
      </a:dk1>
      <a:lt1>
        <a:srgbClr val="FFFFFF"/>
      </a:lt1>
      <a:dk2>
        <a:srgbClr val="A0A0A0"/>
      </a:dk2>
      <a:lt2>
        <a:srgbClr val="DBDAD6"/>
      </a:lt2>
      <a:accent1>
        <a:srgbClr val="545454"/>
      </a:accent1>
      <a:accent2>
        <a:srgbClr val="FFC000"/>
      </a:accent2>
      <a:accent3>
        <a:srgbClr val="38C2D7"/>
      </a:accent3>
      <a:accent4>
        <a:srgbClr val="445464"/>
      </a:accent4>
      <a:accent5>
        <a:srgbClr val="008ACE"/>
      </a:accent5>
      <a:accent6>
        <a:srgbClr val="E53B2E"/>
      </a:accent6>
      <a:hlink>
        <a:srgbClr val="000000"/>
      </a:hlink>
      <a:folHlink>
        <a:srgbClr val="000000"/>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bwMode="auto">
        <a:solidFill>
          <a:schemeClr val="accent1"/>
        </a:solidFill>
        <a:ln>
          <a:noFill/>
        </a:ln>
        <a:effectLst/>
      </a:spPr>
      <a:bodyPr wrap="none" rtlCol="0" anchor="ctr"/>
      <a:lstStyle>
        <a:defPPr algn="ctr">
          <a:defRPr sz="2400" dirty="0" err="1" smtClean="0">
            <a:solidFill>
              <a:schemeClr val="bg1"/>
            </a:solidFill>
            <a:latin typeface="Calibri Light" panose="020F0302020204030204" pitchFamily="34" charset="0"/>
            <a:ea typeface="Human Sans ExtraLight" charset="0"/>
            <a:cs typeface="Human Sans ExtraLight" charset="0"/>
          </a:defRPr>
        </a:defPPr>
      </a:lstStyle>
    </a:spDef>
    <a:lnDef>
      <a:spPr>
        <a:ln w="6350">
          <a:solidFill>
            <a:schemeClr val="tx2"/>
          </a:solidFill>
        </a:ln>
      </a:spPr>
      <a:bodyPr/>
      <a:lstStyle/>
      <a:style>
        <a:lnRef idx="1">
          <a:schemeClr val="accent1"/>
        </a:lnRef>
        <a:fillRef idx="0">
          <a:schemeClr val="accent1"/>
        </a:fillRef>
        <a:effectRef idx="0">
          <a:schemeClr val="accent1"/>
        </a:effectRef>
        <a:fontRef idx="minor">
          <a:schemeClr val="tx1"/>
        </a:fontRef>
      </a:style>
    </a:lnDef>
    <a:txDef>
      <a:spPr>
        <a:noFill/>
      </a:spPr>
      <a:bodyPr wrap="square" lIns="0" tIns="0" rIns="0" bIns="0" rtlCol="0">
        <a:noAutofit/>
      </a:bodyPr>
      <a:lstStyle>
        <a:defPPr>
          <a:lnSpc>
            <a:spcPct val="110000"/>
          </a:lnSpc>
          <a:spcBef>
            <a:spcPts val="600"/>
          </a:spcBef>
          <a:defRPr sz="1200" dirty="0" err="1" smtClean="0">
            <a:ea typeface="Human Sans" charset="0"/>
            <a:cs typeface="Human Sans" charset="0"/>
          </a:defRPr>
        </a:defPPr>
      </a:lstStyle>
    </a:txDef>
  </a:objectDefaults>
  <a:extraClrSchemeLst/>
  <a:extLst>
    <a:ext uri="{05A4C25C-085E-4340-85A3-A5531E510DB2}">
      <thm15:themeFamily xmlns:thm15="http://schemas.microsoft.com/office/thememl/2012/main" name="Continuum_Master_v1.1" id="{D2F91407-39AD-2344-8F42-01B4155FF2FD}" vid="{09F1F252-BD3A-0A45-9F6B-518524EA322F}"/>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8C3A9FD6A1D2BC41832AF270024651C7" ma:contentTypeVersion="6" ma:contentTypeDescription="Create a new document." ma:contentTypeScope="" ma:versionID="0421700c9180782018be286cde8a21da">
  <xsd:schema xmlns:xsd="http://www.w3.org/2001/XMLSchema" xmlns:xs="http://www.w3.org/2001/XMLSchema" xmlns:p="http://schemas.microsoft.com/office/2006/metadata/properties" xmlns:ns2="2e7e23d5-2c80-4164-89d2-1708db4037b8" xmlns:ns3="4e7ac07f-2cd6-47aa-8863-e3015989625c" targetNamespace="http://schemas.microsoft.com/office/2006/metadata/properties" ma:root="true" ma:fieldsID="541d07e3f89946b63e942fc7370dae48" ns2:_="" ns3:_="">
    <xsd:import namespace="2e7e23d5-2c80-4164-89d2-1708db4037b8"/>
    <xsd:import namespace="4e7ac07f-2cd6-47aa-8863-e3015989625c"/>
    <xsd:element name="properties">
      <xsd:complexType>
        <xsd:sequence>
          <xsd:element name="documentManagement">
            <xsd:complexType>
              <xsd:all>
                <xsd:element ref="ns2:MediaServiceMetadata" minOccurs="0"/>
                <xsd:element ref="ns2:MediaServiceFastMetadata" minOccurs="0"/>
                <xsd:element ref="ns3:SharedWithUsers" minOccurs="0"/>
                <xsd:element ref="ns3:SharedWithDetails" minOccurs="0"/>
                <xsd:element ref="ns2:MediaServiceAutoKeyPoints" minOccurs="0"/>
                <xsd:element ref="ns2:MediaServiceKeyPoint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2e7e23d5-2c80-4164-89d2-1708db4037b8"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AutoKeyPoints" ma:index="12" nillable="true" ma:displayName="MediaServiceAutoKeyPoints" ma:hidden="true" ma:internalName="MediaServiceAutoKeyPoints" ma:readOnly="true">
      <xsd:simpleType>
        <xsd:restriction base="dms:Note"/>
      </xsd:simpleType>
    </xsd:element>
    <xsd:element name="MediaServiceKeyPoints" ma:index="13" nillable="true" ma:displayName="KeyPoints" ma:internalName="MediaServiceKeyPoints" ma:readOnly="true">
      <xsd:simpleType>
        <xsd:restriction base="dms:Note">
          <xsd:maxLength value="255"/>
        </xsd:restriction>
      </xsd:simpleType>
    </xsd:element>
  </xsd:schema>
  <xsd:schema xmlns:xsd="http://www.w3.org/2001/XMLSchema" xmlns:xs="http://www.w3.org/2001/XMLSchema" xmlns:dms="http://schemas.microsoft.com/office/2006/documentManagement/types" xmlns:pc="http://schemas.microsoft.com/office/infopath/2007/PartnerControls" targetNamespace="4e7ac07f-2cd6-47aa-8863-e3015989625c" elementFormDefault="qualified">
    <xsd:import namespace="http://schemas.microsoft.com/office/2006/documentManagement/types"/>
    <xsd:import namespace="http://schemas.microsoft.com/office/infopath/2007/PartnerControls"/>
    <xsd:element name="SharedWithUsers" ma:index="10"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1" nillable="true" ma:displayName="Shared With Details" ma:internalName="SharedWithDetails" ma:readOnly="true">
      <xsd:simpleType>
        <xsd:restriction base="dms:Note">
          <xsd:maxLength value="255"/>
        </xsd:restrictio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p:properties xmlns:p="http://schemas.microsoft.com/office/2006/metadata/properties" xmlns:xsi="http://www.w3.org/2001/XMLSchema-instance" xmlns:pc="http://schemas.microsoft.com/office/infopath/2007/PartnerControls">
  <documentManagement/>
</p:properties>
</file>

<file path=customXml/item3.xml><?xml version="1.0" encoding="utf-8"?>
<?mso-contentType ?>
<FormTemplates xmlns="http://schemas.microsoft.com/sharepoint/v3/contenttype/forms">
  <Display>DocumentLibraryForm</Display>
  <Edit>DocumentLibraryForm</Edit>
  <New>DocumentLibraryForm</New>
</FormTemplates>
</file>

<file path=customXml/itemProps1.xml><?xml version="1.0" encoding="utf-8"?>
<ds:datastoreItem xmlns:ds="http://schemas.openxmlformats.org/officeDocument/2006/customXml" ds:itemID="{25D63988-C0DC-4185-91C3-6687DBA2F390}">
  <ds:schemaRefs>
    <ds:schemaRef ds:uri="2e7e23d5-2c80-4164-89d2-1708db4037b8"/>
    <ds:schemaRef ds:uri="4e7ac07f-2cd6-47aa-8863-e3015989625c"/>
    <ds:schemaRef ds:uri="http://purl.org/dc/elements/1.1/"/>
    <ds:schemaRef ds:uri="http://purl.org/dc/terms/"/>
    <ds:schemaRef ds:uri="http://schemas.microsoft.com/internal/obd"/>
    <ds:schemaRef ds:uri="http://schemas.microsoft.com/office/2006/documentManagement/types"/>
    <ds:schemaRef ds:uri="http://schemas.microsoft.com/office/2006/metadata/contentType"/>
    <ds:schemaRef ds:uri="http://schemas.microsoft.com/office/2006/metadata/properties"/>
    <ds:schemaRef ds:uri="http://schemas.microsoft.com/office/2006/metadata/properties/metaAttributes"/>
    <ds:schemaRef ds:uri="http://schemas.microsoft.com/office/infopath/2007/PartnerControls"/>
    <ds:schemaRef ds:uri="http://schemas.openxmlformats.org/package/2006/metadata/core-properties"/>
    <ds:schemaRef ds:uri="http://www.w3.org/2001/XMLSchema"/>
  </ds:schemaRefs>
</ds:datastoreItem>
</file>

<file path=customXml/itemProps2.xml><?xml version="1.0" encoding="utf-8"?>
<ds:datastoreItem xmlns:ds="http://schemas.openxmlformats.org/officeDocument/2006/customXml" ds:itemID="{4DE7C614-AA74-4D4D-9D2D-D96DA5126C78}">
  <ds:schemaRefs>
    <ds:schemaRef ds:uri="http://schemas.microsoft.com/office/2006/metadata/properties"/>
    <ds:schemaRef ds:uri="http://schemas.microsoft.com/office/2006/documentManagement/types"/>
    <ds:schemaRef ds:uri="http://purl.org/dc/terms/"/>
    <ds:schemaRef ds:uri="http://purl.org/dc/elements/1.1/"/>
    <ds:schemaRef ds:uri="http://schemas.microsoft.com/office/infopath/2007/PartnerControls"/>
    <ds:schemaRef ds:uri="2e7e23d5-2c80-4164-89d2-1708db4037b8"/>
    <ds:schemaRef ds:uri="http://purl.org/dc/dcmitype/"/>
    <ds:schemaRef ds:uri="http://schemas.openxmlformats.org/package/2006/metadata/core-properties"/>
    <ds:schemaRef ds:uri="4e7ac07f-2cd6-47aa-8863-e3015989625c"/>
    <ds:schemaRef ds:uri="http://www.w3.org/XML/1998/namespace"/>
  </ds:schemaRefs>
</ds:datastoreItem>
</file>

<file path=customXml/itemProps3.xml><?xml version="1.0" encoding="utf-8"?>
<ds:datastoreItem xmlns:ds="http://schemas.openxmlformats.org/officeDocument/2006/customXml" ds:itemID="{EE04B39D-0CBA-4F8F-8809-785207E87965}">
  <ds:schemaRefs>
    <ds:schemaRef ds:uri="http://schemas.microsoft.com/sharepoint/v3/contenttype/forms"/>
  </ds:schemaRefs>
</ds:datastoreItem>
</file>

<file path=docMetadata/LabelInfo.xml><?xml version="1.0" encoding="utf-8"?>
<clbl:labelList xmlns:clbl="http://schemas.microsoft.com/office/2020/mipLabelMetadata">
  <clbl:label id="{2590e1b2-66ea-4d45-b1aa-185c322e3ba5}" enabled="1" method="Standard" siteId="{40a64d0b-f2f9-4a34-b1b3-0992ac0e5e4e}" contentBits="0" removed="0"/>
</clbl:labelList>
</file>

<file path=docProps/app.xml><?xml version="1.0" encoding="utf-8"?>
<Properties xmlns="http://schemas.openxmlformats.org/officeDocument/2006/extended-properties" xmlns:vt="http://schemas.openxmlformats.org/officeDocument/2006/docPropsVTypes">
  <Template>Covers</Template>
  <TotalTime>1090</TotalTime>
  <Words>3021</Words>
  <Application>Microsoft Office PowerPoint</Application>
  <PresentationFormat>On-screen Show (16:9)</PresentationFormat>
  <Paragraphs>115</Paragraphs>
  <Slides>28</Slides>
  <Notes>1</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28</vt:i4>
      </vt:variant>
    </vt:vector>
  </HeadingPairs>
  <TitlesOfParts>
    <vt:vector size="33" baseType="lpstr">
      <vt:lpstr>Arial</vt:lpstr>
      <vt:lpstr>Calibri</vt:lpstr>
      <vt:lpstr>Human Sans</vt:lpstr>
      <vt:lpstr>Human Sans Regular</vt:lpstr>
      <vt:lpstr>Continuum Theme</vt:lpstr>
      <vt:lpstr>Azure Times #</vt:lpstr>
      <vt:lpstr>PowerPoint Presentation</vt:lpstr>
      <vt:lpstr>Networking Updates (Preview)</vt:lpstr>
      <vt:lpstr>Networking Updates (General Available)</vt:lpstr>
      <vt:lpstr>PowerPoint Presentation</vt:lpstr>
      <vt:lpstr>Security &amp; Identity Updates (Preview)</vt:lpstr>
      <vt:lpstr>Security &amp; Identity Updates (General Available)</vt:lpstr>
      <vt:lpstr>PowerPoint Presentation</vt:lpstr>
      <vt:lpstr>Management &amp; Governance Updates (Preview)</vt:lpstr>
      <vt:lpstr>Management &amp; Governance Updates (General Available)</vt:lpstr>
      <vt:lpstr>Management &amp; Governance Updates (General Available)</vt:lpstr>
      <vt:lpstr>PowerPoint Presentation</vt:lpstr>
      <vt:lpstr>Compute Updates (Preview)</vt:lpstr>
      <vt:lpstr>Compute Updates (General Available)</vt:lpstr>
      <vt:lpstr>Compute Updates (General Available)</vt:lpstr>
      <vt:lpstr>PowerPoint Presentation</vt:lpstr>
      <vt:lpstr>Storage &amp; Data Updates (Preview)</vt:lpstr>
      <vt:lpstr>PowerPoint Presentation</vt:lpstr>
      <vt:lpstr>Databases Updates (Preview)</vt:lpstr>
      <vt:lpstr>Databases Updates (General Available)</vt:lpstr>
      <vt:lpstr>PowerPoint Presentation</vt:lpstr>
      <vt:lpstr>Integration Updates (Preview)</vt:lpstr>
      <vt:lpstr>PowerPoint Presentation</vt:lpstr>
      <vt:lpstr>ML &amp; AI &amp; IOT Updates (General Available)</vt:lpstr>
      <vt:lpstr>DevOps &amp; IaC &amp; Automation (Preview)</vt:lpstr>
      <vt:lpstr>PowerPoint Presentation</vt:lpstr>
      <vt:lpstr>Information </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
  <cp:lastModifiedBy>Maksim Admin Rotar</cp:lastModifiedBy>
  <cp:revision>159</cp:revision>
  <dcterms:created xsi:type="dcterms:W3CDTF">2018-01-26T19:23:30Z</dcterms:created>
  <dcterms:modified xsi:type="dcterms:W3CDTF">2026-08-01T19:11:42Z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0x0101008C3A9FD6A1D2BC41832AF270024651C7</vt:lpwstr>
  </property>
</Properties>
</file>