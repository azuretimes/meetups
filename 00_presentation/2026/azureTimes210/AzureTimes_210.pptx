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33"/>
  </p:notesMasterIdLst>
  <p:handoutMasterIdLst>
    <p:handoutMasterId r:id="rId34"/>
  </p:handoutMasterIdLst>
  <p:sldIdLst>
    <p:sldId id="2142532340" r:id="rId5"/>
    <p:sldId id="2146847045" r:id="rId6"/>
    <p:sldId id="2146847124" r:id="rId7"/>
    <p:sldId id="2146847046" r:id="rId8"/>
    <p:sldId id="2146847089" r:id="rId9"/>
    <p:sldId id="2146847048" r:id="rId10"/>
    <p:sldId id="2146847049" r:id="rId11"/>
    <p:sldId id="2146847132" r:id="rId12"/>
    <p:sldId id="2146847050" r:id="rId13"/>
    <p:sldId id="2146847134" r:id="rId14"/>
    <p:sldId id="2146847135" r:id="rId15"/>
    <p:sldId id="2146847136" r:id="rId16"/>
    <p:sldId id="2146847052" r:id="rId17"/>
    <p:sldId id="2146847138" r:id="rId18"/>
    <p:sldId id="2146847139" r:id="rId19"/>
    <p:sldId id="2146847054" r:id="rId20"/>
    <p:sldId id="2146847103" r:id="rId21"/>
    <p:sldId id="2146847141" r:id="rId22"/>
    <p:sldId id="2146847142" r:id="rId23"/>
    <p:sldId id="2146847140" r:id="rId24"/>
    <p:sldId id="2146847056" r:id="rId25"/>
    <p:sldId id="2146847107" r:id="rId26"/>
    <p:sldId id="2146847058" r:id="rId27"/>
    <p:sldId id="2146847111" r:id="rId28"/>
    <p:sldId id="2146847146" r:id="rId29"/>
    <p:sldId id="2146847085" r:id="rId30"/>
    <p:sldId id="2146847084" r:id="rId31"/>
    <p:sldId id="2146847064" r:id="rId32"/>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2146847124"/>
          </p14:sldIdLst>
        </p14:section>
        <p14:section name="Security &amp; Identity" id="{1AA42572-B3BD-44F7-813B-C2C647DDBB3C}">
          <p14:sldIdLst>
            <p14:sldId id="2146847046"/>
            <p14:sldId id="2146847089"/>
          </p14:sldIdLst>
        </p14:section>
        <p14:section name="Management &amp; Governance" id="{34181601-6D48-4406-A525-C7B5A12C6C5B}">
          <p14:sldIdLst>
            <p14:sldId id="2146847048"/>
            <p14:sldId id="2146847049"/>
            <p14:sldId id="2146847132"/>
          </p14:sldIdLst>
        </p14:section>
        <p14:section name="Compute" id="{05AA80BB-8802-49AB-8336-A884227CE2F7}">
          <p14:sldIdLst>
            <p14:sldId id="2146847050"/>
            <p14:sldId id="2146847134"/>
            <p14:sldId id="2146847135"/>
            <p14:sldId id="2146847136"/>
          </p14:sldIdLst>
        </p14:section>
        <p14:section name="Storage &amp; Data" id="{1F159046-CE0A-45BC-9D5B-6E6C95980F78}">
          <p14:sldIdLst>
            <p14:sldId id="2146847052"/>
            <p14:sldId id="2146847138"/>
            <p14:sldId id="2146847139"/>
          </p14:sldIdLst>
        </p14:section>
        <p14:section name="Databases" id="{AEAFAE72-AD56-48F3-926B-38BAE269038F}">
          <p14:sldIdLst>
            <p14:sldId id="2146847054"/>
            <p14:sldId id="2146847103"/>
            <p14:sldId id="2146847141"/>
            <p14:sldId id="2146847142"/>
            <p14:sldId id="2146847140"/>
          </p14:sldIdLst>
        </p14:section>
        <p14:section name="Integration" id="{ACBD46A3-6F1C-451B-A154-0A056E0DEFF6}">
          <p14:sldIdLst>
            <p14:sldId id="2146847056"/>
            <p14:sldId id="2146847107"/>
          </p14:sldIdLst>
        </p14:section>
        <p14:section name="ML &amp; AI &amp; IOT" id="{F4E1EAF1-55E9-4CA4-8ADC-28B69C1D66D2}">
          <p14:sldIdLst>
            <p14:sldId id="2146847058"/>
            <p14:sldId id="2146847111"/>
            <p14:sldId id="2146847146"/>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94"/>
  </p:normalViewPr>
  <p:slideViewPr>
    <p:cSldViewPr snapToGrid="0">
      <p:cViewPr varScale="1">
        <p:scale>
          <a:sx n="103" d="100"/>
          <a:sy n="103" d="100"/>
        </p:scale>
        <p:origin x="1013" y="77"/>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6/13/2026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6/13/2026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azure.microsoft.com/ru-ru/updates?id=565482" TargetMode="External"/><Relationship Id="rId2" Type="http://schemas.openxmlformats.org/officeDocument/2006/relationships/hyperlink" Target="https://azure.microsoft.com/ru-ru/updates?id=565393"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techcommunity.microsoft.com/blog/microsoftdefenderatpblog/introducing-scheduled-antivirus-scans-on-microsoft-defender-linux/4524578"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azure.microsoft.com/ru-ru/updates?id=565103" TargetMode="External"/><Relationship Id="rId2" Type="http://schemas.openxmlformats.org/officeDocument/2006/relationships/hyperlink" Target="https://techcommunity.microsoft.com/blog/windows-admin-center-blog/the-windows-admin-center-virtualization-mode-public-preview-build-has-been-updat/4527304"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chatgpt.com/g/g-p-68ef573567288191a5cf580435b67458/c/69abbe1e-65fc-838d-b3c6-8332bc94a16d" TargetMode="External"/><Relationship Id="rId2" Type="http://schemas.openxmlformats.org/officeDocument/2006/relationships/hyperlink" Target="https://techcommunity.microsoft.com/blog/azureobservabilityblog/azure-monitor-slis-now-generally-available/4523689"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techcommunity.microsoft.com/blog/adforpostgresql/introducing-durable-functions-in-postgresql/4526821"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azure.microsoft.com/ru-ru/updates?id=565271" TargetMode="External"/><Relationship Id="rId2" Type="http://schemas.openxmlformats.org/officeDocument/2006/relationships/hyperlink" Target="https://azure.microsoft.com/ru-ru/updates?id=565359"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azure.microsoft.com/ru-ru/updates?id=564774"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azure.microsoft.com/ru-ru/updates?id=559756"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azure.microsoft.com/ru-ru/updates?id=564441"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azure.microsoft.com/ru-ru/updates?id=564873"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azure.microsoft.com/ru-ru/updates?id=563756" TargetMode="External"/><Relationship Id="rId2" Type="http://schemas.openxmlformats.org/officeDocument/2006/relationships/hyperlink" Target="https://azure.microsoft.com/ru-ru/updates?id=562084"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azure.microsoft.com/ru-ru/updates?id=565154" TargetMode="External"/><Relationship Id="rId2" Type="http://schemas.openxmlformats.org/officeDocument/2006/relationships/hyperlink" Target="https://azure.microsoft.com/ru-ru/updates?id=564734"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s://azure.microsoft.com/ru-ru/updates?id=558560"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techcommunity.microsoft.com/blog/azurenetworkingblog/ga-of-nsp-for-azure-service-bus--nsp-now-available-in-azure-gov-regions/4526413"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azure.microsoft.com/ru-ru/updates?id=562637" TargetMode="External"/><Relationship Id="rId2" Type="http://schemas.openxmlformats.org/officeDocument/2006/relationships/hyperlink" Target="https://azure.microsoft.com/ru-ru/updates?id=565171"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hyperlink" Target="https://azure.microsoft.com/en-us/blog/claude-fable-5-is-now-available-in-microsoft-foundry-powering-the-next-era-of-autonomous-agents/"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#210</a:t>
            </a:r>
          </a:p>
        </p:txBody>
      </p:sp>
      <p:sp>
        <p:nvSpPr>
          <p:cNvPr id="4" name="Text Placeholder 3"/>
          <p:cNvSpPr>
            <a:spLocks noGrp="1"/>
          </p:cNvSpPr>
          <p:nvPr>
            <p:ph type="body" sz="quarter" idx="11"/>
          </p:nvPr>
        </p:nvSpPr>
        <p:spPr/>
        <p:txBody>
          <a:bodyPr/>
          <a:lstStyle/>
          <a:p>
            <a:r>
              <a:rPr lang="en-US" spc="300" dirty="0"/>
              <a:t>June15,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Networking </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4FD2C-8155-2D94-F89A-A815AA6E4F5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EE7765-EA35-FC87-C939-6F99349E6885}"/>
              </a:ext>
            </a:extLst>
          </p:cNvPr>
          <p:cNvSpPr>
            <a:spLocks noGrp="1"/>
          </p:cNvSpPr>
          <p:nvPr>
            <p:ph type="body" sz="quarter" idx="10"/>
          </p:nvPr>
        </p:nvSpPr>
        <p:spPr/>
        <p:txBody>
          <a:bodyPr/>
          <a:lstStyle/>
          <a:p>
            <a:pPr algn="just"/>
            <a:r>
              <a:rPr lang="en-US" sz="1000" dirty="0">
                <a:hlinkClick r:id="rId2"/>
              </a:rPr>
              <a:t>Retirement: Azure VPN Client for Linux (Preview) will be retired on August 31, 2026</a:t>
            </a:r>
            <a:endParaRPr lang="en-US" sz="1000" dirty="0"/>
          </a:p>
          <a:p>
            <a:pPr algn="just"/>
            <a:r>
              <a:rPr lang="en-US" sz="1000" dirty="0"/>
              <a:t>Microsoft has announced the retirement of the </a:t>
            </a:r>
            <a:r>
              <a:rPr lang="en-US" sz="1000" b="1" dirty="0"/>
              <a:t>Azure VPN Client for Linux (Preview)</a:t>
            </a:r>
            <a:r>
              <a:rPr lang="en-US" sz="1000" dirty="0"/>
              <a:t>, which will not progress to general availability. As part of Azure's efforts to align networking services with modern security, reliability, and support standards, the Linux preview client will be officially retired on </a:t>
            </a:r>
            <a:r>
              <a:rPr lang="en-US" sz="1000" b="1" dirty="0"/>
              <a:t>August 31, 2026</a:t>
            </a:r>
            <a:r>
              <a:rPr lang="en-US" sz="1000" dirty="0"/>
              <a:t>.</a:t>
            </a:r>
          </a:p>
          <a:p>
            <a:pPr algn="just"/>
            <a:r>
              <a:rPr lang="en-US" sz="1000" dirty="0"/>
              <a:t>Beginning </a:t>
            </a:r>
            <a:r>
              <a:rPr lang="en-US" sz="1000" b="1" dirty="0"/>
              <a:t>September 1, 2026</a:t>
            </a:r>
            <a:r>
              <a:rPr lang="en-US" sz="1000" dirty="0"/>
              <a:t>, the Linux preview client will no longer be supported for </a:t>
            </a:r>
            <a:r>
              <a:rPr lang="en-US" sz="1000" b="1" dirty="0"/>
              <a:t>Azure VPN Gateway Point-to-Site (P2S)</a:t>
            </a:r>
            <a:r>
              <a:rPr lang="en-US" sz="1000" dirty="0"/>
              <a:t> connections, and existing connections may stop functioning. Organizations relying on the preview client risk losing remote access to Azure resources through P2S VPN connectivity after the retirement date.</a:t>
            </a:r>
          </a:p>
          <a:p>
            <a:pPr algn="just"/>
            <a:r>
              <a:rPr lang="en-US" sz="1000" dirty="0"/>
              <a:t>Microsoft recommends that customers </a:t>
            </a:r>
            <a:r>
              <a:rPr lang="en-US" sz="1000" b="1" dirty="0"/>
              <a:t>migrate to supported Linux VPN clients</a:t>
            </a:r>
            <a:r>
              <a:rPr lang="en-US" sz="1000" dirty="0"/>
              <a:t> and update their Azure VPN Gateway Point-to-Site configurations before the retirement deadline. Early planning and testing are advised to ensure uninterrupted connectivity for Linux users and to avoid operational disruptions when support ends.</a:t>
            </a:r>
          </a:p>
        </p:txBody>
      </p:sp>
      <p:sp>
        <p:nvSpPr>
          <p:cNvPr id="11" name="Title 10">
            <a:extLst>
              <a:ext uri="{FF2B5EF4-FFF2-40B4-BE49-F238E27FC236}">
                <a16:creationId xmlns:a16="http://schemas.microsoft.com/office/drawing/2014/main" id="{95E76E37-235F-F5BE-DE95-A1673340F669}"/>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4E03193E-E6C0-C026-1CD6-643DC1C554C3}"/>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DA610DB-1B75-BFFB-B511-F8C61DA8A81D}"/>
              </a:ext>
            </a:extLst>
          </p:cNvPr>
          <p:cNvSpPr>
            <a:spLocks noGrp="1"/>
          </p:cNvSpPr>
          <p:nvPr>
            <p:ph type="body" sz="quarter" idx="16"/>
          </p:nvPr>
        </p:nvSpPr>
        <p:spPr/>
        <p:txBody>
          <a:bodyPr/>
          <a:lstStyle/>
          <a:p>
            <a:pPr algn="just"/>
            <a:r>
              <a:rPr lang="en-US" dirty="0">
                <a:hlinkClick r:id="rId3"/>
              </a:rPr>
              <a:t>Retirement: Azure Load Balancer Inbound NAT rule version 1 for Azure VMSS (aka Inbound NAT Pools)</a:t>
            </a:r>
            <a:endParaRPr lang="en-US" dirty="0"/>
          </a:p>
          <a:p>
            <a:pPr algn="just"/>
            <a:r>
              <a:rPr lang="en-US" dirty="0"/>
              <a:t>Microsoft has updated the scope of the Azure Load Balancer NAT retirement announcement. </a:t>
            </a:r>
            <a:r>
              <a:rPr lang="en-US" b="1" dirty="0"/>
              <a:t>Inbound NAT Rules for single virtual machines (v1)</a:t>
            </a:r>
            <a:r>
              <a:rPr lang="en-US" dirty="0"/>
              <a:t> will continue to be supported and are </a:t>
            </a:r>
            <a:r>
              <a:rPr lang="en-US" b="1" dirty="0"/>
              <a:t>not affected</a:t>
            </a:r>
            <a:r>
              <a:rPr lang="en-US" dirty="0"/>
              <a:t>. The retirement now applies only to </a:t>
            </a:r>
            <a:r>
              <a:rPr lang="en-US" b="1" dirty="0"/>
              <a:t>Inbound NAT Pools</a:t>
            </a:r>
            <a:r>
              <a:rPr lang="en-US" dirty="0"/>
              <a:t>, which are used to provide port forwarding to </a:t>
            </a:r>
            <a:r>
              <a:rPr lang="en-US" b="1" dirty="0"/>
              <a:t>Virtual Machine Scale Set (VMSS)</a:t>
            </a:r>
            <a:r>
              <a:rPr lang="en-US" dirty="0"/>
              <a:t> instances.</a:t>
            </a:r>
          </a:p>
          <a:p>
            <a:pPr algn="just"/>
            <a:r>
              <a:rPr lang="en-US" dirty="0"/>
              <a:t>Microsoft recommends migrating to </a:t>
            </a:r>
            <a:r>
              <a:rPr lang="en-US" b="1" dirty="0"/>
              <a:t>Inbound NAT Rules v2</a:t>
            </a:r>
            <a:r>
              <a:rPr lang="en-US" dirty="0"/>
              <a:t>, which provide equivalent functionality with improved performance and scalability for VMSS deployments. Starting </a:t>
            </a:r>
            <a:r>
              <a:rPr lang="en-US" b="1" dirty="0"/>
              <a:t>November 15, 2026</a:t>
            </a:r>
            <a:r>
              <a:rPr lang="en-US" dirty="0"/>
              <a:t>, customers will no longer be able to create new Inbound NAT Pools, although existing configurations will continue to operate normally. The service will be fully retired on </a:t>
            </a:r>
            <a:r>
              <a:rPr lang="en-US" b="1" dirty="0"/>
              <a:t>September 30, 2027</a:t>
            </a:r>
            <a:r>
              <a:rPr lang="en-US" dirty="0"/>
              <a:t>, after which existing NAT Pools will no longer be supported.</a:t>
            </a:r>
          </a:p>
          <a:p>
            <a:pPr algn="just"/>
            <a:r>
              <a:rPr lang="en-US" dirty="0"/>
              <a:t>Organizations using Azure Load Balancer with VM Scale Sets should review their environments, identify existing NAT Pools, and plan migration to Inbound NAT Rules v2 well before the retirement deadline to avoid operational impact.</a:t>
            </a:r>
          </a:p>
          <a:p>
            <a:pPr algn="just"/>
            <a:endParaRPr lang="en-US" dirty="0"/>
          </a:p>
        </p:txBody>
      </p:sp>
    </p:spTree>
    <p:extLst>
      <p:ext uri="{BB962C8B-B14F-4D97-AF65-F5344CB8AC3E}">
        <p14:creationId xmlns:p14="http://schemas.microsoft.com/office/powerpoint/2010/main" val="4268154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Introducing scheduled antivirus scans on Microsoft Defender Linux</a:t>
            </a:r>
            <a:endParaRPr lang="en-US" dirty="0"/>
          </a:p>
          <a:p>
            <a:pPr algn="just"/>
            <a:r>
              <a:rPr lang="en-US" b="1" dirty="0"/>
              <a:t>Microsoft Defender for Endpoint on Linux</a:t>
            </a:r>
            <a:r>
              <a:rPr lang="en-US" dirty="0"/>
              <a:t> now supports </a:t>
            </a:r>
            <a:r>
              <a:rPr lang="en-US" b="1" dirty="0"/>
              <a:t>scheduled antivirus scans</a:t>
            </a:r>
            <a:r>
              <a:rPr lang="en-US" dirty="0"/>
              <a:t>, giving administrators greater control over malware detection and compliance monitoring across Linux servers and workstations. Previously, Linux protection primarily relied on real-time scanning and manual scan execution, making it more difficult to implement periodic security validation policies.</a:t>
            </a:r>
          </a:p>
          <a:p>
            <a:pPr algn="just"/>
            <a:r>
              <a:rPr lang="en-US" dirty="0"/>
              <a:t>With scheduled scans, organizations can configure </a:t>
            </a:r>
            <a:r>
              <a:rPr lang="en-US" b="1" dirty="0"/>
              <a:t>recurring full or targeted antivirus scans</a:t>
            </a:r>
            <a:r>
              <a:rPr lang="en-US" dirty="0"/>
              <a:t> to run automatically at defined times, helping identify dormant threats, malware introduced before real-time protection was enabled, or files that may have been missed during normal operations. Administrators can align scan schedules with maintenance windows to minimize performance impact on production systems.</a:t>
            </a:r>
          </a:p>
          <a:p>
            <a:pPr algn="just"/>
            <a:r>
              <a:rPr lang="en-US" dirty="0"/>
              <a:t>This capability improves security posture for Linux environments, supports regulatory and compliance requirements that mandate periodic malware scanning, and brings feature parity closer to Microsoft Defender capabilities available on Windows. Combined with real-time protection, threat detection, and centralized management through Microsoft Defender, scheduled scanning provides a more comprehensive endpoint protection strategy for enterprise Linux workloads.</a:t>
            </a:r>
          </a:p>
          <a:p>
            <a:pPr algn="just"/>
            <a:endParaRPr lang="en-US" dirty="0"/>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The Windows Admin Center: Virtualization Mode public preview build has been updated!</a:t>
            </a:r>
            <a:endParaRPr lang="en-US" sz="1000" dirty="0"/>
          </a:p>
          <a:p>
            <a:pPr algn="just"/>
            <a:r>
              <a:rPr lang="en-US" sz="1000" dirty="0"/>
              <a:t>Microsoft has released an updated </a:t>
            </a:r>
            <a:r>
              <a:rPr lang="en-US" sz="1000" b="1" dirty="0"/>
              <a:t>Windows Admin Center Virtualization Mode</a:t>
            </a:r>
            <a:r>
              <a:rPr lang="en-US" sz="1000" dirty="0"/>
              <a:t> public preview build, further enhancing the web-based management experience for </a:t>
            </a:r>
            <a:r>
              <a:rPr lang="en-US" sz="1000" b="1" dirty="0"/>
              <a:t>Hyper-V and virtualization environments</a:t>
            </a:r>
            <a:r>
              <a:rPr lang="en-US" sz="1000" dirty="0"/>
              <a:t>. Virtualization Mode provides administrators with a dedicated interface focused on managing virtual machines, hosts, clusters, storage, networking, and virtualization operations from a single pane of glass.</a:t>
            </a:r>
          </a:p>
          <a:p>
            <a:pPr algn="just"/>
            <a:r>
              <a:rPr lang="en-US" sz="1000" dirty="0"/>
              <a:t>The updated preview improves usability, performance, and management workflows, making it easier to perform common virtualization tasks without relying on traditional MMC consoles or multiple administration tools. Administrators can manage virtual machine lifecycle operations, monitor infrastructure health, and streamline day-to-day virtualization management through a modern web interface.</a:t>
            </a:r>
          </a:p>
          <a:p>
            <a:pPr algn="just"/>
            <a:r>
              <a:rPr lang="en-US" sz="1000" dirty="0"/>
              <a:t>This release continues Microsoft's effort to position Windows Admin Center as the primary management platform for Windows Server and Hyper-V environments, providing a more consistent and centralized administration experience for on-premises and hybrid infrastructure. For organizations running Hyper-V-based virtualization platforms, the updated Virtualization Mode simplifies operations and improves visibility into virtual infrastructure resources.</a:t>
            </a:r>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Azure Site Recovery support for Linux Azure VMs with </a:t>
            </a:r>
            <a:r>
              <a:rPr lang="en-US" dirty="0" err="1">
                <a:hlinkClick r:id="rId3"/>
              </a:rPr>
              <a:t>NVMe</a:t>
            </a:r>
            <a:r>
              <a:rPr lang="en-US" dirty="0">
                <a:hlinkClick r:id="rId3"/>
              </a:rPr>
              <a:t> disk controllers.</a:t>
            </a:r>
            <a:endParaRPr lang="en-US" dirty="0"/>
          </a:p>
          <a:p>
            <a:pPr algn="just"/>
            <a:r>
              <a:rPr lang="en-US" dirty="0"/>
              <a:t>Azure Site Recovery now supports replication and disaster recovery for Linux Azure Virtual Machines running on </a:t>
            </a:r>
            <a:r>
              <a:rPr lang="en-US" dirty="0" err="1"/>
              <a:t>NVMe</a:t>
            </a:r>
            <a:r>
              <a:rPr lang="en-US" dirty="0"/>
              <a:t>-enabled Generation 2 VM families, such as the Da/</a:t>
            </a:r>
            <a:r>
              <a:rPr lang="en-US" dirty="0" err="1"/>
              <a:t>Ea</a:t>
            </a:r>
            <a:r>
              <a:rPr lang="en-US" dirty="0"/>
              <a:t>/Fa v6-series and Ebsv5/Ebdsv5 in the Azure-to-Azure scenario. This support is limited to RHEL 9, SLES 15 and Ubuntu 24 distros of Linux. </a:t>
            </a:r>
          </a:p>
          <a:p>
            <a:pPr algn="just"/>
            <a:r>
              <a:rPr lang="en-US" dirty="0"/>
              <a:t>This enhancement allows customers to enable disaster recovery and replication for their Azure VMs running high-performance, I/O-intensive workloads (limited to ASR churn support) with the </a:t>
            </a:r>
            <a:r>
              <a:rPr lang="en-US" dirty="0" err="1"/>
              <a:t>NVMe</a:t>
            </a:r>
            <a:r>
              <a:rPr lang="en-US" dirty="0"/>
              <a:t> disk controller. This capability is supported across all Azure public cloud regions.</a:t>
            </a:r>
          </a:p>
        </p:txBody>
      </p:sp>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21B0A37-B626-6209-EE63-BDBE1E100FF0}"/>
              </a:ext>
            </a:extLst>
          </p:cNvPr>
          <p:cNvSpPr>
            <a:spLocks noGrp="1"/>
          </p:cNvSpPr>
          <p:nvPr>
            <p:ph type="body" sz="quarter" idx="10"/>
          </p:nvPr>
        </p:nvSpPr>
        <p:spPr/>
        <p:txBody>
          <a:bodyPr/>
          <a:lstStyle/>
          <a:p>
            <a:pPr algn="just"/>
            <a:r>
              <a:rPr lang="en-US" sz="1000" dirty="0">
                <a:hlinkClick r:id="rId2"/>
              </a:rPr>
              <a:t>Azure Monitor SLIs now Generally Available</a:t>
            </a:r>
            <a:endParaRPr lang="en-US" sz="1000" dirty="0"/>
          </a:p>
          <a:p>
            <a:pPr algn="just"/>
            <a:r>
              <a:rPr lang="en-US" sz="1000" b="1" dirty="0"/>
              <a:t>Azure Monitor Service Level Indicators (SLIs)</a:t>
            </a:r>
            <a:r>
              <a:rPr lang="en-US" sz="1000" dirty="0"/>
              <a:t> are now </a:t>
            </a:r>
            <a:r>
              <a:rPr lang="en-US" sz="1000" b="1" dirty="0"/>
              <a:t>generally available</a:t>
            </a:r>
            <a:r>
              <a:rPr lang="en-US" sz="1000" dirty="0"/>
              <a:t>, providing organizations with a standardized way to measure service reliability and user experience using objective performance metrics. SLIs enable teams to define and track key indicators such as </a:t>
            </a:r>
            <a:r>
              <a:rPr lang="en-US" sz="1000" b="1" dirty="0"/>
              <a:t>availability, latency, error rates, throughput, and success rates</a:t>
            </a:r>
            <a:r>
              <a:rPr lang="en-US" sz="1000" dirty="0"/>
              <a:t>, forming the foundation for Service Level Objectives (SLOs) and reliability engineering practices.</a:t>
            </a:r>
          </a:p>
          <a:p>
            <a:pPr algn="just"/>
            <a:r>
              <a:rPr lang="en-US" sz="1000" dirty="0"/>
              <a:t>By integrating SLIs directly into Azure Monitor, organizations can monitor service health using consistent metrics, create dashboards that reflect customer experience, and proactively identify reliability issues before they impact business operations. SLIs can be used across applications, infrastructure, and cloud services, helping platform and application teams align operational monitoring with business outcomes.</a:t>
            </a:r>
          </a:p>
          <a:p>
            <a:pPr algn="just"/>
            <a:r>
              <a:rPr lang="en-US" sz="1000" dirty="0"/>
              <a:t>This capability supports modern </a:t>
            </a:r>
            <a:r>
              <a:rPr lang="en-US" sz="1000" b="1" dirty="0"/>
              <a:t>Site Reliability Engineering (SRE)</a:t>
            </a:r>
            <a:r>
              <a:rPr lang="en-US" sz="1000" dirty="0"/>
              <a:t> practices by providing a common framework for measuring service performance, improving operational visibility, and establishing data-driven reliability targets. For enterprises operating mission-critical workloads, Azure Monitor SLIs simplify reliability management and help ensure services meet defined availability and performance expectations.</a:t>
            </a:r>
          </a:p>
          <a:p>
            <a:pPr algn="just"/>
            <a:endParaRPr lang="en-US" sz="1000" dirty="0"/>
          </a:p>
        </p:txBody>
      </p:sp>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p:txBody>
          <a:bodyPr/>
          <a:lstStyle/>
          <a:p>
            <a:pPr algn="just"/>
            <a:r>
              <a:rPr lang="en-US" dirty="0">
                <a:hlinkClick r:id="rId3"/>
              </a:rPr>
              <a:t>Azure Monitor Metrics Export Generally Available</a:t>
            </a:r>
            <a:endParaRPr lang="en-US" dirty="0"/>
          </a:p>
          <a:p>
            <a:pPr algn="just"/>
            <a:r>
              <a:rPr lang="en-US" b="1" dirty="0"/>
              <a:t>Azure Monitor Metrics Export</a:t>
            </a:r>
            <a:r>
              <a:rPr lang="en-US" dirty="0"/>
              <a:t> is now </a:t>
            </a:r>
            <a:r>
              <a:rPr lang="en-US" b="1" dirty="0"/>
              <a:t>generally available</a:t>
            </a:r>
            <a:r>
              <a:rPr lang="en-US" dirty="0"/>
              <a:t>, enabling organizations to continuously stream Azure platform metrics to external destinations for long-term retention, advanced analytics, and integration with enterprise monitoring platforms. The capability allows metrics to be exported without relying on repeated API polling, reducing operational overhead and improving scalability.</a:t>
            </a:r>
          </a:p>
          <a:p>
            <a:pPr algn="just"/>
            <a:r>
              <a:rPr lang="en-US" dirty="0"/>
              <a:t>Organizations can route metrics to destinations such as </a:t>
            </a:r>
            <a:r>
              <a:rPr lang="en-US" b="1" dirty="0"/>
              <a:t>Azure Storage, Event Hubs, and Log Analytics</a:t>
            </a:r>
            <a:r>
              <a:rPr lang="en-US" dirty="0"/>
              <a:t>, where they can be combined with application, infrastructure, and security telemetry for centralized analysis. This is particularly valuable for enterprises that need to retain performance data beyond standard Azure retention periods, meet compliance requirements, or integrate Azure monitoring data with third-party observability platforms.</a:t>
            </a:r>
          </a:p>
          <a:p>
            <a:pPr algn="just"/>
            <a:r>
              <a:rPr lang="en-US" dirty="0"/>
              <a:t>By providing a scalable and automated mechanism for exporting metrics, Azure Monitor Metrics Export simplifies monitoring architectures, improves operational visibility, and enables richer reporting, capacity planning, and historical trend analysis across large Azure environments.</a:t>
            </a:r>
          </a:p>
          <a:p>
            <a:pPr algn="just"/>
            <a:endParaRPr lang="en-US" dirty="0"/>
          </a:p>
        </p:txBody>
      </p:sp>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p:txBody>
          <a:bodyPr/>
          <a:lstStyle/>
          <a:p>
            <a:pPr algn="just"/>
            <a:r>
              <a:rPr lang="en-US" dirty="0">
                <a:hlinkClick r:id="rId2"/>
              </a:rPr>
              <a:t>Introducing Durable Functions in PostgreSQL</a:t>
            </a:r>
            <a:endParaRPr lang="en-US" dirty="0"/>
          </a:p>
          <a:p>
            <a:pPr algn="just"/>
            <a:r>
              <a:rPr lang="en-US" b="1" dirty="0"/>
              <a:t>Durable Functions in PostgreSQL</a:t>
            </a:r>
            <a:r>
              <a:rPr lang="en-US" dirty="0"/>
              <a:t> introduce a new way to build </a:t>
            </a:r>
            <a:r>
              <a:rPr lang="en-US" b="1" dirty="0"/>
              <a:t>stateful, fault-tolerant workflows directly inside PostgreSQL</a:t>
            </a:r>
            <a:r>
              <a:rPr lang="en-US" dirty="0"/>
              <a:t>. Built on a durable execution framework, the capability allows long-running processes to persist state in the database, automatically recover from failures, and resume execution from the last completed step instead of restarting from the beginning.</a:t>
            </a:r>
          </a:p>
          <a:p>
            <a:pPr algn="just"/>
            <a:r>
              <a:rPr lang="en-US" dirty="0"/>
              <a:t>The framework supports workflow orchestration patterns such as retries, checkpoints, task scheduling, and event-driven processing, making it well suited for data pipelines, AI workflows, business process automation, and asynchronous application logic. By running durable execution within PostgreSQL, organizations can eliminate external workflow engines and reduce architectural complexity while keeping application state, workflow state, and data in a single platform.</a:t>
            </a:r>
          </a:p>
          <a:p>
            <a:pPr algn="just"/>
            <a:r>
              <a:rPr lang="en-US" dirty="0"/>
              <a:t>This capability forms part of Microsoft's broader vision for </a:t>
            </a:r>
            <a:r>
              <a:rPr lang="en-US" b="1" dirty="0"/>
              <a:t>AI-native PostgreSQL</a:t>
            </a:r>
            <a:r>
              <a:rPr lang="en-US" dirty="0"/>
              <a:t>, complementing features such as </a:t>
            </a:r>
            <a:r>
              <a:rPr lang="en-US" b="1" dirty="0"/>
              <a:t>AI Pipelines, </a:t>
            </a:r>
            <a:r>
              <a:rPr lang="en-US" b="1" dirty="0" err="1"/>
              <a:t>pgvector</a:t>
            </a:r>
            <a:r>
              <a:rPr lang="en-US" b="1" dirty="0"/>
              <a:t>, </a:t>
            </a:r>
            <a:r>
              <a:rPr lang="en-US" b="1" dirty="0" err="1"/>
              <a:t>DiskANN</a:t>
            </a:r>
            <a:r>
              <a:rPr lang="en-US" b="1" dirty="0"/>
              <a:t> vector search, and full-text search</a:t>
            </a:r>
            <a:r>
              <a:rPr lang="en-US" dirty="0"/>
              <a:t>. Together, these capabilities allow developers to build intelligent, resilient, and scalable applications directly on PostgreSQL without requiring additional orchestration infrastructure.</a:t>
            </a:r>
          </a:p>
          <a:p>
            <a:pPr algn="just"/>
            <a:endParaRPr lang="en-US" dirty="0"/>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a:xfrm>
            <a:off x="4433776" y="855081"/>
            <a:ext cx="4365038" cy="2899164"/>
          </a:xfrm>
        </p:spPr>
        <p:txBody>
          <a:bodyPr/>
          <a:lstStyle/>
          <a:p>
            <a:pPr algn="just"/>
            <a:r>
              <a:rPr lang="en-US" sz="1000" dirty="0">
                <a:hlinkClick r:id="rId2"/>
              </a:rPr>
              <a:t>Generally Available: Premium SSD v2 disks now support non-zonal Azure Virtual Machines</a:t>
            </a:r>
            <a:endParaRPr lang="en-US" sz="1000" dirty="0"/>
          </a:p>
          <a:p>
            <a:pPr algn="just"/>
            <a:r>
              <a:rPr lang="en-US" sz="1000" dirty="0"/>
              <a:t>Azure Premium SSD v2 disks now support non-zonal, single-instance Azure virtual machines in select Azure regions with Availability Zones (AZs). Customers can now deploy Premium SSD v2 with non-zonal virtual machines without selecting an Availability Zone. This allows customers to bring the performance and price benefits of Premium SSD v2 to workloads that have not transitioned to zonal configurations. </a:t>
            </a:r>
          </a:p>
          <a:p>
            <a:pPr algn="just"/>
            <a:r>
              <a:rPr lang="en-US" sz="1000" dirty="0"/>
              <a:t>Azure Premium SSD v2 is a next-generation block storage option for Azure virtual machines that delivers sub-millisecond latency and strong price performance for IO-intensive workloads such as SQL Server, Oracle, SAP, Cassandra, MongoDB, big data and analytics, and gaming workloads running on virtual machines or stateful containers. </a:t>
            </a:r>
          </a:p>
          <a:p>
            <a:pPr algn="just"/>
            <a:r>
              <a:rPr lang="en-US" sz="1000" dirty="0"/>
              <a:t>Pricing for non-zonal Premium SSD v2 disks is the same as zonal Premium SSD v2 disks. Customers pay for provisioned storage capacity, along with any additional IOPS and throughput provisioned above the baseline performance. </a:t>
            </a:r>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3"/>
              </a:rPr>
              <a:t>Generally Available: Azure NC RTX PRO 6000 Blackwell Server Edition v6 Series Virtual Machines</a:t>
            </a:r>
            <a:endParaRPr lang="en-US" dirty="0"/>
          </a:p>
          <a:p>
            <a:pPr algn="just"/>
            <a:r>
              <a:rPr lang="en-US" dirty="0"/>
              <a:t>Azure NCv6-series virtual machines (VMs) are now generally available in the Azure Southeast Asia and West US 2 regions. NCv6 VMs are powered by NVIDIA RTX PRO 6000 Blackwell Server Edition graphics processing units (GPUs) with each GPU featuring 96 GB of GDDR7 memory, and enable both leading-edge graphics and generative artificial intelligence (AI) compute workloads. The VM host is equipped with Intel Xeon™ 6 "Granite Rapids" 6900P series central processing units (CPUs), providing all-core turbo frequencies up to 4.2 GHz for demanding pre- and post-processing steps.  </a:t>
            </a:r>
          </a:p>
          <a:p>
            <a:pPr algn="just"/>
            <a:r>
              <a:rPr lang="en-US" dirty="0"/>
              <a:t>NCv6 offers fractional GPU support and general purpose and compute optimized VM sizes. The general purpose NCv6 VM sizes provide larger amounts of CPU memory for demanding generative AI inference and independent software vendor (ISV) computer-aided design (CAD)/computer-aided engineering (CAE) simulations, while the compute optimized NCv6 VM sizes offer reduced memory to enable customers with less memory intensive workloads to cost optimize their deployments. </a:t>
            </a:r>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p:txBody>
          <a:bodyPr/>
          <a:lstStyle/>
          <a:p>
            <a:pPr algn="just"/>
            <a:r>
              <a:rPr lang="en-US" dirty="0">
                <a:hlinkClick r:id="rId2"/>
              </a:rPr>
              <a:t>Retirement: Av2-series, F-series, Fs-series, Fsv2-series, G-series, </a:t>
            </a:r>
            <a:r>
              <a:rPr lang="en-US" dirty="0" err="1">
                <a:hlinkClick r:id="rId2"/>
              </a:rPr>
              <a:t>Gs</a:t>
            </a:r>
            <a:r>
              <a:rPr lang="en-US" dirty="0">
                <a:hlinkClick r:id="rId2"/>
              </a:rPr>
              <a:t>-series, and Lsv2-series Virtual Machines for Azure Batch pools</a:t>
            </a:r>
            <a:endParaRPr lang="en-US" dirty="0"/>
          </a:p>
          <a:p>
            <a:pPr algn="just"/>
            <a:r>
              <a:rPr lang="en-US" dirty="0"/>
              <a:t>Azure Compute will retire the following Virtual Machine series on November 15, 2028, impacting Azure Batch pools that rely on them:Av2-series</a:t>
            </a:r>
          </a:p>
          <a:p>
            <a:pPr marL="171450" indent="-171450" algn="just">
              <a:buFont typeface="Arial" panose="020B0604020202020204" pitchFamily="34" charset="0"/>
              <a:buChar char="•"/>
            </a:pPr>
            <a:r>
              <a:rPr lang="en-US" dirty="0"/>
              <a:t>F-series, Fs-series, Fsv2-series</a:t>
            </a:r>
          </a:p>
          <a:p>
            <a:pPr marL="171450" indent="-171450" algn="just">
              <a:buFont typeface="Arial" panose="020B0604020202020204" pitchFamily="34" charset="0"/>
              <a:buChar char="•"/>
            </a:pPr>
            <a:r>
              <a:rPr lang="en-US" dirty="0"/>
              <a:t>G-series, </a:t>
            </a:r>
            <a:r>
              <a:rPr lang="en-US" dirty="0" err="1"/>
              <a:t>Gs</a:t>
            </a:r>
            <a:r>
              <a:rPr lang="en-US" dirty="0"/>
              <a:t>-series</a:t>
            </a:r>
          </a:p>
          <a:p>
            <a:pPr marL="171450" indent="-171450" algn="just">
              <a:buFont typeface="Arial" panose="020B0604020202020204" pitchFamily="34" charset="0"/>
              <a:buChar char="•"/>
            </a:pPr>
            <a:r>
              <a:rPr lang="en-US" dirty="0"/>
              <a:t>Lsv2-series</a:t>
            </a:r>
          </a:p>
          <a:p>
            <a:pPr algn="just"/>
            <a:r>
              <a:rPr lang="en-US" dirty="0"/>
              <a:t>After this date:</a:t>
            </a:r>
          </a:p>
          <a:p>
            <a:pPr marL="171450" indent="-171450" algn="just">
              <a:buFont typeface="Arial" panose="020B0604020202020204" pitchFamily="34" charset="0"/>
              <a:buChar char="•"/>
            </a:pPr>
            <a:r>
              <a:rPr lang="en-US" dirty="0"/>
              <a:t>New Batch pools using these VM series cannot be created</a:t>
            </a:r>
          </a:p>
          <a:p>
            <a:pPr marL="171450" indent="-171450" algn="just">
              <a:buFont typeface="Arial" panose="020B0604020202020204" pitchFamily="34" charset="0"/>
              <a:buChar char="•"/>
            </a:pPr>
            <a:r>
              <a:rPr lang="en-US" dirty="0"/>
              <a:t>Existing pools cannot scale out</a:t>
            </a:r>
          </a:p>
          <a:p>
            <a:pPr marL="171450" indent="-171450" algn="just">
              <a:buFont typeface="Arial" panose="020B0604020202020204" pitchFamily="34" charset="0"/>
              <a:buChar char="•"/>
            </a:pPr>
            <a:r>
              <a:rPr lang="en-US" dirty="0"/>
              <a:t>Pools may be forcibly resized to zero nodes</a:t>
            </a:r>
          </a:p>
          <a:p>
            <a:pPr marL="171450" indent="-171450" algn="just">
              <a:buFont typeface="Arial" panose="020B0604020202020204" pitchFamily="34" charset="0"/>
              <a:buChar char="•"/>
            </a:pPr>
            <a:r>
              <a:rPr lang="en-US" dirty="0"/>
              <a:t>Remaining VMs will be stopped/deallocated and no longer covered by SLA</a:t>
            </a:r>
          </a:p>
          <a:p>
            <a:pPr algn="just"/>
            <a:r>
              <a:rPr lang="en-US" dirty="0"/>
              <a:t>Timeline:</a:t>
            </a:r>
          </a:p>
          <a:p>
            <a:pPr marL="171450" indent="-171450" algn="just">
              <a:buFont typeface="Arial" panose="020B0604020202020204" pitchFamily="34" charset="0"/>
              <a:buChar char="•"/>
            </a:pPr>
            <a:r>
              <a:rPr lang="en-US" dirty="0"/>
              <a:t>Now – November 15, 2028: Existing pools continue to run; migration is recommended</a:t>
            </a:r>
          </a:p>
          <a:p>
            <a:pPr marL="171450" indent="-171450" algn="just">
              <a:buFont typeface="Arial" panose="020B0604020202020204" pitchFamily="34" charset="0"/>
              <a:buChar char="•"/>
            </a:pPr>
            <a:r>
              <a:rPr lang="en-US" dirty="0"/>
              <a:t>November 15, 2028: Full retirement; affected pools may become unusable</a:t>
            </a:r>
          </a:p>
          <a:p>
            <a:pPr algn="just"/>
            <a:endParaRPr lang="en-US" dirty="0"/>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152D9-DBC8-1BB3-CB3A-906BE1CABE4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42DF6D2C-F56A-685B-1BF3-E4EBF4C6CDA8}"/>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4047DB6-1854-02E5-91AF-2A84CBC86224}"/>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D3C9CC31-A12C-B5F1-6B1A-86D3C7CE03B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F082C05-93E4-F01C-DC62-70427109EFEE}"/>
              </a:ext>
            </a:extLst>
          </p:cNvPr>
          <p:cNvSpPr>
            <a:spLocks noGrp="1"/>
          </p:cNvSpPr>
          <p:nvPr>
            <p:ph type="body" sz="quarter" idx="16"/>
          </p:nvPr>
        </p:nvSpPr>
        <p:spPr>
          <a:xfrm>
            <a:off x="342900" y="855081"/>
            <a:ext cx="3955312" cy="1285954"/>
          </a:xfrm>
        </p:spPr>
        <p:txBody>
          <a:bodyPr/>
          <a:lstStyle/>
          <a:p>
            <a:pPr algn="just"/>
            <a:r>
              <a:rPr lang="en-US" dirty="0">
                <a:hlinkClick r:id="rId2"/>
              </a:rPr>
              <a:t>Update: Minimum billable object size for cooler storage tiers</a:t>
            </a:r>
            <a:endParaRPr lang="en-US" dirty="0"/>
          </a:p>
          <a:p>
            <a:pPr algn="just"/>
            <a:r>
              <a:rPr lang="en-US" dirty="0"/>
              <a:t>MS is pausing the introduction of a minimum billable object size for the cool, cold, and archive access tiers. As a result, billing behavior will not change on July 1, 2026, for either new or existing storage accounts.  </a:t>
            </a:r>
          </a:p>
          <a:p>
            <a:pPr algn="just"/>
            <a:r>
              <a:rPr lang="en-US" dirty="0"/>
              <a:t>MS will provide an update on our revised approach and timeline in a future Azure Update. No action is required from customers at this time.</a:t>
            </a:r>
          </a:p>
        </p:txBody>
      </p:sp>
    </p:spTree>
    <p:extLst>
      <p:ext uri="{BB962C8B-B14F-4D97-AF65-F5344CB8AC3E}">
        <p14:creationId xmlns:p14="http://schemas.microsoft.com/office/powerpoint/2010/main" val="3507518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E7A46-37FC-DE37-B781-F6CD941A9DA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AE795B7-0C4D-6CAC-2F9E-29152EF52D4D}"/>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3F52A13-614F-F618-4B9C-591B009977B2}"/>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95405789-54A1-B49A-B9F4-2BC26AD8154F}"/>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84D6F84-88AB-C63B-5FD4-B461BDD233D2}"/>
              </a:ext>
            </a:extLst>
          </p:cNvPr>
          <p:cNvSpPr>
            <a:spLocks noGrp="1"/>
          </p:cNvSpPr>
          <p:nvPr>
            <p:ph type="body" sz="quarter" idx="16"/>
          </p:nvPr>
        </p:nvSpPr>
        <p:spPr/>
        <p:txBody>
          <a:bodyPr/>
          <a:lstStyle/>
          <a:p>
            <a:pPr algn="just"/>
            <a:r>
              <a:rPr lang="en-US" dirty="0">
                <a:hlinkClick r:id="rId2"/>
              </a:rPr>
              <a:t>Retirement: GPv1 and Legacy Blob storage account creation</a:t>
            </a:r>
            <a:endParaRPr lang="en-US" dirty="0"/>
          </a:p>
          <a:p>
            <a:pPr algn="just"/>
            <a:r>
              <a:rPr lang="en-US" dirty="0"/>
              <a:t>As part of our ongoing efforts to streamline the Azure Storage portfolio and deliver enhanced performance, scalability, and cost efficiency, we are announcing the retirement of all General purpose v1 (GPv1) storage accounts. This includes legacy blob storage and Files accounts configurations. </a:t>
            </a:r>
          </a:p>
          <a:p>
            <a:pPr algn="just"/>
            <a:r>
              <a:rPr lang="en-US" dirty="0"/>
              <a:t>Key Dates: </a:t>
            </a:r>
          </a:p>
          <a:p>
            <a:pPr marL="171450" indent="-171450" algn="just">
              <a:buFont typeface="Arial" panose="020B0604020202020204" pitchFamily="34" charset="0"/>
              <a:buChar char="•"/>
            </a:pPr>
            <a:r>
              <a:rPr lang="en-US" dirty="0"/>
              <a:t>October 1</a:t>
            </a:r>
            <a:r>
              <a:rPr lang="en-US" baseline="30000" dirty="0"/>
              <a:t>st</a:t>
            </a:r>
            <a:r>
              <a:rPr lang="en-US" dirty="0"/>
              <a:t>, 2025: Public announcement. </a:t>
            </a:r>
          </a:p>
          <a:p>
            <a:pPr marL="171450" indent="-171450" algn="just">
              <a:buFont typeface="Arial" panose="020B0604020202020204" pitchFamily="34" charset="0"/>
              <a:buChar char="•"/>
            </a:pPr>
            <a:r>
              <a:rPr lang="en-US" dirty="0"/>
              <a:t>June 1</a:t>
            </a:r>
            <a:r>
              <a:rPr lang="en-US" baseline="30000" dirty="0"/>
              <a:t>st</a:t>
            </a:r>
            <a:r>
              <a:rPr lang="en-US" dirty="0"/>
              <a:t>, 2026: New account creation blocked </a:t>
            </a:r>
          </a:p>
          <a:p>
            <a:pPr marL="171450" indent="-171450" algn="just">
              <a:buFont typeface="Arial" panose="020B0604020202020204" pitchFamily="34" charset="0"/>
              <a:buChar char="•"/>
            </a:pPr>
            <a:r>
              <a:rPr lang="en-US" dirty="0"/>
              <a:t>October 13</a:t>
            </a:r>
            <a:r>
              <a:rPr lang="en-US" baseline="30000" dirty="0"/>
              <a:t>th</a:t>
            </a:r>
            <a:r>
              <a:rPr lang="en-US" dirty="0"/>
              <a:t>, 2026: Final retirement. All remaining GPv1 accounts will be transitioned to GPv2. </a:t>
            </a:r>
          </a:p>
          <a:p>
            <a:pPr algn="just"/>
            <a:r>
              <a:rPr lang="en-US" dirty="0"/>
              <a:t>What’s Changing: </a:t>
            </a:r>
          </a:p>
          <a:p>
            <a:pPr marL="171450" indent="-171450" algn="just">
              <a:buFont typeface="Arial" panose="020B0604020202020204" pitchFamily="34" charset="0"/>
              <a:buChar char="•"/>
            </a:pPr>
            <a:r>
              <a:rPr lang="en-US" dirty="0"/>
              <a:t>The following account types will be retired: </a:t>
            </a:r>
          </a:p>
          <a:p>
            <a:pPr marL="171450" indent="-171450" algn="just">
              <a:buFont typeface="Arial" panose="020B0604020202020204" pitchFamily="34" charset="0"/>
              <a:buChar char="•"/>
            </a:pPr>
            <a:r>
              <a:rPr lang="en-US" dirty="0"/>
              <a:t>General purpose v1 (GPv1) storage accounts (all redundancy options) </a:t>
            </a:r>
          </a:p>
          <a:p>
            <a:pPr marL="171450" indent="-171450" algn="just">
              <a:buFont typeface="Arial" panose="020B0604020202020204" pitchFamily="34" charset="0"/>
              <a:buChar char="•"/>
            </a:pPr>
            <a:r>
              <a:rPr lang="en-US" dirty="0"/>
              <a:t>Legacy blob storage accounts. </a:t>
            </a:r>
          </a:p>
          <a:p>
            <a:pPr marL="171450" indent="-171450" algn="just">
              <a:buFont typeface="Arial" panose="020B0604020202020204" pitchFamily="34" charset="0"/>
              <a:buChar char="•"/>
            </a:pPr>
            <a:r>
              <a:rPr lang="en-US" dirty="0"/>
              <a:t>Files storage accounts hosted on GPv1. </a:t>
            </a:r>
          </a:p>
          <a:p>
            <a:pPr algn="just"/>
            <a:endParaRPr lang="en-US" dirty="0"/>
          </a:p>
        </p:txBody>
      </p:sp>
    </p:spTree>
    <p:extLst>
      <p:ext uri="{BB962C8B-B14F-4D97-AF65-F5344CB8AC3E}">
        <p14:creationId xmlns:p14="http://schemas.microsoft.com/office/powerpoint/2010/main" val="2281606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Azure Managed Redis now supports Entra ID based RBAC for data management</a:t>
            </a:r>
            <a:endParaRPr lang="en-US" dirty="0"/>
          </a:p>
          <a:p>
            <a:pPr algn="just"/>
            <a:r>
              <a:rPr lang="en-US" dirty="0"/>
              <a:t>With role-based access control (RBAC) for Azure Managed Redis data access, it is possible to precisely control who can read, write, or administer Redis data using Microsoft Entra ID—without relying on shared keys. Built on top of Redis Access Control Lists (ACLs), this update enables fine‑grained, role‑based permissions aligned with your enterprise identity system. </a:t>
            </a:r>
          </a:p>
          <a:p>
            <a:pPr algn="just"/>
            <a:r>
              <a:rPr lang="en-US" dirty="0"/>
              <a:t>You benefit from stronger security through least‑privilege access, simplified compliance with auditable role assignments, and safer multiple‑team collaboration with scoped data access. By eliminating key management, you also reduce operational overhead and streamline onboarding of new apps and teams.</a:t>
            </a:r>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9D1DAA-5541-5F8D-D325-1706397A6A43}"/>
              </a:ext>
            </a:extLst>
          </p:cNvPr>
          <p:cNvSpPr>
            <a:spLocks noGrp="1"/>
          </p:cNvSpPr>
          <p:nvPr>
            <p:ph type="body" sz="quarter" idx="10"/>
          </p:nvPr>
        </p:nvSpPr>
        <p:spPr/>
        <p:txBody>
          <a:bodyPr/>
          <a:lstStyle/>
          <a:p>
            <a:pPr algn="just"/>
            <a:r>
              <a:rPr lang="en-US" sz="1000" dirty="0">
                <a:hlinkClick r:id="rId2"/>
              </a:rPr>
              <a:t>Generally Available: PostgreSQL Hub for Azure Developers</a:t>
            </a:r>
            <a:endParaRPr lang="en-US" sz="1000" dirty="0"/>
          </a:p>
          <a:p>
            <a:pPr algn="just"/>
            <a:r>
              <a:rPr lang="en-US" sz="1000" dirty="0"/>
              <a:t>PostgreSQL Hub for Azure Developers brings together key AI and application development resources for PostgreSQL on Azure. It includes curated sample apps and solution accelerators, tutorials, and structured learning pathways to help build everything from core applications to AI agents. Featured resources stay up to date with the latest updates.</a:t>
            </a:r>
          </a:p>
          <a:p>
            <a:pPr algn="just"/>
            <a:r>
              <a:rPr lang="en-US" sz="1000" dirty="0"/>
              <a:t>The hub also provides a space to connect with other developers.</a:t>
            </a:r>
          </a:p>
        </p:txBody>
      </p:sp>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p:txBody>
          <a:bodyPr/>
          <a:lstStyle/>
          <a:p>
            <a:pPr algn="just"/>
            <a:r>
              <a:rPr lang="en-US" dirty="0">
                <a:hlinkClick r:id="rId3"/>
              </a:rPr>
              <a:t>Generally Available: Maintenance control for Azure Database for PostgreSQL - reschedule, apply on demand, view and download</a:t>
            </a:r>
            <a:endParaRPr lang="en-US" dirty="0"/>
          </a:p>
          <a:p>
            <a:pPr algn="just"/>
            <a:r>
              <a:rPr lang="en-US" dirty="0"/>
              <a:t>Enhanced maintenance control capabilities are now generally available for Azure Database for PostgreSQL Flexible Server. These new capabilities give you greater visibility and flexibility in managing platform maintenance events, helping reduce disruption to your workloads. You can now view upcoming maintenance events directly in the Azure portal, CLI, and APIs, including details such as maintenance type, expected downtime, and deferral eligibility. With the ability to reschedule maintenance by up to 14 days, you can align updates with your business schedules and avoid peak usage periods. Additionally, you can choose to apply maintenance on demand at a time that works best for your environment, improving predictability and control. These enhancements eliminate the need for support requests to defer maintenance and help reduce the risk of unexpected downtime, making it easier to operate production workloads with confidence. These capabilities are available in all regions where Azure Database for PostgreSQL Flexible Server is offered. </a:t>
            </a:r>
          </a:p>
        </p:txBody>
      </p:sp>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71DA1-B55D-EF7E-C705-3E2EBD8AB3D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337F290-7F05-F6C7-FB30-521D100BB24B}"/>
              </a:ext>
            </a:extLst>
          </p:cNvPr>
          <p:cNvSpPr>
            <a:spLocks noGrp="1"/>
          </p:cNvSpPr>
          <p:nvPr>
            <p:ph type="body" sz="quarter" idx="10"/>
          </p:nvPr>
        </p:nvSpPr>
        <p:spPr>
          <a:xfrm>
            <a:off x="4433776" y="855080"/>
            <a:ext cx="4365038" cy="1315691"/>
          </a:xfrm>
        </p:spPr>
        <p:txBody>
          <a:bodyPr/>
          <a:lstStyle/>
          <a:p>
            <a:pPr algn="just"/>
            <a:r>
              <a:rPr lang="en-US" sz="1000" dirty="0">
                <a:hlinkClick r:id="rId2"/>
              </a:rPr>
              <a:t>Generally Available: SQL MCP Server</a:t>
            </a:r>
            <a:endParaRPr lang="en-US" sz="1000" dirty="0"/>
          </a:p>
          <a:p>
            <a:pPr algn="just"/>
            <a:r>
              <a:rPr lang="en-US" sz="1000" dirty="0"/>
              <a:t>SQL MCP Server is now generally available, giving customers a secure, high-performance way to build agentic solutions with controlled access to production data. Built for SQL and compatible with PostgreSQL and Azure Cosmos DB, SQL MCP Server is a dynamic, self-hosted data-plane endpoint with caching, multiple data sources, REST, and </a:t>
            </a:r>
            <a:r>
              <a:rPr lang="en-US" sz="1000" dirty="0" err="1"/>
              <a:t>GraphQL</a:t>
            </a:r>
            <a:r>
              <a:rPr lang="en-US" sz="1000" dirty="0"/>
              <a:t> in one solution. Open source and free, it runs well in Azure, on-premises, or in any cloud. </a:t>
            </a:r>
          </a:p>
        </p:txBody>
      </p:sp>
      <p:sp>
        <p:nvSpPr>
          <p:cNvPr id="11" name="Title 10">
            <a:extLst>
              <a:ext uri="{FF2B5EF4-FFF2-40B4-BE49-F238E27FC236}">
                <a16:creationId xmlns:a16="http://schemas.microsoft.com/office/drawing/2014/main" id="{C62E7423-4266-2E57-7ECF-35621C61E139}"/>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915420FD-81AB-F129-C44C-1ADB2CE508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99C1840-42CB-2AAA-82F4-807BF7A8EB8F}"/>
              </a:ext>
            </a:extLst>
          </p:cNvPr>
          <p:cNvSpPr>
            <a:spLocks noGrp="1"/>
          </p:cNvSpPr>
          <p:nvPr>
            <p:ph type="body" sz="quarter" idx="16"/>
          </p:nvPr>
        </p:nvSpPr>
        <p:spPr/>
        <p:txBody>
          <a:bodyPr/>
          <a:lstStyle/>
          <a:p>
            <a:pPr algn="just"/>
            <a:r>
              <a:rPr lang="en-US" dirty="0">
                <a:hlinkClick r:id="rId3"/>
              </a:rPr>
              <a:t>Generally Available: Microsoft Entra server principals on Azure SQL Database</a:t>
            </a:r>
            <a:endParaRPr lang="en-US" dirty="0"/>
          </a:p>
          <a:p>
            <a:pPr algn="just"/>
            <a:r>
              <a:rPr lang="en-US" dirty="0"/>
              <a:t>Microsoft Entra server principals (logins) for Azure SQL Database is now generally available. It is now possible to use CREATE LOGIN ... FROM EXTERNAL PROVIDER in the virtual master database, bringing parity with SQL logins for your Microsoft Entra identities.</a:t>
            </a:r>
          </a:p>
          <a:p>
            <a:pPr algn="just"/>
            <a:r>
              <a:rPr lang="en-US" dirty="0"/>
              <a:t>With Entra logins, it is possible to assign server roles to Entra principals, automate user and database provisioning using service principal logins, and enable Entra-only authentication to disable SQL authentication entirely. If you're already using Entra logins on Azure SQL Managed Instance or SQL Server 2022, you now get the same experience on Azure SQL Database. </a:t>
            </a:r>
          </a:p>
        </p:txBody>
      </p:sp>
    </p:spTree>
    <p:extLst>
      <p:ext uri="{BB962C8B-B14F-4D97-AF65-F5344CB8AC3E}">
        <p14:creationId xmlns:p14="http://schemas.microsoft.com/office/powerpoint/2010/main" val="72484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30A3B-5B5F-E3BD-A4F6-C2C8DE0B4DB6}"/>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1FE15C0-EAEC-E6D4-AEAC-82109CB7780D}"/>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96FF38FE-F7F4-39FA-FD76-EE7224F55359}"/>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7ADF7F88-4577-68E6-C1CF-62135B255195}"/>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C75C4F3-4834-7F0D-397C-729C14BBA3BD}"/>
              </a:ext>
            </a:extLst>
          </p:cNvPr>
          <p:cNvSpPr>
            <a:spLocks noGrp="1"/>
          </p:cNvSpPr>
          <p:nvPr>
            <p:ph type="body" sz="quarter" idx="16"/>
          </p:nvPr>
        </p:nvSpPr>
        <p:spPr/>
        <p:txBody>
          <a:bodyPr/>
          <a:lstStyle/>
          <a:p>
            <a:pPr algn="just"/>
            <a:r>
              <a:rPr lang="en-US" dirty="0">
                <a:hlinkClick r:id="rId2"/>
              </a:rPr>
              <a:t>Retirement: Azure Synapse Link for Azure Cosmos DB NoSQL</a:t>
            </a:r>
            <a:endParaRPr lang="en-US" dirty="0"/>
          </a:p>
          <a:p>
            <a:pPr algn="just"/>
            <a:r>
              <a:rPr lang="en-US" dirty="0"/>
              <a:t>As of March 31, 2026, new Azure Cosmos DB NoSQL accounts can no longer enable Azure Synapse Link. Existing customers will remain fully supported until March 31, 2029, when Azure Synapse Link will reach end of life.</a:t>
            </a:r>
          </a:p>
          <a:p>
            <a:pPr algn="just"/>
            <a:r>
              <a:rPr lang="en-US" dirty="0"/>
              <a:t>Mirroring for Microsoft Fabric delivers the same zero-ETL hybrid transactional and analytical processing (HTAP) capabilities as Azure Synapse Link, with meaningful improvements:</a:t>
            </a:r>
          </a:p>
          <a:p>
            <a:pPr marL="171450" indent="-171450" algn="just">
              <a:buFont typeface="Arial" panose="020B0604020202020204" pitchFamily="34" charset="0"/>
              <a:buChar char="•"/>
            </a:pPr>
            <a:r>
              <a:rPr lang="en-US" dirty="0"/>
              <a:t>Open Delta Parquet format stored in Microsoft Fabric </a:t>
            </a:r>
            <a:r>
              <a:rPr lang="en-US" dirty="0" err="1"/>
              <a:t>OneLake</a:t>
            </a:r>
            <a:r>
              <a:rPr lang="en-US" dirty="0"/>
              <a:t> — accessible by Fabric Spark, Fabric SQL, Power BI Direct Lake, Azure Databricks, and more</a:t>
            </a:r>
          </a:p>
          <a:p>
            <a:pPr marL="171450" indent="-171450" algn="just">
              <a:buFont typeface="Arial" panose="020B0604020202020204" pitchFamily="34" charset="0"/>
              <a:buChar char="•"/>
            </a:pPr>
            <a:r>
              <a:rPr lang="en-US" dirty="0"/>
              <a:t>No schema nesting limits — removes the 1,000 property and 127-level depth restrictions of Synapse Link</a:t>
            </a:r>
          </a:p>
          <a:p>
            <a:pPr marL="171450" indent="-171450" algn="just">
              <a:buFont typeface="Arial" panose="020B0604020202020204" pitchFamily="34" charset="0"/>
              <a:buChar char="•"/>
            </a:pPr>
            <a:r>
              <a:rPr lang="en-US" dirty="0"/>
              <a:t>Free replication storage — mirrored data storage is included at no cost up to your Fabric capacity limit (e.g. F64 = 64 TB of free </a:t>
            </a:r>
            <a:r>
              <a:rPr lang="en-US" dirty="0" err="1"/>
              <a:t>OneLake</a:t>
            </a:r>
            <a:r>
              <a:rPr lang="en-US" dirty="0"/>
              <a:t> storage)</a:t>
            </a:r>
          </a:p>
          <a:p>
            <a:pPr marL="171450" indent="-171450" algn="just">
              <a:buFont typeface="Arial" panose="020B0604020202020204" pitchFamily="34" charset="0"/>
              <a:buChar char="•"/>
            </a:pPr>
            <a:r>
              <a:rPr lang="en-US" dirty="0"/>
              <a:t>Free replication compute — data replication does not consume Request Units (RUs) or impact transactional performance</a:t>
            </a:r>
          </a:p>
          <a:p>
            <a:pPr marL="171450" indent="-171450" algn="just">
              <a:buFont typeface="Arial" panose="020B0604020202020204" pitchFamily="34" charset="0"/>
              <a:buChar char="•"/>
            </a:pPr>
            <a:r>
              <a:rPr lang="en-US" dirty="0"/>
              <a:t>Full Microsoft Fabric ecosystem integration — unified data management across </a:t>
            </a:r>
            <a:r>
              <a:rPr lang="en-US" dirty="0" err="1"/>
              <a:t>OneLake</a:t>
            </a:r>
            <a:r>
              <a:rPr lang="en-US" dirty="0"/>
              <a:t>, enabling AI and analytics scenarios at scale</a:t>
            </a:r>
          </a:p>
          <a:p>
            <a:pPr algn="just"/>
            <a:endParaRPr lang="en-US" dirty="0"/>
          </a:p>
        </p:txBody>
      </p:sp>
    </p:spTree>
    <p:extLst>
      <p:ext uri="{BB962C8B-B14F-4D97-AF65-F5344CB8AC3E}">
        <p14:creationId xmlns:p14="http://schemas.microsoft.com/office/powerpoint/2010/main" val="2199866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Integration</a:t>
            </a:r>
          </a:p>
        </p:txBody>
      </p:sp>
    </p:spTree>
    <p:extLst>
      <p:ext uri="{BB962C8B-B14F-4D97-AF65-F5344CB8AC3E}">
        <p14:creationId xmlns:p14="http://schemas.microsoft.com/office/powerpoint/2010/main" val="5962330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 NSP is now available in Azure Government regions</a:t>
            </a:r>
            <a:endParaRPr lang="en-US" sz="1000" dirty="0"/>
          </a:p>
          <a:p>
            <a:pPr algn="just"/>
            <a:r>
              <a:rPr lang="en-US" sz="1000" dirty="0"/>
              <a:t>NSP is now available in Azure Government regions, including:</a:t>
            </a:r>
          </a:p>
          <a:p>
            <a:pPr marL="171450" indent="-171450" algn="just">
              <a:buFont typeface="Arial" panose="020B0604020202020204" pitchFamily="34" charset="0"/>
              <a:buChar char="•"/>
            </a:pPr>
            <a:r>
              <a:rPr lang="en-US" sz="1000" dirty="0"/>
              <a:t>Texas</a:t>
            </a:r>
          </a:p>
          <a:p>
            <a:pPr marL="171450" indent="-171450" algn="just">
              <a:buFont typeface="Arial" panose="020B0604020202020204" pitchFamily="34" charset="0"/>
              <a:buChar char="•"/>
            </a:pPr>
            <a:r>
              <a:rPr lang="en-US" sz="1000" dirty="0"/>
              <a:t>Arizona</a:t>
            </a:r>
          </a:p>
          <a:p>
            <a:pPr marL="171450" indent="-171450" algn="just">
              <a:buFont typeface="Arial" panose="020B0604020202020204" pitchFamily="34" charset="0"/>
              <a:buChar char="•"/>
            </a:pPr>
            <a:r>
              <a:rPr lang="en-US" sz="1000" dirty="0"/>
              <a:t>Virginia</a:t>
            </a:r>
          </a:p>
          <a:p>
            <a:pPr marL="171450" indent="-171450" algn="just">
              <a:buFont typeface="Arial" panose="020B0604020202020204" pitchFamily="34" charset="0"/>
              <a:buChar char="•"/>
            </a:pPr>
            <a:r>
              <a:rPr lang="en-US" sz="1000" dirty="0"/>
              <a:t>DoD East</a:t>
            </a:r>
          </a:p>
          <a:p>
            <a:pPr marL="171450" indent="-171450" algn="just">
              <a:buFont typeface="Arial" panose="020B0604020202020204" pitchFamily="34" charset="0"/>
              <a:buChar char="•"/>
            </a:pPr>
            <a:r>
              <a:rPr lang="en-US" sz="1000" dirty="0"/>
              <a:t>DoD Central</a:t>
            </a:r>
          </a:p>
          <a:p>
            <a:pPr algn="just"/>
            <a:r>
              <a:rPr lang="en-US" sz="1000" dirty="0"/>
              <a:t>This ensures that customers operating in regulated, sovereign, and mission-critical environments can adopt NSP while meeting their compliance and regional requirements.</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Integration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Network Security Perimeter (NSP) support for Azure Service Bus is now Generally Available (GA).</a:t>
            </a:r>
            <a:endParaRPr lang="en-US" dirty="0"/>
          </a:p>
          <a:p>
            <a:pPr algn="just"/>
            <a:r>
              <a:rPr lang="en-US" dirty="0"/>
              <a:t>Modern applications rely heavily on messaging layers like Service Bus. These systems often connect microservices, data platforms, key management systems and external integrations. As architectures scale, managing network access individually becomes complex and error prone.</a:t>
            </a:r>
          </a:p>
          <a:p>
            <a:pPr algn="just"/>
            <a:r>
              <a:rPr lang="en-US" dirty="0"/>
              <a:t>NSP changes this by introducing a perimeter-based access model, where:</a:t>
            </a:r>
          </a:p>
          <a:p>
            <a:pPr marL="171450" indent="-171450" algn="just">
              <a:buFont typeface="Arial" panose="020B0604020202020204" pitchFamily="34" charset="0"/>
              <a:buChar char="•"/>
            </a:pPr>
            <a:r>
              <a:rPr lang="en-US" dirty="0"/>
              <a:t>Communication is restricted by default</a:t>
            </a:r>
          </a:p>
          <a:p>
            <a:pPr marL="171450" indent="-171450" algn="just">
              <a:buFont typeface="Arial" panose="020B0604020202020204" pitchFamily="34" charset="0"/>
              <a:buChar char="•"/>
            </a:pPr>
            <a:r>
              <a:rPr lang="en-US" dirty="0"/>
              <a:t>Access must be explicitly allowed</a:t>
            </a:r>
          </a:p>
          <a:p>
            <a:pPr marL="171450" indent="-171450" algn="just">
              <a:buFont typeface="Arial" panose="020B0604020202020204" pitchFamily="34" charset="0"/>
              <a:buChar char="•"/>
            </a:pPr>
            <a:r>
              <a:rPr lang="en-US" dirty="0"/>
              <a:t>Governance is applied consistently across services</a:t>
            </a:r>
          </a:p>
        </p:txBody>
      </p:sp>
    </p:spTree>
    <p:extLst>
      <p:ext uri="{BB962C8B-B14F-4D97-AF65-F5344CB8AC3E}">
        <p14:creationId xmlns:p14="http://schemas.microsoft.com/office/powerpoint/2010/main" val="4065945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Microsoft Foundry agent security capabilities in Microsoft Defender for Cloud are transitioning to a Microsoft Agent 365 license</a:t>
            </a:r>
            <a:endParaRPr lang="en-US" sz="1000" dirty="0"/>
          </a:p>
          <a:p>
            <a:pPr algn="just"/>
            <a:r>
              <a:rPr lang="en-US" sz="1000" dirty="0"/>
              <a:t>Starting July 1, 2026, Microsoft Foundry agent security capabilities previously available through Microsoft Defender for Cloud will transition to a Microsoft Agent 365 license. Agent protection in Defender will be powered by Agent 365 observability logs and the Microsoft 365 agent registry — providing a unified source of truth for Microsoft Foundry agent inventory, real-time threat protection through a unified blocking platform, and consistent posture across cloud environments. </a:t>
            </a:r>
          </a:p>
          <a:p>
            <a:pPr algn="just"/>
            <a:r>
              <a:rPr lang="en-US" sz="1000" dirty="0"/>
              <a:t>For tenants with an Agent 365-eligible license, these experiences will continue to be available through the Microsoft Defender portal. Equivalent Microsoft Foundry agent experiences currently available in Azure portal experiences are migrating to the Microsoft Defender portal for all customers. </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Agent mode for GitHub Copilot in SQL Server Management Studio (SSMS)</a:t>
            </a:r>
            <a:endParaRPr lang="en-US" dirty="0"/>
          </a:p>
          <a:p>
            <a:pPr algn="just"/>
            <a:r>
              <a:rPr lang="en-US" dirty="0"/>
              <a:t>It is now possible to use Agent mode for GitHub Copilot in SSMS to work with your database: investigating performance problems, tuning queries, reviewing maintenance and configuration, identifying security concerns, troubleshooting errors, and assisting with operational workflows.</a:t>
            </a:r>
          </a:p>
        </p:txBody>
      </p:sp>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ADB6-113C-7F12-FA61-67D8C365299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028B91B-AE7C-2437-0508-F4249B75276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EE84B67F-7026-D091-4F4B-F5819D59C9E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55AD8010-EE62-F57B-5CA1-B8E7B6C0ECD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B331A00-CF62-F468-BCCC-F6840B7358F5}"/>
              </a:ext>
            </a:extLst>
          </p:cNvPr>
          <p:cNvSpPr>
            <a:spLocks noGrp="1"/>
          </p:cNvSpPr>
          <p:nvPr>
            <p:ph type="body" sz="quarter" idx="16"/>
          </p:nvPr>
        </p:nvSpPr>
        <p:spPr>
          <a:xfrm>
            <a:off x="342900" y="855081"/>
            <a:ext cx="3955312" cy="2103710"/>
          </a:xfrm>
        </p:spPr>
        <p:txBody>
          <a:bodyPr/>
          <a:lstStyle/>
          <a:p>
            <a:pPr algn="just"/>
            <a:r>
              <a:rPr lang="en-US" dirty="0">
                <a:hlinkClick r:id="rId2"/>
              </a:rPr>
              <a:t>Claude Fable 5 is available today in Microsoft Foundry</a:t>
            </a:r>
            <a:endParaRPr lang="en-US" dirty="0"/>
          </a:p>
          <a:p>
            <a:pPr algn="just"/>
            <a:r>
              <a:rPr lang="en-US" dirty="0"/>
              <a:t>Claude Fable 5, </a:t>
            </a:r>
            <a:r>
              <a:rPr lang="en-US" dirty="0" err="1"/>
              <a:t>Anthropic’s</a:t>
            </a:r>
            <a:r>
              <a:rPr lang="en-US" dirty="0"/>
              <a:t> latest frontier model, is available today in Microsoft Foundry, powering agents in GitHub Copilot and Foundry Agent Service. Claude Fable 5 makes Mythos-level capabilities available to all customers, with strong safeguards designed to make it safe for general use.</a:t>
            </a:r>
          </a:p>
          <a:p>
            <a:pPr algn="just"/>
            <a:r>
              <a:rPr lang="en-US" dirty="0"/>
              <a:t>Fable 5 is designed for long-running, multi-stage, and asynchronous tasks like complex code refactoring, deep research synthesis, and document-heavy workflows. This elevated level of autonomy changes what teams can ask AI to do. Enterprises can now delegate sophisticated multi-turn projects to agents, enabling them to reason over your organization’s data to solve real problems.</a:t>
            </a:r>
          </a:p>
        </p:txBody>
      </p:sp>
    </p:spTree>
    <p:extLst>
      <p:ext uri="{BB962C8B-B14F-4D97-AF65-F5344CB8AC3E}">
        <p14:creationId xmlns:p14="http://schemas.microsoft.com/office/powerpoint/2010/main" val="586386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2.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3.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607</TotalTime>
  <Words>3422</Words>
  <Application>Microsoft Office PowerPoint</Application>
  <PresentationFormat>On-screen Show (16:9)</PresentationFormat>
  <Paragraphs>139</Paragraphs>
  <Slides>28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Human Sans</vt:lpstr>
      <vt:lpstr>Human Sans Regular</vt:lpstr>
      <vt:lpstr>Continuum Theme</vt:lpstr>
      <vt:lpstr>Azure Times #210</vt:lpstr>
      <vt:lpstr>PowerPoint Presentation</vt:lpstr>
      <vt:lpstr>Networking Updates</vt:lpstr>
      <vt:lpstr>PowerPoint Presentation</vt:lpstr>
      <vt:lpstr>Security &amp; Identity Updates</vt:lpstr>
      <vt:lpstr>PowerPoint Presentation</vt:lpstr>
      <vt:lpstr>Management &amp; Governance Updates</vt:lpstr>
      <vt:lpstr>Management &amp; Governance Updates</vt:lpstr>
      <vt:lpstr>PowerPoint Presentation</vt:lpstr>
      <vt:lpstr>Compute Updates</vt:lpstr>
      <vt:lpstr>Compute Updates</vt:lpstr>
      <vt:lpstr>Compute Updates</vt:lpstr>
      <vt:lpstr>PowerPoint Presentation</vt:lpstr>
      <vt:lpstr>Storage &amp; Data Updates</vt:lpstr>
      <vt:lpstr>Storage &amp; Data Updates</vt:lpstr>
      <vt:lpstr>PowerPoint Presentation</vt:lpstr>
      <vt:lpstr>Databases Updates</vt:lpstr>
      <vt:lpstr>Databases Updates</vt:lpstr>
      <vt:lpstr>Databases Updates</vt:lpstr>
      <vt:lpstr>Databases Updates</vt:lpstr>
      <vt:lpstr>PowerPoint Presentation</vt:lpstr>
      <vt:lpstr>Integration Updates</vt:lpstr>
      <vt:lpstr>PowerPoint Presentation</vt:lpstr>
      <vt:lpstr>ML &amp; AI &amp; IOT Updates</vt:lpstr>
      <vt:lpstr>ML &amp; AI &amp; IOT Updates</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154</cp:revision>
  <dcterms:created xsi:type="dcterms:W3CDTF">2018-01-26T19:23:30Z</dcterms:created>
  <dcterms:modified xsi:type="dcterms:W3CDTF">2026-06-13T18:10:07Z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