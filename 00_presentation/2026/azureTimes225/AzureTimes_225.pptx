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9"/>
  </p:notesMasterIdLst>
  <p:handoutMasterIdLst>
    <p:handoutMasterId r:id="rId30"/>
  </p:handoutMasterIdLst>
  <p:sldIdLst>
    <p:sldId id="2142532340" r:id="rId5"/>
    <p:sldId id="2146847048" r:id="rId6"/>
    <p:sldId id="2146847049" r:id="rId7"/>
    <p:sldId id="2146847133" r:id="rId8"/>
    <p:sldId id="2146847050" r:id="rId9"/>
    <p:sldId id="2146847134" r:id="rId10"/>
    <p:sldId id="2146847096" r:id="rId11"/>
    <p:sldId id="2146847157" r:id="rId12"/>
    <p:sldId id="2146847135" r:id="rId13"/>
    <p:sldId id="2146847158" r:id="rId14"/>
    <p:sldId id="2146847136" r:id="rId15"/>
    <p:sldId id="2146847156" r:id="rId16"/>
    <p:sldId id="2146847054" r:id="rId17"/>
    <p:sldId id="2146847103" r:id="rId18"/>
    <p:sldId id="2146847142" r:id="rId19"/>
    <p:sldId id="2146847058" r:id="rId20"/>
    <p:sldId id="2146847111" r:id="rId21"/>
    <p:sldId id="2146847147" r:id="rId22"/>
    <p:sldId id="2146847148" r:id="rId23"/>
    <p:sldId id="2146847119" r:id="rId24"/>
    <p:sldId id="2146847120" r:id="rId25"/>
    <p:sldId id="2146847085" r:id="rId26"/>
    <p:sldId id="2146847084" r:id="rId27"/>
    <p:sldId id="2146847064" r:id="rId2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ection>
        <p14:section name="Management &amp; Governance" id="{34181601-6D48-4406-A525-C7B5A12C6C5B}">
          <p14:sldIdLst>
            <p14:sldId id="2146847048"/>
            <p14:sldId id="2146847049"/>
            <p14:sldId id="2146847133"/>
          </p14:sldIdLst>
        </p14:section>
        <p14:section name="Compute" id="{05AA80BB-8802-49AB-8336-A884227CE2F7}">
          <p14:sldIdLst>
            <p14:sldId id="2146847050"/>
            <p14:sldId id="2146847134"/>
            <p14:sldId id="2146847096"/>
            <p14:sldId id="2146847157"/>
            <p14:sldId id="2146847135"/>
            <p14:sldId id="2146847158"/>
            <p14:sldId id="2146847136"/>
            <p14:sldId id="2146847156"/>
          </p14:sldIdLst>
        </p14:section>
        <p14:section name="Storage &amp; Data" id="{1F159046-CE0A-45BC-9D5B-6E6C95980F78}">
          <p14:sldIdLst/>
        </p14:section>
        <p14:section name="Databases" id="{AEAFAE72-AD56-48F3-926B-38BAE269038F}">
          <p14:sldIdLst>
            <p14:sldId id="2146847054"/>
            <p14:sldId id="2146847103"/>
            <p14:sldId id="2146847142"/>
          </p14:sldIdLst>
        </p14:section>
        <p14:section name="Integration" id="{ACBD46A3-6F1C-451B-A154-0A056E0DEFF6}">
          <p14:sldIdLst/>
        </p14:section>
        <p14:section name="ML &amp; AI &amp; IOT" id="{F4E1EAF1-55E9-4CA4-8ADC-28B69C1D66D2}">
          <p14:sldIdLst>
            <p14:sldId id="2146847058"/>
            <p14:sldId id="2146847111"/>
            <p14:sldId id="2146847147"/>
            <p14:sldId id="2146847148"/>
          </p14:sldIdLst>
        </p14:section>
        <p14:section name="DevOps &amp; IaC &amp; Automation" id="{A1B23FE8-BD24-477B-81AD-FE484F08F197}">
          <p14:sldIdLst>
            <p14:sldId id="2146847119"/>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9/25/2026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techcommunity.microsoft.com/blog/windows-admin-center-blog/two-modes-combined-windows-admin-center-version-2610-is-now-in-public-preview/4556863"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azure.microsoft.com/ru-ru/updates?id=572573"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71919" TargetMode="External"/><Relationship Id="rId2" Type="http://schemas.openxmlformats.org/officeDocument/2006/relationships/hyperlink" Target="https://techcommunity.microsoft.com/blog/appsonazureblog/virtual-nodes-on-azure-container-instances-a-new-compute-layer-for-aks/4558080"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azure.microsoft.com/ru-ru/updates?id=571530"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techcommunity.microsoft.com/blog/appsonazureblog/azure-container-apps-sandboxes-now-generally-available/4559125" TargetMode="External"/><Relationship Id="rId2" Type="http://schemas.openxmlformats.org/officeDocument/2006/relationships/hyperlink" Target="https://azure.microsoft.com/ru-ru/updates?id=559242"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72579" TargetMode="External"/><Relationship Id="rId2" Type="http://schemas.openxmlformats.org/officeDocument/2006/relationships/hyperlink" Target="https://azure.microsoft.com/ru-ru/updates?id=572219"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azure.microsoft.com/ru-ru/updates?id=572579"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72838" TargetMode="External"/><Relationship Id="rId2" Type="http://schemas.openxmlformats.org/officeDocument/2006/relationships/hyperlink" Target="https://azure.microsoft.com/ru-ru/updates?id=572770"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azure.microsoft.com/ru-ru/updates?id=557117"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73048"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techcommunity.microsoft.com/blog/oracleonazureblog/oracle-ai-databaseazure-expands-with-azure-native-oracle-goldengate-user-experie/4559430" TargetMode="External"/><Relationship Id="rId2" Type="http://schemas.openxmlformats.org/officeDocument/2006/relationships/hyperlink" Target="https://techcommunity.microsoft.com/blog/appsonazureblog/elasticsearch-vector-database-on-azure-semantic-search-and-rag-without-managing-/4558647"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63536" TargetMode="External"/><Relationship Id="rId2" Type="http://schemas.openxmlformats.org/officeDocument/2006/relationships/hyperlink" Target="https://azure.microsoft.com/ru-ru/updates?id=571821"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chatgpt.com/g/g-p-68ef573567288191a5cf580435b67458-work/c/69abbe1e-65fc-838d-b3c6-8332bc94a16d" TargetMode="External"/><Relationship Id="rId2" Type="http://schemas.openxmlformats.org/officeDocument/2006/relationships/hyperlink" Target="https://techcommunity.microsoft.com/blog/azure-ai-foundry-blog/claude-opus-5-5-comes-to-microsoft-foundry-for-long-running-coding-and-knowledge/4558051"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azure.microsoft.com/ru-ru/updates?id=571826"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azure.microsoft.com/ru-ru/updates?id=572214"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#225</a:t>
            </a:r>
          </a:p>
        </p:txBody>
      </p:sp>
      <p:sp>
        <p:nvSpPr>
          <p:cNvPr id="4" name="Text Placeholder 3"/>
          <p:cNvSpPr>
            <a:spLocks noGrp="1"/>
          </p:cNvSpPr>
          <p:nvPr>
            <p:ph type="body" sz="quarter" idx="11"/>
          </p:nvPr>
        </p:nvSpPr>
        <p:spPr/>
        <p:txBody>
          <a:bodyPr/>
          <a:lstStyle/>
          <a:p>
            <a:r>
              <a:rPr lang="en-US" spc="300" dirty="0"/>
              <a:t>September  28,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Windows Admin Center version 2610 is now in public preview!</a:t>
            </a:r>
            <a:endParaRPr lang="en-US" dirty="0"/>
          </a:p>
          <a:p>
            <a:pPr algn="just"/>
            <a:r>
              <a:rPr lang="en-US" b="1" dirty="0"/>
              <a:t>Windows Admin Center version 2610</a:t>
            </a:r>
            <a:r>
              <a:rPr lang="en-US" dirty="0"/>
              <a:t> is now available in </a:t>
            </a:r>
            <a:r>
              <a:rPr lang="en-US" b="1" dirty="0"/>
              <a:t>public preview</a:t>
            </a:r>
            <a:r>
              <a:rPr lang="en-US" dirty="0"/>
              <a:t>, combining the traditional </a:t>
            </a:r>
            <a:r>
              <a:rPr lang="en-US" b="1" dirty="0"/>
              <a:t>Administration Mode</a:t>
            </a:r>
            <a:r>
              <a:rPr lang="en-US" dirty="0"/>
              <a:t> and the newer </a:t>
            </a:r>
            <a:r>
              <a:rPr lang="en-US" b="1" dirty="0"/>
              <a:t>Virtualization Mode</a:t>
            </a:r>
            <a:r>
              <a:rPr lang="en-US" dirty="0"/>
              <a:t> into a single Windows Admin Center platform. This removes the need to maintain separate deployments when organizations need both server administration and virtualization management capabilities. </a:t>
            </a:r>
          </a:p>
          <a:p>
            <a:pPr algn="just"/>
            <a:r>
              <a:rPr lang="en-US" dirty="0"/>
              <a:t>The unified architecture allows infrastructure teams to manage </a:t>
            </a:r>
            <a:r>
              <a:rPr lang="en-US" b="1" dirty="0"/>
              <a:t>Windows Servers and virtualized infrastructure</a:t>
            </a:r>
            <a:r>
              <a:rPr lang="en-US" dirty="0"/>
              <a:t> from the same Windows Admin Center deployment, while selecting the appropriate management experience for each task. Virtualization Mode is designed around managing Hyper-V-based infrastructure at broader scale, complementing the server-focused capabilities of Administration Mode.</a:t>
            </a:r>
          </a:p>
          <a:p>
            <a:pPr algn="just"/>
            <a:r>
              <a:rPr lang="en-US" dirty="0"/>
              <a:t>This release represents an important step toward a </a:t>
            </a:r>
            <a:r>
              <a:rPr lang="en-US" b="1" dirty="0"/>
              <a:t>single management experience for Windows Server and Hyper-V environments</a:t>
            </a:r>
            <a:r>
              <a:rPr lang="en-US" dirty="0"/>
              <a:t>, reducing management-tool fragmentation and simplifying deployment and maintenance of Windows Admin Center. It is particularly relevant for organizations operating </a:t>
            </a:r>
            <a:r>
              <a:rPr lang="en-US" b="1" dirty="0"/>
              <a:t>on-premises or hybrid Windows Server virtualization platforms</a:t>
            </a:r>
            <a:r>
              <a:rPr lang="en-US" dirty="0"/>
              <a:t> that want centralized infrastructure management while retaining the familiar Windows Admin Center experience. </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Generally Available: Instant Access for VM restore points</a:t>
            </a:r>
            <a:endParaRPr lang="en-US" dirty="0"/>
          </a:p>
          <a:p>
            <a:pPr algn="just"/>
            <a:r>
              <a:rPr lang="en-US" b="1" dirty="0"/>
              <a:t>Instant Access for application-consistent VM restore points</a:t>
            </a:r>
            <a:r>
              <a:rPr lang="en-US" dirty="0"/>
              <a:t> is now </a:t>
            </a:r>
            <a:r>
              <a:rPr lang="en-US" b="1" dirty="0"/>
              <a:t>generally available</a:t>
            </a:r>
            <a:r>
              <a:rPr lang="en-US" dirty="0"/>
              <a:t> for Azure virtual machines using </a:t>
            </a:r>
            <a:r>
              <a:rPr lang="en-US" b="1" dirty="0"/>
              <a:t>Premium SSD v2 or Ultra Disks as data disks</a:t>
            </a:r>
            <a:r>
              <a:rPr lang="en-US" dirty="0"/>
              <a:t>. The capability allows disk restoration to begin </a:t>
            </a:r>
            <a:r>
              <a:rPr lang="en-US" b="1" dirty="0"/>
              <a:t>immediately after a restore point snapshot is created</a:t>
            </a:r>
            <a:r>
              <a:rPr lang="en-US" dirty="0"/>
              <a:t>, without waiting for background data replication to finish, helping significantly reduce </a:t>
            </a:r>
            <a:r>
              <a:rPr lang="en-US" b="1" dirty="0"/>
              <a:t>recovery time objective (RTO)</a:t>
            </a:r>
            <a:r>
              <a:rPr lang="en-US" dirty="0"/>
              <a:t>.</a:t>
            </a:r>
          </a:p>
          <a:p>
            <a:pPr algn="just"/>
            <a:r>
              <a:rPr lang="en-US" dirty="0"/>
              <a:t>At GA, Microsoft introduces the new </a:t>
            </a:r>
            <a:r>
              <a:rPr lang="en-US" b="1" dirty="0" err="1"/>
              <a:t>instantAccessState</a:t>
            </a:r>
            <a:r>
              <a:rPr lang="en-US" dirty="0"/>
              <a:t> read-only property at the restore-point level. Instead of checking </a:t>
            </a:r>
            <a:r>
              <a:rPr lang="en-US" dirty="0" err="1"/>
              <a:t>snapshotAccessState</a:t>
            </a:r>
            <a:r>
              <a:rPr lang="en-US" dirty="0"/>
              <a:t> for every individual disk and calculating overall readiness, recovery automation can now use a </a:t>
            </a:r>
            <a:r>
              <a:rPr lang="en-US" b="1" dirty="0"/>
              <a:t>single property</a:t>
            </a:r>
            <a:r>
              <a:rPr lang="en-US" dirty="0"/>
              <a:t> to determine whether the complete restore point is ready to restore, copy, or download.</a:t>
            </a:r>
          </a:p>
          <a:p>
            <a:pPr algn="just"/>
            <a:r>
              <a:rPr lang="en-US" dirty="0"/>
              <a:t>Instant Access is enabled by setting </a:t>
            </a:r>
            <a:r>
              <a:rPr lang="en-US" b="1" dirty="0" err="1"/>
              <a:t>instantAccess</a:t>
            </a:r>
            <a:r>
              <a:rPr lang="en-US" b="1" dirty="0"/>
              <a:t>=true</a:t>
            </a:r>
            <a:r>
              <a:rPr lang="en-US" dirty="0"/>
              <a:t> on the restore point collection and applies to all restore points within it. Organizations can configure an Instant Access window between </a:t>
            </a:r>
            <a:r>
              <a:rPr lang="en-US" b="1" dirty="0"/>
              <a:t>60 and 300 minutes</a:t>
            </a:r>
            <a:r>
              <a:rPr lang="en-US" dirty="0"/>
              <a:t>, with </a:t>
            </a:r>
            <a:r>
              <a:rPr lang="en-US" b="1" dirty="0"/>
              <a:t>300 minutes as the default</a:t>
            </a:r>
            <a:r>
              <a:rPr lang="en-US" dirty="0"/>
              <a:t>.</a:t>
            </a:r>
          </a:p>
          <a:p>
            <a:pPr algn="just"/>
            <a:r>
              <a:rPr lang="en-US" dirty="0"/>
              <a:t>The enhancement simplifies </a:t>
            </a:r>
            <a:r>
              <a:rPr lang="en-US" b="1" dirty="0"/>
              <a:t>automated disaster recovery and VM recovery workflows</a:t>
            </a:r>
            <a:r>
              <a:rPr lang="en-US" dirty="0"/>
              <a:t> while reducing the time required to bring critical virtual machines back online.</a:t>
            </a:r>
          </a:p>
          <a:p>
            <a:pPr algn="just"/>
            <a:endParaRPr lang="en-US" dirty="0"/>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a:xfrm>
            <a:off x="4433776" y="855081"/>
            <a:ext cx="4365038" cy="3204302"/>
          </a:xfrm>
        </p:spPr>
        <p:txBody>
          <a:bodyPr/>
          <a:lstStyle/>
          <a:p>
            <a:pPr algn="just"/>
            <a:r>
              <a:rPr lang="en-US" sz="1000" dirty="0">
                <a:hlinkClick r:id="rId2"/>
              </a:rPr>
              <a:t>Virtual Nodes on Azure Container Instances – New Compute Layer for AKS</a:t>
            </a:r>
            <a:endParaRPr lang="en-US" sz="1000" dirty="0"/>
          </a:p>
          <a:p>
            <a:pPr algn="just"/>
            <a:r>
              <a:rPr lang="en-US" sz="1000" b="1" dirty="0"/>
              <a:t>Virtual Nodes on Azure Container Instances (ACI)</a:t>
            </a:r>
            <a:r>
              <a:rPr lang="en-US" sz="1000" dirty="0"/>
              <a:t> provide AKS with a </a:t>
            </a:r>
            <a:r>
              <a:rPr lang="en-US" sz="1000" b="1" dirty="0"/>
              <a:t>serverless compute layer</a:t>
            </a:r>
            <a:r>
              <a:rPr lang="en-US" sz="1000" dirty="0"/>
              <a:t>, allowing Kubernetes pods to run directly on ACI instead of requiring VM-backed AKS node pools. From the Kubernetes perspective, ACI capacity appears as virtual nodes and workloads continue to use familiar </a:t>
            </a:r>
            <a:r>
              <a:rPr lang="en-US" sz="1000" b="1" dirty="0" err="1"/>
              <a:t>kubectl</a:t>
            </a:r>
            <a:r>
              <a:rPr lang="en-US" sz="1000" b="1" dirty="0"/>
              <a:t>, Helm, and GitOps workflows</a:t>
            </a:r>
            <a:r>
              <a:rPr lang="en-US" sz="1000" dirty="0"/>
              <a:t>. </a:t>
            </a:r>
          </a:p>
          <a:p>
            <a:pPr algn="just"/>
            <a:r>
              <a:rPr lang="en-US" sz="1000" dirty="0"/>
              <a:t>The architecture enables </a:t>
            </a:r>
            <a:r>
              <a:rPr lang="en-US" sz="1000" b="1" dirty="0"/>
              <a:t>rapid scale-out without waiting for additional VMs to provision or performing traditional node capacity planning</a:t>
            </a:r>
            <a:r>
              <a:rPr lang="en-US" sz="1000" dirty="0"/>
              <a:t>. Pods run as </a:t>
            </a:r>
            <a:r>
              <a:rPr lang="en-US" sz="1000" b="1" dirty="0"/>
              <a:t>Hyper-V isolated containers</a:t>
            </a:r>
            <a:r>
              <a:rPr lang="en-US" sz="1000" dirty="0"/>
              <a:t>, are sized individually rather than packed onto fixed-size VMs, and each virtual node can support up to </a:t>
            </a:r>
            <a:r>
              <a:rPr lang="en-US" sz="1000" b="1" dirty="0"/>
              <a:t>200 pods</a:t>
            </a:r>
            <a:r>
              <a:rPr lang="en-US" sz="1000" dirty="0"/>
              <a:t>, with additional virtual nodes used to scale further. </a:t>
            </a:r>
          </a:p>
          <a:p>
            <a:pPr algn="just"/>
            <a:r>
              <a:rPr lang="en-US" sz="1000" dirty="0"/>
              <a:t>The latest generation adds capabilities including </a:t>
            </a:r>
            <a:r>
              <a:rPr lang="en-US" sz="1000" b="1" dirty="0"/>
              <a:t>VNet peering, NSG-controlled outbound connectivity, persistent volumes, </a:t>
            </a:r>
            <a:r>
              <a:rPr lang="en-US" sz="1000" b="1" dirty="0" err="1"/>
              <a:t>init</a:t>
            </a:r>
            <a:r>
              <a:rPr lang="en-US" sz="1000" b="1" dirty="0"/>
              <a:t> containers, confidential containers, ACI standby pools, and private image pulls using Private Link and managed identity</a:t>
            </a:r>
            <a:r>
              <a:rPr lang="en-US" sz="1000" dirty="0"/>
              <a:t>. </a:t>
            </a:r>
          </a:p>
          <a:p>
            <a:pPr algn="just"/>
            <a:r>
              <a:rPr lang="en-US" sz="1000" dirty="0"/>
              <a:t>This makes Virtual Nodes particularly useful for </a:t>
            </a:r>
            <a:r>
              <a:rPr lang="en-US" sz="1000" b="1" dirty="0"/>
              <a:t>bursty, unpredictable, or short-lived AKS workloads</a:t>
            </a:r>
            <a:r>
              <a:rPr lang="en-US" sz="1000" dirty="0"/>
              <a:t>, where organizations need Kubernetes orchestration but want to avoid provisioning permanent VM capacity for peak demand. </a:t>
            </a:r>
          </a:p>
          <a:p>
            <a:pPr algn="just"/>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Public Preview: Flex Nodes for AKS</a:t>
            </a:r>
            <a:endParaRPr lang="en-US" dirty="0"/>
          </a:p>
          <a:p>
            <a:pPr algn="just"/>
            <a:r>
              <a:rPr lang="en-US" b="1" dirty="0"/>
              <a:t>Flex Nodes for AKS</a:t>
            </a:r>
            <a:r>
              <a:rPr lang="en-US" dirty="0"/>
              <a:t> provide a hybrid and edge deployment model where </a:t>
            </a:r>
            <a:r>
              <a:rPr lang="en-US" b="1" dirty="0"/>
              <a:t>worker nodes run on customer or edge infrastructure while the Kubernetes control plane remains managed in Azure</a:t>
            </a:r>
            <a:r>
              <a:rPr lang="en-US" dirty="0"/>
              <a:t>. This gives application and platform teams a consistent AKS control plane without requiring them to deploy and operate a complete Kubernetes cluster at every remote location.</a:t>
            </a:r>
          </a:p>
          <a:p>
            <a:pPr algn="just"/>
            <a:r>
              <a:rPr lang="en-US" dirty="0"/>
              <a:t>The model is designed for </a:t>
            </a:r>
            <a:r>
              <a:rPr lang="en-US" b="1" dirty="0"/>
              <a:t>connected environments</a:t>
            </a:r>
            <a:r>
              <a:rPr lang="en-US" dirty="0"/>
              <a:t> where workloads need to execute locally because of </a:t>
            </a:r>
            <a:r>
              <a:rPr lang="en-US" b="1" dirty="0"/>
              <a:t>latency, regulatory, data sovereignty, or infrastructure requirements</a:t>
            </a:r>
            <a:r>
              <a:rPr lang="en-US" dirty="0"/>
              <a:t>, but do not require a locally operated Kubernetes control plane. Organizations can keep compute close to applications and data while using Azure for centralized Kubernetes management and governance.</a:t>
            </a:r>
          </a:p>
          <a:p>
            <a:pPr algn="just"/>
            <a:r>
              <a:rPr lang="en-US" dirty="0"/>
              <a:t>Flex Nodes are particularly suited to </a:t>
            </a:r>
            <a:r>
              <a:rPr lang="en-US" b="1" dirty="0"/>
              <a:t>AI inference, local data processing, industrial and manufacturing applications, content delivery, branch-office services, and latency-sensitive workloads</a:t>
            </a:r>
            <a:r>
              <a:rPr lang="en-US" dirty="0"/>
              <a:t>. By separating centralized control from distributed compute, the capability can reduce the operational overhead associated with maintaining independent Kubernetes clusters across large fleets of edge locations.</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Mdsv4 and Msv4 Series Virtual Machines for SAP</a:t>
            </a:r>
            <a:endParaRPr lang="en-US" dirty="0"/>
          </a:p>
          <a:p>
            <a:pPr algn="just"/>
            <a:r>
              <a:rPr lang="en-US" dirty="0"/>
              <a:t>The new </a:t>
            </a:r>
            <a:r>
              <a:rPr lang="en-US" b="1" dirty="0"/>
              <a:t>Azure Mdsv4 and Msv4 VM series</a:t>
            </a:r>
            <a:r>
              <a:rPr lang="en-US" dirty="0"/>
              <a:t> are </a:t>
            </a:r>
            <a:r>
              <a:rPr lang="en-US" b="1" dirty="0"/>
              <a:t>memory-optimized virtual machines</a:t>
            </a:r>
            <a:r>
              <a:rPr lang="en-US" dirty="0"/>
              <a:t> powered by </a:t>
            </a:r>
            <a:r>
              <a:rPr lang="en-US" b="1" dirty="0"/>
              <a:t>6th Generation Intel Xeon Scalable processors</a:t>
            </a:r>
            <a:r>
              <a:rPr lang="en-US" dirty="0"/>
              <a:t> and enhanced with the latest </a:t>
            </a:r>
            <a:r>
              <a:rPr lang="en-US" b="1" dirty="0"/>
              <a:t>Azure Boost technologies</a:t>
            </a:r>
            <a:r>
              <a:rPr lang="en-US" dirty="0"/>
              <a:t>. They are designed to provide improved compute and memory performance while increasing infrastructure efficiency for large enterprise workloads.</a:t>
            </a:r>
          </a:p>
          <a:p>
            <a:pPr algn="just"/>
            <a:r>
              <a:rPr lang="en-US" dirty="0"/>
              <a:t>The VM series targets </a:t>
            </a:r>
            <a:r>
              <a:rPr lang="en-US" b="1" dirty="0"/>
              <a:t>memory-intensive and mission-critical applications</a:t>
            </a:r>
            <a:r>
              <a:rPr lang="en-US" dirty="0"/>
              <a:t>, including </a:t>
            </a:r>
            <a:r>
              <a:rPr lang="en-US" b="1" dirty="0"/>
              <a:t>SAP workloads, large enterprise databases, in-memory processing, and other high-performance business applications</a:t>
            </a:r>
            <a:r>
              <a:rPr lang="en-US" dirty="0"/>
              <a:t>. Azure Boost offloads selected virtualization and infrastructure functions, allowing more host resources to be dedicated to customer workloads.</a:t>
            </a:r>
          </a:p>
          <a:p>
            <a:pPr algn="just"/>
            <a:r>
              <a:rPr lang="en-US" dirty="0"/>
              <a:t>The new generation also incorporates </a:t>
            </a:r>
            <a:r>
              <a:rPr lang="en-US" b="1" dirty="0"/>
              <a:t>advanced security capabilities</a:t>
            </a:r>
            <a:r>
              <a:rPr lang="en-US" dirty="0"/>
              <a:t> while improving performance, scalability, efficiency, and reliability. For enterprises running large-scale SAP and other memory-intensive platforms, Mdsv4 and Msv4 provide a new option for </a:t>
            </a:r>
            <a:r>
              <a:rPr lang="en-US" b="1" dirty="0"/>
              <a:t>modernizing infrastructure and improving workload performance and cost efficiency</a:t>
            </a:r>
            <a:r>
              <a:rPr lang="en-US" dirty="0"/>
              <a:t> on Azure.</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EAAA-4461-1D09-1B05-F70D0B4110E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ACF791FD-600C-4F24-97C7-515A6A4A9AC4}"/>
              </a:ext>
            </a:extLst>
          </p:cNvPr>
          <p:cNvSpPr>
            <a:spLocks noGrp="1"/>
          </p:cNvSpPr>
          <p:nvPr>
            <p:ph type="body" sz="quarter" idx="10"/>
          </p:nvPr>
        </p:nvSpPr>
        <p:spPr/>
        <p:txBody>
          <a:bodyPr/>
          <a:lstStyle/>
          <a:p>
            <a:pPr algn="just"/>
            <a:r>
              <a:rPr lang="en-US" sz="1000" dirty="0">
                <a:hlinkClick r:id="rId2"/>
              </a:rPr>
              <a:t>Generally Available: Azure Container Apps Express</a:t>
            </a:r>
            <a:endParaRPr lang="en-US" sz="1000" dirty="0"/>
          </a:p>
          <a:p>
            <a:pPr algn="just"/>
            <a:r>
              <a:rPr lang="en-US" sz="1000" b="1" dirty="0"/>
              <a:t>Azure Container Apps Express</a:t>
            </a:r>
            <a:r>
              <a:rPr lang="en-US" sz="1000" dirty="0"/>
              <a:t> is now </a:t>
            </a:r>
            <a:r>
              <a:rPr lang="en-US" sz="1000" b="1" dirty="0"/>
              <a:t>generally available</a:t>
            </a:r>
            <a:r>
              <a:rPr lang="en-US" sz="1000" dirty="0"/>
              <a:t>, providing a simplified Azure compute experience for deploying </a:t>
            </a:r>
            <a:r>
              <a:rPr lang="en-US" sz="1000" b="1" dirty="0"/>
              <a:t>web applications, APIs, and AI agent workloads</a:t>
            </a:r>
            <a:r>
              <a:rPr lang="en-US" sz="1000" dirty="0"/>
              <a:t> without requiring developers to make detailed infrastructure decisions. Developers provide their container, while Express automatically creates and configures the required environment, enabling applications to move from deployment to a production-ready state within minutes.</a:t>
            </a:r>
          </a:p>
          <a:p>
            <a:pPr algn="just"/>
            <a:r>
              <a:rPr lang="en-US" sz="1000" dirty="0"/>
              <a:t>Express builds on the Azure Container Apps platform and provides </a:t>
            </a:r>
            <a:r>
              <a:rPr lang="en-US" sz="1000" b="1" dirty="0"/>
              <a:t>opinionated, production-grade defaults</a:t>
            </a:r>
            <a:r>
              <a:rPr lang="en-US" sz="1000" dirty="0"/>
              <a:t>, including automatic scaling from </a:t>
            </a:r>
            <a:r>
              <a:rPr lang="en-US" sz="1000" b="1" dirty="0"/>
              <a:t>zero to large-scale demand</a:t>
            </a:r>
            <a:r>
              <a:rPr lang="en-US" sz="1000" dirty="0"/>
              <a:t>, per-second billing, managed identity, secrets management, custom domains, container registry integration, revision management, and built-in observability. This reduces the amount of infrastructure configuration normally required when deploying containerized applications.</a:t>
            </a:r>
          </a:p>
          <a:p>
            <a:pPr algn="just"/>
            <a:r>
              <a:rPr lang="en-US" sz="1000" dirty="0"/>
              <a:t>The service is designed for both </a:t>
            </a:r>
            <a:r>
              <a:rPr lang="en-US" sz="1000" b="1" dirty="0"/>
              <a:t>developer-built applications and agent-driven workloads</a:t>
            </a:r>
            <a:r>
              <a:rPr lang="en-US" sz="1000" dirty="0"/>
              <a:t>, where rapid provisioning and automatic scaling are important. By abstracting infrastructure configuration while retaining managed security and operational capabilities, Container Apps Express provides a streamlined path for teams that want to </a:t>
            </a:r>
            <a:r>
              <a:rPr lang="en-US" sz="1000" b="1" dirty="0"/>
              <a:t>deploy containers quickly without managing the underlying compute platform</a:t>
            </a:r>
            <a:r>
              <a:rPr lang="en-US" sz="1000" dirty="0"/>
              <a:t>.</a:t>
            </a:r>
          </a:p>
          <a:p>
            <a:pPr algn="just"/>
            <a:endParaRPr lang="en-US" sz="1000" dirty="0"/>
          </a:p>
        </p:txBody>
      </p:sp>
      <p:sp>
        <p:nvSpPr>
          <p:cNvPr id="11" name="Title 10">
            <a:extLst>
              <a:ext uri="{FF2B5EF4-FFF2-40B4-BE49-F238E27FC236}">
                <a16:creationId xmlns:a16="http://schemas.microsoft.com/office/drawing/2014/main" id="{DF2F8170-D483-FFE5-B1B6-690F013D7CC0}"/>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94CEBA4-3AD6-4B4B-5D6B-6E7A9A8FBA6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8EFA850E-BB5E-FACF-992F-FB1B2EDC358C}"/>
              </a:ext>
            </a:extLst>
          </p:cNvPr>
          <p:cNvSpPr>
            <a:spLocks noGrp="1"/>
          </p:cNvSpPr>
          <p:nvPr>
            <p:ph type="body" sz="quarter" idx="16"/>
          </p:nvPr>
        </p:nvSpPr>
        <p:spPr/>
        <p:txBody>
          <a:bodyPr/>
          <a:lstStyle/>
          <a:p>
            <a:pPr algn="just"/>
            <a:r>
              <a:rPr lang="en-US" dirty="0">
                <a:hlinkClick r:id="rId3"/>
              </a:rPr>
              <a:t>Azure Container Apps Sandboxes (GA)</a:t>
            </a:r>
            <a:endParaRPr lang="en-US" dirty="0"/>
          </a:p>
          <a:p>
            <a:pPr algn="just"/>
            <a:r>
              <a:rPr lang="en-US" b="1" dirty="0"/>
              <a:t>Azure Container Apps Sandboxes</a:t>
            </a:r>
            <a:r>
              <a:rPr lang="en-US" dirty="0"/>
              <a:t> is now </a:t>
            </a:r>
            <a:r>
              <a:rPr lang="en-US" b="1" dirty="0"/>
              <a:t>generally available</a:t>
            </a:r>
            <a:r>
              <a:rPr lang="en-US" dirty="0"/>
              <a:t>, providing fast, isolated compute environments for running </a:t>
            </a:r>
            <a:r>
              <a:rPr lang="en-US" b="1" dirty="0"/>
              <a:t>untrusted or dynamically generated code</a:t>
            </a:r>
            <a:r>
              <a:rPr lang="en-US" dirty="0"/>
              <a:t>, particularly for AI agent and multi-tenant platform scenarios. Each sandbox runs in its own </a:t>
            </a:r>
            <a:r>
              <a:rPr lang="en-US" b="1" dirty="0"/>
              <a:t>hardware-isolated </a:t>
            </a:r>
            <a:r>
              <a:rPr lang="en-US" b="1" dirty="0" err="1"/>
              <a:t>microVM</a:t>
            </a:r>
            <a:r>
              <a:rPr lang="en-US" b="1" dirty="0"/>
              <a:t> with a dedicated Linux kernel</a:t>
            </a:r>
            <a:r>
              <a:rPr lang="en-US" dirty="0"/>
              <a:t>, separating workloads from the host platform and other sandboxes. </a:t>
            </a:r>
          </a:p>
          <a:p>
            <a:pPr algn="just"/>
            <a:r>
              <a:rPr lang="en-US" dirty="0"/>
              <a:t>Sandboxes can start in </a:t>
            </a:r>
            <a:r>
              <a:rPr lang="en-US" b="1" dirty="0"/>
              <a:t>under a second</a:t>
            </a:r>
            <a:r>
              <a:rPr lang="en-US" dirty="0"/>
              <a:t> and allow developers to control the </a:t>
            </a:r>
            <a:r>
              <a:rPr lang="en-US" b="1" dirty="0"/>
              <a:t>compute size, network access, storage, and lifetime</a:t>
            </a:r>
            <a:r>
              <a:rPr lang="en-US" dirty="0"/>
              <a:t> of each execution environment. They support custom container images and lifecycle capabilities such as suspend/resume and snapshots, enabling environments to be created temporarily for individual users, sessions, or tasks. </a:t>
            </a:r>
          </a:p>
          <a:p>
            <a:pPr algn="just"/>
            <a:r>
              <a:rPr lang="en-US" dirty="0"/>
              <a:t>The service is particularly suited to </a:t>
            </a:r>
            <a:r>
              <a:rPr lang="en-US" b="1" dirty="0"/>
              <a:t>AI agents executing code, developer environments, secure code-execution platforms, and multi-tenant SaaS applications</a:t>
            </a:r>
            <a:r>
              <a:rPr lang="en-US" dirty="0"/>
              <a:t>, where strong workload isolation and rapid provisioning are required. The same underlying sandbox technology is used by Microsoft services including </a:t>
            </a:r>
            <a:r>
              <a:rPr lang="en-US" b="1" dirty="0"/>
              <a:t>Foundry Hosted Agents, GitHub Copilot cloud sandboxes, and Azure Container Apps Express</a:t>
            </a:r>
            <a:r>
              <a:rPr lang="en-US" dirty="0"/>
              <a:t>. </a:t>
            </a:r>
          </a:p>
          <a:p>
            <a:pPr algn="just"/>
            <a:r>
              <a:rPr lang="en-US" dirty="0"/>
              <a:t>At GA, customers are charged based on </a:t>
            </a:r>
            <a:r>
              <a:rPr lang="en-US" b="1" dirty="0"/>
              <a:t>vCPU and memory while a sandbox is running</a:t>
            </a:r>
            <a:r>
              <a:rPr lang="en-US" dirty="0"/>
              <a:t>, with storage billed separately, while stopped sandboxes do not incur compute charges. </a:t>
            </a:r>
          </a:p>
          <a:p>
            <a:pPr algn="just"/>
            <a:endParaRPr lang="en-US" dirty="0"/>
          </a:p>
        </p:txBody>
      </p:sp>
    </p:spTree>
    <p:extLst>
      <p:ext uri="{BB962C8B-B14F-4D97-AF65-F5344CB8AC3E}">
        <p14:creationId xmlns:p14="http://schemas.microsoft.com/office/powerpoint/2010/main" val="1583173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r>
              <a:rPr lang="en-US" sz="1000" dirty="0">
                <a:hlinkClick r:id="rId2"/>
              </a:rPr>
              <a:t>Generally Available: Azure Functions support for PowerShell 7.6</a:t>
            </a:r>
            <a:endParaRPr lang="en-US" sz="1000" dirty="0"/>
          </a:p>
          <a:p>
            <a:r>
              <a:rPr lang="en-US" sz="1000" dirty="0"/>
              <a:t>Azure Functions support for PowerShell 7.6 is now generally available.  </a:t>
            </a:r>
          </a:p>
          <a:p>
            <a:r>
              <a:rPr lang="en-US" sz="1000" dirty="0"/>
              <a:t>You can now develop apps using PowerShell 7.6 locally and deploy them to Azure Functions plans. </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Azure Sphere OS version 26.09 is now available</a:t>
            </a:r>
            <a:endParaRPr lang="en-US" dirty="0"/>
          </a:p>
          <a:p>
            <a:pPr algn="just"/>
            <a:r>
              <a:rPr lang="en-US" dirty="0"/>
              <a:t>Azure Sphere OS version 26.09 is now available in the Retail feed. This release includes updates to the Azure Sphere OS only, with no update to the SDK. If your devices are connected to the internet, they will receive the updated OS from the cloud.</a:t>
            </a:r>
          </a:p>
          <a:p>
            <a:pPr algn="just"/>
            <a:r>
              <a:rPr lang="en-US" dirty="0"/>
              <a:t>The 26.09 OS Retail release migrates the underlying Azure Sphere OS Linux Kernel version from the 5.10.x to 6.1.x branch, aligning Azure Sphere with the Linux CIP Platform for Super Long-Term Support. This will be Azure Sphere's final major kernel update prior to retirement in 2031.</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35274F-4CA0-89C8-7128-913D43B5847B}"/>
              </a:ext>
            </a:extLst>
          </p:cNvPr>
          <p:cNvSpPr>
            <a:spLocks noGrp="1"/>
          </p:cNvSpPr>
          <p:nvPr>
            <p:ph type="body" sz="quarter" idx="10"/>
          </p:nvPr>
        </p:nvSpPr>
        <p:spPr/>
        <p:txBody>
          <a:bodyPr/>
          <a:lstStyle/>
          <a:p>
            <a:endParaRPr lang="en-US" dirty="0"/>
          </a:p>
        </p:txBody>
      </p:sp>
      <p:sp>
        <p:nvSpPr>
          <p:cNvPr id="3" name="Title 2">
            <a:extLst>
              <a:ext uri="{FF2B5EF4-FFF2-40B4-BE49-F238E27FC236}">
                <a16:creationId xmlns:a16="http://schemas.microsoft.com/office/drawing/2014/main" id="{EFD6E929-ECAE-661D-88F9-984BF97E15A0}"/>
              </a:ext>
            </a:extLst>
          </p:cNvPr>
          <p:cNvSpPr>
            <a:spLocks noGrp="1"/>
          </p:cNvSpPr>
          <p:nvPr>
            <p:ph type="title"/>
          </p:nvPr>
        </p:nvSpPr>
        <p:spPr/>
        <p:txBody>
          <a:bodyPr/>
          <a:lstStyle/>
          <a:p>
            <a:r>
              <a:rPr lang="en-US" sz="1600" dirty="0"/>
              <a:t>Compute Updates (General Available)</a:t>
            </a:r>
            <a:endParaRPr lang="en-US" dirty="0"/>
          </a:p>
        </p:txBody>
      </p:sp>
      <p:sp>
        <p:nvSpPr>
          <p:cNvPr id="4" name="Text Placeholder 3">
            <a:extLst>
              <a:ext uri="{FF2B5EF4-FFF2-40B4-BE49-F238E27FC236}">
                <a16:creationId xmlns:a16="http://schemas.microsoft.com/office/drawing/2014/main" id="{3BDBF896-0032-D378-FAA4-DB5287CD82C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08D033A-293B-7C8A-6F1B-68E1B09F3C63}"/>
              </a:ext>
            </a:extLst>
          </p:cNvPr>
          <p:cNvSpPr>
            <a:spLocks noGrp="1"/>
          </p:cNvSpPr>
          <p:nvPr>
            <p:ph type="body" sz="quarter" idx="16"/>
          </p:nvPr>
        </p:nvSpPr>
        <p:spPr/>
        <p:txBody>
          <a:bodyPr/>
          <a:lstStyle/>
          <a:p>
            <a:pPr algn="just"/>
            <a:r>
              <a:rPr lang="en-US" dirty="0">
                <a:hlinkClick r:id="rId2"/>
              </a:rPr>
              <a:t>Generally Available: Azure Sphere OS version 26.09 is now available</a:t>
            </a:r>
            <a:endParaRPr lang="en-US" dirty="0"/>
          </a:p>
          <a:p>
            <a:pPr algn="just"/>
            <a:r>
              <a:rPr lang="en-US" dirty="0"/>
              <a:t>Azure Sphere OS version 26.09 is now available in the Retail feed. This release includes updates to the Azure Sphere OS only, with no update to the SDK. If your devices are connected to the internet, they will receive the updated OS from the cloud.</a:t>
            </a:r>
          </a:p>
          <a:p>
            <a:pPr algn="just"/>
            <a:r>
              <a:rPr lang="en-US" dirty="0"/>
              <a:t>The 26.09 OS Retail release migrates the underlying Azure Sphere OS Linux Kernel version from the 5.10.x to 6.1.x branch, aligning Azure Sphere with the Linux CIP Platform for Super Long-Term Support. This will be Azure Sphere's final major kernel update prior to retirement in 2031.</a:t>
            </a:r>
          </a:p>
          <a:p>
            <a:pPr algn="just"/>
            <a:endParaRPr lang="en-US" dirty="0"/>
          </a:p>
        </p:txBody>
      </p:sp>
    </p:spTree>
    <p:extLst>
      <p:ext uri="{BB962C8B-B14F-4D97-AF65-F5344CB8AC3E}">
        <p14:creationId xmlns:p14="http://schemas.microsoft.com/office/powerpoint/2010/main" val="3199777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Retirement: Support for PowerShell 7.4 ends on November 10, 2026</a:t>
            </a:r>
            <a:endParaRPr lang="en-US" sz="1000" dirty="0"/>
          </a:p>
          <a:p>
            <a:pPr algn="just"/>
            <a:r>
              <a:rPr lang="en-US" sz="1000" dirty="0"/>
              <a:t>Support for PowerShell 7.4 will end on November 10, 2026, please transition to PowerShell 7.6. Your Azure Function apps will continue to run, but security patches and updates will no longer be provided and customer support for PowerShell 7.4 will be discontinued. Running function apps on unsupported runtime or language version, may lead to issues and degraded performance.  </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Retirement: Support for .NET 8 and .NET 9 ends on November 10, 2026—upgrade your apps to .NET 10</a:t>
            </a:r>
            <a:endParaRPr lang="en-US" dirty="0"/>
          </a:p>
          <a:p>
            <a:pPr algn="just"/>
            <a:r>
              <a:rPr lang="en-US" dirty="0"/>
              <a:t>Support for .NET 8 and .NET 9 will end on November 10, 2026. Please transition to .NET 10 by that date. Your Azure Function Apps will continue to operate, but security updates will no longer be provided, and support for .NET 8 and .NET 9 on Azure Functions will end. Running Function Apps on an unsupported runtime or language version might lead to security and performance issues. </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3466D-77BE-6489-0DD9-8D4763CC19D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6983C91-B65A-CD2F-A3FE-8ED2DA3375F3}"/>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8342FCC8-581A-B9C1-4CEE-F79E3CD4AEAF}"/>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2BE95A-556D-D618-2E05-6BF4FAD92049}"/>
              </a:ext>
            </a:extLst>
          </p:cNvPr>
          <p:cNvSpPr>
            <a:spLocks noGrp="1"/>
          </p:cNvSpPr>
          <p:nvPr>
            <p:ph type="body" sz="quarter" idx="16"/>
          </p:nvPr>
        </p:nvSpPr>
        <p:spPr/>
        <p:txBody>
          <a:bodyPr/>
          <a:lstStyle/>
          <a:p>
            <a:pPr algn="just"/>
            <a:r>
              <a:rPr lang="en-US" dirty="0">
                <a:hlinkClick r:id="rId2"/>
              </a:rPr>
              <a:t>Retirement: Azure Communication Services (ACS) standalone services will be retired on September 30, 2028</a:t>
            </a:r>
            <a:endParaRPr lang="en-US" dirty="0"/>
          </a:p>
          <a:p>
            <a:pPr algn="just"/>
            <a:r>
              <a:rPr lang="en-US" dirty="0"/>
              <a:t>Microsoft will retire several standalone Azure Communication Services (ACS) offerings on September 30, 2028. After this date, the affected services will no longer be available. </a:t>
            </a:r>
          </a:p>
        </p:txBody>
      </p:sp>
      <p:sp>
        <p:nvSpPr>
          <p:cNvPr id="3" name="Text Placeholder 2">
            <a:extLst>
              <a:ext uri="{FF2B5EF4-FFF2-40B4-BE49-F238E27FC236}">
                <a16:creationId xmlns:a16="http://schemas.microsoft.com/office/drawing/2014/main" id="{998502CF-3390-5A33-C058-1BCD4CB18CF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57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a:t>
            </a:r>
            <a:r>
              <a:rPr lang="en-US" dirty="0" err="1">
                <a:hlinkClick r:id="rId2"/>
              </a:rPr>
              <a:t>HorizonDB</a:t>
            </a:r>
            <a:r>
              <a:rPr lang="en-US" dirty="0">
                <a:hlinkClick r:id="rId2"/>
              </a:rPr>
              <a:t> supports PostgreSQL 18</a:t>
            </a:r>
            <a:endParaRPr lang="en-US" dirty="0"/>
          </a:p>
          <a:p>
            <a:pPr algn="just"/>
            <a:r>
              <a:rPr lang="en-US" dirty="0"/>
              <a:t>Azure </a:t>
            </a:r>
            <a:r>
              <a:rPr lang="en-US" dirty="0" err="1"/>
              <a:t>HorizonDB</a:t>
            </a:r>
            <a:r>
              <a:rPr lang="en-US" dirty="0"/>
              <a:t> is a fully managed, PostgreSQL-compatible, cloud-native database service designed for scalable, high-performance workloads.</a:t>
            </a:r>
          </a:p>
          <a:p>
            <a:pPr algn="just"/>
            <a:r>
              <a:rPr lang="en-US" dirty="0"/>
              <a:t>Azure </a:t>
            </a:r>
            <a:r>
              <a:rPr lang="en-US" dirty="0" err="1"/>
              <a:t>HorizonDB</a:t>
            </a:r>
            <a:r>
              <a:rPr lang="en-US" dirty="0"/>
              <a:t>, now in public preview, includes PostgreSQL 18 support.</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Elasticsearch Vector Database on Azure – Semantic Search and RAG</a:t>
            </a:r>
            <a:endParaRPr lang="en-US" sz="1000" dirty="0"/>
          </a:p>
          <a:p>
            <a:pPr algn="just"/>
            <a:r>
              <a:rPr lang="en-US" sz="1000" b="1" dirty="0"/>
              <a:t>Elasticsearch Vector Database on Azure</a:t>
            </a:r>
            <a:r>
              <a:rPr lang="en-US" sz="1000" dirty="0"/>
              <a:t> provides a managed approach for building </a:t>
            </a:r>
            <a:r>
              <a:rPr lang="en-US" sz="1000" b="1" dirty="0"/>
              <a:t>semantic search, vector search, and Retrieval-Augmented Generation (RAG)</a:t>
            </a:r>
            <a:r>
              <a:rPr lang="en-US" sz="1000" dirty="0"/>
              <a:t> applications without customers having to deploy and operate their own Elasticsearch clusters. It combines Elasticsearch’s search capabilities with vector storage and retrieval, allowing enterprise data to be used as grounding context for generative AI applications. </a:t>
            </a:r>
          </a:p>
          <a:p>
            <a:pPr algn="just"/>
            <a:r>
              <a:rPr lang="en-US" sz="1000" dirty="0"/>
              <a:t>The service supports </a:t>
            </a:r>
            <a:r>
              <a:rPr lang="en-US" sz="1000" b="1" dirty="0"/>
              <a:t>vector similarity and hybrid search</a:t>
            </a:r>
            <a:r>
              <a:rPr lang="en-US" sz="1000" dirty="0"/>
              <a:t>, enabling applications to combine semantic relevance with traditional keyword and structured-data filtering. This is particularly useful for </a:t>
            </a:r>
            <a:r>
              <a:rPr lang="en-US" sz="1000" b="1" dirty="0"/>
              <a:t>enterprise knowledge assistants, document search, recommendation systems, and RAG-based AI agents</a:t>
            </a:r>
            <a:r>
              <a:rPr lang="en-US" sz="1000" dirty="0"/>
              <a:t>, where accurate retrieval is essential before information is passed to an LLM. </a:t>
            </a:r>
          </a:p>
          <a:p>
            <a:pPr algn="just"/>
            <a:r>
              <a:rPr lang="en-US" sz="1000" dirty="0"/>
              <a:t>By providing Elasticsearch as an integrated Azure service, organizations can reduce the infrastructure and operational effort associated with </a:t>
            </a:r>
            <a:r>
              <a:rPr lang="en-US" sz="1000" b="1" dirty="0"/>
              <a:t>cluster deployment, scaling, upgrades, and maintenance</a:t>
            </a:r>
            <a:r>
              <a:rPr lang="en-US" sz="1000" dirty="0"/>
              <a:t>. This gives development teams a faster path to building production search and AI solutions while retaining Elasticsearch’s familiar APIs and ecosystem. </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Oracle </a:t>
            </a:r>
            <a:r>
              <a:rPr lang="en-US" dirty="0" err="1">
                <a:hlinkClick r:id="rId3"/>
              </a:rPr>
              <a:t>GoldenGate</a:t>
            </a:r>
            <a:r>
              <a:rPr lang="en-US" dirty="0">
                <a:hlinkClick r:id="rId3"/>
              </a:rPr>
              <a:t> Native Azure Experience &amp; Observability for Oracle AI </a:t>
            </a:r>
            <a:r>
              <a:rPr lang="en-US" dirty="0" err="1">
                <a:hlinkClick r:id="rId3"/>
              </a:rPr>
              <a:t>Database@Azure</a:t>
            </a:r>
            <a:endParaRPr lang="en-US" dirty="0"/>
          </a:p>
          <a:p>
            <a:pPr algn="just"/>
            <a:r>
              <a:rPr lang="en-US" b="1" dirty="0"/>
              <a:t>Oracle AI </a:t>
            </a:r>
            <a:r>
              <a:rPr lang="en-US" b="1" dirty="0" err="1"/>
              <a:t>Database@Azure</a:t>
            </a:r>
            <a:r>
              <a:rPr lang="en-US" dirty="0"/>
              <a:t> now provides a </a:t>
            </a:r>
            <a:r>
              <a:rPr lang="en-US" b="1" dirty="0"/>
              <a:t>native Azure experience for Oracle </a:t>
            </a:r>
            <a:r>
              <a:rPr lang="en-US" b="1" dirty="0" err="1"/>
              <a:t>GoldenGate</a:t>
            </a:r>
            <a:r>
              <a:rPr lang="en-US" dirty="0"/>
              <a:t>, allowing customers to provision and manage </a:t>
            </a:r>
            <a:r>
              <a:rPr lang="en-US" dirty="0" err="1"/>
              <a:t>GoldenGate</a:t>
            </a:r>
            <a:r>
              <a:rPr lang="en-US" dirty="0"/>
              <a:t> deployments and connections through the </a:t>
            </a:r>
            <a:r>
              <a:rPr lang="en-US" b="1" dirty="0"/>
              <a:t>Azure portal and APIs</a:t>
            </a:r>
            <a:r>
              <a:rPr lang="en-US" dirty="0"/>
              <a:t>. </a:t>
            </a:r>
            <a:r>
              <a:rPr lang="en-US" dirty="0" err="1"/>
              <a:t>GoldenGate</a:t>
            </a:r>
            <a:r>
              <a:rPr lang="en-US" dirty="0"/>
              <a:t> resources participate in the Azure control plane, enabling familiar capabilities such as </a:t>
            </a:r>
            <a:r>
              <a:rPr lang="en-US" b="1" dirty="0"/>
              <a:t>Azure RBAC, tags, Activity Log auditing, sizing, and API-based automation</a:t>
            </a:r>
            <a:r>
              <a:rPr lang="en-US" dirty="0"/>
              <a:t>, while detailed replication configuration remains available through the </a:t>
            </a:r>
            <a:r>
              <a:rPr lang="en-US" dirty="0" err="1"/>
              <a:t>GoldenGate</a:t>
            </a:r>
            <a:r>
              <a:rPr lang="en-US" dirty="0"/>
              <a:t> console. </a:t>
            </a:r>
          </a:p>
          <a:p>
            <a:pPr algn="just"/>
            <a:r>
              <a:rPr lang="en-US" dirty="0"/>
              <a:t>The integration supports real-time data movement across </a:t>
            </a:r>
            <a:r>
              <a:rPr lang="en-US" b="1" dirty="0"/>
              <a:t>Oracle databases, </a:t>
            </a:r>
            <a:r>
              <a:rPr lang="en-US" b="1" dirty="0" err="1"/>
              <a:t>multicloud</a:t>
            </a:r>
            <a:r>
              <a:rPr lang="en-US" b="1" dirty="0"/>
              <a:t> database services, Azure Event Hubs, Apache Kafka, Confluent Kafka, Microsoft Fabric </a:t>
            </a:r>
            <a:r>
              <a:rPr lang="en-US" b="1" dirty="0" err="1"/>
              <a:t>Eventstream</a:t>
            </a:r>
            <a:r>
              <a:rPr lang="en-US" b="1" dirty="0"/>
              <a:t>, and OCI Streaming</a:t>
            </a:r>
            <a:r>
              <a:rPr lang="en-US" dirty="0"/>
              <a:t>. </a:t>
            </a:r>
            <a:r>
              <a:rPr lang="en-US" dirty="0" err="1"/>
              <a:t>GoldenGate</a:t>
            </a:r>
            <a:r>
              <a:rPr lang="en-US" dirty="0"/>
              <a:t> can also synchronize Oracle data with </a:t>
            </a:r>
            <a:r>
              <a:rPr lang="en-US" b="1" dirty="0"/>
              <a:t>Microsoft Fabric Lakehouse and Fabric Mirror</a:t>
            </a:r>
            <a:r>
              <a:rPr lang="en-US" dirty="0"/>
              <a:t>, helping connect operational Oracle data with analytics, streaming, and AI workloads. </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Network egress controls for hosted agents in Microsoft Foundry</a:t>
            </a:r>
            <a:endParaRPr lang="en-US" sz="1000" dirty="0"/>
          </a:p>
          <a:p>
            <a:pPr algn="just"/>
            <a:r>
              <a:rPr lang="en-US" sz="1000" b="1" dirty="0"/>
              <a:t>Microsoft Foundry</a:t>
            </a:r>
            <a:r>
              <a:rPr lang="en-US" sz="1000" dirty="0"/>
              <a:t> now provides </a:t>
            </a:r>
            <a:r>
              <a:rPr lang="en-US" sz="1000" b="1" dirty="0"/>
              <a:t>outbound network governance for hosted agents</a:t>
            </a:r>
            <a:r>
              <a:rPr lang="en-US" sz="1000" dirty="0"/>
              <a:t> in public preview, allowing organizations to control which external destinations agents can access. Administrators can define ordered rules based on destination hosts, including </a:t>
            </a:r>
            <a:r>
              <a:rPr lang="en-US" sz="1000" b="1" dirty="0"/>
              <a:t>wildcard FQDNs such as </a:t>
            </a:r>
            <a:r>
              <a:rPr lang="en-US" b="1" dirty="0"/>
              <a:t>*.contoso.com</a:t>
            </a:r>
            <a:r>
              <a:rPr lang="en-US" sz="1000" dirty="0"/>
              <a:t>, with actions to </a:t>
            </a:r>
            <a:r>
              <a:rPr lang="en-US" sz="1000" b="1" dirty="0"/>
              <a:t>allow, deny, modify outbound request headers, or rewrite destinations</a:t>
            </a:r>
            <a:r>
              <a:rPr lang="en-US" sz="1000" dirty="0"/>
              <a:t>.</a:t>
            </a:r>
          </a:p>
          <a:p>
            <a:pPr algn="just"/>
            <a:r>
              <a:rPr lang="en-US" sz="1000" dirty="0"/>
              <a:t>The rules are part of the agent’s </a:t>
            </a:r>
            <a:r>
              <a:rPr lang="en-US" sz="1000" b="1" dirty="0"/>
              <a:t>Responsible AI policy</a:t>
            </a:r>
            <a:r>
              <a:rPr lang="en-US" sz="1000" dirty="0"/>
              <a:t> and are enforced directly inside the </a:t>
            </a:r>
            <a:r>
              <a:rPr lang="en-US" sz="1000" b="1" dirty="0"/>
              <a:t>Foundry-managed agent sandbox before traffic leaves the runtime</a:t>
            </a:r>
            <a:r>
              <a:rPr lang="en-US" sz="1000" dirty="0"/>
              <a:t>. This provides built-in outbound allow-listing without requiring a separate firewall or network appliance for basic egress control.</a:t>
            </a:r>
          </a:p>
          <a:p>
            <a:pPr algn="just"/>
            <a:r>
              <a:rPr lang="en-US" sz="1000" dirty="0"/>
              <a:t>Two operating modes are supported: </a:t>
            </a:r>
            <a:r>
              <a:rPr lang="en-US" sz="1000" b="1" dirty="0"/>
              <a:t>Audit mode</a:t>
            </a:r>
            <a:r>
              <a:rPr lang="en-US" sz="1000" dirty="0"/>
              <a:t> records traffic that would have been denied without blocking it, while </a:t>
            </a:r>
            <a:r>
              <a:rPr lang="en-US" sz="1000" b="1" dirty="0"/>
              <a:t>Enforce mode</a:t>
            </a:r>
            <a:r>
              <a:rPr lang="en-US" sz="1000" dirty="0"/>
              <a:t> actively blocks connections according to the configured policy. Every egress decision is sent to </a:t>
            </a:r>
            <a:r>
              <a:rPr lang="en-US" sz="1000" b="1" dirty="0"/>
              <a:t>Application Insights</a:t>
            </a:r>
            <a:r>
              <a:rPr lang="en-US" sz="1000" dirty="0"/>
              <a:t>, providing visibility and an audit trail for agent network activity.</a:t>
            </a:r>
          </a:p>
          <a:p>
            <a:pPr algn="just"/>
            <a:r>
              <a:rPr lang="en-US" sz="1000" dirty="0"/>
              <a:t>The capability helps organizations implement </a:t>
            </a:r>
            <a:r>
              <a:rPr lang="en-US" sz="1000" b="1" dirty="0"/>
              <a:t>least-privilege connectivity, data-exfiltration protection, and controlled access to external APIs and services</a:t>
            </a:r>
            <a:r>
              <a:rPr lang="en-US" sz="1000" dirty="0"/>
              <a:t> for autonomous agents. The feature is currently intended for </a:t>
            </a:r>
            <a:r>
              <a:rPr lang="en-US" sz="1000" b="1" dirty="0"/>
              <a:t>evaluation and is not covered by production SLAs</a:t>
            </a:r>
            <a:r>
              <a:rPr lang="en-US" sz="1000" dirty="0"/>
              <a:t>.</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Foundry Routines in Foundry Agent Service</a:t>
            </a:r>
            <a:endParaRPr lang="en-US" dirty="0"/>
          </a:p>
          <a:p>
            <a:pPr algn="just"/>
            <a:r>
              <a:rPr lang="en-US" b="1" dirty="0"/>
              <a:t>Microsoft Foundry Agent Service</a:t>
            </a:r>
            <a:r>
              <a:rPr lang="en-US" dirty="0"/>
              <a:t> introduces </a:t>
            </a:r>
            <a:r>
              <a:rPr lang="en-US" b="1" dirty="0"/>
              <a:t>Foundry Routines</a:t>
            </a:r>
            <a:r>
              <a:rPr lang="en-US" dirty="0"/>
              <a:t> in public preview, providing a native trigger mechanism for automatically running published agents. Agents can now execute based on </a:t>
            </a:r>
            <a:r>
              <a:rPr lang="en-US" b="1" dirty="0"/>
              <a:t>recurring schedules, one-time delayed timers, or business events through supported connections</a:t>
            </a:r>
            <a:r>
              <a:rPr lang="en-US" dirty="0"/>
              <a:t>.</a:t>
            </a:r>
          </a:p>
          <a:p>
            <a:pPr algn="just"/>
            <a:r>
              <a:rPr lang="en-US" dirty="0"/>
              <a:t>Previously, automated agent execution often required additional components such as </a:t>
            </a:r>
            <a:r>
              <a:rPr lang="en-US" b="1" dirty="0"/>
              <a:t>Azure Logic Apps, Azure Functions, webhooks, queues, and custom storage</a:t>
            </a:r>
            <a:r>
              <a:rPr lang="en-US" dirty="0"/>
              <a:t>, together with separate identity and RBAC configuration. Foundry Routines reduces this integration overhead by keeping </a:t>
            </a:r>
            <a:r>
              <a:rPr lang="en-US" b="1" dirty="0"/>
              <a:t>triggers, agent execution, and observability within the same governed Foundry workspace</a:t>
            </a:r>
            <a:r>
              <a:rPr lang="en-US" dirty="0"/>
              <a:t>.</a:t>
            </a:r>
          </a:p>
          <a:p>
            <a:pPr algn="just"/>
            <a:r>
              <a:rPr lang="en-US" dirty="0"/>
              <a:t>The capability is particularly useful for </a:t>
            </a:r>
            <a:r>
              <a:rPr lang="en-US" b="1" dirty="0"/>
              <a:t>scheduled automation, event-driven business processes, background agent tasks, and autonomous workflows</a:t>
            </a:r>
            <a:r>
              <a:rPr lang="en-US" dirty="0"/>
              <a:t> where agents need to operate without direct user interaction. Keeping the trigger layer within Foundry also simplifies operational management and provides a more consistent </a:t>
            </a:r>
            <a:r>
              <a:rPr lang="en-US" b="1" dirty="0"/>
              <a:t>security, governance, and monitoring model</a:t>
            </a:r>
            <a:r>
              <a:rPr lang="en-US" dirty="0"/>
              <a:t> for enterprise agents.</a:t>
            </a:r>
          </a:p>
          <a:p>
            <a:pPr algn="just"/>
            <a:r>
              <a:rPr lang="en-US" dirty="0"/>
              <a:t>The feature is currently intended for </a:t>
            </a:r>
            <a:r>
              <a:rPr lang="en-US" b="1" dirty="0"/>
              <a:t>evaluation and is not covered by production SLAs</a:t>
            </a:r>
            <a:r>
              <a:rPr lang="en-US" dirty="0"/>
              <a:t>.</a:t>
            </a:r>
          </a:p>
          <a:p>
            <a:pPr algn="just"/>
            <a:endParaRPr lang="en-US" dirty="0"/>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Claude Opus 5.5 in Microsoft Foundry</a:t>
            </a:r>
            <a:endParaRPr lang="en-US" sz="1000" dirty="0"/>
          </a:p>
          <a:p>
            <a:pPr algn="just"/>
            <a:r>
              <a:rPr lang="en-US" sz="1000" b="1" dirty="0"/>
              <a:t>Anthropic Claude Opus 5.5</a:t>
            </a:r>
            <a:r>
              <a:rPr lang="en-US" sz="1000" dirty="0"/>
              <a:t> is now available in </a:t>
            </a:r>
            <a:r>
              <a:rPr lang="en-US" sz="1000" b="1" dirty="0"/>
              <a:t>Microsoft Foundry</a:t>
            </a:r>
            <a:r>
              <a:rPr lang="en-US" sz="1000" dirty="0"/>
              <a:t>, targeting demanding </a:t>
            </a:r>
            <a:r>
              <a:rPr lang="en-US" sz="1000" b="1" dirty="0"/>
              <a:t>long-running coding, agentic, and enterprise knowledge-work scenarios</a:t>
            </a:r>
            <a:r>
              <a:rPr lang="en-US" sz="1000" dirty="0"/>
              <a:t>. The model is designed for tasks that extend beyond individual prompts, such as working across large codebases, investigating complex issues, and synthesizing large collections of information over extended workflows. </a:t>
            </a:r>
          </a:p>
          <a:p>
            <a:pPr algn="just"/>
            <a:r>
              <a:rPr lang="en-US" sz="1000" dirty="0"/>
              <a:t>The model is particularly relevant for </a:t>
            </a:r>
            <a:r>
              <a:rPr lang="en-US" sz="1000" b="1" dirty="0"/>
              <a:t>software engineering and long-horizon agents</a:t>
            </a:r>
            <a:r>
              <a:rPr lang="en-US" sz="1000" dirty="0"/>
              <a:t>, where AI needs to plan work, use tools, maintain context, adapt its approach, and continue progressing through multi-step tasks. This makes it suitable for scenarios such as </a:t>
            </a:r>
            <a:r>
              <a:rPr lang="en-US" sz="1000" b="1" dirty="0"/>
              <a:t>repository-scale development, complex research, document analysis, and knowledge-intensive enterprise automation</a:t>
            </a:r>
            <a:r>
              <a:rPr lang="en-US" sz="1000" dirty="0"/>
              <a:t>. </a:t>
            </a:r>
          </a:p>
          <a:p>
            <a:pPr algn="just"/>
            <a:r>
              <a:rPr lang="en-US" sz="1000" dirty="0"/>
              <a:t>Within Microsoft Foundry, organizations can combine Claude Opus 5.5 with the platform’s </a:t>
            </a:r>
            <a:r>
              <a:rPr lang="en-US" sz="1000" b="1" dirty="0"/>
              <a:t>agent development, evaluation, observability, security, and governance capabilities</a:t>
            </a:r>
            <a:r>
              <a:rPr lang="en-US" sz="1000" dirty="0"/>
              <a:t>. The addition further expands Foundry’s multi-model strategy, allowing enterprises to select specialized models for complex workloads while managing them through a common Azure AI platform. </a:t>
            </a:r>
          </a:p>
          <a:p>
            <a:pPr algn="just"/>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a:xfrm>
            <a:off x="342900" y="855080"/>
            <a:ext cx="3955312" cy="3774069"/>
          </a:xfrm>
        </p:spPr>
        <p:txBody>
          <a:bodyPr/>
          <a:lstStyle/>
          <a:p>
            <a:pPr algn="just"/>
            <a:r>
              <a:rPr lang="en-US" dirty="0">
                <a:hlinkClick r:id="rId3"/>
              </a:rPr>
              <a:t>GPT-6 Astra, Sol and Luna in Microsoft Foundry (GA)</a:t>
            </a:r>
            <a:endParaRPr lang="en-US" dirty="0"/>
          </a:p>
          <a:p>
            <a:pPr algn="just"/>
            <a:r>
              <a:rPr lang="en-US" b="1" dirty="0"/>
              <a:t>Microsoft Foundry</a:t>
            </a:r>
            <a:r>
              <a:rPr lang="en-US" dirty="0"/>
              <a:t> has expanded its generally available </a:t>
            </a:r>
            <a:r>
              <a:rPr lang="en-US" b="1" dirty="0"/>
              <a:t>GPT-6 model family</a:t>
            </a:r>
            <a:r>
              <a:rPr lang="en-US" dirty="0"/>
              <a:t> with </a:t>
            </a:r>
            <a:r>
              <a:rPr lang="en-US" b="1" dirty="0"/>
              <a:t>GPT-6 Sol and GPT-6 Luna</a:t>
            </a:r>
            <a:r>
              <a:rPr lang="en-US" dirty="0"/>
              <a:t>, joining GPT-6 Astra to provide different capability, performance, and cost profiles for production AI agents. </a:t>
            </a:r>
            <a:r>
              <a:rPr lang="en-US" b="1" dirty="0"/>
              <a:t>Astra</a:t>
            </a:r>
            <a:r>
              <a:rPr lang="en-US" dirty="0"/>
              <a:t> targets demanding reasoning, software engineering, and computer-use workloads; </a:t>
            </a:r>
            <a:r>
              <a:rPr lang="en-US" b="1" dirty="0"/>
              <a:t>Sol</a:t>
            </a:r>
            <a:r>
              <a:rPr lang="en-US" dirty="0"/>
              <a:t> is positioned for general-purpose production agents, coding, long-context analysis, and multi-step workflows; while </a:t>
            </a:r>
            <a:r>
              <a:rPr lang="en-US" b="1" dirty="0"/>
              <a:t>Luna</a:t>
            </a:r>
            <a:r>
              <a:rPr lang="en-US" dirty="0"/>
              <a:t> is optimized for fast, high-volume tasks such as extraction, summarization, routing, and routine interactions.</a:t>
            </a:r>
          </a:p>
          <a:p>
            <a:pPr algn="just"/>
            <a:r>
              <a:rPr lang="en-US" dirty="0"/>
              <a:t>All three models support </a:t>
            </a:r>
            <a:r>
              <a:rPr lang="en-US" b="1" dirty="0"/>
              <a:t>Standard deployment across 28 Global regions and US/EU Data Zones</a:t>
            </a:r>
            <a:r>
              <a:rPr lang="en-US" dirty="0"/>
              <a:t>. </a:t>
            </a:r>
            <a:r>
              <a:rPr lang="en-US" b="1" dirty="0"/>
              <a:t>Provisioned Throughput</a:t>
            </a:r>
            <a:r>
              <a:rPr lang="en-US" dirty="0"/>
              <a:t> is available for Astra and Sol across Global and US/EU Data Zones, while </a:t>
            </a:r>
            <a:r>
              <a:rPr lang="en-US" b="1" dirty="0"/>
              <a:t>Priority Processing</a:t>
            </a:r>
            <a:r>
              <a:rPr lang="en-US" dirty="0"/>
              <a:t> is available for Sol across Global regions and the US Data Zone. </a:t>
            </a:r>
          </a:p>
          <a:p>
            <a:pPr algn="just"/>
            <a:r>
              <a:rPr lang="en-US" dirty="0"/>
              <a:t>The expanded lineup allows organizations to use different models within the same agent architecture—for example, using </a:t>
            </a:r>
            <a:r>
              <a:rPr lang="en-US" b="1" dirty="0"/>
              <a:t>Luna for high-volume routine processing and Astra for steps requiring deeper reasoning</a:t>
            </a:r>
            <a:r>
              <a:rPr lang="en-US" dirty="0"/>
              <a:t>. Foundry complements the models with enterprise capabilities including </a:t>
            </a:r>
            <a:r>
              <a:rPr lang="en-US" b="1" dirty="0"/>
              <a:t>evaluation, monitoring, guardrails, prompt-injection protections, identity and access controls, and Microsoft Purview integration</a:t>
            </a:r>
            <a:r>
              <a:rPr lang="en-US" dirty="0"/>
              <a:t>, helping teams move agent workloads from experimentation into governed production environments. </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2"/>
              </a:rPr>
              <a:t>Generally Available: Enable and disable controls for Microsoft Foundry agents in Agent 365</a:t>
            </a:r>
            <a:endParaRPr lang="en-US" dirty="0"/>
          </a:p>
          <a:p>
            <a:pPr algn="just"/>
            <a:r>
              <a:rPr lang="en-US" b="1" dirty="0"/>
              <a:t>Microsoft Foundry agents</a:t>
            </a:r>
            <a:r>
              <a:rPr lang="en-US" dirty="0"/>
              <a:t> can now be </a:t>
            </a:r>
            <a:r>
              <a:rPr lang="en-US" b="1" dirty="0"/>
              <a:t>enabled or disabled directly from the Agent 365 governance experience in Microsoft Admin Center</a:t>
            </a:r>
            <a:r>
              <a:rPr lang="en-US" dirty="0"/>
              <a:t>, with the capability generally available. Administrators can control whether individual Foundry agents are available across the organization </a:t>
            </a:r>
            <a:r>
              <a:rPr lang="en-US" b="1" dirty="0"/>
              <a:t>without requiring developer intervention</a:t>
            </a:r>
            <a:r>
              <a:rPr lang="en-US" dirty="0"/>
              <a:t>.</a:t>
            </a:r>
          </a:p>
          <a:p>
            <a:pPr algn="just"/>
            <a:r>
              <a:rPr lang="en-US" dirty="0"/>
              <a:t>The capability brings Foundry agents into the same centralized governance model used for other enterprise agent types, giving </a:t>
            </a:r>
            <a:r>
              <a:rPr lang="en-US" b="1" dirty="0"/>
              <a:t>IT, security, and governance teams</a:t>
            </a:r>
            <a:r>
              <a:rPr lang="en-US" dirty="0"/>
              <a:t> greater visibility and administrative control over the organization's complete AI agent estate. Administrative actions follow the established </a:t>
            </a:r>
            <a:r>
              <a:rPr lang="en-US" b="1" dirty="0"/>
              <a:t>elevation model</a:t>
            </a:r>
            <a:r>
              <a:rPr lang="en-US" dirty="0"/>
              <a:t> used for comparable agent application operations.</a:t>
            </a:r>
          </a:p>
          <a:p>
            <a:pPr algn="just"/>
            <a:r>
              <a:rPr lang="en-US" dirty="0"/>
              <a:t>This helps organizations enforce </a:t>
            </a:r>
            <a:r>
              <a:rPr lang="en-US" b="1" dirty="0"/>
              <a:t>security, compliance, and AI governance requirements</a:t>
            </a:r>
            <a:r>
              <a:rPr lang="en-US" dirty="0"/>
              <a:t> by centrally controlling which agents are active and available to users. Microsoft is also continuing to expand broader </a:t>
            </a:r>
            <a:r>
              <a:rPr lang="en-US" b="1" dirty="0"/>
              <a:t>Agent 365 and Microsoft Entra governance capabilities</a:t>
            </a:r>
            <a:r>
              <a:rPr lang="en-US" dirty="0"/>
              <a:t>, including block/unblock, delete/restore, and owner reassignment operations.</a:t>
            </a:r>
          </a:p>
          <a:p>
            <a:pPr algn="just"/>
            <a:endParaRPr lang="en-US" dirty="0"/>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5F9B1C-792B-99EC-B7CD-0AF8D296B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solidFill>
                  <a:schemeClr val="bg1"/>
                </a:solidFill>
              </a:rPr>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 (Preview)</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Introducing a Guided Copilot Experience for Building Azure Apps in VS Code</a:t>
            </a:r>
            <a:endParaRPr lang="en-US" dirty="0"/>
          </a:p>
          <a:p>
            <a:pPr algn="just"/>
            <a:r>
              <a:rPr lang="en-US" dirty="0"/>
              <a:t>Microsoft is previewing a new </a:t>
            </a:r>
            <a:r>
              <a:rPr lang="en-US" b="1" dirty="0"/>
              <a:t>guided GitHub Copilot experience in Visual Studio Code</a:t>
            </a:r>
            <a:r>
              <a:rPr lang="en-US" dirty="0"/>
              <a:t> designed to take developers from an </a:t>
            </a:r>
            <a:r>
              <a:rPr lang="en-US" b="1" dirty="0"/>
              <a:t>application idea to a deployed Azure workload</a:t>
            </a:r>
            <a:r>
              <a:rPr lang="en-US" dirty="0"/>
              <a:t> through a structured development workflow. Instead of relying on an open-ended Copilot conversation, the experience introduces a more predictable process with defined stages, checkpoints, and Azure-specific guidance.</a:t>
            </a:r>
          </a:p>
          <a:p>
            <a:pPr algn="just"/>
            <a:r>
              <a:rPr lang="en-US" dirty="0"/>
              <a:t>The goal is to address common issues with free-form AI development, where Copilot may generate application code but omit </a:t>
            </a:r>
            <a:r>
              <a:rPr lang="en-US" b="1" dirty="0"/>
              <a:t>infrastructure, deployment configuration, or other components required for a complete Azure solution</a:t>
            </a:r>
            <a:r>
              <a:rPr lang="en-US" dirty="0"/>
              <a:t>. The guided experience maintains application context across the workflow and helps coordinate </a:t>
            </a:r>
            <a:r>
              <a:rPr lang="en-US" b="1" dirty="0"/>
              <a:t>application scaffolding, Azure infrastructure, configuration, and deployment</a:t>
            </a:r>
            <a:r>
              <a:rPr lang="en-US" dirty="0"/>
              <a:t>.</a:t>
            </a:r>
          </a:p>
          <a:p>
            <a:pPr algn="just"/>
            <a:r>
              <a:rPr lang="en-US" dirty="0"/>
              <a:t>For development teams, this provides a more repeatable path for building cloud applications such as </a:t>
            </a:r>
            <a:r>
              <a:rPr lang="en-US" b="1" dirty="0"/>
              <a:t>APIs, web applications, and database-backed services</a:t>
            </a:r>
            <a:r>
              <a:rPr lang="en-US" dirty="0"/>
              <a:t> with GitHub Copilot. It can reduce manual setup and failed deployment iterations while making AI-assisted development more suitable for moving from </a:t>
            </a:r>
            <a:r>
              <a:rPr lang="en-US" b="1" dirty="0"/>
              <a:t>prototype to a running Azure application</a:t>
            </a:r>
            <a:r>
              <a:rPr lang="en-US" dirty="0"/>
              <a:t>.</a:t>
            </a:r>
          </a:p>
          <a:p>
            <a:pPr algn="just"/>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1882</TotalTime>
  <Words>3377</Words>
  <Application>Microsoft Office PowerPoint</Application>
  <PresentationFormat>On-screen Show (16:9)</PresentationFormat>
  <Paragraphs>110</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Human Sans</vt:lpstr>
      <vt:lpstr>Human Sans Regular</vt:lpstr>
      <vt:lpstr>Continuum Theme</vt:lpstr>
      <vt:lpstr>Azure Times #225</vt:lpstr>
      <vt:lpstr>PowerPoint Presentation</vt:lpstr>
      <vt:lpstr>Management &amp; Governance Updates (Preview)</vt:lpstr>
      <vt:lpstr>Management &amp; Governance Updates (General Available)</vt:lpstr>
      <vt:lpstr>PowerPoint Presentation</vt:lpstr>
      <vt:lpstr>Compute Updates (Preview)</vt:lpstr>
      <vt:lpstr>Compute Updates (Preview)</vt:lpstr>
      <vt:lpstr>Compute Updates (General Available)</vt:lpstr>
      <vt:lpstr>Compute Updates (General Available)</vt:lpstr>
      <vt:lpstr>Compute Updates (General Available)</vt:lpstr>
      <vt:lpstr>Compute Updates</vt:lpstr>
      <vt:lpstr>Compute Updates</vt:lpstr>
      <vt:lpstr>PowerPoint Presentation</vt:lpstr>
      <vt:lpstr>Databases Updates (Preview)</vt:lpstr>
      <vt:lpstr>Databases Updates (General Available)</vt:lpstr>
      <vt:lpstr>PowerPoint Presentation</vt:lpstr>
      <vt:lpstr>ML &amp; AI &amp; IOT Updates (Preview)</vt:lpstr>
      <vt:lpstr>ML &amp; AI &amp; IOT Updates (General Available)</vt:lpstr>
      <vt:lpstr>ML &amp; AI &amp; IOT Updates (General Available)</vt:lpstr>
      <vt:lpstr>PowerPoint Presentation</vt:lpstr>
      <vt:lpstr>DevOps &amp; IaC &amp; Automation (Preview)</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139</cp:revision>
  <dcterms:created xsi:type="dcterms:W3CDTF">2018-01-26T19:23:30Z</dcterms:created>
  <dcterms:modified xsi:type="dcterms:W3CDTF">2026-09-26T15:13:22Z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