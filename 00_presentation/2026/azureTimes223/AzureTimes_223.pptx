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2" r:id="rId4"/>
  </p:sldMasterIdLst>
  <p:notesMasterIdLst>
    <p:notesMasterId r:id="rId22"/>
  </p:notesMasterIdLst>
  <p:handoutMasterIdLst>
    <p:handoutMasterId r:id="rId23"/>
  </p:handoutMasterIdLst>
  <p:sldIdLst>
    <p:sldId id="2142532340" r:id="rId5"/>
    <p:sldId id="2146847048" r:id="rId6"/>
    <p:sldId id="2146847133" r:id="rId7"/>
    <p:sldId id="2146847050" r:id="rId8"/>
    <p:sldId id="2146847096" r:id="rId9"/>
    <p:sldId id="2146847135" r:id="rId10"/>
    <p:sldId id="2146847136" r:id="rId11"/>
    <p:sldId id="2146847052" r:id="rId12"/>
    <p:sldId id="2146847100" r:id="rId13"/>
    <p:sldId id="2146847138" r:id="rId14"/>
    <p:sldId id="2146847058" r:id="rId15"/>
    <p:sldId id="2146847147" r:id="rId16"/>
    <p:sldId id="2146847119" r:id="rId17"/>
    <p:sldId id="2146847151" r:id="rId18"/>
    <p:sldId id="2146847085" r:id="rId19"/>
    <p:sldId id="2146847084" r:id="rId20"/>
    <p:sldId id="2146847064" r:id="rId21"/>
  </p:sldIdLst>
  <p:sldSz cx="9144000" cy="5143500" type="screen16x9"/>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A752CF65-4D58-4370-B229-5F4CB000B44D}">
          <p14:sldIdLst>
            <p14:sldId id="2142532340"/>
          </p14:sldIdLst>
        </p14:section>
        <p14:section name="Networking" id="{8B3AEA99-85F7-477B-B976-48DC47AA1A88}">
          <p14:sldIdLst/>
        </p14:section>
        <p14:section name="Security &amp; Identity" id="{1AA42572-B3BD-44F7-813B-C2C647DDBB3C}">
          <p14:sldIdLst/>
        </p14:section>
        <p14:section name="Management &amp; Governance" id="{34181601-6D48-4406-A525-C7B5A12C6C5B}">
          <p14:sldIdLst>
            <p14:sldId id="2146847048"/>
            <p14:sldId id="2146847133"/>
          </p14:sldIdLst>
        </p14:section>
        <p14:section name="Compute" id="{05AA80BB-8802-49AB-8336-A884227CE2F7}">
          <p14:sldIdLst>
            <p14:sldId id="2146847050"/>
            <p14:sldId id="2146847096"/>
            <p14:sldId id="2146847135"/>
            <p14:sldId id="2146847136"/>
          </p14:sldIdLst>
        </p14:section>
        <p14:section name="Storage &amp; Data" id="{1F159046-CE0A-45BC-9D5B-6E6C95980F78}">
          <p14:sldIdLst>
            <p14:sldId id="2146847052"/>
            <p14:sldId id="2146847100"/>
            <p14:sldId id="2146847138"/>
          </p14:sldIdLst>
        </p14:section>
        <p14:section name="Databases" id="{AEAFAE72-AD56-48F3-926B-38BAE269038F}">
          <p14:sldIdLst/>
        </p14:section>
        <p14:section name="Integration" id="{ACBD46A3-6F1C-451B-A154-0A056E0DEFF6}">
          <p14:sldIdLst/>
        </p14:section>
        <p14:section name="ML &amp; AI &amp; IOT" id="{F4E1EAF1-55E9-4CA4-8ADC-28B69C1D66D2}">
          <p14:sldIdLst>
            <p14:sldId id="2146847058"/>
            <p14:sldId id="2146847147"/>
          </p14:sldIdLst>
        </p14:section>
        <p14:section name="DevOps &amp; IaC &amp; Automation" id="{A1B23FE8-BD24-477B-81AD-FE484F08F197}">
          <p14:sldIdLst>
            <p14:sldId id="2146847119"/>
            <p14:sldId id="2146847151"/>
          </p14:sldIdLst>
        </p14:section>
        <p14:section name="Miscellaneous" id="{A1456D7A-93BE-4023-90AA-7269D2F177BA}">
          <p14:sldIdLst/>
        </p14:section>
        <p14:section name="End" id="{82899442-2AC4-4699-95EB-48D45B913575}">
          <p14:sldIdLst>
            <p14:sldId id="2146847085"/>
            <p14:sldId id="2146847084"/>
            <p14:sldId id="2146847064"/>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736" userDrawn="1">
          <p15:clr>
            <a:srgbClr val="A4A3A4"/>
          </p15:clr>
        </p15:guide>
        <p15:guide id="2" pos="1477"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Emily Catuzzi" initials="EC" lastIdx="19" clrIdx="9">
    <p:extLst>
      <p:ext uri="{19B8F6BF-5375-455C-9EA6-DF929625EA0E}">
        <p15:presenceInfo xmlns:p15="http://schemas.microsoft.com/office/powerpoint/2012/main" userId="S::Emily_Catuzzi@epam.com::b46d6ad4-ac70-4125-82a7-0ece5134c360" providerId="AD"/>
      </p:ext>
    </p:extLst>
  </p:cmAuthor>
  <p:cmAuthor id="1" name="Laura Brady" initials="LB" lastIdx="52" clrIdx="3">
    <p:extLst>
      <p:ext uri="{19B8F6BF-5375-455C-9EA6-DF929625EA0E}">
        <p15:presenceInfo xmlns:p15="http://schemas.microsoft.com/office/powerpoint/2012/main" userId="S::Laura_Brady@epam.com::b18c91b0-83fb-4c27-875b-18626d50463b" providerId="AD"/>
      </p:ext>
    </p:extLst>
  </p:cmAuthor>
  <p:cmAuthor id="8" name="Gretchen Rice" initials="GR" lastIdx="4" clrIdx="10">
    <p:extLst>
      <p:ext uri="{19B8F6BF-5375-455C-9EA6-DF929625EA0E}">
        <p15:presenceInfo xmlns:p15="http://schemas.microsoft.com/office/powerpoint/2012/main" userId="S::gretchen_rice@epam.com::e279efbb-a837-440d-b0bd-684dd084c605" providerId="AD"/>
      </p:ext>
    </p:extLst>
  </p:cmAuthor>
  <p:cmAuthor id="2" name="Amy Legere" initials="AL" lastIdx="5" clrIdx="5">
    <p:extLst>
      <p:ext uri="{19B8F6BF-5375-455C-9EA6-DF929625EA0E}">
        <p15:presenceInfo xmlns:p15="http://schemas.microsoft.com/office/powerpoint/2012/main" userId="S::Amy_Legere@epam.com::36c3e91a-2059-4c30-8d42-5285dd7a2555" providerId="AD"/>
      </p:ext>
    </p:extLst>
  </p:cmAuthor>
  <p:cmAuthor id="9" name="Jennifer Markowitz" initials="JM" lastIdx="1" clrIdx="11">
    <p:extLst>
      <p:ext uri="{19B8F6BF-5375-455C-9EA6-DF929625EA0E}">
        <p15:presenceInfo xmlns:p15="http://schemas.microsoft.com/office/powerpoint/2012/main" userId="S::jennifer_markowitz@epam.com::f9148081-3671-49e1-8328-0a911bc72bfd" providerId="AD"/>
      </p:ext>
    </p:extLst>
  </p:cmAuthor>
  <p:cmAuthor id="3" name="John Hatz" initials="JH" lastIdx="1" clrIdx="4">
    <p:extLst>
      <p:ext uri="{19B8F6BF-5375-455C-9EA6-DF929625EA0E}">
        <p15:presenceInfo xmlns:p15="http://schemas.microsoft.com/office/powerpoint/2012/main" userId="S-1-5-21-2676001572-3131771074-2776907194-23347" providerId="AD"/>
      </p:ext>
    </p:extLst>
  </p:cmAuthor>
  <p:cmAuthor id="10" name="Nastassia Smolskaya" initials="NS" lastIdx="11" clrIdx="12">
    <p:extLst>
      <p:ext uri="{19B8F6BF-5375-455C-9EA6-DF929625EA0E}">
        <p15:presenceInfo xmlns:p15="http://schemas.microsoft.com/office/powerpoint/2012/main" userId="S::Nastassia_Smolskaya@epam.com::8ff1f7bc-3066-491e-a683-ea021ab0c825" providerId="AD"/>
      </p:ext>
    </p:extLst>
  </p:cmAuthor>
  <p:cmAuthor id="4" name="John Hatz" initials="JH [2]" lastIdx="3" clrIdx="6">
    <p:extLst>
      <p:ext uri="{19B8F6BF-5375-455C-9EA6-DF929625EA0E}">
        <p15:presenceInfo xmlns:p15="http://schemas.microsoft.com/office/powerpoint/2012/main" userId="S::john_hatz@epam.com::7f3a8b4b-4b1e-493d-b3f9-196adf0a1de0" providerId="AD"/>
      </p:ext>
    </p:extLst>
  </p:cmAuthor>
  <p:cmAuthor id="5" name="Mariette Kouwenberg-Mooney" initials="MK" lastIdx="19" clrIdx="7">
    <p:extLst>
      <p:ext uri="{19B8F6BF-5375-455C-9EA6-DF929625EA0E}">
        <p15:presenceInfo xmlns:p15="http://schemas.microsoft.com/office/powerpoint/2012/main" userId="S::Mariette_Kouwenberg-Mooney@epam.com::e2a13c51-a5c6-436b-ad7f-addd34212f51" providerId="AD"/>
      </p:ext>
    </p:extLst>
  </p:cmAuthor>
  <p:cmAuthor id="6" name="Julie Hansberry" initials="JH" lastIdx="13" clrIdx="8">
    <p:extLst>
      <p:ext uri="{19B8F6BF-5375-455C-9EA6-DF929625EA0E}">
        <p15:presenceInfo xmlns:p15="http://schemas.microsoft.com/office/powerpoint/2012/main" userId="S::julie_hansberry@epam.com::6cd6a8f9-b761-4260-92e9-1b9e9757868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6CBD"/>
    <a:srgbClr val="002050"/>
    <a:srgbClr val="F25D43"/>
    <a:srgbClr val="CADC49"/>
    <a:srgbClr val="E53B2E"/>
    <a:srgbClr val="FFC000"/>
    <a:srgbClr val="D35D47"/>
    <a:srgbClr val="008ACF"/>
    <a:srgbClr val="76CDD8"/>
    <a:srgbClr val="75A0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B79132-3F09-4EB7-9156-AFD2ABE5B897}" v="37" dt="2021-04-12T18:27:46.9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91" autoAdjust="0"/>
    <p:restoredTop sz="94694"/>
  </p:normalViewPr>
  <p:slideViewPr>
    <p:cSldViewPr snapToGrid="0">
      <p:cViewPr varScale="1">
        <p:scale>
          <a:sx n="138" d="100"/>
          <a:sy n="138" d="100"/>
        </p:scale>
        <p:origin x="2688" y="120"/>
      </p:cViewPr>
      <p:guideLst/>
    </p:cSldViewPr>
  </p:slideViewPr>
  <p:notesTextViewPr>
    <p:cViewPr>
      <p:scale>
        <a:sx n="1" d="1"/>
        <a:sy n="1" d="1"/>
      </p:scale>
      <p:origin x="0" y="0"/>
    </p:cViewPr>
  </p:notesTextViewPr>
  <p:notesViewPr>
    <p:cSldViewPr snapToGrid="0">
      <p:cViewPr varScale="1">
        <p:scale>
          <a:sx n="121" d="100"/>
          <a:sy n="121" d="100"/>
        </p:scale>
        <p:origin x="7662" y="90"/>
      </p:cViewPr>
      <p:guideLst>
        <p:guide orient="horz" pos="2736"/>
        <p:guide pos="1477"/>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FDC14FC-A894-4869-A797-1EC82735D106}" type="datetimeFigureOut">
              <a:rPr lang="en-US" smtClean="0"/>
              <a:t>9/12/2026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CD33E97-F2BE-44DB-A57D-0C85E2CBF508}" type="slidenum">
              <a:rPr lang="en-US" smtClean="0"/>
              <a:t>‹#›</a:t>
            </a:fld>
            <a:endParaRPr lang="en-US"/>
          </a:p>
        </p:txBody>
      </p:sp>
    </p:spTree>
    <p:extLst>
      <p:ext uri="{BB962C8B-B14F-4D97-AF65-F5344CB8AC3E}">
        <p14:creationId xmlns:p14="http://schemas.microsoft.com/office/powerpoint/2010/main" val="29677781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F99C05-63F9-4248-8E20-3ACD9DF9DE7F}" type="datetimeFigureOut">
              <a:rPr lang="en-US" smtClean="0"/>
              <a:t>9/12/2026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74FABB-6DBE-47C4-B626-20167906F475}" type="slidenum">
              <a:rPr lang="en-US" smtClean="0"/>
              <a:t>‹#›</a:t>
            </a:fld>
            <a:endParaRPr lang="en-US"/>
          </a:p>
        </p:txBody>
      </p:sp>
    </p:spTree>
    <p:extLst>
      <p:ext uri="{BB962C8B-B14F-4D97-AF65-F5344CB8AC3E}">
        <p14:creationId xmlns:p14="http://schemas.microsoft.com/office/powerpoint/2010/main" val="4274864021"/>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74FABB-6DBE-47C4-B626-20167906F475}" type="slidenum">
              <a:rPr lang="en-US" smtClean="0"/>
              <a:t>1</a:t>
            </a:fld>
            <a:endParaRPr lang="en-US"/>
          </a:p>
        </p:txBody>
      </p:sp>
    </p:spTree>
    <p:extLst>
      <p:ext uri="{BB962C8B-B14F-4D97-AF65-F5344CB8AC3E}">
        <p14:creationId xmlns:p14="http://schemas.microsoft.com/office/powerpoint/2010/main" val="41441448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Cover Text">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42900" y="1200151"/>
            <a:ext cx="8458200" cy="2228850"/>
          </a:xfrm>
        </p:spPr>
        <p:txBody>
          <a:bodyPr lIns="0" tIns="0" rIns="0" bIns="0" anchor="b">
            <a:noAutofit/>
          </a:bodyPr>
          <a:lstStyle>
            <a:lvl1pPr algn="l">
              <a:lnSpc>
                <a:spcPct val="85000"/>
              </a:lnSpc>
              <a:defRPr sz="9000" b="0" i="0">
                <a:solidFill>
                  <a:schemeClr val="accent3"/>
                </a:solidFill>
                <a:latin typeface="+mj-lt"/>
                <a:ea typeface="Human Sans Thin" pitchFamily="2" charset="77"/>
                <a:cs typeface="Human Sans Thin" pitchFamily="2" charset="77"/>
              </a:defRPr>
            </a:lvl1pPr>
          </a:lstStyle>
          <a:p>
            <a:r>
              <a:rPr lang="en-US"/>
              <a:t>Proposal</a:t>
            </a:r>
            <a:br>
              <a:rPr lang="en-US"/>
            </a:br>
            <a:r>
              <a:rPr lang="en-US"/>
              <a:t>Title</a:t>
            </a:r>
          </a:p>
        </p:txBody>
      </p:sp>
      <p:sp>
        <p:nvSpPr>
          <p:cNvPr id="8" name="Text Placeholder 7"/>
          <p:cNvSpPr>
            <a:spLocks noGrp="1"/>
          </p:cNvSpPr>
          <p:nvPr>
            <p:ph type="body" sz="quarter" idx="11" hasCustomPrompt="1"/>
          </p:nvPr>
        </p:nvSpPr>
        <p:spPr>
          <a:xfrm>
            <a:off x="342900" y="3600450"/>
            <a:ext cx="8455914" cy="171450"/>
          </a:xfrm>
        </p:spPr>
        <p:txBody>
          <a:bodyPr lIns="0" tIns="0" rIns="0" bIns="0" anchor="t">
            <a:noAutofit/>
          </a:bodyPr>
          <a:lstStyle>
            <a:lvl1pPr marL="0" indent="0">
              <a:lnSpc>
                <a:spcPct val="100000"/>
              </a:lnSpc>
              <a:spcBef>
                <a:spcPts val="0"/>
              </a:spcBef>
              <a:spcAft>
                <a:spcPts val="0"/>
              </a:spcAft>
              <a:buNone/>
              <a:defRPr sz="1200" b="0" i="0" baseline="0">
                <a:solidFill>
                  <a:schemeClr val="bg1"/>
                </a:solidFill>
                <a:latin typeface="+mn-lt"/>
                <a:ea typeface="Calibri" panose="020F0502020204030204" pitchFamily="34" charset="0"/>
                <a:cs typeface="Calibri" panose="020F0502020204030204" pitchFamily="34" charset="0"/>
              </a:defRPr>
            </a:lvl1pPr>
            <a:lvl2pPr>
              <a:defRPr sz="1200">
                <a:solidFill>
                  <a:schemeClr val="bg1"/>
                </a:solidFill>
              </a:defRPr>
            </a:lvl2pPr>
            <a:lvl3pPr>
              <a:defRPr sz="1200">
                <a:solidFill>
                  <a:schemeClr val="bg1"/>
                </a:solidFill>
              </a:defRPr>
            </a:lvl3pPr>
            <a:lvl4pPr>
              <a:defRPr sz="1200">
                <a:solidFill>
                  <a:schemeClr val="bg1"/>
                </a:solidFill>
              </a:defRPr>
            </a:lvl4pPr>
            <a:lvl5pPr>
              <a:defRPr sz="1200">
                <a:solidFill>
                  <a:schemeClr val="bg1"/>
                </a:solidFill>
              </a:defRPr>
            </a:lvl5pPr>
          </a:lstStyle>
          <a:p>
            <a:r>
              <a:rPr lang="en-US"/>
              <a:t>Subtitle description</a:t>
            </a:r>
          </a:p>
        </p:txBody>
      </p:sp>
      <p:sp>
        <p:nvSpPr>
          <p:cNvPr id="5" name="Text Placeholder 4"/>
          <p:cNvSpPr>
            <a:spLocks noGrp="1"/>
          </p:cNvSpPr>
          <p:nvPr>
            <p:ph type="body" sz="quarter" idx="12" hasCustomPrompt="1"/>
          </p:nvPr>
        </p:nvSpPr>
        <p:spPr>
          <a:xfrm>
            <a:off x="342900" y="3864095"/>
            <a:ext cx="1988344" cy="171450"/>
          </a:xfrm>
        </p:spPr>
        <p:txBody>
          <a:bodyPr/>
          <a:lstStyle>
            <a:lvl1pPr>
              <a:lnSpc>
                <a:spcPct val="100000"/>
              </a:lnSpc>
              <a:spcBef>
                <a:spcPts val="0"/>
              </a:spcBef>
              <a:defRPr sz="900" b="0" i="0" cap="all" baseline="0">
                <a:solidFill>
                  <a:schemeClr val="bg1"/>
                </a:solidFill>
                <a:latin typeface="+mn-lt"/>
              </a:defRPr>
            </a:lvl1pPr>
          </a:lstStyle>
          <a:p>
            <a:pPr lvl="0"/>
            <a:r>
              <a:rPr lang="en-US"/>
              <a:t>Date</a:t>
            </a:r>
          </a:p>
        </p:txBody>
      </p:sp>
    </p:spTree>
    <p:extLst>
      <p:ext uri="{BB962C8B-B14F-4D97-AF65-F5344CB8AC3E}">
        <p14:creationId xmlns:p14="http://schemas.microsoft.com/office/powerpoint/2010/main" val="3037779421"/>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p:bg>
      <p:bgPr>
        <a:solidFill>
          <a:schemeClr val="tx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342901" y="3429000"/>
            <a:ext cx="4148137" cy="1200150"/>
          </a:xfrm>
        </p:spPr>
        <p:txBody>
          <a:bodyPr lIns="0" tIns="0" rIns="0" bIns="0" anchor="t">
            <a:normAutofit/>
          </a:bodyPr>
          <a:lstStyle>
            <a:lvl1pPr marL="0" indent="0" algn="l">
              <a:lnSpc>
                <a:spcPct val="110000"/>
              </a:lnSpc>
              <a:spcBef>
                <a:spcPts val="450"/>
              </a:spcBef>
              <a:spcAft>
                <a:spcPts val="0"/>
              </a:spcAft>
              <a:buNone/>
              <a:defRPr sz="900" b="0" i="0" baseline="0">
                <a:solidFill>
                  <a:schemeClr val="bg1"/>
                </a:solidFill>
                <a:latin typeface="+mn-lt"/>
                <a:ea typeface="Calibri" panose="020F0502020204030204" pitchFamily="34" charset="0"/>
                <a:cs typeface="Calibri" panose="020F0502020204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type section description</a:t>
            </a:r>
          </a:p>
        </p:txBody>
      </p:sp>
      <p:sp>
        <p:nvSpPr>
          <p:cNvPr id="8" name="Text Placeholder 7"/>
          <p:cNvSpPr>
            <a:spLocks noGrp="1"/>
          </p:cNvSpPr>
          <p:nvPr>
            <p:ph type="body" sz="quarter" idx="12" hasCustomPrompt="1"/>
          </p:nvPr>
        </p:nvSpPr>
        <p:spPr>
          <a:xfrm>
            <a:off x="342901" y="2743200"/>
            <a:ext cx="6299597" cy="514350"/>
          </a:xfrm>
        </p:spPr>
        <p:txBody>
          <a:bodyPr/>
          <a:lstStyle>
            <a:lvl1pPr marL="0" indent="0">
              <a:lnSpc>
                <a:spcPct val="100000"/>
              </a:lnSpc>
              <a:spcBef>
                <a:spcPts val="0"/>
              </a:spcBef>
              <a:spcAft>
                <a:spcPts val="0"/>
              </a:spcAft>
              <a:buNone/>
              <a:defRPr sz="3600" b="0" i="0" baseline="0">
                <a:solidFill>
                  <a:schemeClr val="accent3"/>
                </a:solidFill>
                <a:latin typeface="+mj-lt"/>
                <a:ea typeface="Calibri Light" charset="0"/>
                <a:cs typeface="Calibri Light" charset="0"/>
              </a:defRPr>
            </a:lvl1pPr>
          </a:lstStyle>
          <a:p>
            <a:pPr lvl="0"/>
            <a:r>
              <a:rPr lang="en-US"/>
              <a:t>Section Header</a:t>
            </a:r>
          </a:p>
        </p:txBody>
      </p:sp>
      <p:sp>
        <p:nvSpPr>
          <p:cNvPr id="11" name="Text Placeholder 10"/>
          <p:cNvSpPr>
            <a:spLocks noGrp="1"/>
          </p:cNvSpPr>
          <p:nvPr>
            <p:ph type="body" sz="quarter" idx="13" hasCustomPrompt="1"/>
          </p:nvPr>
        </p:nvSpPr>
        <p:spPr>
          <a:xfrm>
            <a:off x="252845" y="1285875"/>
            <a:ext cx="4148138" cy="1714500"/>
          </a:xfrm>
        </p:spPr>
        <p:txBody>
          <a:bodyPr wrap="square" anchor="b"/>
          <a:lstStyle>
            <a:lvl1pPr>
              <a:lnSpc>
                <a:spcPct val="100000"/>
              </a:lnSpc>
              <a:spcBef>
                <a:spcPts val="0"/>
              </a:spcBef>
              <a:spcAft>
                <a:spcPts val="0"/>
              </a:spcAft>
              <a:defRPr sz="16500" b="0" i="0">
                <a:solidFill>
                  <a:schemeClr val="accent3"/>
                </a:solidFill>
                <a:latin typeface="+mj-lt"/>
                <a:ea typeface="Human Sans Thin" pitchFamily="2" charset="77"/>
                <a:cs typeface="Human Sans Thin" pitchFamily="2" charset="77"/>
              </a:defRPr>
            </a:lvl1pPr>
          </a:lstStyle>
          <a:p>
            <a:pPr lvl="0"/>
            <a:r>
              <a:rPr lang="en-US"/>
              <a:t>0</a:t>
            </a:r>
          </a:p>
        </p:txBody>
      </p:sp>
      <p:sp>
        <p:nvSpPr>
          <p:cNvPr id="7" name="Slide Number Placeholder 13"/>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solidFill>
                  <a:schemeClr val="bg1"/>
                </a:solidFill>
                <a:latin typeface="+mn-lt"/>
              </a:rPr>
              <a:pPr/>
              <a:t>‹#›</a:t>
            </a:fld>
            <a:endParaRPr lang="en-US" sz="600" b="0" i="0">
              <a:solidFill>
                <a:schemeClr val="bg1"/>
              </a:solidFill>
              <a:latin typeface="+mn-lt"/>
            </a:endParaRPr>
          </a:p>
        </p:txBody>
      </p:sp>
    </p:spTree>
    <p:extLst>
      <p:ext uri="{BB962C8B-B14F-4D97-AF65-F5344CB8AC3E}">
        <p14:creationId xmlns:p14="http://schemas.microsoft.com/office/powerpoint/2010/main" val="2513291986"/>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3583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8"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3330546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8"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33213973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7022306" cy="3774069"/>
          </a:xfrm>
        </p:spPr>
        <p:txBody>
          <a:bodyPr lIns="0" tIns="0" rIns="0" bIns="0"/>
          <a:lstStyle>
            <a:lvl1pPr marL="0" indent="0">
              <a:lnSpc>
                <a:spcPct val="110000"/>
              </a:lnSpc>
              <a:spcAft>
                <a:spcPts val="0"/>
              </a:spcAft>
              <a:buNone/>
              <a:tabLst>
                <a:tab pos="2438400" algn="l"/>
              </a:tabLst>
              <a:defRPr sz="1200" b="0" i="0" baseline="0">
                <a:latin typeface="+mn-lt"/>
              </a:defRPr>
            </a:lvl1pPr>
            <a:lvl2pPr marL="342900" indent="0">
              <a:buNone/>
              <a:defRPr/>
            </a:lvl2pPr>
            <a:lvl3pPr marL="685800" indent="0">
              <a:buNone/>
              <a:defRPr/>
            </a:lvl3pPr>
            <a:lvl4pPr marL="1028700" indent="0">
              <a:buNone/>
              <a:defRPr/>
            </a:lvl4pPr>
            <a:lvl5pPr marL="1371600" indent="0">
              <a:buNone/>
              <a:defRPr/>
            </a:lvl5pPr>
          </a:lstStyle>
          <a:p>
            <a:pPr lvl="0"/>
            <a:r>
              <a:rPr lang="en-US"/>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2402786929"/>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4433776" y="855080"/>
            <a:ext cx="4365038" cy="3774069"/>
          </a:xfrm>
        </p:spPr>
        <p:txBody>
          <a:bodyPr lIns="0" tIns="0" rIns="0" bIns="0"/>
          <a:lstStyle>
            <a:lvl1pPr marL="0" indent="0">
              <a:lnSpc>
                <a:spcPct val="110000"/>
              </a:lnSpc>
              <a:spcAft>
                <a:spcPts val="0"/>
              </a:spcAft>
              <a:buNone/>
              <a:tabLst>
                <a:tab pos="2438400" algn="l"/>
              </a:tabLst>
              <a:defRPr sz="12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j-lt"/>
              </a:defRPr>
            </a:lvl1pPr>
          </a:lstStyle>
          <a:p>
            <a:r>
              <a:rPr lang="en-US" dirty="0"/>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j-lt"/>
              </a:defRPr>
            </a:lvl1pPr>
          </a:lstStyle>
          <a:p>
            <a:pPr lvl="0"/>
            <a:r>
              <a:rPr lang="en-US"/>
              <a:t>Click to add section title</a:t>
            </a:r>
          </a:p>
        </p:txBody>
      </p:sp>
      <p:sp>
        <p:nvSpPr>
          <p:cNvPr id="6" name="Text Placeholder 9">
            <a:extLst>
              <a:ext uri="{FF2B5EF4-FFF2-40B4-BE49-F238E27FC236}">
                <a16:creationId xmlns:a16="http://schemas.microsoft.com/office/drawing/2014/main" id="{47BF3F39-D94F-BC48-8482-2214B9D8033C}"/>
              </a:ext>
            </a:extLst>
          </p:cNvPr>
          <p:cNvSpPr>
            <a:spLocks noGrp="1"/>
          </p:cNvSpPr>
          <p:nvPr>
            <p:ph type="body" sz="quarter" idx="16"/>
          </p:nvPr>
        </p:nvSpPr>
        <p:spPr>
          <a:xfrm>
            <a:off x="342900" y="855080"/>
            <a:ext cx="3955312" cy="3774069"/>
          </a:xfrm>
        </p:spPr>
        <p:txBody>
          <a:bodyPr lIns="0" tIns="0" rIns="0" bIns="0"/>
          <a:lstStyle>
            <a:lvl1pPr marL="0" indent="0">
              <a:lnSpc>
                <a:spcPct val="110000"/>
              </a:lnSpc>
              <a:spcAft>
                <a:spcPts val="0"/>
              </a:spcAft>
              <a:buNone/>
              <a:tabLst>
                <a:tab pos="2438400" algn="l"/>
              </a:tabLst>
              <a:defRPr sz="10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Tree>
    <p:extLst>
      <p:ext uri="{BB962C8B-B14F-4D97-AF65-F5344CB8AC3E}">
        <p14:creationId xmlns:p14="http://schemas.microsoft.com/office/powerpoint/2010/main" val="2291217687"/>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8455914" cy="3774069"/>
          </a:xfrm>
        </p:spPr>
        <p:txBody>
          <a:bodyPr lIns="0" tIns="0" rIns="0" bIns="0"/>
          <a:lstStyle>
            <a:lvl1pPr marL="0" indent="0">
              <a:lnSpc>
                <a:spcPct val="110000"/>
              </a:lnSpc>
              <a:spcAft>
                <a:spcPts val="0"/>
              </a:spcAft>
              <a:buNone/>
              <a:tabLst>
                <a:tab pos="2438400" algn="l"/>
              </a:tabLst>
              <a:defRPr sz="10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2858222598"/>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itle + Text">
    <p:bg>
      <p:bgPr>
        <a:solidFill>
          <a:schemeClr val="tx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8455914" cy="3774069"/>
          </a:xfrm>
        </p:spPr>
        <p:txBody>
          <a:bodyPr lIns="0" tIns="0" rIns="0" bIns="0"/>
          <a:lstStyle>
            <a:lvl1pPr marL="0" indent="0">
              <a:lnSpc>
                <a:spcPct val="110000"/>
              </a:lnSpc>
              <a:spcAft>
                <a:spcPts val="0"/>
              </a:spcAft>
              <a:buNone/>
              <a:tabLst>
                <a:tab pos="2438400" algn="l"/>
              </a:tabLst>
              <a:defRPr sz="6600" b="0" i="0" baseline="0">
                <a:solidFill>
                  <a:schemeClr val="bg1"/>
                </a:solidFill>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a:t>Edit Master text styles</a:t>
            </a:r>
          </a:p>
        </p:txBody>
      </p:sp>
      <p:sp>
        <p:nvSpPr>
          <p:cNvPr id="11" name="Title 1"/>
          <p:cNvSpPr>
            <a:spLocks noGrp="1"/>
          </p:cNvSpPr>
          <p:nvPr>
            <p:ph type="title"/>
          </p:nvPr>
        </p:nvSpPr>
        <p:spPr>
          <a:xfrm>
            <a:off x="342900" y="342900"/>
            <a:ext cx="8455914" cy="342900"/>
          </a:xfrm>
        </p:spPr>
        <p:txBody>
          <a:bodyPr/>
          <a:lstStyle>
            <a:lvl1pPr>
              <a:defRPr b="1">
                <a:solidFill>
                  <a:schemeClr val="bg1"/>
                </a:solidFill>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
        <p:nvSpPr>
          <p:cNvPr id="8" name="Slide Number Placeholder 13">
            <a:extLst>
              <a:ext uri="{FF2B5EF4-FFF2-40B4-BE49-F238E27FC236}">
                <a16:creationId xmlns:a16="http://schemas.microsoft.com/office/drawing/2014/main" id="{841CA2A1-3D39-2344-A5FA-9709C1FE6425}"/>
              </a:ext>
            </a:extLst>
          </p:cNvPr>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solidFill>
                  <a:schemeClr val="bg1"/>
                </a:solidFill>
                <a:latin typeface="Human Sans Regular" pitchFamily="2" charset="77"/>
              </a:rPr>
              <a:pPr/>
              <a:t>‹#›</a:t>
            </a:fld>
            <a:endParaRPr lang="en-US" sz="600" b="0" i="0">
              <a:solidFill>
                <a:schemeClr val="bg1"/>
              </a:solidFill>
              <a:latin typeface="Human Sans Regular" pitchFamily="2" charset="77"/>
            </a:endParaRPr>
          </a:p>
        </p:txBody>
      </p:sp>
    </p:spTree>
    <p:extLst>
      <p:ext uri="{BB962C8B-B14F-4D97-AF65-F5344CB8AC3E}">
        <p14:creationId xmlns:p14="http://schemas.microsoft.com/office/powerpoint/2010/main" val="1481691825"/>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2901" y="342900"/>
            <a:ext cx="7020408" cy="3429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42901" y="859971"/>
            <a:ext cx="7022306" cy="3769178"/>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13"/>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latin typeface="Calibri" panose="020F0502020204030204" pitchFamily="34" charset="0"/>
                <a:cs typeface="Calibri" panose="020F0502020204030204" pitchFamily="34" charset="0"/>
              </a:rPr>
              <a:pPr/>
              <a:t>‹#›</a:t>
            </a:fld>
            <a:endParaRPr lang="en-US" sz="600" b="0" i="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27938063"/>
      </p:ext>
    </p:extLst>
  </p:cSld>
  <p:clrMap bg1="lt1" tx1="dk1" bg2="lt2" tx2="dk2" accent1="accent1" accent2="accent2" accent3="accent3" accent4="accent4" accent5="accent5" accent6="accent6" hlink="hlink" folHlink="folHlink"/>
  <p:sldLayoutIdLst>
    <p:sldLayoutId id="2147483863" r:id="rId1"/>
    <p:sldLayoutId id="2147483816" r:id="rId2"/>
    <p:sldLayoutId id="2147483822" r:id="rId3"/>
    <p:sldLayoutId id="2147483823" r:id="rId4"/>
    <p:sldLayoutId id="2147483824" r:id="rId5"/>
    <p:sldLayoutId id="2147483825" r:id="rId6"/>
    <p:sldLayoutId id="2147483826" r:id="rId7"/>
    <p:sldLayoutId id="2147483828" r:id="rId8"/>
    <p:sldLayoutId id="2147483829" r:id="rId9"/>
  </p:sldLayoutIdLst>
  <p:hf hdr="0" dt="0"/>
  <p:txStyles>
    <p:titleStyle>
      <a:lvl1pPr algn="l" defTabSz="685800" rtl="0" eaLnBrk="1" latinLnBrk="0" hangingPunct="1">
        <a:lnSpc>
          <a:spcPct val="100000"/>
        </a:lnSpc>
        <a:spcBef>
          <a:spcPct val="0"/>
        </a:spcBef>
        <a:buNone/>
        <a:defRPr sz="1650" b="0" i="0" kern="1200">
          <a:solidFill>
            <a:schemeClr val="tx1"/>
          </a:solidFill>
          <a:latin typeface="+mn-lt"/>
          <a:ea typeface="Calibri" panose="020F0502020204030204" pitchFamily="34" charset="0"/>
          <a:cs typeface="Calibri" panose="020F0502020204030204" pitchFamily="34" charset="0"/>
        </a:defRPr>
      </a:lvl1pPr>
    </p:titleStyle>
    <p:bodyStyle>
      <a:lvl1pPr marL="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1pPr>
      <a:lvl2pPr marL="5143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2pPr>
      <a:lvl3pPr marL="8572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3pPr>
      <a:lvl4pPr marL="12001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4pPr>
      <a:lvl5pPr marL="15430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16" orient="horz" pos="144">
          <p15:clr>
            <a:srgbClr val="F26B43"/>
          </p15:clr>
        </p15:guide>
        <p15:guide id="17" orient="horz" pos="288">
          <p15:clr>
            <a:srgbClr val="F26B43"/>
          </p15:clr>
        </p15:guide>
        <p15:guide id="18" orient="horz" pos="432">
          <p15:clr>
            <a:srgbClr val="F26B43"/>
          </p15:clr>
        </p15:guide>
        <p15:guide id="19" orient="horz" pos="576">
          <p15:clr>
            <a:srgbClr val="F26B43"/>
          </p15:clr>
        </p15:guide>
        <p15:guide id="20" orient="horz" pos="720">
          <p15:clr>
            <a:srgbClr val="F26B43"/>
          </p15:clr>
        </p15:guide>
        <p15:guide id="21" orient="horz" pos="864">
          <p15:clr>
            <a:srgbClr val="F26B43"/>
          </p15:clr>
        </p15:guide>
        <p15:guide id="22" orient="horz" pos="1008">
          <p15:clr>
            <a:srgbClr val="F26B43"/>
          </p15:clr>
        </p15:guide>
        <p15:guide id="23" orient="horz" pos="1152">
          <p15:clr>
            <a:srgbClr val="F26B43"/>
          </p15:clr>
        </p15:guide>
        <p15:guide id="24" orient="horz" pos="1296">
          <p15:clr>
            <a:srgbClr val="F26B43"/>
          </p15:clr>
        </p15:guide>
        <p15:guide id="25" orient="horz" pos="1440">
          <p15:clr>
            <a:srgbClr val="F26B43"/>
          </p15:clr>
        </p15:guide>
        <p15:guide id="26" orient="horz" pos="1584">
          <p15:clr>
            <a:srgbClr val="F26B43"/>
          </p15:clr>
        </p15:guide>
        <p15:guide id="27" orient="horz" pos="1728">
          <p15:clr>
            <a:srgbClr val="F26B43"/>
          </p15:clr>
        </p15:guide>
        <p15:guide id="28" orient="horz" pos="1872">
          <p15:clr>
            <a:srgbClr val="F26B43"/>
          </p15:clr>
        </p15:guide>
        <p15:guide id="29" orient="horz" pos="2016">
          <p15:clr>
            <a:srgbClr val="F26B43"/>
          </p15:clr>
        </p15:guide>
        <p15:guide id="30" orient="horz" pos="2304">
          <p15:clr>
            <a:srgbClr val="F26B43"/>
          </p15:clr>
        </p15:guide>
        <p15:guide id="31" orient="horz" pos="2448">
          <p15:clr>
            <a:srgbClr val="F26B43"/>
          </p15:clr>
        </p15:guide>
        <p15:guide id="32" orient="horz" pos="2592">
          <p15:clr>
            <a:srgbClr val="F26B43"/>
          </p15:clr>
        </p15:guide>
        <p15:guide id="33" orient="horz" pos="2736">
          <p15:clr>
            <a:srgbClr val="F26B43"/>
          </p15:clr>
        </p15:guide>
        <p15:guide id="34" orient="horz" pos="2880">
          <p15:clr>
            <a:srgbClr val="F26B43"/>
          </p15:clr>
        </p15:guide>
        <p15:guide id="35" orient="horz" pos="3024">
          <p15:clr>
            <a:srgbClr val="F26B43"/>
          </p15:clr>
        </p15:guide>
        <p15:guide id="36" orient="horz" pos="3168">
          <p15:clr>
            <a:srgbClr val="F26B43"/>
          </p15:clr>
        </p15:guide>
        <p15:guide id="37" orient="horz" pos="3312">
          <p15:clr>
            <a:srgbClr val="F26B43"/>
          </p15:clr>
        </p15:guide>
        <p15:guide id="38" orient="horz" pos="3456">
          <p15:clr>
            <a:srgbClr val="F26B43"/>
          </p15:clr>
        </p15:guide>
        <p15:guide id="39" orient="horz" pos="3600">
          <p15:clr>
            <a:srgbClr val="F26B43"/>
          </p15:clr>
        </p15:guide>
        <p15:guide id="40" orient="horz" pos="3744">
          <p15:clr>
            <a:srgbClr val="F26B43"/>
          </p15:clr>
        </p15:guide>
        <p15:guide id="41" orient="horz" pos="3888">
          <p15:clr>
            <a:srgbClr val="F26B43"/>
          </p15:clr>
        </p15:guide>
        <p15:guide id="43" orient="horz" pos="4176">
          <p15:clr>
            <a:srgbClr val="F26B43"/>
          </p15:clr>
        </p15:guide>
        <p15:guide id="56" orient="horz">
          <p15:clr>
            <a:srgbClr val="F26B43"/>
          </p15:clr>
        </p15:guide>
        <p15:guide id="57" orient="horz" pos="4320">
          <p15:clr>
            <a:srgbClr val="F26B43"/>
          </p15:clr>
        </p15:guide>
        <p15:guide id="58" orient="horz" pos="4032">
          <p15:clr>
            <a:srgbClr val="F26B43"/>
          </p15:clr>
        </p15:guide>
        <p15:guide id="59" pos="288">
          <p15:clr>
            <a:srgbClr val="F26B43"/>
          </p15:clr>
        </p15:guide>
        <p15:guide id="61" pos="7392">
          <p15:clr>
            <a:srgbClr val="F26B43"/>
          </p15:clr>
        </p15:guide>
        <p15:guide id="62" pos="894">
          <p15:clr>
            <a:srgbClr val="F26B43"/>
          </p15:clr>
        </p15:guide>
        <p15:guide id="63" pos="750">
          <p15:clr>
            <a:srgbClr val="F26B43"/>
          </p15:clr>
        </p15:guide>
        <p15:guide id="64" pos="1354">
          <p15:clr>
            <a:srgbClr val="F26B43"/>
          </p15:clr>
        </p15:guide>
        <p15:guide id="65" pos="1498">
          <p15:clr>
            <a:srgbClr val="F26B43"/>
          </p15:clr>
        </p15:guide>
        <p15:guide id="66" pos="1958">
          <p15:clr>
            <a:srgbClr val="F26B43"/>
          </p15:clr>
        </p15:guide>
        <p15:guide id="67" pos="2104">
          <p15:clr>
            <a:srgbClr val="F26B43"/>
          </p15:clr>
        </p15:guide>
        <p15:guide id="68" pos="2710">
          <p15:clr>
            <a:srgbClr val="F26B43"/>
          </p15:clr>
        </p15:guide>
        <p15:guide id="69" pos="2565">
          <p15:clr>
            <a:srgbClr val="F26B43"/>
          </p15:clr>
        </p15:guide>
        <p15:guide id="70" pos="3310">
          <p15:clr>
            <a:srgbClr val="F26B43"/>
          </p15:clr>
        </p15:guide>
        <p15:guide id="71" pos="3168">
          <p15:clr>
            <a:srgbClr val="F26B43"/>
          </p15:clr>
        </p15:guide>
        <p15:guide id="72" pos="3772">
          <p15:clr>
            <a:srgbClr val="F26B43"/>
          </p15:clr>
        </p15:guide>
        <p15:guide id="73" pos="3919">
          <p15:clr>
            <a:srgbClr val="F26B43"/>
          </p15:clr>
        </p15:guide>
        <p15:guide id="74" pos="4376">
          <p15:clr>
            <a:srgbClr val="F26B43"/>
          </p15:clr>
        </p15:guide>
        <p15:guide id="75" pos="4523">
          <p15:clr>
            <a:srgbClr val="F26B43"/>
          </p15:clr>
        </p15:guide>
        <p15:guide id="76" pos="5128">
          <p15:clr>
            <a:srgbClr val="F26B43"/>
          </p15:clr>
        </p15:guide>
        <p15:guide id="77" pos="4981">
          <p15:clr>
            <a:srgbClr val="F26B43"/>
          </p15:clr>
        </p15:guide>
        <p15:guide id="78" pos="5579">
          <p15:clr>
            <a:srgbClr val="F26B43"/>
          </p15:clr>
        </p15:guide>
        <p15:guide id="79" pos="5726">
          <p15:clr>
            <a:srgbClr val="F26B43"/>
          </p15:clr>
        </p15:guide>
        <p15:guide id="80" pos="6186">
          <p15:clr>
            <a:srgbClr val="F26B43"/>
          </p15:clr>
        </p15:guide>
        <p15:guide id="81" pos="6330">
          <p15:clr>
            <a:srgbClr val="F26B43"/>
          </p15:clr>
        </p15:guide>
        <p15:guide id="82" pos="6793">
          <p15:clr>
            <a:srgbClr val="F26B43"/>
          </p15:clr>
        </p15:guide>
        <p15:guide id="83" pos="6933">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techcommunity.microsoft.com/blog/azurearcblog/workload-orchestration-in-the-azure-portal-is-now-available-deploy-in-minutes-sc/4554101" TargetMode="Externa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techcommunity.microsoft.com/blog/azurecompute/public-preview-automatic-zone-placement-for-virtual-machine-scale-sets/4554986" TargetMode="Externa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hyperlink" Target="https://azure.microsoft.com/ru-ru/updates?id=570940" TargetMode="External"/><Relationship Id="rId2" Type="http://schemas.openxmlformats.org/officeDocument/2006/relationships/hyperlink" Target="https://azure.microsoft.com/ru-ru/updates?id=570551" TargetMode="Externa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hyperlink" Target="https://azure.microsoft.com/ru-ru/updates?id=571257" TargetMode="External"/><Relationship Id="rId2" Type="http://schemas.openxmlformats.org/officeDocument/2006/relationships/hyperlink" Target="https://techcommunity.microsoft.com/blog/appsonazureblog/azure-app-service-is-now-a-trigger-destination-for-azure-managed-connectors/4555785" TargetMode="Externa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azure.microsoft.com/ru-ru/updates?id=570910" TargetMode="Externa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hyperlink" Target="https://azure.microsoft.com/ru-ru/updates?id=569241" TargetMode="External"/><Relationship Id="rId2" Type="http://schemas.openxmlformats.org/officeDocument/2006/relationships/hyperlink" Target="https://techcommunity.microsoft.com/blog/azurestorageblog/dell-managed-powerscale-for-microsoft-azure-is-now-generally-available/4555367" TargetMode="Externa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techcommunity.microsoft.com/blog/appsonazureblog/azure-copilot-announces-general-availability-of-the-troubleshooting-agent/4554549" TargetMode="External"/><Relationship Id="rId2" Type="http://schemas.openxmlformats.org/officeDocument/2006/relationships/hyperlink" Target="https://techcommunity.microsoft.com/blog/microsoft-copilot-blog/available-today-openai-gpt-6-astra-in-microsoft-copilot/4552808" TargetMode="Externa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azure.microsoft.com/ru-ru/updates?id=570881" TargetMode="External"/><Relationship Id="rId2" Type="http://schemas.openxmlformats.org/officeDocument/2006/relationships/hyperlink" Target="https://azure.microsoft.com/ru-ru/updates?id=570919" TargetMode="Externa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github.com/azureTimes" TargetMode="Externa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DB9B821-34BB-CD1F-240C-32A91FACE9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29" y="0"/>
            <a:ext cx="9139141" cy="5143500"/>
          </a:xfrm>
          <a:prstGeom prst="rect">
            <a:avLst/>
          </a:prstGeom>
        </p:spPr>
      </p:pic>
      <p:sp>
        <p:nvSpPr>
          <p:cNvPr id="2" name="Title 1"/>
          <p:cNvSpPr>
            <a:spLocks noGrp="1"/>
          </p:cNvSpPr>
          <p:nvPr>
            <p:ph type="ctrTitle"/>
          </p:nvPr>
        </p:nvSpPr>
        <p:spPr>
          <a:xfrm>
            <a:off x="281666" y="1200151"/>
            <a:ext cx="8458200" cy="2228850"/>
          </a:xfrm>
        </p:spPr>
        <p:txBody>
          <a:bodyPr/>
          <a:lstStyle/>
          <a:p>
            <a:r>
              <a:rPr lang="en-US" sz="5400" dirty="0">
                <a:solidFill>
                  <a:schemeClr val="bg1"/>
                </a:solidFill>
              </a:rPr>
              <a:t>Azure Times #223</a:t>
            </a:r>
          </a:p>
        </p:txBody>
      </p:sp>
      <p:sp>
        <p:nvSpPr>
          <p:cNvPr id="4" name="Text Placeholder 3"/>
          <p:cNvSpPr>
            <a:spLocks noGrp="1"/>
          </p:cNvSpPr>
          <p:nvPr>
            <p:ph type="body" sz="quarter" idx="11"/>
          </p:nvPr>
        </p:nvSpPr>
        <p:spPr/>
        <p:txBody>
          <a:bodyPr/>
          <a:lstStyle/>
          <a:p>
            <a:r>
              <a:rPr lang="en-US" spc="300"/>
              <a:t>September 14, </a:t>
            </a:r>
            <a:r>
              <a:rPr lang="en-US" spc="300" dirty="0"/>
              <a:t>2026</a:t>
            </a:r>
          </a:p>
        </p:txBody>
      </p:sp>
      <p:sp>
        <p:nvSpPr>
          <p:cNvPr id="3" name="TextBox 2">
            <a:extLst>
              <a:ext uri="{FF2B5EF4-FFF2-40B4-BE49-F238E27FC236}">
                <a16:creationId xmlns:a16="http://schemas.microsoft.com/office/drawing/2014/main" id="{ED924944-231A-274C-AB8B-3C574947B123}"/>
              </a:ext>
            </a:extLst>
          </p:cNvPr>
          <p:cNvSpPr txBox="1"/>
          <p:nvPr/>
        </p:nvSpPr>
        <p:spPr>
          <a:xfrm>
            <a:off x="539318" y="4887158"/>
            <a:ext cx="0" cy="0"/>
          </a:xfrm>
          <a:prstGeom prst="rect">
            <a:avLst/>
          </a:prstGeom>
          <a:noFill/>
        </p:spPr>
        <p:txBody>
          <a:bodyPr wrap="none" lIns="0" tIns="0" rIns="0" bIns="0" rtlCol="0">
            <a:noAutofit/>
          </a:bodyPr>
          <a:lstStyle/>
          <a:p>
            <a:pPr>
              <a:lnSpc>
                <a:spcPct val="110000"/>
              </a:lnSpc>
              <a:spcBef>
                <a:spcPts val="450"/>
              </a:spcBef>
            </a:pPr>
            <a:endParaRPr lang="en-US" sz="900" err="1">
              <a:ea typeface="Human Sans" charset="0"/>
              <a:cs typeface="Human Sans" charset="0"/>
            </a:endParaRPr>
          </a:p>
        </p:txBody>
      </p:sp>
    </p:spTree>
    <p:extLst>
      <p:ext uri="{BB962C8B-B14F-4D97-AF65-F5344CB8AC3E}">
        <p14:creationId xmlns:p14="http://schemas.microsoft.com/office/powerpoint/2010/main" val="447552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5404AB4-665F-F8DC-DFC8-3BE90D9EDF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9" y="0"/>
            <a:ext cx="9139141" cy="5143500"/>
          </a:xfrm>
          <a:prstGeom prst="rect">
            <a:avLst/>
          </a:prstGeom>
        </p:spPr>
      </p:pic>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a:xfrm>
            <a:off x="252845" y="1285875"/>
            <a:ext cx="8796812" cy="1714500"/>
          </a:xfrm>
        </p:spPr>
        <p:txBody>
          <a:bodyPr/>
          <a:lstStyle/>
          <a:p>
            <a:r>
              <a:rPr lang="en-US" sz="4000" dirty="0">
                <a:solidFill>
                  <a:schemeClr val="bg1"/>
                </a:solidFill>
              </a:rPr>
              <a:t>Management &amp; </a:t>
            </a:r>
          </a:p>
          <a:p>
            <a:r>
              <a:rPr lang="en-US" sz="4000" dirty="0">
                <a:solidFill>
                  <a:schemeClr val="bg1"/>
                </a:solidFill>
              </a:rPr>
              <a:t>Governance</a:t>
            </a:r>
          </a:p>
        </p:txBody>
      </p:sp>
    </p:spTree>
    <p:extLst>
      <p:ext uri="{BB962C8B-B14F-4D97-AF65-F5344CB8AC3E}">
        <p14:creationId xmlns:p14="http://schemas.microsoft.com/office/powerpoint/2010/main" val="34791831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43C16-70E1-76E8-34FC-4D971266F2E4}"/>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F6EFEF9D-C531-5164-3001-CAB3E530800A}"/>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1469B97F-5DC9-9FCE-E7F9-3A690CE53011}"/>
              </a:ext>
            </a:extLst>
          </p:cNvPr>
          <p:cNvSpPr>
            <a:spLocks noGrp="1"/>
          </p:cNvSpPr>
          <p:nvPr>
            <p:ph type="title"/>
          </p:nvPr>
        </p:nvSpPr>
        <p:spPr/>
        <p:txBody>
          <a:bodyPr/>
          <a:lstStyle/>
          <a:p>
            <a:r>
              <a:rPr lang="en-US" sz="1800" dirty="0"/>
              <a:t>Management &amp; Governance Updates (General Available)</a:t>
            </a:r>
            <a:endParaRPr lang="en-US" dirty="0"/>
          </a:p>
        </p:txBody>
      </p:sp>
      <p:sp>
        <p:nvSpPr>
          <p:cNvPr id="13" name="Text Placeholder 12">
            <a:extLst>
              <a:ext uri="{FF2B5EF4-FFF2-40B4-BE49-F238E27FC236}">
                <a16:creationId xmlns:a16="http://schemas.microsoft.com/office/drawing/2014/main" id="{21B9C0FA-660D-52E2-A52D-5071C6022C4D}"/>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B4278EE4-80FF-FF66-93C7-3BE34B7B9EDB}"/>
              </a:ext>
            </a:extLst>
          </p:cNvPr>
          <p:cNvSpPr>
            <a:spLocks noGrp="1"/>
          </p:cNvSpPr>
          <p:nvPr>
            <p:ph type="body" sz="quarter" idx="16"/>
          </p:nvPr>
        </p:nvSpPr>
        <p:spPr/>
        <p:txBody>
          <a:bodyPr/>
          <a:lstStyle/>
          <a:p>
            <a:pPr algn="just"/>
            <a:r>
              <a:rPr lang="en-US" dirty="0">
                <a:hlinkClick r:id="rId2"/>
              </a:rPr>
              <a:t>Workload Orchestration in the Azure portal is now available: Deploy in minutes, scale with ease</a:t>
            </a:r>
            <a:endParaRPr lang="en-US" dirty="0"/>
          </a:p>
          <a:p>
            <a:pPr algn="just"/>
            <a:r>
              <a:rPr lang="en-US" b="1" dirty="0"/>
              <a:t>Azure Arc Workload Orchestration</a:t>
            </a:r>
            <a:r>
              <a:rPr lang="en-US" dirty="0"/>
              <a:t>, already generally available, now provides an </a:t>
            </a:r>
            <a:r>
              <a:rPr lang="en-US" b="1" dirty="0"/>
              <a:t>Azure portal-based onboarding and deployment experience</a:t>
            </a:r>
            <a:r>
              <a:rPr lang="en-US" dirty="0"/>
              <a:t> designed to simplify application deployment across distributed Kubernetes environments. Organizations can bring an </a:t>
            </a:r>
            <a:r>
              <a:rPr lang="en-US" b="1" dirty="0"/>
              <a:t>Azure Arc-enabled Kubernetes cluster</a:t>
            </a:r>
            <a:r>
              <a:rPr lang="en-US" dirty="0"/>
              <a:t> and deploy a pre-packaged application in minutes, making it easier to evaluate the capability without first building a complete deployment framework. </a:t>
            </a:r>
          </a:p>
          <a:p>
            <a:pPr algn="just"/>
            <a:r>
              <a:rPr lang="en-US" dirty="0"/>
              <a:t>Workload Orchestration provides a centralized, configuration-driven approach for deploying applications consistently across </a:t>
            </a:r>
            <a:r>
              <a:rPr lang="en-US" b="1" dirty="0"/>
              <a:t>cloud, on-premises, and edge locations</a:t>
            </a:r>
            <a:r>
              <a:rPr lang="en-US" dirty="0"/>
              <a:t>, while still supporting site-specific configuration requirements. Through the portal, organizations can onboard infrastructure, organize deployment sites into </a:t>
            </a:r>
            <a:r>
              <a:rPr lang="en-US" b="1" dirty="0"/>
              <a:t>hierarchies</a:t>
            </a:r>
            <a:r>
              <a:rPr lang="en-US" dirty="0"/>
              <a:t>, and define shared configurations that can be reused across multiple deployments. </a:t>
            </a:r>
          </a:p>
          <a:p>
            <a:pPr algn="just"/>
            <a:r>
              <a:rPr lang="en-US" dirty="0"/>
              <a:t>The capability is particularly relevant for </a:t>
            </a:r>
            <a:r>
              <a:rPr lang="en-US" b="1" dirty="0"/>
              <a:t>retail stores, factories, branch locations, and other distributed edge environments</a:t>
            </a:r>
            <a:r>
              <a:rPr lang="en-US" dirty="0"/>
              <a:t>, where managing separate application variants for each site becomes difficult to scale. It enables teams to move from a single proof-of-concept cluster to a distributed fleet while maintaining </a:t>
            </a:r>
            <a:r>
              <a:rPr lang="en-US" b="1" dirty="0"/>
              <a:t>centralized governance, deployment repeatability, and local configuration flexibility</a:t>
            </a:r>
            <a:r>
              <a:rPr lang="en-US" dirty="0"/>
              <a:t>.</a:t>
            </a:r>
          </a:p>
          <a:p>
            <a:pPr algn="just"/>
            <a:endParaRPr lang="en-US" dirty="0"/>
          </a:p>
        </p:txBody>
      </p:sp>
    </p:spTree>
    <p:extLst>
      <p:ext uri="{BB962C8B-B14F-4D97-AF65-F5344CB8AC3E}">
        <p14:creationId xmlns:p14="http://schemas.microsoft.com/office/powerpoint/2010/main" val="3594889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2E070E0-1172-0461-DF36-41256FE66D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39141" cy="5143500"/>
          </a:xfrm>
          <a:prstGeom prst="rect">
            <a:avLst/>
          </a:prstGeom>
        </p:spPr>
      </p:pic>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solidFill>
                  <a:schemeClr val="bg1"/>
                </a:solidFill>
              </a:rPr>
              <a:t>Compute</a:t>
            </a:r>
          </a:p>
        </p:txBody>
      </p:sp>
    </p:spTree>
    <p:extLst>
      <p:ext uri="{BB962C8B-B14F-4D97-AF65-F5344CB8AC3E}">
        <p14:creationId xmlns:p14="http://schemas.microsoft.com/office/powerpoint/2010/main" val="2747428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Compute Updates (Preview)</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Public Preview: Automatic Zone Placement for Virtual Machine Scale Sets</a:t>
            </a:r>
            <a:endParaRPr lang="en-US" dirty="0"/>
          </a:p>
          <a:p>
            <a:pPr algn="just"/>
            <a:r>
              <a:rPr lang="en-US" b="1" dirty="0"/>
              <a:t>Automatic Zone Placement</a:t>
            </a:r>
            <a:r>
              <a:rPr lang="en-US" dirty="0"/>
              <a:t> for Azure Virtual Machine Scale Sets (VMSS) is now in </a:t>
            </a:r>
            <a:r>
              <a:rPr lang="en-US" b="1" dirty="0"/>
              <a:t>public preview</a:t>
            </a:r>
            <a:r>
              <a:rPr lang="en-US" dirty="0"/>
              <a:t>, allowing Azure to automatically select availability zones based on </a:t>
            </a:r>
            <a:r>
              <a:rPr lang="en-US" b="1" dirty="0"/>
              <a:t>VM SKU availability, current capacity, existing distribution, and customer-defined placement requirements</a:t>
            </a:r>
            <a:r>
              <a:rPr lang="en-US" dirty="0"/>
              <a:t>. It supports VM scale sets using both </a:t>
            </a:r>
            <a:r>
              <a:rPr lang="en-US" b="1" dirty="0"/>
              <a:t>Uniform and Flexible orchestration modes</a:t>
            </a:r>
            <a:r>
              <a:rPr lang="en-US" dirty="0"/>
              <a:t>. </a:t>
            </a:r>
          </a:p>
          <a:p>
            <a:pPr algn="just"/>
            <a:r>
              <a:rPr lang="en-US" dirty="0"/>
              <a:t>The capability removes the need to maintain fixed, region-specific availability-zone lists, making </a:t>
            </a:r>
            <a:r>
              <a:rPr lang="en-US" b="1" dirty="0"/>
              <a:t>multi-region VMSS deployments</a:t>
            </a:r>
            <a:r>
              <a:rPr lang="en-US" dirty="0"/>
              <a:t> easier to standardize. Customers can define controls such as eligible zones, maximum number of zones, maximum percentage of instances in a single zone, and balancing behavior; Azure can also expand into additional eligible zones when existing zones cannot satisfy scale-out demand. </a:t>
            </a:r>
          </a:p>
          <a:p>
            <a:pPr algn="just"/>
            <a:r>
              <a:rPr lang="en-US" dirty="0"/>
              <a:t>By default, Azure targets an even distribution across three availability zones, with at least </a:t>
            </a:r>
            <a:r>
              <a:rPr lang="en-US" b="1" dirty="0"/>
              <a:t>two zones</a:t>
            </a:r>
            <a:r>
              <a:rPr lang="en-US" dirty="0"/>
              <a:t> and no more than </a:t>
            </a:r>
            <a:r>
              <a:rPr lang="en-US" b="1" dirty="0"/>
              <a:t>50% of instances in one zone</a:t>
            </a:r>
            <a:r>
              <a:rPr lang="en-US" dirty="0"/>
              <a:t>. Automatic Zone Placement applies to </a:t>
            </a:r>
            <a:r>
              <a:rPr lang="en-US" b="1" dirty="0"/>
              <a:t>newly created VM instances and does not relocate existing VMs</a:t>
            </a:r>
            <a:r>
              <a:rPr lang="en-US" dirty="0"/>
              <a:t>; Automatic Zone Balance can be used separately to address existing imbalance. </a:t>
            </a:r>
          </a:p>
          <a:p>
            <a:pPr algn="just"/>
            <a:r>
              <a:rPr lang="en-US" dirty="0"/>
              <a:t>For enterprises, this improves </a:t>
            </a:r>
            <a:r>
              <a:rPr lang="en-US" b="1" dirty="0"/>
              <a:t>resiliency, allocation success, and infrastructure-as-code consistency</a:t>
            </a:r>
            <a:r>
              <a:rPr lang="en-US" dirty="0"/>
              <a:t> for large-scale and multi-region VMSS deployments where SKU capacity can vary between Azure regions and availability zones.</a:t>
            </a:r>
          </a:p>
          <a:p>
            <a:pPr algn="just"/>
            <a:endParaRPr lang="en-US" dirty="0"/>
          </a:p>
        </p:txBody>
      </p:sp>
    </p:spTree>
    <p:extLst>
      <p:ext uri="{BB962C8B-B14F-4D97-AF65-F5344CB8AC3E}">
        <p14:creationId xmlns:p14="http://schemas.microsoft.com/office/powerpoint/2010/main" val="674135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F098EE-BBE3-B9BF-C218-E4DEA9A76D9C}"/>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D082964C-E8A1-73CC-B206-1A488254620C}"/>
              </a:ext>
            </a:extLst>
          </p:cNvPr>
          <p:cNvSpPr>
            <a:spLocks noGrp="1"/>
          </p:cNvSpPr>
          <p:nvPr>
            <p:ph type="body" sz="quarter" idx="10"/>
          </p:nvPr>
        </p:nvSpPr>
        <p:spPr/>
        <p:txBody>
          <a:bodyPr/>
          <a:lstStyle/>
          <a:p>
            <a:pPr algn="just"/>
            <a:r>
              <a:rPr lang="en-US" sz="1000" dirty="0">
                <a:hlinkClick r:id="rId2"/>
              </a:rPr>
              <a:t>Generally Available: Azure Ephemeral OS Disk with full caching for VM/VMSS</a:t>
            </a:r>
            <a:endParaRPr lang="en-US" sz="1000" dirty="0"/>
          </a:p>
          <a:p>
            <a:pPr algn="just"/>
            <a:r>
              <a:rPr lang="en-US" sz="1000" b="1" dirty="0"/>
              <a:t>Azure Ephemeral OS Disk with Full Caching</a:t>
            </a:r>
            <a:r>
              <a:rPr lang="en-US" sz="1000" dirty="0"/>
              <a:t> is now </a:t>
            </a:r>
            <a:r>
              <a:rPr lang="en-US" sz="1000" b="1" dirty="0"/>
              <a:t>generally available</a:t>
            </a:r>
            <a:r>
              <a:rPr lang="en-US" sz="1000" dirty="0"/>
              <a:t> for new Azure Virtual Machines and Virtual Machine Scale Sets. The capability caches the </a:t>
            </a:r>
            <a:r>
              <a:rPr lang="en-US" sz="1000" b="1" dirty="0"/>
              <a:t>entire OS image on the VM’s local storage</a:t>
            </a:r>
            <a:r>
              <a:rPr lang="en-US" sz="1000" dirty="0"/>
              <a:t>, eliminating remote-storage reads once caching is complete and providing consistently fast, low-millisecond OS disk access.</a:t>
            </a:r>
          </a:p>
          <a:p>
            <a:pPr algn="just"/>
            <a:r>
              <a:rPr lang="en-US" sz="1000" dirty="0"/>
              <a:t>Microsoft reports </a:t>
            </a:r>
            <a:r>
              <a:rPr lang="en-US" sz="1000" b="1" dirty="0"/>
              <a:t>up to 10× higher I/O performance</a:t>
            </a:r>
            <a:r>
              <a:rPr lang="en-US" sz="1000" dirty="0"/>
              <a:t>, while local caching can also improve workload resilience during temporary remote storage interruptions. Caching occurs </a:t>
            </a:r>
            <a:r>
              <a:rPr lang="en-US" sz="1000" b="1" dirty="0"/>
              <a:t>asynchronously after the VM boots</a:t>
            </a:r>
            <a:r>
              <a:rPr lang="en-US" sz="1000" dirty="0"/>
              <a:t>, avoiding additional VM provisioning delays.</a:t>
            </a:r>
          </a:p>
          <a:p>
            <a:pPr algn="just"/>
            <a:r>
              <a:rPr lang="en-US" sz="1000" dirty="0"/>
              <a:t>The capability is targeted at </a:t>
            </a:r>
            <a:r>
              <a:rPr lang="en-US" sz="1000" b="1" dirty="0"/>
              <a:t>stateless, I/O-intensive workloads</a:t>
            </a:r>
            <a:r>
              <a:rPr lang="en-US" sz="1000" dirty="0"/>
              <a:t>, including AI training and inference, real-time analytics, quorum-based databases, and large-scale distributed services. Full caching can use the VM’s </a:t>
            </a:r>
            <a:r>
              <a:rPr lang="en-US" sz="1000" b="1" dirty="0"/>
              <a:t>cache, resource, or </a:t>
            </a:r>
            <a:r>
              <a:rPr lang="en-US" sz="1000" b="1" dirty="0" err="1"/>
              <a:t>NVMe</a:t>
            </a:r>
            <a:r>
              <a:rPr lang="en-US" sz="1000" b="1" dirty="0"/>
              <a:t> disk</a:t>
            </a:r>
            <a:r>
              <a:rPr lang="en-US" sz="1000" dirty="0"/>
              <a:t>, but consumes local capacity equal to </a:t>
            </a:r>
            <a:r>
              <a:rPr lang="en-US" sz="1000" b="1" dirty="0"/>
              <a:t>twice the OS disk size</a:t>
            </a:r>
            <a:r>
              <a:rPr lang="en-US" sz="1000" dirty="0"/>
              <a:t>.</a:t>
            </a:r>
          </a:p>
          <a:p>
            <a:pPr algn="just"/>
            <a:r>
              <a:rPr lang="en-US" sz="1000" dirty="0"/>
              <a:t>It is available across Azure public regions for supported </a:t>
            </a:r>
            <a:r>
              <a:rPr lang="en-US" sz="1000" b="1" dirty="0"/>
              <a:t>8-core-and-larger GPU, HPC, storage-, memory-, compute-optimized, and general-purpose VM series</a:t>
            </a:r>
            <a:r>
              <a:rPr lang="en-US" sz="1000" dirty="0"/>
              <a:t>. Customers can enable it through </a:t>
            </a:r>
            <a:r>
              <a:rPr lang="en-US" sz="1000" b="1" dirty="0"/>
              <a:t>Azure CLI, ARM templates, or REST APIs</a:t>
            </a:r>
            <a:r>
              <a:rPr lang="en-US" sz="1000" dirty="0"/>
              <a:t> when configuring Ephemeral OS disks.</a:t>
            </a:r>
          </a:p>
          <a:p>
            <a:pPr algn="just"/>
            <a:endParaRPr lang="en-US" sz="1000" dirty="0"/>
          </a:p>
        </p:txBody>
      </p:sp>
      <p:sp>
        <p:nvSpPr>
          <p:cNvPr id="11" name="Title 10">
            <a:extLst>
              <a:ext uri="{FF2B5EF4-FFF2-40B4-BE49-F238E27FC236}">
                <a16:creationId xmlns:a16="http://schemas.microsoft.com/office/drawing/2014/main" id="{DDE59A08-9A25-40C0-DC79-D2FB88CF728E}"/>
              </a:ext>
            </a:extLst>
          </p:cNvPr>
          <p:cNvSpPr>
            <a:spLocks noGrp="1"/>
          </p:cNvSpPr>
          <p:nvPr>
            <p:ph type="title"/>
          </p:nvPr>
        </p:nvSpPr>
        <p:spPr/>
        <p:txBody>
          <a:bodyPr/>
          <a:lstStyle/>
          <a:p>
            <a:r>
              <a:rPr lang="en-US" sz="1800" dirty="0"/>
              <a:t>Compute Updates (General Available)</a:t>
            </a:r>
            <a:endParaRPr lang="en-US" dirty="0"/>
          </a:p>
        </p:txBody>
      </p:sp>
      <p:sp>
        <p:nvSpPr>
          <p:cNvPr id="13" name="Text Placeholder 12">
            <a:extLst>
              <a:ext uri="{FF2B5EF4-FFF2-40B4-BE49-F238E27FC236}">
                <a16:creationId xmlns:a16="http://schemas.microsoft.com/office/drawing/2014/main" id="{4D7D0670-36E5-9279-0AB3-70FC83D5A9FE}"/>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9AC89A86-0455-61DD-7A55-DACDA81B83B1}"/>
              </a:ext>
            </a:extLst>
          </p:cNvPr>
          <p:cNvSpPr>
            <a:spLocks noGrp="1"/>
          </p:cNvSpPr>
          <p:nvPr>
            <p:ph type="body" sz="quarter" idx="16"/>
          </p:nvPr>
        </p:nvSpPr>
        <p:spPr/>
        <p:txBody>
          <a:bodyPr/>
          <a:lstStyle/>
          <a:p>
            <a:pPr algn="just"/>
            <a:r>
              <a:rPr lang="en-US" dirty="0">
                <a:hlinkClick r:id="rId3"/>
              </a:rPr>
              <a:t>Generally Available: TLS/SSL certificate and end-to-end TLS encryption support for Azure Functions Flex Consumption</a:t>
            </a:r>
            <a:endParaRPr lang="en-US" dirty="0"/>
          </a:p>
          <a:p>
            <a:pPr algn="just"/>
            <a:r>
              <a:rPr lang="en-US" b="1" dirty="0"/>
              <a:t>Azure Functions Flex Consumption</a:t>
            </a:r>
            <a:r>
              <a:rPr lang="en-US" dirty="0"/>
              <a:t> now provides </a:t>
            </a:r>
            <a:r>
              <a:rPr lang="en-US" b="1" dirty="0"/>
              <a:t>generally available TLS/SSL certificate support</a:t>
            </a:r>
            <a:r>
              <a:rPr lang="en-US" dirty="0"/>
              <a:t> through a new </a:t>
            </a:r>
            <a:r>
              <a:rPr lang="en-US" b="1" dirty="0"/>
              <a:t>site-scoped certificate model</a:t>
            </a:r>
            <a:r>
              <a:rPr lang="en-US" dirty="0"/>
              <a:t>. Each Function App can maintain up to </a:t>
            </a:r>
            <a:r>
              <a:rPr lang="en-US" b="1" dirty="0"/>
              <a:t>three private (.</a:t>
            </a:r>
            <a:r>
              <a:rPr lang="en-US" b="1" dirty="0" err="1"/>
              <a:t>pfx</a:t>
            </a:r>
            <a:r>
              <a:rPr lang="en-US" b="1" dirty="0"/>
              <a:t>) and three public (.</a:t>
            </a:r>
            <a:r>
              <a:rPr lang="en-US" b="1" dirty="0" err="1"/>
              <a:t>cer</a:t>
            </a:r>
            <a:r>
              <a:rPr lang="en-US" b="1" dirty="0"/>
              <a:t>) certificates</a:t>
            </a:r>
            <a:r>
              <a:rPr lang="en-US" dirty="0"/>
              <a:t>, which can be uploaded directly, imported from </a:t>
            </a:r>
            <a:r>
              <a:rPr lang="en-US" b="1" dirty="0"/>
              <a:t>Azure Key Vault</a:t>
            </a:r>
            <a:r>
              <a:rPr lang="en-US" dirty="0"/>
              <a:t>, or provisioned using free </a:t>
            </a:r>
            <a:r>
              <a:rPr lang="en-US" b="1" dirty="0"/>
              <a:t>App Service Managed Certificates</a:t>
            </a:r>
            <a:r>
              <a:rPr lang="en-US" dirty="0"/>
              <a:t>.</a:t>
            </a:r>
          </a:p>
          <a:p>
            <a:pPr algn="just"/>
            <a:r>
              <a:rPr lang="en-US" dirty="0"/>
              <a:t>The capability enables Flex Consumption applications to support </a:t>
            </a:r>
            <a:r>
              <a:rPr lang="en-US" b="1" dirty="0"/>
              <a:t>custom domains, client-certificate authentication, and mutual TLS (</a:t>
            </a:r>
            <a:r>
              <a:rPr lang="en-US" b="1" dirty="0" err="1"/>
              <a:t>mTLS</a:t>
            </a:r>
            <a:r>
              <a:rPr lang="en-US" b="1" dirty="0"/>
              <a:t>)</a:t>
            </a:r>
            <a:r>
              <a:rPr lang="en-US" dirty="0"/>
              <a:t>, expanding its suitability for security-sensitive APIs and enterprise integrations. Certificate management at the individual Function App level also provides clearer isolation and control over application-specific certificates.</a:t>
            </a:r>
          </a:p>
          <a:p>
            <a:pPr algn="just"/>
            <a:r>
              <a:rPr lang="en-US" dirty="0"/>
              <a:t>In addition, </a:t>
            </a:r>
            <a:r>
              <a:rPr lang="en-US" b="1" dirty="0"/>
              <a:t>end-to-end TLS encryption is now GA</a:t>
            </a:r>
            <a:r>
              <a:rPr lang="en-US" dirty="0"/>
              <a:t>, encrypting traffic between the Azure platform front ends and the workers executing the functions. Together, these enhancements strengthen </a:t>
            </a:r>
            <a:r>
              <a:rPr lang="en-US" b="1" dirty="0"/>
              <a:t>data-in-transit protection</a:t>
            </a:r>
            <a:r>
              <a:rPr lang="en-US" dirty="0"/>
              <a:t> and make Flex Consumption more suitable for enterprise and regulated serverless workloads requiring stronger TLS and certificate-based security controls.</a:t>
            </a:r>
          </a:p>
          <a:p>
            <a:pPr algn="just"/>
            <a:endParaRPr lang="en-US" dirty="0"/>
          </a:p>
        </p:txBody>
      </p:sp>
    </p:spTree>
    <p:extLst>
      <p:ext uri="{BB962C8B-B14F-4D97-AF65-F5344CB8AC3E}">
        <p14:creationId xmlns:p14="http://schemas.microsoft.com/office/powerpoint/2010/main" val="187353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2817E1-BA7F-D700-A07D-CF35C50119CB}"/>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995ECF59-E5F0-A908-6FBA-7B62FCFAAF59}"/>
              </a:ext>
            </a:extLst>
          </p:cNvPr>
          <p:cNvSpPr>
            <a:spLocks noGrp="1"/>
          </p:cNvSpPr>
          <p:nvPr>
            <p:ph type="body" sz="quarter" idx="10"/>
          </p:nvPr>
        </p:nvSpPr>
        <p:spPr/>
        <p:txBody>
          <a:bodyPr/>
          <a:lstStyle/>
          <a:p>
            <a:pPr algn="just"/>
            <a:r>
              <a:rPr lang="en-US" sz="1000" dirty="0">
                <a:hlinkClick r:id="rId2"/>
              </a:rPr>
              <a:t>Azure App Service is now a trigger destination for Azure Managed Connectors</a:t>
            </a:r>
            <a:endParaRPr lang="en-US" sz="1000" dirty="0"/>
          </a:p>
          <a:p>
            <a:pPr algn="just"/>
            <a:r>
              <a:rPr lang="en-US" sz="1000" b="1" dirty="0"/>
              <a:t>Azure Managed Connectors</a:t>
            </a:r>
            <a:r>
              <a:rPr lang="en-US" sz="1000" dirty="0"/>
              <a:t>, currently in </a:t>
            </a:r>
            <a:r>
              <a:rPr lang="en-US" sz="1000" b="1" dirty="0"/>
              <a:t>public preview</a:t>
            </a:r>
            <a:r>
              <a:rPr lang="en-US" sz="1000" dirty="0"/>
              <a:t>, now supports </a:t>
            </a:r>
            <a:r>
              <a:rPr lang="en-US" sz="1000" b="1" dirty="0"/>
              <a:t>Azure App Service as a first-class trigger destination</a:t>
            </a:r>
            <a:r>
              <a:rPr lang="en-US" sz="1000" dirty="0"/>
              <a:t>. Connector events from services such as </a:t>
            </a:r>
            <a:r>
              <a:rPr lang="en-US" sz="1000" b="1" dirty="0"/>
              <a:t>Office 365, SharePoint, Teams, Dataverse, and Salesforce</a:t>
            </a:r>
            <a:r>
              <a:rPr lang="en-US" sz="1000" dirty="0"/>
              <a:t> can be delivered directly to applications running on App Service, including ASP.NET Core, Java, Node.js, and Python applications. </a:t>
            </a:r>
          </a:p>
          <a:p>
            <a:pPr algn="just"/>
            <a:r>
              <a:rPr lang="en-US" sz="1000" dirty="0"/>
              <a:t>Developers can select an existing App Service application, define the receiving route, and configure the </a:t>
            </a:r>
            <a:r>
              <a:rPr lang="en-US" sz="1000" b="1" dirty="0"/>
              <a:t>Connector Namespace managed identity and Microsoft Entra audience</a:t>
            </a:r>
            <a:r>
              <a:rPr lang="en-US" sz="1000" dirty="0"/>
              <a:t> directly when creating the trigger. Managed Connectors then uses the selected managed identity to obtain a token and send an authenticated HTTP request to the application, where </a:t>
            </a:r>
            <a:r>
              <a:rPr lang="en-US" sz="1000" b="1" dirty="0"/>
              <a:t>App Service built-in authentication (Easy Auth)</a:t>
            </a:r>
            <a:r>
              <a:rPr lang="en-US" sz="1000" dirty="0"/>
              <a:t> can validate it before the request reaches application code. </a:t>
            </a:r>
          </a:p>
          <a:p>
            <a:pPr algn="just"/>
            <a:r>
              <a:rPr lang="en-US" sz="1000" dirty="0"/>
              <a:t>The integration removes the need to use a generic HTTP destination and manually construct App Service callback URLs, simplifying </a:t>
            </a:r>
            <a:r>
              <a:rPr lang="en-US" sz="1000" b="1" dirty="0"/>
              <a:t>event-driven enterprise integrations and workflow automation</a:t>
            </a:r>
            <a:r>
              <a:rPr lang="en-US" sz="1000" dirty="0"/>
              <a:t>. Receiving-side authentication still requires separate configuration; the current trigger wizard does not automatically configure App Service authentication. </a:t>
            </a:r>
          </a:p>
          <a:p>
            <a:pPr algn="just"/>
            <a:endParaRPr lang="en-US" sz="1000" dirty="0"/>
          </a:p>
        </p:txBody>
      </p:sp>
      <p:sp>
        <p:nvSpPr>
          <p:cNvPr id="11" name="Title 10">
            <a:extLst>
              <a:ext uri="{FF2B5EF4-FFF2-40B4-BE49-F238E27FC236}">
                <a16:creationId xmlns:a16="http://schemas.microsoft.com/office/drawing/2014/main" id="{F56FF68D-660F-2CAA-B09A-5A59259AACC4}"/>
              </a:ext>
            </a:extLst>
          </p:cNvPr>
          <p:cNvSpPr>
            <a:spLocks noGrp="1"/>
          </p:cNvSpPr>
          <p:nvPr>
            <p:ph type="title"/>
          </p:nvPr>
        </p:nvSpPr>
        <p:spPr/>
        <p:txBody>
          <a:bodyPr/>
          <a:lstStyle/>
          <a:p>
            <a:r>
              <a:rPr lang="en-US" sz="1800" dirty="0"/>
              <a:t>Compute Updates</a:t>
            </a:r>
            <a:endParaRPr lang="en-US" dirty="0"/>
          </a:p>
        </p:txBody>
      </p:sp>
      <p:sp>
        <p:nvSpPr>
          <p:cNvPr id="13" name="Text Placeholder 12">
            <a:extLst>
              <a:ext uri="{FF2B5EF4-FFF2-40B4-BE49-F238E27FC236}">
                <a16:creationId xmlns:a16="http://schemas.microsoft.com/office/drawing/2014/main" id="{1749C152-D6B4-AF3B-2578-E699D30AD2F0}"/>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49104E40-B616-5259-A98B-8099EE2331BE}"/>
              </a:ext>
            </a:extLst>
          </p:cNvPr>
          <p:cNvSpPr>
            <a:spLocks noGrp="1"/>
          </p:cNvSpPr>
          <p:nvPr>
            <p:ph type="body" sz="quarter" idx="16"/>
          </p:nvPr>
        </p:nvSpPr>
        <p:spPr/>
        <p:txBody>
          <a:bodyPr/>
          <a:lstStyle/>
          <a:p>
            <a:pPr algn="just"/>
            <a:r>
              <a:rPr lang="en-US" dirty="0">
                <a:hlinkClick r:id="rId3"/>
              </a:rPr>
              <a:t>Retirement: Azure Linux with OS Guard in Azure Kubernetes Service</a:t>
            </a:r>
            <a:endParaRPr lang="en-US" dirty="0"/>
          </a:p>
          <a:p>
            <a:pPr algn="just"/>
            <a:r>
              <a:rPr lang="en-US" dirty="0"/>
              <a:t>Microsoft will </a:t>
            </a:r>
            <a:r>
              <a:rPr lang="en-US" b="1" dirty="0"/>
              <a:t>end support for Azure Linux with OS Guard (Preview) in Azure Kubernetes Service (AKS) on December 10, 2026</a:t>
            </a:r>
            <a:r>
              <a:rPr lang="en-US" dirty="0"/>
              <a:t>, with </a:t>
            </a:r>
            <a:r>
              <a:rPr lang="en-US" b="1" dirty="0"/>
              <a:t>Azure Container Linux</a:t>
            </a:r>
            <a:r>
              <a:rPr lang="en-US" dirty="0"/>
              <a:t> becoming the replacement platform. From that date, customers will no longer be able to create new OS Guard node pools, Microsoft will stop producing updated node images, and existing node pools will </a:t>
            </a:r>
            <a:r>
              <a:rPr lang="en-US" b="1" dirty="0"/>
              <a:t>no longer receive security patches</a:t>
            </a:r>
            <a:r>
              <a:rPr lang="en-US" dirty="0"/>
              <a:t>.</a:t>
            </a:r>
          </a:p>
          <a:p>
            <a:pPr algn="just"/>
            <a:r>
              <a:rPr lang="en-US" dirty="0"/>
              <a:t>On </a:t>
            </a:r>
            <a:r>
              <a:rPr lang="en-US" b="1" dirty="0"/>
              <a:t>March 10, 2027</a:t>
            </a:r>
            <a:r>
              <a:rPr lang="en-US" dirty="0"/>
              <a:t>, AKS will remove the affected Azure Linux with OS Guard node images entirely. After removal, critical lifecycle operations such as </a:t>
            </a:r>
            <a:r>
              <a:rPr lang="en-US" b="1" dirty="0"/>
              <a:t>node scaling, reimaging, redeployment, and remediation may fail</a:t>
            </a:r>
            <a:r>
              <a:rPr lang="en-US" dirty="0"/>
              <a:t>, creating a significant operational risk for clusters that have not migrated.</a:t>
            </a:r>
          </a:p>
          <a:p>
            <a:pPr algn="just"/>
            <a:r>
              <a:rPr lang="en-US" dirty="0"/>
              <a:t>Customers should migrate before December 10, 2026, either by performing an </a:t>
            </a:r>
            <a:r>
              <a:rPr lang="en-US" b="1" dirty="0"/>
              <a:t>in-place node image migration to Azure Container Linux</a:t>
            </a:r>
            <a:r>
              <a:rPr lang="en-US" dirty="0"/>
              <a:t> or by creating a new Azure Container Linux node pool, validating workloads, moving them to the new pool, and then removing the legacy pool. For production environments, the new-node-pool approach provides greater control over workload validation and rollback.</a:t>
            </a:r>
          </a:p>
          <a:p>
            <a:pPr algn="just"/>
            <a:r>
              <a:rPr lang="en-US" dirty="0"/>
              <a:t>Organizations currently using OS Guard should identify affected AKS clusters and schedule migration as a priority to maintain </a:t>
            </a:r>
            <a:r>
              <a:rPr lang="en-US" b="1" dirty="0"/>
              <a:t>security patching, supportability, and reliable cluster lifecycle operations</a:t>
            </a:r>
            <a:r>
              <a:rPr lang="en-US" dirty="0"/>
              <a:t>.</a:t>
            </a:r>
          </a:p>
          <a:p>
            <a:pPr algn="just"/>
            <a:endParaRPr lang="en-US" dirty="0"/>
          </a:p>
        </p:txBody>
      </p:sp>
    </p:spTree>
    <p:extLst>
      <p:ext uri="{BB962C8B-B14F-4D97-AF65-F5344CB8AC3E}">
        <p14:creationId xmlns:p14="http://schemas.microsoft.com/office/powerpoint/2010/main" val="163932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894A7C3-5FB1-1142-43BB-C9D9D2F5FD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9" y="0"/>
            <a:ext cx="9139141" cy="5143500"/>
          </a:xfrm>
          <a:prstGeom prst="rect">
            <a:avLst/>
          </a:prstGeom>
        </p:spPr>
      </p:pic>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solidFill>
                  <a:schemeClr val="bg1"/>
                </a:solidFill>
              </a:rPr>
              <a:t>Storage &amp; Data</a:t>
            </a:r>
          </a:p>
        </p:txBody>
      </p:sp>
    </p:spTree>
    <p:extLst>
      <p:ext uri="{BB962C8B-B14F-4D97-AF65-F5344CB8AC3E}">
        <p14:creationId xmlns:p14="http://schemas.microsoft.com/office/powerpoint/2010/main" val="21881407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Storage &amp; Data Updates (Preview)</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Public Preview: Agentless migration of on-premises SMB file shares to Azure Files (SMB)</a:t>
            </a:r>
            <a:endParaRPr lang="en-US" dirty="0"/>
          </a:p>
          <a:p>
            <a:pPr algn="just"/>
            <a:r>
              <a:rPr lang="en-US" dirty="0" err="1"/>
              <a:t>zure</a:t>
            </a:r>
            <a:r>
              <a:rPr lang="en-US" dirty="0"/>
              <a:t> Storage Mover now supports agentless migration of on-premises SMB file shares to Azure Files (SMB), in public preview. You can move file data from Windows Server or NAS shares into Azure without deploying, registering, or maintaining a migration agent on-premises.</a:t>
            </a:r>
            <a:br>
              <a:rPr lang="en-US" dirty="0"/>
            </a:br>
            <a:r>
              <a:rPr lang="en-US" dirty="0"/>
              <a:t>With agentless migration, the Storage Mover service connects directly to your SMB share over your existing private connection (VPN or ExpressRoute) and copies data to the destination Azure file share. Source credentials are stored securely in Azure Key Vault, and Storage Mover's managed identities handle access to both the source secrets and the target share. Configure source and target endpoints, create a job, and start the copy from the Azure portal or Azure CLI.</a:t>
            </a:r>
            <a:br>
              <a:rPr lang="en-US" dirty="0"/>
            </a:br>
            <a:r>
              <a:rPr lang="en-US" dirty="0"/>
              <a:t>Agentless SMB migration joins Storage Mover's existing agent-based paths for SMB and NFS sources, giving you more flexibility to modernize file storage on your own terms.</a:t>
            </a:r>
          </a:p>
        </p:txBody>
      </p:sp>
    </p:spTree>
    <p:extLst>
      <p:ext uri="{BB962C8B-B14F-4D97-AF65-F5344CB8AC3E}">
        <p14:creationId xmlns:p14="http://schemas.microsoft.com/office/powerpoint/2010/main" val="32594031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3152D9-DBC8-1BB3-CB3A-906BE1CABE4C}"/>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42DF6D2C-F56A-685B-1BF3-E4EBF4C6CDA8}"/>
              </a:ext>
            </a:extLst>
          </p:cNvPr>
          <p:cNvSpPr>
            <a:spLocks noGrp="1"/>
          </p:cNvSpPr>
          <p:nvPr>
            <p:ph type="body" sz="quarter" idx="10"/>
          </p:nvPr>
        </p:nvSpPr>
        <p:spPr/>
        <p:txBody>
          <a:bodyPr/>
          <a:lstStyle/>
          <a:p>
            <a:pPr algn="just"/>
            <a:r>
              <a:rPr lang="en-US" sz="1000" dirty="0">
                <a:hlinkClick r:id="rId2"/>
              </a:rPr>
              <a:t>Dell Managed </a:t>
            </a:r>
            <a:r>
              <a:rPr lang="en-US" sz="1000" dirty="0" err="1">
                <a:hlinkClick r:id="rId2"/>
              </a:rPr>
              <a:t>PowerScale</a:t>
            </a:r>
            <a:r>
              <a:rPr lang="en-US" sz="1000" dirty="0">
                <a:hlinkClick r:id="rId2"/>
              </a:rPr>
              <a:t> for Microsoft Azure is now generally available</a:t>
            </a:r>
            <a:endParaRPr lang="en-US" sz="1000" dirty="0"/>
          </a:p>
          <a:p>
            <a:pPr algn="just"/>
            <a:r>
              <a:rPr lang="en-US" sz="1000" b="1" dirty="0"/>
              <a:t>Dell Managed </a:t>
            </a:r>
            <a:r>
              <a:rPr lang="en-US" sz="1000" b="1" dirty="0" err="1"/>
              <a:t>PowerScale</a:t>
            </a:r>
            <a:r>
              <a:rPr lang="en-US" sz="1000" b="1" dirty="0"/>
              <a:t> for Microsoft Azure</a:t>
            </a:r>
            <a:r>
              <a:rPr lang="en-US" sz="1000" dirty="0"/>
              <a:t> is now </a:t>
            </a:r>
            <a:r>
              <a:rPr lang="en-US" sz="1000" b="1" dirty="0"/>
              <a:t>generally available</a:t>
            </a:r>
            <a:r>
              <a:rPr lang="en-US" sz="1000" dirty="0"/>
              <a:t>, bringing </a:t>
            </a:r>
            <a:r>
              <a:rPr lang="en-US" sz="1000" b="1" dirty="0"/>
              <a:t>Dell </a:t>
            </a:r>
            <a:r>
              <a:rPr lang="en-US" sz="1000" b="1" dirty="0" err="1"/>
              <a:t>PowerScale</a:t>
            </a:r>
            <a:r>
              <a:rPr lang="en-US" sz="1000" b="1" dirty="0"/>
              <a:t> and the </a:t>
            </a:r>
            <a:r>
              <a:rPr lang="en-US" sz="1000" b="1" dirty="0" err="1"/>
              <a:t>OneFS</a:t>
            </a:r>
            <a:r>
              <a:rPr lang="en-US" sz="1000" b="1" dirty="0"/>
              <a:t> file system</a:t>
            </a:r>
            <a:r>
              <a:rPr lang="en-US" sz="1000" dirty="0"/>
              <a:t> to Azure as an </a:t>
            </a:r>
            <a:r>
              <a:rPr lang="en-US" sz="1000" b="1" dirty="0"/>
              <a:t>Azure Native ISV Service</a:t>
            </a:r>
            <a:r>
              <a:rPr lang="en-US" sz="1000" dirty="0"/>
              <a:t>. The service targets organizations managing large volumes of </a:t>
            </a:r>
            <a:r>
              <a:rPr lang="en-US" sz="1000" b="1" dirty="0"/>
              <a:t>unstructured data</a:t>
            </a:r>
            <a:r>
              <a:rPr lang="en-US" sz="1000" dirty="0"/>
              <a:t> or looking to extend existing on-premises </a:t>
            </a:r>
            <a:r>
              <a:rPr lang="en-US" sz="1000" dirty="0" err="1"/>
              <a:t>PowerScale</a:t>
            </a:r>
            <a:r>
              <a:rPr lang="en-US" sz="1000" dirty="0"/>
              <a:t> environments into Azure without operating the underlying storage infrastructure themselves. </a:t>
            </a:r>
          </a:p>
          <a:p>
            <a:pPr algn="just"/>
            <a:r>
              <a:rPr lang="en-US" sz="1000" dirty="0"/>
              <a:t>Dell manages the infrastructure, including </a:t>
            </a:r>
            <a:r>
              <a:rPr lang="en-US" sz="1000" b="1" dirty="0"/>
              <a:t>platform upgrades, maintenance, and support</a:t>
            </a:r>
            <a:r>
              <a:rPr lang="en-US" sz="1000" dirty="0"/>
              <a:t>, while customers provision and manage the service through the </a:t>
            </a:r>
            <a:r>
              <a:rPr lang="en-US" sz="1000" b="1" dirty="0"/>
              <a:t>Azure portal, Azure CLI, and PowerShell</a:t>
            </a:r>
            <a:r>
              <a:rPr lang="en-US" sz="1000" dirty="0"/>
              <a:t>. It integrates with customer Azure </a:t>
            </a:r>
            <a:r>
              <a:rPr lang="en-US" sz="1000" dirty="0" err="1"/>
              <a:t>VNets</a:t>
            </a:r>
            <a:r>
              <a:rPr lang="en-US" sz="1000" dirty="0"/>
              <a:t> for private workload access and is available through Azure Marketplace with consolidated Azure billing. </a:t>
            </a:r>
          </a:p>
          <a:p>
            <a:pPr algn="just"/>
            <a:r>
              <a:rPr lang="en-US" sz="1000" dirty="0"/>
              <a:t>The service supports up to </a:t>
            </a:r>
            <a:r>
              <a:rPr lang="en-US" sz="1000" b="1" dirty="0"/>
              <a:t>8.4 PB in a single namespace</a:t>
            </a:r>
            <a:r>
              <a:rPr lang="en-US" sz="1000" dirty="0"/>
              <a:t> with simultaneous </a:t>
            </a:r>
            <a:r>
              <a:rPr lang="en-US" sz="1000" b="1" dirty="0"/>
              <a:t>NFS, SMB, and S3</a:t>
            </a:r>
            <a:r>
              <a:rPr lang="en-US" sz="1000" dirty="0"/>
              <a:t> access. It also provides </a:t>
            </a:r>
            <a:r>
              <a:rPr lang="en-US" sz="1000" dirty="0" err="1"/>
              <a:t>PowerScale</a:t>
            </a:r>
            <a:r>
              <a:rPr lang="en-US" sz="1000" dirty="0"/>
              <a:t> capabilities including </a:t>
            </a:r>
            <a:r>
              <a:rPr lang="en-US" sz="1000" b="1" dirty="0"/>
              <a:t>replication, compression, deduplication, and tiering to Azure Blob Storage using Cloud Pools</a:t>
            </a:r>
            <a:r>
              <a:rPr lang="en-US" sz="1000" dirty="0"/>
              <a:t>. </a:t>
            </a:r>
          </a:p>
          <a:p>
            <a:pPr algn="just"/>
            <a:r>
              <a:rPr lang="en-US" sz="1000" dirty="0"/>
              <a:t>This provides a managed option for </a:t>
            </a:r>
            <a:r>
              <a:rPr lang="en-US" sz="1000" b="1" dirty="0"/>
              <a:t>hybrid data architectures, cloud disaster recovery, analytics, and data-intensive applications</a:t>
            </a:r>
            <a:r>
              <a:rPr lang="en-US" sz="1000" dirty="0"/>
              <a:t> requiring scalable shared file storage. At launch, the service is available in the </a:t>
            </a:r>
            <a:r>
              <a:rPr lang="en-US" sz="1000" b="1" dirty="0"/>
              <a:t>East US Azure region</a:t>
            </a:r>
            <a:r>
              <a:rPr lang="en-US" sz="1000" dirty="0"/>
              <a:t>. </a:t>
            </a:r>
          </a:p>
          <a:p>
            <a:pPr algn="just"/>
            <a:endParaRPr lang="en-US" sz="1000" dirty="0"/>
          </a:p>
        </p:txBody>
      </p:sp>
      <p:sp>
        <p:nvSpPr>
          <p:cNvPr id="11" name="Title 10">
            <a:extLst>
              <a:ext uri="{FF2B5EF4-FFF2-40B4-BE49-F238E27FC236}">
                <a16:creationId xmlns:a16="http://schemas.microsoft.com/office/drawing/2014/main" id="{04047DB6-1854-02E5-91AF-2A84CBC86224}"/>
              </a:ext>
            </a:extLst>
          </p:cNvPr>
          <p:cNvSpPr>
            <a:spLocks noGrp="1"/>
          </p:cNvSpPr>
          <p:nvPr>
            <p:ph type="title"/>
          </p:nvPr>
        </p:nvSpPr>
        <p:spPr/>
        <p:txBody>
          <a:bodyPr/>
          <a:lstStyle/>
          <a:p>
            <a:r>
              <a:rPr lang="en-US" sz="1800" dirty="0"/>
              <a:t>Storage &amp; Data Updates (General Available)</a:t>
            </a:r>
            <a:endParaRPr lang="en-US" dirty="0"/>
          </a:p>
        </p:txBody>
      </p:sp>
      <p:sp>
        <p:nvSpPr>
          <p:cNvPr id="13" name="Text Placeholder 12">
            <a:extLst>
              <a:ext uri="{FF2B5EF4-FFF2-40B4-BE49-F238E27FC236}">
                <a16:creationId xmlns:a16="http://schemas.microsoft.com/office/drawing/2014/main" id="{D3C9CC31-A12C-B5F1-6B1A-86D3C7CE03BA}"/>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5F082C05-93E4-F01C-DC62-70427109EFEE}"/>
              </a:ext>
            </a:extLst>
          </p:cNvPr>
          <p:cNvSpPr>
            <a:spLocks noGrp="1"/>
          </p:cNvSpPr>
          <p:nvPr>
            <p:ph type="body" sz="quarter" idx="16"/>
          </p:nvPr>
        </p:nvSpPr>
        <p:spPr/>
        <p:txBody>
          <a:bodyPr/>
          <a:lstStyle/>
          <a:p>
            <a:pPr algn="just"/>
            <a:r>
              <a:rPr lang="en-US" dirty="0">
                <a:hlinkClick r:id="rId3"/>
              </a:rPr>
              <a:t>Generally Available: User-bound user delegation SAS for Azure Storage</a:t>
            </a:r>
            <a:endParaRPr lang="en-US" dirty="0"/>
          </a:p>
          <a:p>
            <a:pPr algn="just"/>
            <a:r>
              <a:rPr lang="en-US" b="1" dirty="0"/>
              <a:t>User-bound User Delegation SAS</a:t>
            </a:r>
            <a:r>
              <a:rPr lang="en-US" dirty="0"/>
              <a:t> for Azure Storage is now </a:t>
            </a:r>
            <a:r>
              <a:rPr lang="en-US" b="1" dirty="0"/>
              <a:t>generally available across all Azure regions</a:t>
            </a:r>
            <a:r>
              <a:rPr lang="en-US" dirty="0"/>
              <a:t>, providing stronger identity-based controls for Shared Access Signature (SAS) tokens. The capability combines the temporary delegated access of </a:t>
            </a:r>
            <a:r>
              <a:rPr lang="en-US" b="1" dirty="0"/>
              <a:t>User Delegation SAS</a:t>
            </a:r>
            <a:r>
              <a:rPr lang="en-US" dirty="0"/>
              <a:t> with </a:t>
            </a:r>
            <a:r>
              <a:rPr lang="en-US" b="1" dirty="0"/>
              <a:t>Microsoft Entra ID user identity binding</a:t>
            </a:r>
            <a:r>
              <a:rPr lang="en-US" dirty="0"/>
              <a:t>, ensuring that a generated SAS token can only be used by its intended end user.</a:t>
            </a:r>
          </a:p>
          <a:p>
            <a:pPr algn="just"/>
            <a:r>
              <a:rPr lang="en-US" dirty="0"/>
              <a:t>Unlike account or service SAS, User Delegation SAS already requires the delegator to authenticate through Entra ID and supports tokens valid for a maximum of </a:t>
            </a:r>
            <a:r>
              <a:rPr lang="en-US" b="1" dirty="0"/>
              <a:t>seven days</a:t>
            </a:r>
            <a:r>
              <a:rPr lang="en-US" dirty="0"/>
              <a:t>. User-bound delegation adds another security layer by restricting use of the token to a </a:t>
            </a:r>
            <a:r>
              <a:rPr lang="en-US" b="1" dirty="0"/>
              <a:t>specific Entra ID identity</a:t>
            </a:r>
            <a:r>
              <a:rPr lang="en-US" dirty="0"/>
              <a:t>, reducing the risk associated with a SAS token being copied, leaked, or shared with an unauthorized user.</a:t>
            </a:r>
          </a:p>
          <a:p>
            <a:pPr algn="just"/>
            <a:r>
              <a:rPr lang="en-US" dirty="0"/>
              <a:t>The capability applies to </a:t>
            </a:r>
            <a:r>
              <a:rPr lang="en-US" b="1" dirty="0"/>
              <a:t>Azure Blob Storage, Azure Files, Azure Tables, and Azure Queues</a:t>
            </a:r>
            <a:r>
              <a:rPr lang="en-US" dirty="0"/>
              <a:t> and improves traceability and least-privilege access for applications that still require SAS-based access. There is </a:t>
            </a:r>
            <a:r>
              <a:rPr lang="en-US" b="1" dirty="0"/>
              <a:t>no additional feature charge</a:t>
            </a:r>
            <a:r>
              <a:rPr lang="en-US" dirty="0"/>
              <a:t>; standard Azure Storage transaction pricing continues to apply.</a:t>
            </a:r>
          </a:p>
          <a:p>
            <a:pPr algn="just"/>
            <a:endParaRPr lang="en-US" dirty="0"/>
          </a:p>
        </p:txBody>
      </p:sp>
    </p:spTree>
    <p:extLst>
      <p:ext uri="{BB962C8B-B14F-4D97-AF65-F5344CB8AC3E}">
        <p14:creationId xmlns:p14="http://schemas.microsoft.com/office/powerpoint/2010/main" val="3507518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56F8BCD-425D-C7B7-1AFF-05991429FE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9" y="0"/>
            <a:ext cx="9139141" cy="5143500"/>
          </a:xfrm>
          <a:prstGeom prst="rect">
            <a:avLst/>
          </a:prstGeom>
        </p:spPr>
      </p:pic>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solidFill>
                  <a:schemeClr val="bg1"/>
                </a:solidFill>
              </a:rPr>
              <a:t>ML &amp; AI &amp; IOT</a:t>
            </a:r>
          </a:p>
        </p:txBody>
      </p:sp>
    </p:spTree>
    <p:extLst>
      <p:ext uri="{BB962C8B-B14F-4D97-AF65-F5344CB8AC3E}">
        <p14:creationId xmlns:p14="http://schemas.microsoft.com/office/powerpoint/2010/main" val="35148783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91E86-1EBC-4F6B-6E64-6EB5FD91F4AC}"/>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914285B5-6219-941D-B080-ACB23944E4D0}"/>
              </a:ext>
            </a:extLst>
          </p:cNvPr>
          <p:cNvSpPr>
            <a:spLocks noGrp="1"/>
          </p:cNvSpPr>
          <p:nvPr>
            <p:ph type="body" sz="quarter" idx="10"/>
          </p:nvPr>
        </p:nvSpPr>
        <p:spPr/>
        <p:txBody>
          <a:bodyPr/>
          <a:lstStyle/>
          <a:p>
            <a:pPr algn="just"/>
            <a:r>
              <a:rPr lang="en-US" sz="1000" dirty="0">
                <a:hlinkClick r:id="rId2"/>
              </a:rPr>
              <a:t>Available today: OpenAI GPT-6 Astra in Microsoft Copilot</a:t>
            </a:r>
            <a:endParaRPr lang="en-US" sz="1000" dirty="0"/>
          </a:p>
          <a:p>
            <a:pPr algn="just"/>
            <a:r>
              <a:rPr lang="en-US" sz="1000" b="1" dirty="0"/>
              <a:t>OpenAI GPT-6 Astra</a:t>
            </a:r>
            <a:r>
              <a:rPr lang="en-US" sz="1000" dirty="0"/>
              <a:t> is now available in </a:t>
            </a:r>
            <a:r>
              <a:rPr lang="en-US" sz="1000" b="1" dirty="0"/>
              <a:t>Microsoft Copilot</a:t>
            </a:r>
            <a:r>
              <a:rPr lang="en-US" sz="1000" dirty="0"/>
              <a:t>, bringing OpenAI’s latest model capabilities directly into Microsoft’s AI assistant experience. The update is intended to improve Copilot’s ability to handle </a:t>
            </a:r>
            <a:r>
              <a:rPr lang="en-US" sz="1000" b="1" dirty="0"/>
              <a:t>complex reasoning, analysis, content creation, and multi-step knowledge-work tasks</a:t>
            </a:r>
            <a:r>
              <a:rPr lang="en-US" sz="1000" dirty="0"/>
              <a:t>. </a:t>
            </a:r>
          </a:p>
          <a:p>
            <a:pPr algn="just"/>
            <a:r>
              <a:rPr lang="en-US" sz="1000" dirty="0"/>
              <a:t>The new model strengthens Copilot for scenarios where users need to work across more complex information, develop detailed outputs, or solve problems requiring deeper reasoning rather than simple question answering. Integration into Copilot allows organizations and users to benefit from the new model without having to build or operate a separate AI application.</a:t>
            </a:r>
          </a:p>
          <a:p>
            <a:pPr algn="just"/>
            <a:r>
              <a:rPr lang="en-US" sz="1000" dirty="0"/>
              <a:t>For enterprises, the update continues Microsoft’s strategy of rapidly incorporating new </a:t>
            </a:r>
            <a:r>
              <a:rPr lang="en-US" sz="1000" b="1" dirty="0"/>
              <a:t>OpenAI model generations into Copilot</a:t>
            </a:r>
            <a:r>
              <a:rPr lang="en-US" sz="1000" dirty="0"/>
              <a:t>, improving the capabilities available for everyday productivity and business workflows. It is particularly relevant for </a:t>
            </a:r>
            <a:r>
              <a:rPr lang="en-US" sz="1000" b="1" dirty="0"/>
              <a:t>research, document analysis, planning, technical work, and other reasoning-intensive activities</a:t>
            </a:r>
            <a:r>
              <a:rPr lang="en-US" sz="1000" dirty="0"/>
              <a:t> where model quality can materially affect the usefulness of the output.</a:t>
            </a:r>
          </a:p>
          <a:p>
            <a:pPr algn="just"/>
            <a:endParaRPr lang="en-US" sz="1000" dirty="0"/>
          </a:p>
        </p:txBody>
      </p:sp>
      <p:sp>
        <p:nvSpPr>
          <p:cNvPr id="11" name="Title 10">
            <a:extLst>
              <a:ext uri="{FF2B5EF4-FFF2-40B4-BE49-F238E27FC236}">
                <a16:creationId xmlns:a16="http://schemas.microsoft.com/office/drawing/2014/main" id="{F0107EA6-8DB4-F344-F529-449034C075F0}"/>
              </a:ext>
            </a:extLst>
          </p:cNvPr>
          <p:cNvSpPr>
            <a:spLocks noGrp="1"/>
          </p:cNvSpPr>
          <p:nvPr>
            <p:ph type="title"/>
          </p:nvPr>
        </p:nvSpPr>
        <p:spPr/>
        <p:txBody>
          <a:bodyPr/>
          <a:lstStyle/>
          <a:p>
            <a:r>
              <a:rPr lang="en-US" sz="1800" dirty="0"/>
              <a:t>ML &amp; AI &amp; IOT Updates (General Available)</a:t>
            </a:r>
            <a:endParaRPr lang="en-US" dirty="0"/>
          </a:p>
        </p:txBody>
      </p:sp>
      <p:sp>
        <p:nvSpPr>
          <p:cNvPr id="13" name="Text Placeholder 12">
            <a:extLst>
              <a:ext uri="{FF2B5EF4-FFF2-40B4-BE49-F238E27FC236}">
                <a16:creationId xmlns:a16="http://schemas.microsoft.com/office/drawing/2014/main" id="{DA4EB956-5F49-48E0-B1D6-AE1A636CECB0}"/>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383DE5A4-66B0-B9DC-0E46-93B58BC9C3FE}"/>
              </a:ext>
            </a:extLst>
          </p:cNvPr>
          <p:cNvSpPr>
            <a:spLocks noGrp="1"/>
          </p:cNvSpPr>
          <p:nvPr>
            <p:ph type="body" sz="quarter" idx="16"/>
          </p:nvPr>
        </p:nvSpPr>
        <p:spPr/>
        <p:txBody>
          <a:bodyPr/>
          <a:lstStyle/>
          <a:p>
            <a:pPr algn="just"/>
            <a:r>
              <a:rPr lang="en-US" dirty="0">
                <a:hlinkClick r:id="rId3"/>
              </a:rPr>
              <a:t>Azure Copilot announces general availability of the Troubleshooting Agent</a:t>
            </a:r>
            <a:endParaRPr lang="en-US" dirty="0"/>
          </a:p>
          <a:p>
            <a:pPr algn="just"/>
            <a:r>
              <a:rPr lang="en-US" b="1" dirty="0"/>
              <a:t>Azure Copilot Troubleshooting Agent</a:t>
            </a:r>
            <a:r>
              <a:rPr lang="en-US" dirty="0"/>
              <a:t> is now </a:t>
            </a:r>
            <a:r>
              <a:rPr lang="en-US" b="1" dirty="0"/>
              <a:t>generally available</a:t>
            </a:r>
            <a:r>
              <a:rPr lang="en-US" dirty="0"/>
              <a:t>, providing a unified AI-powered capability for investigating and resolving Azure operational issues. It is accessible through both </a:t>
            </a:r>
            <a:r>
              <a:rPr lang="en-US" b="1" dirty="0"/>
              <a:t>Azure Copilot</a:t>
            </a:r>
            <a:r>
              <a:rPr lang="en-US" dirty="0"/>
              <a:t> and </a:t>
            </a:r>
            <a:r>
              <a:rPr lang="en-US" b="1" dirty="0"/>
              <a:t>Support + Troubleshooting</a:t>
            </a:r>
            <a:r>
              <a:rPr lang="en-US" dirty="0"/>
              <a:t> in the Azure portal, combining resource context, diagnostics, likely causes, and recommended remediation actions in a conversational experience. </a:t>
            </a:r>
          </a:p>
          <a:p>
            <a:pPr algn="just"/>
            <a:r>
              <a:rPr lang="en-US" dirty="0"/>
              <a:t>At GA, </a:t>
            </a:r>
            <a:r>
              <a:rPr lang="en-US" b="1" dirty="0"/>
              <a:t>Azure Compute and Azure Kubernetes Service (AKS)</a:t>
            </a:r>
            <a:r>
              <a:rPr lang="en-US" dirty="0"/>
              <a:t> provide enhanced service-specific troubleshooting. For Compute, the agent can investigate VM restarts, boot and connectivity failures, high resource utilization, deployment/allocation failures, and unhealthy scale-set instances; for AKS, it covers pod restarts, failed deployments, scheduling, networking, scaling, upgrade regressions, and performance issues. </a:t>
            </a:r>
          </a:p>
          <a:p>
            <a:pPr algn="just"/>
            <a:r>
              <a:rPr lang="en-US" dirty="0"/>
              <a:t>The agent uses available Azure resource information and diagnostics while respecting the user's </a:t>
            </a:r>
            <a:r>
              <a:rPr lang="en-US" b="1" dirty="0"/>
              <a:t>identity and Azure RBAC permissions</a:t>
            </a:r>
            <a:r>
              <a:rPr lang="en-US" dirty="0"/>
              <a:t>. It explains the evidence behind its findings and recommends actions for review rather than automatically applying remediation, keeping operators in control. </a:t>
            </a:r>
          </a:p>
          <a:p>
            <a:pPr algn="just"/>
            <a:r>
              <a:rPr lang="en-US" dirty="0"/>
              <a:t>For operations teams, this can reduce </a:t>
            </a:r>
            <a:r>
              <a:rPr lang="en-US" b="1" dirty="0"/>
              <a:t>mean time to diagnose (MTTD) and troubleshoot incidents</a:t>
            </a:r>
            <a:r>
              <a:rPr lang="en-US" dirty="0"/>
              <a:t> by consolidating investigation steps that would otherwise require multiple Azure tools and documentation sources. The Troubleshooting Agent is available </a:t>
            </a:r>
            <a:r>
              <a:rPr lang="en-US" b="1" dirty="0"/>
              <a:t>at no additional cost</a:t>
            </a:r>
            <a:r>
              <a:rPr lang="en-US" dirty="0"/>
              <a:t>, with no separate license or per-query charge. </a:t>
            </a:r>
          </a:p>
          <a:p>
            <a:pPr algn="just"/>
            <a:endParaRPr lang="en-US" dirty="0"/>
          </a:p>
        </p:txBody>
      </p:sp>
    </p:spTree>
    <p:extLst>
      <p:ext uri="{BB962C8B-B14F-4D97-AF65-F5344CB8AC3E}">
        <p14:creationId xmlns:p14="http://schemas.microsoft.com/office/powerpoint/2010/main" val="38499619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F5F9B1C-792B-99EC-B7CD-0AF8D296B8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9" y="0"/>
            <a:ext cx="9139141" cy="5143500"/>
          </a:xfrm>
          <a:prstGeom prst="rect">
            <a:avLst/>
          </a:prstGeom>
        </p:spPr>
      </p:pic>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a:xfrm>
            <a:off x="252845" y="1285875"/>
            <a:ext cx="4748646" cy="1714500"/>
          </a:xfrm>
        </p:spPr>
        <p:txBody>
          <a:bodyPr/>
          <a:lstStyle/>
          <a:p>
            <a:r>
              <a:rPr lang="en-US" sz="4000" dirty="0">
                <a:solidFill>
                  <a:schemeClr val="bg1"/>
                </a:solidFill>
              </a:rPr>
              <a:t>DevOps &amp; IaC &amp; Automation</a:t>
            </a:r>
          </a:p>
        </p:txBody>
      </p:sp>
    </p:spTree>
    <p:extLst>
      <p:ext uri="{BB962C8B-B14F-4D97-AF65-F5344CB8AC3E}">
        <p14:creationId xmlns:p14="http://schemas.microsoft.com/office/powerpoint/2010/main" val="6537846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86D8C-1CF7-CFC9-5082-9B054DB0E4B0}"/>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7CBCE21E-6E97-4575-224A-07A9BE04CC17}"/>
              </a:ext>
            </a:extLst>
          </p:cNvPr>
          <p:cNvSpPr>
            <a:spLocks noGrp="1"/>
          </p:cNvSpPr>
          <p:nvPr>
            <p:ph type="body" sz="quarter" idx="10"/>
          </p:nvPr>
        </p:nvSpPr>
        <p:spPr/>
        <p:txBody>
          <a:bodyPr/>
          <a:lstStyle/>
          <a:p>
            <a:pPr algn="just"/>
            <a:r>
              <a:rPr lang="en-US" sz="1000" dirty="0">
                <a:hlinkClick r:id="rId2"/>
              </a:rPr>
              <a:t>Generally Available: Playwright Workspaces in Australia East, Japan East, and Switzerland North</a:t>
            </a:r>
            <a:endParaRPr lang="en-US" sz="1000" dirty="0"/>
          </a:p>
          <a:p>
            <a:pPr algn="just"/>
            <a:r>
              <a:rPr lang="en-US" sz="1000" b="1" dirty="0"/>
              <a:t>Playwright Workspaces in Azure App Testing</a:t>
            </a:r>
            <a:r>
              <a:rPr lang="en-US" sz="1000" dirty="0"/>
              <a:t> is now </a:t>
            </a:r>
            <a:r>
              <a:rPr lang="en-US" sz="1000" b="1" dirty="0"/>
              <a:t>generally available in Switzerland North, Japan East, and Australia East</a:t>
            </a:r>
            <a:r>
              <a:rPr lang="en-US" sz="1000" dirty="0"/>
              <a:t>, expanding regional availability for managed browser-based application testing.</a:t>
            </a:r>
          </a:p>
          <a:p>
            <a:pPr algn="just"/>
            <a:r>
              <a:rPr lang="en-US" sz="1000" dirty="0"/>
              <a:t>The service provides </a:t>
            </a:r>
            <a:r>
              <a:rPr lang="en-US" sz="1000" b="1" dirty="0"/>
              <a:t>fully managed, cloud-hosted browsers</a:t>
            </a:r>
            <a:r>
              <a:rPr lang="en-US" sz="1000" dirty="0"/>
              <a:t> for running existing Playwright end-to-end test suites without organizations having to deploy and maintain their own browser testing infrastructure. Tests can execute </a:t>
            </a:r>
            <a:r>
              <a:rPr lang="en-US" sz="1000" b="1" dirty="0"/>
              <a:t>in parallel at scale</a:t>
            </a:r>
            <a:r>
              <a:rPr lang="en-US" sz="1000" dirty="0"/>
              <a:t>, helping reduce testing time for larger application portfolios and CI/CD pipelines.</a:t>
            </a:r>
          </a:p>
          <a:p>
            <a:pPr algn="just"/>
            <a:r>
              <a:rPr lang="en-US" sz="1000" dirty="0"/>
              <a:t>Playwright Workspaces also provides debugging artifacts including </a:t>
            </a:r>
            <a:r>
              <a:rPr lang="en-US" sz="1000" b="1" dirty="0"/>
              <a:t>traces, videos, and screenshots</a:t>
            </a:r>
            <a:r>
              <a:rPr lang="en-US" sz="1000" dirty="0"/>
              <a:t>, making it easier for development teams to investigate failed tests. Integration with </a:t>
            </a:r>
            <a:r>
              <a:rPr lang="en-US" sz="1000" b="1" dirty="0"/>
              <a:t>CI/CD workflows</a:t>
            </a:r>
            <a:r>
              <a:rPr lang="en-US" sz="1000" dirty="0"/>
              <a:t> allows automated end-to-end testing to become part of application build and release processes.</a:t>
            </a:r>
          </a:p>
          <a:p>
            <a:pPr algn="just"/>
            <a:r>
              <a:rPr lang="en-US" sz="1000" dirty="0"/>
              <a:t>The additional regions are particularly valuable for organizations requiring </a:t>
            </a:r>
            <a:r>
              <a:rPr lang="en-US" sz="1000" b="1" dirty="0"/>
              <a:t>regional execution, lower testing latency, or geographic alignment of development and testing environments</a:t>
            </a:r>
            <a:r>
              <a:rPr lang="en-US" sz="1000" dirty="0"/>
              <a:t>.</a:t>
            </a:r>
          </a:p>
          <a:p>
            <a:pPr algn="just"/>
            <a:endParaRPr lang="en-US" sz="1000" dirty="0"/>
          </a:p>
        </p:txBody>
      </p:sp>
      <p:sp>
        <p:nvSpPr>
          <p:cNvPr id="11" name="Title 10">
            <a:extLst>
              <a:ext uri="{FF2B5EF4-FFF2-40B4-BE49-F238E27FC236}">
                <a16:creationId xmlns:a16="http://schemas.microsoft.com/office/drawing/2014/main" id="{913ABE3E-5CF4-60DA-7E03-258003FB6E61}"/>
              </a:ext>
            </a:extLst>
          </p:cNvPr>
          <p:cNvSpPr>
            <a:spLocks noGrp="1"/>
          </p:cNvSpPr>
          <p:nvPr>
            <p:ph type="title"/>
          </p:nvPr>
        </p:nvSpPr>
        <p:spPr/>
        <p:txBody>
          <a:bodyPr/>
          <a:lstStyle/>
          <a:p>
            <a:r>
              <a:rPr lang="en-US" sz="1800" dirty="0"/>
              <a:t>DevOps &amp; IaC &amp; Automation (General Available)</a:t>
            </a:r>
          </a:p>
        </p:txBody>
      </p:sp>
      <p:sp>
        <p:nvSpPr>
          <p:cNvPr id="13" name="Text Placeholder 12">
            <a:extLst>
              <a:ext uri="{FF2B5EF4-FFF2-40B4-BE49-F238E27FC236}">
                <a16:creationId xmlns:a16="http://schemas.microsoft.com/office/drawing/2014/main" id="{F39435DB-59FA-A2E5-622B-52C33AFF7708}"/>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BD47C64A-30C7-BF38-06B4-45C2009206FC}"/>
              </a:ext>
            </a:extLst>
          </p:cNvPr>
          <p:cNvSpPr>
            <a:spLocks noGrp="1"/>
          </p:cNvSpPr>
          <p:nvPr>
            <p:ph type="body" sz="quarter" idx="16"/>
          </p:nvPr>
        </p:nvSpPr>
        <p:spPr/>
        <p:txBody>
          <a:bodyPr/>
          <a:lstStyle/>
          <a:p>
            <a:pPr algn="just"/>
            <a:r>
              <a:rPr lang="en-US" dirty="0">
                <a:hlinkClick r:id="rId3"/>
              </a:rPr>
              <a:t>Generally Available: Azure Developer CLI (</a:t>
            </a:r>
            <a:r>
              <a:rPr lang="en-US" dirty="0" err="1">
                <a:hlinkClick r:id="rId3"/>
              </a:rPr>
              <a:t>azd</a:t>
            </a:r>
            <a:r>
              <a:rPr lang="en-US" dirty="0">
                <a:hlinkClick r:id="rId3"/>
              </a:rPr>
              <a:t>) Extension Framework</a:t>
            </a:r>
            <a:endParaRPr lang="en-US" dirty="0"/>
          </a:p>
          <a:p>
            <a:pPr algn="just"/>
            <a:r>
              <a:rPr lang="en-US" dirty="0"/>
              <a:t>The Azure Developer CLI (</a:t>
            </a:r>
            <a:r>
              <a:rPr lang="en-US" dirty="0" err="1"/>
              <a:t>azd</a:t>
            </a:r>
            <a:r>
              <a:rPr lang="en-US" dirty="0"/>
              <a:t>) Extension Framework is now generally available. The framework enables developers, teams, and partners to extend Azure Developer CLI with custom capabilities that support their preferred application development workflows.</a:t>
            </a:r>
            <a:br>
              <a:rPr lang="en-US" dirty="0"/>
            </a:br>
            <a:br>
              <a:rPr lang="en-US" dirty="0"/>
            </a:br>
            <a:r>
              <a:rPr lang="en-US" dirty="0"/>
              <a:t>With the GA release, organizations can build and distribute extensions that integrate custom tools, automate development and deployment tasks, and provide tailored experiences for cloud application development on Azure. The extension framework helps standardize and simplify developer workflows while allowing teams to incorporate organization-specific processes and tooling.</a:t>
            </a:r>
            <a:br>
              <a:rPr lang="en-US" dirty="0"/>
            </a:br>
            <a:br>
              <a:rPr lang="en-US" dirty="0"/>
            </a:br>
            <a:r>
              <a:rPr lang="en-US" dirty="0"/>
              <a:t>The Azure Developer CLI extension model supports a growing ecosystem of extensions, enabling developers to enhance </a:t>
            </a:r>
            <a:r>
              <a:rPr lang="en-US" dirty="0" err="1"/>
              <a:t>azd</a:t>
            </a:r>
            <a:r>
              <a:rPr lang="en-US" dirty="0"/>
              <a:t> with additional functionality beyond the core CLI experience. This flexibility helps development teams streamline application delivery and adapt </a:t>
            </a:r>
            <a:r>
              <a:rPr lang="en-US" dirty="0" err="1"/>
              <a:t>azd</a:t>
            </a:r>
            <a:r>
              <a:rPr lang="en-US" dirty="0"/>
              <a:t> to their unique requirements.</a:t>
            </a:r>
          </a:p>
        </p:txBody>
      </p:sp>
    </p:spTree>
    <p:extLst>
      <p:ext uri="{BB962C8B-B14F-4D97-AF65-F5344CB8AC3E}">
        <p14:creationId xmlns:p14="http://schemas.microsoft.com/office/powerpoint/2010/main" val="1082689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AA57029-74C6-97A0-54A8-DC04D38422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9" y="0"/>
            <a:ext cx="9139141" cy="5143500"/>
          </a:xfrm>
          <a:prstGeom prst="rect">
            <a:avLst/>
          </a:prstGeom>
        </p:spPr>
      </p:pic>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solidFill>
                  <a:schemeClr val="bg1"/>
                </a:solidFill>
              </a:rPr>
              <a:t>Information</a:t>
            </a:r>
          </a:p>
        </p:txBody>
      </p:sp>
    </p:spTree>
    <p:extLst>
      <p:ext uri="{BB962C8B-B14F-4D97-AF65-F5344CB8AC3E}">
        <p14:creationId xmlns:p14="http://schemas.microsoft.com/office/powerpoint/2010/main" val="12760416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D9E4E97-A385-759E-BD70-47D0B91CA39E}"/>
              </a:ext>
            </a:extLst>
          </p:cNvPr>
          <p:cNvSpPr>
            <a:spLocks noGrp="1"/>
          </p:cNvSpPr>
          <p:nvPr>
            <p:ph type="body" sz="quarter" idx="10"/>
          </p:nvPr>
        </p:nvSpPr>
        <p:spPr>
          <a:xfrm>
            <a:off x="342900" y="855080"/>
            <a:ext cx="8455914" cy="3774069"/>
          </a:xfrm>
        </p:spPr>
        <p:txBody>
          <a:bodyPr/>
          <a:lstStyle/>
          <a:p>
            <a:r>
              <a:rPr lang="en-US" dirty="0">
                <a:hlinkClick r:id="rId2"/>
              </a:rPr>
              <a:t>Azure Times GitHub Repo</a:t>
            </a:r>
            <a:endParaRPr lang="en-US" dirty="0"/>
          </a:p>
        </p:txBody>
      </p:sp>
      <p:sp>
        <p:nvSpPr>
          <p:cNvPr id="3" name="Title 2">
            <a:extLst>
              <a:ext uri="{FF2B5EF4-FFF2-40B4-BE49-F238E27FC236}">
                <a16:creationId xmlns:a16="http://schemas.microsoft.com/office/drawing/2014/main" id="{78BEF490-0130-4022-0399-BE422CD7CB94}"/>
              </a:ext>
            </a:extLst>
          </p:cNvPr>
          <p:cNvSpPr>
            <a:spLocks noGrp="1"/>
          </p:cNvSpPr>
          <p:nvPr>
            <p:ph type="title"/>
          </p:nvPr>
        </p:nvSpPr>
        <p:spPr/>
        <p:txBody>
          <a:bodyPr/>
          <a:lstStyle/>
          <a:p>
            <a:r>
              <a:rPr lang="en-US" sz="1800" dirty="0"/>
              <a:t>Information</a:t>
            </a:r>
            <a:br>
              <a:rPr lang="en-US" sz="1800" dirty="0"/>
            </a:br>
            <a:endParaRPr lang="en-US" dirty="0"/>
          </a:p>
        </p:txBody>
      </p:sp>
    </p:spTree>
    <p:extLst>
      <p:ext uri="{BB962C8B-B14F-4D97-AF65-F5344CB8AC3E}">
        <p14:creationId xmlns:p14="http://schemas.microsoft.com/office/powerpoint/2010/main" val="7476815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60A7218-B9CA-F7E4-39B3-13A96D2645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9" y="0"/>
            <a:ext cx="9139141" cy="5143500"/>
          </a:xfrm>
          <a:prstGeom prst="rect">
            <a:avLst/>
          </a:prstGeom>
        </p:spPr>
      </p:pic>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solidFill>
                  <a:schemeClr val="bg1"/>
                </a:solidFill>
              </a:rPr>
              <a:t>Questions</a:t>
            </a:r>
          </a:p>
        </p:txBody>
      </p:sp>
    </p:spTree>
    <p:extLst>
      <p:ext uri="{BB962C8B-B14F-4D97-AF65-F5344CB8AC3E}">
        <p14:creationId xmlns:p14="http://schemas.microsoft.com/office/powerpoint/2010/main" val="2482707150"/>
      </p:ext>
    </p:extLst>
  </p:cSld>
  <p:clrMapOvr>
    <a:masterClrMapping/>
  </p:clrMapOvr>
</p:sld>
</file>

<file path=ppt/theme/theme1.xml><?xml version="1.0" encoding="utf-8"?>
<a:theme xmlns:a="http://schemas.openxmlformats.org/drawingml/2006/main" name="Continuum Theme">
  <a:themeElements>
    <a:clrScheme name="EPAM Continuum Final">
      <a:dk1>
        <a:srgbClr val="222222"/>
      </a:dk1>
      <a:lt1>
        <a:srgbClr val="FFFFFF"/>
      </a:lt1>
      <a:dk2>
        <a:srgbClr val="A0A0A0"/>
      </a:dk2>
      <a:lt2>
        <a:srgbClr val="DBDAD6"/>
      </a:lt2>
      <a:accent1>
        <a:srgbClr val="545454"/>
      </a:accent1>
      <a:accent2>
        <a:srgbClr val="FFC000"/>
      </a:accent2>
      <a:accent3>
        <a:srgbClr val="38C2D7"/>
      </a:accent3>
      <a:accent4>
        <a:srgbClr val="445464"/>
      </a:accent4>
      <a:accent5>
        <a:srgbClr val="008ACE"/>
      </a:accent5>
      <a:accent6>
        <a:srgbClr val="E53B2E"/>
      </a:accent6>
      <a:hlink>
        <a:srgbClr val="000000"/>
      </a:hlink>
      <a:folHlink>
        <a:srgbClr val="0000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a:noFill/>
        </a:ln>
        <a:effectLst/>
      </a:spPr>
      <a:bodyPr wrap="none" rtlCol="0" anchor="ctr"/>
      <a:lstStyle>
        <a:defPPr algn="ctr">
          <a:defRPr sz="2400" dirty="0" err="1" smtClean="0">
            <a:solidFill>
              <a:schemeClr val="bg1"/>
            </a:solidFill>
            <a:latin typeface="Calibri Light" panose="020F0302020204030204" pitchFamily="34" charset="0"/>
            <a:ea typeface="Human Sans ExtraLight" charset="0"/>
            <a:cs typeface="Human Sans ExtraLight" charset="0"/>
          </a:defRPr>
        </a:defPPr>
      </a:lstStyle>
    </a:spDef>
    <a:lnDef>
      <a:spPr>
        <a:ln w="635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110000"/>
          </a:lnSpc>
          <a:spcBef>
            <a:spcPts val="600"/>
          </a:spcBef>
          <a:defRPr sz="1200" dirty="0" err="1" smtClean="0">
            <a:ea typeface="Human Sans" charset="0"/>
            <a:cs typeface="Human Sans" charset="0"/>
          </a:defRPr>
        </a:defPPr>
      </a:lstStyle>
    </a:txDef>
  </a:objectDefaults>
  <a:extraClrSchemeLst/>
  <a:extLst>
    <a:ext uri="{05A4C25C-085E-4340-85A3-A5531E510DB2}">
      <thm15:themeFamily xmlns:thm15="http://schemas.microsoft.com/office/thememl/2012/main" name="Continuum_Master_v1.1" id="{D2F91407-39AD-2344-8F42-01B4155FF2FD}" vid="{09F1F252-BD3A-0A45-9F6B-518524EA32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C3A9FD6A1D2BC41832AF270024651C7" ma:contentTypeVersion="6" ma:contentTypeDescription="Create a new document." ma:contentTypeScope="" ma:versionID="0421700c9180782018be286cde8a21da">
  <xsd:schema xmlns:xsd="http://www.w3.org/2001/XMLSchema" xmlns:xs="http://www.w3.org/2001/XMLSchema" xmlns:p="http://schemas.microsoft.com/office/2006/metadata/properties" xmlns:ns2="2e7e23d5-2c80-4164-89d2-1708db4037b8" xmlns:ns3="4e7ac07f-2cd6-47aa-8863-e3015989625c" targetNamespace="http://schemas.microsoft.com/office/2006/metadata/properties" ma:root="true" ma:fieldsID="541d07e3f89946b63e942fc7370dae48" ns2:_="" ns3:_="">
    <xsd:import namespace="2e7e23d5-2c80-4164-89d2-1708db4037b8"/>
    <xsd:import namespace="4e7ac07f-2cd6-47aa-8863-e3015989625c"/>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e7e23d5-2c80-4164-89d2-1708db4037b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e7ac07f-2cd6-47aa-8863-e3015989625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5D63988-C0DC-4185-91C3-6687DBA2F390}">
  <ds:schemaRefs>
    <ds:schemaRef ds:uri="2e7e23d5-2c80-4164-89d2-1708db4037b8"/>
    <ds:schemaRef ds:uri="4e7ac07f-2cd6-47aa-8863-e3015989625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4DE7C614-AA74-4D4D-9D2D-D96DA5126C78}">
  <ds:schemaRefs>
    <ds:schemaRef ds:uri="http://schemas.microsoft.com/office/2006/metadata/properties"/>
    <ds:schemaRef ds:uri="http://schemas.microsoft.com/office/2006/documentManagement/types"/>
    <ds:schemaRef ds:uri="http://purl.org/dc/terms/"/>
    <ds:schemaRef ds:uri="http://purl.org/dc/elements/1.1/"/>
    <ds:schemaRef ds:uri="http://schemas.microsoft.com/office/infopath/2007/PartnerControls"/>
    <ds:schemaRef ds:uri="2e7e23d5-2c80-4164-89d2-1708db4037b8"/>
    <ds:schemaRef ds:uri="http://purl.org/dc/dcmitype/"/>
    <ds:schemaRef ds:uri="http://schemas.openxmlformats.org/package/2006/metadata/core-properties"/>
    <ds:schemaRef ds:uri="4e7ac07f-2cd6-47aa-8863-e3015989625c"/>
    <ds:schemaRef ds:uri="http://www.w3.org/XML/1998/namespace"/>
  </ds:schemaRefs>
</ds:datastoreItem>
</file>

<file path=customXml/itemProps3.xml><?xml version="1.0" encoding="utf-8"?>
<ds:datastoreItem xmlns:ds="http://schemas.openxmlformats.org/officeDocument/2006/customXml" ds:itemID="{EE04B39D-0CBA-4F8F-8809-785207E87965}">
  <ds:schemaRefs>
    <ds:schemaRef ds:uri="http://schemas.microsoft.com/sharepoint/v3/contenttype/forms"/>
  </ds:schemaRefs>
</ds:datastoreItem>
</file>

<file path=docMetadata/LabelInfo.xml><?xml version="1.0" encoding="utf-8"?>
<clbl:labelList xmlns:clbl="http://schemas.microsoft.com/office/2020/mipLabelMetadata">
  <clbl:label id="{2590e1b2-66ea-4d45-b1aa-185c322e3ba5}" enabled="1" method="Standard" siteId="{40a64d0b-f2f9-4a34-b1b3-0992ac0e5e4e}" contentBits="0" removed="0"/>
</clbl:labelList>
</file>

<file path=docProps/app.xml><?xml version="1.0" encoding="utf-8"?>
<Properties xmlns="http://schemas.openxmlformats.org/officeDocument/2006/extended-properties" xmlns:vt="http://schemas.openxmlformats.org/officeDocument/2006/docPropsVTypes">
  <Template>Covers</Template>
  <TotalTime>598</TotalTime>
  <Words>2584</Words>
  <Application>Microsoft Office PowerPoint</Application>
  <PresentationFormat>On-screen Show (16:9)</PresentationFormat>
  <Paragraphs>75</Paragraphs>
  <Slides>17</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Human Sans</vt:lpstr>
      <vt:lpstr>Human Sans Regular</vt:lpstr>
      <vt:lpstr>Continuum Theme</vt:lpstr>
      <vt:lpstr>Azure Times #223</vt:lpstr>
      <vt:lpstr>PowerPoint Presentation</vt:lpstr>
      <vt:lpstr>Management &amp; Governance Updates (General Available)</vt:lpstr>
      <vt:lpstr>PowerPoint Presentation</vt:lpstr>
      <vt:lpstr>Compute Updates (Preview)</vt:lpstr>
      <vt:lpstr>Compute Updates (General Available)</vt:lpstr>
      <vt:lpstr>Compute Updates</vt:lpstr>
      <vt:lpstr>PowerPoint Presentation</vt:lpstr>
      <vt:lpstr>Storage &amp; Data Updates (Preview)</vt:lpstr>
      <vt:lpstr>Storage &amp; Data Updates (General Available)</vt:lpstr>
      <vt:lpstr>PowerPoint Presentation</vt:lpstr>
      <vt:lpstr>ML &amp; AI &amp; IOT Updates (General Available)</vt:lpstr>
      <vt:lpstr>PowerPoint Presentation</vt:lpstr>
      <vt:lpstr>DevOps &amp; IaC &amp; Automation (General Available)</vt:lpstr>
      <vt:lpstr>PowerPoint Presentation</vt:lpstr>
      <vt:lpstr>Information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Maksim Admin Rotar</cp:lastModifiedBy>
  <cp:revision>115</cp:revision>
  <dcterms:created xsi:type="dcterms:W3CDTF">2018-01-26T19:23:30Z</dcterms:created>
  <dcterms:modified xsi:type="dcterms:W3CDTF">2026-09-12T10:45:24Z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0x0101008C3A9FD6A1D2BC41832AF270024651C7</vt:lpwstr>
  </property>
</Properties>
</file>