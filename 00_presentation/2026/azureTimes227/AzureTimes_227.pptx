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9"/>
  </p:notesMasterIdLst>
  <p:handoutMasterIdLst>
    <p:handoutMasterId r:id="rId40"/>
  </p:handoutMasterIdLst>
  <p:sldIdLst>
    <p:sldId id="2142532340" r:id="rId5"/>
    <p:sldId id="2146847045" r:id="rId6"/>
    <p:sldId id="10657" r:id="rId7"/>
    <p:sldId id="2146847127" r:id="rId8"/>
    <p:sldId id="2146847126" r:id="rId9"/>
    <p:sldId id="2146847125" r:id="rId10"/>
    <p:sldId id="2146847046" r:id="rId11"/>
    <p:sldId id="2146847129" r:id="rId12"/>
    <p:sldId id="2146847128" r:id="rId13"/>
    <p:sldId id="2146847048" r:id="rId14"/>
    <p:sldId id="2146847049" r:id="rId15"/>
    <p:sldId id="2146847133" r:id="rId16"/>
    <p:sldId id="2146847131" r:id="rId17"/>
    <p:sldId id="2146847050" r:id="rId18"/>
    <p:sldId id="2146847096" r:id="rId19"/>
    <p:sldId id="2146847135" r:id="rId20"/>
    <p:sldId id="2146847136" r:id="rId21"/>
    <p:sldId id="2146847157" r:id="rId22"/>
    <p:sldId id="2146847158" r:id="rId23"/>
    <p:sldId id="2146847159" r:id="rId24"/>
    <p:sldId id="2146847052" r:id="rId25"/>
    <p:sldId id="2146847100" r:id="rId26"/>
    <p:sldId id="2146847054" r:id="rId27"/>
    <p:sldId id="2146847103" r:id="rId28"/>
    <p:sldId id="2146847141" r:id="rId29"/>
    <p:sldId id="2146847142" r:id="rId30"/>
    <p:sldId id="2146847140" r:id="rId31"/>
    <p:sldId id="2146847056" r:id="rId32"/>
    <p:sldId id="2146847107" r:id="rId33"/>
    <p:sldId id="2146847058" r:id="rId34"/>
    <p:sldId id="2146847147" r:id="rId35"/>
    <p:sldId id="2146847085" r:id="rId36"/>
    <p:sldId id="2146847084" r:id="rId37"/>
    <p:sldId id="2146847064" r:id="rId3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26"/>
            <p14:sldId id="2146847125"/>
          </p14:sldIdLst>
        </p14:section>
        <p14:section name="Security &amp; Identity" id="{1AA42572-B3BD-44F7-813B-C2C647DDBB3C}">
          <p14:sldIdLst>
            <p14:sldId id="2146847046"/>
            <p14:sldId id="2146847129"/>
            <p14:sldId id="2146847128"/>
          </p14:sldIdLst>
        </p14:section>
        <p14:section name="Management &amp; Governance" id="{34181601-6D48-4406-A525-C7B5A12C6C5B}">
          <p14:sldIdLst>
            <p14:sldId id="2146847048"/>
            <p14:sldId id="2146847049"/>
            <p14:sldId id="2146847133"/>
            <p14:sldId id="2146847131"/>
          </p14:sldIdLst>
        </p14:section>
        <p14:section name="Compute" id="{05AA80BB-8802-49AB-8336-A884227CE2F7}">
          <p14:sldIdLst>
            <p14:sldId id="2146847050"/>
            <p14:sldId id="2146847096"/>
            <p14:sldId id="2146847135"/>
            <p14:sldId id="2146847136"/>
            <p14:sldId id="2146847157"/>
            <p14:sldId id="2146847158"/>
            <p14:sldId id="2146847159"/>
          </p14:sldIdLst>
        </p14:section>
        <p14:section name="Storage &amp; Data" id="{1F159046-CE0A-45BC-9D5B-6E6C95980F78}">
          <p14:sldIdLst>
            <p14:sldId id="2146847052"/>
            <p14:sldId id="2146847100"/>
          </p14:sldIdLst>
        </p14:section>
        <p14:section name="Databases" id="{AEAFAE72-AD56-48F3-926B-38BAE269038F}">
          <p14:sldIdLst>
            <p14:sldId id="2146847054"/>
            <p14:sldId id="2146847103"/>
            <p14:sldId id="2146847141"/>
            <p14:sldId id="2146847142"/>
            <p14:sldId id="2146847140"/>
          </p14:sldIdLst>
        </p14:section>
        <p14:section name="Integration" id="{ACBD46A3-6F1C-451B-A154-0A056E0DEFF6}">
          <p14:sldIdLst>
            <p14:sldId id="2146847056"/>
            <p14:sldId id="2146847107"/>
          </p14:sldIdLst>
        </p14:section>
        <p14:section name="ML &amp; AI &amp; IOT" id="{F4E1EAF1-55E9-4CA4-8ADC-28B69C1D66D2}">
          <p14:sldIdLst>
            <p14:sldId id="2146847058"/>
            <p14:sldId id="2146847147"/>
          </p14:sldIdLst>
        </p14:section>
        <p14:section name="DevOps &amp; IaC &amp; Automation" id="{A1B23FE8-BD24-477B-81AD-FE484F08F19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F6CBD"/>
    <a:srgbClr val="002050"/>
    <a:srgbClr val="F25D43"/>
    <a:srgbClr val="CADC49"/>
    <a:srgbClr val="E53B2E"/>
    <a:srgbClr val="FFC000"/>
    <a:srgbClr val="D35D47"/>
    <a:srgbClr val="008ACF"/>
    <a:srgbClr val="76CD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10/18/2026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73861" TargetMode="External"/><Relationship Id="rId2" Type="http://schemas.openxmlformats.org/officeDocument/2006/relationships/hyperlink" Target="https://azure.microsoft.com/ru-ru/updates?id=576556"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ru-ru/updates?id=573861"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azure.microsoft.com/ru-ru/updates?id=574430" TargetMode="External"/><Relationship Id="rId2" Type="http://schemas.openxmlformats.org/officeDocument/2006/relationships/hyperlink" Target="https://azure.microsoft.com/ru-ru/updates?id=571025"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74343"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76377" TargetMode="External"/><Relationship Id="rId2" Type="http://schemas.openxmlformats.org/officeDocument/2006/relationships/hyperlink" Target="https://azure.microsoft.com/ru-ru/updates?id=576214"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74296"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ommunity.microsoft.com/blog/azurearcblog/public-preview-onboard-kubernetes-clusters-to-azure-arc-with-the-multicloud-conn/4556330"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techcommunity.microsoft.com/blog/azurestackblog/azure-site-recovery-for-azure-local-is-now-generally-available/4529925" TargetMode="External"/><Relationship Id="rId2" Type="http://schemas.openxmlformats.org/officeDocument/2006/relationships/hyperlink" Target="https://azure.microsoft.com/ru-ru/updates?id=576214"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azure.microsoft.com/ru-ru/updates?id=570313?WT.mc_id=AZ-MVP-5004796"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73782"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techcommunity.microsoft.com/blog/windows-itpro-blog/remote-pc-connections-in-windows-app-on-windows-is-now-generally-available/4561186" TargetMode="External"/><Relationship Id="rId2" Type="http://schemas.openxmlformats.org/officeDocument/2006/relationships/hyperlink" Target="https://azure.microsoft.com/ru-ru/updates?id=576334"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73744"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9236" TargetMode="External"/><Relationship Id="rId2" Type="http://schemas.openxmlformats.org/officeDocument/2006/relationships/hyperlink" Target="https://azure.microsoft.com/ru-ru/updates?id=568585"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70232" TargetMode="External"/><Relationship Id="rId2" Type="http://schemas.openxmlformats.org/officeDocument/2006/relationships/hyperlink" Target="https://azure.microsoft.com/ru-ru/updates?id=567933?WT.mc_id=AZ-MVP-5004796"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ru-ru/updates?id=567934?WT.mc_id=AZ-MVP-5004796" TargetMode="External"/><Relationship Id="rId2" Type="http://schemas.openxmlformats.org/officeDocument/2006/relationships/hyperlink" Target="https://azure.microsoft.com/ru-ru/updates?id=568585"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azure.microsoft.com/ru-ru/updates?id=576542"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ru-ru/updates?id=572940" TargetMode="External"/><Relationship Id="rId2" Type="http://schemas.openxmlformats.org/officeDocument/2006/relationships/hyperlink" Target="https://azure.microsoft.com/ru-ru/updates?id=573425"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azure.microsoft.com/ru-ru/updates?id=573875"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azure.microsoft.com/ru-ru/updates?id=571499" TargetMode="External"/><Relationship Id="rId2" Type="http://schemas.openxmlformats.org/officeDocument/2006/relationships/hyperlink" Target="https://azure.microsoft.com/ru-ru/updates?id=573443"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azure.microsoft.com/ru-ru/updates?id=573691"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azure.microsoft.com/ru-ru/updates?id=574204"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techcommunity.microsoft.com/blog/azure-ai-foundry-blog/introducing-grok-4-7-on-microsoft-foundry/4562168"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#227</a:t>
            </a:r>
          </a:p>
        </p:txBody>
      </p:sp>
      <p:sp>
        <p:nvSpPr>
          <p:cNvPr id="4" name="Text Placeholder 3"/>
          <p:cNvSpPr>
            <a:spLocks noGrp="1"/>
          </p:cNvSpPr>
          <p:nvPr>
            <p:ph type="body" sz="quarter" idx="11"/>
          </p:nvPr>
        </p:nvSpPr>
        <p:spPr/>
        <p:txBody>
          <a:bodyPr/>
          <a:lstStyle/>
          <a:p>
            <a:r>
              <a:rPr lang="en-US" spc="300" dirty="0">
                <a:solidFill>
                  <a:schemeClr val="accent3"/>
                </a:solidFill>
              </a:rPr>
              <a:t>June 22,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Public Preview: Azure Databricks Private network gateway</a:t>
            </a:r>
            <a:endParaRPr lang="en-US" sz="1000" dirty="0"/>
          </a:p>
          <a:p>
            <a:r>
              <a:rPr lang="en-US" sz="1000" dirty="0"/>
              <a:t>Azure Databricks Private Network Gateway is now available in public preview, enabling serverless compute workloads to securely access resources hosted in Azure Virtual Networks (</a:t>
            </a:r>
            <a:r>
              <a:rPr lang="en-US" sz="1000" dirty="0" err="1"/>
              <a:t>VNets</a:t>
            </a:r>
            <a:r>
              <a:rPr lang="en-US" sz="1000" dirty="0"/>
              <a:t>) and transitively connected networks through a single managed gateway.</a:t>
            </a:r>
          </a:p>
          <a:p>
            <a:r>
              <a:rPr lang="en-US" sz="1000" dirty="0"/>
              <a:t>The gateway allows multiple private resources to be accessed through a centralized network connectivity point, reducing the complexity of configuring private connectivity for individual services. Organizations can also route serverless outbound traffic through their existing firewalls and network security appliances, enabling centralized traffic inspection, filtering, and enforcement of corporate network security policies.</a:t>
            </a:r>
          </a:p>
          <a:p>
            <a:r>
              <a:rPr lang="en-US" sz="1000" dirty="0"/>
              <a:t>The capability provides stable, identifiable source IP addresses, simplifying firewall allowlisting and access control for private resources. It integrates with existing Network Connectivity Configurations (NCCs) and complements Azure Private Link, offering additional flexibility for securing serverless network communication.</a:t>
            </a:r>
          </a:p>
          <a:p>
            <a:r>
              <a:rPr lang="en-US" sz="1000" dirty="0"/>
              <a:t>This enhancement is particularly relevant for enterprises adopting Azure Databricks Serverless while maintaining strict network isolation, centralized egress inspection, hybrid connectivity, and security governance requirements. It helps align serverless analytics workloads with established enterprise network architecture and security standards.</a:t>
            </a:r>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IPv6 Support for Application Gateway WAF</a:t>
            </a:r>
            <a:endParaRPr lang="en-US" dirty="0"/>
          </a:p>
          <a:p>
            <a:pPr algn="just"/>
            <a:r>
              <a:rPr lang="en-US" dirty="0"/>
              <a:t>Announcing the Public Preview of IPv6 support for Application Gateway WAF.</a:t>
            </a:r>
          </a:p>
          <a:p>
            <a:pPr algn="just"/>
            <a:r>
              <a:rPr lang="en-US" dirty="0"/>
              <a:t>Application Gateway Web Application Firewall (WAF) now supports inspection and enforcement for IPv6 traffic in Public Preview, marking a major step forward in modernizing the platform for dual‑stack environments. As IPv6 adoption accelerates globally due to IPv4 exhaustion and modern connectivity requirements, this enhancement enables customers to embrace IPv6 without compromising their security posture.</a:t>
            </a:r>
          </a:p>
          <a:p>
            <a:pPr algn="just"/>
            <a:r>
              <a:rPr lang="en-US" dirty="0"/>
              <a:t>With this update, Application Gateway WAF extends its full protection stack -including managed rule sets, custom rules, and diagnostics - to IPv6 traffic. Customers operating dual‑stack applications can now apply consistent security controls across both IPv4 and IPv6. Additionally, IPv6 geo‑based custom rules are available through AFEC enrollment, providing more granular traffic governance during the preview.</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2"/>
              </a:rPr>
              <a:t>Public Preview: IPv6 Support for Application Gateway WAF</a:t>
            </a:r>
            <a:endParaRPr lang="en-US" dirty="0"/>
          </a:p>
          <a:p>
            <a:pPr algn="just"/>
            <a:r>
              <a:rPr lang="en-US" dirty="0"/>
              <a:t>Application Gateway Web Application Firewall (WAF) now supports inspection and enforcement for IPv6 traffic in Public Preview, marking a major step forward in modernizing the platform for dual‑stack environments. As IPv6 adoption accelerates globally due to IPv4 exhaustion and modern connectivity requirements, this enhancement enables customers to embrace IPv6 without compromising their security posture.</a:t>
            </a:r>
          </a:p>
          <a:p>
            <a:pPr algn="just"/>
            <a:r>
              <a:rPr lang="en-US" dirty="0"/>
              <a:t>With this update, Application Gateway WAF extends its full protection stack -including managed rule sets, custom rules, and diagnostics - to IPv6 traffic. Customers operating dual‑stack applications can now apply consistent security controls across both IPv4 and IPv6. Additionally, IPv6 geo‑based custom rules are available through AFEC enrollment, providing more granular traffic governance during the preview.</a:t>
            </a:r>
          </a:p>
          <a:p>
            <a:pPr algn="just"/>
            <a:endParaRPr lang="en-US" dirty="0"/>
          </a:p>
          <a:p>
            <a:pPr algn="just"/>
            <a:endParaRPr lang="en-US" dirty="0"/>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pPr algn="just"/>
            <a:r>
              <a:rPr lang="en-US" sz="1000" dirty="0">
                <a:hlinkClick r:id="rId2"/>
              </a:rPr>
              <a:t>Generally Available: Standard service endpoint</a:t>
            </a:r>
            <a:endParaRPr lang="en-US" sz="1000" dirty="0"/>
          </a:p>
          <a:p>
            <a:pPr algn="just"/>
            <a:r>
              <a:rPr lang="en-US" sz="1000" dirty="0"/>
              <a:t>Standard service endpoint, a new capability in the Azure Private Link family, provides a scalable and secure approach for connecting Azure IaaS workloads to Azure PaaS services. Standard service endpoint addresses the manageability, and the scale limitations of traditional service endpoints by using Public IP addresses as network identifiers and integrating with network security perimeter. This enables organizations to achieve large-scale IaaS-to-PaaS connectivity while maintaining strong network access controls and simplified operations. </a:t>
            </a:r>
          </a:p>
          <a:p>
            <a:pPr algn="just"/>
            <a:r>
              <a:rPr lang="en-US" sz="1000" dirty="0"/>
              <a:t>With standard service endpoint, customers can associate a public IP instance with multiple subnets and virtual networks across subscriptions within the same tenant and region. When combined with network security perimeter, organizations can create a logical security boundary around supported Azure services, including Azure Storage, Azure SQL Database, Azure Cosmos DB, and Azure Key Vault. Access can then be restricted so that only approved networks and workloads are allowed to communicate with these resources, helping reduce operational complexity while strengthening security posture. </a:t>
            </a:r>
          </a:p>
          <a:p>
            <a:pPr algn="just"/>
            <a:r>
              <a:rPr lang="en-US" sz="1000" dirty="0"/>
              <a:t>Standard service endpoint is a paid Azure feature and is billed at a fixed rate per virtual network (VNet) per hour. </a:t>
            </a:r>
          </a:p>
          <a:p>
            <a:pPr algn="just"/>
            <a:endParaRPr lang="en-US" sz="1000" dirty="0"/>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a:xfrm>
            <a:off x="342900" y="855081"/>
            <a:ext cx="3955312" cy="1716670"/>
          </a:xfrm>
        </p:spPr>
        <p:txBody>
          <a:bodyPr/>
          <a:lstStyle/>
          <a:p>
            <a:pPr algn="just"/>
            <a:r>
              <a:rPr lang="en-US" dirty="0">
                <a:hlinkClick r:id="rId3"/>
              </a:rPr>
              <a:t>Generally Available: Managed StandardV2 NAT Gateway for AKS</a:t>
            </a:r>
            <a:endParaRPr lang="en-US" dirty="0"/>
          </a:p>
          <a:p>
            <a:pPr algn="just"/>
            <a:r>
              <a:rPr lang="en-US" dirty="0"/>
              <a:t>AKS will now provision and manage a StandardV2 NAT Gateway for clusters using an AKS-managed virtual network.</a:t>
            </a:r>
          </a:p>
          <a:p>
            <a:pPr algn="just"/>
            <a:r>
              <a:rPr lang="en-US" dirty="0"/>
              <a:t>StandardV2 is now the default managed NAT Gateway SKU for new clusters in supported regions when using the </a:t>
            </a:r>
            <a:r>
              <a:rPr lang="en-US" dirty="0" err="1"/>
              <a:t>managedNATGateway</a:t>
            </a:r>
            <a:r>
              <a:rPr lang="en-US" dirty="0"/>
              <a:t> outbound type. StandardV2 NAT Gateway provides zone redundancy by default, higher bandwidth and throughput, and IPv6 support.</a:t>
            </a:r>
          </a:p>
          <a:p>
            <a:pPr algn="just"/>
            <a:r>
              <a:rPr lang="en-US" dirty="0"/>
              <a:t>Existing AKS clusters can migrate from a managed Standard NAT Gateway or load balancer to a managed StandardV2 NAT Gateway.</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1491198-4444-C6B1-140D-8916FEC9B50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68952F5-D06C-E0D7-28AC-797FD89721D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A79C8179-59B9-DF40-00C8-FD5A42441919}"/>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5E4E3F08-4B4F-45E1-D7D6-F7727240D82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90D984B5-E2FA-DC1A-3DBB-005524F182F3}"/>
              </a:ext>
            </a:extLst>
          </p:cNvPr>
          <p:cNvSpPr>
            <a:spLocks noGrp="1"/>
          </p:cNvSpPr>
          <p:nvPr>
            <p:ph type="body" sz="quarter" idx="16"/>
          </p:nvPr>
        </p:nvSpPr>
        <p:spPr/>
        <p:txBody>
          <a:bodyPr/>
          <a:lstStyle/>
          <a:p>
            <a:pPr algn="just"/>
            <a:r>
              <a:rPr lang="en-US" dirty="0">
                <a:hlinkClick r:id="rId2"/>
              </a:rPr>
              <a:t>Generally Available: Exceptions in WAF for Azure Application Gateway and Azure Front Door</a:t>
            </a:r>
            <a:endParaRPr lang="en-US" dirty="0"/>
          </a:p>
          <a:p>
            <a:pPr algn="just"/>
            <a:r>
              <a:rPr lang="en-US" dirty="0"/>
              <a:t>Web Application Firewall (WAF) Exceptions are now generally available for Azure Application Gateway and Azure Front Door, providing more granular control over managed WAF rules and helping organizations reduce false positives without disabling broader application security protections.</a:t>
            </a:r>
          </a:p>
          <a:p>
            <a:pPr algn="just"/>
            <a:r>
              <a:rPr lang="en-US" dirty="0"/>
              <a:t>Unlike traditional WAF exclusions, which omit specific request attributes from inspection, exceptions allow matching requests to bypass inspection by selected rules, rule groups, or entire managed rulesets. Exceptions can be configured using request URI, remote IP address, or HTTP request header names and values, enabling more precise handling of legitimate application traffic.</a:t>
            </a:r>
          </a:p>
          <a:p>
            <a:pPr algn="just"/>
            <a:r>
              <a:rPr lang="en-US" dirty="0"/>
              <a:t>This capability is particularly valuable for applications with authentication callbacks, API endpoints, complex query parameters, or application-specific request patterns that may trigger false positives. Administrators can create targeted exceptions while keeping other WAF protections active.</a:t>
            </a:r>
          </a:p>
          <a:p>
            <a:pPr algn="just"/>
            <a:endParaRPr lang="en-US" dirty="0"/>
          </a:p>
        </p:txBody>
      </p:sp>
    </p:spTree>
    <p:extLst>
      <p:ext uri="{BB962C8B-B14F-4D97-AF65-F5344CB8AC3E}">
        <p14:creationId xmlns:p14="http://schemas.microsoft.com/office/powerpoint/2010/main" val="1221167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Generally Available: Azure Site Recovery Support for Azure ARC-enabled Windows VMWare/Physical servers</a:t>
            </a:r>
            <a:endParaRPr lang="en-US" sz="1000" dirty="0"/>
          </a:p>
          <a:p>
            <a:pPr algn="just"/>
            <a:r>
              <a:rPr lang="en-US" sz="1000" dirty="0"/>
              <a:t>Azure Site Recovery (ASR) now supports disaster recovery protection for Azure Arc-enabled Windows VMware virtual machines and on-premises physical servers, extending disaster recovery capabilities to hybrid infrastructure managed through Azure Arc.</a:t>
            </a:r>
          </a:p>
          <a:p>
            <a:pPr algn="just"/>
            <a:r>
              <a:rPr lang="en-US" sz="1000" dirty="0"/>
              <a:t>Organizations can protect Arc-enabled machines using Azure Site Recovery while continuing to leverage Azure Arc for centralized governance, inventory, monitoring, and management. This enables a more integrated approach to managing infrastructure operations and disaster recovery across on-premises and Azure environments.</a:t>
            </a:r>
          </a:p>
          <a:p>
            <a:pPr algn="just"/>
            <a:r>
              <a:rPr lang="en-US" sz="1000" dirty="0"/>
              <a:t>The integration helps organizations establish disaster recovery protection for existing Windows workloads without requiring migration to Azure. It is particularly relevant for enterprises operating VMware-based virtualization platforms and physical Windows servers that require centralized management and business continuity capabilities.</a:t>
            </a:r>
          </a:p>
          <a:p>
            <a:pPr algn="just"/>
            <a:r>
              <a:rPr lang="en-US" sz="1000" dirty="0"/>
              <a:t>This enhancement strengthens Azure's hybrid cloud and disaster recovery strategy, allowing organizations to combine Azure Arc governance with Azure Site Recovery protection while maintaining their existing infrastructure deployments.</a:t>
            </a:r>
          </a:p>
          <a:p>
            <a:pPr algn="just"/>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Generally Available: Azure Cloud HSM hardware audit logging</a:t>
            </a:r>
            <a:endParaRPr lang="en-US" dirty="0"/>
          </a:p>
          <a:p>
            <a:pPr algn="just"/>
            <a:r>
              <a:rPr lang="en-US" dirty="0"/>
              <a:t>Azure Cloud HSM introduces Hardware Audit Logging, providing hardware-generated audit records for supported HSM management operations to strengthen security monitoring, compliance, governance, and forensic investigations.</a:t>
            </a:r>
          </a:p>
          <a:p>
            <a:pPr algn="just"/>
            <a:r>
              <a:rPr lang="en-US" dirty="0"/>
              <a:t>The capability generates both human-readable audit records and cryptographically signed binary audit data, including signatures and certificates. This allows organizations to independently verify the authenticity and integrity of audit batches, providing stronger assurance that audit evidence has not been modified.</a:t>
            </a:r>
          </a:p>
          <a:p>
            <a:pPr algn="just"/>
            <a:r>
              <a:rPr lang="en-US" dirty="0"/>
              <a:t>Audit events are integrated with Azure Monitor Log Analytics, enabling centralized collection, analysis, and correlation with existing security and operational telemetry. Organizations can incorporate HSM audit records into established monitoring, incident investigation, and compliance reporting workflows.</a:t>
            </a:r>
          </a:p>
          <a:p>
            <a:pPr algn="just"/>
            <a:r>
              <a:rPr lang="en-US" dirty="0"/>
              <a:t>This enhancement is particularly valuable for regulated industries, financial services, and organizations managing sensitive cryptographic keys, where independently verifiable audit evidence and strong accountability over HSM management operations are critical security requirements.</a:t>
            </a:r>
          </a:p>
          <a:p>
            <a:pPr algn="just"/>
            <a:endParaRPr lang="en-US" dirty="0"/>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2"/>
              </a:rPr>
              <a:t>Generally Available: External key management for Azure Key Vault Managed HSM</a:t>
            </a:r>
            <a:endParaRPr lang="en-US" dirty="0"/>
          </a:p>
          <a:p>
            <a:pPr algn="just"/>
            <a:r>
              <a:rPr lang="en-US" dirty="0"/>
              <a:t>External Key Management (EKM) for Azure Key Vault Managed HSM is now generally available across all Azure public regions, enabling organizations to retain physical control of their key-encryption keys (KEKs) outside Microsoft's infrastructure while using supported Azure services with customer-managed encryption keys.</a:t>
            </a:r>
          </a:p>
          <a:p>
            <a:pPr algn="just"/>
            <a:r>
              <a:rPr lang="en-US" dirty="0"/>
              <a:t>The capability allows Managed HSM to delegate cryptographic key wrap and unwrap operations to a customer-operated external Hardware Security Module (HSM) through a dedicated proxy. The external key material never enters Microsoft infrastructure, helping organizations address strict data sovereignty, regulatory compliance, and cryptographic key ownership requirements.</a:t>
            </a:r>
          </a:p>
          <a:p>
            <a:pPr algn="just"/>
            <a:r>
              <a:rPr lang="en-US" dirty="0"/>
              <a:t>Connectivity to the external proxy over the public internet is generally available, while Azure Private Link integration remains in public preview, providing an additional option for private network connectivity.</a:t>
            </a:r>
          </a:p>
          <a:p>
            <a:pPr algn="just"/>
            <a:r>
              <a:rPr lang="en-US" dirty="0"/>
              <a:t>The feature requires enablement through a Microsoft account team. Customers or their HSM providers remain responsible for the availability, operation, and security of the external HSM, proxy, and network connectivity, which are not covered by the Azure Managed HSM SLA.</a:t>
            </a:r>
          </a:p>
          <a:p>
            <a:pPr algn="just"/>
            <a:endParaRPr lang="en-US" dirty="0"/>
          </a:p>
          <a:p>
            <a:pPr algn="just"/>
            <a:endParaRPr lang="en-US" dirty="0"/>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Onboard Kubernetes Clusters to Azure Arc with the </a:t>
            </a:r>
            <a:r>
              <a:rPr lang="en-US" dirty="0" err="1">
                <a:hlinkClick r:id="rId2"/>
              </a:rPr>
              <a:t>Multicloud</a:t>
            </a:r>
            <a:r>
              <a:rPr lang="en-US" dirty="0">
                <a:hlinkClick r:id="rId2"/>
              </a:rPr>
              <a:t> Connector</a:t>
            </a:r>
            <a:endParaRPr lang="en-US" dirty="0"/>
          </a:p>
          <a:p>
            <a:pPr algn="just"/>
            <a:r>
              <a:rPr lang="en-US" dirty="0"/>
              <a:t>Microsoft has introduced public preview support for onboarding Kubernetes clusters to Azure Arc through the Azure </a:t>
            </a:r>
            <a:r>
              <a:rPr lang="en-US" dirty="0" err="1"/>
              <a:t>Multicloud</a:t>
            </a:r>
            <a:r>
              <a:rPr lang="en-US" dirty="0"/>
              <a:t> Connector, simplifying the discovery and management of Kubernetes environments running outside Azure.</a:t>
            </a:r>
          </a:p>
          <a:p>
            <a:pPr algn="just"/>
            <a:r>
              <a:rPr lang="en-US" dirty="0"/>
              <a:t>The integration helps organizations extend Azure Arc governance and management capabilities to </a:t>
            </a:r>
            <a:r>
              <a:rPr lang="en-US" dirty="0" err="1"/>
              <a:t>multicloud</a:t>
            </a:r>
            <a:r>
              <a:rPr lang="en-US" dirty="0"/>
              <a:t> Kubernetes infrastructure, reducing the operational effort associated with onboarding clusters individually.</a:t>
            </a:r>
          </a:p>
          <a:p>
            <a:pPr algn="just"/>
            <a:r>
              <a:rPr lang="en-US" dirty="0"/>
              <a:t>The capability is particularly relevant for organizations operating </a:t>
            </a:r>
            <a:r>
              <a:rPr lang="en-US" dirty="0" err="1"/>
              <a:t>multicloud</a:t>
            </a:r>
            <a:r>
              <a:rPr lang="en-US" dirty="0"/>
              <a:t> Kubernetes estates, where clusters are distributed across different cloud providers and require consistent inventory, security oversight, and governance.</a:t>
            </a:r>
          </a:p>
          <a:p>
            <a:pPr algn="just"/>
            <a:r>
              <a:rPr lang="en-US" dirty="0"/>
              <a:t>By connecting supported Kubernetes clusters to Azure Arc, platform teams can work toward a centralized management model using Azure-native governance, monitoring, and security services, subject to the capabilities enabled for each cluster.</a:t>
            </a:r>
          </a:p>
          <a:p>
            <a:pPr algn="just"/>
            <a:r>
              <a:rPr lang="en-US" dirty="0"/>
              <a:t>This enhancement supports Microsoft's broader hybrid and </a:t>
            </a:r>
            <a:r>
              <a:rPr lang="en-US" dirty="0" err="1"/>
              <a:t>multicloud</a:t>
            </a:r>
            <a:r>
              <a:rPr lang="en-US" dirty="0"/>
              <a:t> management strategy, helping enterprises standardize Kubernetes governance while retaining workloads in their existing cloud environments.</a:t>
            </a:r>
          </a:p>
          <a:p>
            <a:pPr algn="just"/>
            <a:endParaRPr lang="en-US" dirty="0"/>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pPr algn="just"/>
            <a:r>
              <a:rPr lang="en-US" sz="1000" dirty="0">
                <a:hlinkClick r:id="rId2"/>
              </a:rPr>
              <a:t>Generally Available: Azure Site Recovery Support for Azure ARC-enabled Windows VMWare/Physical servers</a:t>
            </a:r>
            <a:endParaRPr lang="en-US" sz="1000" dirty="0"/>
          </a:p>
          <a:p>
            <a:pPr algn="just"/>
            <a:r>
              <a:rPr lang="en-US" sz="1000" dirty="0"/>
              <a:t>Azure Site Recovery (ASR) now supports disaster recovery for Azure ARC-enabled Windows VMWare virtual machines and on-premise physical servers. Customers can protect ARC-managed machines with ASR while continuing to use Azure ARC for governance, inventory, monitoring and management capabilities. </a:t>
            </a:r>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3"/>
              </a:rPr>
              <a:t>Azure Site Recovery for Azure Local Is Now Generally Available!</a:t>
            </a:r>
            <a:endParaRPr lang="en-US" dirty="0"/>
          </a:p>
          <a:p>
            <a:pPr algn="just"/>
            <a:r>
              <a:rPr lang="en-US" dirty="0"/>
              <a:t>Azure Site Recovery (ASR) for Azure Local is now generally available, extending Azure's disaster recovery capabilities to virtual machines running on Azure Local infrastructure. The integration enables organizations to protect on-premises virtualized workloads through Azure-based disaster recovery orchestration, reducing reliance on separately managed recovery solutions.</a:t>
            </a:r>
          </a:p>
          <a:p>
            <a:pPr algn="just"/>
            <a:r>
              <a:rPr lang="en-US" dirty="0"/>
              <a:t>The capability helps organizations establish business continuity and disaster recovery (BCDR) processes for Azure Local workloads, including replication, recovery planning, and failover operations. It provides a more integrated approach to protecting hybrid infrastructure while leveraging Azure's centralized management capabilities.</a:t>
            </a:r>
          </a:p>
          <a:p>
            <a:pPr algn="just"/>
            <a:r>
              <a:rPr lang="en-US" dirty="0"/>
              <a:t>For enterprises operating business-critical workloads on Azure Local, the solution offers an additional option for improving workload resilience and simplifying disaster recovery operations.</a:t>
            </a:r>
          </a:p>
          <a:p>
            <a:pPr algn="just"/>
            <a:r>
              <a:rPr lang="en-US" dirty="0"/>
              <a:t>The GA release introduces a simplified one-page deployment wizard in the Azure portal that automatically configures the Recovery Services vault, Hyper-V site, replication policies, ASR agents, and cluster registration. It also adds support for Windows Defender Application Control (WDAC) in enforced mode and integrated outbound proxy configuration, making deployment easier in highly regulated environments.</a:t>
            </a:r>
          </a:p>
          <a:p>
            <a:pPr algn="just"/>
            <a:endParaRPr lang="en-US" dirty="0"/>
          </a:p>
          <a:p>
            <a:pPr algn="just"/>
            <a:endParaRPr lang="en-US" dirty="0"/>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2"/>
              </a:rPr>
              <a:t>Retirement: Azure Key Vault Secrets Provider Extension for Azure Arc enabled Kubernetes clusters</a:t>
            </a:r>
            <a:endParaRPr lang="en-US" dirty="0"/>
          </a:p>
          <a:p>
            <a:pPr algn="just"/>
            <a:r>
              <a:rPr lang="en-US" dirty="0"/>
              <a:t>Microsoft will retire the Azure Key Vault Secrets Provider Extension for Azure Arc-enabled Kubernetes on October 9, 2027. After this date, the extension will no longer receive security updates, bug fixes, new features, or technical support, requiring organizations to migrate to the supported replacement.</a:t>
            </a:r>
          </a:p>
          <a:p>
            <a:pPr algn="just"/>
            <a:r>
              <a:rPr lang="en-US" dirty="0"/>
              <a:t>The recommended successor is the Azure Key Vault Secret Store Extension, which provides equivalent functionality for accessing and synchronizing secrets from Azure Key Vault into workloads running on Arc-enabled Kubernetes clusters.</a:t>
            </a:r>
          </a:p>
          <a:p>
            <a:pPr algn="just"/>
            <a:r>
              <a:rPr lang="en-US" dirty="0"/>
              <a:t>The replacement introduces additional capabilities, including offline access to secrets and workload identity federation, enabling Kubernetes applications to authenticate to Azure Key Vault without storing long-lived credentials in the cluster. These improvements strengthen secret management, identity security, and operational resilience, particularly for hybrid and edge Kubernetes environments with intermittent connectivity.</a:t>
            </a:r>
          </a:p>
          <a:p>
            <a:pPr algn="just"/>
            <a:endParaRPr lang="en-US" dirty="0"/>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AKS on bare metal now on Ubuntu</a:t>
            </a:r>
            <a:endParaRPr lang="en-US" dirty="0"/>
          </a:p>
          <a:p>
            <a:pPr algn="just"/>
            <a:r>
              <a:rPr lang="en-US" dirty="0"/>
              <a:t>Running Kubernetes on-premises often means adding a virtualization layer, adapting to unfamiliar infrastructure, or giving up control over the hardware and software your applications depend on. For AI workloads, these tradeoffs can limit access to local data, reduce available compute capacity, and restrict your choice of GPUs, drivers, and runtimes.</a:t>
            </a:r>
          </a:p>
          <a:p>
            <a:pPr algn="just"/>
            <a:r>
              <a:rPr lang="en-US" dirty="0"/>
              <a:t>AKS on bare metal Ubuntu, now in public preview, brings the AKS experience directly to customer owned Ubuntu infrastructure. Deploy a complete Kubernetes cluster on your hardware using Azure CLI. Choose the CPU and GPU hardware and supporting software stack that fit your workloads.</a:t>
            </a:r>
          </a:p>
          <a:p>
            <a:pPr algn="just"/>
            <a:r>
              <a:rPr lang="en-US" dirty="0"/>
              <a:t>Run applications close to your data, dedicate more infrastructure capacity to your workloads, and manage Kubernetes through familiar AKS and Azure workflows. You keep the flexibility of Ubuntu and your hardware while extending a consistent AKS operating model to your on-premises environment.</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t>
            </a:r>
            <a:r>
              <a:rPr lang="en-US" sz="1000" dirty="0" err="1">
                <a:hlinkClick r:id="rId2"/>
              </a:rPr>
              <a:t>Availabile</a:t>
            </a:r>
            <a:r>
              <a:rPr lang="en-US" sz="1000" dirty="0">
                <a:hlinkClick r:id="rId2"/>
              </a:rPr>
              <a:t>: Automatic zone balance for Virtual Machine Scale Sets</a:t>
            </a:r>
            <a:endParaRPr lang="en-US" sz="1000" dirty="0"/>
          </a:p>
          <a:p>
            <a:pPr algn="just"/>
            <a:r>
              <a:rPr lang="en-US" sz="1000" dirty="0"/>
              <a:t>Automatic Zone Balance for Azure Virtual Machine Scale Sets (VMSS) is now generally available, enabling Azure to continuously monitor and automatically redistribute VM instances across Availability Zones when imbalances occur. This improves application resilience by reducing the risk of workloads becoming disproportionately concentrated in a single availability zone.</a:t>
            </a:r>
          </a:p>
          <a:p>
            <a:pPr algn="just"/>
            <a:r>
              <a:rPr lang="en-US" sz="1000" dirty="0"/>
              <a:t>The feature uses a create-before-delete approach, provisioning a replacement VM in an underutilized zone and validating its application health before removing an instance from an overrepresented zone. This minimizes disruption while maintaining application availability during rebalancing operations.</a:t>
            </a:r>
          </a:p>
          <a:p>
            <a:pPr algn="just"/>
            <a:r>
              <a:rPr lang="en-US" sz="1000" dirty="0"/>
              <a:t>Built-in safeguards include instance protection policies, Azure </a:t>
            </a:r>
            <a:r>
              <a:rPr lang="en-US" sz="1000" dirty="0" err="1"/>
              <a:t>Autoscale</a:t>
            </a:r>
            <a:r>
              <a:rPr lang="en-US" sz="1000" dirty="0"/>
              <a:t> coordination, operation-aware scheduling, cooldown periods, and one-at-a-time VM replacement, preventing conflicts with ongoing scale-set operations.</a:t>
            </a:r>
          </a:p>
          <a:p>
            <a:pPr algn="just"/>
            <a:r>
              <a:rPr lang="en-US" sz="1000" dirty="0"/>
              <a:t>The capability is primarily designed for stateless, horizontally scalable applications and requires at least two Availability Zones, zonal VM instances, and application health monitoring. It can be configured through the Azure portal, CLI, PowerShell, or REST API.</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Remote PC connections in Windows App on Windows is now generally available</a:t>
            </a:r>
            <a:endParaRPr lang="en-US" dirty="0"/>
          </a:p>
          <a:p>
            <a:pPr algn="just"/>
            <a:r>
              <a:rPr lang="en-US" dirty="0"/>
              <a:t>Remote PC connections in Windows App for Windows are now generally available, enabling users to connect directly to remote Windows PCs through Microsoft's unified Windows App experience.</a:t>
            </a:r>
          </a:p>
          <a:p>
            <a:pPr algn="just"/>
            <a:r>
              <a:rPr lang="en-US" dirty="0"/>
              <a:t>The capability provides an alternative to the traditional Remote Desktop Connection (mstsc.exe) client, allowing users to access remote PCs alongside other supported remote desktop services from a single application.</a:t>
            </a:r>
          </a:p>
          <a:p>
            <a:pPr algn="just"/>
            <a:r>
              <a:rPr lang="en-US" dirty="0"/>
              <a:t>This enhancement supports organizations transitioning toward a unified remote access client, simplifying the end-user experience for employees and IT administrators managing multiple remote desktop environments.</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Generally Available: </a:t>
            </a:r>
            <a:r>
              <a:rPr lang="en-US" dirty="0" err="1">
                <a:hlinkClick r:id="rId2"/>
              </a:rPr>
              <a:t>Anyscale</a:t>
            </a:r>
            <a:r>
              <a:rPr lang="en-US" dirty="0">
                <a:hlinkClick r:id="rId2"/>
              </a:rPr>
              <a:t> on Azure</a:t>
            </a:r>
            <a:endParaRPr lang="en-US" dirty="0"/>
          </a:p>
          <a:p>
            <a:pPr algn="just"/>
            <a:r>
              <a:rPr lang="en-US" dirty="0" err="1"/>
              <a:t>Anyscale</a:t>
            </a:r>
            <a:r>
              <a:rPr lang="en-US" dirty="0"/>
              <a:t> on Azure is now generally available, providing a managed platform for running distributed Python and AI workloads using Ray directly on Azure Kubernetes Service (AKS). Delivered as an Azure Native service, it integrates with existing Azure infrastructure while simplifying the deployment, scaling, and management of distributed compute environments.</a:t>
            </a:r>
          </a:p>
          <a:p>
            <a:pPr algn="just"/>
            <a:r>
              <a:rPr lang="en-US" dirty="0"/>
              <a:t>The platform combines CPU and GPU resources into a unified distributed Python runtime, enabling organizations to execute multiple AI workloads within a single framework. Supported scenarios include data preparation, distributed model training, fine-tuning, reinforcement learning, high-throughput inference, and agentic AI execution.</a:t>
            </a:r>
          </a:p>
          <a:p>
            <a:pPr algn="just"/>
            <a:r>
              <a:rPr lang="en-US" dirty="0"/>
              <a:t>Unlike specialized processing engines focused on individual workloads, Ray enables developers to combine different processing stages into a single distributed application, reducing architectural complexity and improving resource utilization across heterogeneous compute clusters.</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BE83CBB-9DFE-7A3A-1DB7-5C2C4A083E8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6CD74F1-451C-4EC6-9930-1E303BCE0A37}"/>
              </a:ext>
            </a:extLst>
          </p:cNvPr>
          <p:cNvSpPr>
            <a:spLocks noGrp="1"/>
          </p:cNvSpPr>
          <p:nvPr>
            <p:ph type="body" sz="quarter" idx="10"/>
          </p:nvPr>
        </p:nvSpPr>
        <p:spPr/>
        <p:txBody>
          <a:bodyPr/>
          <a:lstStyle/>
          <a:p>
            <a:r>
              <a:rPr lang="en-US" sz="1000" dirty="0">
                <a:hlinkClick r:id="rId2"/>
              </a:rPr>
              <a:t>Retirement: Support for Java 8, 11 and 17 will end on September 1, 2027</a:t>
            </a:r>
            <a:endParaRPr lang="en-US" sz="1000" dirty="0"/>
          </a:p>
          <a:p>
            <a:r>
              <a:rPr lang="en-US" sz="1000" dirty="0"/>
              <a:t>On September 1, 2027 support for Java 8, 11 and 17 will end. Your apps that are hosted on App Service will continue to run, but security updates will no longer be available, and we’ll no longer provide customer service for Java 8, 11 and 17.</a:t>
            </a:r>
          </a:p>
        </p:txBody>
      </p:sp>
      <p:sp>
        <p:nvSpPr>
          <p:cNvPr id="11" name="Title 10">
            <a:extLst>
              <a:ext uri="{FF2B5EF4-FFF2-40B4-BE49-F238E27FC236}">
                <a16:creationId xmlns:a16="http://schemas.microsoft.com/office/drawing/2014/main" id="{36E2D9AA-25E6-9EF0-3391-BA67AEC19BC8}"/>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C0581BF6-847E-E912-5D93-6A8A90D92ED3}"/>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60420C64-0D5A-93BE-0CAD-846F9EB657C4}"/>
              </a:ext>
            </a:extLst>
          </p:cNvPr>
          <p:cNvSpPr>
            <a:spLocks noGrp="1"/>
          </p:cNvSpPr>
          <p:nvPr>
            <p:ph type="body" sz="quarter" idx="16"/>
          </p:nvPr>
        </p:nvSpPr>
        <p:spPr/>
        <p:txBody>
          <a:bodyPr/>
          <a:lstStyle/>
          <a:p>
            <a:pPr algn="just"/>
            <a:r>
              <a:rPr lang="en-US" dirty="0">
                <a:hlinkClick r:id="rId3"/>
              </a:rPr>
              <a:t>Retirement: Always Encrypted with Intel SGX Enclaves</a:t>
            </a:r>
            <a:endParaRPr lang="en-US" dirty="0"/>
          </a:p>
          <a:p>
            <a:pPr algn="just"/>
            <a:r>
              <a:rPr lang="en-US" dirty="0"/>
              <a:t>Always Encrypted with Intel SGX enclaves in Azure SQL Database will retire on October 31, 2027 as support for SGX-enabled DC-series hardware is phased out. Customers should transition to Virtualization-Based Security (VBS) enclaves, a hardware-independent alternative, or consider SQL Server on Confidential VMs.</a:t>
            </a:r>
          </a:p>
          <a:p>
            <a:pPr algn="just"/>
            <a:r>
              <a:rPr lang="en-US" b="1" dirty="0"/>
              <a:t>Customer impact</a:t>
            </a:r>
          </a:p>
          <a:p>
            <a:pPr algn="just"/>
            <a:r>
              <a:rPr lang="en-US" dirty="0"/>
              <a:t>After retirement, workloads using Intel SGX enclaves will no longer have enclave functionality. Databases running on DC-series compute tiers should be migrated to supported compute tiers to continue using enclave-enabled features.</a:t>
            </a:r>
          </a:p>
          <a:p>
            <a:pPr algn="just"/>
            <a:r>
              <a:rPr lang="en-US" b="1" dirty="0"/>
              <a:t>Recommended actions</a:t>
            </a:r>
          </a:p>
          <a:p>
            <a:pPr marL="171450" lvl="0" indent="-171450" algn="just">
              <a:buFont typeface="Arial" panose="020B0604020202020204" pitchFamily="34" charset="0"/>
              <a:buChar char="•"/>
            </a:pPr>
            <a:r>
              <a:rPr lang="en-US" dirty="0"/>
              <a:t>Migrate from DC-series to a supported Standard-series (non-DC) compute tier.</a:t>
            </a:r>
          </a:p>
          <a:p>
            <a:pPr marL="171450" lvl="0" indent="-171450" algn="just">
              <a:buFont typeface="Arial" panose="020B0604020202020204" pitchFamily="34" charset="0"/>
              <a:buChar char="•"/>
            </a:pPr>
            <a:r>
              <a:rPr lang="en-US" dirty="0"/>
              <a:t>Enable VBS enclaves for Always Encrypted. No attestation is required.</a:t>
            </a:r>
          </a:p>
          <a:p>
            <a:pPr marL="171450" lvl="0" indent="-171450" algn="just">
              <a:buFont typeface="Arial" panose="020B0604020202020204" pitchFamily="34" charset="0"/>
              <a:buChar char="•"/>
            </a:pPr>
            <a:r>
              <a:rPr lang="en-US" dirty="0"/>
              <a:t>Update client drivers to versions that support VBS enclaves.</a:t>
            </a:r>
          </a:p>
          <a:p>
            <a:pPr marL="171450" lvl="0" indent="-171450" algn="just">
              <a:buFont typeface="Arial" panose="020B0604020202020204" pitchFamily="34" charset="0"/>
              <a:buChar char="•"/>
            </a:pPr>
            <a:r>
              <a:rPr lang="en-US" dirty="0"/>
              <a:t>Update connection strings to remove SGX attestation parameters and use VBS enclave mode.</a:t>
            </a:r>
          </a:p>
          <a:p>
            <a:pPr algn="just"/>
            <a:r>
              <a:rPr lang="en-US" dirty="0"/>
              <a:t>We recommend planning and validating your migration well in advance of the retirement date to ensure a smooth transition.</a:t>
            </a:r>
          </a:p>
        </p:txBody>
      </p:sp>
    </p:spTree>
    <p:extLst>
      <p:ext uri="{BB962C8B-B14F-4D97-AF65-F5344CB8AC3E}">
        <p14:creationId xmlns:p14="http://schemas.microsoft.com/office/powerpoint/2010/main" val="30551548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9F8012-F47F-4C7F-0345-3B638BEDE23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692B4039-A10C-61F6-8FFB-9A93982CB054}"/>
              </a:ext>
            </a:extLst>
          </p:cNvPr>
          <p:cNvSpPr>
            <a:spLocks noGrp="1"/>
          </p:cNvSpPr>
          <p:nvPr>
            <p:ph type="body" sz="quarter" idx="10"/>
          </p:nvPr>
        </p:nvSpPr>
        <p:spPr/>
        <p:txBody>
          <a:bodyPr/>
          <a:lstStyle/>
          <a:p>
            <a:pPr algn="just"/>
            <a:r>
              <a:rPr lang="en-US" sz="1000" dirty="0">
                <a:hlinkClick r:id="rId2"/>
              </a:rPr>
              <a:t>Retirement: Microsoft Dev Box will be retired on September 18, 2028</a:t>
            </a:r>
            <a:endParaRPr lang="en-US" sz="1000" dirty="0"/>
          </a:p>
          <a:p>
            <a:pPr algn="just"/>
            <a:r>
              <a:rPr lang="en-US" sz="1000" dirty="0"/>
              <a:t>Microsoft has announced the retirement of Microsoft Dev Box on September 18, 2028, with the service entering its closing-down phase on September 14, 2026. Microsoft Dev Box is now in maintenance mode, meaning no new features are planned, although existing deployments will remain supported during the transition period.</a:t>
            </a:r>
          </a:p>
          <a:p>
            <a:pPr algn="just"/>
            <a:r>
              <a:rPr lang="en-US" sz="1000" dirty="0"/>
              <a:t>Microsoft is shifting its investment in cloud-hosted developer environments toward Windows 365, which is the recommended replacement for organizations currently using Dev Box. Customers should begin evaluating Windows 365 as the target platform for providing managed, virtualized developer workstations.</a:t>
            </a:r>
          </a:p>
          <a:p>
            <a:pPr algn="just"/>
            <a:r>
              <a:rPr lang="en-US" sz="1000" dirty="0"/>
              <a:t>Organizations should assess existing Dev Box deployments, developer workloads, custom images, development tools, networking configurations, access controls, and provisioning processes to identify migration requirements. Particular attention should be given to differences in environment provisioning, lifecycle management, automation, and developer self-service capabilities between the two platforms.</a:t>
            </a:r>
          </a:p>
          <a:p>
            <a:pPr algn="just"/>
            <a:endParaRPr lang="en-US" sz="1000" dirty="0"/>
          </a:p>
        </p:txBody>
      </p:sp>
      <p:sp>
        <p:nvSpPr>
          <p:cNvPr id="11" name="Title 10">
            <a:extLst>
              <a:ext uri="{FF2B5EF4-FFF2-40B4-BE49-F238E27FC236}">
                <a16:creationId xmlns:a16="http://schemas.microsoft.com/office/drawing/2014/main" id="{772182EC-31D4-8C83-DE76-E1FD1C22A6F0}"/>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80806FEB-CEE8-5D44-57A2-1EFE219AB0B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AE4A0663-9808-EB35-A1B4-6CC5E46F81CE}"/>
              </a:ext>
            </a:extLst>
          </p:cNvPr>
          <p:cNvSpPr>
            <a:spLocks noGrp="1"/>
          </p:cNvSpPr>
          <p:nvPr>
            <p:ph type="body" sz="quarter" idx="16"/>
          </p:nvPr>
        </p:nvSpPr>
        <p:spPr/>
        <p:txBody>
          <a:bodyPr/>
          <a:lstStyle/>
          <a:p>
            <a:pPr algn="just"/>
            <a:r>
              <a:rPr lang="en-US" dirty="0">
                <a:hlinkClick r:id="rId3"/>
              </a:rPr>
              <a:t>Retirement: Pod name dimension in AKS pod platform metrics</a:t>
            </a:r>
            <a:endParaRPr lang="en-US" dirty="0"/>
          </a:p>
          <a:p>
            <a:pPr algn="just"/>
            <a:r>
              <a:rPr lang="en-US" dirty="0"/>
              <a:t>Microsoft will retire the pod name dimension from two Azure Kubernetes Service (AKS) platform metrics on September 30, 2027: </a:t>
            </a:r>
            <a:r>
              <a:rPr lang="en-US" dirty="0" err="1"/>
              <a:t>kube_pod_status_phase</a:t>
            </a:r>
            <a:r>
              <a:rPr lang="en-US" dirty="0"/>
              <a:t> (pods by phase) and </a:t>
            </a:r>
            <a:r>
              <a:rPr lang="en-US" dirty="0" err="1"/>
              <a:t>kube_pod_status_ready</a:t>
            </a:r>
            <a:r>
              <a:rPr lang="en-US" dirty="0"/>
              <a:t> (pods in Ready state).</a:t>
            </a:r>
          </a:p>
          <a:p>
            <a:pPr algn="just"/>
            <a:r>
              <a:rPr lang="en-US" dirty="0"/>
              <a:t>Following retirement, both metric names will remain unchanged, and aggregate pod counts and namespace-level monitoring will continue to be supported. However, filtering, grouping, and alerting by individual pod name will no longer be available through these Azure Monitor platform metrics.</a:t>
            </a:r>
          </a:p>
          <a:p>
            <a:pPr algn="just"/>
            <a:r>
              <a:rPr lang="en-US" dirty="0"/>
              <a:t>The change may affect existing Azure Monitor dashboards, workbooks, alerts, and automation workflows that rely on pod-level dimensions. During the transition, Microsoft will maintain both existing and aggregate implementations, ensuring at least one year of historical aggregate metrics before retirement.</a:t>
            </a:r>
          </a:p>
          <a:p>
            <a:pPr algn="just"/>
            <a:r>
              <a:rPr lang="en-US" dirty="0"/>
              <a:t>Organizations using individual pod metrics should migrate their monitoring configurations to Azure Monitor Managed Prometheus and Kubernetes-native metrics before the deadline. Environments relying exclusively on aggregate pod counts require no action.</a:t>
            </a:r>
          </a:p>
          <a:p>
            <a:pPr algn="just"/>
            <a:endParaRPr lang="en-US" dirty="0"/>
          </a:p>
        </p:txBody>
      </p:sp>
    </p:spTree>
    <p:extLst>
      <p:ext uri="{BB962C8B-B14F-4D97-AF65-F5344CB8AC3E}">
        <p14:creationId xmlns:p14="http://schemas.microsoft.com/office/powerpoint/2010/main" val="32151359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F484C4B-756E-BE98-16E1-8B501356454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F6C5F3F-D27E-24A7-4EDA-3F01E44BD242}"/>
              </a:ext>
            </a:extLst>
          </p:cNvPr>
          <p:cNvSpPr>
            <a:spLocks noGrp="1"/>
          </p:cNvSpPr>
          <p:nvPr>
            <p:ph type="body" sz="quarter" idx="10"/>
          </p:nvPr>
        </p:nvSpPr>
        <p:spPr/>
        <p:txBody>
          <a:bodyPr/>
          <a:lstStyle/>
          <a:p>
            <a:r>
              <a:rPr lang="en-US" sz="1000" dirty="0">
                <a:hlinkClick r:id="rId2"/>
              </a:rPr>
              <a:t>Retirement: Support for Java 8, 11 and 17 will end on September 1, 2027</a:t>
            </a:r>
            <a:endParaRPr lang="en-US" sz="1000" dirty="0"/>
          </a:p>
          <a:p>
            <a:r>
              <a:rPr lang="en-US" sz="1000" dirty="0"/>
              <a:t>On September 1, 2027 support for Java 8, 11 and 17 will end. Your apps that are hosted on App Service will continue to run, but security updates will no longer be available, and we’ll no longer provide customer service for Java 8, 11 and 17.</a:t>
            </a:r>
          </a:p>
        </p:txBody>
      </p:sp>
      <p:sp>
        <p:nvSpPr>
          <p:cNvPr id="11" name="Title 10">
            <a:extLst>
              <a:ext uri="{FF2B5EF4-FFF2-40B4-BE49-F238E27FC236}">
                <a16:creationId xmlns:a16="http://schemas.microsoft.com/office/drawing/2014/main" id="{1B7BF00C-E3E7-D4CA-0A77-D34F2CCDFFB8}"/>
              </a:ext>
            </a:extLst>
          </p:cNvPr>
          <p:cNvSpPr>
            <a:spLocks noGrp="1"/>
          </p:cNvSpPr>
          <p:nvPr>
            <p:ph type="title"/>
          </p:nvPr>
        </p:nvSpPr>
        <p:spPr/>
        <p:txBody>
          <a:bodyPr/>
          <a:lstStyle/>
          <a:p>
            <a:r>
              <a:rPr lang="en-US" sz="1800" dirty="0"/>
              <a:t>Compute Updates (Retirement)</a:t>
            </a:r>
            <a:endParaRPr lang="en-US" dirty="0"/>
          </a:p>
        </p:txBody>
      </p:sp>
      <p:sp>
        <p:nvSpPr>
          <p:cNvPr id="13" name="Text Placeholder 12">
            <a:extLst>
              <a:ext uri="{FF2B5EF4-FFF2-40B4-BE49-F238E27FC236}">
                <a16:creationId xmlns:a16="http://schemas.microsoft.com/office/drawing/2014/main" id="{1EE87681-4BB7-F713-0A6C-EE8BAB0BFE8D}"/>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A7266C45-2EF6-8C31-11FB-60839A3A31F6}"/>
              </a:ext>
            </a:extLst>
          </p:cNvPr>
          <p:cNvSpPr>
            <a:spLocks noGrp="1"/>
          </p:cNvSpPr>
          <p:nvPr>
            <p:ph type="body" sz="quarter" idx="16"/>
          </p:nvPr>
        </p:nvSpPr>
        <p:spPr/>
        <p:txBody>
          <a:bodyPr/>
          <a:lstStyle/>
          <a:p>
            <a:pPr algn="just"/>
            <a:r>
              <a:rPr lang="en-US" dirty="0">
                <a:hlinkClick r:id="rId3"/>
              </a:rPr>
              <a:t>Retirement: Azure Deployment Environments will be retired on February 22, 2027</a:t>
            </a:r>
            <a:endParaRPr lang="en-US" dirty="0"/>
          </a:p>
          <a:p>
            <a:pPr algn="just"/>
            <a:r>
              <a:rPr lang="en-US" dirty="0"/>
              <a:t>Microsoft has announced the retirement of Azure Deployment Environments (ADE) on February 22, 2027, with the service entering its closing-down phase on September 14, 2026. After the retirement date, Azure Deployment Environments will no longer be available, potentially disrupting existing developer environment provisioning and automation workflows.</a:t>
            </a:r>
          </a:p>
          <a:p>
            <a:pPr algn="just"/>
            <a:r>
              <a:rPr lang="en-US" dirty="0"/>
              <a:t>Organizations should review their current Azure Deployment Environments deployments, projects, environment definitions, infrastructure templates, and CI/CD integrations to identify dependencies and migration requirements.</a:t>
            </a:r>
          </a:p>
          <a:p>
            <a:pPr algn="just"/>
            <a:endParaRPr lang="en-US" dirty="0"/>
          </a:p>
        </p:txBody>
      </p:sp>
    </p:spTree>
    <p:extLst>
      <p:ext uri="{BB962C8B-B14F-4D97-AF65-F5344CB8AC3E}">
        <p14:creationId xmlns:p14="http://schemas.microsoft.com/office/powerpoint/2010/main" val="9862506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2"/>
              </a:rPr>
              <a:t>Public Preview: Azure Files cross-region data copy and synchronization with Azure Storage Mover</a:t>
            </a:r>
            <a:endParaRPr lang="en-US" dirty="0"/>
          </a:p>
          <a:p>
            <a:r>
              <a:rPr lang="en-US" dirty="0"/>
              <a:t>Azure Files customers can now copy and synchronize file share data across storage accounts, Azure regions, and subscriptions within the same tenant using Azure Storage Mover. Schedule incremental transfers to maintain secondary copies that can support business continuity scenarios, copy data across regions, consolidate file shares, or place data closer to applications and analytics workloads. Centralized scheduling, monitoring, auditing, and metadata preservation provide a managed approach to recurring file share copy operations.</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Backup for PostgreSQL flexible server and elastic cluster (v2)</a:t>
            </a:r>
            <a:endParaRPr lang="en-US" sz="1000" dirty="0"/>
          </a:p>
          <a:p>
            <a:pPr algn="just"/>
            <a:r>
              <a:rPr lang="en-US" sz="1000" dirty="0"/>
              <a:t>Azure Backup for PostgreSQL v2 is now available in public preview, introducing enterprise-grade long-term retention (LTR) for Azure Database for PostgreSQL Flexible Server and Elastic Clusters. The solution replaces logical </a:t>
            </a:r>
            <a:r>
              <a:rPr lang="en-US" sz="1000" dirty="0" err="1"/>
              <a:t>pg_dump</a:t>
            </a:r>
            <a:r>
              <a:rPr lang="en-US" sz="1000" dirty="0"/>
              <a:t>-based backups with physical managed disk snapshots stored in Azure Backup vaults, significantly improving scalability and backup efficiency.</a:t>
            </a:r>
          </a:p>
          <a:p>
            <a:pPr algn="just"/>
            <a:r>
              <a:rPr lang="en-US" sz="1000" dirty="0"/>
              <a:t>The new architecture supports databases up to 32 TB on Premium SSD v1 and 64 TB on Premium SSD v2, compared with the previous 1 TB limit. Following the initial full backup, subsequent backups are incremental, enabling daily, weekly, and on-demand protection with a target Recovery Point Objective (RPO) of one day.</a:t>
            </a:r>
          </a:p>
          <a:p>
            <a:pPr algn="just"/>
            <a:r>
              <a:rPr lang="en-US" sz="1000" dirty="0"/>
              <a:t>The new Restore as Server capability enables direct recovery to a pre-created PostgreSQL Flexible Server or Elastic Cluster, eliminating intermediate storage accounts and manual data imports. Backup retention can be configured from 7 days to 10 years, with independent daily, weekly, monthly, and yearly retention policies.</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a:t>
            </a:r>
            <a:r>
              <a:rPr lang="en-US" dirty="0" err="1">
                <a:hlinkClick r:id="rId3"/>
              </a:rPr>
              <a:t>HorizonDB</a:t>
            </a:r>
            <a:r>
              <a:rPr lang="en-US" dirty="0">
                <a:hlinkClick r:id="rId3"/>
              </a:rPr>
              <a:t> expands to additional regions</a:t>
            </a:r>
            <a:endParaRPr lang="en-US" dirty="0"/>
          </a:p>
          <a:p>
            <a:pPr algn="just"/>
            <a:r>
              <a:rPr lang="en-US" dirty="0"/>
              <a:t>Azure </a:t>
            </a:r>
            <a:r>
              <a:rPr lang="en-US" dirty="0" err="1"/>
              <a:t>HorizonDB</a:t>
            </a:r>
            <a:r>
              <a:rPr lang="en-US" dirty="0"/>
              <a:t>, Microsoft's PostgreSQL-compatible cloud database service, is expanding to additional Azure regions, providing organizations with greater flexibility when deploying modern PostgreSQL workloads.</a:t>
            </a:r>
          </a:p>
          <a:p>
            <a:pPr algn="just"/>
            <a:r>
              <a:rPr lang="en-US" dirty="0"/>
              <a:t>The regional expansion enables customers to deploy </a:t>
            </a:r>
            <a:r>
              <a:rPr lang="en-US" dirty="0" err="1"/>
              <a:t>HorizonDB</a:t>
            </a:r>
            <a:r>
              <a:rPr lang="en-US" dirty="0"/>
              <a:t> closer to applications, users, and dependent services, potentially reducing network latency and improving application responsiveness.</a:t>
            </a:r>
          </a:p>
          <a:p>
            <a:pPr algn="just"/>
            <a:r>
              <a:rPr lang="en-US" dirty="0"/>
              <a:t>Additional deployment locations also provide greater flexibility for data residency, regulatory compliance, geographic workload distribution, and regional architecture planning.</a:t>
            </a:r>
          </a:p>
          <a:p>
            <a:pPr algn="just"/>
            <a:r>
              <a:rPr lang="en-US" dirty="0"/>
              <a:t>For enterprises adopting </a:t>
            </a:r>
            <a:r>
              <a:rPr lang="en-US" dirty="0" err="1"/>
              <a:t>HorizonDB</a:t>
            </a:r>
            <a:r>
              <a:rPr lang="en-US" dirty="0"/>
              <a:t> for cloud-native applications, transactional databases, and AI-powered workloads, the expanded regional footprint supports broader adoption and integration into existing Azure environments.</a:t>
            </a:r>
          </a:p>
          <a:p>
            <a:pPr algn="just"/>
            <a:r>
              <a:rPr lang="en-US" dirty="0"/>
              <a:t>This enhancement strengthens Azure </a:t>
            </a:r>
            <a:r>
              <a:rPr lang="en-US" dirty="0" err="1"/>
              <a:t>HorizonDB's</a:t>
            </a:r>
            <a:r>
              <a:rPr lang="en-US" dirty="0"/>
              <a:t> position as a managed PostgreSQL platform while giving organizations more options to align database placement with performance, governance, and business requirements.</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Announcing: Table discovery in </a:t>
            </a:r>
            <a:r>
              <a:rPr lang="en-US" dirty="0" err="1">
                <a:hlinkClick r:id="rId2"/>
              </a:rPr>
              <a:t>OneLake</a:t>
            </a:r>
            <a:r>
              <a:rPr lang="en-US" dirty="0">
                <a:hlinkClick r:id="rId2"/>
              </a:rPr>
              <a:t> Catalog search</a:t>
            </a:r>
            <a:endParaRPr lang="en-US" dirty="0"/>
          </a:p>
          <a:p>
            <a:pPr algn="just"/>
            <a:r>
              <a:rPr lang="en-US" dirty="0"/>
              <a:t>Starting October 15, 2026, Microsoft Fabric Search introduces table-level discovery, allowing users to find individual tables across semantic models, </a:t>
            </a:r>
            <a:r>
              <a:rPr lang="en-US" dirty="0" err="1"/>
              <a:t>lakehouses</a:t>
            </a:r>
            <a:r>
              <a:rPr lang="en-US" dirty="0"/>
              <a:t>, and mirrored databases directly in search results.</a:t>
            </a:r>
          </a:p>
          <a:p>
            <a:pPr algn="just"/>
            <a:r>
              <a:rPr lang="en-US" dirty="0"/>
              <a:t>Users can search for tables by name, description, or exact column-name match, making it easier to locate relevant datasets without manually navigating through multiple Fabric objects. This improves data discoverability, metadata accessibility, and productivity across enterprise analytics environments.</a:t>
            </a:r>
          </a:p>
          <a:p>
            <a:pPr algn="just"/>
            <a:r>
              <a:rPr lang="en-US" dirty="0"/>
              <a:t>The enhanced search experience is integrated across Fabric Global Search, </a:t>
            </a:r>
            <a:r>
              <a:rPr lang="en-US" dirty="0" err="1"/>
              <a:t>OneLake</a:t>
            </a:r>
            <a:r>
              <a:rPr lang="en-US" dirty="0"/>
              <a:t> Catalog, Search API, Fabric MCP servers, Fabric CLI (/find), and the discovery skill. This enables consistent table discovery through both traditional user interfaces and AI-powered agents and automated workflows.</a:t>
            </a:r>
          </a:p>
          <a:p>
            <a:pPr algn="just"/>
            <a:r>
              <a:rPr lang="en-US" dirty="0"/>
              <a:t>For organizations managing large Fabric environments, the capability simplifies data exploration, dataset identification, and reuse of existing data assets, reducing the time required to find relevant information.</a:t>
            </a:r>
          </a:p>
          <a:p>
            <a:pPr algn="just"/>
            <a:endParaRPr lang="en-US" dirty="0"/>
          </a:p>
          <a:p>
            <a:pPr algn="just"/>
            <a:endParaRPr lang="en-US" dirty="0"/>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Enabling the Bulk admin role for SQL Server on Linux</a:t>
            </a:r>
            <a:endParaRPr lang="en-US" sz="1000" dirty="0"/>
          </a:p>
          <a:p>
            <a:pPr algn="just"/>
            <a:r>
              <a:rPr lang="en-US" sz="1000" dirty="0"/>
              <a:t>Starting with SQL Server 2025 CU9 and SQL Server 2022 CU27, SQL Server on Linux supports the </a:t>
            </a:r>
            <a:r>
              <a:rPr lang="en-US" sz="1000" dirty="0" err="1"/>
              <a:t>bulkadmin</a:t>
            </a:r>
            <a:r>
              <a:rPr lang="en-US" sz="1000" dirty="0"/>
              <a:t> fixed server role and ADMINISTER BULK OPERATIONS permission, enabling bulk data imports without requiring sysadmin privileges.</a:t>
            </a:r>
          </a:p>
          <a:p>
            <a:pPr algn="just"/>
            <a:r>
              <a:rPr lang="en-US" sz="1000" dirty="0"/>
              <a:t>Previously, operations such as BULK INSERT and OPENROWSET(BULK...) required membership in the sysadmin fixed server role on Linux. With this enhancement, database administrators can grant users only the permissions necessary to perform bulk data loading, reducing excessive administrative access.</a:t>
            </a:r>
          </a:p>
          <a:p>
            <a:pPr algn="just"/>
            <a:r>
              <a:rPr lang="en-US" sz="1000" dirty="0"/>
              <a:t>The capability applies to SQL Server on Linux across on-premises infrastructure, Azure Virtual Machines, and container deployments, providing a consistent security model across different hosting environments.</a:t>
            </a:r>
          </a:p>
          <a:p>
            <a:pPr algn="just"/>
            <a:r>
              <a:rPr lang="en-US" sz="1000" dirty="0"/>
              <a:t>This improvement strengthens role-based access control (RBAC), least-privilege enforcement, and separation of duties, particularly for enterprise environments where data ingestion processes, ETL pipelines, and automated database operations must run without elevated administrative permissions.</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a:xfrm>
            <a:off x="342900" y="855081"/>
            <a:ext cx="3955312" cy="1091484"/>
          </a:xfrm>
        </p:spPr>
        <p:txBody>
          <a:bodyPr/>
          <a:lstStyle/>
          <a:p>
            <a:pPr algn="just"/>
            <a:r>
              <a:rPr lang="en-US" dirty="0">
                <a:hlinkClick r:id="rId3"/>
              </a:rPr>
              <a:t>Generally Available: SQL Server on Azure Virtual Machines in Azure Bleu</a:t>
            </a:r>
            <a:endParaRPr lang="en-US" dirty="0"/>
          </a:p>
          <a:p>
            <a:pPr algn="just"/>
            <a:r>
              <a:rPr lang="en-US" dirty="0"/>
              <a:t>SQL Server on Azure Virtual Machines is now available in Azure Bleu, enabling to deploy and manage SQL Server workloads in France's sovereign cloud environment while meeting data residency and sovereignty requirements. </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2"/>
              </a:rPr>
              <a:t>Generally Available: Azure Database for PostgreSQL flexible server in East US 3</a:t>
            </a:r>
            <a:endParaRPr lang="en-US" dirty="0"/>
          </a:p>
          <a:p>
            <a:pPr algn="just"/>
            <a:r>
              <a:rPr lang="en-US" dirty="0"/>
              <a:t>Azure Database for PostgreSQL Flexible Server is now available in the East US 3 Azure region, expanding regional deployment options for managed PostgreSQL databases.</a:t>
            </a:r>
          </a:p>
          <a:p>
            <a:pPr algn="just"/>
            <a:r>
              <a:rPr lang="en-US" dirty="0"/>
              <a:t>Organizations can now provision PostgreSQL Flexible Server instances in East US 3, benefiting from Azure's managed database capabilities, including automated backups, patching, monitoring, security controls, and flexible compute and storage configurations.</a:t>
            </a:r>
          </a:p>
          <a:p>
            <a:pPr algn="just"/>
            <a:r>
              <a:rPr lang="en-US" dirty="0"/>
              <a:t>The regional expansion provides additional flexibility for workload placement, regional infrastructure planning, and data residency requirements. It also enables organizations to deploy PostgreSQL databases closer to applications and users hosted in East US 3, potentially reducing network latency and improving application performance.</a:t>
            </a:r>
          </a:p>
          <a:p>
            <a:pPr algn="just"/>
            <a:r>
              <a:rPr lang="en-US" dirty="0"/>
              <a:t>For enterprises operating PostgreSQL workloads across multiple Azure regions, this enhancement supports regional standardization, cloud architecture flexibility, and geographic expansion without requiring self-managed database infrastructure.</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Microsoft Agent 365 integration with Azure API Management</a:t>
            </a:r>
            <a:endParaRPr lang="en-US" dirty="0"/>
          </a:p>
          <a:p>
            <a:pPr algn="just"/>
            <a:r>
              <a:rPr lang="en-US" dirty="0"/>
              <a:t>The integration between Microsoft Agent 365 and Azure API Management (APIM) is now available in public preview, enabling centralized governance and runtime security enforcement for Model Context Protocol (MCP) servers and AI tools.</a:t>
            </a:r>
          </a:p>
          <a:p>
            <a:pPr algn="just"/>
            <a:r>
              <a:rPr lang="en-US" dirty="0"/>
              <a:t>Organizations can discover and inventory APIM gateways and MCP servers directly in Agent 365, providing centralized visibility into tools accessible by enterprise AI agents. Administrators can manage access policies through Agent 365, while Azure API Management enforces these policies at runtime within the organization's Azure environment.</a:t>
            </a:r>
          </a:p>
          <a:p>
            <a:pPr algn="just"/>
            <a:r>
              <a:rPr lang="en-US" dirty="0"/>
              <a:t>The integration supports server-level blocking and unblocking through Azure API Management v2 tiers. The AI Gateway tier (Preview) extends these capabilities with individual tool-level access controls, allowing administrators to block specific tools without disabling the entire MCP server.</a:t>
            </a:r>
          </a:p>
          <a:p>
            <a:pPr algn="just"/>
            <a:r>
              <a:rPr lang="en-US" dirty="0"/>
              <a:t>Additional capabilities include tool activity monitoring, auditing, and threat protection through integration with Microsoft Defender and Microsoft Purview, helping identify malicious tool interactions and sensitive-information exposure risks.</a:t>
            </a:r>
          </a:p>
          <a:p>
            <a:pPr algn="just"/>
            <a:endParaRPr lang="en-US" dirty="0"/>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Introducing Grok 4.7 on Microsoft Foundry</a:t>
            </a:r>
            <a:endParaRPr lang="en-US" dirty="0"/>
          </a:p>
          <a:p>
            <a:pPr algn="just"/>
            <a:r>
              <a:rPr lang="en-US" dirty="0"/>
              <a:t>Microsoft has introduced Grok 4.7 from </a:t>
            </a:r>
            <a:r>
              <a:rPr lang="en-US" dirty="0" err="1"/>
              <a:t>xAI</a:t>
            </a:r>
            <a:r>
              <a:rPr lang="en-US" dirty="0"/>
              <a:t> in Microsoft Foundry, expanding the platform's portfolio of third-party AI models and providing organizations with additional options for building generative AI applications and intelligent agents.</a:t>
            </a:r>
          </a:p>
          <a:p>
            <a:pPr algn="just"/>
            <a:r>
              <a:rPr lang="en-US" dirty="0"/>
              <a:t>The addition gives developers another model to evaluate for complex reasoning, content generation, conversational AI, and agent-based workflows. Through Microsoft Foundry, organizations can compare Grok 4.7 with other available models and select an appropriate option based on application requirements, performance, and cost.</a:t>
            </a:r>
          </a:p>
          <a:p>
            <a:pPr algn="just"/>
            <a:r>
              <a:rPr lang="en-US" dirty="0"/>
              <a:t>The integration supports Microsoft's multi-model AI strategy, allowing enterprises to build applications using models from different providers within a common AI development platform.</a:t>
            </a:r>
          </a:p>
          <a:p>
            <a:pPr algn="just"/>
            <a:r>
              <a:rPr lang="en-US" dirty="0"/>
              <a:t>For enterprise customers, Grok 4.7 provides an additional option for AI experimentation, application modernization, and agent development, while encouraging model selection based on workload-specific evaluation rather than dependence on a single AI provider.</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635</TotalTime>
  <Words>4828</Words>
  <Application>Microsoft Office PowerPoint</Application>
  <PresentationFormat>On-screen Show (16:9)</PresentationFormat>
  <Paragraphs>175</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Human Sans</vt:lpstr>
      <vt:lpstr>Human Sans Regular</vt:lpstr>
      <vt:lpstr>Continuum Theme</vt:lpstr>
      <vt:lpstr>Azure Times #227</vt:lpstr>
      <vt:lpstr>PowerPoint Presentation</vt:lpstr>
      <vt:lpstr>Networking Updates (Preview)</vt:lpstr>
      <vt:lpstr>Networking Updates (Preview)</vt:lpstr>
      <vt:lpstr>Networking Updates (General Available)</vt:lpstr>
      <vt:lpstr>Networking Updates (General Available)</vt:lpstr>
      <vt:lpstr>PowerPoint Presentation</vt:lpstr>
      <vt:lpstr>Security &amp; Identity Updates (General Available)</vt:lpstr>
      <vt:lpstr>Security &amp; Identity Updates (General Available)</vt:lpstr>
      <vt:lpstr>PowerPoint Presentation</vt:lpstr>
      <vt:lpstr>Management &amp; Governance Updates (Preview)</vt:lpstr>
      <vt:lpstr>Management &amp; Governance Updates (General Available)</vt:lpstr>
      <vt:lpstr>Management &amp; Governance Updates (General Available)</vt:lpstr>
      <vt:lpstr>PowerPoint Presentation</vt:lpstr>
      <vt:lpstr>Compute Updates (Preview)</vt:lpstr>
      <vt:lpstr>Compute Updates (General Available)</vt:lpstr>
      <vt:lpstr>Compute Updates (General Available)</vt:lpstr>
      <vt:lpstr>Compute Updates (Retirement)</vt:lpstr>
      <vt:lpstr>Compute Updates (Retirement)</vt:lpstr>
      <vt:lpstr>Compute Updates (Retirement)</vt:lpstr>
      <vt:lpstr>PowerPoint Presentation</vt:lpstr>
      <vt:lpstr>Storage &amp; Data Updates (Preview)</vt:lpstr>
      <vt:lpstr>PowerPoint Presentation</vt:lpstr>
      <vt:lpstr>Databases Updates (Preview)</vt:lpstr>
      <vt:lpstr>Databases Updates (Preview)</vt:lpstr>
      <vt:lpstr>Databases Updates (General Available)</vt:lpstr>
      <vt:lpstr>Databases Updates (General Available)</vt:lpstr>
      <vt:lpstr>PowerPoint Presentation</vt:lpstr>
      <vt:lpstr>Integration Updates (Preview)</vt:lpstr>
      <vt:lpstr>PowerPoint Presentation</vt:lpstr>
      <vt:lpstr>ML &amp; AI &amp; IOT Updates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169</cp:revision>
  <dcterms:created xsi:type="dcterms:W3CDTF">2018-01-26T19:23:30Z</dcterms:created>
  <dcterms:modified xsi:type="dcterms:W3CDTF">2026-10-18T16:06:18Z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