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43"/>
  </p:notesMasterIdLst>
  <p:handoutMasterIdLst>
    <p:handoutMasterId r:id="rId44"/>
  </p:handoutMasterIdLst>
  <p:sldIdLst>
    <p:sldId id="2142532340" r:id="rId5"/>
    <p:sldId id="2146847046" r:id="rId6"/>
    <p:sldId id="2146847089" r:id="rId7"/>
    <p:sldId id="2146847129" r:id="rId8"/>
    <p:sldId id="2146847128" r:id="rId9"/>
    <p:sldId id="2146847048" r:id="rId10"/>
    <p:sldId id="2146847049" r:id="rId11"/>
    <p:sldId id="2146847133" r:id="rId12"/>
    <p:sldId id="2146847131" r:id="rId13"/>
    <p:sldId id="2146847157" r:id="rId14"/>
    <p:sldId id="2146847156" r:id="rId15"/>
    <p:sldId id="2146847050" r:id="rId16"/>
    <p:sldId id="2146847096" r:id="rId17"/>
    <p:sldId id="2146847135" r:id="rId18"/>
    <p:sldId id="2146847159" r:id="rId19"/>
    <p:sldId id="2146847160" r:id="rId20"/>
    <p:sldId id="2146847161" r:id="rId21"/>
    <p:sldId id="2146847162" r:id="rId22"/>
    <p:sldId id="2146847052" r:id="rId23"/>
    <p:sldId id="2146847100" r:id="rId24"/>
    <p:sldId id="2146847138" r:id="rId25"/>
    <p:sldId id="2146847054" r:id="rId26"/>
    <p:sldId id="2146847103" r:id="rId27"/>
    <p:sldId id="2146847141" r:id="rId28"/>
    <p:sldId id="2146847163" r:id="rId29"/>
    <p:sldId id="2146847166" r:id="rId30"/>
    <p:sldId id="2146847167" r:id="rId31"/>
    <p:sldId id="2146847142" r:id="rId32"/>
    <p:sldId id="2146847140" r:id="rId33"/>
    <p:sldId id="2146847164" r:id="rId34"/>
    <p:sldId id="2146847165" r:id="rId35"/>
    <p:sldId id="2146847058" r:id="rId36"/>
    <p:sldId id="2146847111" r:id="rId37"/>
    <p:sldId id="2146847148" r:id="rId38"/>
    <p:sldId id="2146847149" r:id="rId39"/>
    <p:sldId id="2146847085" r:id="rId40"/>
    <p:sldId id="2146847084" r:id="rId41"/>
    <p:sldId id="2146847064" r:id="rId4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 id="2146847129"/>
            <p14:sldId id="2146847128"/>
          </p14:sldIdLst>
        </p14:section>
        <p14:section name="Management &amp; Governance" id="{34181601-6D48-4406-A525-C7B5A12C6C5B}">
          <p14:sldIdLst>
            <p14:sldId id="2146847048"/>
            <p14:sldId id="2146847049"/>
            <p14:sldId id="2146847133"/>
            <p14:sldId id="2146847131"/>
            <p14:sldId id="2146847157"/>
            <p14:sldId id="2146847156"/>
          </p14:sldIdLst>
        </p14:section>
        <p14:section name="Compute" id="{05AA80BB-8802-49AB-8336-A884227CE2F7}">
          <p14:sldIdLst>
            <p14:sldId id="2146847050"/>
            <p14:sldId id="2146847096"/>
            <p14:sldId id="2146847135"/>
            <p14:sldId id="2146847159"/>
            <p14:sldId id="2146847160"/>
            <p14:sldId id="2146847161"/>
            <p14:sldId id="2146847162"/>
          </p14:sldIdLst>
        </p14:section>
        <p14:section name="Storage &amp; Data" id="{1F159046-CE0A-45BC-9D5B-6E6C95980F78}">
          <p14:sldIdLst>
            <p14:sldId id="2146847052"/>
            <p14:sldId id="2146847100"/>
            <p14:sldId id="2146847138"/>
          </p14:sldIdLst>
        </p14:section>
        <p14:section name="Databases" id="{AEAFAE72-AD56-48F3-926B-38BAE269038F}">
          <p14:sldIdLst>
            <p14:sldId id="2146847054"/>
            <p14:sldId id="2146847103"/>
            <p14:sldId id="2146847141"/>
            <p14:sldId id="2146847163"/>
            <p14:sldId id="2146847166"/>
            <p14:sldId id="2146847167"/>
            <p14:sldId id="2146847142"/>
            <p14:sldId id="2146847140"/>
            <p14:sldId id="2146847164"/>
            <p14:sldId id="2146847165"/>
          </p14:sldIdLst>
        </p14:section>
        <p14:section name="Integration" id="{ACBD46A3-6F1C-451B-A154-0A056E0DEFF6}">
          <p14:sldIdLst/>
        </p14:section>
        <p14:section name="ML &amp; AI &amp; IOT" id="{F4E1EAF1-55E9-4CA4-8ADC-28B69C1D66D2}">
          <p14:sldIdLst>
            <p14:sldId id="2146847058"/>
            <p14:sldId id="2146847111"/>
            <p14:sldId id="2146847148"/>
            <p14:sldId id="2146847149"/>
          </p14:sldIdLst>
        </p14:section>
        <p14:section name="DevOps &amp; IaC &amp; Automation" id="{A1B23FE8-BD24-477B-81AD-FE484F08F19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F6CBD"/>
    <a:srgbClr val="002050"/>
    <a:srgbClr val="F25D43"/>
    <a:srgbClr val="CADC49"/>
    <a:srgbClr val="E53B2E"/>
    <a:srgbClr val="FFC000"/>
    <a:srgbClr val="D35D47"/>
    <a:srgbClr val="008ACF"/>
    <a:srgbClr val="76CD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40" autoAdjust="0"/>
    <p:restoredTop sz="94694"/>
  </p:normalViewPr>
  <p:slideViewPr>
    <p:cSldViewPr snapToGrid="0">
      <p:cViewPr varScale="1">
        <p:scale>
          <a:sx n="138" d="100"/>
          <a:sy n="138" d="100"/>
        </p:scale>
        <p:origin x="1884"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10/3/2026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azure/defender-for-cloud/release-notes#upcoming-billing-updates-for-defender-for-servers" TargetMode="External"/><Relationship Id="rId2" Type="http://schemas.openxmlformats.org/officeDocument/2006/relationships/hyperlink" Target="https://learn.microsoft.com/en-us/azure/defender-for-cloud/release-notes#upcoming-deprecation-of-the-machines-should-have-a-vulnerability-assessment-solution-recommendation"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azure/defender-for-cloud/release-notes#general-availability-of-defender-for-cosmos-db-in-azure-government-cloud" TargetMode="External"/><Relationship Id="rId2" Type="http://schemas.openxmlformats.org/officeDocument/2006/relationships/hyperlink" Target="https://learn.microsoft.com/en-us/azure/defender-for-cloud/release-notes#aws-guardduty-coverage-status-is-now-shown-on-the-s3-asset-page"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learn.microsoft.com/en-us/azure/defender-for-cloud/release-notes#enhanced-agent-for-defender-for-sql-servers-on-machines-is-fully-available-in-azure-government-cloud"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azure.microsoft.com/ru-ru/updates?id=571904"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70763" TargetMode="External"/><Relationship Id="rId2" Type="http://schemas.openxmlformats.org/officeDocument/2006/relationships/hyperlink" Target="https://azure.microsoft.com/ru-ru/updates?id=570696"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techcommunity.microsoft.com/blog/finopsblog/now-available-management-group%E2%80%93scoped-savings-plan-and-reservation-recommendatio/4560869" TargetMode="External"/><Relationship Id="rId2" Type="http://schemas.openxmlformats.org/officeDocument/2006/relationships/hyperlink" Target="https://learn.microsoft.com/en-us/azure/backup/whats-new#time-based-immutability-for-recovery-services-vaults"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learn.microsoft.com/en-us/azure/backup/whats-new#vaulted-backup-support-for-azure-postgresql-flexible-server-and-elastic-cluster-v2-preview"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azure.microsoft.com/ru-ru/updates?id=570046"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73214" TargetMode="External"/><Relationship Id="rId2" Type="http://schemas.openxmlformats.org/officeDocument/2006/relationships/hyperlink" Target="https://azure.github.io/AppService/2026/09/28/Azure-App-Service-on-Azure-Stack-Hub-26R1-Released.html"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72968" TargetMode="External"/><Relationship Id="rId2" Type="http://schemas.openxmlformats.org/officeDocument/2006/relationships/hyperlink" Target="https://azure.microsoft.com/ru-ru/updates?id=572630"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ru-ru/updates?id=570046" TargetMode="External"/><Relationship Id="rId2" Type="http://schemas.openxmlformats.org/officeDocument/2006/relationships/hyperlink" Target="https://azure.microsoft.com/ru-ru/updates?id=570283"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70800" TargetMode="External"/><Relationship Id="rId2" Type="http://schemas.openxmlformats.org/officeDocument/2006/relationships/hyperlink" Target="https://azure.microsoft.com/ru-ru/updates?id=572346"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73415" TargetMode="External"/><Relationship Id="rId2" Type="http://schemas.openxmlformats.org/officeDocument/2006/relationships/hyperlink" Target="https://azure.microsoft.com/ru-ru/updates?id=573414"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azure.microsoft.com/ru-ru/updates?id=569592"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73041"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ru-ru/updates?id=573027" TargetMode="External"/><Relationship Id="rId2" Type="http://schemas.openxmlformats.org/officeDocument/2006/relationships/hyperlink" Target="https://azure.microsoft.com/ru-ru/updates?id=573032"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azure.microsoft.com/ru-ru/updates?id=573003" TargetMode="External"/><Relationship Id="rId2" Type="http://schemas.openxmlformats.org/officeDocument/2006/relationships/hyperlink" Target="https://azure.microsoft.com/ru-ru/updates?id=571914"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azure.microsoft.com/ru-ru/updates?id=571795" TargetMode="External"/><Relationship Id="rId2" Type="http://schemas.openxmlformats.org/officeDocument/2006/relationships/hyperlink" Target="https://azure.microsoft.com/ru-ru/updates?id=571857"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azure.microsoft.com/ru-ru/updates?id=571867" TargetMode="External"/><Relationship Id="rId2" Type="http://schemas.openxmlformats.org/officeDocument/2006/relationships/hyperlink" Target="https://azure.microsoft.com/ru-ru/updates?id=571810"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azure.microsoft.com/ru-ru/updates?id=571504" TargetMode="External"/><Relationship Id="rId2" Type="http://schemas.openxmlformats.org/officeDocument/2006/relationships/hyperlink" Target="https://azure.microsoft.com/ru-ru/updates?id=569653"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devblogs.microsoft.com/azure-sql/announcing-the-public-preview-of-local-time-zone-support-in-azure-sql-database/?WT.mc_id=AZ-MVP-5004796"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azure.microsoft.com/ru-ru/updates?id=571632" TargetMode="External"/><Relationship Id="rId2" Type="http://schemas.openxmlformats.org/officeDocument/2006/relationships/hyperlink" Target="https://azure.microsoft.com/ru-ru/updates?id=571800"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azure.microsoft.com/ru-ru/updates?id=571899" TargetMode="External"/><Relationship Id="rId2" Type="http://schemas.openxmlformats.org/officeDocument/2006/relationships/hyperlink" Target="https://azure.microsoft.com/ru-ru/updates?id=571872"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azure.microsoft.com/ru-ru/updates?id=571783" TargetMode="External"/><Relationship Id="rId2" Type="http://schemas.openxmlformats.org/officeDocument/2006/relationships/hyperlink" Target="https://azure.microsoft.com/ru-ru/updates?id=571836"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azure.microsoft.com/ru-ru/updates?id=571841" TargetMode="External"/><Relationship Id="rId2" Type="http://schemas.openxmlformats.org/officeDocument/2006/relationships/hyperlink" Target="https://azure.microsoft.com/ru-ru/updates?id=571852"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azure.microsoft.com/ru-ru/updates?id=573385"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https://techcommunity.microsoft.com/blog/microsoft-copilot-blog/available-today-openais-gpt-6-1-sol-and-claude-sonnet-5-5-in-microsoft-copilot/4560801"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hyperlink" Target="https://azure.microsoft.com/ru-ru/updates?id=569914"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#226</a:t>
            </a:r>
          </a:p>
        </p:txBody>
      </p:sp>
      <p:sp>
        <p:nvSpPr>
          <p:cNvPr id="4" name="Text Placeholder 3"/>
          <p:cNvSpPr>
            <a:spLocks noGrp="1"/>
          </p:cNvSpPr>
          <p:nvPr>
            <p:ph type="body" sz="quarter" idx="11"/>
          </p:nvPr>
        </p:nvSpPr>
        <p:spPr/>
        <p:txBody>
          <a:bodyPr/>
          <a:lstStyle/>
          <a:p>
            <a:r>
              <a:rPr lang="en-US" spc="300" dirty="0">
                <a:solidFill>
                  <a:schemeClr val="accent3"/>
                </a:solidFill>
              </a:rPr>
              <a:t>October 5,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Upcoming deprecation of the Machines should have a vulnerability assessment solution recommendation</a:t>
            </a:r>
            <a:endParaRPr lang="en-US" sz="1000" dirty="0"/>
          </a:p>
          <a:p>
            <a:pPr algn="just"/>
            <a:r>
              <a:rPr lang="en-US" sz="1000" dirty="0"/>
              <a:t>As part of the transition to individual recommendations, the Machines should have a vulnerability assessment solution recommendation will be deprecated on December 14, 2026.</a:t>
            </a:r>
          </a:p>
          <a:p>
            <a:pPr algn="just"/>
            <a:r>
              <a:rPr lang="en-US" sz="1000" dirty="0"/>
              <a:t>Customers should use individual recommendations in Microsoft Defender for Cloud to review and manage vulnerability assessment coverage.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Upcoming billing updates for Defender for Servers</a:t>
            </a:r>
            <a:endParaRPr lang="en-US" dirty="0"/>
          </a:p>
          <a:p>
            <a:pPr algn="just"/>
            <a:r>
              <a:rPr lang="en-US" dirty="0"/>
              <a:t>Effective November 1, 2026, Microsoft Defender for Servers introduces two related updates:</a:t>
            </a:r>
          </a:p>
          <a:p>
            <a:pPr marL="171450" lvl="0" indent="-171450" algn="just">
              <a:buFont typeface="Arial" panose="020B0604020202020204" pitchFamily="34" charset="0"/>
              <a:buChar char="•"/>
            </a:pPr>
            <a:r>
              <a:rPr lang="en-US" b="1" dirty="0"/>
              <a:t>Billing policy update:</a:t>
            </a:r>
            <a:r>
              <a:rPr lang="en-US" dirty="0"/>
              <a:t> Productivity and desktop client devices, such as Windows 10 and Windows 11 PCs, are no longer billed as servers. For more information, see the Billing Policy Update Details section.</a:t>
            </a:r>
          </a:p>
          <a:p>
            <a:pPr marL="171450" lvl="0" indent="-171450" algn="just">
              <a:buFont typeface="Arial" panose="020B0604020202020204" pitchFamily="34" charset="0"/>
              <a:buChar char="•"/>
            </a:pPr>
            <a:r>
              <a:rPr lang="en-US" b="1" dirty="0"/>
              <a:t>Billable Server identification mechanism update:</a:t>
            </a:r>
            <a:r>
              <a:rPr lang="en-US" dirty="0"/>
              <a:t> Defender for Servers is updating how it identifies protected servers for billing at a more granular level across environments. This may change the billed server count reflected on your bill based on your usage and configuration. For more information, see the Billable Server Identification Mechanism Update section.</a:t>
            </a:r>
          </a:p>
          <a:p>
            <a:pPr algn="just"/>
            <a:r>
              <a:rPr lang="en-US" dirty="0"/>
              <a:t>This section helps you understand both updates so you can anticipate how your devices are classified and billed after the updates take effect.</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pPr algn="just"/>
            <a:r>
              <a:rPr lang="en-US" sz="1000" dirty="0">
                <a:hlinkClick r:id="rId2"/>
              </a:rPr>
              <a:t>AWS GuardDuty coverage status is now shown on the S3 asset page</a:t>
            </a:r>
            <a:endParaRPr lang="en-US" sz="1000" dirty="0"/>
          </a:p>
          <a:p>
            <a:pPr algn="just"/>
            <a:r>
              <a:rPr lang="en-US" sz="1000" dirty="0"/>
              <a:t>Microsoft Defender for Cloud now shows Amazon GuardDuty coverage status for AWS S3 buckets, in the Cloud security details section of the S3 asset page.</a:t>
            </a:r>
          </a:p>
          <a:p>
            <a:pPr algn="just"/>
            <a:r>
              <a:rPr lang="en-US" sz="1000" dirty="0"/>
              <a:t>Two statuses are shown for each bucket, each as Enabled or Disabled:</a:t>
            </a:r>
          </a:p>
          <a:p>
            <a:pPr marL="171450" indent="-171450" algn="just">
              <a:buFont typeface="Arial" panose="020B0604020202020204" pitchFamily="34" charset="0"/>
              <a:buChar char="•"/>
            </a:pPr>
            <a:r>
              <a:rPr lang="en-US" sz="1000" dirty="0"/>
              <a:t>GuardDuty Extended Threat Detection</a:t>
            </a:r>
          </a:p>
          <a:p>
            <a:pPr marL="171450" indent="-171450" algn="just">
              <a:buFont typeface="Arial" panose="020B0604020202020204" pitchFamily="34" charset="0"/>
              <a:buChar char="•"/>
            </a:pPr>
            <a:r>
              <a:rPr lang="en-US" sz="1000" dirty="0"/>
              <a:t>GuardDuty Malware Protection</a:t>
            </a:r>
          </a:p>
          <a:p>
            <a:pPr algn="just"/>
            <a:r>
              <a:rPr lang="en-US" sz="1000" dirty="0"/>
              <a:t>The two are enabled independently in AWS, so a bucket can have one on and the other off.</a:t>
            </a:r>
          </a:p>
          <a:p>
            <a:pPr algn="just"/>
            <a:r>
              <a:rPr lang="en-US" sz="1000" dirty="0"/>
              <a:t>If you protect AWS storage with GuardDuty, you can now see which S3 buckets are covered without leaving the Defender portal or signing in to the AWS console.</a:t>
            </a:r>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General availability of Defender for Cosmos DB in Azure Government cloud</a:t>
            </a:r>
            <a:endParaRPr lang="en-US" dirty="0"/>
          </a:p>
          <a:p>
            <a:pPr algn="just"/>
            <a:r>
              <a:rPr lang="en-US" dirty="0"/>
              <a:t>With this general availability announcement, the Defender for Cosmos DB plan in Azure Government cloud now aligns with the commercial cloud offering in feature coverage and runtime protection capabilities.</a:t>
            </a:r>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2"/>
              </a:rPr>
              <a:t>Enhanced agent for Defender for SQL Servers on Machines is fully available in Azure Government cloud</a:t>
            </a:r>
            <a:endParaRPr lang="en-US" dirty="0"/>
          </a:p>
          <a:p>
            <a:pPr algn="just"/>
            <a:r>
              <a:rPr lang="en-US" dirty="0"/>
              <a:t>In Azure Government cloud, the Defender for SQL Servers on Machines plan in Microsoft Defender for Cloud protects SQL Server instances running on Azure virtual machines and on Azure Arc-enabled machines connected to that cloud.</a:t>
            </a:r>
          </a:p>
          <a:p>
            <a:pPr algn="just"/>
            <a:r>
              <a:rPr lang="en-US" dirty="0"/>
              <a:t>The enhanced agent is now fully available for both resource-level and subscription-level enablement, providing the same onboarding and configuration experience as in Azure commercial cloud. The enhanced agent eliminates the need to deploy the Azure Monitor Agent (AMA) and instead uses the existing SQL infrastructure. This solution simplifies onboarding and improves protection coverage.</a:t>
            </a:r>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Performance monitoring for Azure Arc–enabled SQL Server</a:t>
            </a:r>
            <a:endParaRPr lang="en-US" dirty="0"/>
          </a:p>
          <a:p>
            <a:pPr algn="just"/>
            <a:r>
              <a:rPr lang="en-US" dirty="0"/>
              <a:t>The </a:t>
            </a:r>
            <a:r>
              <a:rPr lang="en-US" b="1" dirty="0"/>
              <a:t>performance monitoring preview for SQL Server enabled by Azure Arc</a:t>
            </a:r>
            <a:r>
              <a:rPr lang="en-US" dirty="0"/>
              <a:t> is expanding with new options for querying, visualizing, and integrating SQL Server performance telemetry. Microsoft-managed monitoring data can now be queried directly through a </a:t>
            </a:r>
            <a:r>
              <a:rPr lang="en-US" b="1" dirty="0"/>
              <a:t>telemetry endpoint</a:t>
            </a:r>
            <a:r>
              <a:rPr lang="en-US" dirty="0"/>
              <a:t>, reducing the need to build and operate a separate monitoring data pipeline.</a:t>
            </a:r>
          </a:p>
          <a:p>
            <a:pPr algn="just"/>
            <a:r>
              <a:rPr lang="en-US" dirty="0"/>
              <a:t>The built-in </a:t>
            </a:r>
            <a:r>
              <a:rPr lang="en-US" b="1" dirty="0"/>
              <a:t>Azure portal monitoring experience now uses Grafana dashboards</a:t>
            </a:r>
            <a:r>
              <a:rPr lang="en-US" dirty="0"/>
              <a:t>, providing ready-to-use visualizations for SQL Server health and performance. Organizations can also connect their </a:t>
            </a:r>
            <a:r>
              <a:rPr lang="en-US" b="1" dirty="0"/>
              <a:t>own Grafana environments</a:t>
            </a:r>
            <a:r>
              <a:rPr lang="en-US" dirty="0"/>
              <a:t> to the same telemetry endpoint and create customized dashboards aligned with operational requirements.</a:t>
            </a:r>
          </a:p>
          <a:p>
            <a:pPr algn="just"/>
            <a:r>
              <a:rPr lang="en-US" dirty="0"/>
              <a:t>Integration with </a:t>
            </a:r>
            <a:r>
              <a:rPr lang="en-US" b="1" dirty="0"/>
              <a:t>Microsoft Fabric Database Hub</a:t>
            </a:r>
            <a:r>
              <a:rPr lang="en-US" dirty="0"/>
              <a:t> extends the capability to estate-level monitoring, bringing Arc-enabled SQL Server telemetry into a consolidated database management experience. This enables teams to monitor </a:t>
            </a:r>
            <a:r>
              <a:rPr lang="en-US" b="1" dirty="0"/>
              <a:t>health and performance across larger Azure and hybrid database estates</a:t>
            </a:r>
            <a:r>
              <a:rPr lang="en-US" dirty="0"/>
              <a:t> instead of troubleshooting SQL Server instances individually.</a:t>
            </a:r>
          </a:p>
          <a:p>
            <a:pPr algn="just"/>
            <a:r>
              <a:rPr lang="en-US" dirty="0"/>
              <a:t>The enhancement is particularly useful for organizations managing </a:t>
            </a:r>
            <a:r>
              <a:rPr lang="en-US" b="1" dirty="0"/>
              <a:t>large hybrid SQL Server environments</a:t>
            </a:r>
            <a:r>
              <a:rPr lang="en-US" dirty="0"/>
              <a:t>, providing a more centralized observability model while reducing the infrastructure required to collect and visualize performance data.</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r>
              <a:rPr lang="en-US" sz="1000" dirty="0">
                <a:hlinkClick r:id="rId2"/>
              </a:rPr>
              <a:t>Generally Available: Azure Arc-enabled SQL Server in Germany West Central</a:t>
            </a:r>
            <a:endParaRPr lang="en-US" sz="1000" dirty="0"/>
          </a:p>
          <a:p>
            <a:r>
              <a:rPr lang="en-US" sz="1000" b="1" dirty="0"/>
              <a:t>Azure Arc-enabled SQL Server</a:t>
            </a:r>
            <a:r>
              <a:rPr lang="en-US" sz="1000" dirty="0"/>
              <a:t> is now available in the </a:t>
            </a:r>
            <a:r>
              <a:rPr lang="en-US" sz="1000" b="1" dirty="0"/>
              <a:t>Germany West Central region</a:t>
            </a:r>
            <a:r>
              <a:rPr lang="en-US" sz="1000" dirty="0"/>
              <a:t>, expanding regional support for managing SQL Server environments running outside Azure.</a:t>
            </a:r>
          </a:p>
          <a:p>
            <a:r>
              <a:rPr lang="en-US" sz="1000" dirty="0"/>
              <a:t>Organizations can connect SQL Server instances running </a:t>
            </a:r>
            <a:r>
              <a:rPr lang="en-US" sz="1000" b="1" dirty="0"/>
              <a:t>on-premises, at the edge, or in other cloud environments</a:t>
            </a:r>
            <a:r>
              <a:rPr lang="en-US" sz="1000" dirty="0"/>
              <a:t> to Azure Arc and manage them through a centralized Azure control plane. Once connected, customers can use Azure capabilities for </a:t>
            </a:r>
            <a:r>
              <a:rPr lang="en-US" sz="1000" b="1" dirty="0"/>
              <a:t>SQL Server inventory, governance, security, assessments, and license management</a:t>
            </a:r>
            <a:r>
              <a:rPr lang="en-US" sz="1000" dirty="0"/>
              <a:t>.</a:t>
            </a:r>
          </a:p>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3"/>
              </a:rPr>
              <a:t>Generally Available: Azure Arc-enabled SQL Server Available in Italy North</a:t>
            </a:r>
            <a:endParaRPr lang="en-US" dirty="0"/>
          </a:p>
          <a:p>
            <a:r>
              <a:rPr lang="en-US" b="1" dirty="0"/>
              <a:t>Azure Arc-enabled SQL Server</a:t>
            </a:r>
            <a:r>
              <a:rPr lang="en-US" dirty="0"/>
              <a:t> is now available in the </a:t>
            </a:r>
            <a:r>
              <a:rPr lang="en-US" b="1" dirty="0"/>
              <a:t>Italy North Azure region</a:t>
            </a:r>
            <a:r>
              <a:rPr lang="en-US" dirty="0"/>
              <a:t>, expanding regional support for managing SQL Server environments running outside Azure.</a:t>
            </a:r>
          </a:p>
          <a:p>
            <a:r>
              <a:rPr lang="en-US" dirty="0"/>
              <a:t>Organizations can connect SQL Server instances running </a:t>
            </a:r>
            <a:r>
              <a:rPr lang="en-US" b="1" dirty="0"/>
              <a:t>on-premises, at the edge, or in other cloud environments</a:t>
            </a:r>
            <a:r>
              <a:rPr lang="en-US" dirty="0"/>
              <a:t> to Azure Arc and manage them through a centralized Azure control plane. Once connected, customers can use Azure capabilities for </a:t>
            </a:r>
            <a:r>
              <a:rPr lang="en-US" b="1" dirty="0"/>
              <a:t>SQL Server inventory, governance, security, assessments, and license management</a:t>
            </a:r>
            <a:r>
              <a:rPr lang="en-US" dirty="0"/>
              <a:t>.</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p:txBody>
          <a:bodyPr/>
          <a:lstStyle/>
          <a:p>
            <a:r>
              <a:rPr lang="en-US" sz="1000" dirty="0">
                <a:hlinkClick r:id="rId2"/>
              </a:rPr>
              <a:t>Time-based immutability for Recovery Services vaults</a:t>
            </a:r>
            <a:endParaRPr lang="en-US" sz="1000" dirty="0"/>
          </a:p>
          <a:p>
            <a:r>
              <a:rPr lang="en-US" sz="1000" dirty="0"/>
              <a:t>Azure Backup now supports time-based immutability for Recovery Services vaults, so you can configure immutability for a specific duration that's independent of the backup policy retention period. Recovery points stay immutable for the duration you set and continue to be retained according to the backup policy. This feature prevents backup policy retention from being shorter than the immutability duration you set. It provides greater flexibility to balance data protection requirements with storage costs, especially when immutability is locked.</a:t>
            </a:r>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3"/>
              </a:rPr>
              <a:t>Now Available: Management Group–Scoped Savings Plan and Reservation Recommendations in Azure</a:t>
            </a:r>
            <a:endParaRPr lang="en-US" dirty="0"/>
          </a:p>
          <a:p>
            <a:pPr algn="just"/>
            <a:r>
              <a:rPr lang="en-US" dirty="0"/>
              <a:t>Microsoft has introduced </a:t>
            </a:r>
            <a:r>
              <a:rPr lang="en-US" b="1" dirty="0"/>
              <a:t>management group–scoped recommendations for Azure Savings Plans and Reservations</a:t>
            </a:r>
            <a:r>
              <a:rPr lang="en-US" dirty="0"/>
              <a:t>, extending commitment optimization beyond individual subscriptions. Organizations can now analyze eligible usage across </a:t>
            </a:r>
            <a:r>
              <a:rPr lang="en-US" b="1" dirty="0"/>
              <a:t>multiple subscriptions within a management group</a:t>
            </a:r>
            <a:r>
              <a:rPr lang="en-US" dirty="0"/>
              <a:t> and receive recommendations based on their aggregated consumption. </a:t>
            </a:r>
          </a:p>
          <a:p>
            <a:pPr algn="just"/>
            <a:r>
              <a:rPr lang="en-US" dirty="0"/>
              <a:t>This is particularly useful for large enterprises where workloads and subscriptions are organized according to </a:t>
            </a:r>
            <a:r>
              <a:rPr lang="en-US" b="1" dirty="0"/>
              <a:t>Azure management group hierarchies</a:t>
            </a:r>
            <a:r>
              <a:rPr lang="en-US" dirty="0"/>
              <a:t>. Aggregating usage at the management-group level can identify commitment opportunities that may be difficult to recognize when each subscription is evaluated independently. </a:t>
            </a:r>
          </a:p>
          <a:p>
            <a:pPr algn="just"/>
            <a:r>
              <a:rPr lang="en-US" dirty="0"/>
              <a:t>The capability supports </a:t>
            </a:r>
            <a:r>
              <a:rPr lang="en-US" b="1" dirty="0"/>
              <a:t>FinOps and centralized cloud cost-management teams</a:t>
            </a:r>
            <a:r>
              <a:rPr lang="en-US" dirty="0"/>
              <a:t> by aligning commitment recommendations more closely with enterprise governance boundaries. It can help organizations improve </a:t>
            </a:r>
            <a:r>
              <a:rPr lang="en-US" b="1" dirty="0"/>
              <a:t>Savings Plan and Reservation utilization, reduce manual analysis across subscriptions, and make commitment purchasing decisions using a broader view of Azure consumption</a:t>
            </a:r>
            <a:r>
              <a:rPr lang="en-US" dirty="0"/>
              <a:t>. </a:t>
            </a:r>
          </a:p>
          <a:p>
            <a:pPr algn="just"/>
            <a:endParaRPr lang="en-US" dirty="0"/>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0D349AB-9CE9-BCD3-70BB-9D90B853C6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D866A-D82E-8CE3-5B88-E926D164D0A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5865EAB-864B-4B1D-F2FA-6CCDE14251D0}"/>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ADCC088B-4322-1335-8C17-AD53230CA9E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7FEB540-4675-3A15-B78E-5D77A416703C}"/>
              </a:ext>
            </a:extLst>
          </p:cNvPr>
          <p:cNvSpPr>
            <a:spLocks noGrp="1"/>
          </p:cNvSpPr>
          <p:nvPr>
            <p:ph type="body" sz="quarter" idx="16"/>
          </p:nvPr>
        </p:nvSpPr>
        <p:spPr>
          <a:xfrm>
            <a:off x="342900" y="702680"/>
            <a:ext cx="3955312" cy="3774069"/>
          </a:xfrm>
        </p:spPr>
        <p:txBody>
          <a:bodyPr/>
          <a:lstStyle/>
          <a:p>
            <a:pPr algn="just"/>
            <a:r>
              <a:rPr lang="en-US" dirty="0">
                <a:hlinkClick r:id="rId2"/>
              </a:rPr>
              <a:t>Vaulted backup support for Azure PostgreSQL flexible server and elastic cluster (v2) (preview)</a:t>
            </a:r>
            <a:endParaRPr lang="en-US" dirty="0"/>
          </a:p>
          <a:p>
            <a:pPr algn="just"/>
            <a:r>
              <a:rPr lang="en-US" b="1" dirty="0"/>
              <a:t>Azure Backup</a:t>
            </a:r>
            <a:r>
              <a:rPr lang="en-US" dirty="0"/>
              <a:t> now provides </a:t>
            </a:r>
            <a:r>
              <a:rPr lang="en-US" b="1" dirty="0"/>
              <a:t>vaulted backup support for Azure Database for PostgreSQL Flexible Server and Elastic Cluster v2</a:t>
            </a:r>
            <a:r>
              <a:rPr lang="en-US" dirty="0"/>
              <a:t>, introducing an enterprise-grade approach to </a:t>
            </a:r>
            <a:r>
              <a:rPr lang="en-US" b="1" dirty="0"/>
              <a:t>long-term retention (LTR)</a:t>
            </a:r>
            <a:r>
              <a:rPr lang="en-US" dirty="0"/>
              <a:t>. The solution uses </a:t>
            </a:r>
            <a:r>
              <a:rPr lang="en-US" b="1" dirty="0"/>
              <a:t>physical backups based on managed disk snapshots</a:t>
            </a:r>
            <a:r>
              <a:rPr lang="en-US" dirty="0"/>
              <a:t> and stores recovery points in an </a:t>
            </a:r>
            <a:r>
              <a:rPr lang="en-US" b="1" dirty="0"/>
              <a:t>Azure Backup vault</a:t>
            </a:r>
            <a:r>
              <a:rPr lang="en-US" dirty="0"/>
              <a:t>, replacing the limitations of logical export-based backup approaches for long-term protection.</a:t>
            </a:r>
          </a:p>
          <a:p>
            <a:pPr algn="just"/>
            <a:r>
              <a:rPr lang="en-US" dirty="0"/>
              <a:t>The v2 experience supports significantly larger databases—up to </a:t>
            </a:r>
            <a:r>
              <a:rPr lang="en-US" b="1" dirty="0"/>
              <a:t>32 TB with Premium SSD v1 and 64 TB with Premium SSD v2</a:t>
            </a:r>
            <a:r>
              <a:rPr lang="en-US" dirty="0"/>
              <a:t>—and provides </a:t>
            </a:r>
            <a:r>
              <a:rPr lang="en-US" b="1" dirty="0"/>
              <a:t>daily and weekly backup schedules with a one-day RPO</a:t>
            </a:r>
            <a:r>
              <a:rPr lang="en-US" dirty="0"/>
              <a:t>. After the initial full backup, subsequent backups are </a:t>
            </a:r>
            <a:r>
              <a:rPr lang="en-US" b="1" dirty="0"/>
              <a:t>incremental</a:t>
            </a:r>
            <a:r>
              <a:rPr lang="en-US" dirty="0"/>
              <a:t>, making daily protection practical for multi-terabyte PostgreSQL environments.</a:t>
            </a:r>
          </a:p>
          <a:p>
            <a:pPr algn="just"/>
            <a:r>
              <a:rPr lang="en-US" dirty="0"/>
              <a:t>The new </a:t>
            </a:r>
            <a:r>
              <a:rPr lang="en-US" b="1" dirty="0"/>
              <a:t>Restore as Server</a:t>
            </a:r>
            <a:r>
              <a:rPr lang="en-US" dirty="0"/>
              <a:t> capability can restore a recovery point directly to a </a:t>
            </a:r>
            <a:r>
              <a:rPr lang="en-US" b="1" dirty="0" err="1"/>
              <a:t>precreated</a:t>
            </a:r>
            <a:r>
              <a:rPr lang="en-US" b="1" dirty="0"/>
              <a:t> target PostgreSQL server</a:t>
            </a:r>
            <a:r>
              <a:rPr lang="en-US" dirty="0"/>
              <a:t>, eliminating intermediate storage accounts and manual file imports. Retention can be configured from </a:t>
            </a:r>
            <a:r>
              <a:rPr lang="en-US" b="1" dirty="0"/>
              <a:t>7 days to 10 years</a:t>
            </a:r>
            <a:r>
              <a:rPr lang="en-US" dirty="0"/>
              <a:t>, with independent policies for daily, weekly, monthly, and yearly recovery points.</a:t>
            </a:r>
          </a:p>
          <a:p>
            <a:pPr algn="just"/>
            <a:r>
              <a:rPr lang="en-US" dirty="0"/>
              <a:t>For security and compliance, Azure Backup also supports </a:t>
            </a:r>
            <a:r>
              <a:rPr lang="en-US" b="1" dirty="0"/>
              <a:t>WORM immutable backups</a:t>
            </a:r>
            <a:r>
              <a:rPr lang="en-US" dirty="0"/>
              <a:t>, preventing recovery points from being modified or deleted before their retention period expires. This makes the v2 solution particularly relevant for </a:t>
            </a:r>
            <a:r>
              <a:rPr lang="en-US" b="1" dirty="0"/>
              <a:t>large, business-critical PostgreSQL environments with regulatory, long-term retention, and ransomware-resilience requirements</a:t>
            </a:r>
            <a:r>
              <a:rPr lang="en-US" dirty="0"/>
              <a:t>.</a:t>
            </a:r>
          </a:p>
          <a:p>
            <a:pPr algn="just"/>
            <a:endParaRPr lang="en-US" dirty="0"/>
          </a:p>
          <a:p>
            <a:pPr algn="just"/>
            <a:endParaRPr lang="en-US" dirty="0"/>
          </a:p>
        </p:txBody>
      </p:sp>
    </p:spTree>
    <p:extLst>
      <p:ext uri="{BB962C8B-B14F-4D97-AF65-F5344CB8AC3E}">
        <p14:creationId xmlns:p14="http://schemas.microsoft.com/office/powerpoint/2010/main" val="163910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991F2DD-0159-625C-0B4E-52936E6D22A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A4AD133-AFCD-7DED-65DC-86064B63A31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AD6CB98D-3411-A035-B8B8-DF9DC603D44A}"/>
              </a:ext>
            </a:extLst>
          </p:cNvPr>
          <p:cNvSpPr>
            <a:spLocks noGrp="1"/>
          </p:cNvSpPr>
          <p:nvPr>
            <p:ph type="title"/>
          </p:nvPr>
        </p:nvSpPr>
        <p:spPr/>
        <p:txBody>
          <a:bodyPr/>
          <a:lstStyle/>
          <a:p>
            <a:r>
              <a:rPr lang="en-US" sz="1800" dirty="0"/>
              <a:t>Management &amp; Governance Updates (Retirement)</a:t>
            </a:r>
            <a:endParaRPr lang="en-US" dirty="0"/>
          </a:p>
        </p:txBody>
      </p:sp>
      <p:sp>
        <p:nvSpPr>
          <p:cNvPr id="13" name="Text Placeholder 12">
            <a:extLst>
              <a:ext uri="{FF2B5EF4-FFF2-40B4-BE49-F238E27FC236}">
                <a16:creationId xmlns:a16="http://schemas.microsoft.com/office/drawing/2014/main" id="{8946F3E0-66F9-C073-E102-F2F352C6353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890BD8EE-84B2-D4ED-8241-939C3A24CF28}"/>
              </a:ext>
            </a:extLst>
          </p:cNvPr>
          <p:cNvSpPr>
            <a:spLocks noGrp="1"/>
          </p:cNvSpPr>
          <p:nvPr>
            <p:ph type="body" sz="quarter" idx="16"/>
          </p:nvPr>
        </p:nvSpPr>
        <p:spPr/>
        <p:txBody>
          <a:bodyPr/>
          <a:lstStyle/>
          <a:p>
            <a:pPr algn="just"/>
            <a:r>
              <a:rPr lang="en-US" dirty="0">
                <a:hlinkClick r:id="rId2"/>
              </a:rPr>
              <a:t>Microsoft HPC Pack Retirement – August 2027</a:t>
            </a:r>
            <a:endParaRPr lang="en-US" dirty="0"/>
          </a:p>
          <a:p>
            <a:pPr algn="just"/>
            <a:r>
              <a:rPr lang="en-US" dirty="0"/>
              <a:t>Microsoft is retiring </a:t>
            </a:r>
            <a:r>
              <a:rPr lang="en-US" b="1" dirty="0"/>
              <a:t>all versions of Microsoft HPC Pack</a:t>
            </a:r>
            <a:r>
              <a:rPr lang="en-US" dirty="0"/>
              <a:t>, with </a:t>
            </a:r>
            <a:r>
              <a:rPr lang="en-US" b="1" dirty="0"/>
              <a:t>End of Support scheduled for August 27, 2027</a:t>
            </a:r>
            <a:r>
              <a:rPr lang="en-US" dirty="0"/>
              <a:t>. HPC Pack is entering its final one-year retirement period, during which Microsoft will provide only </a:t>
            </a:r>
            <a:r>
              <a:rPr lang="en-US" b="1" dirty="0"/>
              <a:t>limited retirement-focused support</a:t>
            </a:r>
            <a:r>
              <a:rPr lang="en-US" dirty="0"/>
              <a:t>.</a:t>
            </a:r>
          </a:p>
          <a:p>
            <a:pPr algn="just"/>
            <a:r>
              <a:rPr lang="en-US" dirty="0"/>
              <a:t>Until the end-of-support date, Microsoft will continue providing </a:t>
            </a:r>
            <a:r>
              <a:rPr lang="en-US" b="1" dirty="0"/>
              <a:t>security/CVE responses, required security updates, guidance for existing documented configurations, and assistance with supported functionality</a:t>
            </a:r>
            <a:r>
              <a:rPr lang="en-US" dirty="0"/>
              <a:t>. However, there will be </a:t>
            </a:r>
            <a:r>
              <a:rPr lang="en-US" b="1" dirty="0"/>
              <a:t>no non-security fixes, new features, product improvements, validation of new operating systems or hardware, architecture changes, or migration services</a:t>
            </a:r>
            <a:r>
              <a:rPr lang="en-US" dirty="0"/>
              <a:t>.</a:t>
            </a:r>
          </a:p>
          <a:p>
            <a:pPr algn="just"/>
            <a:r>
              <a:rPr lang="en-US" dirty="0"/>
              <a:t>After </a:t>
            </a:r>
            <a:r>
              <a:rPr lang="en-US" b="1" dirty="0"/>
              <a:t>August 27, 2027</a:t>
            </a:r>
            <a:r>
              <a:rPr lang="en-US" dirty="0"/>
              <a:t>, existing HPC Pack environments may continue operating, but Microsoft will provide </a:t>
            </a:r>
            <a:r>
              <a:rPr lang="en-US" b="1" dirty="0"/>
              <a:t>no updates, fixes, or technical support</a:t>
            </a:r>
            <a:r>
              <a:rPr lang="en-US" dirty="0"/>
              <a:t>, creating increasing security and operational risk over time. Organizations should therefore inventory existing HPC Pack workloads and begin evaluating migration options well before the deadline.</a:t>
            </a:r>
          </a:p>
          <a:p>
            <a:pPr algn="just"/>
            <a:r>
              <a:rPr lang="en-US" dirty="0"/>
              <a:t>Microsoft identifies </a:t>
            </a:r>
            <a:r>
              <a:rPr lang="en-US" b="1" dirty="0"/>
              <a:t>Azure Batch</a:t>
            </a:r>
            <a:r>
              <a:rPr lang="en-US" dirty="0"/>
              <a:t> as one potential replacement for managed parallel and HPC job scheduling, although there is </a:t>
            </a:r>
            <a:r>
              <a:rPr lang="en-US" b="1" dirty="0"/>
              <a:t>no guaranteed one-to-one feature replacement</a:t>
            </a:r>
            <a:r>
              <a:rPr lang="en-US" dirty="0"/>
              <a:t> for HPC Pack. Migration planning should therefore consider individual workload requirements, scheduling models, infrastructure dependencies, performance needs, and potential alternative Azure HPC services.</a:t>
            </a:r>
          </a:p>
          <a:p>
            <a:pPr algn="just"/>
            <a:endParaRPr lang="en-US" dirty="0"/>
          </a:p>
        </p:txBody>
      </p:sp>
    </p:spTree>
    <p:extLst>
      <p:ext uri="{BB962C8B-B14F-4D97-AF65-F5344CB8AC3E}">
        <p14:creationId xmlns:p14="http://schemas.microsoft.com/office/powerpoint/2010/main" val="3093263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Azure App Service on Azure Stack Hub 26R1 Released</a:t>
            </a:r>
            <a:endParaRPr lang="en-US" sz="1000" dirty="0"/>
          </a:p>
          <a:p>
            <a:pPr algn="just"/>
            <a:r>
              <a:rPr lang="en-US" sz="1000" b="1" dirty="0"/>
              <a:t>Azure App Service on Azure Stack Hub 26R1</a:t>
            </a:r>
            <a:r>
              <a:rPr lang="en-US" sz="1000" dirty="0"/>
              <a:t> is now available for customers to download and deploy, bringing updated application runtimes, reliability improvements, and updates to the App Service resource provider.</a:t>
            </a:r>
          </a:p>
          <a:p>
            <a:pPr algn="just"/>
            <a:r>
              <a:rPr lang="en-US" sz="1000" dirty="0"/>
              <a:t>The release improves </a:t>
            </a:r>
            <a:r>
              <a:rPr lang="en-US" sz="1000" b="1" dirty="0"/>
              <a:t>core service reliability and diagnostic error messaging</a:t>
            </a:r>
            <a:r>
              <a:rPr lang="en-US" sz="1000" dirty="0"/>
              <a:t>, resolves an issue where controllers could stall during startup because of slow role discovery, and improves database performance by reducing locking and unnecessary save operations.</a:t>
            </a:r>
          </a:p>
          <a:p>
            <a:pPr algn="just"/>
            <a:r>
              <a:rPr lang="en-US" sz="1000" dirty="0"/>
              <a:t>Application runtime updates include </a:t>
            </a:r>
            <a:r>
              <a:rPr lang="en-US" sz="1000" b="1" dirty="0"/>
              <a:t>.NET Framework 3.5/4.8.1, ASP.NET Core 8 and 10, Microsoft OpenJDK 11/17/21/25, Node.js 22, updated </a:t>
            </a:r>
            <a:r>
              <a:rPr lang="en-US" sz="1000" b="1" dirty="0" err="1"/>
              <a:t>npm</a:t>
            </a:r>
            <a:r>
              <a:rPr lang="en-US" sz="1000" b="1" dirty="0"/>
              <a:t> and Tomcat versions</a:t>
            </a:r>
            <a:r>
              <a:rPr lang="en-US" sz="1000" dirty="0"/>
              <a:t>, as well as </a:t>
            </a:r>
            <a:r>
              <a:rPr lang="en-US" sz="1000" b="1" dirty="0"/>
              <a:t>Kudu 2026.08.1.2</a:t>
            </a:r>
            <a:r>
              <a:rPr lang="en-US" sz="1000" dirty="0"/>
              <a:t>. The release also continues accessibility and usability improvements.</a:t>
            </a:r>
          </a:p>
          <a:p>
            <a:pPr algn="just"/>
            <a:r>
              <a:rPr lang="en-US" sz="1000" dirty="0"/>
              <a:t>The 26R1 build is </a:t>
            </a:r>
            <a:r>
              <a:rPr lang="en-US" sz="1000" b="1" dirty="0"/>
              <a:t>102.20.2.2</a:t>
            </a:r>
            <a:r>
              <a:rPr lang="en-US" sz="1000" dirty="0"/>
              <a:t> and requires the underlying </a:t>
            </a:r>
            <a:r>
              <a:rPr lang="en-US" sz="1000" b="1" dirty="0"/>
              <a:t>Azure Stack Hub to be running version 2311 or later</a:t>
            </a:r>
            <a:r>
              <a:rPr lang="en-US" sz="1000" dirty="0"/>
              <a:t> before installation or upgrade. For organizations operating App Service in hybrid or disconnected Azure Stack Hub environments, this release provides an important platform and runtime refresh while improving operational stability and supportability. </a:t>
            </a:r>
          </a:p>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Ubuntu 26.04 support in AKS</a:t>
            </a:r>
            <a:endParaRPr lang="en-US" dirty="0"/>
          </a:p>
          <a:p>
            <a:pPr algn="just"/>
            <a:r>
              <a:rPr lang="en-US" b="1" dirty="0"/>
              <a:t>Azure Kubernetes Service (AKS)</a:t>
            </a:r>
            <a:r>
              <a:rPr lang="en-US" dirty="0"/>
              <a:t> introduces support for </a:t>
            </a:r>
            <a:r>
              <a:rPr lang="en-US" b="1" dirty="0"/>
              <a:t>Ubuntu 26.04 LTS</a:t>
            </a:r>
            <a:r>
              <a:rPr lang="en-US" dirty="0"/>
              <a:t> through the new </a:t>
            </a:r>
            <a:r>
              <a:rPr lang="en-US" b="1" dirty="0"/>
              <a:t>Ubuntu2604 OS SKU</a:t>
            </a:r>
            <a:r>
              <a:rPr lang="en-US" dirty="0"/>
              <a:t>, providing an updated operating system option for Linux-based AKS node pools. The image uses </a:t>
            </a:r>
            <a:r>
              <a:rPr lang="en-US" b="1" dirty="0"/>
              <a:t>Ubuntu Minimal as its baseline</a:t>
            </a:r>
            <a:r>
              <a:rPr lang="en-US" dirty="0"/>
              <a:t>, reducing the default package footprint while retaining the standard AKS cluster and node pool management experience.</a:t>
            </a:r>
          </a:p>
          <a:p>
            <a:pPr algn="just"/>
            <a:r>
              <a:rPr lang="en-US" dirty="0"/>
              <a:t>Ubuntu 26.04 nodes include the </a:t>
            </a:r>
            <a:r>
              <a:rPr lang="en-US" b="1" dirty="0"/>
              <a:t>Linux LTS 7.0 kernel</a:t>
            </a:r>
            <a:r>
              <a:rPr lang="en-US" dirty="0"/>
              <a:t>, providing a newer platform baseline for security, performance, and hardware support. Existing AKS </a:t>
            </a:r>
            <a:r>
              <a:rPr lang="en-US" b="1" dirty="0"/>
              <a:t>create, update, and node pool workflows</a:t>
            </a:r>
            <a:r>
              <a:rPr lang="en-US" dirty="0"/>
              <a:t> continue to apply, reducing operational changes required for platform teams adopting the new release.</a:t>
            </a:r>
          </a:p>
          <a:p>
            <a:pPr algn="just"/>
            <a:r>
              <a:rPr lang="en-US" dirty="0"/>
              <a:t>AKS also provides a </a:t>
            </a:r>
            <a:r>
              <a:rPr lang="en-US" b="1" dirty="0"/>
              <a:t>controlled migration path from Ubuntu 24.04 to Ubuntu 26.04</a:t>
            </a:r>
            <a:r>
              <a:rPr lang="en-US" dirty="0"/>
              <a:t>, with rollback flexibility to Ubuntu 24.04 where supported. This enables organizations to validate </a:t>
            </a:r>
            <a:r>
              <a:rPr lang="en-US" b="1" dirty="0"/>
              <a:t>application compatibility, security controls, agents, drivers, and other node-level dependencies</a:t>
            </a:r>
            <a:r>
              <a:rPr lang="en-US" dirty="0"/>
              <a:t> before completing broader production adoption.</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Storage optimized Lasv5 and Laosv5 Azure VM series</a:t>
            </a:r>
            <a:endParaRPr lang="en-US" sz="1000" dirty="0"/>
          </a:p>
          <a:p>
            <a:pPr algn="just"/>
            <a:r>
              <a:rPr lang="en-US" sz="1000" dirty="0"/>
              <a:t>The </a:t>
            </a:r>
            <a:r>
              <a:rPr lang="en-US" sz="1000" b="1" dirty="0"/>
              <a:t>Azure Lasv5 and Laosv5 VM series</a:t>
            </a:r>
            <a:r>
              <a:rPr lang="en-US" sz="1000" dirty="0"/>
              <a:t> are now </a:t>
            </a:r>
            <a:r>
              <a:rPr lang="en-US" sz="1000" b="1" dirty="0"/>
              <a:t>generally available</a:t>
            </a:r>
            <a:r>
              <a:rPr lang="en-US" sz="1000" dirty="0"/>
              <a:t>, introducing the latest generation of storage-optimized compute powered by </a:t>
            </a:r>
            <a:r>
              <a:rPr lang="en-US" sz="1000" b="1" dirty="0"/>
              <a:t>5th Gen AMD EPYC (Turin) processors</a:t>
            </a:r>
            <a:r>
              <a:rPr lang="en-US" sz="1000" dirty="0"/>
              <a:t> and </a:t>
            </a:r>
            <a:r>
              <a:rPr lang="en-US" sz="1000" b="1" dirty="0"/>
              <a:t>Azure Boost</a:t>
            </a:r>
            <a:r>
              <a:rPr lang="en-US" sz="1000" dirty="0"/>
              <a:t>. VM sizes range from </a:t>
            </a:r>
            <a:r>
              <a:rPr lang="en-US" sz="1000" b="1" dirty="0"/>
              <a:t>2 to 160 vCPUs</a:t>
            </a:r>
            <a:r>
              <a:rPr lang="en-US" sz="1000" dirty="0"/>
              <a:t>, with 8 GiB of memory and up to 720 GB of local </a:t>
            </a:r>
            <a:r>
              <a:rPr lang="en-US" sz="1000" dirty="0" err="1"/>
              <a:t>NVMe</a:t>
            </a:r>
            <a:r>
              <a:rPr lang="en-US" sz="1000" dirty="0"/>
              <a:t> capacity per vCPU, while supporting up to </a:t>
            </a:r>
            <a:r>
              <a:rPr lang="en-US" sz="1000" b="1" dirty="0"/>
              <a:t>200 Gbps network bandwidth</a:t>
            </a:r>
            <a:r>
              <a:rPr lang="en-US" sz="1000" dirty="0"/>
              <a:t> and delivering up to </a:t>
            </a:r>
            <a:r>
              <a:rPr lang="en-US" sz="1000" b="1" dirty="0"/>
              <a:t>35% better average CPU performance</a:t>
            </a:r>
            <a:r>
              <a:rPr lang="en-US" sz="1000" dirty="0"/>
              <a:t>.</a:t>
            </a:r>
          </a:p>
          <a:p>
            <a:pPr algn="just"/>
            <a:r>
              <a:rPr lang="en-US" sz="1000" b="1" dirty="0"/>
              <a:t>Lasv5</a:t>
            </a:r>
            <a:r>
              <a:rPr lang="en-US" sz="1000" dirty="0"/>
              <a:t> provides up to </a:t>
            </a:r>
            <a:r>
              <a:rPr lang="en-US" sz="1000" b="1" dirty="0"/>
              <a:t>30.7 TB of local </a:t>
            </a:r>
            <a:r>
              <a:rPr lang="en-US" sz="1000" b="1" dirty="0" err="1"/>
              <a:t>NVMe</a:t>
            </a:r>
            <a:r>
              <a:rPr lang="en-US" sz="1000" b="1" dirty="0"/>
              <a:t> storage and 9.6 million read IOPS</a:t>
            </a:r>
            <a:r>
              <a:rPr lang="en-US" sz="1000" dirty="0"/>
              <a:t>, while the higher-capacity </a:t>
            </a:r>
            <a:r>
              <a:rPr lang="en-US" sz="1000" b="1" dirty="0"/>
              <a:t>Laosv5</a:t>
            </a:r>
            <a:r>
              <a:rPr lang="en-US" sz="1000" dirty="0"/>
              <a:t> scales to </a:t>
            </a:r>
            <a:r>
              <a:rPr lang="en-US" sz="1000" b="1" dirty="0"/>
              <a:t>138 TB and 20.7 million read IOPS</a:t>
            </a:r>
            <a:r>
              <a:rPr lang="en-US" sz="1000" dirty="0"/>
              <a:t>. Compared with the previous generation, Lasv5 increases maximum local storage by 33%, while Laosv5 delivers up to </a:t>
            </a:r>
            <a:r>
              <a:rPr lang="en-US" sz="1000" b="1" dirty="0"/>
              <a:t>500% more local storage capacity and 619% higher maximum read IOPS</a:t>
            </a:r>
            <a:r>
              <a:rPr lang="en-US" sz="1000" dirty="0"/>
              <a:t>.</a:t>
            </a:r>
          </a:p>
          <a:p>
            <a:pPr algn="just"/>
            <a:r>
              <a:rPr lang="en-US" sz="1000" dirty="0"/>
              <a:t>Both series use </a:t>
            </a:r>
            <a:r>
              <a:rPr lang="en-US" sz="1000" b="1" dirty="0"/>
              <a:t>Azure Boost SSDs</a:t>
            </a:r>
            <a:r>
              <a:rPr lang="en-US" sz="1000" dirty="0"/>
              <a:t>, provide local </a:t>
            </a:r>
            <a:r>
              <a:rPr lang="en-US" sz="1000" dirty="0" err="1"/>
              <a:t>NVMe</a:t>
            </a:r>
            <a:r>
              <a:rPr lang="en-US" sz="1000" dirty="0"/>
              <a:t> SSD encryption by default, and introduce an </a:t>
            </a:r>
            <a:r>
              <a:rPr lang="en-US" sz="1000" b="1" dirty="0" err="1"/>
              <a:t>NVMe</a:t>
            </a:r>
            <a:r>
              <a:rPr lang="en-US" sz="1000" b="1" dirty="0"/>
              <a:t> interface for remote storage with Premium Storage caching</a:t>
            </a:r>
            <a:r>
              <a:rPr lang="en-US" sz="1000" dirty="0"/>
              <a:t>, improving access to Azure-managed disks. New VM sizes also extend scalability up to </a:t>
            </a:r>
            <a:r>
              <a:rPr lang="en-US" sz="1000" b="1" dirty="0"/>
              <a:t>160 vCPUs</a:t>
            </a:r>
            <a:r>
              <a:rPr lang="en-US" sz="1000" dirty="0"/>
              <a:t>.</a:t>
            </a:r>
          </a:p>
          <a:p>
            <a:pPr algn="just"/>
            <a:r>
              <a:rPr lang="en-US" sz="1000" dirty="0"/>
              <a:t>The new L-series generation is designed for </a:t>
            </a:r>
            <a:r>
              <a:rPr lang="en-US" sz="1000" b="1" dirty="0"/>
              <a:t>distributed and scale-out, storage-intensive workloads</a:t>
            </a:r>
            <a:r>
              <a:rPr lang="en-US" sz="1000" dirty="0"/>
              <a:t> that require very high local disk performance and fast network connectivity, including </a:t>
            </a:r>
            <a:r>
              <a:rPr lang="en-US" sz="1000" b="1" dirty="0"/>
              <a:t>NoSQL databases, data analytics, caching, search platforms, and high-throughput data processing</a:t>
            </a:r>
            <a:r>
              <a:rPr lang="en-US" sz="1000" dirty="0"/>
              <a:t>.</a:t>
            </a:r>
          </a:p>
          <a:p>
            <a:pPr algn="just"/>
            <a:endParaRPr lang="en-US" sz="1000" dirty="0"/>
          </a:p>
          <a:p>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Luxembourg - Azure Extended Zones</a:t>
            </a:r>
            <a:endParaRPr lang="en-US" dirty="0"/>
          </a:p>
          <a:p>
            <a:pPr algn="just"/>
            <a:r>
              <a:rPr lang="en-US" dirty="0"/>
              <a:t>The </a:t>
            </a:r>
            <a:r>
              <a:rPr lang="en-US" b="1" dirty="0"/>
              <a:t>Luxembourg Azure Extended Zone</a:t>
            </a:r>
            <a:r>
              <a:rPr lang="en-US" dirty="0"/>
              <a:t> is now </a:t>
            </a:r>
            <a:r>
              <a:rPr lang="en-US" b="1" dirty="0"/>
              <a:t>generally available</a:t>
            </a:r>
            <a:r>
              <a:rPr lang="en-US" dirty="0"/>
              <a:t>, extending selected Azure services into Luxembourg to support workloads requiring </a:t>
            </a:r>
            <a:r>
              <a:rPr lang="en-US" b="1" dirty="0"/>
              <a:t>local data residency and low-latency processing</a:t>
            </a:r>
            <a:r>
              <a:rPr lang="en-US" dirty="0"/>
              <a:t>. Azure Extended Zones are small-footprint Azure deployments located in specific metropolitan areas, industry centers, or jurisdictions while remaining integrated with the broader Azure platform.</a:t>
            </a:r>
          </a:p>
          <a:p>
            <a:pPr algn="just"/>
            <a:r>
              <a:rPr lang="en-US" dirty="0"/>
              <a:t>The Luxembourg Extended Zone supports a selection of </a:t>
            </a:r>
            <a:r>
              <a:rPr lang="en-US" b="1" dirty="0"/>
              <a:t>virtual machines, containers, networking, storage, and other Azure services</a:t>
            </a:r>
            <a:r>
              <a:rPr lang="en-US" dirty="0"/>
              <a:t>, allowing organizations to deploy application components closer to local users and data. This can reduce network latency while enabling workloads to remain within required </a:t>
            </a:r>
            <a:r>
              <a:rPr lang="en-US" b="1" dirty="0"/>
              <a:t>geographic and jurisdictional boundaries</a:t>
            </a:r>
            <a:r>
              <a:rPr lang="en-US" dirty="0"/>
              <a:t>.</a:t>
            </a:r>
          </a:p>
          <a:p>
            <a:pPr algn="just"/>
            <a:r>
              <a:rPr lang="en-US" dirty="0"/>
              <a:t>The capability is particularly relevant for </a:t>
            </a:r>
            <a:r>
              <a:rPr lang="en-US" b="1" dirty="0"/>
              <a:t>regulated industries, sovereign workloads, real-time applications, and latency- or throughput-sensitive services</a:t>
            </a:r>
            <a:r>
              <a:rPr lang="en-US" dirty="0"/>
              <a:t> that cannot rely solely on more distant Azure regions. It provides organizations in Luxembourg with additional deployment flexibility while maintaining integration with Azure services and management capabilities.</a:t>
            </a:r>
          </a:p>
          <a:p>
            <a:pPr algn="just"/>
            <a:endParaRPr lang="en-US" dirty="0"/>
          </a:p>
          <a:p>
            <a:pPr algn="just"/>
            <a:endParaRPr lang="en-US" dirty="0"/>
          </a:p>
          <a:p>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75FC6BCB-24DB-F821-EF0D-ABB51730A99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389AEBE-73EF-553E-5F66-2B12D7FA5B5A}"/>
              </a:ext>
            </a:extLst>
          </p:cNvPr>
          <p:cNvSpPr>
            <a:spLocks noGrp="1"/>
          </p:cNvSpPr>
          <p:nvPr>
            <p:ph type="body" sz="quarter" idx="10"/>
          </p:nvPr>
        </p:nvSpPr>
        <p:spPr/>
        <p:txBody>
          <a:bodyPr/>
          <a:lstStyle/>
          <a:p>
            <a:r>
              <a:rPr lang="en-US" sz="1000" dirty="0">
                <a:hlinkClick r:id="rId2"/>
              </a:rPr>
              <a:t>Retirement: Azure Arc enabled System Center Virtual Machine Manager will be retired September 30, 2029</a:t>
            </a:r>
            <a:endParaRPr lang="en-US" sz="1000" dirty="0"/>
          </a:p>
          <a:p>
            <a:r>
              <a:rPr lang="en-US" sz="1000" dirty="0"/>
              <a:t>Microsoft will retire </a:t>
            </a:r>
            <a:r>
              <a:rPr lang="en-US" sz="1000" b="1" dirty="0"/>
              <a:t>Azure Arc-enabled System Center Virtual Machine Manager (SCVMM) in September 2029</a:t>
            </a:r>
            <a:r>
              <a:rPr lang="en-US" sz="1000" dirty="0"/>
              <a:t>. Organizations currently using the service should review their Arc-enabled SCVMM environments and begin planning migration well ahead of the retirement date.</a:t>
            </a:r>
          </a:p>
          <a:p>
            <a:r>
              <a:rPr lang="en-US" sz="1000" dirty="0"/>
              <a:t>For customers using Arc-enabled SCVMM primarily to extend Azure capabilities such as </a:t>
            </a:r>
            <a:r>
              <a:rPr lang="en-US" sz="1000" b="1" dirty="0"/>
              <a:t>monitoring, security, governance, updates, Extended Security Updates (ESU), and pay-as-you-go licensing for Windows Server and SQL Server</a:t>
            </a:r>
            <a:r>
              <a:rPr lang="en-US" sz="1000" dirty="0"/>
              <a:t>, Microsoft recommends transitioning managed VMs to </a:t>
            </a:r>
            <a:r>
              <a:rPr lang="en-US" sz="1000" b="1" dirty="0"/>
              <a:t>Azure Arc-enabled Servers</a:t>
            </a:r>
            <a:r>
              <a:rPr lang="en-US" sz="1000" dirty="0"/>
              <a:t>.</a:t>
            </a:r>
          </a:p>
          <a:p>
            <a:r>
              <a:rPr lang="en-US" sz="1000" dirty="0"/>
              <a:t>For organizations relying on Arc-enabled SCVMM for </a:t>
            </a:r>
            <a:r>
              <a:rPr lang="en-US" sz="1000" b="1" dirty="0"/>
              <a:t>VM lifecycle and self-service management</a:t>
            </a:r>
            <a:r>
              <a:rPr lang="en-US" sz="1000" dirty="0"/>
              <a:t>—including VM creation, start/stop, restart, resize, and power operations—there is not yet a direct replacement path specified in the announcement, and Microsoft recommends engaging with the product team to determine appropriate alternatives.</a:t>
            </a:r>
          </a:p>
          <a:p>
            <a:r>
              <a:rPr lang="en-US" sz="1000" dirty="0"/>
              <a:t>Customers should </a:t>
            </a:r>
            <a:r>
              <a:rPr lang="en-US" sz="1000" b="1" dirty="0"/>
              <a:t>inventory existing Arc-enabled SCVMM use cases, identify dependencies, select the appropriate replacement architecture, and plan deboarding and onboarding activities</a:t>
            </a:r>
            <a:r>
              <a:rPr lang="en-US" sz="1000" dirty="0"/>
              <a:t>. Starting early is particularly important where Arc-enabled SCVMM is used as a centralized VM lifecycle management layer, as those scenarios may require additional architectural changes rather than a straightforward migration to Arc-enabled Servers.</a:t>
            </a:r>
          </a:p>
          <a:p>
            <a:endParaRPr lang="en-US" sz="1000" dirty="0"/>
          </a:p>
        </p:txBody>
      </p:sp>
      <p:sp>
        <p:nvSpPr>
          <p:cNvPr id="11" name="Title 10">
            <a:extLst>
              <a:ext uri="{FF2B5EF4-FFF2-40B4-BE49-F238E27FC236}">
                <a16:creationId xmlns:a16="http://schemas.microsoft.com/office/drawing/2014/main" id="{D80D0299-DA09-6EFB-BD02-38CE05DB804B}"/>
              </a:ext>
            </a:extLst>
          </p:cNvPr>
          <p:cNvSpPr>
            <a:spLocks noGrp="1"/>
          </p:cNvSpPr>
          <p:nvPr>
            <p:ph type="title"/>
          </p:nvPr>
        </p:nvSpPr>
        <p:spPr/>
        <p:txBody>
          <a:bodyPr/>
          <a:lstStyle/>
          <a:p>
            <a:r>
              <a:rPr lang="en-US" sz="1800" dirty="0"/>
              <a:t>Compute Updates (Retirement)</a:t>
            </a:r>
            <a:endParaRPr lang="en-US" dirty="0"/>
          </a:p>
        </p:txBody>
      </p:sp>
      <p:sp>
        <p:nvSpPr>
          <p:cNvPr id="13" name="Text Placeholder 12">
            <a:extLst>
              <a:ext uri="{FF2B5EF4-FFF2-40B4-BE49-F238E27FC236}">
                <a16:creationId xmlns:a16="http://schemas.microsoft.com/office/drawing/2014/main" id="{905917A6-241B-7028-5C83-1BEC3FDF2DA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D521D6FB-B82C-5ECC-F8F7-7E17CB81BA0F}"/>
              </a:ext>
            </a:extLst>
          </p:cNvPr>
          <p:cNvSpPr>
            <a:spLocks noGrp="1"/>
          </p:cNvSpPr>
          <p:nvPr>
            <p:ph type="body" sz="quarter" idx="16"/>
          </p:nvPr>
        </p:nvSpPr>
        <p:spPr>
          <a:xfrm>
            <a:off x="342900" y="799661"/>
            <a:ext cx="3955312" cy="3774069"/>
          </a:xfrm>
        </p:spPr>
        <p:txBody>
          <a:bodyPr/>
          <a:lstStyle/>
          <a:p>
            <a:pPr algn="just"/>
            <a:r>
              <a:rPr lang="en-US" dirty="0">
                <a:hlinkClick r:id="rId3"/>
              </a:rPr>
              <a:t>Microsoft HPC Pack Retirement – August 2027</a:t>
            </a:r>
            <a:endParaRPr lang="en-US" dirty="0"/>
          </a:p>
          <a:p>
            <a:pPr algn="just"/>
            <a:r>
              <a:rPr lang="en-US" dirty="0"/>
              <a:t>Microsoft is retiring </a:t>
            </a:r>
            <a:r>
              <a:rPr lang="en-US" b="1" dirty="0"/>
              <a:t>all versions of Microsoft HPC Pack</a:t>
            </a:r>
            <a:r>
              <a:rPr lang="en-US" dirty="0"/>
              <a:t>, with </a:t>
            </a:r>
            <a:r>
              <a:rPr lang="en-US" b="1" dirty="0"/>
              <a:t>End of Support scheduled for August 27, 2027</a:t>
            </a:r>
            <a:r>
              <a:rPr lang="en-US" dirty="0"/>
              <a:t>. HPC Pack is entering its final one-year retirement period, during which Microsoft will provide only </a:t>
            </a:r>
            <a:r>
              <a:rPr lang="en-US" b="1" dirty="0"/>
              <a:t>limited retirement-focused support</a:t>
            </a:r>
            <a:r>
              <a:rPr lang="en-US" dirty="0"/>
              <a:t>.</a:t>
            </a:r>
          </a:p>
          <a:p>
            <a:pPr algn="just"/>
            <a:r>
              <a:rPr lang="en-US" dirty="0"/>
              <a:t>Until the end-of-support date, Microsoft will continue providing </a:t>
            </a:r>
            <a:r>
              <a:rPr lang="en-US" b="1" dirty="0"/>
              <a:t>security/CVE responses, required security updates, guidance for existing documented configurations, and assistance with supported functionality</a:t>
            </a:r>
            <a:r>
              <a:rPr lang="en-US" dirty="0"/>
              <a:t>. However, there will be </a:t>
            </a:r>
            <a:r>
              <a:rPr lang="en-US" b="1" dirty="0"/>
              <a:t>no non-security fixes, new features, product improvements, validation of new operating systems or hardware, architecture changes, or migration services</a:t>
            </a:r>
            <a:r>
              <a:rPr lang="en-US" dirty="0"/>
              <a:t>.</a:t>
            </a:r>
          </a:p>
          <a:p>
            <a:pPr algn="just"/>
            <a:r>
              <a:rPr lang="en-US" dirty="0"/>
              <a:t>After </a:t>
            </a:r>
            <a:r>
              <a:rPr lang="en-US" b="1" dirty="0"/>
              <a:t>August 27, 2027</a:t>
            </a:r>
            <a:r>
              <a:rPr lang="en-US" dirty="0"/>
              <a:t>, existing HPC Pack environments may continue operating, but Microsoft will provide </a:t>
            </a:r>
            <a:r>
              <a:rPr lang="en-US" b="1" dirty="0"/>
              <a:t>no updates, fixes, or technical support</a:t>
            </a:r>
            <a:r>
              <a:rPr lang="en-US" dirty="0"/>
              <a:t>, creating increasing security and operational risk over time. Organizations should therefore inventory existing HPC Pack workloads and begin evaluating migration options well before the deadline.</a:t>
            </a:r>
          </a:p>
          <a:p>
            <a:pPr algn="just"/>
            <a:r>
              <a:rPr lang="en-US" dirty="0"/>
              <a:t>Microsoft identifies </a:t>
            </a:r>
            <a:r>
              <a:rPr lang="en-US" b="1" dirty="0"/>
              <a:t>Azure Batch</a:t>
            </a:r>
            <a:r>
              <a:rPr lang="en-US" dirty="0"/>
              <a:t> as one potential replacement for managed parallel and HPC job scheduling, although there is </a:t>
            </a:r>
            <a:r>
              <a:rPr lang="en-US" b="1" dirty="0"/>
              <a:t>no guaranteed one-to-one feature replacement</a:t>
            </a:r>
            <a:r>
              <a:rPr lang="en-US" dirty="0"/>
              <a:t> for HPC Pack. Migration planning should therefore consider individual workload requirements, scheduling models, infrastructure dependencies, performance needs, and potential alternative Azure HPC services.</a:t>
            </a:r>
          </a:p>
          <a:p>
            <a:pPr algn="just"/>
            <a:endParaRPr lang="en-US" dirty="0"/>
          </a:p>
        </p:txBody>
      </p:sp>
    </p:spTree>
    <p:extLst>
      <p:ext uri="{BB962C8B-B14F-4D97-AF65-F5344CB8AC3E}">
        <p14:creationId xmlns:p14="http://schemas.microsoft.com/office/powerpoint/2010/main" val="1983021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BE22428-A222-8B52-377F-3910467E34FD}"/>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DFBA728-AE47-1705-CE83-37830E857391}"/>
              </a:ext>
            </a:extLst>
          </p:cNvPr>
          <p:cNvSpPr>
            <a:spLocks noGrp="1"/>
          </p:cNvSpPr>
          <p:nvPr>
            <p:ph type="body" sz="quarter" idx="10"/>
          </p:nvPr>
        </p:nvSpPr>
        <p:spPr/>
        <p:txBody>
          <a:bodyPr/>
          <a:lstStyle/>
          <a:p>
            <a:r>
              <a:rPr lang="en-US" sz="1000" dirty="0">
                <a:hlinkClick r:id="rId2"/>
              </a:rPr>
              <a:t>Retirement: Dv3, Dsv3, Ev3, and Esv3 Azure VMs</a:t>
            </a:r>
            <a:endParaRPr lang="en-US" sz="1000" dirty="0"/>
          </a:p>
          <a:p>
            <a:r>
              <a:rPr lang="en-US" sz="1000" dirty="0"/>
              <a:t>Microsoft will retire the </a:t>
            </a:r>
            <a:r>
              <a:rPr lang="en-US" sz="1000" b="1" dirty="0"/>
              <a:t>Azure Dv3, Dsv3, Ev3, and Esv3 VM series in public Azure regions on November 15, 2029</a:t>
            </a:r>
            <a:r>
              <a:rPr lang="en-US" sz="1000" dirty="0"/>
              <a:t>, as part of the Azure VM lifecycle policy. After this date, these VM families will enter the </a:t>
            </a:r>
            <a:r>
              <a:rPr lang="en-US" sz="1000" b="1" dirty="0"/>
              <a:t>Retired lifecycle stage and will no longer be supported</a:t>
            </a:r>
            <a:r>
              <a:rPr lang="en-US" sz="1000" dirty="0"/>
              <a:t>.</a:t>
            </a:r>
          </a:p>
          <a:p>
            <a:r>
              <a:rPr lang="en-US" sz="1000" dirty="0"/>
              <a:t>Customers must migrate affected workloads to newer VM generations before the deadline to avoid service disruption. VMs that remain on the retired series </a:t>
            </a:r>
            <a:r>
              <a:rPr lang="en-US" sz="1000" b="1" dirty="0"/>
              <a:t>may eventually be deallocated and deleted</a:t>
            </a:r>
            <a:r>
              <a:rPr lang="en-US" sz="1000" dirty="0"/>
              <a:t> as Microsoft retires the associated hardware and platform infrastructure.</a:t>
            </a:r>
          </a:p>
          <a:p>
            <a:r>
              <a:rPr lang="en-US" sz="1000" dirty="0"/>
              <a:t>Microsoft recommends evaluating newer generations such as </a:t>
            </a:r>
            <a:r>
              <a:rPr lang="en-US" sz="1000" b="1" dirty="0"/>
              <a:t>Dsv5 and Esv5</a:t>
            </a:r>
            <a:r>
              <a:rPr lang="en-US" sz="1000" dirty="0"/>
              <a:t> as migration targets, which provide improved performance, security, and platform reliability. Organizations should inventory affected VMs early, validate </a:t>
            </a:r>
            <a:r>
              <a:rPr lang="en-US" sz="1000" b="1" dirty="0"/>
              <a:t>VM sizing, regional/SKU availability, disk and networking requirements, application compatibility, and capacity</a:t>
            </a:r>
            <a:r>
              <a:rPr lang="en-US" sz="1000" dirty="0"/>
              <a:t> before scheduling production migrations.</a:t>
            </a:r>
          </a:p>
          <a:p>
            <a:r>
              <a:rPr lang="en-US" sz="1000" dirty="0"/>
              <a:t>Additionally, since </a:t>
            </a:r>
            <a:r>
              <a:rPr lang="en-US" sz="1000" b="1" dirty="0"/>
              <a:t>July 1, 2026</a:t>
            </a:r>
            <a:r>
              <a:rPr lang="en-US" sz="1000" dirty="0"/>
              <a:t>, new or renewed </a:t>
            </a:r>
            <a:r>
              <a:rPr lang="en-US" sz="1000" b="1" dirty="0"/>
              <a:t>one-year and three-year Reserved Instances</a:t>
            </a:r>
            <a:r>
              <a:rPr lang="en-US" sz="1000" dirty="0"/>
              <a:t> are no longer available for these VM families. Customers with active reservations should review their commitments alongside migration planning and evaluate options such as </a:t>
            </a:r>
            <a:r>
              <a:rPr lang="en-US" sz="1000" b="1" dirty="0"/>
              <a:t>trading eligible reservations for an Azure savings plan for compute</a:t>
            </a:r>
            <a:r>
              <a:rPr lang="en-US" sz="1000" dirty="0"/>
              <a:t>.</a:t>
            </a:r>
          </a:p>
          <a:p>
            <a:endParaRPr lang="en-US" sz="1000" dirty="0"/>
          </a:p>
        </p:txBody>
      </p:sp>
      <p:sp>
        <p:nvSpPr>
          <p:cNvPr id="11" name="Title 10">
            <a:extLst>
              <a:ext uri="{FF2B5EF4-FFF2-40B4-BE49-F238E27FC236}">
                <a16:creationId xmlns:a16="http://schemas.microsoft.com/office/drawing/2014/main" id="{21EB489E-69CE-B797-58B8-6B5421D448BD}"/>
              </a:ext>
            </a:extLst>
          </p:cNvPr>
          <p:cNvSpPr>
            <a:spLocks noGrp="1"/>
          </p:cNvSpPr>
          <p:nvPr>
            <p:ph type="title"/>
          </p:nvPr>
        </p:nvSpPr>
        <p:spPr/>
        <p:txBody>
          <a:bodyPr/>
          <a:lstStyle/>
          <a:p>
            <a:r>
              <a:rPr lang="en-US" sz="1800" dirty="0"/>
              <a:t>Compute Updates (Retirement)</a:t>
            </a:r>
            <a:endParaRPr lang="en-US" dirty="0"/>
          </a:p>
        </p:txBody>
      </p:sp>
      <p:sp>
        <p:nvSpPr>
          <p:cNvPr id="13" name="Text Placeholder 12">
            <a:extLst>
              <a:ext uri="{FF2B5EF4-FFF2-40B4-BE49-F238E27FC236}">
                <a16:creationId xmlns:a16="http://schemas.microsoft.com/office/drawing/2014/main" id="{CED3B885-F21C-397B-0D9E-2251C9DB406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563E45-D172-74E3-6DE6-ADA489A5B3A5}"/>
              </a:ext>
            </a:extLst>
          </p:cNvPr>
          <p:cNvSpPr>
            <a:spLocks noGrp="1"/>
          </p:cNvSpPr>
          <p:nvPr>
            <p:ph type="body" sz="quarter" idx="16"/>
          </p:nvPr>
        </p:nvSpPr>
        <p:spPr>
          <a:xfrm>
            <a:off x="342900" y="799661"/>
            <a:ext cx="3955312" cy="3774069"/>
          </a:xfrm>
        </p:spPr>
        <p:txBody>
          <a:bodyPr/>
          <a:lstStyle/>
          <a:p>
            <a:pPr algn="just"/>
            <a:r>
              <a:rPr lang="fr-FR" dirty="0">
                <a:hlinkClick r:id="rId3"/>
              </a:rPr>
              <a:t>Retirement: </a:t>
            </a:r>
            <a:r>
              <a:rPr lang="fr-FR" dirty="0" err="1">
                <a:hlinkClick r:id="rId3"/>
              </a:rPr>
              <a:t>Functions</a:t>
            </a:r>
            <a:r>
              <a:rPr lang="fr-FR" dirty="0">
                <a:hlinkClick r:id="rId3"/>
              </a:rPr>
              <a:t> on Azure Container Apps V1</a:t>
            </a:r>
            <a:endParaRPr lang="fr-FR" dirty="0"/>
          </a:p>
          <a:p>
            <a:pPr algn="just"/>
            <a:r>
              <a:rPr lang="en-US" dirty="0"/>
              <a:t>Microsoft will retire </a:t>
            </a:r>
            <a:r>
              <a:rPr lang="en-US" b="1" dirty="0"/>
              <a:t>Functions on Azure Container Apps (ACA) V1 on September 29, 2027</a:t>
            </a:r>
            <a:r>
              <a:rPr lang="en-US" dirty="0"/>
              <a:t>. After this date, existing V1 Function Apps will </a:t>
            </a:r>
            <a:r>
              <a:rPr lang="en-US" b="1" dirty="0"/>
              <a:t>stop running entirely</a:t>
            </a:r>
            <a:r>
              <a:rPr lang="en-US" dirty="0"/>
              <a:t>, meaning they will no longer process HTTP requests or event-driven triggers.</a:t>
            </a:r>
          </a:p>
          <a:p>
            <a:pPr algn="just"/>
            <a:r>
              <a:rPr lang="en-US" dirty="0"/>
              <a:t>Customers must migrate affected workloads to the </a:t>
            </a:r>
            <a:r>
              <a:rPr lang="en-US" b="1" dirty="0"/>
              <a:t>Functions on Azure Container Apps V2 hosting model</a:t>
            </a:r>
            <a:r>
              <a:rPr lang="en-US" dirty="0"/>
              <a:t> before the retirement deadline. V2 uses a native Azure Container App configured with </a:t>
            </a:r>
            <a:r>
              <a:rPr lang="en-US" b="1" dirty="0"/>
              <a:t>kind=</a:t>
            </a:r>
            <a:r>
              <a:rPr lang="en-US" b="1" dirty="0" err="1"/>
              <a:t>functionapp</a:t>
            </a:r>
            <a:r>
              <a:rPr lang="en-US" dirty="0"/>
              <a:t>, and existing function container images can be reused; the standard migration path does </a:t>
            </a:r>
            <a:r>
              <a:rPr lang="en-US" b="1" dirty="0"/>
              <a:t>not require changes to function application code</a:t>
            </a:r>
            <a:r>
              <a:rPr lang="en-US" dirty="0"/>
              <a:t>.</a:t>
            </a:r>
          </a:p>
          <a:p>
            <a:pPr algn="just"/>
            <a:r>
              <a:rPr lang="en-US" dirty="0"/>
              <a:t>Microsoft provides a </a:t>
            </a:r>
            <a:r>
              <a:rPr lang="en-US" b="1" dirty="0"/>
              <a:t>V1 migration assistant</a:t>
            </a:r>
            <a:r>
              <a:rPr lang="en-US" dirty="0"/>
              <a:t> to help automate the transition. For manual migrations, organizations should capture existing </a:t>
            </a:r>
            <a:r>
              <a:rPr lang="en-US" b="1" dirty="0"/>
              <a:t>secrets, managed identities, networking, configuration, and scaling settings</a:t>
            </a:r>
            <a:r>
              <a:rPr lang="en-US" dirty="0"/>
              <a:t>, recreate them on the V2 application, validate all triggers, and then transition production traffic.</a:t>
            </a:r>
          </a:p>
          <a:p>
            <a:pPr algn="just"/>
            <a:r>
              <a:rPr lang="en-US" dirty="0"/>
              <a:t>Organizations should inventory existing Functions on ACA deployments and complete migration and </a:t>
            </a:r>
            <a:r>
              <a:rPr lang="en-US" b="1" dirty="0"/>
              <a:t>production validation well before September 29, 2027</a:t>
            </a:r>
            <a:r>
              <a:rPr lang="en-US" dirty="0"/>
              <a:t>, as workloads remaining on V1 will experience service disruption after retirement.</a:t>
            </a:r>
          </a:p>
          <a:p>
            <a:pPr algn="just"/>
            <a:endParaRPr lang="en-US" dirty="0"/>
          </a:p>
        </p:txBody>
      </p:sp>
    </p:spTree>
    <p:extLst>
      <p:ext uri="{BB962C8B-B14F-4D97-AF65-F5344CB8AC3E}">
        <p14:creationId xmlns:p14="http://schemas.microsoft.com/office/powerpoint/2010/main" val="3311820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BB48426E-680B-53E0-65F2-49F946AB8F4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C7CF493-B57A-D108-EDB8-8DBF11CC6F81}"/>
              </a:ext>
            </a:extLst>
          </p:cNvPr>
          <p:cNvSpPr>
            <a:spLocks noGrp="1"/>
          </p:cNvSpPr>
          <p:nvPr>
            <p:ph type="body" sz="quarter" idx="10"/>
          </p:nvPr>
        </p:nvSpPr>
        <p:spPr/>
        <p:txBody>
          <a:bodyPr/>
          <a:lstStyle/>
          <a:p>
            <a:pPr algn="just"/>
            <a:r>
              <a:rPr lang="en-US" sz="1000" dirty="0">
                <a:hlinkClick r:id="rId2"/>
              </a:rPr>
              <a:t>Retirement: NVv3-series Azure Virtual Machines</a:t>
            </a:r>
            <a:endParaRPr lang="en-US" sz="1000" dirty="0"/>
          </a:p>
          <a:p>
            <a:pPr algn="just"/>
            <a:r>
              <a:rPr lang="en-US" sz="1000" dirty="0"/>
              <a:t>Microsoft </a:t>
            </a:r>
            <a:r>
              <a:rPr lang="en-US" sz="1000" b="1" dirty="0"/>
              <a:t>retired the Azure NVv3-series VM sizes on September 30, 2026</a:t>
            </a:r>
            <a:r>
              <a:rPr lang="en-US" sz="1000" dirty="0"/>
              <a:t>, including </a:t>
            </a:r>
            <a:r>
              <a:rPr lang="en-US" dirty="0"/>
              <a:t>Standard_NV12s_v3</a:t>
            </a:r>
            <a:r>
              <a:rPr lang="en-US" sz="1000" dirty="0"/>
              <a:t>, </a:t>
            </a:r>
            <a:r>
              <a:rPr lang="en-US" dirty="0"/>
              <a:t>NV12hs_v3</a:t>
            </a:r>
            <a:r>
              <a:rPr lang="en-US" sz="1000" dirty="0"/>
              <a:t>, </a:t>
            </a:r>
            <a:r>
              <a:rPr lang="en-US" dirty="0"/>
              <a:t>NV24s_v3</a:t>
            </a:r>
            <a:r>
              <a:rPr lang="en-US" sz="1000" dirty="0"/>
              <a:t>, </a:t>
            </a:r>
            <a:r>
              <a:rPr lang="en-US" dirty="0"/>
              <a:t>NV24ms_v3</a:t>
            </a:r>
            <a:r>
              <a:rPr lang="en-US" sz="1000" dirty="0"/>
              <a:t>, </a:t>
            </a:r>
            <a:r>
              <a:rPr lang="en-US" dirty="0"/>
              <a:t>NV32ms_v3</a:t>
            </a:r>
            <a:r>
              <a:rPr lang="en-US" sz="1000" dirty="0"/>
              <a:t>, and </a:t>
            </a:r>
            <a:r>
              <a:rPr lang="en-US" dirty="0"/>
              <a:t>NV48s_v3</a:t>
            </a:r>
            <a:r>
              <a:rPr lang="en-US" sz="1000" dirty="0"/>
              <a:t>.</a:t>
            </a:r>
          </a:p>
          <a:p>
            <a:pPr algn="just"/>
            <a:r>
              <a:rPr lang="en-US" sz="1000" dirty="0"/>
              <a:t>Any remaining NVv3 VMs will be placed into a </a:t>
            </a:r>
            <a:r>
              <a:rPr lang="en-US" sz="1000" b="1" dirty="0"/>
              <a:t>deallocated state</a:t>
            </a:r>
            <a:r>
              <a:rPr lang="en-US" sz="1000" dirty="0"/>
              <a:t>, meaning workloads will stop running and compute billing will cease. The NVv3 series is also </a:t>
            </a:r>
            <a:r>
              <a:rPr lang="en-US" sz="1000" b="1" dirty="0"/>
              <a:t>no longer covered by Azure SLA or included support</a:t>
            </a:r>
            <a:r>
              <a:rPr lang="en-US" sz="1000" dirty="0"/>
              <a:t>, requiring customers to migrate production workloads to a supported GPU-enabled VM family.</a:t>
            </a:r>
          </a:p>
          <a:p>
            <a:pPr algn="just"/>
            <a:r>
              <a:rPr lang="en-US" sz="1000" dirty="0"/>
              <a:t>Organizations should identify remaining NVv3 deployments and plan migration based on </a:t>
            </a:r>
            <a:r>
              <a:rPr lang="en-US" sz="1000" b="1" dirty="0"/>
              <a:t>GPU requirements, application compatibility, regional SKU availability, capacity, and performance needs</a:t>
            </a:r>
            <a:r>
              <a:rPr lang="en-US" sz="1000" dirty="0"/>
              <a:t>. This is particularly relevant for </a:t>
            </a:r>
            <a:r>
              <a:rPr lang="en-US" sz="1000" b="1" dirty="0"/>
              <a:t>GPU-accelerated VDI, visualization, graphics, and engineering workloads</a:t>
            </a:r>
            <a:r>
              <a:rPr lang="en-US" sz="1000" dirty="0"/>
              <a:t>.</a:t>
            </a:r>
          </a:p>
          <a:p>
            <a:pPr algn="just"/>
            <a:r>
              <a:rPr lang="en-US" sz="1000" dirty="0"/>
              <a:t>An exception applies to </a:t>
            </a:r>
            <a:r>
              <a:rPr lang="en-US" sz="1000" b="1" dirty="0"/>
              <a:t>Azure UAE North</a:t>
            </a:r>
            <a:r>
              <a:rPr lang="en-US" sz="1000" dirty="0"/>
              <a:t>, where existing NVv3 workloads can continue operating until </a:t>
            </a:r>
            <a:r>
              <a:rPr lang="en-US" sz="1000" b="1" dirty="0"/>
              <a:t>January 31, 2027</a:t>
            </a:r>
            <a:r>
              <a:rPr lang="en-US" sz="1000" dirty="0"/>
              <a:t>; customers in that region must complete migration by that date. Additionally, new </a:t>
            </a:r>
            <a:r>
              <a:rPr lang="en-US" sz="1000" b="1" dirty="0"/>
              <a:t>1-year and 3-year Reserved Instance purchases for NVv3 ended on November 2, 2025</a:t>
            </a:r>
            <a:r>
              <a:rPr lang="en-US" sz="1000" dirty="0"/>
              <a:t>.</a:t>
            </a:r>
          </a:p>
          <a:p>
            <a:pPr algn="just"/>
            <a:endParaRPr lang="en-US" sz="1000" dirty="0"/>
          </a:p>
        </p:txBody>
      </p:sp>
      <p:sp>
        <p:nvSpPr>
          <p:cNvPr id="11" name="Title 10">
            <a:extLst>
              <a:ext uri="{FF2B5EF4-FFF2-40B4-BE49-F238E27FC236}">
                <a16:creationId xmlns:a16="http://schemas.microsoft.com/office/drawing/2014/main" id="{DD3B4DD3-ED90-9EAF-E03E-A79E75918EE9}"/>
              </a:ext>
            </a:extLst>
          </p:cNvPr>
          <p:cNvSpPr>
            <a:spLocks noGrp="1"/>
          </p:cNvSpPr>
          <p:nvPr>
            <p:ph type="title"/>
          </p:nvPr>
        </p:nvSpPr>
        <p:spPr/>
        <p:txBody>
          <a:bodyPr/>
          <a:lstStyle/>
          <a:p>
            <a:r>
              <a:rPr lang="en-US" sz="1800" dirty="0"/>
              <a:t>Compute Updates (Retirement)</a:t>
            </a:r>
            <a:endParaRPr lang="en-US" dirty="0"/>
          </a:p>
        </p:txBody>
      </p:sp>
      <p:sp>
        <p:nvSpPr>
          <p:cNvPr id="13" name="Text Placeholder 12">
            <a:extLst>
              <a:ext uri="{FF2B5EF4-FFF2-40B4-BE49-F238E27FC236}">
                <a16:creationId xmlns:a16="http://schemas.microsoft.com/office/drawing/2014/main" id="{3AF4F94A-0688-8523-F8DC-A30E97CCE92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BFE7401-F7FD-A953-8581-2D4ECFB3D76E}"/>
              </a:ext>
            </a:extLst>
          </p:cNvPr>
          <p:cNvSpPr>
            <a:spLocks noGrp="1"/>
          </p:cNvSpPr>
          <p:nvPr>
            <p:ph type="body" sz="quarter" idx="16"/>
          </p:nvPr>
        </p:nvSpPr>
        <p:spPr>
          <a:xfrm>
            <a:off x="342900" y="799661"/>
            <a:ext cx="3955312" cy="3774069"/>
          </a:xfrm>
        </p:spPr>
        <p:txBody>
          <a:bodyPr/>
          <a:lstStyle/>
          <a:p>
            <a:pPr algn="just"/>
            <a:r>
              <a:rPr lang="fr-FR" dirty="0">
                <a:hlinkClick r:id="rId3"/>
              </a:rPr>
              <a:t>Retirement: NVv4-series Azure Virtual Machines</a:t>
            </a:r>
            <a:endParaRPr lang="fr-FR" dirty="0"/>
          </a:p>
          <a:p>
            <a:r>
              <a:rPr lang="en-US" dirty="0"/>
              <a:t>Microsoft </a:t>
            </a:r>
            <a:r>
              <a:rPr lang="en-US" b="1" dirty="0"/>
              <a:t>retired the remaining Azure NVv4-series VM sizes on September 30, 2026</a:t>
            </a:r>
            <a:r>
              <a:rPr lang="en-US" dirty="0"/>
              <a:t>, including the Standard_NV4as_v4, NV4ahs_v4, NV8as_v4, NV8ahs_v4, NV16as_v4, NV16ahs_v4, NV32as_v4, and NV32ahs_v4 SKUs.</a:t>
            </a:r>
          </a:p>
          <a:p>
            <a:r>
              <a:rPr lang="en-US" dirty="0"/>
              <a:t>Any NVv4 VMs still deployed will be placed into a </a:t>
            </a:r>
            <a:r>
              <a:rPr lang="en-US" b="1" dirty="0"/>
              <a:t>deallocated state</a:t>
            </a:r>
            <a:r>
              <a:rPr lang="en-US" dirty="0"/>
              <a:t>, meaning workloads will stop running and the VMs will no longer generate compute charges. The NVv4 series is also </a:t>
            </a:r>
            <a:r>
              <a:rPr lang="en-US" b="1" dirty="0"/>
              <a:t>no longer covered by Azure SLA or included support</a:t>
            </a:r>
            <a:r>
              <a:rPr lang="en-US" dirty="0"/>
              <a:t>, so remaining deployments should not be considered operationally supported.</a:t>
            </a:r>
          </a:p>
          <a:p>
            <a:r>
              <a:rPr lang="en-US" dirty="0"/>
              <a:t>Customers should identify any residual NVv4 workloads and </a:t>
            </a:r>
            <a:r>
              <a:rPr lang="en-US" b="1" dirty="0"/>
              <a:t>migrate them to a supported GPU-enabled VM family</a:t>
            </a:r>
            <a:r>
              <a:rPr lang="en-US" dirty="0"/>
              <a:t>, validating GPU requirements, application compatibility, regional capacity, and performance before migration. This is particularly important for workloads using NVv4 for </a:t>
            </a:r>
            <a:r>
              <a:rPr lang="en-US" b="1" dirty="0"/>
              <a:t>VDI, visualization, graphics acceleration, and GPU-enabled applications</a:t>
            </a:r>
            <a:r>
              <a:rPr lang="en-US" dirty="0"/>
              <a:t>.</a:t>
            </a:r>
          </a:p>
          <a:p>
            <a:r>
              <a:rPr lang="en-US" dirty="0"/>
              <a:t>Commercial commitments have already been phased out: </a:t>
            </a:r>
            <a:r>
              <a:rPr lang="en-US" b="1" dirty="0"/>
              <a:t>1-year and 3-year Reserved Instance purchases ended November 2, 2025</a:t>
            </a:r>
            <a:r>
              <a:rPr lang="en-US" dirty="0"/>
              <a:t>, and </a:t>
            </a:r>
            <a:r>
              <a:rPr lang="en-US" b="1" dirty="0"/>
              <a:t>Compute Pre-Purchase sales ended June 2, 2026</a:t>
            </a:r>
            <a:r>
              <a:rPr lang="en-US" dirty="0"/>
              <a:t>.</a:t>
            </a:r>
          </a:p>
          <a:p>
            <a:pPr algn="just"/>
            <a:endParaRPr lang="en-US" dirty="0"/>
          </a:p>
        </p:txBody>
      </p:sp>
    </p:spTree>
    <p:extLst>
      <p:ext uri="{BB962C8B-B14F-4D97-AF65-F5344CB8AC3E}">
        <p14:creationId xmlns:p14="http://schemas.microsoft.com/office/powerpoint/2010/main" val="2085912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AE49F90-955D-4504-D3F0-8C638B5FD61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EE8036C-FE84-8B58-44D6-56F28102CF1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51FA96B0-69B5-75FB-CC41-67998236C979}"/>
              </a:ext>
            </a:extLst>
          </p:cNvPr>
          <p:cNvSpPr>
            <a:spLocks noGrp="1"/>
          </p:cNvSpPr>
          <p:nvPr>
            <p:ph type="title"/>
          </p:nvPr>
        </p:nvSpPr>
        <p:spPr/>
        <p:txBody>
          <a:bodyPr/>
          <a:lstStyle/>
          <a:p>
            <a:r>
              <a:rPr lang="en-US" sz="1800" dirty="0"/>
              <a:t>Compute Updates (Retirement)</a:t>
            </a:r>
            <a:endParaRPr lang="en-US" dirty="0"/>
          </a:p>
        </p:txBody>
      </p:sp>
      <p:sp>
        <p:nvSpPr>
          <p:cNvPr id="13" name="Text Placeholder 12">
            <a:extLst>
              <a:ext uri="{FF2B5EF4-FFF2-40B4-BE49-F238E27FC236}">
                <a16:creationId xmlns:a16="http://schemas.microsoft.com/office/drawing/2014/main" id="{321969FA-D93F-1277-115D-07685B05378F}"/>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2CF556CD-3F9D-EDA9-9232-95E482CBBB4B}"/>
              </a:ext>
            </a:extLst>
          </p:cNvPr>
          <p:cNvSpPr>
            <a:spLocks noGrp="1"/>
          </p:cNvSpPr>
          <p:nvPr>
            <p:ph type="body" sz="quarter" idx="16"/>
          </p:nvPr>
        </p:nvSpPr>
        <p:spPr/>
        <p:txBody>
          <a:bodyPr/>
          <a:lstStyle/>
          <a:p>
            <a:pPr algn="just"/>
            <a:r>
              <a:rPr lang="en-US" dirty="0">
                <a:hlinkClick r:id="rId2"/>
              </a:rPr>
              <a:t>Retirement: DCsv3 and DCdsv3-series Azure Virtual Machines will be retired on October 31, 2029</a:t>
            </a:r>
            <a:endParaRPr lang="en-US" dirty="0"/>
          </a:p>
          <a:p>
            <a:pPr algn="just"/>
            <a:r>
              <a:rPr lang="en-US" dirty="0"/>
              <a:t>Microsoft will retire the </a:t>
            </a:r>
            <a:r>
              <a:rPr lang="en-US" b="1" dirty="0"/>
              <a:t>Azure DCsv3 and DCdsv3 confidential VM series on October 31, 2029</a:t>
            </a:r>
            <a:r>
              <a:rPr lang="en-US" dirty="0"/>
              <a:t>, including </a:t>
            </a:r>
            <a:r>
              <a:rPr lang="en-US" b="1" dirty="0"/>
              <a:t>Linux, Windows, and Dedicated Host</a:t>
            </a:r>
            <a:r>
              <a:rPr lang="en-US" dirty="0"/>
              <a:t> deployments. After this date, these VM series will no longer be available for use or purchase, requiring customers to migrate affected confidential workloads beforehand.</a:t>
            </a:r>
          </a:p>
          <a:p>
            <a:pPr algn="just"/>
            <a:r>
              <a:rPr lang="en-US" dirty="0"/>
              <a:t>For VM-based workloads, Microsoft recommends transitioning to newer </a:t>
            </a:r>
            <a:r>
              <a:rPr lang="en-US" b="1" dirty="0"/>
              <a:t>DCasv6, DCadsv6, DCesv6, or DCedsv6 confidential VM series</a:t>
            </a:r>
            <a:r>
              <a:rPr lang="en-US" dirty="0"/>
              <a:t>, with </a:t>
            </a:r>
            <a:r>
              <a:rPr lang="en-US" b="1" dirty="0"/>
              <a:t>ECasv6, ECadsv6, ECesv6, and ECedsv6</a:t>
            </a:r>
            <a:r>
              <a:rPr lang="en-US" dirty="0"/>
              <a:t> available for more memory-intensive requirements. For containerized confidential workloads, alternatives include </a:t>
            </a:r>
            <a:r>
              <a:rPr lang="en-US" b="1" dirty="0"/>
              <a:t>Azure Confidential Container Instances (C-ACI)</a:t>
            </a:r>
            <a:r>
              <a:rPr lang="en-US" dirty="0"/>
              <a:t> or </a:t>
            </a:r>
            <a:r>
              <a:rPr lang="en-US" b="1" dirty="0"/>
              <a:t>confidential Virtual Nodes on Azure Container Instances for AKS</a:t>
            </a:r>
            <a:r>
              <a:rPr lang="en-US" dirty="0"/>
              <a:t>.</a:t>
            </a:r>
          </a:p>
          <a:p>
            <a:pPr algn="just"/>
            <a:r>
              <a:rPr lang="en-US" dirty="0"/>
              <a:t>Organizations should inventory existing DCsv3/DCdsv3 deployments and validate </a:t>
            </a:r>
            <a:r>
              <a:rPr lang="en-US" b="1" dirty="0"/>
              <a:t>CPU architecture, memory, storage, confidential-computing requirements, regional availability, application compatibility, and pricing</a:t>
            </a:r>
            <a:r>
              <a:rPr lang="en-US" dirty="0"/>
              <a:t> before migration. Because replacement SKUs and services may have different pricing characteristics, migration planning should also include a </a:t>
            </a:r>
            <a:r>
              <a:rPr lang="en-US" b="1" dirty="0"/>
              <a:t>cost and reservation review</a:t>
            </a:r>
            <a:r>
              <a:rPr lang="en-US" dirty="0"/>
              <a:t>.</a:t>
            </a:r>
          </a:p>
          <a:p>
            <a:pPr algn="just"/>
            <a:r>
              <a:rPr lang="en-US" dirty="0"/>
              <a:t>Additionally, </a:t>
            </a:r>
            <a:r>
              <a:rPr lang="en-US" b="1" dirty="0"/>
              <a:t>1-year and 3-year Reserved VM Instances for DCsv3 and DCdsv3 will no longer be available for purchase or renewal after October 31, 2026</a:t>
            </a:r>
            <a:r>
              <a:rPr lang="en-US" dirty="0"/>
              <a:t>, three years ahead of the final service retirement.</a:t>
            </a:r>
          </a:p>
          <a:p>
            <a:pPr algn="just"/>
            <a:endParaRPr lang="en-US" dirty="0"/>
          </a:p>
        </p:txBody>
      </p:sp>
    </p:spTree>
    <p:extLst>
      <p:ext uri="{BB962C8B-B14F-4D97-AF65-F5344CB8AC3E}">
        <p14:creationId xmlns:p14="http://schemas.microsoft.com/office/powerpoint/2010/main" val="299562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 Microsoft </a:t>
            </a:r>
            <a:r>
              <a:rPr lang="en-US" dirty="0" err="1">
                <a:hlinkClick r:id="rId2"/>
              </a:rPr>
              <a:t>entra</a:t>
            </a:r>
            <a:r>
              <a:rPr lang="en-US" dirty="0">
                <a:hlinkClick r:id="rId2"/>
              </a:rPr>
              <a:t> </a:t>
            </a:r>
            <a:r>
              <a:rPr lang="en-US" dirty="0" err="1">
                <a:hlinkClick r:id="rId2"/>
              </a:rPr>
              <a:t>kerberos</a:t>
            </a:r>
            <a:r>
              <a:rPr lang="en-US" dirty="0">
                <a:hlinkClick r:id="rId2"/>
              </a:rPr>
              <a:t> authentication for Azure NetApp Files</a:t>
            </a:r>
            <a:endParaRPr lang="en-US" dirty="0"/>
          </a:p>
          <a:p>
            <a:pPr algn="just"/>
            <a:r>
              <a:rPr lang="en-US" b="1" dirty="0"/>
              <a:t>Azure NetApp Files</a:t>
            </a:r>
            <a:r>
              <a:rPr lang="en-US" dirty="0"/>
              <a:t> now supports </a:t>
            </a:r>
            <a:r>
              <a:rPr lang="en-US" b="1" dirty="0"/>
              <a:t>Microsoft Entra Kerberos authentication for SMB volumes</a:t>
            </a:r>
            <a:r>
              <a:rPr lang="en-US" dirty="0"/>
              <a:t>, enabling both </a:t>
            </a:r>
            <a:r>
              <a:rPr lang="en-US" b="1" dirty="0"/>
              <a:t>hybrid and cloud-only identities</a:t>
            </a:r>
            <a:r>
              <a:rPr lang="en-US" dirty="0"/>
              <a:t> to authenticate using cloud-issued Kerberos tickets.</a:t>
            </a:r>
          </a:p>
          <a:p>
            <a:pPr algn="just"/>
            <a:r>
              <a:rPr lang="en-US" dirty="0"/>
              <a:t>The capability removes the requirement for SMB clients to maintain </a:t>
            </a:r>
            <a:r>
              <a:rPr lang="en-US" b="1" dirty="0"/>
              <a:t>network line-of-sight to Active Directory Domain Services (AD DS) domain controllers during authentication</a:t>
            </a:r>
            <a:r>
              <a:rPr lang="en-US" dirty="0"/>
              <a:t>. This can reduce dependencies on traditional domain controller connectivity and simplify network architecture for cloud-hosted SMB workloads.</a:t>
            </a:r>
          </a:p>
          <a:p>
            <a:pPr algn="just"/>
            <a:r>
              <a:rPr lang="en-US" dirty="0"/>
              <a:t>Organizations can use the capability to modernize file-service authentication while continuing to use the </a:t>
            </a:r>
            <a:r>
              <a:rPr lang="en-US" b="1" dirty="0"/>
              <a:t>SMB protocol and Microsoft Entra-based identities</a:t>
            </a:r>
            <a:r>
              <a:rPr lang="en-US" dirty="0"/>
              <a:t>. It is particularly relevant for </a:t>
            </a:r>
            <a:r>
              <a:rPr lang="en-US" b="1" dirty="0"/>
              <a:t>cloud-first environments, hybrid users, virtual desktops, and applications accessing Azure NetApp Files</a:t>
            </a:r>
            <a:r>
              <a:rPr lang="en-US" dirty="0"/>
              <a:t> where direct connectivity to domain controllers is undesirable or difficult to maintain.</a:t>
            </a:r>
          </a:p>
          <a:p>
            <a:pPr algn="just"/>
            <a:endParaRPr lang="en-US" dirty="0"/>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pPr algn="just"/>
            <a:r>
              <a:rPr lang="en-US" sz="1000" dirty="0">
                <a:hlinkClick r:id="rId2"/>
              </a:rPr>
              <a:t>Generally Available: Storage with cool access enhancement</a:t>
            </a:r>
            <a:endParaRPr lang="en-US" sz="1000" dirty="0"/>
          </a:p>
          <a:p>
            <a:pPr algn="just"/>
            <a:r>
              <a:rPr lang="en-US" sz="1000" b="1" dirty="0"/>
              <a:t>Azure NetApp Files</a:t>
            </a:r>
            <a:r>
              <a:rPr lang="en-US" sz="1000" dirty="0"/>
              <a:t> introduces an enhanced </a:t>
            </a:r>
            <a:r>
              <a:rPr lang="en-US" sz="1000" b="1" dirty="0"/>
              <a:t>Quality of Service (QoS)</a:t>
            </a:r>
            <a:r>
              <a:rPr lang="en-US" sz="1000" dirty="0"/>
              <a:t> experience for </a:t>
            </a:r>
            <a:r>
              <a:rPr lang="en-US" sz="1000" b="1" dirty="0"/>
              <a:t>Premium and Ultra service levels with Cool Access enabled</a:t>
            </a:r>
            <a:r>
              <a:rPr lang="en-US" sz="1000" dirty="0"/>
              <a:t>, improving performance and cost optimization for workloads containing a mix of frequently and infrequently accessed data.</a:t>
            </a:r>
          </a:p>
          <a:p>
            <a:pPr algn="just"/>
            <a:r>
              <a:rPr lang="en-US" sz="1000" dirty="0"/>
              <a:t>As data transitions between </a:t>
            </a:r>
            <a:r>
              <a:rPr lang="en-US" sz="1000" b="1" dirty="0"/>
              <a:t>hot and cool storage</a:t>
            </a:r>
            <a:r>
              <a:rPr lang="en-US" sz="1000" dirty="0"/>
              <a:t>, available throughput is automatically adjusted to reflect the changing storage footprint. This helps maintain the expected performance for hot data while allowing larger volumes of inactive data to benefit from the lower-cost cool tier.</a:t>
            </a:r>
          </a:p>
          <a:p>
            <a:pPr algn="just"/>
            <a:r>
              <a:rPr lang="en-US" sz="1000" dirty="0"/>
              <a:t>The service continuously optimizes </a:t>
            </a:r>
            <a:r>
              <a:rPr lang="en-US" sz="1000" b="1" dirty="0"/>
              <a:t>capacity pool and volume throughput</a:t>
            </a:r>
            <a:r>
              <a:rPr lang="en-US" sz="1000" dirty="0"/>
              <a:t> as cool-access patterns change, removing the need for administrators to manually tune performance settings as data moves between tiers.</a:t>
            </a:r>
          </a:p>
          <a:p>
            <a:pPr algn="just"/>
            <a:endParaRPr lang="en-US" sz="1000" dirty="0"/>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 (General Available)</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3"/>
              </a:rPr>
              <a:t>Generally Available: Support for large volume breakthrough mode</a:t>
            </a:r>
            <a:endParaRPr lang="en-US" dirty="0"/>
          </a:p>
          <a:p>
            <a:pPr algn="just"/>
            <a:r>
              <a:rPr lang="en-US" dirty="0"/>
              <a:t>Large volume breakthrough mode in Azure NetApp Files enables extreme performance and scalability for demanding HPC and EDA workloads. It supports large volumes up to 2PiB, delivering throughput up to 80 </a:t>
            </a:r>
            <a:r>
              <a:rPr lang="en-US" dirty="0" err="1"/>
              <a:t>GiBps</a:t>
            </a:r>
            <a:r>
              <a:rPr lang="en-US" dirty="0"/>
              <a:t>, depending on workload characteristics. Large volume breakthrough mode uses six storage endpoints for each large volume ensuring consistent performance. Storage systems hosting breakthrough mode volumes are reserved for each customer to provide peak performance and not compete with other workloads.</a:t>
            </a:r>
          </a:p>
          <a:p>
            <a:pPr algn="just"/>
            <a:r>
              <a:rPr lang="en-US" dirty="0"/>
              <a:t>Key benefits include:</a:t>
            </a:r>
          </a:p>
          <a:p>
            <a:pPr marL="171450" lvl="0" indent="-171450" algn="just">
              <a:buFont typeface="Arial" panose="020B0604020202020204" pitchFamily="34" charset="0"/>
              <a:buChar char="•"/>
            </a:pPr>
            <a:r>
              <a:rPr lang="en-US" dirty="0"/>
              <a:t>High-capacity scaling for large-scale, latency-sensitive workloads</a:t>
            </a:r>
          </a:p>
          <a:p>
            <a:pPr marL="171450" lvl="0" indent="-171450" algn="just">
              <a:buFont typeface="Arial" panose="020B0604020202020204" pitchFamily="34" charset="0"/>
              <a:buChar char="•"/>
            </a:pPr>
            <a:r>
              <a:rPr lang="en-US" dirty="0"/>
              <a:t>Simplified network management with multiple storage endpoints per volume</a:t>
            </a:r>
          </a:p>
          <a:p>
            <a:pPr marL="171450" lvl="0" indent="-171450" algn="just">
              <a:buFont typeface="Arial" panose="020B0604020202020204" pitchFamily="34" charset="0"/>
              <a:buChar char="•"/>
            </a:pPr>
            <a:r>
              <a:rPr lang="en-US" dirty="0"/>
              <a:t>Dedicated capacity stamps to eliminate noisy neighbor interference and maintain predictable performance</a:t>
            </a:r>
          </a:p>
          <a:p>
            <a:pPr algn="just"/>
            <a:r>
              <a:rPr lang="en-US" dirty="0"/>
              <a:t>Supported in all regions where dedicated capacity has been ordered and provisioned for the customer. </a:t>
            </a:r>
          </a:p>
          <a:p>
            <a:pPr algn="just"/>
            <a:endParaRPr lang="en-US" dirty="0"/>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Long-term retention (LTR) v2 for Azure Database for PostgreSQL</a:t>
            </a:r>
            <a:endParaRPr lang="en-US" sz="1000" dirty="0"/>
          </a:p>
          <a:p>
            <a:pPr algn="just"/>
            <a:r>
              <a:rPr lang="en-US" sz="1000" b="1" dirty="0"/>
              <a:t>LTR v2</a:t>
            </a:r>
            <a:r>
              <a:rPr lang="en-US" sz="1000" dirty="0"/>
              <a:t> introduces the next generation of </a:t>
            </a:r>
            <a:r>
              <a:rPr lang="en-US" sz="1000" b="1" dirty="0"/>
              <a:t>long-term backup for Azure Database for PostgreSQL</a:t>
            </a:r>
            <a:r>
              <a:rPr lang="en-US" sz="1000" dirty="0"/>
              <a:t>, replacing the logical </a:t>
            </a:r>
            <a:r>
              <a:rPr lang="en-US" dirty="0" err="1"/>
              <a:t>pg_dump</a:t>
            </a:r>
            <a:r>
              <a:rPr lang="en-US" sz="1000" dirty="0"/>
              <a:t> / </a:t>
            </a:r>
            <a:r>
              <a:rPr lang="en-US" dirty="0" err="1"/>
              <a:t>pg_restore</a:t>
            </a:r>
            <a:r>
              <a:rPr lang="en-US" sz="1000" dirty="0"/>
              <a:t> approach used by LTR v1 with </a:t>
            </a:r>
            <a:r>
              <a:rPr lang="en-US" sz="1000" b="1" dirty="0"/>
              <a:t>physical snapshot-based backups</a:t>
            </a:r>
            <a:r>
              <a:rPr lang="en-US" sz="1000" dirty="0"/>
              <a:t>.</a:t>
            </a:r>
          </a:p>
          <a:p>
            <a:pPr algn="just"/>
            <a:r>
              <a:rPr lang="en-US" sz="1000" dirty="0"/>
              <a:t>The new architecture integrates long-term backups with </a:t>
            </a:r>
            <a:r>
              <a:rPr lang="en-US" sz="1000" b="1" dirty="0"/>
              <a:t>Azure Backup Vaults</a:t>
            </a:r>
            <a:r>
              <a:rPr lang="en-US" sz="1000" dirty="0"/>
              <a:t>, providing a more scalable and centralized approach to backup management. LTR v2 also introduces support for </a:t>
            </a:r>
            <a:r>
              <a:rPr lang="en-US" sz="1000" b="1" dirty="0"/>
              <a:t>daily long-term backups</a:t>
            </a:r>
            <a:r>
              <a:rPr lang="en-US" sz="1000" dirty="0"/>
              <a:t>, allowing organizations to maintain more frequent recovery points for compliance and retention requirements.</a:t>
            </a:r>
          </a:p>
          <a:p>
            <a:pPr algn="just"/>
            <a:r>
              <a:rPr lang="en-US" sz="1000" dirty="0"/>
              <a:t>By using physical snapshots instead of logical database exports, LTR v2 is better suited to </a:t>
            </a:r>
            <a:r>
              <a:rPr lang="en-US" sz="1000" b="1" dirty="0"/>
              <a:t>large PostgreSQL databases</a:t>
            </a:r>
            <a:r>
              <a:rPr lang="en-US" sz="1000" dirty="0"/>
              <a:t>, where </a:t>
            </a:r>
            <a:r>
              <a:rPr lang="en-US" dirty="0" err="1"/>
              <a:t>pg_dump</a:t>
            </a:r>
            <a:r>
              <a:rPr lang="en-US" sz="1000" dirty="0"/>
              <a:t>-based backups can become increasingly time-consuming and resource-intensive. The change can significantly improve backup scalability while reducing the operational impact associated with logical backup processing.</a:t>
            </a:r>
          </a:p>
          <a:p>
            <a:pPr algn="just"/>
            <a:r>
              <a:rPr lang="en-US" sz="1000" dirty="0"/>
              <a:t>For organizations using PostgreSQL for large or business-critical databases, LTR v2 provides a more scalable foundation for </a:t>
            </a:r>
            <a:r>
              <a:rPr lang="en-US" sz="1000" b="1" dirty="0"/>
              <a:t>long-term retention, compliance, and disaster recovery strategies</a:t>
            </a:r>
            <a:r>
              <a:rPr lang="en-US" sz="1000" dirty="0"/>
              <a: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Microsoft SQL Agent Skills</a:t>
            </a:r>
            <a:endParaRPr lang="en-US" dirty="0"/>
          </a:p>
          <a:p>
            <a:pPr algn="just"/>
            <a:r>
              <a:rPr lang="en-US" b="1" dirty="0"/>
              <a:t>Microsoft SQL Agent Skills</a:t>
            </a:r>
            <a:r>
              <a:rPr lang="en-US" dirty="0"/>
              <a:t> provide product-specific SQL knowledge that helps AI agents deliver more accurate guidance when developing, operating, and migrating Microsoft SQL workloads. The skills give agents additional context about Microsoft SQL technologies, reducing reliance on generic database guidance.</a:t>
            </a:r>
          </a:p>
          <a:p>
            <a:pPr algn="just"/>
            <a:r>
              <a:rPr lang="en-US" dirty="0"/>
              <a:t>They support scenarios across </a:t>
            </a:r>
            <a:r>
              <a:rPr lang="en-US" b="1" dirty="0"/>
              <a:t>Azure SQL Database, Azure SQL Database containers, SQL Server-to-Azure migrations, and Microsoft Fabric Database Hub</a:t>
            </a:r>
            <a:r>
              <a:rPr lang="en-US" dirty="0"/>
              <a:t>. AI agents can use the skills to assist with common </a:t>
            </a:r>
            <a:r>
              <a:rPr lang="en-US" b="1" dirty="0"/>
              <a:t>database development, configuration, migration, troubleshooting, and management tasks</a:t>
            </a:r>
            <a:r>
              <a:rPr lang="en-US" dirty="0"/>
              <a:t>.</a:t>
            </a:r>
          </a:p>
          <a:p>
            <a:pPr algn="just"/>
            <a:r>
              <a:rPr lang="en-US" dirty="0"/>
              <a:t>For development and operations teams, this provides a more consistent way to use </a:t>
            </a:r>
            <a:r>
              <a:rPr lang="en-US" b="1" dirty="0"/>
              <a:t>agentic AI as a SQL-aware assistant</a:t>
            </a:r>
            <a:r>
              <a:rPr lang="en-US" dirty="0"/>
              <a:t> while working with Microsoft database platforms. It can simplify routine SQL workflows and help engineers obtain recommendations that are better aligned with the capabilities and practices of the specific Microsoft SQL product being used.</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Public Preview: Azure SQL Database Hyperscale Serverless auto-pause and auto-resume</a:t>
            </a:r>
            <a:endParaRPr lang="en-US" sz="1000" dirty="0"/>
          </a:p>
          <a:p>
            <a:pPr algn="just"/>
            <a:r>
              <a:rPr lang="en-US" sz="1000" b="1" dirty="0"/>
              <a:t>Auto-pause and auto-resume</a:t>
            </a:r>
            <a:r>
              <a:rPr lang="en-US" sz="1000" dirty="0"/>
              <a:t> are now available in </a:t>
            </a:r>
            <a:r>
              <a:rPr lang="en-US" sz="1000" b="1" dirty="0"/>
              <a:t>public preview</a:t>
            </a:r>
            <a:r>
              <a:rPr lang="en-US" sz="1000" dirty="0"/>
              <a:t> for </a:t>
            </a:r>
            <a:r>
              <a:rPr lang="en-US" sz="1000" b="1" dirty="0"/>
              <a:t>Azure SQL Hyperscale databases using the Serverless compute tier</a:t>
            </a:r>
            <a:r>
              <a:rPr lang="en-US" sz="1000" dirty="0"/>
              <a:t>, providing additional cost optimization for workloads with intermittent usage.</a:t>
            </a:r>
          </a:p>
          <a:p>
            <a:pPr algn="just"/>
            <a:r>
              <a:rPr lang="en-US" sz="1000" dirty="0"/>
              <a:t>Databases can be configured to </a:t>
            </a:r>
            <a:r>
              <a:rPr lang="en-US" sz="1000" b="1" dirty="0"/>
              <a:t>automatically pause after periods of inactivity</a:t>
            </a:r>
            <a:r>
              <a:rPr lang="en-US" sz="1000" dirty="0"/>
              <a:t> and resume when new activity occurs. While a database is paused, </a:t>
            </a:r>
            <a:r>
              <a:rPr lang="en-US" sz="1000" b="1" dirty="0"/>
              <a:t>compute billing stops</a:t>
            </a:r>
            <a:r>
              <a:rPr lang="en-US" sz="1000" dirty="0"/>
              <a:t>, with only storage-related charges continuing to apply.</a:t>
            </a:r>
          </a:p>
          <a:p>
            <a:pPr algn="just"/>
            <a:r>
              <a:rPr lang="en-US" sz="1000" dirty="0"/>
              <a:t>The capability is available for </a:t>
            </a:r>
            <a:r>
              <a:rPr lang="en-US" sz="1000" b="1" dirty="0"/>
              <a:t>both new and existing Hyperscale Serverless databases</a:t>
            </a:r>
            <a:r>
              <a:rPr lang="en-US" sz="1000" dirty="0"/>
              <a:t>. It is particularly useful for </a:t>
            </a:r>
            <a:r>
              <a:rPr lang="en-US" sz="1000" b="1" dirty="0"/>
              <a:t>development and test environments, seasonal applications, infrequently used databases, and workloads with predictable idle periods</a:t>
            </a:r>
            <a:r>
              <a:rPr lang="en-US" sz="1000" dirty="0"/>
              <a:t>.</a:t>
            </a:r>
          </a:p>
          <a:p>
            <a:pPr algn="just"/>
            <a:r>
              <a:rPr lang="en-US" sz="1000" dirty="0"/>
              <a:t>This enhancement combines Hyperscale's scalability with serverless resource management, helping organizations </a:t>
            </a:r>
            <a:r>
              <a:rPr lang="en-US" sz="1000" b="1" dirty="0"/>
              <a:t>reduce compute costs without manually stopping and restarting database resources</a:t>
            </a:r>
            <a:r>
              <a:rPr lang="en-US" sz="1000" dirty="0"/>
              <a:t>.</a:t>
            </a:r>
          </a:p>
          <a:p>
            <a:pPr algn="just"/>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Public Preview: Migrate directly from Azure Arc to Azure SQL Database, including Hyperscale</a:t>
            </a:r>
            <a:endParaRPr lang="en-US" dirty="0"/>
          </a:p>
          <a:p>
            <a:pPr algn="just"/>
            <a:r>
              <a:rPr lang="en-US" b="1" dirty="0"/>
              <a:t>Azure Arc database migration</a:t>
            </a:r>
            <a:r>
              <a:rPr lang="en-US" dirty="0"/>
              <a:t> now supports </a:t>
            </a:r>
            <a:r>
              <a:rPr lang="en-US" b="1" dirty="0"/>
              <a:t>Azure SQL Database, including Hyperscale</a:t>
            </a:r>
            <a:r>
              <a:rPr lang="en-US" dirty="0"/>
              <a:t>, as migration targets directly from the Azure Arc portal experience. Organizations can move from </a:t>
            </a:r>
            <a:r>
              <a:rPr lang="en-US" b="1" dirty="0"/>
              <a:t>SQL Server estate assessment to migration configuration and monitoring</a:t>
            </a:r>
            <a:r>
              <a:rPr lang="en-US" dirty="0"/>
              <a:t> without switching between multiple Azure services and management interfaces.</a:t>
            </a:r>
          </a:p>
          <a:p>
            <a:pPr algn="just"/>
            <a:r>
              <a:rPr lang="en-US" dirty="0"/>
              <a:t>The guided workflow integrates </a:t>
            </a:r>
            <a:r>
              <a:rPr lang="en-US" b="1" dirty="0"/>
              <a:t>Azure Database Migration Service (DMS)</a:t>
            </a:r>
            <a:r>
              <a:rPr lang="en-US" dirty="0"/>
              <a:t> and </a:t>
            </a:r>
            <a:r>
              <a:rPr lang="en-US" b="1" dirty="0"/>
              <a:t>Self-hosted Integration Runtime</a:t>
            </a:r>
            <a:r>
              <a:rPr lang="en-US" dirty="0"/>
              <a:t> setup directly into the Arc migration journey. Databases identified by Azure Arc as </a:t>
            </a:r>
            <a:r>
              <a:rPr lang="en-US" b="1" dirty="0"/>
              <a:t>migration-ready can therefore be acted on immediately</a:t>
            </a:r>
            <a:r>
              <a:rPr lang="en-US" dirty="0"/>
              <a:t>, reducing the operational steps between assessment and migration.</a:t>
            </a:r>
          </a:p>
          <a:p>
            <a:pPr algn="just"/>
            <a:r>
              <a:rPr lang="en-US" dirty="0"/>
              <a:t>The same migration dashboard, monitoring capabilities, and guided methodology used for other Azure SQL destinations also apply to </a:t>
            </a:r>
            <a:r>
              <a:rPr lang="en-US" b="1" dirty="0"/>
              <a:t>Azure SQL Database Hyperscale</a:t>
            </a:r>
            <a:r>
              <a:rPr lang="en-US" dirty="0"/>
              <a:t>, reducing the need for additional migration-specific knowledge. Integration Runtime configuration is guided through the portal and only needs to be completed once.</a:t>
            </a:r>
          </a:p>
          <a:p>
            <a:pPr algn="just"/>
            <a:endParaRPr lang="en-US" dirty="0"/>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BB65169-8EFC-66FC-C597-2553E2430B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52671CF-0D1A-75D3-1EA3-8B581D8D1F52}"/>
              </a:ext>
            </a:extLst>
          </p:cNvPr>
          <p:cNvSpPr>
            <a:spLocks noGrp="1"/>
          </p:cNvSpPr>
          <p:nvPr>
            <p:ph type="body" sz="quarter" idx="10"/>
          </p:nvPr>
        </p:nvSpPr>
        <p:spPr/>
        <p:txBody>
          <a:bodyPr/>
          <a:lstStyle/>
          <a:p>
            <a:pPr algn="just"/>
            <a:r>
              <a:rPr lang="en-US" sz="1000" dirty="0">
                <a:hlinkClick r:id="rId2"/>
              </a:rPr>
              <a:t>Public preview: Script-based deployment for SQL Server on Linux Azure VM</a:t>
            </a:r>
            <a:endParaRPr lang="en-US" sz="1000" dirty="0"/>
          </a:p>
          <a:p>
            <a:pPr algn="just"/>
            <a:r>
              <a:rPr lang="en-US" sz="1000" dirty="0"/>
              <a:t>A new deployment experience for </a:t>
            </a:r>
            <a:r>
              <a:rPr lang="en-US" sz="1000" b="1" dirty="0"/>
              <a:t>SQL Server on Linux Azure Virtual Machines</a:t>
            </a:r>
            <a:r>
              <a:rPr lang="en-US" sz="1000" dirty="0"/>
              <a:t> replaces the previous dependency on </a:t>
            </a:r>
            <a:r>
              <a:rPr lang="en-US" sz="1000" b="1" dirty="0"/>
              <a:t>legacy SQL Server Marketplace images</a:t>
            </a:r>
            <a:r>
              <a:rPr lang="en-US" sz="1000" dirty="0"/>
              <a:t> with an automated, </a:t>
            </a:r>
            <a:r>
              <a:rPr lang="en-US" sz="1000" b="1" dirty="0"/>
              <a:t>script-based provisioning model</a:t>
            </a:r>
            <a:r>
              <a:rPr lang="en-US" sz="1000" dirty="0"/>
              <a:t>.</a:t>
            </a:r>
          </a:p>
          <a:p>
            <a:pPr algn="just"/>
            <a:r>
              <a:rPr lang="en-US" sz="1000" dirty="0"/>
              <a:t>Customers can now start with a </a:t>
            </a:r>
            <a:r>
              <a:rPr lang="en-US" sz="1000" b="1" dirty="0"/>
              <a:t>standard Linux Azure VM</a:t>
            </a:r>
            <a:r>
              <a:rPr lang="en-US" sz="1000" dirty="0"/>
              <a:t>, configure the operating system and infrastructure according to their requirements, and then automatically </a:t>
            </a:r>
            <a:r>
              <a:rPr lang="en-US" sz="1000" b="1" dirty="0"/>
              <a:t>install and register SQL Server</a:t>
            </a:r>
            <a:r>
              <a:rPr lang="en-US" sz="1000" dirty="0"/>
              <a:t> through an integrated deployment workflow. This provides greater flexibility in selecting and customizing the underlying Linux environment compared with using predefined Marketplace images.</a:t>
            </a:r>
          </a:p>
          <a:p>
            <a:pPr algn="just"/>
            <a:r>
              <a:rPr lang="en-US" sz="1000" dirty="0"/>
              <a:t>The new approach simplifies deployment and lifecycle management while providing more control over </a:t>
            </a:r>
            <a:r>
              <a:rPr lang="en-US" sz="1000" b="1" dirty="0"/>
              <a:t>VM configuration, operating system settings, SQL Server installation, and enterprise customization</a:t>
            </a:r>
            <a:r>
              <a:rPr lang="en-US" sz="1000" dirty="0"/>
              <a:t>. It is particularly useful for organizations that maintain </a:t>
            </a:r>
            <a:r>
              <a:rPr lang="en-US" sz="1000" b="1" dirty="0"/>
              <a:t>standardized Linux images, security baselines, or automated infrastructure deployment processes</a:t>
            </a:r>
            <a:r>
              <a:rPr lang="en-US" sz="1000" dirty="0"/>
              <a:t> while still requiring a supported and repeatable SQL Server deployment experience in Azure.</a:t>
            </a:r>
          </a:p>
          <a:p>
            <a:pPr algn="just"/>
            <a:endParaRPr lang="en-US" sz="1000" dirty="0"/>
          </a:p>
        </p:txBody>
      </p:sp>
      <p:sp>
        <p:nvSpPr>
          <p:cNvPr id="11" name="Title 10">
            <a:extLst>
              <a:ext uri="{FF2B5EF4-FFF2-40B4-BE49-F238E27FC236}">
                <a16:creationId xmlns:a16="http://schemas.microsoft.com/office/drawing/2014/main" id="{FDFA6F14-5412-5450-9615-00F77FC9D6D1}"/>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4CCBE1F6-83A7-4FF6-2626-3EB0C2A0A21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75F20067-E78C-C2F7-7A35-B9A7AC191BC2}"/>
              </a:ext>
            </a:extLst>
          </p:cNvPr>
          <p:cNvSpPr>
            <a:spLocks noGrp="1"/>
          </p:cNvSpPr>
          <p:nvPr>
            <p:ph type="body" sz="quarter" idx="16"/>
          </p:nvPr>
        </p:nvSpPr>
        <p:spPr/>
        <p:txBody>
          <a:bodyPr/>
          <a:lstStyle/>
          <a:p>
            <a:pPr algn="just"/>
            <a:r>
              <a:rPr lang="en-US" dirty="0">
                <a:hlinkClick r:id="rId3"/>
              </a:rPr>
              <a:t>Public Preview: SQL Performance Monitoring for Azure SQL Database</a:t>
            </a:r>
            <a:endParaRPr lang="en-US" dirty="0"/>
          </a:p>
          <a:p>
            <a:pPr algn="just"/>
            <a:r>
              <a:rPr lang="en-US" b="1" dirty="0"/>
              <a:t>Microsoft-managed performance monitoring for Azure SQL Database</a:t>
            </a:r>
            <a:r>
              <a:rPr lang="en-US" dirty="0"/>
              <a:t> is now available in </a:t>
            </a:r>
            <a:r>
              <a:rPr lang="en-US" b="1" dirty="0"/>
              <a:t>public preview</a:t>
            </a:r>
            <a:r>
              <a:rPr lang="en-US" dirty="0"/>
              <a:t>, providing a built-in approach to database performance monitoring without requiring custom telemetry collection scripts or separate monitoring infrastructure.</a:t>
            </a:r>
          </a:p>
          <a:p>
            <a:pPr algn="just"/>
            <a:r>
              <a:rPr lang="en-US" dirty="0"/>
              <a:t>Performance telemetry is automatically collected and sent to a </a:t>
            </a:r>
            <a:r>
              <a:rPr lang="en-US" b="1" dirty="0"/>
              <a:t>Microsoft-managed telemetry pipeline</a:t>
            </a:r>
            <a:r>
              <a:rPr lang="en-US" dirty="0"/>
              <a:t> for processing and storage. Built-in </a:t>
            </a:r>
            <a:r>
              <a:rPr lang="en-US" b="1" dirty="0"/>
              <a:t>resource-level and estate-wide dashboards</a:t>
            </a:r>
            <a:r>
              <a:rPr lang="en-US" dirty="0"/>
              <a:t> help database and operations teams identify performance trends, anomalies, and resource bottlenecks across Azure SQL Database environments.</a:t>
            </a:r>
          </a:p>
          <a:p>
            <a:pPr algn="just"/>
            <a:r>
              <a:rPr lang="en-US" dirty="0"/>
              <a:t>Integration with </a:t>
            </a:r>
            <a:r>
              <a:rPr lang="en-US" b="1" dirty="0"/>
              <a:t>Microsoft Fabric Database Hub</a:t>
            </a:r>
            <a:r>
              <a:rPr lang="en-US" dirty="0"/>
              <a:t> provides a centralized, estate-level monitoring experience alongside other database resources. For deeper investigation and custom reporting, teams can query the collected telemetry using </a:t>
            </a:r>
            <a:r>
              <a:rPr lang="en-US" b="1" dirty="0"/>
              <a:t>Kusto Query Language (KQL)</a:t>
            </a:r>
            <a:r>
              <a:rPr lang="en-US" dirty="0"/>
              <a:t> through an </a:t>
            </a:r>
            <a:r>
              <a:rPr lang="en-US" b="1" dirty="0"/>
              <a:t>RBAC-protected Azure Data Explorer proxy endpoint</a:t>
            </a:r>
            <a:r>
              <a:rPr lang="en-US" dirty="0"/>
              <a:t>.</a:t>
            </a:r>
          </a:p>
          <a:p>
            <a:pPr algn="just"/>
            <a:r>
              <a:rPr lang="en-US" dirty="0"/>
              <a:t>This capability simplifies SQL performance monitoring and is particularly valuable for organizations managing </a:t>
            </a:r>
            <a:r>
              <a:rPr lang="en-US" b="1" dirty="0"/>
              <a:t>large Azure SQL estates</a:t>
            </a:r>
            <a:r>
              <a:rPr lang="en-US" dirty="0"/>
              <a:t>, reducing the operational effort required to collect, centralize, and analyze database performance data.</a:t>
            </a:r>
          </a:p>
          <a:p>
            <a:pPr algn="just"/>
            <a:endParaRPr lang="en-US" dirty="0"/>
          </a:p>
        </p:txBody>
      </p:sp>
    </p:spTree>
    <p:extLst>
      <p:ext uri="{BB962C8B-B14F-4D97-AF65-F5344CB8AC3E}">
        <p14:creationId xmlns:p14="http://schemas.microsoft.com/office/powerpoint/2010/main" val="17720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D26900-FE6B-5CF9-B498-41DFA130B09D}"/>
              </a:ext>
            </a:extLst>
          </p:cNvPr>
          <p:cNvSpPr>
            <a:spLocks noGrp="1"/>
          </p:cNvSpPr>
          <p:nvPr>
            <p:ph type="body" sz="quarter" idx="10"/>
          </p:nvPr>
        </p:nvSpPr>
        <p:spPr/>
        <p:txBody>
          <a:bodyPr/>
          <a:lstStyle/>
          <a:p>
            <a:pPr algn="just"/>
            <a:r>
              <a:rPr lang="en-US" sz="1000" dirty="0">
                <a:hlinkClick r:id="rId2"/>
              </a:rPr>
              <a:t>Public Preview: Reader Endpoint for Azure Database for MySQL</a:t>
            </a:r>
            <a:endParaRPr lang="en-US" sz="1000" dirty="0"/>
          </a:p>
          <a:p>
            <a:pPr algn="just"/>
            <a:r>
              <a:rPr lang="en-US" sz="1000" b="1" dirty="0"/>
              <a:t>Reader Endpoint</a:t>
            </a:r>
            <a:r>
              <a:rPr lang="en-US" sz="1000" dirty="0"/>
              <a:t> support is now available in </a:t>
            </a:r>
            <a:r>
              <a:rPr lang="en-US" sz="1000" b="1" dirty="0"/>
              <a:t>public preview</a:t>
            </a:r>
            <a:r>
              <a:rPr lang="en-US" sz="1000" dirty="0"/>
              <a:t> for </a:t>
            </a:r>
            <a:r>
              <a:rPr lang="en-US" sz="1000" b="1" dirty="0"/>
              <a:t>Azure Database for MySQL Flexible Server</a:t>
            </a:r>
            <a:r>
              <a:rPr lang="en-US" sz="1000" dirty="0"/>
              <a:t>, simplifying connection management for deployments that use multiple read replicas.</a:t>
            </a:r>
          </a:p>
          <a:p>
            <a:pPr algn="just"/>
            <a:r>
              <a:rPr lang="en-US" sz="1000" dirty="0"/>
              <a:t>The capability provides a </a:t>
            </a:r>
            <a:r>
              <a:rPr lang="en-US" sz="1000" b="1" dirty="0"/>
              <a:t>single endpoint for read-only connections</a:t>
            </a:r>
            <a:r>
              <a:rPr lang="en-US" sz="1000" dirty="0"/>
              <a:t> and automatically distributes traffic across available replicas. This removes the need for applications to maintain and manage individual replica endpoints or implement their own read-traffic distribution logic.</a:t>
            </a:r>
          </a:p>
          <a:p>
            <a:pPr algn="just"/>
            <a:r>
              <a:rPr lang="en-US" sz="1000" dirty="0"/>
              <a:t>Azure Database for MySQL Flexible Server supports </a:t>
            </a:r>
            <a:r>
              <a:rPr lang="en-US" sz="1000" b="1" dirty="0"/>
              <a:t>up to 10 read replicas per primary server</a:t>
            </a:r>
            <a:r>
              <a:rPr lang="en-US" sz="1000" dirty="0"/>
              <a:t>, allowing the reader endpoint to distribute read workloads across multiple replicas as environments scale. This can improve </a:t>
            </a:r>
            <a:r>
              <a:rPr lang="en-US" sz="1000" b="1" dirty="0"/>
              <a:t>read scalability, connection management, and fault tolerance</a:t>
            </a:r>
            <a:r>
              <a:rPr lang="en-US" sz="1000" dirty="0"/>
              <a:t> for applications with significant read traffic.</a:t>
            </a:r>
          </a:p>
          <a:p>
            <a:pPr algn="just"/>
            <a:endParaRPr lang="en-US" sz="1000" dirty="0"/>
          </a:p>
        </p:txBody>
      </p:sp>
      <p:sp>
        <p:nvSpPr>
          <p:cNvPr id="3" name="Title 2">
            <a:extLst>
              <a:ext uri="{FF2B5EF4-FFF2-40B4-BE49-F238E27FC236}">
                <a16:creationId xmlns:a16="http://schemas.microsoft.com/office/drawing/2014/main" id="{DB614699-39C1-6ABF-D4B1-E959021966FC}"/>
              </a:ext>
            </a:extLst>
          </p:cNvPr>
          <p:cNvSpPr>
            <a:spLocks noGrp="1"/>
          </p:cNvSpPr>
          <p:nvPr>
            <p:ph type="title"/>
          </p:nvPr>
        </p:nvSpPr>
        <p:spPr/>
        <p:txBody>
          <a:bodyPr/>
          <a:lstStyle/>
          <a:p>
            <a:r>
              <a:rPr lang="en-US" sz="1600" dirty="0"/>
              <a:t>Databases Updates (Preview)</a:t>
            </a:r>
            <a:endParaRPr lang="en-US" dirty="0"/>
          </a:p>
        </p:txBody>
      </p:sp>
      <p:sp>
        <p:nvSpPr>
          <p:cNvPr id="4" name="Text Placeholder 3">
            <a:extLst>
              <a:ext uri="{FF2B5EF4-FFF2-40B4-BE49-F238E27FC236}">
                <a16:creationId xmlns:a16="http://schemas.microsoft.com/office/drawing/2014/main" id="{B252CDD7-8120-19A5-11BC-4C8922E3784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15D169D-B8B3-B4A0-4F62-69643FCDDD55}"/>
              </a:ext>
            </a:extLst>
          </p:cNvPr>
          <p:cNvSpPr>
            <a:spLocks noGrp="1"/>
          </p:cNvSpPr>
          <p:nvPr>
            <p:ph type="body" sz="quarter" idx="16"/>
          </p:nvPr>
        </p:nvSpPr>
        <p:spPr/>
        <p:txBody>
          <a:bodyPr/>
          <a:lstStyle/>
          <a:p>
            <a:pPr algn="just"/>
            <a:r>
              <a:rPr lang="en-US" dirty="0">
                <a:hlinkClick r:id="rId3"/>
              </a:rPr>
              <a:t>Public Preview: Major version upgrades (MVU) for Azure Database for PostgreSQL elastic clusters</a:t>
            </a:r>
            <a:endParaRPr lang="en-US" dirty="0"/>
          </a:p>
          <a:p>
            <a:pPr algn="just"/>
            <a:r>
              <a:rPr lang="en-US" b="1" dirty="0"/>
              <a:t>Major Version Upgrades (MVUs)</a:t>
            </a:r>
            <a:r>
              <a:rPr lang="en-US" dirty="0"/>
              <a:t> are now available for </a:t>
            </a:r>
            <a:r>
              <a:rPr lang="en-US" b="1" dirty="0"/>
              <a:t>Elastic Clusters in Azure Database for PostgreSQL</a:t>
            </a:r>
            <a:r>
              <a:rPr lang="en-US" dirty="0"/>
              <a:t>, enabling distributed PostgreSQL environments to be upgraded in place to a supported newer PostgreSQL version.</a:t>
            </a:r>
          </a:p>
          <a:p>
            <a:pPr algn="just"/>
            <a:r>
              <a:rPr lang="en-US" dirty="0"/>
              <a:t>The managed upgrade process eliminates the need to </a:t>
            </a:r>
            <a:r>
              <a:rPr lang="en-US" b="1" dirty="0"/>
              <a:t>provision a replacement cluster, migrate distributed/sharded data, or change application connection endpoints</a:t>
            </a:r>
            <a:r>
              <a:rPr lang="en-US" dirty="0"/>
              <a:t>. Existing cluster topology and configuration are retained, reducing the complexity and operational effort traditionally associated with major-version migrations.</a:t>
            </a:r>
          </a:p>
          <a:p>
            <a:pPr algn="just"/>
            <a:r>
              <a:rPr lang="en-US" dirty="0"/>
              <a:t>MVUs allow organizations to keep distributed PostgreSQL workloads on </a:t>
            </a:r>
            <a:r>
              <a:rPr lang="en-US" b="1" dirty="0"/>
              <a:t>supported versions</a:t>
            </a:r>
            <a:r>
              <a:rPr lang="en-US" dirty="0"/>
              <a:t> while adopting newer </a:t>
            </a:r>
            <a:r>
              <a:rPr lang="en-US" b="1" dirty="0"/>
              <a:t>PostgreSQL and </a:t>
            </a:r>
            <a:r>
              <a:rPr lang="en-US" b="1" dirty="0" err="1"/>
              <a:t>Citus</a:t>
            </a:r>
            <a:r>
              <a:rPr lang="en-US" b="1" dirty="0"/>
              <a:t> capabilities, performance improvements, and security updates</a:t>
            </a:r>
            <a:r>
              <a:rPr lang="en-US" dirty="0"/>
              <a:t>. Extending the existing Flexible Server upgrade experience to Elastic Clusters also provides a more consistent approach to PostgreSQL lifecycle management.</a:t>
            </a:r>
          </a:p>
          <a:p>
            <a:pPr algn="just"/>
            <a:r>
              <a:rPr lang="en-US" dirty="0"/>
              <a:t>For organizations operating </a:t>
            </a:r>
            <a:r>
              <a:rPr lang="en-US" b="1" dirty="0"/>
              <a:t>large-s</a:t>
            </a:r>
            <a:endParaRPr lang="en-US" dirty="0"/>
          </a:p>
          <a:p>
            <a:pPr algn="just"/>
            <a:endParaRPr lang="en-US" dirty="0"/>
          </a:p>
        </p:txBody>
      </p:sp>
    </p:spTree>
    <p:extLst>
      <p:ext uri="{BB962C8B-B14F-4D97-AF65-F5344CB8AC3E}">
        <p14:creationId xmlns:p14="http://schemas.microsoft.com/office/powerpoint/2010/main" val="483458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2EA5CF-FC5F-7DAC-F24E-65482D23BB5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C40C41-E532-F054-B5FC-9BCAD9874AF9}"/>
              </a:ext>
            </a:extLst>
          </p:cNvPr>
          <p:cNvSpPr>
            <a:spLocks noGrp="1"/>
          </p:cNvSpPr>
          <p:nvPr>
            <p:ph type="body" sz="quarter" idx="10"/>
          </p:nvPr>
        </p:nvSpPr>
        <p:spPr/>
        <p:txBody>
          <a:bodyPr/>
          <a:lstStyle/>
          <a:p>
            <a:pPr algn="just"/>
            <a:endParaRPr lang="en-US" sz="1000" dirty="0"/>
          </a:p>
        </p:txBody>
      </p:sp>
      <p:sp>
        <p:nvSpPr>
          <p:cNvPr id="3" name="Title 2">
            <a:extLst>
              <a:ext uri="{FF2B5EF4-FFF2-40B4-BE49-F238E27FC236}">
                <a16:creationId xmlns:a16="http://schemas.microsoft.com/office/drawing/2014/main" id="{09B1C5FF-EF4B-456D-C6B5-29E9E448D6EF}"/>
              </a:ext>
            </a:extLst>
          </p:cNvPr>
          <p:cNvSpPr>
            <a:spLocks noGrp="1"/>
          </p:cNvSpPr>
          <p:nvPr>
            <p:ph type="title"/>
          </p:nvPr>
        </p:nvSpPr>
        <p:spPr/>
        <p:txBody>
          <a:bodyPr/>
          <a:lstStyle/>
          <a:p>
            <a:r>
              <a:rPr lang="en-US" sz="1600" dirty="0"/>
              <a:t>Databases Updates (Preview)</a:t>
            </a:r>
            <a:endParaRPr lang="en-US" dirty="0"/>
          </a:p>
        </p:txBody>
      </p:sp>
      <p:sp>
        <p:nvSpPr>
          <p:cNvPr id="4" name="Text Placeholder 3">
            <a:extLst>
              <a:ext uri="{FF2B5EF4-FFF2-40B4-BE49-F238E27FC236}">
                <a16:creationId xmlns:a16="http://schemas.microsoft.com/office/drawing/2014/main" id="{BF6D0776-B577-A2C5-AF47-97CF79433D1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7CDB7C2-7B84-8A35-349D-16BD446B3098}"/>
              </a:ext>
            </a:extLst>
          </p:cNvPr>
          <p:cNvSpPr>
            <a:spLocks noGrp="1"/>
          </p:cNvSpPr>
          <p:nvPr>
            <p:ph type="body" sz="quarter" idx="16"/>
          </p:nvPr>
        </p:nvSpPr>
        <p:spPr/>
        <p:txBody>
          <a:bodyPr/>
          <a:lstStyle/>
          <a:p>
            <a:pPr algn="just"/>
            <a:r>
              <a:rPr lang="en-US" dirty="0">
                <a:hlinkClick r:id="rId2"/>
              </a:rPr>
              <a:t>Announcing the Public Preview of Local Time Zone Support in Azure SQL Database</a:t>
            </a:r>
            <a:endParaRPr lang="en-US" dirty="0"/>
          </a:p>
          <a:p>
            <a:pPr algn="just"/>
            <a:r>
              <a:rPr lang="en-US" b="1" dirty="0"/>
              <a:t>Azure SQL Database</a:t>
            </a:r>
            <a:r>
              <a:rPr lang="en-US" dirty="0"/>
              <a:t> now supports configuring a </a:t>
            </a:r>
            <a:r>
              <a:rPr lang="en-US" b="1" dirty="0"/>
              <a:t>local time zone at both the database and session level</a:t>
            </a:r>
            <a:r>
              <a:rPr lang="en-US" dirty="0"/>
              <a:t>, removing the previous limitation where database time was effectively fixed to UTC. Configuration is performed directly through </a:t>
            </a:r>
            <a:r>
              <a:rPr lang="en-US" b="1" dirty="0"/>
              <a:t>T-SQL</a:t>
            </a:r>
            <a:r>
              <a:rPr lang="en-US" dirty="0"/>
              <a:t>, without requiring infrastructure or client-driver changes. </a:t>
            </a:r>
          </a:p>
          <a:p>
            <a:pPr algn="just"/>
            <a:r>
              <a:rPr lang="en-US" dirty="0"/>
              <a:t>At the database level, the new </a:t>
            </a:r>
            <a:r>
              <a:rPr lang="en-US" b="1" dirty="0"/>
              <a:t>TIME_ZONE database-scoped configuration</a:t>
            </a:r>
            <a:r>
              <a:rPr lang="en-US" dirty="0"/>
              <a:t> provides a persistent setting shared by connections. Applications can also use the ANSI SQL </a:t>
            </a:r>
            <a:r>
              <a:rPr lang="en-US" b="1" dirty="0"/>
              <a:t>SET TIME ZONE</a:t>
            </a:r>
            <a:r>
              <a:rPr lang="en-US" dirty="0"/>
              <a:t> statement to override the time zone for an individual session, with precedence following </a:t>
            </a:r>
            <a:r>
              <a:rPr lang="en-US" b="1" dirty="0"/>
              <a:t>session → database → platform default (UTC)</a:t>
            </a:r>
            <a:r>
              <a:rPr lang="en-US" dirty="0"/>
              <a:t>. </a:t>
            </a:r>
          </a:p>
          <a:p>
            <a:pPr algn="just"/>
            <a:r>
              <a:rPr lang="en-US" dirty="0"/>
              <a:t>Functions including </a:t>
            </a:r>
            <a:r>
              <a:rPr lang="en-US" b="1" dirty="0"/>
              <a:t>GETDATE()</a:t>
            </a:r>
            <a:r>
              <a:rPr lang="en-US" dirty="0"/>
              <a:t>, SYSDATETIME(), CURRENT_TIMESTAMP, CURRENT_DATE, and SYSDATETIMEOFFSET() automatically reflect the effective configured time zone. Existing stored date/time values are </a:t>
            </a:r>
            <a:r>
              <a:rPr lang="en-US" b="1" dirty="0"/>
              <a:t>not converted</a:t>
            </a:r>
            <a:r>
              <a:rPr lang="en-US" dirty="0"/>
              <a:t>, and AT TIME ZONE continues to operate independently for explicit conversions. This is particularly useful for </a:t>
            </a:r>
            <a:r>
              <a:rPr lang="en-US" b="1" dirty="0"/>
              <a:t>multi-region SaaS applications and consolidation of on-premises SQL workloads</a:t>
            </a:r>
            <a:r>
              <a:rPr lang="en-US" dirty="0"/>
              <a:t>, where different databases may require different local-time semantics. It reduces application-side conversion logic while allowing multiple databases on the same Azure SQL logical server to use their own time-zone configuration.</a:t>
            </a:r>
          </a:p>
          <a:p>
            <a:pPr algn="just"/>
            <a:endParaRPr lang="en-US" dirty="0"/>
          </a:p>
        </p:txBody>
      </p:sp>
    </p:spTree>
    <p:extLst>
      <p:ext uri="{BB962C8B-B14F-4D97-AF65-F5344CB8AC3E}">
        <p14:creationId xmlns:p14="http://schemas.microsoft.com/office/powerpoint/2010/main" val="3664181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Generally Available: Vector search and vector indexes in Azure SQL</a:t>
            </a:r>
            <a:endParaRPr lang="en-US" sz="1000" dirty="0"/>
          </a:p>
          <a:p>
            <a:pPr algn="just"/>
            <a:r>
              <a:rPr lang="en-US" sz="1000" b="1" dirty="0"/>
              <a:t>Vector search and vector indexes</a:t>
            </a:r>
            <a:r>
              <a:rPr lang="en-US" sz="1000" dirty="0"/>
              <a:t> are now </a:t>
            </a:r>
            <a:r>
              <a:rPr lang="en-US" sz="1000" b="1" dirty="0"/>
              <a:t>generally available in Azure SQL Database</a:t>
            </a:r>
            <a:r>
              <a:rPr lang="en-US" sz="1000" dirty="0"/>
              <a:t>, enabling native vector similarity search directly alongside relational data. The new </a:t>
            </a:r>
            <a:r>
              <a:rPr lang="en-US" b="1" dirty="0"/>
              <a:t>CREATE VECTOR INDEX</a:t>
            </a:r>
            <a:r>
              <a:rPr lang="en-US" sz="1000" dirty="0"/>
              <a:t> and </a:t>
            </a:r>
            <a:r>
              <a:rPr lang="en-US" b="1" dirty="0"/>
              <a:t>VECTOR_SEARCH</a:t>
            </a:r>
            <a:r>
              <a:rPr lang="en-US" sz="1000" dirty="0"/>
              <a:t> T-SQL capabilities provide efficient </a:t>
            </a:r>
            <a:r>
              <a:rPr lang="en-US" sz="1000" b="1" dirty="0"/>
              <a:t>approximate nearest neighbor (ANN)</a:t>
            </a:r>
            <a:r>
              <a:rPr lang="en-US" sz="1000" dirty="0"/>
              <a:t> search based on the </a:t>
            </a:r>
            <a:r>
              <a:rPr lang="en-US" sz="1000" b="1" dirty="0" err="1"/>
              <a:t>DiskANN</a:t>
            </a:r>
            <a:r>
              <a:rPr lang="en-US" sz="1000" b="1" dirty="0"/>
              <a:t> algorithm</a:t>
            </a:r>
            <a:r>
              <a:rPr lang="en-US" sz="1000" dirty="0"/>
              <a:t>.</a:t>
            </a:r>
          </a:p>
          <a:p>
            <a:pPr algn="just"/>
            <a:r>
              <a:rPr lang="en-US" sz="1000" dirty="0"/>
              <a:t>The functionality supports AI scenarios such as </a:t>
            </a:r>
            <a:r>
              <a:rPr lang="en-US" sz="1000" b="1" dirty="0"/>
              <a:t>semantic search, Retrieval-Augmented Generation (RAG), recommendation systems, and image similarity search</a:t>
            </a:r>
            <a:r>
              <a:rPr lang="en-US" sz="1000" dirty="0"/>
              <a:t>. Vector searches can be combined directly with traditional </a:t>
            </a:r>
            <a:r>
              <a:rPr lang="en-US" sz="1000" b="1" dirty="0"/>
              <a:t>SQL queries, joins, and relational filtering</a:t>
            </a:r>
            <a:r>
              <a:rPr lang="en-US" sz="1000" dirty="0"/>
              <a:t>, allowing applications to retrieve relevant vector results while applying existing business rules and data constraints.</a:t>
            </a:r>
          </a:p>
          <a:p>
            <a:pPr algn="just"/>
            <a:r>
              <a:rPr lang="en-US" sz="1000" dirty="0"/>
              <a:t>By integrating vector retrieval directly into Azure SQL Database, organizations can build </a:t>
            </a:r>
            <a:r>
              <a:rPr lang="en-US" sz="1000" b="1" dirty="0"/>
              <a:t>AI-powered applications over existing enterprise data without deploying and operating a separate vector database</a:t>
            </a:r>
            <a:r>
              <a:rPr lang="en-US" sz="1000" dirty="0"/>
              <a:t>. This simplifies application architecture while retaining Azure SQL's existing </a:t>
            </a:r>
            <a:r>
              <a:rPr lang="en-US" sz="1000" b="1" dirty="0"/>
              <a:t>security, reliability, governance, and data management capabilities</a:t>
            </a:r>
            <a:r>
              <a:rPr lang="en-US" sz="1000" dirty="0"/>
              <a:t>.</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Generally Available: Azure SQL Managed Instance updates for late-September 2026</a:t>
            </a:r>
            <a:endParaRPr lang="en-US" dirty="0"/>
          </a:p>
          <a:p>
            <a:pPr algn="just"/>
            <a:r>
              <a:rPr lang="en-US" dirty="0"/>
              <a:t>In late September 2026, </a:t>
            </a:r>
            <a:r>
              <a:rPr lang="en-US" b="1" dirty="0"/>
              <a:t>Azure SQL Managed Instance</a:t>
            </a:r>
            <a:r>
              <a:rPr lang="en-US" dirty="0"/>
              <a:t> introduced enhancements focused on improving </a:t>
            </a:r>
            <a:r>
              <a:rPr lang="en-US" b="1" dirty="0"/>
              <a:t>resource flexibility and performance for demanding database workloads</a:t>
            </a:r>
            <a:r>
              <a:rPr lang="en-US" dirty="0"/>
              <a:t>.</a:t>
            </a:r>
          </a:p>
          <a:p>
            <a:pPr algn="just"/>
            <a:r>
              <a:rPr lang="en-US" dirty="0"/>
              <a:t>The new </a:t>
            </a:r>
            <a:r>
              <a:rPr lang="en-US" b="1" dirty="0"/>
              <a:t>Flexible Memory</a:t>
            </a:r>
            <a:r>
              <a:rPr lang="en-US" dirty="0"/>
              <a:t> capability allows customers to adjust the amount of memory assigned to a SQL Managed Instance </a:t>
            </a:r>
            <a:r>
              <a:rPr lang="en-US" b="1" dirty="0"/>
              <a:t>without changing its vCore count</a:t>
            </a:r>
            <a:r>
              <a:rPr lang="en-US" dirty="0"/>
              <a:t>. This enables more precise resource sizing, allowing memory-intensive databases to scale memory independently from compute and potentially avoid unnecessary vCore increases.</a:t>
            </a:r>
          </a:p>
          <a:p>
            <a:pPr algn="just"/>
            <a:r>
              <a:rPr lang="en-US" dirty="0"/>
              <a:t>For the </a:t>
            </a:r>
            <a:r>
              <a:rPr lang="en-US" b="1" dirty="0"/>
              <a:t>Business Critical</a:t>
            </a:r>
            <a:r>
              <a:rPr lang="en-US" dirty="0"/>
              <a:t> service tier, Microsoft has also increased </a:t>
            </a:r>
            <a:r>
              <a:rPr lang="en-US" b="1" dirty="0"/>
              <a:t>transaction log write throughput limits</a:t>
            </a:r>
            <a:r>
              <a:rPr lang="en-US" dirty="0"/>
              <a:t>, improving performance for workloads with high volumes of transactional writes. This is particularly beneficial for </a:t>
            </a:r>
            <a:r>
              <a:rPr lang="en-US" b="1" dirty="0"/>
              <a:t>high-throughput OLTP applications, batch processing, data ingestion, and other write-intensive workloads</a:t>
            </a:r>
            <a:r>
              <a:rPr lang="en-US" dirty="0"/>
              <a:t>.</a:t>
            </a:r>
          </a:p>
          <a:p>
            <a:pPr algn="just"/>
            <a:r>
              <a:rPr lang="en-US" dirty="0"/>
              <a:t>Together, these enhancements provide greater control over </a:t>
            </a:r>
            <a:r>
              <a:rPr lang="en-US" b="1" dirty="0"/>
              <a:t>performance and cost optimization</a:t>
            </a:r>
            <a:r>
              <a:rPr lang="en-US" dirty="0"/>
              <a:t>, allowing organizations to better align SQL Managed Instance resources with actual application requirements.</a:t>
            </a:r>
          </a:p>
          <a:p>
            <a:pPr algn="just"/>
            <a:endParaRPr lang="en-US" dirty="0"/>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pPr algn="just"/>
            <a:r>
              <a:rPr lang="en-US" sz="1000" dirty="0">
                <a:hlinkClick r:id="rId2"/>
              </a:rPr>
              <a:t>Generally Available: SQL Formatter</a:t>
            </a:r>
            <a:endParaRPr lang="en-US" sz="1000" dirty="0"/>
          </a:p>
          <a:p>
            <a:r>
              <a:rPr lang="en-US" sz="1000" b="1" dirty="0"/>
              <a:t>SQL Formatter for Visual Studio Code</a:t>
            </a:r>
            <a:r>
              <a:rPr lang="en-US" sz="1000" dirty="0"/>
              <a:t> is now </a:t>
            </a:r>
            <a:r>
              <a:rPr lang="en-US" sz="1000" b="1" dirty="0"/>
              <a:t>generally available</a:t>
            </a:r>
            <a:r>
              <a:rPr lang="en-US" sz="1000" dirty="0"/>
              <a:t>, providing built-in capabilities to automatically format SQL scripts directly within the development environment.</a:t>
            </a:r>
          </a:p>
          <a:p>
            <a:r>
              <a:rPr lang="en-US" sz="1000" dirty="0"/>
              <a:t>Developers can use </a:t>
            </a:r>
            <a:r>
              <a:rPr lang="en-US" sz="1000" b="1" dirty="0"/>
              <a:t>customizable formatting options</a:t>
            </a:r>
            <a:r>
              <a:rPr lang="en-US" sz="1000" dirty="0"/>
              <a:t> to align SQL code with preferred coding conventions and project standards. This reduces manual reformatting and helps maintain </a:t>
            </a:r>
            <a:r>
              <a:rPr lang="en-US" sz="1000" b="1" dirty="0"/>
              <a:t>consistent, readable, and easier-to-review SQL code</a:t>
            </a:r>
            <a:r>
              <a:rPr lang="en-US" sz="1000" dirty="0"/>
              <a:t> across projects.</a:t>
            </a:r>
          </a:p>
          <a:p>
            <a:r>
              <a:rPr lang="en-US" sz="1000" dirty="0"/>
              <a:t>The capability is particularly useful for development teams that want to enforce </a:t>
            </a:r>
            <a:r>
              <a:rPr lang="en-US" sz="1000" b="1" dirty="0"/>
              <a:t>consistent SQL formatting across shared repositories and collaborative workflows</a:t>
            </a:r>
            <a:r>
              <a:rPr lang="en-US" sz="1000" dirty="0"/>
              <a:t>. By integrating formatting directly into Visual Studio Code, developers can improve code quality and streamline everyday </a:t>
            </a:r>
            <a:r>
              <a:rPr lang="en-US" sz="1000" b="1" dirty="0"/>
              <a:t>SQL development, maintenance, and code review activities</a:t>
            </a:r>
            <a:r>
              <a:rPr lang="en-US" sz="1000" dirty="0"/>
              <a:t>.</a:t>
            </a:r>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3"/>
              </a:rPr>
              <a:t>Generally Available: SQL Migration Agent Skills for assessment, migration, and validation</a:t>
            </a:r>
            <a:endParaRPr lang="en-US" dirty="0"/>
          </a:p>
          <a:p>
            <a:pPr algn="just"/>
            <a:r>
              <a:rPr lang="en-US" b="1" dirty="0"/>
              <a:t>SQL Migration Agent Skills</a:t>
            </a:r>
            <a:r>
              <a:rPr lang="en-US" dirty="0"/>
              <a:t> introduce reusable, AI-powered capabilities designed to streamline the </a:t>
            </a:r>
            <a:r>
              <a:rPr lang="en-US" b="1" dirty="0"/>
              <a:t>end-to-end migration of SQL Server workloads to Azure</a:t>
            </a:r>
            <a:r>
              <a:rPr lang="en-US" dirty="0"/>
              <a:t>. The skills assist throughout the migration lifecycle—from initial assessment and target selection through migration execution and post-migration validation.</a:t>
            </a:r>
          </a:p>
          <a:p>
            <a:pPr algn="just"/>
            <a:r>
              <a:rPr lang="en-US" dirty="0"/>
              <a:t>They can analyze existing SQL Server workloads to identify </a:t>
            </a:r>
            <a:r>
              <a:rPr lang="en-US" b="1" dirty="0"/>
              <a:t>compatibility issues, migration blockers, risks, and readiness concerns</a:t>
            </a:r>
            <a:r>
              <a:rPr lang="en-US" dirty="0"/>
              <a:t>. Based on workload characteristics, the skills provide guidance for selecting and sizing an appropriate destination across </a:t>
            </a:r>
            <a:r>
              <a:rPr lang="en-US" b="1" dirty="0"/>
              <a:t>Azure SQL Database, Azure SQL Managed Instance, and SQL Server on Azure Virtual Machines</a:t>
            </a:r>
            <a:r>
              <a:rPr lang="en-US" dirty="0"/>
              <a:t>.</a:t>
            </a:r>
          </a:p>
          <a:p>
            <a:pPr algn="just"/>
            <a:r>
              <a:rPr lang="en-US" dirty="0"/>
              <a:t>For supported Azure SQL Database and Managed Instance scenarios, the skills can also help </a:t>
            </a:r>
            <a:r>
              <a:rPr lang="en-US" b="1" dirty="0"/>
              <a:t>automate and guide migration workflows</a:t>
            </a:r>
            <a:r>
              <a:rPr lang="en-US" dirty="0"/>
              <a:t>, reducing repetitive manual activities. After cutover, they support </a:t>
            </a:r>
            <a:r>
              <a:rPr lang="en-US" b="1" dirty="0"/>
              <a:t>post-migration validation and remediation guidance</a:t>
            </a:r>
            <a:r>
              <a:rPr lang="en-US" dirty="0"/>
              <a:t> to verify that workloads are operating as expected.</a:t>
            </a:r>
          </a:p>
          <a:p>
            <a:pPr algn="just"/>
            <a:r>
              <a:rPr lang="en-US" dirty="0"/>
              <a:t>The skills are designed to work across </a:t>
            </a:r>
            <a:r>
              <a:rPr lang="en-US" b="1" dirty="0"/>
              <a:t>multiple Microsoft interfaces while preserving migration context</a:t>
            </a:r>
            <a:r>
              <a:rPr lang="en-US" dirty="0"/>
              <a:t>, allowing teams to use AI assistance throughout the migration journey while retaining control over key architectural and migration decisions.</a:t>
            </a:r>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25B042-6AFE-F2A5-76CA-75B75BAF4638}"/>
              </a:ext>
            </a:extLst>
          </p:cNvPr>
          <p:cNvSpPr>
            <a:spLocks noGrp="1"/>
          </p:cNvSpPr>
          <p:nvPr>
            <p:ph type="body" sz="quarter" idx="10"/>
          </p:nvPr>
        </p:nvSpPr>
        <p:spPr/>
        <p:txBody>
          <a:bodyPr/>
          <a:lstStyle/>
          <a:p>
            <a:pPr algn="just"/>
            <a:r>
              <a:rPr lang="en-US" sz="1000" dirty="0">
                <a:hlinkClick r:id="rId2"/>
              </a:rPr>
              <a:t>Generally Available: SQL Server on Azure Local Disconnected (ALDO)</a:t>
            </a:r>
            <a:endParaRPr lang="en-US" sz="1000" dirty="0"/>
          </a:p>
          <a:p>
            <a:pPr algn="just"/>
            <a:r>
              <a:rPr lang="en-US" sz="1000" b="1" dirty="0"/>
              <a:t>Azure Local Disconnected Operations (ALDO)</a:t>
            </a:r>
            <a:r>
              <a:rPr lang="en-US" sz="1000" dirty="0"/>
              <a:t> extends SQL Server support to environments that cannot maintain continuous connectivity to Azure. It is designed for </a:t>
            </a:r>
            <a:r>
              <a:rPr lang="en-US" sz="1000" b="1" dirty="0"/>
              <a:t>highly regulated, secure, remote, and air-gapped environments</a:t>
            </a:r>
            <a:r>
              <a:rPr lang="en-US" sz="1000" dirty="0"/>
              <a:t> where internet connectivity is restricted or unavailable.</a:t>
            </a:r>
          </a:p>
          <a:p>
            <a:pPr algn="just"/>
            <a:r>
              <a:rPr lang="en-US" sz="1000" dirty="0"/>
              <a:t>SQL Server workloads continue to operate entirely on </a:t>
            </a:r>
            <a:r>
              <a:rPr lang="en-US" sz="1000" b="1" dirty="0"/>
              <a:t>Azure Local infrastructure</a:t>
            </a:r>
            <a:r>
              <a:rPr lang="en-US" sz="1000" dirty="0"/>
              <a:t>, providing operational independence from cloud connectivity while keeping applications and data within the local environment. This supports scenarios where </a:t>
            </a:r>
            <a:r>
              <a:rPr lang="en-US" sz="1000" b="1" dirty="0"/>
              <a:t>data sovereignty, security boundaries, and operational continuity</a:t>
            </a:r>
            <a:r>
              <a:rPr lang="en-US" sz="1000" dirty="0"/>
              <a:t> prevent reliance on persistent Azure connectivity.</a:t>
            </a:r>
          </a:p>
          <a:p>
            <a:pPr algn="just"/>
            <a:r>
              <a:rPr lang="en-US" sz="1000" dirty="0"/>
              <a:t>ALDO can also support </a:t>
            </a:r>
            <a:r>
              <a:rPr lang="en-US" sz="1000" b="1" dirty="0"/>
              <a:t>local AI and intelligent application workloads</a:t>
            </a:r>
            <a:r>
              <a:rPr lang="en-US" sz="1000" dirty="0"/>
              <a:t>, allowing SQL Server, application data, and AI models to operate within the same secured infrastructure boundary. Organizations can therefore build AI-enabled solutions that continue functioning without access to cloud-hosted AI or database services.</a:t>
            </a:r>
          </a:p>
          <a:p>
            <a:pPr algn="just"/>
            <a:endParaRPr lang="en-US" sz="1000" dirty="0"/>
          </a:p>
        </p:txBody>
      </p:sp>
      <p:sp>
        <p:nvSpPr>
          <p:cNvPr id="3" name="Title 2">
            <a:extLst>
              <a:ext uri="{FF2B5EF4-FFF2-40B4-BE49-F238E27FC236}">
                <a16:creationId xmlns:a16="http://schemas.microsoft.com/office/drawing/2014/main" id="{45427DDD-F3F7-1422-F366-FB1732ED4933}"/>
              </a:ext>
            </a:extLst>
          </p:cNvPr>
          <p:cNvSpPr>
            <a:spLocks noGrp="1"/>
          </p:cNvSpPr>
          <p:nvPr>
            <p:ph type="title"/>
          </p:nvPr>
        </p:nvSpPr>
        <p:spPr/>
        <p:txBody>
          <a:bodyPr/>
          <a:lstStyle/>
          <a:p>
            <a:r>
              <a:rPr lang="en-US" sz="1600" dirty="0"/>
              <a:t>Databases Updates (General Available)</a:t>
            </a:r>
            <a:endParaRPr lang="en-US" dirty="0"/>
          </a:p>
        </p:txBody>
      </p:sp>
      <p:sp>
        <p:nvSpPr>
          <p:cNvPr id="4" name="Text Placeholder 3">
            <a:extLst>
              <a:ext uri="{FF2B5EF4-FFF2-40B4-BE49-F238E27FC236}">
                <a16:creationId xmlns:a16="http://schemas.microsoft.com/office/drawing/2014/main" id="{CF9EF98E-70DB-F563-CB87-94979812371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8CBDB6F-9E31-FF5A-8F8B-898829D6FB66}"/>
              </a:ext>
            </a:extLst>
          </p:cNvPr>
          <p:cNvSpPr>
            <a:spLocks noGrp="1"/>
          </p:cNvSpPr>
          <p:nvPr>
            <p:ph type="body" sz="quarter" idx="16"/>
          </p:nvPr>
        </p:nvSpPr>
        <p:spPr/>
        <p:txBody>
          <a:bodyPr/>
          <a:lstStyle/>
          <a:p>
            <a:pPr algn="just"/>
            <a:r>
              <a:rPr lang="en-US" dirty="0">
                <a:hlinkClick r:id="rId3"/>
              </a:rPr>
              <a:t>Generally Available: Azure Database for PostgreSQL Flexible Server supports cross-tenant customer-managed keys (CMK)</a:t>
            </a:r>
            <a:endParaRPr lang="en-US" dirty="0"/>
          </a:p>
          <a:p>
            <a:pPr algn="just"/>
            <a:r>
              <a:rPr lang="en-US" b="1" dirty="0"/>
              <a:t>Azure Database for PostgreSQL Flexible Server</a:t>
            </a:r>
            <a:r>
              <a:rPr lang="en-US" dirty="0"/>
              <a:t> now supports </a:t>
            </a:r>
            <a:r>
              <a:rPr lang="en-US" b="1" dirty="0"/>
              <a:t>cross-tenant Customer-Managed Keys (CMK)</a:t>
            </a:r>
            <a:r>
              <a:rPr lang="en-US" dirty="0"/>
              <a:t>, allowing database encryption keys to reside in a different </a:t>
            </a:r>
            <a:r>
              <a:rPr lang="en-US" b="1" dirty="0"/>
              <a:t>Microsoft Entra tenant</a:t>
            </a:r>
            <a:r>
              <a:rPr lang="en-US" dirty="0"/>
              <a:t> from the PostgreSQL server.</a:t>
            </a:r>
          </a:p>
          <a:p>
            <a:pPr algn="just"/>
            <a:r>
              <a:rPr lang="en-US" dirty="0"/>
              <a:t>Encryption keys can be maintained in </a:t>
            </a:r>
            <a:r>
              <a:rPr lang="en-US" b="1" dirty="0"/>
              <a:t>Azure Key Vault or Azure Managed HSM</a:t>
            </a:r>
            <a:r>
              <a:rPr lang="en-US" dirty="0"/>
              <a:t>, enabling organizations to separate </a:t>
            </a:r>
            <a:r>
              <a:rPr lang="en-US" b="1" dirty="0"/>
              <a:t>database operations from encryption-key ownership and administration</a:t>
            </a:r>
            <a:r>
              <a:rPr lang="en-US" dirty="0"/>
              <a:t>. This is particularly relevant for </a:t>
            </a:r>
            <a:r>
              <a:rPr lang="en-US" b="1" dirty="0"/>
              <a:t>SaaS providers, ISVs, and managed service scenarios</a:t>
            </a:r>
            <a:r>
              <a:rPr lang="en-US" dirty="0"/>
              <a:t>, where applications and databases may operate in a service provider's tenant while customers retain control of their encryption keys.</a:t>
            </a:r>
          </a:p>
          <a:p>
            <a:pPr algn="just"/>
            <a:r>
              <a:rPr lang="en-US" dirty="0"/>
              <a:t>Customers maintain control over key lifecycle operations, including </a:t>
            </a:r>
            <a:r>
              <a:rPr lang="en-US" b="1" dirty="0"/>
              <a:t>key rotation and revocation</a:t>
            </a:r>
            <a:r>
              <a:rPr lang="en-US" dirty="0"/>
              <a:t>, independently of the service provider operating the database. This separation of duties can help organizations address </a:t>
            </a:r>
            <a:r>
              <a:rPr lang="en-US" b="1" dirty="0"/>
              <a:t>security, compliance, data sovereignty, and key ownership requirements</a:t>
            </a:r>
            <a:r>
              <a:rPr lang="en-US" dirty="0"/>
              <a:t> while continuing to use the managed PostgreSQL service.</a:t>
            </a:r>
          </a:p>
          <a:p>
            <a:pPr algn="just"/>
            <a:endParaRPr lang="en-US" dirty="0"/>
          </a:p>
        </p:txBody>
      </p:sp>
    </p:spTree>
    <p:extLst>
      <p:ext uri="{BB962C8B-B14F-4D97-AF65-F5344CB8AC3E}">
        <p14:creationId xmlns:p14="http://schemas.microsoft.com/office/powerpoint/2010/main" val="3033963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3B36CC-661D-8092-2C7B-BC3205B9067C}"/>
              </a:ext>
            </a:extLst>
          </p:cNvPr>
          <p:cNvSpPr>
            <a:spLocks noGrp="1"/>
          </p:cNvSpPr>
          <p:nvPr>
            <p:ph type="body" sz="quarter" idx="10"/>
          </p:nvPr>
        </p:nvSpPr>
        <p:spPr/>
        <p:txBody>
          <a:bodyPr/>
          <a:lstStyle/>
          <a:p>
            <a:r>
              <a:rPr lang="en-US" sz="1000" dirty="0">
                <a:hlinkClick r:id="rId2"/>
              </a:rPr>
              <a:t>Generally Available: Database DevOps in SSMS powered by SQL projects</a:t>
            </a:r>
            <a:endParaRPr lang="en-US" sz="1000" dirty="0"/>
          </a:p>
          <a:p>
            <a:r>
              <a:rPr lang="en-US" sz="1000" b="1" dirty="0"/>
              <a:t>SQL Server Management Studio (SSMS)</a:t>
            </a:r>
            <a:r>
              <a:rPr lang="en-US" sz="1000" dirty="0"/>
              <a:t> now supports </a:t>
            </a:r>
            <a:r>
              <a:rPr lang="en-US" sz="1000" b="1" dirty="0" err="1"/>
              <a:t>Microsoft.Build.Sql</a:t>
            </a:r>
            <a:r>
              <a:rPr lang="en-US" sz="1000" b="1" dirty="0"/>
              <a:t> projects</a:t>
            </a:r>
            <a:r>
              <a:rPr lang="en-US" sz="1000" dirty="0"/>
              <a:t>, bringing a project-based development model directly into the SQL database development workflow.</a:t>
            </a:r>
          </a:p>
          <a:p>
            <a:r>
              <a:rPr lang="en-US" sz="1000" dirty="0"/>
              <a:t>A SQL database project maintains a </a:t>
            </a:r>
            <a:r>
              <a:rPr lang="en-US" sz="1000" b="1" dirty="0"/>
              <a:t>local, source-controlled definition of the database schema</a:t>
            </a:r>
            <a:r>
              <a:rPr lang="en-US" sz="1000" dirty="0"/>
              <a:t>, including objects such as tables, views, stored procedures, and functions. This enables developers to manage database changes as code rather than relying only on direct modifications to running database environments.</a:t>
            </a:r>
          </a:p>
          <a:p>
            <a:r>
              <a:rPr lang="en-US" sz="1000" dirty="0"/>
              <a:t>Teams can use these projects to </a:t>
            </a:r>
            <a:r>
              <a:rPr lang="en-US" sz="1000" b="1" dirty="0"/>
              <a:t>track schema changes, collaborate through version control, review database modifications, and maintain consistent definitions across environments</a:t>
            </a:r>
            <a:r>
              <a:rPr lang="en-US" sz="1000" dirty="0"/>
              <a:t>. The project model also makes database development easier to integrate with established </a:t>
            </a:r>
            <a:r>
              <a:rPr lang="en-US" sz="1000" b="1" dirty="0"/>
              <a:t>CI/CD pipelines</a:t>
            </a:r>
            <a:r>
              <a:rPr lang="en-US" sz="1000" dirty="0"/>
              <a:t>, including automated build, validation, testing, and deployment processes.</a:t>
            </a:r>
          </a:p>
          <a:p>
            <a:r>
              <a:rPr lang="en-US" sz="1000" dirty="0"/>
              <a:t>This brings SQL database development closer to standard </a:t>
            </a:r>
            <a:r>
              <a:rPr lang="en-US" sz="1000" b="1" dirty="0"/>
              <a:t>DevOps and Infrastructure-as-Code practices</a:t>
            </a:r>
            <a:r>
              <a:rPr lang="en-US" sz="1000" dirty="0"/>
              <a:t>, improving change traceability, repeatability, and collaboration across database development teams.</a:t>
            </a:r>
          </a:p>
          <a:p>
            <a:endParaRPr lang="en-US" sz="1000" dirty="0"/>
          </a:p>
        </p:txBody>
      </p:sp>
      <p:sp>
        <p:nvSpPr>
          <p:cNvPr id="3" name="Title 2">
            <a:extLst>
              <a:ext uri="{FF2B5EF4-FFF2-40B4-BE49-F238E27FC236}">
                <a16:creationId xmlns:a16="http://schemas.microsoft.com/office/drawing/2014/main" id="{8E2AF67D-718F-2E8D-8F8F-865994A42465}"/>
              </a:ext>
            </a:extLst>
          </p:cNvPr>
          <p:cNvSpPr>
            <a:spLocks noGrp="1"/>
          </p:cNvSpPr>
          <p:nvPr>
            <p:ph type="title"/>
          </p:nvPr>
        </p:nvSpPr>
        <p:spPr/>
        <p:txBody>
          <a:bodyPr/>
          <a:lstStyle/>
          <a:p>
            <a:r>
              <a:rPr lang="en-US" sz="1800" dirty="0"/>
              <a:t>Databases Updates (General Available)</a:t>
            </a:r>
            <a:endParaRPr lang="en-US" dirty="0"/>
          </a:p>
        </p:txBody>
      </p:sp>
      <p:sp>
        <p:nvSpPr>
          <p:cNvPr id="4" name="Text Placeholder 3">
            <a:extLst>
              <a:ext uri="{FF2B5EF4-FFF2-40B4-BE49-F238E27FC236}">
                <a16:creationId xmlns:a16="http://schemas.microsoft.com/office/drawing/2014/main" id="{570CF4D7-FFF6-331E-6930-049B3097951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C9057593-DAA3-3B2C-95AA-4E4454D8FE4D}"/>
              </a:ext>
            </a:extLst>
          </p:cNvPr>
          <p:cNvSpPr>
            <a:spLocks noGrp="1"/>
          </p:cNvSpPr>
          <p:nvPr>
            <p:ph type="body" sz="quarter" idx="16"/>
          </p:nvPr>
        </p:nvSpPr>
        <p:spPr/>
        <p:txBody>
          <a:bodyPr/>
          <a:lstStyle/>
          <a:p>
            <a:pPr algn="just"/>
            <a:r>
              <a:rPr lang="en-US" dirty="0">
                <a:hlinkClick r:id="rId3"/>
              </a:rPr>
              <a:t>Generally Available: SQL Server support on Azure Local connected mode</a:t>
            </a:r>
            <a:endParaRPr lang="en-US" dirty="0"/>
          </a:p>
          <a:p>
            <a:pPr algn="just"/>
            <a:r>
              <a:rPr lang="en-US" b="1" dirty="0"/>
              <a:t>SQL Server on Azure Local</a:t>
            </a:r>
            <a:r>
              <a:rPr lang="en-US" dirty="0"/>
              <a:t> enables organizations to run SQL Server workloads on </a:t>
            </a:r>
            <a:r>
              <a:rPr lang="en-US" b="1" dirty="0"/>
              <a:t>on-premises or edge Azure Local infrastructure</a:t>
            </a:r>
            <a:r>
              <a:rPr lang="en-US" dirty="0"/>
              <a:t> while using Azure services for centralized </a:t>
            </a:r>
            <a:r>
              <a:rPr lang="en-US" b="1" dirty="0"/>
              <a:t>management, governance, monitoring, security, and licensing</a:t>
            </a:r>
            <a:r>
              <a:rPr lang="en-US" dirty="0"/>
              <a:t>.</a:t>
            </a:r>
          </a:p>
          <a:p>
            <a:pPr algn="just"/>
            <a:r>
              <a:rPr lang="en-US" dirty="0"/>
              <a:t>Integration with </a:t>
            </a:r>
            <a:r>
              <a:rPr lang="en-US" b="1" dirty="0"/>
              <a:t>Azure Arc</a:t>
            </a:r>
            <a:r>
              <a:rPr lang="en-US" dirty="0"/>
              <a:t> provides a consistent hybrid operating model, allowing SQL Server environments across </a:t>
            </a:r>
            <a:r>
              <a:rPr lang="en-US" b="1" dirty="0"/>
              <a:t>Azure Local, traditional on-premises infrastructure, edge locations, and Azure</a:t>
            </a:r>
            <a:r>
              <a:rPr lang="en-US" dirty="0"/>
              <a:t> to be managed through common Azure management and governance capabilities.</a:t>
            </a:r>
          </a:p>
          <a:p>
            <a:pPr algn="just"/>
            <a:r>
              <a:rPr lang="en-US" dirty="0"/>
              <a:t>The platform can also provide a foundation for </a:t>
            </a:r>
            <a:r>
              <a:rPr lang="en-US" b="1" dirty="0"/>
              <a:t>AI-powered applications and intelligent data solutions</a:t>
            </a:r>
            <a:r>
              <a:rPr lang="en-US" dirty="0"/>
              <a:t> that require low-latency access to operational SQL data. Sensitive data and SQL workloads can remain local while AI and analytics processing is positioned closer to the data, reducing unnecessary data movement.</a:t>
            </a:r>
          </a:p>
          <a:p>
            <a:pPr algn="just"/>
            <a:endParaRPr lang="en-US" dirty="0"/>
          </a:p>
        </p:txBody>
      </p:sp>
    </p:spTree>
    <p:extLst>
      <p:ext uri="{BB962C8B-B14F-4D97-AF65-F5344CB8AC3E}">
        <p14:creationId xmlns:p14="http://schemas.microsoft.com/office/powerpoint/2010/main" val="1046897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Azure canvases for GitHub Copilot</a:t>
            </a:r>
            <a:endParaRPr lang="en-US" dirty="0"/>
          </a:p>
          <a:p>
            <a:pPr algn="just"/>
            <a:r>
              <a:rPr lang="en-US" dirty="0"/>
              <a:t>Discover Azure canvases for GitHub Copilot, interactive shared workspaces that bring Azure tools, dashboards, and guided workflows directly alongside your Copilot conversations. Explore Azure resources, analyze costs, and build hosted skills while keeping progress, controls, and next steps visible and actionable in one workspace.</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2"/>
              </a:rPr>
              <a:t>Available today: OpenAI's GPT-6.1 Sol and Claude Sonnet 5.5 in Microsoft Copilot</a:t>
            </a:r>
            <a:endParaRPr lang="en-US" dirty="0"/>
          </a:p>
          <a:p>
            <a:pPr algn="just"/>
            <a:r>
              <a:rPr lang="en-US" dirty="0"/>
              <a:t>Microsoft has expanded </a:t>
            </a:r>
            <a:r>
              <a:rPr lang="en-US" b="1" dirty="0"/>
              <a:t>Microsoft Copilot</a:t>
            </a:r>
            <a:r>
              <a:rPr lang="en-US" dirty="0"/>
              <a:t> with two new frontier AI models: </a:t>
            </a:r>
            <a:r>
              <a:rPr lang="en-US" b="1" dirty="0"/>
              <a:t>OpenAI GPT-6.1 Sol</a:t>
            </a:r>
            <a:r>
              <a:rPr lang="en-US" dirty="0"/>
              <a:t> and </a:t>
            </a:r>
            <a:r>
              <a:rPr lang="en-US" b="1" dirty="0"/>
              <a:t>Anthropic Claude Sonnet 5.5</a:t>
            </a:r>
            <a:r>
              <a:rPr lang="en-US" dirty="0"/>
              <a:t>, giving users additional model choices for different types of work. The announcement was published on </a:t>
            </a:r>
            <a:r>
              <a:rPr lang="en-US" b="1" dirty="0"/>
              <a:t>September 30, 2026</a:t>
            </a:r>
            <a:r>
              <a:rPr lang="en-US" dirty="0"/>
              <a:t> and covers Copilot experiences including Copilot Chat, Microsoft 365 applications, Copilot Studio, and </a:t>
            </a:r>
            <a:r>
              <a:rPr lang="en-US" dirty="0" err="1"/>
              <a:t>Cowork</a:t>
            </a:r>
            <a:r>
              <a:rPr lang="en-US" dirty="0"/>
              <a:t>. </a:t>
            </a:r>
          </a:p>
          <a:p>
            <a:pPr algn="just"/>
            <a:r>
              <a:rPr lang="en-US" b="1" dirty="0"/>
              <a:t>GPT-6.1 Sol</a:t>
            </a:r>
            <a:r>
              <a:rPr lang="en-US" dirty="0"/>
              <a:t> is OpenAI's latest advanced reasoning model, with improvements particularly relevant to </a:t>
            </a:r>
            <a:r>
              <a:rPr lang="en-US" b="1" dirty="0"/>
              <a:t>agentic work, coding, computer use, and complex professional tasks</a:t>
            </a:r>
            <a:r>
              <a:rPr lang="en-US" dirty="0"/>
              <a:t>. Microsoft separately confirms that GPT-6.1 Sol is generally available through Microsoft Foundry, supporting production AI agents and applications</a:t>
            </a:r>
          </a:p>
          <a:p>
            <a:pPr algn="just"/>
            <a:r>
              <a:rPr lang="en-US" b="1" dirty="0"/>
              <a:t>Claude Sonnet 5.5</a:t>
            </a:r>
            <a:r>
              <a:rPr lang="en-US" dirty="0"/>
              <a:t> provides another model option for users and organizations working with Copilot, complementing Microsoft's existing model portfolio. The model is also available through Microsoft Foundry for developers building AI applications and agents. </a:t>
            </a:r>
          </a:p>
          <a:p>
            <a:pPr algn="just"/>
            <a:r>
              <a:rPr lang="en-US" dirty="0"/>
              <a:t>The expansion reinforces Microsoft's </a:t>
            </a:r>
            <a:r>
              <a:rPr lang="en-US" b="1" dirty="0"/>
              <a:t>multi-model strategy</a:t>
            </a:r>
            <a:r>
              <a:rPr lang="en-US" dirty="0"/>
              <a:t>, allowing Copilot experiences to use different models depending on workload requirements rather than relying on a single model family. For enterprises, this provides greater flexibility for scenarios ranging from </a:t>
            </a:r>
            <a:r>
              <a:rPr lang="en-US" b="1" dirty="0"/>
              <a:t>document creation and analysis to coding, reasoning, and agent-based workflows</a:t>
            </a:r>
            <a:r>
              <a:rPr lang="en-US" dirty="0"/>
              <a:t>. </a:t>
            </a:r>
          </a:p>
          <a:p>
            <a:pPr algn="just"/>
            <a:endParaRPr lang="en-US" dirty="0"/>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EEA42BB-AC6C-2AA7-DD8D-F72AA7FFC43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0F9F86E-2A6D-BDAE-C8EE-EE788A5258D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F72EEE0-19C4-3124-5429-91324F7E9595}"/>
              </a:ext>
            </a:extLst>
          </p:cNvPr>
          <p:cNvSpPr>
            <a:spLocks noGrp="1"/>
          </p:cNvSpPr>
          <p:nvPr>
            <p:ph type="title"/>
          </p:nvPr>
        </p:nvSpPr>
        <p:spPr/>
        <p:txBody>
          <a:bodyPr/>
          <a:lstStyle/>
          <a:p>
            <a:r>
              <a:rPr lang="en-US" sz="1800" dirty="0"/>
              <a:t>ML &amp; AI &amp; IOT Updates (Retirement)</a:t>
            </a:r>
            <a:endParaRPr lang="en-US" dirty="0"/>
          </a:p>
        </p:txBody>
      </p:sp>
      <p:sp>
        <p:nvSpPr>
          <p:cNvPr id="13" name="Text Placeholder 12">
            <a:extLst>
              <a:ext uri="{FF2B5EF4-FFF2-40B4-BE49-F238E27FC236}">
                <a16:creationId xmlns:a16="http://schemas.microsoft.com/office/drawing/2014/main" id="{B669D008-31EC-793D-3B56-C9E4F2AE37D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CB4E159-3299-1205-ACAC-F0A50D9B2BFA}"/>
              </a:ext>
            </a:extLst>
          </p:cNvPr>
          <p:cNvSpPr>
            <a:spLocks noGrp="1"/>
          </p:cNvSpPr>
          <p:nvPr>
            <p:ph type="body" sz="quarter" idx="16"/>
          </p:nvPr>
        </p:nvSpPr>
        <p:spPr/>
        <p:txBody>
          <a:bodyPr/>
          <a:lstStyle/>
          <a:p>
            <a:pPr algn="just"/>
            <a:r>
              <a:rPr lang="en-US" dirty="0">
                <a:hlinkClick r:id="rId2"/>
              </a:rPr>
              <a:t>Retirement: Azure IoT Central will be retired on September 20, 2029</a:t>
            </a:r>
            <a:endParaRPr lang="en-US" dirty="0"/>
          </a:p>
          <a:p>
            <a:pPr algn="just"/>
            <a:r>
              <a:rPr lang="en-US" dirty="0"/>
              <a:t>Microsoft will retire </a:t>
            </a:r>
            <a:r>
              <a:rPr lang="en-US" b="1" dirty="0"/>
              <a:t>Azure IoT Central on September 20, 2029</a:t>
            </a:r>
            <a:r>
              <a:rPr lang="en-US" dirty="0"/>
              <a:t>. Existing IoT Central applications can continue operating until the retirement date, but organizations should begin assessing and planning their migration well in advance.</a:t>
            </a:r>
          </a:p>
          <a:p>
            <a:pPr algn="just"/>
            <a:r>
              <a:rPr lang="en-US" dirty="0"/>
              <a:t>Microsoft is shifting future IoT investment toward more flexible Azure platform services, with </a:t>
            </a:r>
            <a:r>
              <a:rPr lang="en-US" b="1" dirty="0"/>
              <a:t>Azure IoT Hub, Device Provisioning Service (DPS), and Azure Device Registry</a:t>
            </a:r>
            <a:r>
              <a:rPr lang="en-US" dirty="0"/>
              <a:t> forming the recommended Azure-native foundation for connected-device operations. </a:t>
            </a:r>
            <a:r>
              <a:rPr lang="en-US" b="1" dirty="0"/>
              <a:t>Microsoft Fabric</a:t>
            </a:r>
            <a:r>
              <a:rPr lang="en-US" dirty="0"/>
              <a:t> is positioned for downstream </a:t>
            </a:r>
            <a:r>
              <a:rPr lang="en-US" b="1" dirty="0"/>
              <a:t>real-time analytics, dashboards, data integration, and AI-driven scenarios</a:t>
            </a:r>
            <a:r>
              <a:rPr lang="en-US" dirty="0"/>
              <a:t>.</a:t>
            </a:r>
          </a:p>
          <a:p>
            <a:pPr algn="just"/>
            <a:r>
              <a:rPr lang="en-US" dirty="0"/>
              <a:t>Unlike IoT Central's integrated SaaS experience, migration requires organizations to evaluate and redesign individual capabilities such as </a:t>
            </a:r>
            <a:r>
              <a:rPr lang="en-US" b="1" dirty="0"/>
              <a:t>device connectivity and provisioning, device lifecycle management, dashboards, data processing, analytics, and external integrations</a:t>
            </a:r>
            <a:r>
              <a:rPr lang="en-US" dirty="0"/>
              <a:t>. Existing applications, registered devices, dashboards, and integrations should therefore be inventoried and mapped to the appropriate replacement services.</a:t>
            </a:r>
          </a:p>
          <a:p>
            <a:pPr algn="just"/>
            <a:endParaRPr lang="en-US" dirty="0"/>
          </a:p>
        </p:txBody>
      </p:sp>
    </p:spTree>
    <p:extLst>
      <p:ext uri="{BB962C8B-B14F-4D97-AF65-F5344CB8AC3E}">
        <p14:creationId xmlns:p14="http://schemas.microsoft.com/office/powerpoint/2010/main" val="124760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773</TotalTime>
  <Words>7422</Words>
  <Application>Microsoft Office PowerPoint</Application>
  <PresentationFormat>On-screen Show (16:9)</PresentationFormat>
  <Paragraphs>243</Paragraphs>
  <Slides>38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Human Sans</vt:lpstr>
      <vt:lpstr>Human Sans Regular</vt:lpstr>
      <vt:lpstr>Continuum Theme</vt:lpstr>
      <vt:lpstr>Azure Times #226</vt:lpstr>
      <vt:lpstr>PowerPoint Presentation</vt:lpstr>
      <vt:lpstr>Security &amp; Identity Updates (Preview)</vt:lpstr>
      <vt:lpstr>Security &amp; Identity Updates (General Available)</vt:lpstr>
      <vt:lpstr>Security &amp; Identity Updates (General Available)</vt:lpstr>
      <vt:lpstr>PowerPoint Presentation</vt:lpstr>
      <vt:lpstr>Management &amp; Governance Updates (Preview)</vt:lpstr>
      <vt:lpstr>Management &amp; Governance Updates (General Available)</vt:lpstr>
      <vt:lpstr>Management &amp; Governance Updates (General Available)</vt:lpstr>
      <vt:lpstr>Management &amp; Governance Updates (General Available)</vt:lpstr>
      <vt:lpstr>Management &amp; Governance Updates (Retirement)</vt:lpstr>
      <vt:lpstr>PowerPoint Presentation</vt:lpstr>
      <vt:lpstr>Compute Updates (Preview)</vt:lpstr>
      <vt:lpstr>Compute Updates (General Available)</vt:lpstr>
      <vt:lpstr>Compute Updates (Retirement)</vt:lpstr>
      <vt:lpstr>Compute Updates (Retirement)</vt:lpstr>
      <vt:lpstr>Compute Updates (Retirement)</vt:lpstr>
      <vt:lpstr>Compute Updates (Retirement)</vt:lpstr>
      <vt:lpstr>PowerPoint Presentation</vt:lpstr>
      <vt:lpstr>Storage &amp; Data Updates (Preview)</vt:lpstr>
      <vt:lpstr>Storage &amp; Data Updates (General Available)</vt:lpstr>
      <vt:lpstr>PowerPoint Presentation</vt:lpstr>
      <vt:lpstr>Databases Updates (Preview)</vt:lpstr>
      <vt:lpstr>Databases Updates (Preview)</vt:lpstr>
      <vt:lpstr>Databases Updates (Preview)</vt:lpstr>
      <vt:lpstr>Databases Updates (Preview)</vt:lpstr>
      <vt:lpstr>Databases Updates (Preview)</vt:lpstr>
      <vt:lpstr>Databases Updates (General Available)</vt:lpstr>
      <vt:lpstr>Databases Updates (General Available)</vt:lpstr>
      <vt:lpstr>Databases Updates (General Available)</vt:lpstr>
      <vt:lpstr>Databases Updates (General Available)</vt:lpstr>
      <vt:lpstr>PowerPoint Presentation</vt:lpstr>
      <vt:lpstr>ML &amp; AI &amp; IOT Updates (Preview)</vt:lpstr>
      <vt:lpstr>ML &amp; AI &amp; IOT Updates (General Available)</vt:lpstr>
      <vt:lpstr>ML &amp; AI &amp; IOT Updates (Retirement)</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221</cp:revision>
  <dcterms:created xsi:type="dcterms:W3CDTF">2018-01-26T19:23:30Z</dcterms:created>
  <dcterms:modified xsi:type="dcterms:W3CDTF">2026-10-03T10:07:18Z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