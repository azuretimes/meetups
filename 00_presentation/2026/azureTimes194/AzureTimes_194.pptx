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4"/>
  </p:notesMasterIdLst>
  <p:handoutMasterIdLst>
    <p:handoutMasterId r:id="rId25"/>
  </p:handoutMasterIdLst>
  <p:sldIdLst>
    <p:sldId id="2142532340" r:id="rId5"/>
    <p:sldId id="2146847050" r:id="rId6"/>
    <p:sldId id="2146847096" r:id="rId7"/>
    <p:sldId id="2146847156" r:id="rId8"/>
    <p:sldId id="2146847134" r:id="rId9"/>
    <p:sldId id="2146847135" r:id="rId10"/>
    <p:sldId id="2146847136" r:id="rId11"/>
    <p:sldId id="2146847157" r:id="rId12"/>
    <p:sldId id="2146847052" r:id="rId13"/>
    <p:sldId id="2146847137" r:id="rId14"/>
    <p:sldId id="2146847054" r:id="rId15"/>
    <p:sldId id="2146847141" r:id="rId16"/>
    <p:sldId id="2146847058" r:id="rId17"/>
    <p:sldId id="2146847146" r:id="rId18"/>
    <p:sldId id="2146847119" r:id="rId19"/>
    <p:sldId id="2146847120" r:id="rId20"/>
    <p:sldId id="2146847085" r:id="rId21"/>
    <p:sldId id="2146847084" r:id="rId22"/>
    <p:sldId id="2146847064" r:id="rId23"/>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ection>
        <p14:section name="Management &amp; Governance" id="{34181601-6D48-4406-A525-C7B5A12C6C5B}">
          <p14:sldIdLst/>
        </p14:section>
        <p14:section name="Compute" id="{05AA80BB-8802-49AB-8336-A884227CE2F7}">
          <p14:sldIdLst>
            <p14:sldId id="2146847050"/>
            <p14:sldId id="2146847096"/>
            <p14:sldId id="2146847156"/>
            <p14:sldId id="2146847134"/>
            <p14:sldId id="2146847135"/>
            <p14:sldId id="2146847136"/>
            <p14:sldId id="2146847157"/>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41"/>
          </p14:sldIdLst>
        </p14:section>
        <p14:section name="Integration" id="{ACBD46A3-6F1C-451B-A154-0A056E0DEFF6}">
          <p14:sldIdLst/>
        </p14:section>
        <p14:section name="ML &amp; AI &amp; IOT" id="{F4E1EAF1-55E9-4CA4-8ADC-28B69C1D66D2}">
          <p14:sldIdLst>
            <p14:sldId id="2146847058"/>
            <p14:sldId id="2146847146"/>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60" autoAdjust="0"/>
    <p:restoredTop sz="94694"/>
  </p:normalViewPr>
  <p:slideViewPr>
    <p:cSldViewPr snapToGrid="0">
      <p:cViewPr varScale="1">
        <p:scale>
          <a:sx n="188" d="100"/>
          <a:sy n="188" d="100"/>
        </p:scale>
        <p:origin x="3588" y="372"/>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2/21/2026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57223" TargetMode="External"/><Relationship Id="rId2" Type="http://schemas.openxmlformats.org/officeDocument/2006/relationships/hyperlink" Target="https://azure.microsoft.com/ru-ru/updates?id=557218"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azurecompute/public-preview-automatic-zone-balance-for-virtual-machine-scale-sets/4494476"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556003" TargetMode="External"/><Relationship Id="rId2" Type="http://schemas.openxmlformats.org/officeDocument/2006/relationships/hyperlink" Target="https://azure.microsoft.com/ru-ru/updates?id=556008"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57208" TargetMode="External"/><Relationship Id="rId2" Type="http://schemas.openxmlformats.org/officeDocument/2006/relationships/hyperlink" Target="https://azure.microsoft.com/ru-ru/updates?id=557203"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57213" TargetMode="External"/><Relationship Id="rId2" Type="http://schemas.openxmlformats.org/officeDocument/2006/relationships/hyperlink" Target="https://azure.microsoft.com/ru-ru/updates?id=545784"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techcommunity.microsoft.com/blog/azurevirtualdesktopblog/rdp-shortpath-udp-over-private-link-is-now-generally-available/4494644"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57623" TargetMode="External"/><Relationship Id="rId2" Type="http://schemas.openxmlformats.org/officeDocument/2006/relationships/hyperlink" Target="https://techcommunity.microsoft.com/blog/azurestorageblog/azure-migrate-now-supporting-premium-ssd-v2-ultra-and-zrs-disks-as-targets/4495332"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techcommunity.microsoft.com/blog/microsoftdatamigration/azure-database-migration-service-expands-to-new-azure-regions/4494000"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57595" TargetMode="External"/><Relationship Id="rId2" Type="http://schemas.openxmlformats.org/officeDocument/2006/relationships/hyperlink" Target="https://techcommunity.microsoft.com/blog/azure-ai-foundry-blog/claude-sonnet-4-6-in-microsoft-foundry-frontier-performance-for-scale/4494873"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techcommunity.microsoft.com/blog/appsonazureblog/regional-endpoints-for-geo-replicated-azure-container-registries-private-preview/4496186"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#194</a:t>
            </a:r>
          </a:p>
        </p:txBody>
      </p:sp>
      <p:sp>
        <p:nvSpPr>
          <p:cNvPr id="4" name="Text Placeholder 3"/>
          <p:cNvSpPr>
            <a:spLocks noGrp="1"/>
          </p:cNvSpPr>
          <p:nvPr>
            <p:ph type="body" sz="quarter" idx="11"/>
          </p:nvPr>
        </p:nvSpPr>
        <p:spPr/>
        <p:txBody>
          <a:bodyPr/>
          <a:lstStyle/>
          <a:p>
            <a:r>
              <a:rPr lang="en-US" spc="300" dirty="0"/>
              <a:t>February 23,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Cluster mode for the agentic CLI for AKS</a:t>
            </a:r>
            <a:endParaRPr lang="en-US" sz="1000" dirty="0"/>
          </a:p>
          <a:p>
            <a:pPr algn="just"/>
            <a:r>
              <a:rPr lang="en-US" sz="1000" dirty="0"/>
              <a:t>Cluster mode for the </a:t>
            </a:r>
            <a:r>
              <a:rPr lang="en-US" sz="1000" b="1" dirty="0"/>
              <a:t>Agentic CLI for AKS</a:t>
            </a:r>
            <a:r>
              <a:rPr lang="en-US" sz="1000" dirty="0"/>
              <a:t> is now in public preview, delivering expert-level AI diagnostics directly inside your AKS cluster with stronger security boundaries and improved operational efficiency.</a:t>
            </a:r>
          </a:p>
          <a:p>
            <a:pPr algn="just"/>
            <a:r>
              <a:rPr lang="en-US" sz="1000" dirty="0"/>
              <a:t>Traditionally, diagnostic agents may inherit broad user permissions (for example, cluster-admin rights), and each user must deploy and manage their own instance. This creates both </a:t>
            </a:r>
            <a:r>
              <a:rPr lang="en-US" sz="1000" b="1" dirty="0"/>
              <a:t>security risks</a:t>
            </a:r>
            <a:r>
              <a:rPr lang="en-US" sz="1000" dirty="0"/>
              <a:t> and </a:t>
            </a:r>
            <a:r>
              <a:rPr lang="en-US" sz="1000" b="1" dirty="0"/>
              <a:t>operational overhead</a:t>
            </a:r>
            <a:r>
              <a:rPr lang="en-US" sz="1000" dirty="0"/>
              <a:t>.</a:t>
            </a:r>
          </a:p>
          <a:p>
            <a:pPr algn="just"/>
            <a:r>
              <a:rPr lang="en-US" sz="1000" dirty="0"/>
              <a:t>Cluster mode addresses these challenges by providing a </a:t>
            </a:r>
            <a:r>
              <a:rPr lang="en-US" sz="1000" b="1" dirty="0"/>
              <a:t>shared, centrally managed AI assistant</a:t>
            </a:r>
            <a:r>
              <a:rPr lang="en-US" sz="1000" dirty="0"/>
              <a:t> deployed directly into your AKS cluster.</a:t>
            </a:r>
          </a:p>
          <a:p>
            <a:pPr marL="171450" indent="-171450" algn="just">
              <a:buFont typeface="Arial" panose="020B0604020202020204" pitchFamily="34" charset="0"/>
              <a:buChar char="•"/>
            </a:pPr>
            <a:r>
              <a:rPr lang="en-US" sz="1000" dirty="0"/>
              <a:t>Fine-grained RBAC control with Azure and Kubernetes RBAC </a:t>
            </a:r>
          </a:p>
          <a:p>
            <a:pPr marL="171450" indent="-171450" algn="just">
              <a:buFont typeface="Arial" panose="020B0604020202020204" pitchFamily="34" charset="0"/>
              <a:buChar char="•"/>
            </a:pPr>
            <a:r>
              <a:rPr lang="en-US" sz="1000" dirty="0"/>
              <a:t>Shared AKS Agent instances deployed to a namespace of your choosing </a:t>
            </a:r>
          </a:p>
          <a:p>
            <a:pPr marL="171450" indent="-171450" algn="just">
              <a:buFont typeface="Arial" panose="020B0604020202020204" pitchFamily="34" charset="0"/>
              <a:buChar char="•"/>
            </a:pPr>
            <a:r>
              <a:rPr lang="en-US" sz="1000" dirty="0"/>
              <a:t>Faster CVE detection and fixes with a centrally managed image, sourced from MCR </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137040"/>
          </a:xfrm>
        </p:spPr>
        <p:txBody>
          <a:bodyPr/>
          <a:lstStyle/>
          <a:p>
            <a:pPr algn="just"/>
            <a:r>
              <a:rPr lang="en-US" dirty="0">
                <a:hlinkClick r:id="rId3"/>
              </a:rPr>
              <a:t>Public Preview: Unified tooling in the AKS MCP server</a:t>
            </a:r>
            <a:endParaRPr lang="en-US" dirty="0"/>
          </a:p>
          <a:p>
            <a:pPr algn="just"/>
            <a:r>
              <a:rPr lang="en-US" dirty="0"/>
              <a:t>Managing AKS MCP servers can be affected by the number of tools and the amount of context required, which can increase latency and cost. The unified tooling for the AKS MCP Server introduces two new tools in public preview, </a:t>
            </a:r>
            <a:r>
              <a:rPr lang="en-US" b="1" dirty="0" err="1"/>
              <a:t>call_az</a:t>
            </a:r>
            <a:r>
              <a:rPr lang="en-US" b="1" dirty="0"/>
              <a:t> </a:t>
            </a:r>
            <a:r>
              <a:rPr lang="en-US" dirty="0"/>
              <a:t>and </a:t>
            </a:r>
            <a:r>
              <a:rPr lang="en-US" b="1" dirty="0" err="1"/>
              <a:t>call_kubectl</a:t>
            </a:r>
            <a:r>
              <a:rPr lang="en-US" dirty="0"/>
              <a:t>, that enable agents to access cluster data through Azure APIs and </a:t>
            </a:r>
            <a:r>
              <a:rPr lang="en-US" dirty="0" err="1"/>
              <a:t>kubectl</a:t>
            </a:r>
            <a:r>
              <a:rPr lang="en-US" dirty="0"/>
              <a:t>. These tools consolidate existing capabilities and reduce the total number of tools in the AKS MCP by 30%.  </a:t>
            </a:r>
          </a:p>
          <a:p>
            <a:pPr algn="just"/>
            <a:r>
              <a:rPr lang="en-US" dirty="0"/>
              <a:t>The open-ended nature of these tools also brings power back to AI agent, allowing them to customize and call any </a:t>
            </a:r>
            <a:r>
              <a:rPr lang="en-US" dirty="0" err="1"/>
              <a:t>kubectl</a:t>
            </a:r>
            <a:r>
              <a:rPr lang="en-US" dirty="0"/>
              <a:t> or Azure API command of their choosing rather than being restrained by tightly-defined tools. The new tools are available starting from v0.0.12 of the AKS MCP server. </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820CCD-1C02-C28C-5AA9-BE5AF155E608}"/>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4D806AA7-AD74-24D9-D5BD-C42E0E4A9C0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9D115D2-1308-7D4A-E972-4C7D13DBD39E}"/>
              </a:ext>
            </a:extLst>
          </p:cNvPr>
          <p:cNvSpPr>
            <a:spLocks noGrp="1"/>
          </p:cNvSpPr>
          <p:nvPr>
            <p:ph type="body" sz="quarter" idx="16"/>
          </p:nvPr>
        </p:nvSpPr>
        <p:spPr/>
        <p:txBody>
          <a:bodyPr/>
          <a:lstStyle/>
          <a:p>
            <a:pPr algn="just"/>
            <a:r>
              <a:rPr lang="en-US" dirty="0">
                <a:hlinkClick r:id="rId2"/>
              </a:rPr>
              <a:t>Public Preview: Automatic zone balance for Virtual Machine Scale Sets</a:t>
            </a:r>
            <a:endParaRPr lang="en-US" dirty="0"/>
          </a:p>
          <a:p>
            <a:pPr algn="just"/>
            <a:r>
              <a:rPr lang="en-US" dirty="0"/>
              <a:t>In multi-zone deployments, VM distribution can become uneven over time due to:</a:t>
            </a:r>
          </a:p>
          <a:p>
            <a:pPr marL="171450" indent="-171450" algn="just">
              <a:buFont typeface="Arial" panose="020B0604020202020204" pitchFamily="34" charset="0"/>
              <a:buChar char="•"/>
            </a:pPr>
            <a:r>
              <a:rPr lang="en-US" dirty="0"/>
              <a:t>Manual scaling operations</a:t>
            </a:r>
          </a:p>
          <a:p>
            <a:pPr marL="171450" indent="-171450" algn="just">
              <a:buFont typeface="Arial" panose="020B0604020202020204" pitchFamily="34" charset="0"/>
              <a:buChar char="•"/>
            </a:pPr>
            <a:r>
              <a:rPr lang="en-US" dirty="0"/>
              <a:t>Capacity constraints in specific zones</a:t>
            </a:r>
          </a:p>
          <a:p>
            <a:pPr marL="171450" indent="-171450" algn="just">
              <a:buFont typeface="Arial" panose="020B0604020202020204" pitchFamily="34" charset="0"/>
              <a:buChar char="•"/>
            </a:pPr>
            <a:r>
              <a:rPr lang="en-US" dirty="0"/>
              <a:t>Rolling upgrades</a:t>
            </a:r>
          </a:p>
          <a:p>
            <a:pPr marL="171450" indent="-171450" algn="just">
              <a:buFont typeface="Arial" panose="020B0604020202020204" pitchFamily="34" charset="0"/>
              <a:buChar char="•"/>
            </a:pPr>
            <a:r>
              <a:rPr lang="en-US" dirty="0"/>
              <a:t>Partial failures</a:t>
            </a:r>
          </a:p>
          <a:p>
            <a:pPr algn="just"/>
            <a:r>
              <a:rPr lang="en-US" dirty="0"/>
              <a:t>An imbalanced distribution increases the risk that a single zone failure disproportionately impacts your application.</a:t>
            </a:r>
          </a:p>
          <a:p>
            <a:pPr algn="just"/>
            <a:r>
              <a:rPr lang="en-US" dirty="0"/>
              <a:t>Automatic Zone Balance addresses this by continuously evaluating VM placement and rebalancing as needed.</a:t>
            </a:r>
          </a:p>
          <a:p>
            <a:pPr algn="just"/>
            <a:endParaRPr lang="en-US" dirty="0"/>
          </a:p>
        </p:txBody>
      </p:sp>
      <p:pic>
        <p:nvPicPr>
          <p:cNvPr id="7" name="Picture 6">
            <a:extLst>
              <a:ext uri="{FF2B5EF4-FFF2-40B4-BE49-F238E27FC236}">
                <a16:creationId xmlns:a16="http://schemas.microsoft.com/office/drawing/2014/main" id="{E92FFA8F-D049-4667-1C53-814A7E7D6AC5}"/>
              </a:ext>
            </a:extLst>
          </p:cNvPr>
          <p:cNvPicPr>
            <a:picLocks noChangeAspect="1"/>
          </p:cNvPicPr>
          <p:nvPr/>
        </p:nvPicPr>
        <p:blipFill>
          <a:blip r:embed="rId3"/>
          <a:stretch>
            <a:fillRect/>
          </a:stretch>
        </p:blipFill>
        <p:spPr>
          <a:xfrm>
            <a:off x="4670975" y="772160"/>
            <a:ext cx="4056466" cy="3397351"/>
          </a:xfrm>
          <a:prstGeom prst="rect">
            <a:avLst/>
          </a:prstGeom>
        </p:spPr>
      </p:pic>
    </p:spTree>
    <p:extLst>
      <p:ext uri="{BB962C8B-B14F-4D97-AF65-F5344CB8AC3E}">
        <p14:creationId xmlns:p14="http://schemas.microsoft.com/office/powerpoint/2010/main" val="328796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Quota and deployment troubleshooting tools for Azure Functions Flex Consumption</a:t>
            </a:r>
            <a:endParaRPr lang="en-US" sz="1000" dirty="0"/>
          </a:p>
          <a:p>
            <a:pPr algn="just"/>
            <a:r>
              <a:rPr lang="en-US" sz="1000" dirty="0"/>
              <a:t>Azure Functions Flex Consumption introduces new platform‑integrated tools that provide clearer insight into quota availability and deployment behavior.  </a:t>
            </a:r>
          </a:p>
          <a:p>
            <a:pPr algn="just"/>
            <a:r>
              <a:rPr lang="en-US" sz="1000" dirty="0"/>
              <a:t>The quota troubleshooting experience surfaces Flex Consumption quota limits and related constraints, helping distinguish between platform‑level limits and application configuration issues when evaluating scale behavior. </a:t>
            </a:r>
          </a:p>
          <a:p>
            <a:pPr algn="just"/>
            <a:r>
              <a:rPr lang="en-US" sz="1000" dirty="0"/>
              <a:t>The deployment and troubleshooting experience provides richer diagnostics for Flex Consumption deployments, surfacing actionable signals when deployments fail or encounter validation, configuration, or readiness issues. </a:t>
            </a:r>
          </a:p>
          <a:p>
            <a:pPr algn="just"/>
            <a:r>
              <a:rPr lang="en-US" sz="1000" dirty="0"/>
              <a:t>Together, these tools improve operational visibility and reduce friction when deploying and operating workloads on the Flex Consumption plan. </a:t>
            </a:r>
          </a:p>
          <a:p>
            <a:pPr algn="just"/>
            <a:r>
              <a:rPr lang="en-US" sz="1000" dirty="0"/>
              <a:t>The Flex Consumption Quota and Flex Consumption Deployment tools are available in the Azure portal under Diagnose and solve problems.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1"/>
            <a:ext cx="3955312" cy="2761880"/>
          </a:xfrm>
        </p:spPr>
        <p:txBody>
          <a:bodyPr/>
          <a:lstStyle/>
          <a:p>
            <a:pPr algn="just"/>
            <a:r>
              <a:rPr lang="en-US" dirty="0">
                <a:hlinkClick r:id="rId3"/>
              </a:rPr>
              <a:t>Generally Available: Azure Functions .NET 10 support</a:t>
            </a:r>
            <a:endParaRPr lang="en-US" dirty="0"/>
          </a:p>
          <a:p>
            <a:pPr algn="just"/>
            <a:r>
              <a:rPr lang="en-US" dirty="0"/>
              <a:t>Azure Functions support for .NET 10 is generally available, enabling production use of the latest .NET runtime for serverless applications. </a:t>
            </a:r>
          </a:p>
          <a:p>
            <a:pPr algn="just"/>
            <a:r>
              <a:rPr lang="en-US" dirty="0"/>
              <a:t>.NET 10 is supported using the isolated worker model across all Linux and Windows Azure Functions hosting plans, except Linux Consumption. </a:t>
            </a:r>
          </a:p>
          <a:p>
            <a:pPr algn="just"/>
            <a:r>
              <a:rPr lang="en-US" dirty="0"/>
              <a:t>This release enables workloads to take advantage of the latest .NET platform improvements while continuing to use the Azure Functions programming model.  </a:t>
            </a:r>
          </a:p>
          <a:p>
            <a:pPr algn="just"/>
            <a:r>
              <a:rPr lang="en-US" dirty="0"/>
              <a:t>As part of this release, .NET 10 is supported only with the isolated worker model. The legacy in‑process model is not supported. As the Linux Consumption plan is being retired, workloads running on Linux Consumption should be migrated to the Flex Consumption plan, which supports .NET 10 using the isolated worker model. Migration guidance is available in the Azure Functions documentation.  </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a:xfrm>
            <a:off x="4433776" y="855081"/>
            <a:ext cx="4365038" cy="1877960"/>
          </a:xfrm>
        </p:spPr>
        <p:txBody>
          <a:bodyPr/>
          <a:lstStyle/>
          <a:p>
            <a:pPr algn="just"/>
            <a:r>
              <a:rPr lang="en-US" sz="1000" dirty="0">
                <a:hlinkClick r:id="rId2"/>
              </a:rPr>
              <a:t>Generally Available: Node auto-provisioning enabled clusters in AKS now support </a:t>
            </a:r>
            <a:r>
              <a:rPr lang="en-US" sz="1000" dirty="0" err="1">
                <a:hlinkClick r:id="rId2"/>
              </a:rPr>
              <a:t>LocalDNS</a:t>
            </a:r>
            <a:endParaRPr lang="en-US" sz="1000" dirty="0"/>
          </a:p>
          <a:p>
            <a:pPr algn="just"/>
            <a:r>
              <a:rPr lang="en-US" sz="1000" dirty="0"/>
              <a:t>Previously, customers could not enable </a:t>
            </a:r>
            <a:r>
              <a:rPr lang="en-US" sz="1000" b="1" dirty="0" err="1"/>
              <a:t>LocalDNS</a:t>
            </a:r>
            <a:r>
              <a:rPr lang="en-US" sz="1000" dirty="0"/>
              <a:t> on Azure Kubernetes Service (AKS) clusters that used </a:t>
            </a:r>
            <a:r>
              <a:rPr lang="en-US" sz="1000" b="1" dirty="0"/>
              <a:t>Node Auto-Provisioning</a:t>
            </a:r>
            <a:r>
              <a:rPr lang="en-US" sz="1000" dirty="0"/>
              <a:t>, limiting DNS optimization capabilities in dynamic environments.</a:t>
            </a:r>
          </a:p>
          <a:p>
            <a:pPr algn="just"/>
            <a:r>
              <a:rPr lang="en-US" sz="1000" dirty="0" err="1"/>
              <a:t>LocalDNS</a:t>
            </a:r>
            <a:r>
              <a:rPr lang="en-US" sz="1000" dirty="0"/>
              <a:t> is now </a:t>
            </a:r>
            <a:r>
              <a:rPr lang="en-US" sz="1000" b="1" dirty="0"/>
              <a:t>Generally Available (GA)</a:t>
            </a:r>
            <a:r>
              <a:rPr lang="en-US" sz="1000" dirty="0"/>
              <a:t> for AKS clusters with Node Auto-Provisioning enabled.</a:t>
            </a:r>
          </a:p>
          <a:p>
            <a:pPr algn="just"/>
            <a:r>
              <a:rPr lang="en-US" sz="1000" dirty="0"/>
              <a:t>This enhancement allows teams to use in-cluster DNS caching and resolution optimizations alongside dynamic node management.</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80"/>
            <a:ext cx="3955312" cy="1877961"/>
          </a:xfrm>
        </p:spPr>
        <p:txBody>
          <a:bodyPr/>
          <a:lstStyle/>
          <a:p>
            <a:pPr algn="just"/>
            <a:r>
              <a:rPr lang="en-US" dirty="0">
                <a:hlinkClick r:id="rId3"/>
              </a:rPr>
              <a:t>Generally Available: Node auto-provisioning support in Azure government and private cloud</a:t>
            </a:r>
            <a:endParaRPr lang="en-US" dirty="0"/>
          </a:p>
          <a:p>
            <a:pPr algn="just"/>
            <a:r>
              <a:rPr lang="en-US" dirty="0"/>
              <a:t>Azure Kubernetes Service (AKS) now provides </a:t>
            </a:r>
            <a:r>
              <a:rPr lang="en-US" b="1" dirty="0"/>
              <a:t>General Availability (GA)</a:t>
            </a:r>
            <a:r>
              <a:rPr lang="en-US" dirty="0"/>
              <a:t> support for </a:t>
            </a:r>
            <a:r>
              <a:rPr lang="en-US" b="1" dirty="0"/>
              <a:t>Node Auto-Provisioning</a:t>
            </a:r>
            <a:r>
              <a:rPr lang="en-US" dirty="0"/>
              <a:t> in Azure Government and private cloud environments.</a:t>
            </a:r>
          </a:p>
          <a:p>
            <a:pPr algn="just"/>
            <a:r>
              <a:rPr lang="en-US" dirty="0"/>
              <a:t>Node auto-provisioning eliminates the need for teams to manually size and manage compute resources for Kubernetes workloads. Instead of predefining VM sizes and node pools, AKS dynamically provisions and manages nodes based on real workload requirements.</a:t>
            </a:r>
          </a:p>
          <a:p>
            <a:pPr algn="just"/>
            <a:endParaRPr lang="en-US" dirty="0"/>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Generally Available: Instant access support for incremental snapshots of Azure Premium SSD v2 and Ultra Disk</a:t>
            </a:r>
            <a:endParaRPr lang="en-US" sz="1000" dirty="0"/>
          </a:p>
          <a:p>
            <a:pPr algn="just"/>
            <a:r>
              <a:rPr lang="en-US" sz="1000" dirty="0"/>
              <a:t>Announcing the General Availability of instant access support for incremental snapshots of Premium SSD v2 (Pv2) and Ultra Disk. This new capability enables to restore new disks immediately after creating snapshots of Pv2 and Ultra disks. Newly restored disks deliver high performance instantly, while data hydration continues rapidly in the background.  </a:t>
            </a:r>
          </a:p>
          <a:p>
            <a:pPr algn="just"/>
            <a:r>
              <a:rPr lang="en-US" sz="1000" dirty="0"/>
              <a:t>Instant access snapshots accelerate backup and recovery workflows, enabling faster environment refreshes and rapid scaling. Common use cases include:  </a:t>
            </a:r>
          </a:p>
          <a:p>
            <a:pPr marL="171450" indent="-171450" algn="just">
              <a:buFont typeface="Arial" panose="020B0604020202020204" pitchFamily="34" charset="0"/>
              <a:buChar char="•"/>
            </a:pPr>
            <a:r>
              <a:rPr lang="en-US" sz="1000" dirty="0"/>
              <a:t>Create instant backups before software updates and revert quickly if needed.  </a:t>
            </a:r>
          </a:p>
          <a:p>
            <a:pPr marL="171450" indent="-171450" algn="just">
              <a:buFont typeface="Arial" panose="020B0604020202020204" pitchFamily="34" charset="0"/>
              <a:buChar char="•"/>
            </a:pPr>
            <a:r>
              <a:rPr lang="en-US" sz="1000" dirty="0"/>
              <a:t>Quickly scale stateful applications by creating multiple copies of primary data for new instances, such as adding read-only SQL Server replicas.  </a:t>
            </a:r>
          </a:p>
          <a:p>
            <a:pPr marL="171450" indent="-171450" algn="just">
              <a:buFont typeface="Arial" panose="020B0604020202020204" pitchFamily="34" charset="0"/>
              <a:buChar char="•"/>
            </a:pPr>
            <a:r>
              <a:rPr lang="en-US" sz="1000" dirty="0"/>
              <a:t>Rapid nightly refresh of training or testing environments from the production. </a:t>
            </a:r>
          </a:p>
          <a:p>
            <a:pPr algn="just"/>
            <a:r>
              <a:rPr lang="en-US" sz="1000" dirty="0"/>
              <a:t>Instant access support for incremental snapshots of Pv2 and Ultra Disk is available in all public regions where Premium SSD v2 and Ultra Disk are supported. For pricing details, please visit Managed Disk Pricing.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a:xfrm>
            <a:off x="342900" y="855081"/>
            <a:ext cx="3955312" cy="2751720"/>
          </a:xfrm>
        </p:spPr>
        <p:txBody>
          <a:bodyPr/>
          <a:lstStyle/>
          <a:p>
            <a:pPr algn="just"/>
            <a:r>
              <a:rPr lang="en-US" dirty="0">
                <a:hlinkClick r:id="rId3"/>
              </a:rPr>
              <a:t>Generally Available: Encryption at host &amp; disk encryption sets support in node auto-provisioning</a:t>
            </a:r>
            <a:endParaRPr lang="en-US" dirty="0"/>
          </a:p>
          <a:p>
            <a:pPr algn="just"/>
            <a:r>
              <a:rPr lang="en-US" dirty="0"/>
              <a:t>Previously, AKS clusters with </a:t>
            </a:r>
            <a:r>
              <a:rPr lang="en-US" b="1" dirty="0"/>
              <a:t>Node Auto-Provisioning</a:t>
            </a:r>
            <a:r>
              <a:rPr lang="en-US" dirty="0"/>
              <a:t> enabled did not support:</a:t>
            </a:r>
          </a:p>
          <a:p>
            <a:pPr marL="171450" indent="-171450" algn="just">
              <a:buFont typeface="Arial" panose="020B0604020202020204" pitchFamily="34" charset="0"/>
              <a:buChar char="•"/>
            </a:pPr>
            <a:r>
              <a:rPr lang="en-US" b="1" dirty="0"/>
              <a:t>Encryption at Host</a:t>
            </a:r>
            <a:endParaRPr lang="en-US" dirty="0"/>
          </a:p>
          <a:p>
            <a:pPr marL="171450" indent="-171450" algn="just">
              <a:buFont typeface="Arial" panose="020B0604020202020204" pitchFamily="34" charset="0"/>
              <a:buChar char="•"/>
            </a:pPr>
            <a:r>
              <a:rPr lang="en-US" b="1" dirty="0"/>
              <a:t>Disk Encryption Sets (DES)</a:t>
            </a:r>
            <a:endParaRPr lang="en-US" dirty="0"/>
          </a:p>
          <a:p>
            <a:pPr algn="just"/>
            <a:r>
              <a:rPr lang="en-US" dirty="0"/>
              <a:t>This limitation prevented customers with strict encryption or compliance requirements from adopting node auto-provisioning.</a:t>
            </a:r>
          </a:p>
          <a:p>
            <a:pPr algn="just"/>
            <a:r>
              <a:rPr lang="en-US" dirty="0"/>
              <a:t>That gap is now closed.</a:t>
            </a:r>
          </a:p>
          <a:p>
            <a:pPr algn="just"/>
            <a:r>
              <a:rPr lang="en-US" dirty="0"/>
              <a:t>Node auto-provisioning in Azure Kubernetes Service (AKS) now supports both </a:t>
            </a:r>
            <a:r>
              <a:rPr lang="en-US" b="1" dirty="0"/>
              <a:t>Encryption at Host</a:t>
            </a:r>
            <a:r>
              <a:rPr lang="en-US" dirty="0"/>
              <a:t> and </a:t>
            </a:r>
            <a:r>
              <a:rPr lang="en-US" b="1" dirty="0"/>
              <a:t>Disk Encryption Sets</a:t>
            </a:r>
            <a:r>
              <a:rPr lang="en-US" dirty="0"/>
              <a:t>, enabling organizations to combine dynamic compute scaling with enterprise-grade encryption controls.</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03E3BD-4465-C0F8-493B-5F2CA03AD25A}"/>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3ABEBB72-F500-C8F0-7DA1-8D48CC093181}"/>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6A67DEFB-3230-9F81-208F-A156445BB22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709F8D1-A9E8-6FE9-6AEF-3D9759D1B168}"/>
              </a:ext>
            </a:extLst>
          </p:cNvPr>
          <p:cNvSpPr>
            <a:spLocks noGrp="1"/>
          </p:cNvSpPr>
          <p:nvPr>
            <p:ph type="body" sz="quarter" idx="16"/>
          </p:nvPr>
        </p:nvSpPr>
        <p:spPr/>
        <p:txBody>
          <a:bodyPr/>
          <a:lstStyle/>
          <a:p>
            <a:pPr algn="just"/>
            <a:r>
              <a:rPr lang="en-US" dirty="0">
                <a:hlinkClick r:id="rId2"/>
              </a:rPr>
              <a:t>RDP </a:t>
            </a:r>
            <a:r>
              <a:rPr lang="en-US" dirty="0" err="1">
                <a:hlinkClick r:id="rId2"/>
              </a:rPr>
              <a:t>Shortpath</a:t>
            </a:r>
            <a:r>
              <a:rPr lang="en-US" dirty="0">
                <a:hlinkClick r:id="rId2"/>
              </a:rPr>
              <a:t> (UDP) over Private Link is now generally available</a:t>
            </a:r>
            <a:endParaRPr lang="en-US" dirty="0"/>
          </a:p>
          <a:p>
            <a:pPr algn="just"/>
            <a:r>
              <a:rPr lang="en-US" dirty="0"/>
              <a:t>This release enables a direct, high‑performance, UDP‑based RDP connection between AVD session hosts and clients over Azure Private Link using RDP </a:t>
            </a:r>
            <a:r>
              <a:rPr lang="en-US" dirty="0" err="1"/>
              <a:t>Shortpath</a:t>
            </a:r>
            <a:r>
              <a:rPr lang="en-US" dirty="0"/>
              <a:t> for managed networks.</a:t>
            </a:r>
          </a:p>
          <a:p>
            <a:pPr algn="just"/>
            <a:r>
              <a:rPr lang="en-US" dirty="0"/>
              <a:t>This capability complements the existing TCP-based RDP connectivity over Private Link. Together, these options support customers with strict private network boundaries by allowing RDP traffic over both TCP and UDP transports, using defined private IPs when Private Link is in use.</a:t>
            </a:r>
          </a:p>
          <a:p>
            <a:pPr algn="just"/>
            <a:r>
              <a:rPr lang="en-US" dirty="0"/>
              <a:t>UDP support over Private Link extends Azure Virtual Desktop connectivity options for highly controlled network environments, while maintaining secure, opt-in deployment.</a:t>
            </a:r>
          </a:p>
          <a:p>
            <a:pPr algn="just"/>
            <a:r>
              <a:rPr lang="en-US" dirty="0"/>
              <a:t>For most environments, standard AVD connectivity remains the recommended approach. For organizations requiring strict private IP routing control, this GA release delivers improved performance with strong governance control.</a:t>
            </a:r>
          </a:p>
          <a:p>
            <a:pPr algn="just"/>
            <a:endParaRPr lang="en-US" dirty="0"/>
          </a:p>
          <a:p>
            <a:pPr algn="just"/>
            <a:endParaRPr lang="en-US" dirty="0"/>
          </a:p>
        </p:txBody>
      </p:sp>
    </p:spTree>
    <p:extLst>
      <p:ext uri="{BB962C8B-B14F-4D97-AF65-F5344CB8AC3E}">
        <p14:creationId xmlns:p14="http://schemas.microsoft.com/office/powerpoint/2010/main" val="38318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Azure Migrate: Now Supporting Premium SSD V2, Ultra and ZRS Disks as Targets</a:t>
            </a:r>
            <a:endParaRPr lang="en-US" sz="1000" dirty="0"/>
          </a:p>
          <a:p>
            <a:pPr algn="just"/>
            <a:r>
              <a:rPr lang="en-US" sz="1000" dirty="0"/>
              <a:t>MS is excited to announce expanded </a:t>
            </a:r>
            <a:r>
              <a:rPr lang="en-US" sz="1000" b="1" dirty="0"/>
              <a:t>assessment and migration support</a:t>
            </a:r>
            <a:r>
              <a:rPr lang="en-US" sz="1000" dirty="0"/>
              <a:t> in </a:t>
            </a:r>
            <a:r>
              <a:rPr lang="en-US" sz="1000" b="1" dirty="0"/>
              <a:t>Azure Migrate</a:t>
            </a:r>
            <a:r>
              <a:rPr lang="en-US" sz="1000" dirty="0"/>
              <a:t> for the following Azure disk types:</a:t>
            </a:r>
          </a:p>
          <a:p>
            <a:pPr marL="171450" indent="-171450" algn="just">
              <a:buFont typeface="Arial" panose="020B0604020202020204" pitchFamily="34" charset="0"/>
              <a:buChar char="•"/>
            </a:pPr>
            <a:r>
              <a:rPr lang="en-US" sz="1000" b="1" dirty="0"/>
              <a:t>Premium SSD v2</a:t>
            </a:r>
            <a:r>
              <a:rPr lang="en-US" sz="1000" dirty="0"/>
              <a:t> – Generally Available (GA)</a:t>
            </a:r>
          </a:p>
          <a:p>
            <a:pPr marL="171450" indent="-171450" algn="just">
              <a:buFont typeface="Arial" panose="020B0604020202020204" pitchFamily="34" charset="0"/>
              <a:buChar char="•"/>
            </a:pPr>
            <a:r>
              <a:rPr lang="en-US" sz="1000" b="1" dirty="0"/>
              <a:t>Zone-Redundant Storage (ZRS) Disks</a:t>
            </a:r>
            <a:r>
              <a:rPr lang="en-US" sz="1000" dirty="0"/>
              <a:t> – Generally Available (GA)</a:t>
            </a:r>
          </a:p>
          <a:p>
            <a:pPr marL="171450" indent="-171450" algn="just">
              <a:buFont typeface="Arial" panose="020B0604020202020204" pitchFamily="34" charset="0"/>
              <a:buChar char="•"/>
            </a:pPr>
            <a:r>
              <a:rPr lang="en-US" sz="1000" b="1" dirty="0"/>
              <a:t>Ultra Disk</a:t>
            </a:r>
            <a:r>
              <a:rPr lang="en-US" sz="1000" dirty="0"/>
              <a:t> – Public Preview</a:t>
            </a:r>
          </a:p>
          <a:p>
            <a:pPr algn="just"/>
            <a:r>
              <a:rPr lang="en-US" sz="1000" dirty="0"/>
              <a:t>This enhancement enables organizations to assess and migrate workloads directly to these high-performance and high-resiliency storage options with greater accuracy and confidence.</a:t>
            </a:r>
          </a:p>
          <a:p>
            <a:pPr algn="just"/>
            <a:endParaRPr lang="en-US" sz="1000" dirty="0"/>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1"/>
            <a:ext cx="3955312" cy="1283600"/>
          </a:xfrm>
        </p:spPr>
        <p:txBody>
          <a:bodyPr/>
          <a:lstStyle/>
          <a:p>
            <a:pPr algn="just"/>
            <a:r>
              <a:rPr lang="en-US" dirty="0">
                <a:hlinkClick r:id="rId3"/>
              </a:rPr>
              <a:t>Generally Available: Azure Premium SSD v2 Disk is now available in Brazil Southeast, and in a third Availability Zone in Malaysia West and Indonesia Central</a:t>
            </a:r>
            <a:endParaRPr lang="en-US" dirty="0"/>
          </a:p>
          <a:p>
            <a:pPr algn="just"/>
            <a:r>
              <a:rPr lang="en-US" dirty="0"/>
              <a:t>Azure Premium SSD v2 is now available in Brazil Southeast (a region without Availability Zone), and in a third Availability Zone in Malaysia West and Indonesia Central.</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Azure Database Migration Service Expands to New Azure Regions</a:t>
            </a:r>
            <a:endParaRPr lang="en-US" dirty="0"/>
          </a:p>
          <a:p>
            <a:pPr algn="just"/>
            <a:r>
              <a:rPr lang="en-US" dirty="0"/>
              <a:t>Azure Database Migration Service is now generally available in the following Azure regions as part of our latest regional expansion: </a:t>
            </a:r>
          </a:p>
          <a:p>
            <a:pPr marL="171450" indent="-171450" algn="just">
              <a:buFont typeface="Arial" panose="020B0604020202020204" pitchFamily="34" charset="0"/>
              <a:buChar char="•"/>
            </a:pPr>
            <a:r>
              <a:rPr lang="en-US" dirty="0"/>
              <a:t>Indonesia Central </a:t>
            </a:r>
          </a:p>
          <a:p>
            <a:pPr marL="171450" indent="-171450" algn="just">
              <a:buFont typeface="Arial" panose="020B0604020202020204" pitchFamily="34" charset="0"/>
              <a:buChar char="•"/>
            </a:pPr>
            <a:r>
              <a:rPr lang="en-US" dirty="0"/>
              <a:t>Mexico Central </a:t>
            </a:r>
          </a:p>
          <a:p>
            <a:pPr marL="171450" indent="-171450" algn="just">
              <a:buFont typeface="Arial" panose="020B0604020202020204" pitchFamily="34" charset="0"/>
              <a:buChar char="•"/>
            </a:pPr>
            <a:r>
              <a:rPr lang="en-US" dirty="0"/>
              <a:t>Poland Central </a:t>
            </a:r>
          </a:p>
          <a:p>
            <a:pPr marL="171450" indent="-171450" algn="just">
              <a:buFont typeface="Arial" panose="020B0604020202020204" pitchFamily="34" charset="0"/>
              <a:buChar char="•"/>
            </a:pPr>
            <a:r>
              <a:rPr lang="en-US" dirty="0"/>
              <a:t>Spain Central </a:t>
            </a:r>
          </a:p>
          <a:p>
            <a:pPr algn="just"/>
            <a:r>
              <a:rPr lang="en-US" dirty="0"/>
              <a:t>With this expansion, customers can run their SQL Server migration from more geographies while continuing to benefit from Azure’s enterprise-grade security, reliability, and compliance offerings.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a:xfrm>
            <a:off x="4433776" y="855081"/>
            <a:ext cx="4365038" cy="1954160"/>
          </a:xfrm>
        </p:spPr>
        <p:txBody>
          <a:bodyPr/>
          <a:lstStyle/>
          <a:p>
            <a:pPr algn="just"/>
            <a:r>
              <a:rPr lang="en-US" sz="1000" dirty="0">
                <a:hlinkClick r:id="rId2"/>
              </a:rPr>
              <a:t>Claude Sonnet 4.6 in Microsoft Foundry-Frontier Performance for Scale</a:t>
            </a:r>
            <a:endParaRPr lang="en-US" sz="1000" dirty="0"/>
          </a:p>
          <a:p>
            <a:pPr algn="just"/>
            <a:r>
              <a:rPr lang="en-US" sz="1000" dirty="0"/>
              <a:t>Claude Sonnet 4.6 is now available in </a:t>
            </a:r>
            <a:r>
              <a:rPr lang="en-US" sz="1000" b="1" dirty="0"/>
              <a:t>Microsoft Foundry</a:t>
            </a:r>
            <a:r>
              <a:rPr lang="en-US" sz="1000" dirty="0"/>
              <a:t>, delivering frontier AI performance for coding, AI agents, and enterprise knowledge work—at scale.</a:t>
            </a:r>
          </a:p>
          <a:p>
            <a:pPr algn="just"/>
            <a:r>
              <a:rPr lang="en-US" sz="1000" dirty="0"/>
              <a:t>Following the recent release of Claude Opus 4.6 (the highest performance tier), Sonnet 4.6 builds on that momentum by offering </a:t>
            </a:r>
            <a:r>
              <a:rPr lang="en-US" sz="1000" b="1" dirty="0"/>
              <a:t>near-Opus intelligence at a lower price point</a:t>
            </a:r>
            <a:r>
              <a:rPr lang="en-US" sz="1000" dirty="0"/>
              <a:t>, while often being more token-efficient than Claude Sonnet 4.5.</a:t>
            </a:r>
          </a:p>
          <a:p>
            <a:pPr algn="just"/>
            <a:r>
              <a:rPr lang="en-US" sz="1000" dirty="0"/>
              <a:t>It’s designed for teams that want advanced reasoning and productivity capabilities to make AI a practical, everyday tool for development, automation, and enterprise workflows.</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Generally Available: Anthropic Claude Sonnet 4.6 is now available on Azure Databricks</a:t>
            </a:r>
            <a:endParaRPr lang="en-US" dirty="0"/>
          </a:p>
          <a:p>
            <a:pPr algn="just"/>
            <a:r>
              <a:rPr lang="en-US" dirty="0"/>
              <a:t>Azure Databricks now supports </a:t>
            </a:r>
            <a:r>
              <a:rPr lang="en-US" b="1" dirty="0"/>
              <a:t>Anthropic Claude Sonnet 4.6</a:t>
            </a:r>
            <a:r>
              <a:rPr lang="en-US" dirty="0"/>
              <a:t> through Azure Databricks AI Model Serving.</a:t>
            </a:r>
          </a:p>
          <a:p>
            <a:pPr marL="171450" indent="-171450" algn="just">
              <a:buFont typeface="Arial" panose="020B0604020202020204" pitchFamily="34" charset="0"/>
              <a:buChar char="•"/>
            </a:pPr>
            <a:r>
              <a:rPr lang="en-US" dirty="0"/>
              <a:t>Claude Sonnet 4.6 delivers frontier-level performance for:</a:t>
            </a:r>
          </a:p>
          <a:p>
            <a:pPr marL="171450" indent="-171450" algn="just">
              <a:buFont typeface="Arial" panose="020B0604020202020204" pitchFamily="34" charset="0"/>
              <a:buChar char="•"/>
            </a:pPr>
            <a:r>
              <a:rPr lang="en-US" dirty="0"/>
              <a:t>Complex coding tasks</a:t>
            </a:r>
          </a:p>
          <a:p>
            <a:pPr marL="171450" indent="-171450" algn="just">
              <a:buFont typeface="Arial" panose="020B0604020202020204" pitchFamily="34" charset="0"/>
              <a:buChar char="•"/>
            </a:pPr>
            <a:r>
              <a:rPr lang="en-US" dirty="0"/>
              <a:t>Agentic workflows</a:t>
            </a:r>
          </a:p>
          <a:p>
            <a:pPr marL="171450" indent="-171450" algn="just">
              <a:buFont typeface="Arial" panose="020B0604020202020204" pitchFamily="34" charset="0"/>
              <a:buChar char="•"/>
            </a:pPr>
            <a:r>
              <a:rPr lang="en-US" dirty="0"/>
              <a:t>Advanced reasoning scenarios</a:t>
            </a:r>
          </a:p>
          <a:p>
            <a:pPr marL="171450" indent="-171450" algn="just">
              <a:buFont typeface="Arial" panose="020B0604020202020204" pitchFamily="34" charset="0"/>
              <a:buChar char="•"/>
            </a:pPr>
            <a:r>
              <a:rPr lang="en-US" dirty="0"/>
              <a:t>Professional knowledge work</a:t>
            </a:r>
          </a:p>
          <a:p>
            <a:pPr algn="just"/>
            <a:r>
              <a:rPr lang="en-US" dirty="0"/>
              <a:t>The model provides </a:t>
            </a:r>
            <a:r>
              <a:rPr lang="en-US" b="1" dirty="0"/>
              <a:t>fast responses</a:t>
            </a:r>
            <a:r>
              <a:rPr lang="en-US" dirty="0"/>
              <a:t> combined with controllable, extended “thinking” capabilities for more challenging problems. Compared to earlier Sonnet versions, it offers:</a:t>
            </a:r>
          </a:p>
          <a:p>
            <a:pPr marL="171450" indent="-171450" algn="just">
              <a:buFont typeface="Arial" panose="020B0604020202020204" pitchFamily="34" charset="0"/>
              <a:buChar char="•"/>
            </a:pPr>
            <a:r>
              <a:rPr lang="en-US" dirty="0"/>
              <a:t>Improved deep reasoning</a:t>
            </a:r>
          </a:p>
          <a:p>
            <a:pPr marL="171450" indent="-171450" algn="just">
              <a:buFont typeface="Arial" panose="020B0604020202020204" pitchFamily="34" charset="0"/>
              <a:buChar char="•"/>
            </a:pPr>
            <a:r>
              <a:rPr lang="en-US" dirty="0"/>
              <a:t>Stronger long-context understanding</a:t>
            </a:r>
          </a:p>
          <a:p>
            <a:pPr marL="171450" indent="-171450" algn="just">
              <a:buFont typeface="Arial" panose="020B0604020202020204" pitchFamily="34" charset="0"/>
              <a:buChar char="•"/>
            </a:pPr>
            <a:r>
              <a:rPr lang="en-US" dirty="0"/>
              <a:t>Enhanced reliability</a:t>
            </a:r>
          </a:p>
          <a:p>
            <a:pPr marL="171450" indent="-171450" algn="just">
              <a:buFont typeface="Arial" panose="020B0604020202020204" pitchFamily="34" charset="0"/>
              <a:buChar char="•"/>
            </a:pPr>
            <a:r>
              <a:rPr lang="en-US" dirty="0"/>
              <a:t>Lower price point per capability tier</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253120"/>
          </a:xfrm>
        </p:spPr>
        <p:txBody>
          <a:bodyPr/>
          <a:lstStyle/>
          <a:p>
            <a:pPr algn="just"/>
            <a:r>
              <a:rPr lang="en-US" dirty="0">
                <a:hlinkClick r:id="rId2"/>
              </a:rPr>
              <a:t>Regional Endpoints for Geo-Replicated Azure Container Registries (Private Preview)</a:t>
            </a:r>
            <a:endParaRPr lang="en-US" dirty="0"/>
          </a:p>
          <a:p>
            <a:pPr algn="just"/>
            <a:r>
              <a:rPr lang="en-US" dirty="0"/>
              <a:t>Azure announces the </a:t>
            </a:r>
            <a:r>
              <a:rPr lang="en-US" b="1" dirty="0"/>
              <a:t>private preview</a:t>
            </a:r>
            <a:r>
              <a:rPr lang="en-US" dirty="0"/>
              <a:t> of </a:t>
            </a:r>
            <a:r>
              <a:rPr lang="en-US" b="1" dirty="0"/>
              <a:t>Regional Endpoints</a:t>
            </a:r>
            <a:r>
              <a:rPr lang="en-US" dirty="0"/>
              <a:t> for geo-replicated </a:t>
            </a:r>
            <a:r>
              <a:rPr lang="en-US" b="1" dirty="0"/>
              <a:t>Azure Container Registry (ACR)</a:t>
            </a:r>
            <a:r>
              <a:rPr lang="en-US" dirty="0"/>
              <a:t> (Premium SKU).</a:t>
            </a:r>
          </a:p>
          <a:p>
            <a:pPr algn="just"/>
            <a:r>
              <a:rPr lang="en-US" dirty="0"/>
              <a:t>This new capability gives customers </a:t>
            </a:r>
            <a:r>
              <a:rPr lang="en-US" b="1" dirty="0"/>
              <a:t>explicit control over which geo-replica handles container registry operations</a:t>
            </a:r>
            <a:r>
              <a:rPr lang="en-US" dirty="0"/>
              <a:t>.</a:t>
            </a:r>
          </a:p>
          <a:p>
            <a:pPr algn="just"/>
            <a:endParaRPr lang="en-US" dirty="0"/>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506</TotalTime>
  <Words>1701</Words>
  <Application>Microsoft Office PowerPoint</Application>
  <PresentationFormat>On-screen Show (16:9)</PresentationFormat>
  <Paragraphs>111</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Human Sans</vt:lpstr>
      <vt:lpstr>Human Sans Regular</vt:lpstr>
      <vt:lpstr>Continuum Theme</vt:lpstr>
      <vt:lpstr>Azure Times #194</vt:lpstr>
      <vt:lpstr>PowerPoint Presentation</vt:lpstr>
      <vt:lpstr>Compute Updates</vt:lpstr>
      <vt:lpstr>Compute Updates</vt:lpstr>
      <vt:lpstr>Compute Updates</vt:lpstr>
      <vt:lpstr>Compute Updates</vt:lpstr>
      <vt:lpstr>Compute Updates</vt:lpstr>
      <vt:lpstr>Compute Updates</vt:lpstr>
      <vt:lpstr>PowerPoint Presentation</vt:lpstr>
      <vt:lpstr>Storage &amp; Data Updates</vt:lpstr>
      <vt:lpstr>PowerPoint Presentation</vt:lpstr>
      <vt:lpstr>Databases Updates</vt:lpstr>
      <vt:lpstr>PowerPoint Presentation</vt:lpstr>
      <vt:lpstr>ML &amp; AI &amp; IOT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125</cp:revision>
  <dcterms:created xsi:type="dcterms:W3CDTF">2018-01-26T19:23:30Z</dcterms:created>
  <dcterms:modified xsi:type="dcterms:W3CDTF">2026-02-21T10:05:12Z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