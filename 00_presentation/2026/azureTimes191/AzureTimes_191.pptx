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2" r:id="rId4"/>
  </p:sldMasterIdLst>
  <p:notesMasterIdLst>
    <p:notesMasterId r:id="rId28"/>
  </p:notesMasterIdLst>
  <p:handoutMasterIdLst>
    <p:handoutMasterId r:id="rId29"/>
  </p:handoutMasterIdLst>
  <p:sldIdLst>
    <p:sldId id="2142532340" r:id="rId5"/>
    <p:sldId id="2146847046" r:id="rId6"/>
    <p:sldId id="2146847089" r:id="rId7"/>
    <p:sldId id="2146847048" r:id="rId8"/>
    <p:sldId id="2146847049" r:id="rId9"/>
    <p:sldId id="2146847132" r:id="rId10"/>
    <p:sldId id="2146847050" r:id="rId11"/>
    <p:sldId id="2146847096" r:id="rId12"/>
    <p:sldId id="2146847135" r:id="rId13"/>
    <p:sldId id="2146847134" r:id="rId14"/>
    <p:sldId id="2146847157" r:id="rId15"/>
    <p:sldId id="2146847156" r:id="rId16"/>
    <p:sldId id="2146847136" r:id="rId17"/>
    <p:sldId id="2146847052" r:id="rId18"/>
    <p:sldId id="2146847100" r:id="rId19"/>
    <p:sldId id="2146847054" r:id="rId20"/>
    <p:sldId id="2146847103" r:id="rId21"/>
    <p:sldId id="2146847141" r:id="rId22"/>
    <p:sldId id="2146847119" r:id="rId23"/>
    <p:sldId id="2146847120" r:id="rId24"/>
    <p:sldId id="2146847085" r:id="rId25"/>
    <p:sldId id="2146847084" r:id="rId26"/>
    <p:sldId id="2146847064" r:id="rId27"/>
  </p:sldIdLst>
  <p:sldSz cx="9144000" cy="5143500" type="screen16x9"/>
  <p:notesSz cx="6858000" cy="9144000"/>
  <p:defaultTex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A752CF65-4D58-4370-B229-5F4CB000B44D}">
          <p14:sldIdLst>
            <p14:sldId id="2142532340"/>
          </p14:sldIdLst>
        </p14:section>
        <p14:section name="Networking" id="{8B3AEA99-85F7-477B-B976-48DC47AA1A88}">
          <p14:sldIdLst/>
        </p14:section>
        <p14:section name="Security &amp; Identity" id="{1AA42572-B3BD-44F7-813B-C2C647DDBB3C}">
          <p14:sldIdLst>
            <p14:sldId id="2146847046"/>
            <p14:sldId id="2146847089"/>
          </p14:sldIdLst>
        </p14:section>
        <p14:section name="Management &amp; Governance" id="{34181601-6D48-4406-A525-C7B5A12C6C5B}">
          <p14:sldIdLst>
            <p14:sldId id="2146847048"/>
            <p14:sldId id="2146847049"/>
            <p14:sldId id="2146847132"/>
          </p14:sldIdLst>
        </p14:section>
        <p14:section name="Compute" id="{05AA80BB-8802-49AB-8336-A884227CE2F7}">
          <p14:sldIdLst>
            <p14:sldId id="2146847050"/>
            <p14:sldId id="2146847096"/>
            <p14:sldId id="2146847135"/>
            <p14:sldId id="2146847134"/>
            <p14:sldId id="2146847157"/>
            <p14:sldId id="2146847156"/>
            <p14:sldId id="2146847136"/>
          </p14:sldIdLst>
        </p14:section>
        <p14:section name="Storage &amp; Data" id="{1F159046-CE0A-45BC-9D5B-6E6C95980F78}">
          <p14:sldIdLst>
            <p14:sldId id="2146847052"/>
            <p14:sldId id="2146847100"/>
          </p14:sldIdLst>
        </p14:section>
        <p14:section name="Databases" id="{AEAFAE72-AD56-48F3-926B-38BAE269038F}">
          <p14:sldIdLst>
            <p14:sldId id="2146847054"/>
            <p14:sldId id="2146847103"/>
            <p14:sldId id="2146847141"/>
          </p14:sldIdLst>
        </p14:section>
        <p14:section name="Integration" id="{ACBD46A3-6F1C-451B-A154-0A056E0DEFF6}">
          <p14:sldIdLst/>
        </p14:section>
        <p14:section name="ML &amp; AI &amp; IOT" id="{F4E1EAF1-55E9-4CA4-8ADC-28B69C1D66D2}">
          <p14:sldIdLst>
            <p14:sldId id="2146847119"/>
            <p14:sldId id="2146847120"/>
          </p14:sldIdLst>
        </p14:section>
        <p14:section name="Miscellaneous" id="{A1456D7A-93BE-4023-90AA-7269D2F177BA}">
          <p14:sldIdLst/>
        </p14:section>
        <p14:section name="End" id="{82899442-2AC4-4699-95EB-48D45B913575}">
          <p14:sldIdLst>
            <p14:sldId id="2146847085"/>
            <p14:sldId id="2146847084"/>
            <p14:sldId id="2146847064"/>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736" userDrawn="1">
          <p15:clr>
            <a:srgbClr val="A4A3A4"/>
          </p15:clr>
        </p15:guide>
        <p15:guide id="2" pos="1477"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Emily Catuzzi" initials="EC" lastIdx="19" clrIdx="9">
    <p:extLst>
      <p:ext uri="{19B8F6BF-5375-455C-9EA6-DF929625EA0E}">
        <p15:presenceInfo xmlns:p15="http://schemas.microsoft.com/office/powerpoint/2012/main" userId="S::Emily_Catuzzi@epam.com::b46d6ad4-ac70-4125-82a7-0ece5134c360" providerId="AD"/>
      </p:ext>
    </p:extLst>
  </p:cmAuthor>
  <p:cmAuthor id="1" name="Laura Brady" initials="LB" lastIdx="52" clrIdx="3">
    <p:extLst>
      <p:ext uri="{19B8F6BF-5375-455C-9EA6-DF929625EA0E}">
        <p15:presenceInfo xmlns:p15="http://schemas.microsoft.com/office/powerpoint/2012/main" userId="S::Laura_Brady@epam.com::b18c91b0-83fb-4c27-875b-18626d50463b" providerId="AD"/>
      </p:ext>
    </p:extLst>
  </p:cmAuthor>
  <p:cmAuthor id="8" name="Gretchen Rice" initials="GR" lastIdx="4" clrIdx="10">
    <p:extLst>
      <p:ext uri="{19B8F6BF-5375-455C-9EA6-DF929625EA0E}">
        <p15:presenceInfo xmlns:p15="http://schemas.microsoft.com/office/powerpoint/2012/main" userId="S::gretchen_rice@epam.com::e279efbb-a837-440d-b0bd-684dd084c605" providerId="AD"/>
      </p:ext>
    </p:extLst>
  </p:cmAuthor>
  <p:cmAuthor id="2" name="Amy Legere" initials="AL" lastIdx="5" clrIdx="5">
    <p:extLst>
      <p:ext uri="{19B8F6BF-5375-455C-9EA6-DF929625EA0E}">
        <p15:presenceInfo xmlns:p15="http://schemas.microsoft.com/office/powerpoint/2012/main" userId="S::Amy_Legere@epam.com::36c3e91a-2059-4c30-8d42-5285dd7a2555" providerId="AD"/>
      </p:ext>
    </p:extLst>
  </p:cmAuthor>
  <p:cmAuthor id="9" name="Jennifer Markowitz" initials="JM" lastIdx="1" clrIdx="11">
    <p:extLst>
      <p:ext uri="{19B8F6BF-5375-455C-9EA6-DF929625EA0E}">
        <p15:presenceInfo xmlns:p15="http://schemas.microsoft.com/office/powerpoint/2012/main" userId="S::jennifer_markowitz@epam.com::f9148081-3671-49e1-8328-0a911bc72bfd" providerId="AD"/>
      </p:ext>
    </p:extLst>
  </p:cmAuthor>
  <p:cmAuthor id="3" name="John Hatz" initials="JH" lastIdx="1" clrIdx="4">
    <p:extLst>
      <p:ext uri="{19B8F6BF-5375-455C-9EA6-DF929625EA0E}">
        <p15:presenceInfo xmlns:p15="http://schemas.microsoft.com/office/powerpoint/2012/main" userId="S-1-5-21-2676001572-3131771074-2776907194-23347" providerId="AD"/>
      </p:ext>
    </p:extLst>
  </p:cmAuthor>
  <p:cmAuthor id="10" name="Nastassia Smolskaya" initials="NS" lastIdx="11" clrIdx="12">
    <p:extLst>
      <p:ext uri="{19B8F6BF-5375-455C-9EA6-DF929625EA0E}">
        <p15:presenceInfo xmlns:p15="http://schemas.microsoft.com/office/powerpoint/2012/main" userId="S::Nastassia_Smolskaya@epam.com::8ff1f7bc-3066-491e-a683-ea021ab0c825" providerId="AD"/>
      </p:ext>
    </p:extLst>
  </p:cmAuthor>
  <p:cmAuthor id="4" name="John Hatz" initials="JH [2]" lastIdx="3" clrIdx="6">
    <p:extLst>
      <p:ext uri="{19B8F6BF-5375-455C-9EA6-DF929625EA0E}">
        <p15:presenceInfo xmlns:p15="http://schemas.microsoft.com/office/powerpoint/2012/main" userId="S::john_hatz@epam.com::7f3a8b4b-4b1e-493d-b3f9-196adf0a1de0" providerId="AD"/>
      </p:ext>
    </p:extLst>
  </p:cmAuthor>
  <p:cmAuthor id="5" name="Mariette Kouwenberg-Mooney" initials="MK" lastIdx="19" clrIdx="7">
    <p:extLst>
      <p:ext uri="{19B8F6BF-5375-455C-9EA6-DF929625EA0E}">
        <p15:presenceInfo xmlns:p15="http://schemas.microsoft.com/office/powerpoint/2012/main" userId="S::Mariette_Kouwenberg-Mooney@epam.com::e2a13c51-a5c6-436b-ad7f-addd34212f51" providerId="AD"/>
      </p:ext>
    </p:extLst>
  </p:cmAuthor>
  <p:cmAuthor id="6" name="Julie Hansberry" initials="JH" lastIdx="13" clrIdx="8">
    <p:extLst>
      <p:ext uri="{19B8F6BF-5375-455C-9EA6-DF929625EA0E}">
        <p15:presenceInfo xmlns:p15="http://schemas.microsoft.com/office/powerpoint/2012/main" userId="S::julie_hansberry@epam.com::6cd6a8f9-b761-4260-92e9-1b9e9757868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5D43"/>
    <a:srgbClr val="CADC49"/>
    <a:srgbClr val="E53B2E"/>
    <a:srgbClr val="FFC000"/>
    <a:srgbClr val="D35D47"/>
    <a:srgbClr val="008ACF"/>
    <a:srgbClr val="76CDD8"/>
    <a:srgbClr val="75A0A6"/>
    <a:srgbClr val="569BA5"/>
    <a:srgbClr val="EDC13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0B79132-3F09-4EB7-9156-AFD2ABE5B897}" v="37" dt="2021-04-12T18:27:46.96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591" autoAdjust="0"/>
    <p:restoredTop sz="94694"/>
  </p:normalViewPr>
  <p:slideViewPr>
    <p:cSldViewPr snapToGrid="0">
      <p:cViewPr varScale="1">
        <p:scale>
          <a:sx n="199" d="100"/>
          <a:sy n="199" d="100"/>
        </p:scale>
        <p:origin x="3228" y="150"/>
      </p:cViewPr>
      <p:guideLst/>
    </p:cSldViewPr>
  </p:slideViewPr>
  <p:notesTextViewPr>
    <p:cViewPr>
      <p:scale>
        <a:sx n="1" d="1"/>
        <a:sy n="1" d="1"/>
      </p:scale>
      <p:origin x="0" y="0"/>
    </p:cViewPr>
  </p:notesTextViewPr>
  <p:notesViewPr>
    <p:cSldViewPr snapToGrid="0">
      <p:cViewPr varScale="1">
        <p:scale>
          <a:sx n="121" d="100"/>
          <a:sy n="121" d="100"/>
        </p:scale>
        <p:origin x="7662" y="90"/>
      </p:cViewPr>
      <p:guideLst>
        <p:guide orient="horz" pos="2736"/>
        <p:guide pos="1477"/>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commentAuthors" Target="commentAuthors.xml"/><Relationship Id="rId35" Type="http://schemas.microsoft.com/office/2015/10/relationships/revisionInfo" Target="revisionInfo.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FDC14FC-A894-4869-A797-1EC82735D106}" type="datetimeFigureOut">
              <a:rPr lang="en-US" smtClean="0"/>
              <a:t>1/31/2026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CD33E97-F2BE-44DB-A57D-0C85E2CBF508}" type="slidenum">
              <a:rPr lang="en-US" smtClean="0"/>
              <a:t>‹#›</a:t>
            </a:fld>
            <a:endParaRPr lang="en-US"/>
          </a:p>
        </p:txBody>
      </p:sp>
    </p:spTree>
    <p:extLst>
      <p:ext uri="{BB962C8B-B14F-4D97-AF65-F5344CB8AC3E}">
        <p14:creationId xmlns:p14="http://schemas.microsoft.com/office/powerpoint/2010/main" val="29677781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4F99C05-63F9-4248-8E20-3ACD9DF9DE7F}" type="datetimeFigureOut">
              <a:rPr lang="en-US" smtClean="0"/>
              <a:t>1/31/2026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74FABB-6DBE-47C4-B626-20167906F475}" type="slidenum">
              <a:rPr lang="en-US" smtClean="0"/>
              <a:t>‹#›</a:t>
            </a:fld>
            <a:endParaRPr lang="en-US"/>
          </a:p>
        </p:txBody>
      </p:sp>
    </p:spTree>
    <p:extLst>
      <p:ext uri="{BB962C8B-B14F-4D97-AF65-F5344CB8AC3E}">
        <p14:creationId xmlns:p14="http://schemas.microsoft.com/office/powerpoint/2010/main" val="4274864021"/>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74FABB-6DBE-47C4-B626-20167906F475}" type="slidenum">
              <a:rPr lang="en-US" smtClean="0"/>
              <a:t>1</a:t>
            </a:fld>
            <a:endParaRPr lang="en-US"/>
          </a:p>
        </p:txBody>
      </p:sp>
    </p:spTree>
    <p:extLst>
      <p:ext uri="{BB962C8B-B14F-4D97-AF65-F5344CB8AC3E}">
        <p14:creationId xmlns:p14="http://schemas.microsoft.com/office/powerpoint/2010/main" val="41441448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userDrawn="1">
  <p:cSld name="Cover Text">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42900" y="1200151"/>
            <a:ext cx="8458200" cy="2228850"/>
          </a:xfrm>
        </p:spPr>
        <p:txBody>
          <a:bodyPr lIns="0" tIns="0" rIns="0" bIns="0" anchor="b">
            <a:noAutofit/>
          </a:bodyPr>
          <a:lstStyle>
            <a:lvl1pPr algn="l">
              <a:lnSpc>
                <a:spcPct val="85000"/>
              </a:lnSpc>
              <a:defRPr sz="9000" b="0" i="0">
                <a:solidFill>
                  <a:schemeClr val="accent3"/>
                </a:solidFill>
                <a:latin typeface="+mj-lt"/>
                <a:ea typeface="Human Sans Thin" pitchFamily="2" charset="77"/>
                <a:cs typeface="Human Sans Thin" pitchFamily="2" charset="77"/>
              </a:defRPr>
            </a:lvl1pPr>
          </a:lstStyle>
          <a:p>
            <a:r>
              <a:rPr lang="en-US"/>
              <a:t>Proposal</a:t>
            </a:r>
            <a:br>
              <a:rPr lang="en-US"/>
            </a:br>
            <a:r>
              <a:rPr lang="en-US"/>
              <a:t>Title</a:t>
            </a:r>
          </a:p>
        </p:txBody>
      </p:sp>
      <p:sp>
        <p:nvSpPr>
          <p:cNvPr id="8" name="Text Placeholder 7"/>
          <p:cNvSpPr>
            <a:spLocks noGrp="1"/>
          </p:cNvSpPr>
          <p:nvPr>
            <p:ph type="body" sz="quarter" idx="11" hasCustomPrompt="1"/>
          </p:nvPr>
        </p:nvSpPr>
        <p:spPr>
          <a:xfrm>
            <a:off x="342900" y="3600450"/>
            <a:ext cx="8455914" cy="171450"/>
          </a:xfrm>
        </p:spPr>
        <p:txBody>
          <a:bodyPr lIns="0" tIns="0" rIns="0" bIns="0" anchor="t">
            <a:noAutofit/>
          </a:bodyPr>
          <a:lstStyle>
            <a:lvl1pPr marL="0" indent="0">
              <a:lnSpc>
                <a:spcPct val="100000"/>
              </a:lnSpc>
              <a:spcBef>
                <a:spcPts val="0"/>
              </a:spcBef>
              <a:spcAft>
                <a:spcPts val="0"/>
              </a:spcAft>
              <a:buNone/>
              <a:defRPr sz="1200" b="0" i="0" baseline="0">
                <a:solidFill>
                  <a:schemeClr val="bg1"/>
                </a:solidFill>
                <a:latin typeface="+mn-lt"/>
                <a:ea typeface="Calibri" panose="020F0502020204030204" pitchFamily="34" charset="0"/>
                <a:cs typeface="Calibri" panose="020F0502020204030204" pitchFamily="34" charset="0"/>
              </a:defRPr>
            </a:lvl1pPr>
            <a:lvl2pPr>
              <a:defRPr sz="1200">
                <a:solidFill>
                  <a:schemeClr val="bg1"/>
                </a:solidFill>
              </a:defRPr>
            </a:lvl2pPr>
            <a:lvl3pPr>
              <a:defRPr sz="1200">
                <a:solidFill>
                  <a:schemeClr val="bg1"/>
                </a:solidFill>
              </a:defRPr>
            </a:lvl3pPr>
            <a:lvl4pPr>
              <a:defRPr sz="1200">
                <a:solidFill>
                  <a:schemeClr val="bg1"/>
                </a:solidFill>
              </a:defRPr>
            </a:lvl4pPr>
            <a:lvl5pPr>
              <a:defRPr sz="1200">
                <a:solidFill>
                  <a:schemeClr val="bg1"/>
                </a:solidFill>
              </a:defRPr>
            </a:lvl5pPr>
          </a:lstStyle>
          <a:p>
            <a:r>
              <a:rPr lang="en-US"/>
              <a:t>Subtitle description</a:t>
            </a:r>
          </a:p>
        </p:txBody>
      </p:sp>
      <p:sp>
        <p:nvSpPr>
          <p:cNvPr id="5" name="Text Placeholder 4"/>
          <p:cNvSpPr>
            <a:spLocks noGrp="1"/>
          </p:cNvSpPr>
          <p:nvPr>
            <p:ph type="body" sz="quarter" idx="12" hasCustomPrompt="1"/>
          </p:nvPr>
        </p:nvSpPr>
        <p:spPr>
          <a:xfrm>
            <a:off x="342900" y="3864095"/>
            <a:ext cx="1988344" cy="171450"/>
          </a:xfrm>
        </p:spPr>
        <p:txBody>
          <a:bodyPr/>
          <a:lstStyle>
            <a:lvl1pPr>
              <a:lnSpc>
                <a:spcPct val="100000"/>
              </a:lnSpc>
              <a:spcBef>
                <a:spcPts val="0"/>
              </a:spcBef>
              <a:defRPr sz="900" b="0" i="0" cap="all" baseline="0">
                <a:solidFill>
                  <a:schemeClr val="bg1"/>
                </a:solidFill>
                <a:latin typeface="+mn-lt"/>
              </a:defRPr>
            </a:lvl1pPr>
          </a:lstStyle>
          <a:p>
            <a:pPr lvl="0"/>
            <a:r>
              <a:rPr lang="en-US"/>
              <a:t>Date</a:t>
            </a:r>
          </a:p>
        </p:txBody>
      </p:sp>
    </p:spTree>
    <p:extLst>
      <p:ext uri="{BB962C8B-B14F-4D97-AF65-F5344CB8AC3E}">
        <p14:creationId xmlns:p14="http://schemas.microsoft.com/office/powerpoint/2010/main" val="3037779421"/>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p:bg>
      <p:bgPr>
        <a:solidFill>
          <a:schemeClr val="tx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342901" y="3429000"/>
            <a:ext cx="4148137" cy="1200150"/>
          </a:xfrm>
        </p:spPr>
        <p:txBody>
          <a:bodyPr lIns="0" tIns="0" rIns="0" bIns="0" anchor="t">
            <a:normAutofit/>
          </a:bodyPr>
          <a:lstStyle>
            <a:lvl1pPr marL="0" indent="0" algn="l">
              <a:lnSpc>
                <a:spcPct val="110000"/>
              </a:lnSpc>
              <a:spcBef>
                <a:spcPts val="450"/>
              </a:spcBef>
              <a:spcAft>
                <a:spcPts val="0"/>
              </a:spcAft>
              <a:buNone/>
              <a:defRPr sz="900" b="0" i="0" baseline="0">
                <a:solidFill>
                  <a:schemeClr val="bg1"/>
                </a:solidFill>
                <a:latin typeface="+mn-lt"/>
                <a:ea typeface="Calibri" panose="020F0502020204030204" pitchFamily="34" charset="0"/>
                <a:cs typeface="Calibri" panose="020F050202020403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type section description</a:t>
            </a:r>
          </a:p>
        </p:txBody>
      </p:sp>
      <p:sp>
        <p:nvSpPr>
          <p:cNvPr id="8" name="Text Placeholder 7"/>
          <p:cNvSpPr>
            <a:spLocks noGrp="1"/>
          </p:cNvSpPr>
          <p:nvPr>
            <p:ph type="body" sz="quarter" idx="12" hasCustomPrompt="1"/>
          </p:nvPr>
        </p:nvSpPr>
        <p:spPr>
          <a:xfrm>
            <a:off x="342901" y="2743200"/>
            <a:ext cx="6299597" cy="514350"/>
          </a:xfrm>
        </p:spPr>
        <p:txBody>
          <a:bodyPr/>
          <a:lstStyle>
            <a:lvl1pPr marL="0" indent="0">
              <a:lnSpc>
                <a:spcPct val="100000"/>
              </a:lnSpc>
              <a:spcBef>
                <a:spcPts val="0"/>
              </a:spcBef>
              <a:spcAft>
                <a:spcPts val="0"/>
              </a:spcAft>
              <a:buNone/>
              <a:defRPr sz="3600" b="0" i="0" baseline="0">
                <a:solidFill>
                  <a:schemeClr val="accent3"/>
                </a:solidFill>
                <a:latin typeface="+mj-lt"/>
                <a:ea typeface="Calibri Light" charset="0"/>
                <a:cs typeface="Calibri Light" charset="0"/>
              </a:defRPr>
            </a:lvl1pPr>
          </a:lstStyle>
          <a:p>
            <a:pPr lvl="0"/>
            <a:r>
              <a:rPr lang="en-US"/>
              <a:t>Section Header</a:t>
            </a:r>
          </a:p>
        </p:txBody>
      </p:sp>
      <p:sp>
        <p:nvSpPr>
          <p:cNvPr id="11" name="Text Placeholder 10"/>
          <p:cNvSpPr>
            <a:spLocks noGrp="1"/>
          </p:cNvSpPr>
          <p:nvPr>
            <p:ph type="body" sz="quarter" idx="13" hasCustomPrompt="1"/>
          </p:nvPr>
        </p:nvSpPr>
        <p:spPr>
          <a:xfrm>
            <a:off x="252845" y="1285875"/>
            <a:ext cx="4148138" cy="1714500"/>
          </a:xfrm>
        </p:spPr>
        <p:txBody>
          <a:bodyPr wrap="square" anchor="b"/>
          <a:lstStyle>
            <a:lvl1pPr>
              <a:lnSpc>
                <a:spcPct val="100000"/>
              </a:lnSpc>
              <a:spcBef>
                <a:spcPts val="0"/>
              </a:spcBef>
              <a:spcAft>
                <a:spcPts val="0"/>
              </a:spcAft>
              <a:defRPr sz="16500" b="0" i="0">
                <a:solidFill>
                  <a:schemeClr val="accent3"/>
                </a:solidFill>
                <a:latin typeface="+mj-lt"/>
                <a:ea typeface="Human Sans Thin" pitchFamily="2" charset="77"/>
                <a:cs typeface="Human Sans Thin" pitchFamily="2" charset="77"/>
              </a:defRPr>
            </a:lvl1pPr>
          </a:lstStyle>
          <a:p>
            <a:pPr lvl="0"/>
            <a:r>
              <a:rPr lang="en-US"/>
              <a:t>0</a:t>
            </a:r>
          </a:p>
        </p:txBody>
      </p:sp>
      <p:sp>
        <p:nvSpPr>
          <p:cNvPr id="7" name="Slide Number Placeholder 13"/>
          <p:cNvSpPr txBox="1">
            <a:spLocks/>
          </p:cNvSpPr>
          <p:nvPr userDrawn="1"/>
        </p:nvSpPr>
        <p:spPr>
          <a:xfrm>
            <a:off x="8522494" y="4800599"/>
            <a:ext cx="276320" cy="171450"/>
          </a:xfrm>
          <a:prstGeom prst="rect">
            <a:avLst/>
          </a:prstGeom>
        </p:spPr>
        <p:txBody>
          <a:bodyPr vert="horz" lIns="0" tIns="0" rIns="0" bIns="0" rtlCol="0" anchor="ctr"/>
          <a:lstStyle>
            <a:defPPr>
              <a:defRPr lang="en-US"/>
            </a:defPPr>
            <a:lvl1pPr marL="0" algn="r" defTabSz="914400" rtl="0" eaLnBrk="1" latinLnBrk="0" hangingPunct="1">
              <a:defRPr sz="8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5F3C1C-9817-214B-A493-8D89031D0F96}" type="slidenum">
              <a:rPr lang="en-US" sz="600" b="0" i="0" smtClean="0">
                <a:solidFill>
                  <a:schemeClr val="bg1"/>
                </a:solidFill>
                <a:latin typeface="+mn-lt"/>
              </a:rPr>
              <a:pPr/>
              <a:t>‹#›</a:t>
            </a:fld>
            <a:endParaRPr lang="en-US" sz="600" b="0" i="0">
              <a:solidFill>
                <a:schemeClr val="bg1"/>
              </a:solidFill>
              <a:latin typeface="+mn-lt"/>
            </a:endParaRPr>
          </a:p>
        </p:txBody>
      </p:sp>
    </p:spTree>
    <p:extLst>
      <p:ext uri="{BB962C8B-B14F-4D97-AF65-F5344CB8AC3E}">
        <p14:creationId xmlns:p14="http://schemas.microsoft.com/office/powerpoint/2010/main" val="2513291986"/>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523583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2"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
        <p:nvSpPr>
          <p:cNvPr id="8"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33305462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sp>
        <p:nvSpPr>
          <p:cNvPr id="8"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33213973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 Tex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342900" y="855080"/>
            <a:ext cx="7022306" cy="3774069"/>
          </a:xfrm>
        </p:spPr>
        <p:txBody>
          <a:bodyPr lIns="0" tIns="0" rIns="0" bIns="0"/>
          <a:lstStyle>
            <a:lvl1pPr marL="0" indent="0">
              <a:lnSpc>
                <a:spcPct val="110000"/>
              </a:lnSpc>
              <a:spcAft>
                <a:spcPts val="0"/>
              </a:spcAft>
              <a:buNone/>
              <a:tabLst>
                <a:tab pos="2438400" algn="l"/>
              </a:tabLst>
              <a:defRPr sz="1200" b="0" i="0" baseline="0">
                <a:latin typeface="+mn-lt"/>
              </a:defRPr>
            </a:lvl1pPr>
            <a:lvl2pPr marL="342900" indent="0">
              <a:buNone/>
              <a:defRPr/>
            </a:lvl2pPr>
            <a:lvl3pPr marL="685800" indent="0">
              <a:buNone/>
              <a:defRPr/>
            </a:lvl3pPr>
            <a:lvl4pPr marL="1028700" indent="0">
              <a:buNone/>
              <a:defRPr/>
            </a:lvl4pPr>
            <a:lvl5pPr marL="1371600" indent="0">
              <a:buNone/>
              <a:defRPr/>
            </a:lvl5pPr>
          </a:lstStyle>
          <a:p>
            <a:pPr lvl="0"/>
            <a:r>
              <a:rPr lang="en-US"/>
              <a:t>Edit Master text styles</a:t>
            </a:r>
          </a:p>
        </p:txBody>
      </p:sp>
      <p:sp>
        <p:nvSpPr>
          <p:cNvPr id="11"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2402786929"/>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Title + Tex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4433776" y="855080"/>
            <a:ext cx="4365038" cy="3774069"/>
          </a:xfrm>
        </p:spPr>
        <p:txBody>
          <a:bodyPr lIns="0" tIns="0" rIns="0" bIns="0"/>
          <a:lstStyle>
            <a:lvl1pPr marL="0" indent="0">
              <a:lnSpc>
                <a:spcPct val="110000"/>
              </a:lnSpc>
              <a:spcAft>
                <a:spcPts val="0"/>
              </a:spcAft>
              <a:buNone/>
              <a:tabLst>
                <a:tab pos="2438400" algn="l"/>
              </a:tabLst>
              <a:defRPr sz="1200" b="0" i="0" baseline="0">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Edit Master text styles</a:t>
            </a:r>
          </a:p>
        </p:txBody>
      </p:sp>
      <p:sp>
        <p:nvSpPr>
          <p:cNvPr id="11" name="Title 1"/>
          <p:cNvSpPr>
            <a:spLocks noGrp="1"/>
          </p:cNvSpPr>
          <p:nvPr>
            <p:ph type="title"/>
          </p:nvPr>
        </p:nvSpPr>
        <p:spPr>
          <a:xfrm>
            <a:off x="342900" y="342900"/>
            <a:ext cx="8455914" cy="342900"/>
          </a:xfrm>
        </p:spPr>
        <p:txBody>
          <a:bodyPr/>
          <a:lstStyle>
            <a:lvl1pPr>
              <a:defRPr b="1">
                <a:latin typeface="+mj-lt"/>
              </a:defRPr>
            </a:lvl1pPr>
          </a:lstStyle>
          <a:p>
            <a:r>
              <a:rPr lang="en-US" dirty="0"/>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j-lt"/>
              </a:defRPr>
            </a:lvl1pPr>
          </a:lstStyle>
          <a:p>
            <a:pPr lvl="0"/>
            <a:r>
              <a:rPr lang="en-US"/>
              <a:t>Click to add section title</a:t>
            </a:r>
          </a:p>
        </p:txBody>
      </p:sp>
      <p:sp>
        <p:nvSpPr>
          <p:cNvPr id="6" name="Text Placeholder 9">
            <a:extLst>
              <a:ext uri="{FF2B5EF4-FFF2-40B4-BE49-F238E27FC236}">
                <a16:creationId xmlns:a16="http://schemas.microsoft.com/office/drawing/2014/main" id="{47BF3F39-D94F-BC48-8482-2214B9D8033C}"/>
              </a:ext>
            </a:extLst>
          </p:cNvPr>
          <p:cNvSpPr>
            <a:spLocks noGrp="1"/>
          </p:cNvSpPr>
          <p:nvPr>
            <p:ph type="body" sz="quarter" idx="16"/>
          </p:nvPr>
        </p:nvSpPr>
        <p:spPr>
          <a:xfrm>
            <a:off x="342900" y="855080"/>
            <a:ext cx="3955312" cy="3774069"/>
          </a:xfrm>
        </p:spPr>
        <p:txBody>
          <a:bodyPr lIns="0" tIns="0" rIns="0" bIns="0"/>
          <a:lstStyle>
            <a:lvl1pPr marL="0" indent="0">
              <a:lnSpc>
                <a:spcPct val="110000"/>
              </a:lnSpc>
              <a:spcAft>
                <a:spcPts val="0"/>
              </a:spcAft>
              <a:buNone/>
              <a:tabLst>
                <a:tab pos="2438400" algn="l"/>
              </a:tabLst>
              <a:defRPr sz="1000" b="0" i="0" baseline="0">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Edit Master text styles</a:t>
            </a:r>
          </a:p>
        </p:txBody>
      </p:sp>
    </p:spTree>
    <p:extLst>
      <p:ext uri="{BB962C8B-B14F-4D97-AF65-F5344CB8AC3E}">
        <p14:creationId xmlns:p14="http://schemas.microsoft.com/office/powerpoint/2010/main" val="2291217687"/>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 Tex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342900" y="855080"/>
            <a:ext cx="8455914" cy="3774069"/>
          </a:xfrm>
        </p:spPr>
        <p:txBody>
          <a:bodyPr lIns="0" tIns="0" rIns="0" bIns="0"/>
          <a:lstStyle>
            <a:lvl1pPr marL="0" indent="0">
              <a:lnSpc>
                <a:spcPct val="110000"/>
              </a:lnSpc>
              <a:spcAft>
                <a:spcPts val="0"/>
              </a:spcAft>
              <a:buNone/>
              <a:tabLst>
                <a:tab pos="2438400" algn="l"/>
              </a:tabLst>
              <a:defRPr sz="1000" b="0" i="0" baseline="0">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Edit Master text styles</a:t>
            </a:r>
          </a:p>
        </p:txBody>
      </p:sp>
      <p:sp>
        <p:nvSpPr>
          <p:cNvPr id="11"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2858222598"/>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Title + Text">
    <p:bg>
      <p:bgPr>
        <a:solidFill>
          <a:schemeClr val="tx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342900" y="855080"/>
            <a:ext cx="8455914" cy="3774069"/>
          </a:xfrm>
        </p:spPr>
        <p:txBody>
          <a:bodyPr lIns="0" tIns="0" rIns="0" bIns="0"/>
          <a:lstStyle>
            <a:lvl1pPr marL="0" indent="0">
              <a:lnSpc>
                <a:spcPct val="110000"/>
              </a:lnSpc>
              <a:spcAft>
                <a:spcPts val="0"/>
              </a:spcAft>
              <a:buNone/>
              <a:tabLst>
                <a:tab pos="2438400" algn="l"/>
              </a:tabLst>
              <a:defRPr sz="6600" b="0" i="0" baseline="0">
                <a:solidFill>
                  <a:schemeClr val="bg1"/>
                </a:solidFill>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a:t>Edit Master text styles</a:t>
            </a:r>
          </a:p>
        </p:txBody>
      </p:sp>
      <p:sp>
        <p:nvSpPr>
          <p:cNvPr id="11" name="Title 1"/>
          <p:cNvSpPr>
            <a:spLocks noGrp="1"/>
          </p:cNvSpPr>
          <p:nvPr>
            <p:ph type="title"/>
          </p:nvPr>
        </p:nvSpPr>
        <p:spPr>
          <a:xfrm>
            <a:off x="342900" y="342900"/>
            <a:ext cx="8455914" cy="342900"/>
          </a:xfrm>
        </p:spPr>
        <p:txBody>
          <a:bodyPr/>
          <a:lstStyle>
            <a:lvl1pPr>
              <a:defRPr b="1">
                <a:solidFill>
                  <a:schemeClr val="bg1"/>
                </a:solidFill>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
        <p:nvSpPr>
          <p:cNvPr id="8" name="Slide Number Placeholder 13">
            <a:extLst>
              <a:ext uri="{FF2B5EF4-FFF2-40B4-BE49-F238E27FC236}">
                <a16:creationId xmlns:a16="http://schemas.microsoft.com/office/drawing/2014/main" id="{841CA2A1-3D39-2344-A5FA-9709C1FE6425}"/>
              </a:ext>
            </a:extLst>
          </p:cNvPr>
          <p:cNvSpPr txBox="1">
            <a:spLocks/>
          </p:cNvSpPr>
          <p:nvPr userDrawn="1"/>
        </p:nvSpPr>
        <p:spPr>
          <a:xfrm>
            <a:off x="8522494" y="4800599"/>
            <a:ext cx="276320" cy="171450"/>
          </a:xfrm>
          <a:prstGeom prst="rect">
            <a:avLst/>
          </a:prstGeom>
        </p:spPr>
        <p:txBody>
          <a:bodyPr vert="horz" lIns="0" tIns="0" rIns="0" bIns="0" rtlCol="0" anchor="ctr"/>
          <a:lstStyle>
            <a:defPPr>
              <a:defRPr lang="en-US"/>
            </a:defPPr>
            <a:lvl1pPr marL="0" algn="r" defTabSz="914400" rtl="0" eaLnBrk="1" latinLnBrk="0" hangingPunct="1">
              <a:defRPr sz="8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5F3C1C-9817-214B-A493-8D89031D0F96}" type="slidenum">
              <a:rPr lang="en-US" sz="600" b="0" i="0" smtClean="0">
                <a:solidFill>
                  <a:schemeClr val="bg1"/>
                </a:solidFill>
                <a:latin typeface="Human Sans Regular" pitchFamily="2" charset="77"/>
              </a:rPr>
              <a:pPr/>
              <a:t>‹#›</a:t>
            </a:fld>
            <a:endParaRPr lang="en-US" sz="600" b="0" i="0">
              <a:solidFill>
                <a:schemeClr val="bg1"/>
              </a:solidFill>
              <a:latin typeface="Human Sans Regular" pitchFamily="2" charset="77"/>
            </a:endParaRPr>
          </a:p>
        </p:txBody>
      </p:sp>
    </p:spTree>
    <p:extLst>
      <p:ext uri="{BB962C8B-B14F-4D97-AF65-F5344CB8AC3E}">
        <p14:creationId xmlns:p14="http://schemas.microsoft.com/office/powerpoint/2010/main" val="1481691825"/>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42901" y="342900"/>
            <a:ext cx="7020408" cy="34290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42901" y="859971"/>
            <a:ext cx="7022306" cy="3769178"/>
          </a:xfrm>
          <a:prstGeom prst="rect">
            <a:avLst/>
          </a:prstGeom>
        </p:spPr>
        <p:txBody>
          <a:bodyPr vert="horz" lIns="0" tIns="0" rIns="0" bIns="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13"/>
          <p:cNvSpPr txBox="1">
            <a:spLocks/>
          </p:cNvSpPr>
          <p:nvPr userDrawn="1"/>
        </p:nvSpPr>
        <p:spPr>
          <a:xfrm>
            <a:off x="8522494" y="4800599"/>
            <a:ext cx="276320" cy="171450"/>
          </a:xfrm>
          <a:prstGeom prst="rect">
            <a:avLst/>
          </a:prstGeom>
        </p:spPr>
        <p:txBody>
          <a:bodyPr vert="horz" lIns="0" tIns="0" rIns="0" bIns="0" rtlCol="0" anchor="ctr"/>
          <a:lstStyle>
            <a:defPPr>
              <a:defRPr lang="en-US"/>
            </a:defPPr>
            <a:lvl1pPr marL="0" algn="r" defTabSz="914400" rtl="0" eaLnBrk="1" latinLnBrk="0" hangingPunct="1">
              <a:defRPr sz="8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5F3C1C-9817-214B-A493-8D89031D0F96}" type="slidenum">
              <a:rPr lang="en-US" sz="600" b="0" i="0" smtClean="0">
                <a:latin typeface="Calibri" panose="020F0502020204030204" pitchFamily="34" charset="0"/>
                <a:cs typeface="Calibri" panose="020F0502020204030204" pitchFamily="34" charset="0"/>
              </a:rPr>
              <a:pPr/>
              <a:t>‹#›</a:t>
            </a:fld>
            <a:endParaRPr lang="en-US" sz="600" b="0" i="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27938063"/>
      </p:ext>
    </p:extLst>
  </p:cSld>
  <p:clrMap bg1="lt1" tx1="dk1" bg2="lt2" tx2="dk2" accent1="accent1" accent2="accent2" accent3="accent3" accent4="accent4" accent5="accent5" accent6="accent6" hlink="hlink" folHlink="folHlink"/>
  <p:sldLayoutIdLst>
    <p:sldLayoutId id="2147483863" r:id="rId1"/>
    <p:sldLayoutId id="2147483816" r:id="rId2"/>
    <p:sldLayoutId id="2147483822" r:id="rId3"/>
    <p:sldLayoutId id="2147483823" r:id="rId4"/>
    <p:sldLayoutId id="2147483824" r:id="rId5"/>
    <p:sldLayoutId id="2147483825" r:id="rId6"/>
    <p:sldLayoutId id="2147483826" r:id="rId7"/>
    <p:sldLayoutId id="2147483828" r:id="rId8"/>
    <p:sldLayoutId id="2147483829" r:id="rId9"/>
  </p:sldLayoutIdLst>
  <p:hf hdr="0" dt="0"/>
  <p:txStyles>
    <p:titleStyle>
      <a:lvl1pPr algn="l" defTabSz="685800" rtl="0" eaLnBrk="1" latinLnBrk="0" hangingPunct="1">
        <a:lnSpc>
          <a:spcPct val="100000"/>
        </a:lnSpc>
        <a:spcBef>
          <a:spcPct val="0"/>
        </a:spcBef>
        <a:buNone/>
        <a:defRPr sz="1650" b="0" i="0" kern="1200">
          <a:solidFill>
            <a:schemeClr val="tx1"/>
          </a:solidFill>
          <a:latin typeface="+mn-lt"/>
          <a:ea typeface="Calibri" panose="020F0502020204030204" pitchFamily="34" charset="0"/>
          <a:cs typeface="Calibri" panose="020F0502020204030204" pitchFamily="34" charset="0"/>
        </a:defRPr>
      </a:lvl1pPr>
    </p:titleStyle>
    <p:bodyStyle>
      <a:lvl1pPr marL="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1pPr>
      <a:lvl2pPr marL="5143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2pPr>
      <a:lvl3pPr marL="8572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3pPr>
      <a:lvl4pPr marL="12001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4pPr>
      <a:lvl5pPr marL="15430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16" orient="horz" pos="144">
          <p15:clr>
            <a:srgbClr val="F26B43"/>
          </p15:clr>
        </p15:guide>
        <p15:guide id="17" orient="horz" pos="288">
          <p15:clr>
            <a:srgbClr val="F26B43"/>
          </p15:clr>
        </p15:guide>
        <p15:guide id="18" orient="horz" pos="432">
          <p15:clr>
            <a:srgbClr val="F26B43"/>
          </p15:clr>
        </p15:guide>
        <p15:guide id="19" orient="horz" pos="576">
          <p15:clr>
            <a:srgbClr val="F26B43"/>
          </p15:clr>
        </p15:guide>
        <p15:guide id="20" orient="horz" pos="720">
          <p15:clr>
            <a:srgbClr val="F26B43"/>
          </p15:clr>
        </p15:guide>
        <p15:guide id="21" orient="horz" pos="864">
          <p15:clr>
            <a:srgbClr val="F26B43"/>
          </p15:clr>
        </p15:guide>
        <p15:guide id="22" orient="horz" pos="1008">
          <p15:clr>
            <a:srgbClr val="F26B43"/>
          </p15:clr>
        </p15:guide>
        <p15:guide id="23" orient="horz" pos="1152">
          <p15:clr>
            <a:srgbClr val="F26B43"/>
          </p15:clr>
        </p15:guide>
        <p15:guide id="24" orient="horz" pos="1296">
          <p15:clr>
            <a:srgbClr val="F26B43"/>
          </p15:clr>
        </p15:guide>
        <p15:guide id="25" orient="horz" pos="1440">
          <p15:clr>
            <a:srgbClr val="F26B43"/>
          </p15:clr>
        </p15:guide>
        <p15:guide id="26" orient="horz" pos="1584">
          <p15:clr>
            <a:srgbClr val="F26B43"/>
          </p15:clr>
        </p15:guide>
        <p15:guide id="27" orient="horz" pos="1728">
          <p15:clr>
            <a:srgbClr val="F26B43"/>
          </p15:clr>
        </p15:guide>
        <p15:guide id="28" orient="horz" pos="1872">
          <p15:clr>
            <a:srgbClr val="F26B43"/>
          </p15:clr>
        </p15:guide>
        <p15:guide id="29" orient="horz" pos="2016">
          <p15:clr>
            <a:srgbClr val="F26B43"/>
          </p15:clr>
        </p15:guide>
        <p15:guide id="30" orient="horz" pos="2304">
          <p15:clr>
            <a:srgbClr val="F26B43"/>
          </p15:clr>
        </p15:guide>
        <p15:guide id="31" orient="horz" pos="2448">
          <p15:clr>
            <a:srgbClr val="F26B43"/>
          </p15:clr>
        </p15:guide>
        <p15:guide id="32" orient="horz" pos="2592">
          <p15:clr>
            <a:srgbClr val="F26B43"/>
          </p15:clr>
        </p15:guide>
        <p15:guide id="33" orient="horz" pos="2736">
          <p15:clr>
            <a:srgbClr val="F26B43"/>
          </p15:clr>
        </p15:guide>
        <p15:guide id="34" orient="horz" pos="2880">
          <p15:clr>
            <a:srgbClr val="F26B43"/>
          </p15:clr>
        </p15:guide>
        <p15:guide id="35" orient="horz" pos="3024">
          <p15:clr>
            <a:srgbClr val="F26B43"/>
          </p15:clr>
        </p15:guide>
        <p15:guide id="36" orient="horz" pos="3168">
          <p15:clr>
            <a:srgbClr val="F26B43"/>
          </p15:clr>
        </p15:guide>
        <p15:guide id="37" orient="horz" pos="3312">
          <p15:clr>
            <a:srgbClr val="F26B43"/>
          </p15:clr>
        </p15:guide>
        <p15:guide id="38" orient="horz" pos="3456">
          <p15:clr>
            <a:srgbClr val="F26B43"/>
          </p15:clr>
        </p15:guide>
        <p15:guide id="39" orient="horz" pos="3600">
          <p15:clr>
            <a:srgbClr val="F26B43"/>
          </p15:clr>
        </p15:guide>
        <p15:guide id="40" orient="horz" pos="3744">
          <p15:clr>
            <a:srgbClr val="F26B43"/>
          </p15:clr>
        </p15:guide>
        <p15:guide id="41" orient="horz" pos="3888">
          <p15:clr>
            <a:srgbClr val="F26B43"/>
          </p15:clr>
        </p15:guide>
        <p15:guide id="43" orient="horz" pos="4176">
          <p15:clr>
            <a:srgbClr val="F26B43"/>
          </p15:clr>
        </p15:guide>
        <p15:guide id="56" orient="horz">
          <p15:clr>
            <a:srgbClr val="F26B43"/>
          </p15:clr>
        </p15:guide>
        <p15:guide id="57" orient="horz" pos="4320">
          <p15:clr>
            <a:srgbClr val="F26B43"/>
          </p15:clr>
        </p15:guide>
        <p15:guide id="58" orient="horz" pos="4032">
          <p15:clr>
            <a:srgbClr val="F26B43"/>
          </p15:clr>
        </p15:guide>
        <p15:guide id="59" pos="288">
          <p15:clr>
            <a:srgbClr val="F26B43"/>
          </p15:clr>
        </p15:guide>
        <p15:guide id="61" pos="7392">
          <p15:clr>
            <a:srgbClr val="F26B43"/>
          </p15:clr>
        </p15:guide>
        <p15:guide id="62" pos="894">
          <p15:clr>
            <a:srgbClr val="F26B43"/>
          </p15:clr>
        </p15:guide>
        <p15:guide id="63" pos="750">
          <p15:clr>
            <a:srgbClr val="F26B43"/>
          </p15:clr>
        </p15:guide>
        <p15:guide id="64" pos="1354">
          <p15:clr>
            <a:srgbClr val="F26B43"/>
          </p15:clr>
        </p15:guide>
        <p15:guide id="65" pos="1498">
          <p15:clr>
            <a:srgbClr val="F26B43"/>
          </p15:clr>
        </p15:guide>
        <p15:guide id="66" pos="1958">
          <p15:clr>
            <a:srgbClr val="F26B43"/>
          </p15:clr>
        </p15:guide>
        <p15:guide id="67" pos="2104">
          <p15:clr>
            <a:srgbClr val="F26B43"/>
          </p15:clr>
        </p15:guide>
        <p15:guide id="68" pos="2710">
          <p15:clr>
            <a:srgbClr val="F26B43"/>
          </p15:clr>
        </p15:guide>
        <p15:guide id="69" pos="2565">
          <p15:clr>
            <a:srgbClr val="F26B43"/>
          </p15:clr>
        </p15:guide>
        <p15:guide id="70" pos="3310">
          <p15:clr>
            <a:srgbClr val="F26B43"/>
          </p15:clr>
        </p15:guide>
        <p15:guide id="71" pos="3168">
          <p15:clr>
            <a:srgbClr val="F26B43"/>
          </p15:clr>
        </p15:guide>
        <p15:guide id="72" pos="3772">
          <p15:clr>
            <a:srgbClr val="F26B43"/>
          </p15:clr>
        </p15:guide>
        <p15:guide id="73" pos="3919">
          <p15:clr>
            <a:srgbClr val="F26B43"/>
          </p15:clr>
        </p15:guide>
        <p15:guide id="74" pos="4376">
          <p15:clr>
            <a:srgbClr val="F26B43"/>
          </p15:clr>
        </p15:guide>
        <p15:guide id="75" pos="4523">
          <p15:clr>
            <a:srgbClr val="F26B43"/>
          </p15:clr>
        </p15:guide>
        <p15:guide id="76" pos="5128">
          <p15:clr>
            <a:srgbClr val="F26B43"/>
          </p15:clr>
        </p15:guide>
        <p15:guide id="77" pos="4981">
          <p15:clr>
            <a:srgbClr val="F26B43"/>
          </p15:clr>
        </p15:guide>
        <p15:guide id="78" pos="5579">
          <p15:clr>
            <a:srgbClr val="F26B43"/>
          </p15:clr>
        </p15:guide>
        <p15:guide id="79" pos="5726">
          <p15:clr>
            <a:srgbClr val="F26B43"/>
          </p15:clr>
        </p15:guide>
        <p15:guide id="80" pos="6186">
          <p15:clr>
            <a:srgbClr val="F26B43"/>
          </p15:clr>
        </p15:guide>
        <p15:guide id="81" pos="6330">
          <p15:clr>
            <a:srgbClr val="F26B43"/>
          </p15:clr>
        </p15:guide>
        <p15:guide id="82" pos="6793">
          <p15:clr>
            <a:srgbClr val="F26B43"/>
          </p15:clr>
        </p15:guide>
        <p15:guide id="83" pos="6933">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learn.microsoft.com/en-us/entra/identity-platform/scopes-oidc#openid-connect-scopes" TargetMode="External"/><Relationship Id="rId2" Type="http://schemas.openxmlformats.org/officeDocument/2006/relationships/hyperlink" Target="https://techcommunity.microsoft.com/blog/microsoft-entra-blog/upcoming-conditional-access-change-improved-enforcement-for-policies-with-resour/4488925" TargetMode="External"/><Relationship Id="rId1" Type="http://schemas.openxmlformats.org/officeDocument/2006/relationships/slideLayout" Target="../slideLayouts/slideLayout7.xml"/><Relationship Id="rId5" Type="http://schemas.openxmlformats.org/officeDocument/2006/relationships/hyperlink" Target="https://learn.microsoft.com/en-us/microsoft-365/admin/manage/message-center?view=o365-worldwide" TargetMode="External"/><Relationship Id="rId4" Type="http://schemas.openxmlformats.org/officeDocument/2006/relationships/hyperlink" Target="https://learn.microsoft.com/en-us/entra/identity/conditional-access/concept-conditional-access-cloud-apps?tabs=powershell#legacy-conditional-access-behavior-when-an-all-resources-policy-has-a-resource-exclusion"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techcommunity.microsoft.com/blog/windows-admin-center-blog/the-windows-admin-center-virtualization-mode-preview-build-has-been-updated/4489878" TargetMode="External"/><Relationship Id="rId2" Type="http://schemas.openxmlformats.org/officeDocument/2006/relationships/hyperlink" Target="https://techcommunity.microsoft.com/blog/azurearchitectureblog/azure-local-lens-workbook%E2%80%94deep-insights-at-scale-in-minutes/4490608" TargetMode="Externa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2" Type="http://schemas.openxmlformats.org/officeDocument/2006/relationships/hyperlink" Target="https://azure.microsoft.com/ru-ru/updates?id=551523" TargetMode="Externa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azure.microsoft.com/ru-ru/updates?id=543994" TargetMode="External"/><Relationship Id="rId2" Type="http://schemas.openxmlformats.org/officeDocument/2006/relationships/hyperlink" Target="https://azure.microsoft.com/ru-ru/updates?id=529407" TargetMode="Externa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hyperlink" Target="https://techcommunity.microsoft.com/blog/windows-itpro-blog/windows-365-now-supported-in-brazil-south/4488305" TargetMode="External"/><Relationship Id="rId2" Type="http://schemas.openxmlformats.org/officeDocument/2006/relationships/hyperlink" Target="https://blogs.microsoft.com/blog/2026/01/26/maia-200-the-ai-accelerator-built-for-inference/" TargetMode="Externa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hyperlink" Target="https://azure.microsoft.com/ru-ru/updates?id=542455" TargetMode="External"/><Relationship Id="rId2" Type="http://schemas.openxmlformats.org/officeDocument/2006/relationships/hyperlink" Target="https://azure.microsoft.com/ru-ru/updates?id=552318" TargetMode="Externa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hyperlink" Target="https://techcommunity.microsoft.com/blog/windows-itpro-blog/announcing-general-availability-of-rdp-shortpath-configuration-via-gpo-and-micro/4489445" TargetMode="Externa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3" Type="http://schemas.openxmlformats.org/officeDocument/2006/relationships/hyperlink" Target="https://blog.fabric.microsoft.com/en-GB/blog/fabric-january-2026-feature-summary/#post-33020-_Toc220331332" TargetMode="External"/><Relationship Id="rId18" Type="http://schemas.openxmlformats.org/officeDocument/2006/relationships/hyperlink" Target="https://blog.fabric.microsoft.com/en-GB/blog/fabric-january-2026-feature-summary/#post-33020-_Toc220331338" TargetMode="External"/><Relationship Id="rId26" Type="http://schemas.openxmlformats.org/officeDocument/2006/relationships/hyperlink" Target="https://blog.fabric.microsoft.com/en-GB/blog/fabric-january-2026-feature-summary/#post-33020-_Toc220331311" TargetMode="External"/><Relationship Id="rId3" Type="http://schemas.openxmlformats.org/officeDocument/2006/relationships/hyperlink" Target="https://blog.fabric.microsoft.com/en-GB/blog/fabric-january-2026-feature-summary/#post-33020-_Toc220331322" TargetMode="External"/><Relationship Id="rId21" Type="http://schemas.openxmlformats.org/officeDocument/2006/relationships/hyperlink" Target="https://blog.fabric.microsoft.com/en-GB/blog/fabric-january-2026-feature-summary/#post-33020-_Toc220331306" TargetMode="External"/><Relationship Id="rId34" Type="http://schemas.openxmlformats.org/officeDocument/2006/relationships/hyperlink" Target="https://blog.fabric.microsoft.com/en-GB/blog/fabric-january-2026-feature-summary/#post-33020-_Toc220331319" TargetMode="External"/><Relationship Id="rId7" Type="http://schemas.openxmlformats.org/officeDocument/2006/relationships/hyperlink" Target="https://blog.fabric.microsoft.com/en-GB/blog/fabric-january-2026-feature-summary/#post-33020-_Toc220331326" TargetMode="External"/><Relationship Id="rId12" Type="http://schemas.openxmlformats.org/officeDocument/2006/relationships/hyperlink" Target="https://blog.fabric.microsoft.com/en-GB/blog/fabric-january-2026-feature-summary/#post-33020-_Toc220331331" TargetMode="External"/><Relationship Id="rId17" Type="http://schemas.openxmlformats.org/officeDocument/2006/relationships/hyperlink" Target="https://blog.fabric.microsoft.com/en-GB/blog/fabric-january-2026-feature-summary/#post-33020-_Toc220331337" TargetMode="External"/><Relationship Id="rId25" Type="http://schemas.openxmlformats.org/officeDocument/2006/relationships/hyperlink" Target="https://blog.fabric.microsoft.com/en-GB/blog/fabric-january-2026-feature-summary/#post-33020-_Toc220331310" TargetMode="External"/><Relationship Id="rId33" Type="http://schemas.openxmlformats.org/officeDocument/2006/relationships/hyperlink" Target="https://blog.fabric.microsoft.com/en-GB/blog/fabric-january-2026-feature-summary/#post-33020-_Toc220331318" TargetMode="External"/><Relationship Id="rId2" Type="http://schemas.openxmlformats.org/officeDocument/2006/relationships/hyperlink" Target="https://blog.fabric.microsoft.com/en-GB/blog/fabric-january-2026-feature-summary/#post-33020-_Toc220331321" TargetMode="External"/><Relationship Id="rId16" Type="http://schemas.openxmlformats.org/officeDocument/2006/relationships/hyperlink" Target="https://blog.fabric.microsoft.com/en-GB/blog/fabric-january-2026-feature-summary/#post-33020-_Toc220331336" TargetMode="External"/><Relationship Id="rId20" Type="http://schemas.openxmlformats.org/officeDocument/2006/relationships/hyperlink" Target="https://blog.fabric.microsoft.com/en-GB/blog/fabric-january-2026-feature-summary/#post-33020-_Toc220331305" TargetMode="External"/><Relationship Id="rId29" Type="http://schemas.openxmlformats.org/officeDocument/2006/relationships/hyperlink" Target="https://blog.fabric.microsoft.com/en-GB/blog/fabric-january-2026-feature-summary/#post-33020-_Toc220331314" TargetMode="External"/><Relationship Id="rId1" Type="http://schemas.openxmlformats.org/officeDocument/2006/relationships/slideLayout" Target="../slideLayouts/slideLayout7.xml"/><Relationship Id="rId6" Type="http://schemas.openxmlformats.org/officeDocument/2006/relationships/hyperlink" Target="https://blog.fabric.microsoft.com/en-GB/blog/fabric-january-2026-feature-summary/#post-33020-_Toc220331325" TargetMode="External"/><Relationship Id="rId11" Type="http://schemas.openxmlformats.org/officeDocument/2006/relationships/hyperlink" Target="https://blog.fabric.microsoft.com/en-GB/blog/fabric-january-2026-feature-summary/#post-33020-_Toc220331330" TargetMode="External"/><Relationship Id="rId24" Type="http://schemas.openxmlformats.org/officeDocument/2006/relationships/hyperlink" Target="https://blog.fabric.microsoft.com/en-GB/blog/fabric-january-2026-feature-summary/#post-33020-_Toc220331309" TargetMode="External"/><Relationship Id="rId32" Type="http://schemas.openxmlformats.org/officeDocument/2006/relationships/hyperlink" Target="https://blog.fabric.microsoft.com/en-GB/blog/fabric-january-2026-feature-summary/#post-33020-_Toc220331317" TargetMode="External"/><Relationship Id="rId5" Type="http://schemas.openxmlformats.org/officeDocument/2006/relationships/hyperlink" Target="https://blog.fabric.microsoft.com/en-GB/blog/fabric-january-2026-feature-summary/#post-33020-_Toc220331324" TargetMode="External"/><Relationship Id="rId15" Type="http://schemas.openxmlformats.org/officeDocument/2006/relationships/hyperlink" Target="https://blog.fabric.microsoft.com/en-GB/blog/fabric-january-2026-feature-summary/#post-33020-_Toc220331335" TargetMode="External"/><Relationship Id="rId23" Type="http://schemas.openxmlformats.org/officeDocument/2006/relationships/hyperlink" Target="https://blog.fabric.microsoft.com/en-GB/blog/fabric-january-2026-feature-summary/#post-33020-_Toc220331308" TargetMode="External"/><Relationship Id="rId28" Type="http://schemas.openxmlformats.org/officeDocument/2006/relationships/hyperlink" Target="https://blog.fabric.microsoft.com/en-GB/blog/fabric-january-2026-feature-summary/#post-33020-_Toc220331313" TargetMode="External"/><Relationship Id="rId10" Type="http://schemas.openxmlformats.org/officeDocument/2006/relationships/hyperlink" Target="https://blog.fabric.microsoft.com/en-GB/blog/fabric-january-2026-feature-summary/#post-33020-_Toc220331329" TargetMode="External"/><Relationship Id="rId19" Type="http://schemas.openxmlformats.org/officeDocument/2006/relationships/hyperlink" Target="https://blog.fabric.microsoft.com/en-GB/blog/fabric-january-2026-feature-summary/#post-33020-_Toc220331339" TargetMode="External"/><Relationship Id="rId31" Type="http://schemas.openxmlformats.org/officeDocument/2006/relationships/hyperlink" Target="https://blog.fabric.microsoft.com/en-GB/blog/fabric-january-2026-feature-summary/#post-33020-_Toc220331316" TargetMode="External"/><Relationship Id="rId4" Type="http://schemas.openxmlformats.org/officeDocument/2006/relationships/hyperlink" Target="https://blog.fabric.microsoft.com/en-GB/blog/fabric-january-2026-feature-summary/#post-33020-_Toc220331323" TargetMode="External"/><Relationship Id="rId9" Type="http://schemas.openxmlformats.org/officeDocument/2006/relationships/hyperlink" Target="https://blog.fabric.microsoft.com/en-GB/blog/fabric-january-2026-feature-summary/#post-33020-_Toc220331328" TargetMode="External"/><Relationship Id="rId14" Type="http://schemas.openxmlformats.org/officeDocument/2006/relationships/hyperlink" Target="https://blog.fabric.microsoft.com/en-GB/blog/fabric-january-2026-feature-summary/#post-33020-_Toc220331334" TargetMode="External"/><Relationship Id="rId22" Type="http://schemas.openxmlformats.org/officeDocument/2006/relationships/hyperlink" Target="https://blog.fabric.microsoft.com/en-GB/blog/fabric-january-2026-feature-summary/#post-33020-_Toc220331307" TargetMode="External"/><Relationship Id="rId27" Type="http://schemas.openxmlformats.org/officeDocument/2006/relationships/hyperlink" Target="https://blog.fabric.microsoft.com/en-GB/blog/fabric-january-2026-feature-summary/#post-33020-_Toc220331312" TargetMode="External"/><Relationship Id="rId30" Type="http://schemas.openxmlformats.org/officeDocument/2006/relationships/hyperlink" Target="https://blog.fabric.microsoft.com/en-GB/blog/fabric-january-2026-feature-summary/#post-33020-_Toc220331315" TargetMode="External"/><Relationship Id="rId35" Type="http://schemas.openxmlformats.org/officeDocument/2006/relationships/hyperlink" Target="https://blog.fabric.microsoft.com/en-GB/blog/fabric-january-2026-feature-summary/#post-33020-_Toc220331320" TargetMode="External"/><Relationship Id="rId8" Type="http://schemas.openxmlformats.org/officeDocument/2006/relationships/hyperlink" Target="https://blog.fabric.microsoft.com/en-GB/blog/fabric-january-2026-feature-summary/#post-33020-_Toc220331327" TargetMode="External"/></Relationships>
</file>

<file path=ppt/slides/_rels/slide13.xml.rels><?xml version="1.0" encoding="UTF-8" standalone="yes"?>
<Relationships xmlns="http://schemas.openxmlformats.org/package/2006/relationships"><Relationship Id="rId3" Type="http://schemas.openxmlformats.org/officeDocument/2006/relationships/hyperlink" Target="https://learn.microsoft.com/azure/azure-functions/update-language-versions?tabs=azure-portal%2Clinux&amp;pivots=programming-language-python#update-the-stack-configuration" TargetMode="External"/><Relationship Id="rId2" Type="http://schemas.openxmlformats.org/officeDocument/2006/relationships/hyperlink" Target="https://azure.microsoft.com/ru-ru/updates?id=545771" TargetMode="Externa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azure.microsoft.com/ru-ru/updates?id=550466" TargetMode="Externa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techcommunity.microsoft.com/blog/azuresqlblog/multiple-secondaries-for-failover-groups-is-now-in-public-preview/4489005" TargetMode="Externa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hyperlink" Target="https://azure.microsoft.com/ru-ru/updates?id=550164" TargetMode="Externa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hyperlink" Target="https://techcommunity.microsoft.com/blog/appsonazureblog/minimum-usage-in-azure-app-testing/4490658" TargetMode="Externa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hyperlink" Target="https://github.com/azureTimes" TargetMode="Externa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281666" y="1200151"/>
            <a:ext cx="8458200" cy="2228850"/>
          </a:xfrm>
        </p:spPr>
        <p:txBody>
          <a:bodyPr/>
          <a:lstStyle/>
          <a:p>
            <a:r>
              <a:rPr lang="en-US" sz="5400" dirty="0"/>
              <a:t>Azure Times #191</a:t>
            </a:r>
          </a:p>
        </p:txBody>
      </p:sp>
      <p:sp>
        <p:nvSpPr>
          <p:cNvPr id="4" name="Text Placeholder 3"/>
          <p:cNvSpPr>
            <a:spLocks noGrp="1"/>
          </p:cNvSpPr>
          <p:nvPr>
            <p:ph type="body" sz="quarter" idx="11"/>
          </p:nvPr>
        </p:nvSpPr>
        <p:spPr/>
        <p:txBody>
          <a:bodyPr/>
          <a:lstStyle/>
          <a:p>
            <a:r>
              <a:rPr lang="en-US" spc="300" dirty="0"/>
              <a:t>February 2, 2026</a:t>
            </a:r>
          </a:p>
        </p:txBody>
      </p:sp>
      <p:sp>
        <p:nvSpPr>
          <p:cNvPr id="3" name="TextBox 2">
            <a:extLst>
              <a:ext uri="{FF2B5EF4-FFF2-40B4-BE49-F238E27FC236}">
                <a16:creationId xmlns:a16="http://schemas.microsoft.com/office/drawing/2014/main" id="{ED924944-231A-274C-AB8B-3C574947B123}"/>
              </a:ext>
            </a:extLst>
          </p:cNvPr>
          <p:cNvSpPr txBox="1"/>
          <p:nvPr/>
        </p:nvSpPr>
        <p:spPr>
          <a:xfrm>
            <a:off x="539318" y="4887158"/>
            <a:ext cx="0" cy="0"/>
          </a:xfrm>
          <a:prstGeom prst="rect">
            <a:avLst/>
          </a:prstGeom>
          <a:noFill/>
        </p:spPr>
        <p:txBody>
          <a:bodyPr wrap="none" lIns="0" tIns="0" rIns="0" bIns="0" rtlCol="0">
            <a:noAutofit/>
          </a:bodyPr>
          <a:lstStyle/>
          <a:p>
            <a:pPr>
              <a:lnSpc>
                <a:spcPct val="110000"/>
              </a:lnSpc>
              <a:spcBef>
                <a:spcPts val="450"/>
              </a:spcBef>
            </a:pPr>
            <a:endParaRPr lang="en-US" sz="900" err="1">
              <a:ea typeface="Human Sans" charset="0"/>
              <a:cs typeface="Human Sans" charset="0"/>
            </a:endParaRPr>
          </a:p>
        </p:txBody>
      </p:sp>
    </p:spTree>
    <p:extLst>
      <p:ext uri="{BB962C8B-B14F-4D97-AF65-F5344CB8AC3E}">
        <p14:creationId xmlns:p14="http://schemas.microsoft.com/office/powerpoint/2010/main" val="447552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a:xfrm>
            <a:off x="252845" y="1285875"/>
            <a:ext cx="6271326" cy="1714500"/>
          </a:xfrm>
        </p:spPr>
        <p:txBody>
          <a:bodyPr/>
          <a:lstStyle/>
          <a:p>
            <a:r>
              <a:rPr lang="en-US" sz="4000" dirty="0"/>
              <a:t>Security &amp; Identity</a:t>
            </a:r>
          </a:p>
        </p:txBody>
      </p:sp>
    </p:spTree>
    <p:extLst>
      <p:ext uri="{BB962C8B-B14F-4D97-AF65-F5344CB8AC3E}">
        <p14:creationId xmlns:p14="http://schemas.microsoft.com/office/powerpoint/2010/main" val="31179200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Security &amp; Identity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2"/>
              </a:rPr>
              <a:t>Upcoming Conditional Access change: Improved enforcement for policies with resource exclusions</a:t>
            </a:r>
            <a:endParaRPr lang="ru-RU" dirty="0"/>
          </a:p>
          <a:p>
            <a:pPr algn="just"/>
            <a:r>
              <a:rPr lang="en-US" b="1" dirty="0"/>
              <a:t>Today</a:t>
            </a:r>
            <a:r>
              <a:rPr lang="en-US" dirty="0"/>
              <a:t>, when a user signs in through a client application that requests </a:t>
            </a:r>
            <a:r>
              <a:rPr lang="en-US" b="1" dirty="0"/>
              <a:t>only </a:t>
            </a:r>
            <a:r>
              <a:rPr lang="en-US" dirty="0">
                <a:hlinkClick r:id="rId3"/>
              </a:rPr>
              <a:t>OIDC scopes</a:t>
            </a:r>
            <a:r>
              <a:rPr lang="en-US" dirty="0"/>
              <a:t> or a </a:t>
            </a:r>
            <a:r>
              <a:rPr lang="en-US" dirty="0">
                <a:hlinkClick r:id="rId4"/>
              </a:rPr>
              <a:t>limited set of directory scopes</a:t>
            </a:r>
            <a:r>
              <a:rPr lang="en-US" dirty="0"/>
              <a:t>, Conditional Access policies that target </a:t>
            </a:r>
            <a:r>
              <a:rPr lang="en-US" i="1" dirty="0"/>
              <a:t>All resources</a:t>
            </a:r>
            <a:r>
              <a:rPr lang="en-US" dirty="0"/>
              <a:t> are not enforced </a:t>
            </a:r>
            <a:r>
              <a:rPr lang="en-US" b="1" dirty="0"/>
              <a:t>if the policy has one or more resource exclusions.</a:t>
            </a:r>
            <a:endParaRPr lang="en-US" dirty="0"/>
          </a:p>
          <a:p>
            <a:pPr algn="just"/>
            <a:r>
              <a:rPr lang="en-US" b="1" dirty="0"/>
              <a:t>After this change</a:t>
            </a:r>
            <a:r>
              <a:rPr lang="en-US" dirty="0"/>
              <a:t>, Conditional Access policies that target </a:t>
            </a:r>
            <a:r>
              <a:rPr lang="en-US" i="1" dirty="0"/>
              <a:t>All resources</a:t>
            </a:r>
            <a:r>
              <a:rPr lang="en-US" dirty="0"/>
              <a:t> will be enforced for these sign-ins, </a:t>
            </a:r>
            <a:r>
              <a:rPr lang="en-US" b="1" dirty="0"/>
              <a:t>even when resource exclusions are present</a:t>
            </a:r>
            <a:r>
              <a:rPr lang="en-US" dirty="0"/>
              <a:t>. This ensures that policies are consistently applied regardless of the scope set requested by the application.</a:t>
            </a:r>
            <a:endParaRPr lang="ru-RU" dirty="0"/>
          </a:p>
          <a:p>
            <a:pPr algn="just"/>
            <a:r>
              <a:rPr lang="en-US" dirty="0"/>
              <a:t>Microsoft Entra ID will begin enforcing this change starting March 27, 2026. This will be rolled out progressively across all clouds over several weeks until June 2026.   </a:t>
            </a:r>
            <a:endParaRPr lang="ru-RU" dirty="0"/>
          </a:p>
          <a:p>
            <a:pPr algn="just"/>
            <a:r>
              <a:rPr lang="en-US" dirty="0"/>
              <a:t>This change only affects tenants that have a Conditional Access policy targeting </a:t>
            </a:r>
            <a:r>
              <a:rPr lang="en-US" dirty="0">
                <a:hlinkClick r:id="rId4"/>
              </a:rPr>
              <a:t>All resources with one or more resource exclusions</a:t>
            </a:r>
            <a:r>
              <a:rPr lang="en-US" dirty="0"/>
              <a:t>,</a:t>
            </a:r>
            <a:r>
              <a:rPr lang="en-US" b="1" dirty="0"/>
              <a:t> </a:t>
            </a:r>
            <a:r>
              <a:rPr lang="en-US" dirty="0"/>
              <a:t>and these tenants will be notified through </a:t>
            </a:r>
            <a:r>
              <a:rPr lang="en-US" dirty="0">
                <a:hlinkClick r:id="rId5"/>
              </a:rPr>
              <a:t>M365 Message Center messages</a:t>
            </a:r>
            <a:r>
              <a:rPr lang="en-US" dirty="0"/>
              <a:t>. Tenants without this policy configuration will not be impacted.</a:t>
            </a:r>
          </a:p>
          <a:p>
            <a:pPr algn="just"/>
            <a:endParaRPr lang="en-US" dirty="0"/>
          </a:p>
        </p:txBody>
      </p:sp>
    </p:spTree>
    <p:extLst>
      <p:ext uri="{BB962C8B-B14F-4D97-AF65-F5344CB8AC3E}">
        <p14:creationId xmlns:p14="http://schemas.microsoft.com/office/powerpoint/2010/main" val="4933105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a:xfrm>
            <a:off x="252845" y="1285875"/>
            <a:ext cx="8796812" cy="1714500"/>
          </a:xfrm>
        </p:spPr>
        <p:txBody>
          <a:bodyPr/>
          <a:lstStyle/>
          <a:p>
            <a:r>
              <a:rPr lang="en-US" sz="4000" dirty="0"/>
              <a:t>Management &amp; Governance</a:t>
            </a:r>
          </a:p>
        </p:txBody>
      </p:sp>
    </p:spTree>
    <p:extLst>
      <p:ext uri="{BB962C8B-B14F-4D97-AF65-F5344CB8AC3E}">
        <p14:creationId xmlns:p14="http://schemas.microsoft.com/office/powerpoint/2010/main" val="34791831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a:xfrm>
            <a:off x="4433776" y="855081"/>
            <a:ext cx="4365038" cy="2342926"/>
          </a:xfrm>
        </p:spPr>
        <p:txBody>
          <a:bodyPr/>
          <a:lstStyle/>
          <a:p>
            <a:pPr algn="just"/>
            <a:r>
              <a:rPr lang="en-US" sz="1000" dirty="0">
                <a:hlinkClick r:id="rId2"/>
              </a:rPr>
              <a:t>Azure Local LENS workbook—deep insights at scale, in minutes</a:t>
            </a:r>
            <a:endParaRPr lang="en-US" sz="1000" dirty="0"/>
          </a:p>
          <a:p>
            <a:pPr algn="just"/>
            <a:r>
              <a:rPr lang="en-US" sz="1000" dirty="0"/>
              <a:t>As </a:t>
            </a:r>
            <a:r>
              <a:rPr lang="en-US" sz="1000" b="1" dirty="0"/>
              <a:t>Azure Local</a:t>
            </a:r>
            <a:r>
              <a:rPr lang="en-US" sz="1000" dirty="0"/>
              <a:t> deployments scale from a limited number of instances to hundreds or even thousands, operational focus shifts significantly. Management is no longer centered on troubleshooting individual environments but on identifying trends and patterns across the entire fleet. Key questions emerge, such as which sites are exhibiting recurring health issues, where workload density is increasing over time and whether sufficient capacity is available, and which clusters deviate from established operational baselines.</a:t>
            </a:r>
          </a:p>
          <a:p>
            <a:pPr algn="just"/>
            <a:r>
              <a:rPr lang="en-US" sz="1000" dirty="0"/>
              <a:t>To address these challenges, </a:t>
            </a:r>
            <a:r>
              <a:rPr lang="en-US" sz="1000" b="1" dirty="0"/>
              <a:t>Azure Local LENS</a:t>
            </a:r>
            <a:r>
              <a:rPr lang="en-US" sz="1000" dirty="0"/>
              <a:t> has been introduced—a free, community-driven </a:t>
            </a:r>
            <a:r>
              <a:rPr lang="en-US" sz="1000" b="1" dirty="0"/>
              <a:t>Azure Workbook</a:t>
            </a:r>
            <a:r>
              <a:rPr lang="en-US" sz="1000" dirty="0"/>
              <a:t> designed to provide deep, fleet-wide visibility across large Azure Local environments. Azure Local LENS enables operators to analyze health, capacity, and deployment trends quickly and consistently, supporting a transition from reactive troubleshooting to proactive, data-driven operations.</a:t>
            </a:r>
          </a:p>
          <a:p>
            <a:pPr algn="just"/>
            <a:endParaRPr lang="en-US" sz="1000" dirty="0"/>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Management &amp; Governance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3"/>
              </a:rPr>
              <a:t>The Windows Admin Center: Virtualization Mode preview build has been updated</a:t>
            </a:r>
            <a:endParaRPr lang="ru-RU" dirty="0"/>
          </a:p>
          <a:p>
            <a:pPr algn="just"/>
            <a:r>
              <a:rPr lang="en-US" dirty="0"/>
              <a:t>At Microsoft Ignite last year, </a:t>
            </a:r>
            <a:r>
              <a:rPr lang="en-US" b="1" dirty="0"/>
              <a:t>Windows Admin Center: Virtualization Mode (</a:t>
            </a:r>
            <a:r>
              <a:rPr lang="en-US" b="1" dirty="0" err="1"/>
              <a:t>vMode</a:t>
            </a:r>
            <a:r>
              <a:rPr lang="en-US" b="1" dirty="0"/>
              <a:t>)</a:t>
            </a:r>
            <a:r>
              <a:rPr lang="en-US" dirty="0"/>
              <a:t> was introduced as a purpose-built management experience designed to simplify large-scale administration of on-premises Windows Server Hyper-V environments across multiple hosts and clusters, while seamlessly integrating with Azure Arc to enable a true hybrid cloud operating model.</a:t>
            </a:r>
          </a:p>
          <a:p>
            <a:pPr algn="just"/>
            <a:r>
              <a:rPr lang="en-US" dirty="0"/>
              <a:t>The solution has since been updated to version </a:t>
            </a:r>
            <a:r>
              <a:rPr lang="en-US" b="1" dirty="0"/>
              <a:t>2.6.4</a:t>
            </a:r>
            <a:r>
              <a:rPr lang="en-US" dirty="0"/>
              <a:t>. This release establishes the foundation for virtualization mode agent updates. When a newer version of Windows Admin Center: Virtualization Mode is installed, agents deployed on existing </a:t>
            </a:r>
            <a:r>
              <a:rPr lang="en-US" dirty="0" err="1"/>
              <a:t>vMode</a:t>
            </a:r>
            <a:r>
              <a:rPr lang="en-US" dirty="0"/>
              <a:t>-managed machines are automatically upgraded to the latest version, ensuring consistency and alignment across the infrastructure.</a:t>
            </a:r>
          </a:p>
          <a:p>
            <a:pPr algn="just"/>
            <a:endParaRPr lang="en-US" dirty="0"/>
          </a:p>
        </p:txBody>
      </p:sp>
      <p:pic>
        <p:nvPicPr>
          <p:cNvPr id="3" name="Picture 2">
            <a:extLst>
              <a:ext uri="{FF2B5EF4-FFF2-40B4-BE49-F238E27FC236}">
                <a16:creationId xmlns:a16="http://schemas.microsoft.com/office/drawing/2014/main" id="{4000A05D-9F4F-B1B0-AC57-1B46B0B066A3}"/>
              </a:ext>
            </a:extLst>
          </p:cNvPr>
          <p:cNvPicPr>
            <a:picLocks noChangeAspect="1"/>
          </p:cNvPicPr>
          <p:nvPr/>
        </p:nvPicPr>
        <p:blipFill>
          <a:blip r:embed="rId4"/>
          <a:stretch>
            <a:fillRect/>
          </a:stretch>
        </p:blipFill>
        <p:spPr>
          <a:xfrm>
            <a:off x="5093229" y="3198007"/>
            <a:ext cx="3046132" cy="1588154"/>
          </a:xfrm>
          <a:prstGeom prst="rect">
            <a:avLst/>
          </a:prstGeom>
        </p:spPr>
      </p:pic>
    </p:spTree>
    <p:extLst>
      <p:ext uri="{BB962C8B-B14F-4D97-AF65-F5344CB8AC3E}">
        <p14:creationId xmlns:p14="http://schemas.microsoft.com/office/powerpoint/2010/main" val="520864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xEl>
                                              <p:pRg st="0" end="0"/>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xEl>
                                              <p:pRg st="1" end="1"/>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5B2A5C-E35F-E18E-05A4-B6AF8CF698D5}"/>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921B0A37-B626-6209-EE63-BDBE1E100FF0}"/>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89DE73F3-4A2F-648B-BD17-44C88CDB5688}"/>
              </a:ext>
            </a:extLst>
          </p:cNvPr>
          <p:cNvSpPr>
            <a:spLocks noGrp="1"/>
          </p:cNvSpPr>
          <p:nvPr>
            <p:ph type="title"/>
          </p:nvPr>
        </p:nvSpPr>
        <p:spPr/>
        <p:txBody>
          <a:bodyPr/>
          <a:lstStyle/>
          <a:p>
            <a:r>
              <a:rPr lang="en-US" sz="1800" dirty="0"/>
              <a:t>Management &amp; Governance Updates</a:t>
            </a:r>
            <a:endParaRPr lang="en-US" dirty="0"/>
          </a:p>
        </p:txBody>
      </p:sp>
      <p:sp>
        <p:nvSpPr>
          <p:cNvPr id="13" name="Text Placeholder 12">
            <a:extLst>
              <a:ext uri="{FF2B5EF4-FFF2-40B4-BE49-F238E27FC236}">
                <a16:creationId xmlns:a16="http://schemas.microsoft.com/office/drawing/2014/main" id="{1A20683A-1573-CC2D-401E-61BAED70A144}"/>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4B5FF973-31C8-BEFD-DC1E-6209231AED94}"/>
              </a:ext>
            </a:extLst>
          </p:cNvPr>
          <p:cNvSpPr>
            <a:spLocks noGrp="1"/>
          </p:cNvSpPr>
          <p:nvPr>
            <p:ph type="body" sz="quarter" idx="16"/>
          </p:nvPr>
        </p:nvSpPr>
        <p:spPr>
          <a:xfrm>
            <a:off x="342900" y="855081"/>
            <a:ext cx="3955312" cy="1562574"/>
          </a:xfrm>
        </p:spPr>
        <p:txBody>
          <a:bodyPr/>
          <a:lstStyle/>
          <a:p>
            <a:pPr algn="just"/>
            <a:r>
              <a:rPr lang="en-US" dirty="0">
                <a:hlinkClick r:id="rId2"/>
              </a:rPr>
              <a:t>Retirement: "Send data to Event Hubs &amp; Storage (Preview)" retiring July 31, 2026</a:t>
            </a:r>
            <a:endParaRPr lang="en-US" dirty="0"/>
          </a:p>
          <a:p>
            <a:pPr algn="just"/>
            <a:r>
              <a:rPr lang="en-US" dirty="0"/>
              <a:t>On July 31, 2026, MS will retire the preview feature “Send virtual machine client data to Event Hubs and Storage (Preview)” and it will no longer be supported by Microsoft. You will not be able to create any new data collection rules using this feature, and any existing configurations using this capability will stop sending data.</a:t>
            </a:r>
          </a:p>
          <a:p>
            <a:pPr algn="just"/>
            <a:r>
              <a:rPr lang="en-US" dirty="0"/>
              <a:t>You will need to switch to alternatives</a:t>
            </a:r>
          </a:p>
        </p:txBody>
      </p:sp>
    </p:spTree>
    <p:extLst>
      <p:ext uri="{BB962C8B-B14F-4D97-AF65-F5344CB8AC3E}">
        <p14:creationId xmlns:p14="http://schemas.microsoft.com/office/powerpoint/2010/main" val="23707362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Compute</a:t>
            </a:r>
          </a:p>
        </p:txBody>
      </p:sp>
    </p:spTree>
    <p:extLst>
      <p:ext uri="{BB962C8B-B14F-4D97-AF65-F5344CB8AC3E}">
        <p14:creationId xmlns:p14="http://schemas.microsoft.com/office/powerpoint/2010/main" val="2747428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pPr algn="just"/>
            <a:r>
              <a:rPr lang="en-US" sz="1000" dirty="0">
                <a:hlinkClick r:id="rId2"/>
              </a:rPr>
              <a:t>Public Preview: 7th generation Intel-based VMs – Dlsv7/Dsv7/Esv7</a:t>
            </a:r>
            <a:endParaRPr lang="en-US" sz="1000" dirty="0"/>
          </a:p>
          <a:p>
            <a:pPr algn="just"/>
            <a:r>
              <a:rPr lang="en-US" sz="1000" dirty="0"/>
              <a:t>The latest Azure Intel-based v7 VMs are designed to power ever increasing compute demands in today’s data center environment and deliver exceptional performance across a wide range of workloads, from traditional enterprise applications to cutting edge AI.  </a:t>
            </a:r>
          </a:p>
          <a:p>
            <a:pPr algn="just"/>
            <a:r>
              <a:rPr lang="en-US" sz="1000" dirty="0"/>
              <a:t>These VMs deliver several important features and improvements compared previous generation (v6) Intel-based VMs including: </a:t>
            </a:r>
          </a:p>
          <a:p>
            <a:pPr marL="171450" indent="-171450" algn="just">
              <a:buFont typeface="Arial" panose="020B0604020202020204" pitchFamily="34" charset="0"/>
              <a:buChar char="•"/>
            </a:pPr>
            <a:r>
              <a:rPr lang="en-US" sz="1000" dirty="0"/>
              <a:t>Up to 15% better general compute performance, powered by Intel® Xeon® 6 CPUs with turbo frequencies up to 4.2 GHz and up to 2x higher memory bandwidth </a:t>
            </a:r>
          </a:p>
          <a:p>
            <a:pPr marL="171450" indent="-171450" algn="just">
              <a:buFont typeface="Arial" panose="020B0604020202020204" pitchFamily="34" charset="0"/>
              <a:buChar char="•"/>
            </a:pPr>
            <a:r>
              <a:rPr lang="en-US" sz="1000" dirty="0"/>
              <a:t>Expanded sizes and memory capacity: Dsv7 and Esv7 VMs now scale up to 372 vCPUs with Esv7 VMs enabling up to 2.8TiB of memory </a:t>
            </a:r>
          </a:p>
          <a:p>
            <a:pPr marL="171450" indent="-171450" algn="just">
              <a:buFont typeface="Arial" panose="020B0604020202020204" pitchFamily="34" charset="0"/>
              <a:buChar char="•"/>
            </a:pPr>
            <a:r>
              <a:rPr lang="en-US" sz="1000" dirty="0"/>
              <a:t>Increased networking and remote storage performance driven by latest Azure Boost capabilities: </a:t>
            </a:r>
          </a:p>
          <a:p>
            <a:pPr marL="514350" lvl="1" indent="-171450" algn="just">
              <a:buFont typeface="Arial" panose="020B0604020202020204" pitchFamily="34" charset="0"/>
              <a:buChar char="•"/>
            </a:pPr>
            <a:r>
              <a:rPr lang="en-US" sz="1000" dirty="0">
                <a:latin typeface="+mj-lt"/>
              </a:rPr>
              <a:t>Up to 400 Gbps networking bandwidth with the largest size </a:t>
            </a:r>
          </a:p>
          <a:p>
            <a:pPr marL="514350" lvl="1" indent="-171450" algn="just">
              <a:buFont typeface="Arial" panose="020B0604020202020204" pitchFamily="34" charset="0"/>
              <a:buChar char="•"/>
            </a:pPr>
            <a:r>
              <a:rPr lang="en-US" sz="1000" dirty="0">
                <a:latin typeface="+mj-lt"/>
              </a:rPr>
              <a:t>Up to 800k IOPS and 20 </a:t>
            </a:r>
            <a:r>
              <a:rPr lang="en-US" sz="1000" dirty="0" err="1">
                <a:latin typeface="+mj-lt"/>
              </a:rPr>
              <a:t>GBps</a:t>
            </a:r>
            <a:r>
              <a:rPr lang="en-US" sz="1000" dirty="0">
                <a:latin typeface="+mj-lt"/>
              </a:rPr>
              <a:t> throughput to Premium v2 and Ultra Disk remote storage with the largest size </a:t>
            </a:r>
          </a:p>
          <a:p>
            <a:pPr algn="just"/>
            <a:endParaRPr lang="en-US" sz="1000" dirty="0"/>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Compute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dirty="0"/>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3"/>
              </a:rPr>
              <a:t>Public Preview: Azure Command Launcher for Java</a:t>
            </a:r>
            <a:endParaRPr lang="en-US" dirty="0"/>
          </a:p>
          <a:p>
            <a:pPr algn="just"/>
            <a:r>
              <a:rPr lang="en-US" dirty="0"/>
              <a:t>At Microsoft Ignite 2025, MS announced the Public Preview of the Azure Command Launcher for Java, a new JVM launcher optimized specifically for Azure. This tool provides better default ergonomics for Java applications running in containers and virtual machines, ensuring more efficient use of resources right from the start. </a:t>
            </a:r>
            <a:br>
              <a:rPr lang="en-US" dirty="0"/>
            </a:br>
            <a:r>
              <a:rPr lang="en-US" dirty="0"/>
              <a:t>By using Azure Command Launcher for Java to automatically set JVM parameters tailored for cloud deployments, workloads have reduced wasted memory and CPU cycles, improving first-deploy performance, and enhancing cost efficiency. This is ideal for developers, Ops, and SREs, who want better JVM defaults without diving deep into JVM tuning guides, and  develop and deploy cloud-native microservices.   </a:t>
            </a:r>
          </a:p>
          <a:p>
            <a:pPr algn="just"/>
            <a:r>
              <a:rPr lang="en-US" b="1" dirty="0"/>
              <a:t>Key Features</a:t>
            </a:r>
            <a:endParaRPr lang="en-US" dirty="0"/>
          </a:p>
          <a:p>
            <a:pPr marL="171450" indent="-171450" algn="just">
              <a:buFont typeface="Arial" panose="020B0604020202020204" pitchFamily="34" charset="0"/>
              <a:buChar char="•"/>
            </a:pPr>
            <a:r>
              <a:rPr lang="en-US" dirty="0"/>
              <a:t>Automatically benefits from battle-tested defaults for cloud-native and container workloads.   </a:t>
            </a:r>
          </a:p>
          <a:p>
            <a:pPr marL="171450" indent="-171450" algn="just">
              <a:buFont typeface="Arial" panose="020B0604020202020204" pitchFamily="34" charset="0"/>
              <a:buChar char="•"/>
            </a:pPr>
            <a:r>
              <a:rPr lang="en-US" dirty="0"/>
              <a:t>Optimizes resource utilization by setting JVM parameters tailored for cloud deployments.   </a:t>
            </a:r>
          </a:p>
          <a:p>
            <a:pPr marL="171450" indent="-171450" algn="just">
              <a:buFont typeface="Arial" panose="020B0604020202020204" pitchFamily="34" charset="0"/>
              <a:buChar char="•"/>
            </a:pPr>
            <a:r>
              <a:rPr lang="en-US" dirty="0"/>
              <a:t>Improves likelihood of first-deploy performance and cost efficiency.</a:t>
            </a:r>
          </a:p>
          <a:p>
            <a:pPr algn="just"/>
            <a:endParaRPr lang="en-US" dirty="0"/>
          </a:p>
        </p:txBody>
      </p:sp>
    </p:spTree>
    <p:extLst>
      <p:ext uri="{BB962C8B-B14F-4D97-AF65-F5344CB8AC3E}">
        <p14:creationId xmlns:p14="http://schemas.microsoft.com/office/powerpoint/2010/main" val="6741351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2">
                                            <p:txEl>
                                              <p:pRg st="0" end="0"/>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xEl>
                                              <p:pRg st="1" end="1"/>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
                                            <p:txEl>
                                              <p:pRg st="2" end="2"/>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2">
                                            <p:txEl>
                                              <p:pRg st="3" end="3"/>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2">
                                            <p:txEl>
                                              <p:pRg st="4" end="4"/>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2">
                                            <p:txEl>
                                              <p:pRg st="5" end="5"/>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
                                            <p:txEl>
                                              <p:pRg st="6" end="6"/>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F098EE-BBE3-B9BF-C218-E4DEA9A76D9C}"/>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D082964C-E8A1-73CC-B206-1A488254620C}"/>
              </a:ext>
            </a:extLst>
          </p:cNvPr>
          <p:cNvSpPr>
            <a:spLocks noGrp="1"/>
          </p:cNvSpPr>
          <p:nvPr>
            <p:ph type="body" sz="quarter" idx="10"/>
          </p:nvPr>
        </p:nvSpPr>
        <p:spPr>
          <a:xfrm>
            <a:off x="4433776" y="855081"/>
            <a:ext cx="4365038" cy="2443462"/>
          </a:xfrm>
        </p:spPr>
        <p:txBody>
          <a:bodyPr/>
          <a:lstStyle/>
          <a:p>
            <a:pPr algn="just"/>
            <a:r>
              <a:rPr lang="en-US" sz="1000" dirty="0">
                <a:hlinkClick r:id="rId2"/>
              </a:rPr>
              <a:t>MS introduced Maia 200</a:t>
            </a:r>
            <a:endParaRPr lang="en-US" sz="1000" dirty="0"/>
          </a:p>
          <a:p>
            <a:pPr algn="just"/>
            <a:r>
              <a:rPr lang="en-US" sz="1000" dirty="0"/>
              <a:t>Microsoft introduced Maia 200, a next-generation AI inference accelerator designed to dramatically improve the performance and cost efficiency of AI token generation. Built on TSMC’s 3nm process, Maia 200 features native FP8/FP4 tensor cores, 216 GB of HBM3e memory delivering 7 TB/s bandwidth, and a redesigned architecture optimized for feeding and serving massive models at high utilization. It delivers industry-leading performance, outperforming competing </a:t>
            </a:r>
            <a:r>
              <a:rPr lang="en-US" sz="1000" dirty="0" err="1"/>
              <a:t>hyperscaler</a:t>
            </a:r>
            <a:r>
              <a:rPr lang="en-US" sz="1000" dirty="0"/>
              <a:t> silicon and achieving up to 30% better performance per dollar than the latest hardware currently deployed in Microsoft datacenters.</a:t>
            </a:r>
          </a:p>
          <a:p>
            <a:pPr algn="just"/>
            <a:r>
              <a:rPr lang="en-US" sz="1000" dirty="0"/>
              <a:t>Maia 200 is a key part of Microsoft’s heterogeneous AI infrastructure and will power workloads across Microsoft Foundry and Microsoft 365 Copilot, including serving the latest GPT-5.2 models from OpenAI. It will also be used by Microsoft’s Superintelligence team for synthetic data generation and reinforcement learning, accelerating the development of next-generation in-house models.</a:t>
            </a:r>
          </a:p>
        </p:txBody>
      </p:sp>
      <p:sp>
        <p:nvSpPr>
          <p:cNvPr id="11" name="Title 10">
            <a:extLst>
              <a:ext uri="{FF2B5EF4-FFF2-40B4-BE49-F238E27FC236}">
                <a16:creationId xmlns:a16="http://schemas.microsoft.com/office/drawing/2014/main" id="{DDE59A08-9A25-40C0-DC79-D2FB88CF728E}"/>
              </a:ext>
            </a:extLst>
          </p:cNvPr>
          <p:cNvSpPr>
            <a:spLocks noGrp="1"/>
          </p:cNvSpPr>
          <p:nvPr>
            <p:ph type="title"/>
          </p:nvPr>
        </p:nvSpPr>
        <p:spPr/>
        <p:txBody>
          <a:bodyPr/>
          <a:lstStyle/>
          <a:p>
            <a:r>
              <a:rPr lang="en-US" sz="1800" dirty="0"/>
              <a:t>Compute Updates</a:t>
            </a:r>
            <a:endParaRPr lang="en-US" dirty="0"/>
          </a:p>
        </p:txBody>
      </p:sp>
      <p:sp>
        <p:nvSpPr>
          <p:cNvPr id="13" name="Text Placeholder 12">
            <a:extLst>
              <a:ext uri="{FF2B5EF4-FFF2-40B4-BE49-F238E27FC236}">
                <a16:creationId xmlns:a16="http://schemas.microsoft.com/office/drawing/2014/main" id="{4D7D0670-36E5-9279-0AB3-70FC83D5A9FE}"/>
              </a:ext>
            </a:extLst>
          </p:cNvPr>
          <p:cNvSpPr>
            <a:spLocks noGrp="1"/>
          </p:cNvSpPr>
          <p:nvPr>
            <p:ph type="body" sz="quarter" idx="15"/>
          </p:nvPr>
        </p:nvSpPr>
        <p:spPr/>
        <p:txBody>
          <a:bodyPr/>
          <a:lstStyle/>
          <a:p>
            <a:endParaRPr lang="en-US" dirty="0"/>
          </a:p>
        </p:txBody>
      </p:sp>
      <p:sp>
        <p:nvSpPr>
          <p:cNvPr id="14" name="Text Placeholder 13">
            <a:extLst>
              <a:ext uri="{FF2B5EF4-FFF2-40B4-BE49-F238E27FC236}">
                <a16:creationId xmlns:a16="http://schemas.microsoft.com/office/drawing/2014/main" id="{9AC89A86-0455-61DD-7A55-DACDA81B83B1}"/>
              </a:ext>
            </a:extLst>
          </p:cNvPr>
          <p:cNvSpPr>
            <a:spLocks noGrp="1"/>
          </p:cNvSpPr>
          <p:nvPr>
            <p:ph type="body" sz="quarter" idx="16"/>
          </p:nvPr>
        </p:nvSpPr>
        <p:spPr/>
        <p:txBody>
          <a:bodyPr/>
          <a:lstStyle/>
          <a:p>
            <a:pPr algn="just"/>
            <a:r>
              <a:rPr lang="en-US" dirty="0">
                <a:hlinkClick r:id="rId3"/>
              </a:rPr>
              <a:t>Windows 365 now supported in Brazil South</a:t>
            </a:r>
            <a:endParaRPr lang="en-US" dirty="0"/>
          </a:p>
          <a:p>
            <a:pPr algn="just"/>
            <a:r>
              <a:rPr lang="en-US" dirty="0"/>
              <a:t>MS announced that Windows 365 is now available in the  Brazil South region. Organizations can now provision Cloud PCs closer to their users in Brazil and across South America, helping reduce latency and support regional data residency requirements.</a:t>
            </a:r>
          </a:p>
          <a:p>
            <a:pPr algn="just"/>
            <a:r>
              <a:rPr lang="en-US" dirty="0"/>
              <a:t>With this update, Brazil South joins the list of supported Azure regions for Windows 365, giving IT teams greater flexibility in how they deploy and scale Cloud PCs.</a:t>
            </a:r>
          </a:p>
          <a:p>
            <a:pPr algn="just"/>
            <a:r>
              <a:rPr lang="en-US" dirty="0"/>
              <a:t>Note: Brazil South was previously available only through an exception process. With capacity now in place to support all customers, the region is now fully open for general availability.</a:t>
            </a:r>
          </a:p>
        </p:txBody>
      </p:sp>
      <p:pic>
        <p:nvPicPr>
          <p:cNvPr id="3" name="Picture 2">
            <a:extLst>
              <a:ext uri="{FF2B5EF4-FFF2-40B4-BE49-F238E27FC236}">
                <a16:creationId xmlns:a16="http://schemas.microsoft.com/office/drawing/2014/main" id="{C66FFD87-CE1E-3C97-B0EF-1E897551F0CF}"/>
              </a:ext>
            </a:extLst>
          </p:cNvPr>
          <p:cNvPicPr>
            <a:picLocks noChangeAspect="1"/>
          </p:cNvPicPr>
          <p:nvPr/>
        </p:nvPicPr>
        <p:blipFill>
          <a:blip r:embed="rId4"/>
          <a:stretch>
            <a:fillRect/>
          </a:stretch>
        </p:blipFill>
        <p:spPr>
          <a:xfrm>
            <a:off x="6085748" y="3346704"/>
            <a:ext cx="1232643" cy="1159137"/>
          </a:xfrm>
          <a:prstGeom prst="rect">
            <a:avLst/>
          </a:prstGeom>
        </p:spPr>
      </p:pic>
    </p:spTree>
    <p:extLst>
      <p:ext uri="{BB962C8B-B14F-4D97-AF65-F5344CB8AC3E}">
        <p14:creationId xmlns:p14="http://schemas.microsoft.com/office/powerpoint/2010/main" val="187353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2">
                                            <p:txEl>
                                              <p:pRg st="0" end="0"/>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xEl>
                                              <p:pRg st="1" end="1"/>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xEl>
                                              <p:pRg st="2" end="2"/>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531189-CF39-6970-06DD-2F3E951D8112}"/>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E736A2DE-B6FD-C635-9880-42440690A8EF}"/>
              </a:ext>
            </a:extLst>
          </p:cNvPr>
          <p:cNvSpPr>
            <a:spLocks noGrp="1"/>
          </p:cNvSpPr>
          <p:nvPr>
            <p:ph type="body" sz="quarter" idx="10"/>
          </p:nvPr>
        </p:nvSpPr>
        <p:spPr/>
        <p:txBody>
          <a:bodyPr/>
          <a:lstStyle/>
          <a:p>
            <a:pPr algn="just"/>
            <a:r>
              <a:rPr lang="en-US" sz="1000" dirty="0">
                <a:hlinkClick r:id="rId2"/>
              </a:rPr>
              <a:t>Generally Available: Azure AMD Turin Dasv7, Easv7, and Fasv7-series Virtual Machines</a:t>
            </a:r>
            <a:endParaRPr lang="en-US" sz="1000" dirty="0"/>
          </a:p>
          <a:p>
            <a:pPr algn="just"/>
            <a:r>
              <a:rPr lang="en-US" sz="1000" dirty="0"/>
              <a:t>These virtual machines deliver significant enhancements over the previous generation, offering improved CPU performance, greater scalability, and expanded configuration options to meet the demands of a wide range of workloads.</a:t>
            </a:r>
          </a:p>
          <a:p>
            <a:pPr algn="just"/>
            <a:r>
              <a:rPr lang="en-US" sz="1000" dirty="0"/>
              <a:t>Key improvements include:  </a:t>
            </a:r>
          </a:p>
          <a:p>
            <a:pPr marL="171450" indent="-171450" algn="just">
              <a:buFont typeface="Arial" panose="020B0604020202020204" pitchFamily="34" charset="0"/>
              <a:buChar char="•"/>
            </a:pPr>
            <a:r>
              <a:rPr lang="en-US" sz="1000" dirty="0"/>
              <a:t>Up to 35% CPU performance improvement compared to similarly sized v6 VMs </a:t>
            </a:r>
          </a:p>
          <a:p>
            <a:pPr marL="171450" indent="-171450" algn="just">
              <a:buFont typeface="Arial" panose="020B0604020202020204" pitchFamily="34" charset="0"/>
              <a:buChar char="•"/>
            </a:pPr>
            <a:r>
              <a:rPr lang="en-US" sz="1000" dirty="0"/>
              <a:t>Significant performance gains on other workloads:   </a:t>
            </a:r>
          </a:p>
          <a:p>
            <a:pPr marL="514350" lvl="1" indent="-171450" algn="just">
              <a:buFont typeface="Arial" panose="020B0604020202020204" pitchFamily="34" charset="0"/>
              <a:buChar char="•"/>
            </a:pPr>
            <a:r>
              <a:rPr lang="en-US" sz="1000" dirty="0">
                <a:latin typeface="+mj-lt"/>
              </a:rPr>
              <a:t>Up to 25% for Java-based workloads </a:t>
            </a:r>
          </a:p>
          <a:p>
            <a:pPr marL="514350" lvl="1" indent="-171450" algn="just">
              <a:buFont typeface="Arial" panose="020B0604020202020204" pitchFamily="34" charset="0"/>
              <a:buChar char="•"/>
            </a:pPr>
            <a:r>
              <a:rPr lang="en-US" sz="1000" dirty="0">
                <a:latin typeface="+mj-lt"/>
              </a:rPr>
              <a:t>Up to 65% for in-memory cache applications </a:t>
            </a:r>
          </a:p>
          <a:p>
            <a:pPr marL="514350" lvl="1" indent="-171450" algn="just">
              <a:buFont typeface="Arial" panose="020B0604020202020204" pitchFamily="34" charset="0"/>
              <a:buChar char="•"/>
            </a:pPr>
            <a:r>
              <a:rPr lang="en-US" sz="1000" dirty="0">
                <a:latin typeface="+mj-lt"/>
              </a:rPr>
              <a:t>Up to 80% for crypto workloads </a:t>
            </a:r>
          </a:p>
          <a:p>
            <a:pPr marL="514350" lvl="1" indent="-171450" algn="just">
              <a:buFont typeface="Arial" panose="020B0604020202020204" pitchFamily="34" charset="0"/>
              <a:buChar char="•"/>
            </a:pPr>
            <a:r>
              <a:rPr lang="en-US" sz="1000" dirty="0">
                <a:latin typeface="+mj-lt"/>
              </a:rPr>
              <a:t>Up to 130% for web server applications   </a:t>
            </a:r>
          </a:p>
          <a:p>
            <a:pPr marL="171450" indent="-171450" algn="just">
              <a:buFont typeface="Arial" panose="020B0604020202020204" pitchFamily="34" charset="0"/>
              <a:buChar char="•"/>
            </a:pPr>
            <a:r>
              <a:rPr lang="en-US" sz="1000" dirty="0"/>
              <a:t>New VM series introduced: Fadsv7, Faldsv7, and Famdsv7 with local disk support.</a:t>
            </a:r>
          </a:p>
          <a:p>
            <a:pPr algn="just"/>
            <a:r>
              <a:rPr lang="en-US" sz="1000" dirty="0"/>
              <a:t>These VMs are available in the following Azure regions: Australia East, Central US, Germany West Central, Japan East, North Europe, South Central US, Southeast Asia, UK South, West Europe, West US 2, and West US 3. The large 160 vCPU Easv7-series and Eadsv7-series sizes are available in North Europe, South Central US, West Europe, and West US 2.  </a:t>
            </a:r>
          </a:p>
          <a:p>
            <a:pPr algn="just"/>
            <a:endParaRPr lang="en-US" sz="1000" dirty="0"/>
          </a:p>
        </p:txBody>
      </p:sp>
      <p:sp>
        <p:nvSpPr>
          <p:cNvPr id="11" name="Title 10">
            <a:extLst>
              <a:ext uri="{FF2B5EF4-FFF2-40B4-BE49-F238E27FC236}">
                <a16:creationId xmlns:a16="http://schemas.microsoft.com/office/drawing/2014/main" id="{55108E1B-188F-34CB-E2F4-B4F546C318BA}"/>
              </a:ext>
            </a:extLst>
          </p:cNvPr>
          <p:cNvSpPr>
            <a:spLocks noGrp="1"/>
          </p:cNvSpPr>
          <p:nvPr>
            <p:ph type="title"/>
          </p:nvPr>
        </p:nvSpPr>
        <p:spPr/>
        <p:txBody>
          <a:bodyPr/>
          <a:lstStyle/>
          <a:p>
            <a:r>
              <a:rPr lang="en-US" sz="1800" dirty="0"/>
              <a:t>Compute Updates</a:t>
            </a:r>
            <a:endParaRPr lang="en-US" dirty="0"/>
          </a:p>
        </p:txBody>
      </p:sp>
      <p:sp>
        <p:nvSpPr>
          <p:cNvPr id="13" name="Text Placeholder 12">
            <a:extLst>
              <a:ext uri="{FF2B5EF4-FFF2-40B4-BE49-F238E27FC236}">
                <a16:creationId xmlns:a16="http://schemas.microsoft.com/office/drawing/2014/main" id="{0AC618DB-0932-277F-3E42-37D002107928}"/>
              </a:ext>
            </a:extLst>
          </p:cNvPr>
          <p:cNvSpPr>
            <a:spLocks noGrp="1"/>
          </p:cNvSpPr>
          <p:nvPr>
            <p:ph type="body" sz="quarter" idx="15"/>
          </p:nvPr>
        </p:nvSpPr>
        <p:spPr/>
        <p:txBody>
          <a:bodyPr/>
          <a:lstStyle/>
          <a:p>
            <a:endParaRPr lang="en-US" dirty="0"/>
          </a:p>
        </p:txBody>
      </p:sp>
      <p:sp>
        <p:nvSpPr>
          <p:cNvPr id="14" name="Text Placeholder 13">
            <a:extLst>
              <a:ext uri="{FF2B5EF4-FFF2-40B4-BE49-F238E27FC236}">
                <a16:creationId xmlns:a16="http://schemas.microsoft.com/office/drawing/2014/main" id="{D5C20627-BF61-394B-61E8-E9F6702CBB52}"/>
              </a:ext>
            </a:extLst>
          </p:cNvPr>
          <p:cNvSpPr>
            <a:spLocks noGrp="1"/>
          </p:cNvSpPr>
          <p:nvPr>
            <p:ph type="body" sz="quarter" idx="16"/>
          </p:nvPr>
        </p:nvSpPr>
        <p:spPr/>
        <p:txBody>
          <a:bodyPr/>
          <a:lstStyle/>
          <a:p>
            <a:pPr algn="just"/>
            <a:r>
              <a:rPr lang="en-US" dirty="0">
                <a:hlinkClick r:id="rId3"/>
              </a:rPr>
              <a:t>Generally Available: Azure Databricks Agent Bricks Knowledge Assistant</a:t>
            </a:r>
            <a:endParaRPr lang="en-US" dirty="0"/>
          </a:p>
          <a:p>
            <a:pPr algn="just"/>
            <a:r>
              <a:rPr lang="en-US" dirty="0"/>
              <a:t>Azure Databricks Agent Bricks knowledge assistant empowers to create, deploy, and manage AI agents directly within the Azure Databricks platform, using unified data and AI capabilities.</a:t>
            </a:r>
          </a:p>
          <a:p>
            <a:pPr algn="just"/>
            <a:r>
              <a:rPr lang="en-US" dirty="0"/>
              <a:t>This feature simplifies agent development by providing prebuilt components, secure integration with enterprise data, and scalable orchestration. </a:t>
            </a:r>
          </a:p>
          <a:p>
            <a:pPr algn="just"/>
            <a:r>
              <a:rPr lang="en-US" dirty="0"/>
              <a:t>Agent Bricks allows to accelerate automation, enhance decision-making, and deliver personalized experiences all while maintaining compliance and governance standards under the Azure ecosystem.</a:t>
            </a:r>
          </a:p>
        </p:txBody>
      </p:sp>
    </p:spTree>
    <p:extLst>
      <p:ext uri="{BB962C8B-B14F-4D97-AF65-F5344CB8AC3E}">
        <p14:creationId xmlns:p14="http://schemas.microsoft.com/office/powerpoint/2010/main" val="25538196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2">
                                            <p:txEl>
                                              <p:pRg st="0" end="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xEl>
                                              <p:pRg st="1" end="1"/>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xEl>
                                              <p:pRg st="2" end="2"/>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xEl>
                                              <p:pRg st="3" end="3"/>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
                                            <p:txEl>
                                              <p:pRg st="4" end="4"/>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2">
                                            <p:txEl>
                                              <p:pRg st="5" end="5"/>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2">
                                            <p:txEl>
                                              <p:pRg st="6" end="6"/>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2">
                                            <p:txEl>
                                              <p:pRg st="7" end="7"/>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
                                            <p:txEl>
                                              <p:pRg st="8" end="8"/>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
                                            <p:txEl>
                                              <p:pRg st="9" end="9"/>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E763FF5-8F52-E1F0-C84C-59E373B26699}"/>
              </a:ext>
            </a:extLst>
          </p:cNvPr>
          <p:cNvSpPr>
            <a:spLocks noGrp="1"/>
          </p:cNvSpPr>
          <p:nvPr>
            <p:ph type="body" sz="quarter" idx="10"/>
          </p:nvPr>
        </p:nvSpPr>
        <p:spPr/>
        <p:txBody>
          <a:bodyPr/>
          <a:lstStyle/>
          <a:p>
            <a:endParaRPr lang="en-US"/>
          </a:p>
        </p:txBody>
      </p:sp>
      <p:sp>
        <p:nvSpPr>
          <p:cNvPr id="3" name="Title 2">
            <a:extLst>
              <a:ext uri="{FF2B5EF4-FFF2-40B4-BE49-F238E27FC236}">
                <a16:creationId xmlns:a16="http://schemas.microsoft.com/office/drawing/2014/main" id="{A63230A8-8421-8712-4545-01E4BB40FDAD}"/>
              </a:ext>
            </a:extLst>
          </p:cNvPr>
          <p:cNvSpPr>
            <a:spLocks noGrp="1"/>
          </p:cNvSpPr>
          <p:nvPr>
            <p:ph type="title"/>
          </p:nvPr>
        </p:nvSpPr>
        <p:spPr/>
        <p:txBody>
          <a:bodyPr/>
          <a:lstStyle/>
          <a:p>
            <a:r>
              <a:rPr lang="en-US" sz="1600" dirty="0"/>
              <a:t>Compute Updates</a:t>
            </a:r>
            <a:endParaRPr lang="en-US" dirty="0"/>
          </a:p>
        </p:txBody>
      </p:sp>
      <p:sp>
        <p:nvSpPr>
          <p:cNvPr id="4" name="Text Placeholder 3">
            <a:extLst>
              <a:ext uri="{FF2B5EF4-FFF2-40B4-BE49-F238E27FC236}">
                <a16:creationId xmlns:a16="http://schemas.microsoft.com/office/drawing/2014/main" id="{1FFBE85E-8B19-5ADC-E0D5-11753AA726EF}"/>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2141A5B8-23AC-D70E-7D5F-E8A404F8248E}"/>
              </a:ext>
            </a:extLst>
          </p:cNvPr>
          <p:cNvSpPr>
            <a:spLocks noGrp="1"/>
          </p:cNvSpPr>
          <p:nvPr>
            <p:ph type="body" sz="quarter" idx="16"/>
          </p:nvPr>
        </p:nvSpPr>
        <p:spPr/>
        <p:txBody>
          <a:bodyPr/>
          <a:lstStyle/>
          <a:p>
            <a:pPr algn="just"/>
            <a:r>
              <a:rPr lang="en-US" dirty="0">
                <a:hlinkClick r:id="rId2"/>
              </a:rPr>
              <a:t>Announcing General Availability of RDP </a:t>
            </a:r>
            <a:r>
              <a:rPr lang="en-US" dirty="0" err="1">
                <a:hlinkClick r:id="rId2"/>
              </a:rPr>
              <a:t>Shortpath</a:t>
            </a:r>
            <a:r>
              <a:rPr lang="en-US" dirty="0">
                <a:hlinkClick r:id="rId2"/>
              </a:rPr>
              <a:t> Configuration via GPO and Microsoft Intune</a:t>
            </a:r>
            <a:endParaRPr lang="ru-RU" dirty="0"/>
          </a:p>
          <a:p>
            <a:pPr algn="just"/>
            <a:r>
              <a:rPr lang="en-US" dirty="0"/>
              <a:t>This update introduces a unified, policy-driven approach for managing which RDP </a:t>
            </a:r>
            <a:r>
              <a:rPr lang="en-US" dirty="0" err="1"/>
              <a:t>Shortpath</a:t>
            </a:r>
            <a:r>
              <a:rPr lang="en-US" dirty="0"/>
              <a:t> modes—</a:t>
            </a:r>
            <a:r>
              <a:rPr lang="en-US" b="1" dirty="0"/>
              <a:t>Managed</a:t>
            </a:r>
            <a:r>
              <a:rPr lang="en-US" dirty="0"/>
              <a:t>, </a:t>
            </a:r>
            <a:r>
              <a:rPr lang="en-US" b="1" dirty="0"/>
              <a:t>Public/STUN</a:t>
            </a:r>
            <a:r>
              <a:rPr lang="en-US" dirty="0"/>
              <a:t>, and </a:t>
            </a:r>
            <a:r>
              <a:rPr lang="en-US" b="1" dirty="0"/>
              <a:t>Public/TURN</a:t>
            </a:r>
            <a:r>
              <a:rPr lang="en-US" dirty="0"/>
              <a:t>—are enabled across </a:t>
            </a:r>
            <a:r>
              <a:rPr lang="en-US" b="1" dirty="0"/>
              <a:t>Azure Virtual Desktop (AVD)</a:t>
            </a:r>
            <a:r>
              <a:rPr lang="en-US" dirty="0"/>
              <a:t> session hosts and </a:t>
            </a:r>
            <a:r>
              <a:rPr lang="en-US" b="1" dirty="0"/>
              <a:t>Windows 365 Cloud PCs</a:t>
            </a:r>
            <a:r>
              <a:rPr lang="en-US" dirty="0"/>
              <a:t>. The </a:t>
            </a:r>
            <a:r>
              <a:rPr lang="en-US" dirty="0" err="1"/>
              <a:t>Shortpath</a:t>
            </a:r>
            <a:r>
              <a:rPr lang="en-US" dirty="0"/>
              <a:t> controls are now exposed as registry-backed policies, allowing organizations to enforce consistent configuration across large-scale or distributed environments.</a:t>
            </a:r>
          </a:p>
          <a:p>
            <a:pPr algn="just"/>
            <a:r>
              <a:rPr lang="en-US" dirty="0"/>
              <a:t>RDP </a:t>
            </a:r>
            <a:r>
              <a:rPr lang="en-US" dirty="0" err="1"/>
              <a:t>Shortpath</a:t>
            </a:r>
            <a:r>
              <a:rPr lang="en-US" dirty="0"/>
              <a:t> supports multiple optimized UDP-based transport paths to improve connection performance and reliability across varying network conditions. These include Managed, Public/STUN, and Public/TURN modes, which together form the complete RDP </a:t>
            </a:r>
            <a:r>
              <a:rPr lang="en-US" dirty="0" err="1"/>
              <a:t>Shortpath</a:t>
            </a:r>
            <a:r>
              <a:rPr lang="en-US" dirty="0"/>
              <a:t> feature set. Microsoft recommends keeping all modes enabled to allow automatic selection of the optimal path. However, organizations with stricter networking or security requirements—such as disabling STUN-based traversal to ensure traffic flows exclusively through TURN’s dedicated ports and subnets—can now enforce these constraints through centralized policy</a:t>
            </a:r>
          </a:p>
        </p:txBody>
      </p:sp>
    </p:spTree>
    <p:extLst>
      <p:ext uri="{BB962C8B-B14F-4D97-AF65-F5344CB8AC3E}">
        <p14:creationId xmlns:p14="http://schemas.microsoft.com/office/powerpoint/2010/main" val="1721154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8303117-3B93-5951-43A2-93D39FFA61B3}"/>
              </a:ext>
            </a:extLst>
          </p:cNvPr>
          <p:cNvSpPr>
            <a:spLocks noGrp="1"/>
          </p:cNvSpPr>
          <p:nvPr>
            <p:ph type="body" sz="quarter" idx="10"/>
          </p:nvPr>
        </p:nvSpPr>
        <p:spPr>
          <a:xfrm>
            <a:off x="4433776" y="768906"/>
            <a:ext cx="4365038" cy="3774069"/>
          </a:xfrm>
        </p:spPr>
        <p:txBody>
          <a:bodyPr/>
          <a:lstStyle/>
          <a:p>
            <a:r>
              <a:rPr lang="en-US" sz="900" u="sng" dirty="0">
                <a:hlinkClick r:id="rId2"/>
              </a:rPr>
              <a:t>Data Engineering</a:t>
            </a:r>
            <a:endParaRPr lang="en-US" sz="900" dirty="0"/>
          </a:p>
          <a:p>
            <a:pPr lvl="1"/>
            <a:r>
              <a:rPr lang="en-US" sz="900" u="sng" dirty="0">
                <a:latin typeface="+mj-lt"/>
                <a:hlinkClick r:id="rId3"/>
              </a:rPr>
              <a:t>High Concurrency mode for Lakehouse operations</a:t>
            </a:r>
            <a:endParaRPr lang="en-US" sz="900" dirty="0">
              <a:latin typeface="+mj-lt"/>
            </a:endParaRPr>
          </a:p>
          <a:p>
            <a:pPr lvl="1"/>
            <a:r>
              <a:rPr lang="en-US" sz="900" u="sng" dirty="0">
                <a:latin typeface="+mj-lt"/>
                <a:hlinkClick r:id="rId4"/>
              </a:rPr>
              <a:t>Fabric connection inside Notebook (Preview)</a:t>
            </a:r>
            <a:endParaRPr lang="en-US" sz="900" dirty="0">
              <a:latin typeface="+mj-lt"/>
            </a:endParaRPr>
          </a:p>
          <a:p>
            <a:pPr lvl="1"/>
            <a:r>
              <a:rPr lang="en-US" sz="900" u="sng" dirty="0">
                <a:latin typeface="+mj-lt"/>
                <a:hlinkClick r:id="rId5"/>
              </a:rPr>
              <a:t>Open and edit workspace’s Notebook inside VS Code</a:t>
            </a:r>
            <a:endParaRPr lang="en-US" sz="900" dirty="0">
              <a:latin typeface="+mj-lt"/>
            </a:endParaRPr>
          </a:p>
          <a:p>
            <a:pPr lvl="1"/>
            <a:r>
              <a:rPr lang="en-US" sz="900" u="sng" dirty="0">
                <a:latin typeface="+mj-lt"/>
                <a:hlinkClick r:id="rId6"/>
              </a:rPr>
              <a:t>Create or replace semantics support for Materialized Lake View</a:t>
            </a:r>
            <a:endParaRPr lang="en-US" sz="900" dirty="0">
              <a:latin typeface="+mj-lt"/>
            </a:endParaRPr>
          </a:p>
          <a:p>
            <a:pPr lvl="1"/>
            <a:r>
              <a:rPr lang="en-US" sz="900" u="sng" dirty="0">
                <a:latin typeface="+mj-lt"/>
                <a:hlinkClick r:id="rId7"/>
              </a:rPr>
              <a:t>Lineage enhancements in Materialized Lake views</a:t>
            </a:r>
            <a:endParaRPr lang="en-US" sz="900" dirty="0">
              <a:latin typeface="+mj-lt"/>
            </a:endParaRPr>
          </a:p>
          <a:p>
            <a:r>
              <a:rPr lang="en-US" sz="900" u="sng" dirty="0">
                <a:hlinkClick r:id="rId8"/>
              </a:rPr>
              <a:t>Data Warehouse</a:t>
            </a:r>
            <a:endParaRPr lang="en-US" sz="900" dirty="0"/>
          </a:p>
          <a:p>
            <a:pPr lvl="1"/>
            <a:r>
              <a:rPr lang="en-US" sz="900" u="sng" dirty="0">
                <a:latin typeface="+mj-lt"/>
                <a:hlinkClick r:id="rId9"/>
              </a:rPr>
              <a:t>Proactive statistics refresh</a:t>
            </a:r>
            <a:endParaRPr lang="en-US" sz="900" dirty="0">
              <a:latin typeface="+mj-lt"/>
            </a:endParaRPr>
          </a:p>
          <a:p>
            <a:pPr lvl="1"/>
            <a:r>
              <a:rPr lang="en-US" sz="900" u="sng" dirty="0">
                <a:latin typeface="+mj-lt"/>
                <a:hlinkClick r:id="rId10"/>
              </a:rPr>
              <a:t>Incremental statistics refresh</a:t>
            </a:r>
            <a:endParaRPr lang="en-US" sz="900" dirty="0">
              <a:latin typeface="+mj-lt"/>
            </a:endParaRPr>
          </a:p>
          <a:p>
            <a:pPr lvl="1"/>
            <a:r>
              <a:rPr lang="en-US" sz="900" u="sng" dirty="0">
                <a:latin typeface="+mj-lt"/>
                <a:hlinkClick r:id="rId11"/>
              </a:rPr>
              <a:t>Result set caching (Generally Available)</a:t>
            </a:r>
            <a:endParaRPr lang="en-US" sz="900" dirty="0">
              <a:latin typeface="+mj-lt"/>
            </a:endParaRPr>
          </a:p>
          <a:p>
            <a:pPr lvl="1"/>
            <a:r>
              <a:rPr lang="en-US" sz="900" u="sng" dirty="0">
                <a:latin typeface="+mj-lt"/>
                <a:hlinkClick r:id="rId12"/>
              </a:rPr>
              <a:t>MERGE Transact-SQL (Generally Available)</a:t>
            </a:r>
            <a:endParaRPr lang="en-US" sz="900" dirty="0">
              <a:latin typeface="+mj-lt"/>
            </a:endParaRPr>
          </a:p>
          <a:p>
            <a:r>
              <a:rPr lang="en-US" sz="900" u="sng" dirty="0">
                <a:hlinkClick r:id="rId13"/>
              </a:rPr>
              <a:t>Real-Time Intelligence</a:t>
            </a:r>
            <a:endParaRPr lang="en-US" sz="900" dirty="0"/>
          </a:p>
          <a:p>
            <a:pPr lvl="1"/>
            <a:r>
              <a:rPr lang="en-US" sz="900" u="sng" dirty="0">
                <a:latin typeface="+mj-lt"/>
                <a:hlinkClick r:id="rId14"/>
              </a:rPr>
              <a:t>MQTT v3 support for the </a:t>
            </a:r>
            <a:r>
              <a:rPr lang="en-US" sz="900" u="sng" dirty="0" err="1">
                <a:latin typeface="+mj-lt"/>
                <a:hlinkClick r:id="rId14"/>
              </a:rPr>
              <a:t>Eventstream</a:t>
            </a:r>
            <a:r>
              <a:rPr lang="en-US" sz="900" u="sng" dirty="0">
                <a:latin typeface="+mj-lt"/>
                <a:hlinkClick r:id="rId14"/>
              </a:rPr>
              <a:t> MQTT Connector</a:t>
            </a:r>
            <a:endParaRPr lang="en-US" sz="900" dirty="0">
              <a:latin typeface="+mj-lt"/>
            </a:endParaRPr>
          </a:p>
          <a:p>
            <a:pPr lvl="1"/>
            <a:r>
              <a:rPr lang="en-US" sz="900" u="sng" dirty="0">
                <a:latin typeface="+mj-lt"/>
                <a:hlinkClick r:id="rId15"/>
              </a:rPr>
              <a:t>Real-Time Weather Connector for </a:t>
            </a:r>
            <a:r>
              <a:rPr lang="en-US" sz="900" u="sng" dirty="0" err="1">
                <a:latin typeface="+mj-lt"/>
                <a:hlinkClick r:id="rId15"/>
              </a:rPr>
              <a:t>Eventstream</a:t>
            </a:r>
            <a:r>
              <a:rPr lang="en-US" sz="900" u="sng" dirty="0">
                <a:latin typeface="+mj-lt"/>
                <a:hlinkClick r:id="rId15"/>
              </a:rPr>
              <a:t> (Generally Available)</a:t>
            </a:r>
            <a:endParaRPr lang="en-US" sz="900" dirty="0">
              <a:latin typeface="+mj-lt"/>
            </a:endParaRPr>
          </a:p>
          <a:p>
            <a:pPr lvl="1"/>
            <a:r>
              <a:rPr lang="en-US" sz="900" u="sng" dirty="0" err="1">
                <a:latin typeface="+mj-lt"/>
                <a:hlinkClick r:id="rId16"/>
              </a:rPr>
              <a:t>Eventhouse</a:t>
            </a:r>
            <a:r>
              <a:rPr lang="en-US" sz="900" u="sng" dirty="0">
                <a:latin typeface="+mj-lt"/>
                <a:hlinkClick r:id="rId16"/>
              </a:rPr>
              <a:t> accelerated </a:t>
            </a:r>
            <a:r>
              <a:rPr lang="en-US" sz="900" u="sng" dirty="0" err="1">
                <a:latin typeface="+mj-lt"/>
                <a:hlinkClick r:id="rId16"/>
              </a:rPr>
              <a:t>OneLake</a:t>
            </a:r>
            <a:r>
              <a:rPr lang="en-US" sz="900" u="sng" dirty="0">
                <a:latin typeface="+mj-lt"/>
                <a:hlinkClick r:id="rId16"/>
              </a:rPr>
              <a:t> shortcuts now support acceleration based on date-time columns</a:t>
            </a:r>
            <a:endParaRPr lang="en-US" sz="900" dirty="0">
              <a:latin typeface="+mj-lt"/>
            </a:endParaRPr>
          </a:p>
          <a:p>
            <a:pPr lvl="1"/>
            <a:r>
              <a:rPr lang="en-US" sz="900" u="sng" dirty="0" err="1">
                <a:latin typeface="+mj-lt"/>
                <a:hlinkClick r:id="rId17"/>
              </a:rPr>
              <a:t>Eventhouse</a:t>
            </a:r>
            <a:r>
              <a:rPr lang="en-US" sz="900" u="sng" dirty="0">
                <a:latin typeface="+mj-lt"/>
                <a:hlinkClick r:id="rId17"/>
              </a:rPr>
              <a:t> accelerated </a:t>
            </a:r>
            <a:r>
              <a:rPr lang="en-US" sz="900" u="sng" dirty="0" err="1">
                <a:latin typeface="+mj-lt"/>
                <a:hlinkClick r:id="rId17"/>
              </a:rPr>
              <a:t>OneLake</a:t>
            </a:r>
            <a:r>
              <a:rPr lang="en-US" sz="900" u="sng" dirty="0">
                <a:latin typeface="+mj-lt"/>
                <a:hlinkClick r:id="rId17"/>
              </a:rPr>
              <a:t> shortcuts control data freshness latency</a:t>
            </a:r>
            <a:endParaRPr lang="en-US" sz="900" dirty="0">
              <a:latin typeface="+mj-lt"/>
            </a:endParaRPr>
          </a:p>
          <a:p>
            <a:pPr lvl="1"/>
            <a:r>
              <a:rPr lang="en-US" sz="900" u="sng" dirty="0">
                <a:latin typeface="+mj-lt"/>
                <a:hlinkClick r:id="rId18"/>
              </a:rPr>
              <a:t>Simplified KQL syntax for querying shortcuts in </a:t>
            </a:r>
            <a:r>
              <a:rPr lang="en-US" sz="900" u="sng" dirty="0" err="1">
                <a:latin typeface="+mj-lt"/>
                <a:hlinkClick r:id="rId18"/>
              </a:rPr>
              <a:t>Eventhouse</a:t>
            </a:r>
            <a:endParaRPr lang="en-US" sz="900" dirty="0">
              <a:latin typeface="+mj-lt"/>
            </a:endParaRPr>
          </a:p>
          <a:p>
            <a:pPr lvl="1"/>
            <a:r>
              <a:rPr lang="en-US" sz="900" u="sng" dirty="0">
                <a:latin typeface="+mj-lt"/>
                <a:hlinkClick r:id="rId19"/>
              </a:rPr>
              <a:t>Copilot support for querying shortcuts in </a:t>
            </a:r>
            <a:r>
              <a:rPr lang="en-US" sz="900" u="sng" dirty="0" err="1">
                <a:latin typeface="+mj-lt"/>
                <a:hlinkClick r:id="rId19"/>
              </a:rPr>
              <a:t>Eventhouse</a:t>
            </a:r>
            <a:endParaRPr lang="en-US" sz="900" dirty="0">
              <a:latin typeface="+mj-lt"/>
            </a:endParaRPr>
          </a:p>
          <a:p>
            <a:endParaRPr lang="en-US" sz="900" dirty="0"/>
          </a:p>
        </p:txBody>
      </p:sp>
      <p:sp>
        <p:nvSpPr>
          <p:cNvPr id="3" name="Title 2">
            <a:extLst>
              <a:ext uri="{FF2B5EF4-FFF2-40B4-BE49-F238E27FC236}">
                <a16:creationId xmlns:a16="http://schemas.microsoft.com/office/drawing/2014/main" id="{89AB083F-A055-ACB9-EFEA-83479E5F1D2A}"/>
              </a:ext>
            </a:extLst>
          </p:cNvPr>
          <p:cNvSpPr>
            <a:spLocks noGrp="1"/>
          </p:cNvSpPr>
          <p:nvPr>
            <p:ph type="title"/>
          </p:nvPr>
        </p:nvSpPr>
        <p:spPr/>
        <p:txBody>
          <a:bodyPr/>
          <a:lstStyle/>
          <a:p>
            <a:r>
              <a:rPr lang="en-US" dirty="0"/>
              <a:t>Fabric January 2026 Feature Summary</a:t>
            </a:r>
          </a:p>
        </p:txBody>
      </p:sp>
      <p:sp>
        <p:nvSpPr>
          <p:cNvPr id="4" name="Text Placeholder 3">
            <a:extLst>
              <a:ext uri="{FF2B5EF4-FFF2-40B4-BE49-F238E27FC236}">
                <a16:creationId xmlns:a16="http://schemas.microsoft.com/office/drawing/2014/main" id="{D362613A-1D1B-23EB-F0A6-39DD3E237873}"/>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B3F892FD-0B60-4C52-DBCD-F00536BEDB52}"/>
              </a:ext>
            </a:extLst>
          </p:cNvPr>
          <p:cNvSpPr>
            <a:spLocks noGrp="1"/>
          </p:cNvSpPr>
          <p:nvPr>
            <p:ph type="body" sz="quarter" idx="16"/>
          </p:nvPr>
        </p:nvSpPr>
        <p:spPr/>
        <p:txBody>
          <a:bodyPr/>
          <a:lstStyle/>
          <a:p>
            <a:r>
              <a:rPr lang="en-US" sz="900" u="sng" dirty="0">
                <a:hlinkClick r:id="rId20"/>
              </a:rPr>
              <a:t>Events &amp; Announcements</a:t>
            </a:r>
            <a:endParaRPr lang="en-US" sz="900" dirty="0"/>
          </a:p>
          <a:p>
            <a:pPr lvl="1"/>
            <a:r>
              <a:rPr lang="en-US" sz="900" u="sng" dirty="0">
                <a:latin typeface="+mj-lt"/>
                <a:hlinkClick r:id="rId21"/>
              </a:rPr>
              <a:t>Upgrade your skills and certifications before </a:t>
            </a:r>
            <a:r>
              <a:rPr lang="en-US" sz="900" u="sng" dirty="0" err="1">
                <a:latin typeface="+mj-lt"/>
                <a:hlinkClick r:id="rId21"/>
              </a:rPr>
              <a:t>FabCon</a:t>
            </a:r>
            <a:endParaRPr lang="en-US" sz="900" dirty="0">
              <a:latin typeface="+mj-lt"/>
            </a:endParaRPr>
          </a:p>
          <a:p>
            <a:pPr lvl="1"/>
            <a:r>
              <a:rPr lang="en-US" sz="900" u="sng" dirty="0">
                <a:latin typeface="+mj-lt"/>
                <a:hlinkClick r:id="rId22"/>
              </a:rPr>
              <a:t>Have you registered for </a:t>
            </a:r>
            <a:r>
              <a:rPr lang="en-US" sz="900" u="sng" dirty="0" err="1">
                <a:latin typeface="+mj-lt"/>
                <a:hlinkClick r:id="rId22"/>
              </a:rPr>
              <a:t>FabCon</a:t>
            </a:r>
            <a:r>
              <a:rPr lang="en-US" sz="900" u="sng" dirty="0">
                <a:latin typeface="+mj-lt"/>
                <a:hlinkClick r:id="rId22"/>
              </a:rPr>
              <a:t> Atlanta yet?</a:t>
            </a:r>
            <a:endParaRPr lang="en-US" sz="900" dirty="0">
              <a:latin typeface="+mj-lt"/>
            </a:endParaRPr>
          </a:p>
          <a:p>
            <a:r>
              <a:rPr lang="en-US" sz="900" u="sng" dirty="0">
                <a:hlinkClick r:id="rId23"/>
              </a:rPr>
              <a:t>General</a:t>
            </a:r>
            <a:endParaRPr lang="en-US" sz="900" dirty="0"/>
          </a:p>
          <a:p>
            <a:pPr lvl="1"/>
            <a:r>
              <a:rPr lang="en-US" sz="900" u="sng" dirty="0">
                <a:latin typeface="+mj-lt"/>
                <a:hlinkClick r:id="rId24"/>
              </a:rPr>
              <a:t>Microsoft acquires Osmos to extend Fabric with agentic data engineering</a:t>
            </a:r>
            <a:endParaRPr lang="en-US" sz="900" dirty="0">
              <a:latin typeface="+mj-lt"/>
            </a:endParaRPr>
          </a:p>
          <a:p>
            <a:r>
              <a:rPr lang="en-US" sz="900" u="sng" dirty="0">
                <a:hlinkClick r:id="rId25"/>
              </a:rPr>
              <a:t>Fabric Platform</a:t>
            </a:r>
            <a:endParaRPr lang="en-US" sz="900" dirty="0"/>
          </a:p>
          <a:p>
            <a:pPr lvl="1"/>
            <a:r>
              <a:rPr lang="en-US" sz="900" u="sng" dirty="0">
                <a:latin typeface="+mj-lt"/>
                <a:hlinkClick r:id="rId26"/>
              </a:rPr>
              <a:t>AI Auto-Summary for semantic models (Preview)</a:t>
            </a:r>
            <a:endParaRPr lang="en-US" sz="900" dirty="0">
              <a:latin typeface="+mj-lt"/>
            </a:endParaRPr>
          </a:p>
          <a:p>
            <a:pPr lvl="1"/>
            <a:r>
              <a:rPr lang="en-US" sz="900" u="sng" dirty="0">
                <a:latin typeface="+mj-lt"/>
                <a:hlinkClick r:id="rId27"/>
              </a:rPr>
              <a:t>Parent-Child hierarchy in </a:t>
            </a:r>
            <a:r>
              <a:rPr lang="en-US" sz="900" u="sng" dirty="0" err="1">
                <a:latin typeface="+mj-lt"/>
                <a:hlinkClick r:id="rId27"/>
              </a:rPr>
              <a:t>OneLake</a:t>
            </a:r>
            <a:r>
              <a:rPr lang="en-US" sz="900" u="sng" dirty="0">
                <a:latin typeface="+mj-lt"/>
                <a:hlinkClick r:id="rId27"/>
              </a:rPr>
              <a:t> catalog</a:t>
            </a:r>
            <a:endParaRPr lang="en-US" sz="900" dirty="0">
              <a:latin typeface="+mj-lt"/>
            </a:endParaRPr>
          </a:p>
          <a:p>
            <a:pPr lvl="1"/>
            <a:r>
              <a:rPr lang="en-US" sz="900" u="sng" dirty="0">
                <a:latin typeface="+mj-lt"/>
                <a:hlinkClick r:id="rId28"/>
              </a:rPr>
              <a:t>Item Reference Variable Type (Preview)</a:t>
            </a:r>
            <a:endParaRPr lang="en-US" sz="900" dirty="0">
              <a:latin typeface="+mj-lt"/>
            </a:endParaRPr>
          </a:p>
          <a:p>
            <a:pPr lvl="1"/>
            <a:r>
              <a:rPr lang="en-US" sz="900" u="sng" dirty="0">
                <a:latin typeface="+mj-lt"/>
                <a:hlinkClick r:id="rId29"/>
              </a:rPr>
              <a:t>Git integration – enhanced support for GitHub Enterprise Cloud with data residency</a:t>
            </a:r>
            <a:endParaRPr lang="en-US" sz="900" dirty="0">
              <a:latin typeface="+mj-lt"/>
            </a:endParaRPr>
          </a:p>
          <a:p>
            <a:pPr lvl="1"/>
            <a:r>
              <a:rPr lang="en-US" sz="900" u="sng" dirty="0">
                <a:latin typeface="+mj-lt"/>
                <a:hlinkClick r:id="rId30"/>
              </a:rPr>
              <a:t>Git integration – Commit to standalone branch</a:t>
            </a:r>
            <a:endParaRPr lang="en-US" sz="900" dirty="0">
              <a:latin typeface="+mj-lt"/>
            </a:endParaRPr>
          </a:p>
          <a:p>
            <a:pPr lvl="1"/>
            <a:r>
              <a:rPr lang="en-US" sz="900" u="sng" dirty="0">
                <a:latin typeface="+mj-lt"/>
                <a:hlinkClick r:id="rId31"/>
              </a:rPr>
              <a:t>Python SDK for Microsoft Fabric REST API (Preview)</a:t>
            </a:r>
            <a:endParaRPr lang="en-US" sz="900" dirty="0">
              <a:latin typeface="+mj-lt"/>
            </a:endParaRPr>
          </a:p>
          <a:p>
            <a:r>
              <a:rPr lang="en-US" sz="900" u="sng" dirty="0" err="1">
                <a:hlinkClick r:id="rId32"/>
              </a:rPr>
              <a:t>OneLake</a:t>
            </a:r>
            <a:endParaRPr lang="en-US" sz="900" dirty="0"/>
          </a:p>
          <a:p>
            <a:pPr lvl="1"/>
            <a:r>
              <a:rPr lang="en-US" sz="900" u="sng" dirty="0">
                <a:latin typeface="+mj-lt"/>
                <a:hlinkClick r:id="rId33"/>
              </a:rPr>
              <a:t>Granular APIs for </a:t>
            </a:r>
            <a:r>
              <a:rPr lang="en-US" sz="900" u="sng" dirty="0" err="1">
                <a:latin typeface="+mj-lt"/>
                <a:hlinkClick r:id="rId33"/>
              </a:rPr>
              <a:t>OneLake</a:t>
            </a:r>
            <a:r>
              <a:rPr lang="en-US" sz="900" u="sng" dirty="0">
                <a:latin typeface="+mj-lt"/>
                <a:hlinkClick r:id="rId33"/>
              </a:rPr>
              <a:t> security (Preview)</a:t>
            </a:r>
            <a:endParaRPr lang="en-US" sz="900" dirty="0">
              <a:latin typeface="+mj-lt"/>
            </a:endParaRPr>
          </a:p>
          <a:p>
            <a:pPr lvl="1"/>
            <a:r>
              <a:rPr lang="en-US" sz="900" u="sng" dirty="0" err="1">
                <a:latin typeface="+mj-lt"/>
                <a:hlinkClick r:id="rId34"/>
              </a:rPr>
              <a:t>OneLake</a:t>
            </a:r>
            <a:r>
              <a:rPr lang="en-US" sz="900" u="sng" dirty="0">
                <a:latin typeface="+mj-lt"/>
                <a:hlinkClick r:id="rId34"/>
              </a:rPr>
              <a:t> security support for Mirrored item types</a:t>
            </a:r>
            <a:endParaRPr lang="en-US" sz="900" dirty="0">
              <a:latin typeface="+mj-lt"/>
            </a:endParaRPr>
          </a:p>
          <a:p>
            <a:pPr lvl="1"/>
            <a:r>
              <a:rPr lang="en-US" sz="900" u="sng" dirty="0" err="1">
                <a:latin typeface="+mj-lt"/>
                <a:hlinkClick r:id="rId35"/>
              </a:rPr>
              <a:t>OneLake</a:t>
            </a:r>
            <a:r>
              <a:rPr lang="en-US" sz="900" u="sng" dirty="0">
                <a:latin typeface="+mj-lt"/>
                <a:hlinkClick r:id="rId35"/>
              </a:rPr>
              <a:t> diagnostics immutable logs</a:t>
            </a:r>
            <a:endParaRPr lang="en-US" sz="900" dirty="0">
              <a:latin typeface="+mj-lt"/>
            </a:endParaRPr>
          </a:p>
          <a:p>
            <a:endParaRPr lang="en-US" sz="900" dirty="0"/>
          </a:p>
        </p:txBody>
      </p:sp>
    </p:spTree>
    <p:extLst>
      <p:ext uri="{BB962C8B-B14F-4D97-AF65-F5344CB8AC3E}">
        <p14:creationId xmlns:p14="http://schemas.microsoft.com/office/powerpoint/2010/main" val="17871369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
                                            <p:txEl>
                                              <p:pRg st="9" end="9"/>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
                                            <p:txEl>
                                              <p:pRg st="10" end="10"/>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
                                            <p:txEl>
                                              <p:pRg st="11" end="11"/>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
                                            <p:txEl>
                                              <p:pRg st="12" end="12"/>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
                                            <p:txEl>
                                              <p:pRg st="13" end="13"/>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
                                            <p:txEl>
                                              <p:pRg st="14" end="14"/>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
                                            <p:txEl>
                                              <p:pRg st="15" end="15"/>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
                                            <p:txEl>
                                              <p:pRg st="0" end="0"/>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
                                            <p:txEl>
                                              <p:pRg st="1" end="1"/>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
                                            <p:txEl>
                                              <p:pRg st="2" end="2"/>
                                            </p:txEl>
                                          </p:spTgt>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
                                            <p:txEl>
                                              <p:pRg st="3" end="3"/>
                                            </p:txEl>
                                          </p:spTgt>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
                                            <p:txEl>
                                              <p:pRg st="4" end="4"/>
                                            </p:txEl>
                                          </p:spTgt>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
                                            <p:txEl>
                                              <p:pRg st="5" end="5"/>
                                            </p:txEl>
                                          </p:spTgt>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
                                            <p:txEl>
                                              <p:pRg st="6" end="6"/>
                                            </p:txEl>
                                          </p:spTgt>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
                                            <p:txEl>
                                              <p:pRg st="7" end="7"/>
                                            </p:txEl>
                                          </p:spTgt>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
                                            <p:txEl>
                                              <p:pRg st="8" end="8"/>
                                            </p:txEl>
                                          </p:spTgt>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
                                            <p:txEl>
                                              <p:pRg st="9" end="9"/>
                                            </p:txEl>
                                          </p:spTgt>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
                                            <p:txEl>
                                              <p:pRg st="10" end="10"/>
                                            </p:txEl>
                                          </p:spTgt>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2">
                                            <p:txEl>
                                              <p:pRg st="11" end="11"/>
                                            </p:txEl>
                                          </p:spTgt>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2">
                                            <p:txEl>
                                              <p:pRg st="12" end="12"/>
                                            </p:txEl>
                                          </p:spTgt>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2">
                                            <p:txEl>
                                              <p:pRg st="13" end="13"/>
                                            </p:txEl>
                                          </p:spTgt>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2">
                                            <p:txEl>
                                              <p:pRg st="14" end="14"/>
                                            </p:txEl>
                                          </p:spTgt>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2">
                                            <p:txEl>
                                              <p:pRg st="15" end="15"/>
                                            </p:txEl>
                                          </p:spTgt>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2">
                                            <p:txEl>
                                              <p:pRg st="16" end="16"/>
                                            </p:txEl>
                                          </p:spTgt>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2">
                                            <p:txEl>
                                              <p:pRg st="17" end="1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5"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2817E1-BA7F-D700-A07D-CF35C50119CB}"/>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995ECF59-E5F0-A908-6FBA-7B62FCFAAF59}"/>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F56FF68D-660F-2CAA-B09A-5A59259AACC4}"/>
              </a:ext>
            </a:extLst>
          </p:cNvPr>
          <p:cNvSpPr>
            <a:spLocks noGrp="1"/>
          </p:cNvSpPr>
          <p:nvPr>
            <p:ph type="title"/>
          </p:nvPr>
        </p:nvSpPr>
        <p:spPr/>
        <p:txBody>
          <a:bodyPr/>
          <a:lstStyle/>
          <a:p>
            <a:r>
              <a:rPr lang="en-US" sz="1800" dirty="0"/>
              <a:t>Compute Updates</a:t>
            </a:r>
            <a:endParaRPr lang="en-US" dirty="0"/>
          </a:p>
        </p:txBody>
      </p:sp>
      <p:sp>
        <p:nvSpPr>
          <p:cNvPr id="13" name="Text Placeholder 12">
            <a:extLst>
              <a:ext uri="{FF2B5EF4-FFF2-40B4-BE49-F238E27FC236}">
                <a16:creationId xmlns:a16="http://schemas.microsoft.com/office/drawing/2014/main" id="{1749C152-D6B4-AF3B-2578-E699D30AD2F0}"/>
              </a:ext>
            </a:extLst>
          </p:cNvPr>
          <p:cNvSpPr>
            <a:spLocks noGrp="1"/>
          </p:cNvSpPr>
          <p:nvPr>
            <p:ph type="body" sz="quarter" idx="15"/>
          </p:nvPr>
        </p:nvSpPr>
        <p:spPr/>
        <p:txBody>
          <a:bodyPr/>
          <a:lstStyle/>
          <a:p>
            <a:endParaRPr lang="en-US" dirty="0"/>
          </a:p>
        </p:txBody>
      </p:sp>
      <p:sp>
        <p:nvSpPr>
          <p:cNvPr id="14" name="Text Placeholder 13">
            <a:extLst>
              <a:ext uri="{FF2B5EF4-FFF2-40B4-BE49-F238E27FC236}">
                <a16:creationId xmlns:a16="http://schemas.microsoft.com/office/drawing/2014/main" id="{49104E40-B616-5259-A98B-8099EE2331BE}"/>
              </a:ext>
            </a:extLst>
          </p:cNvPr>
          <p:cNvSpPr>
            <a:spLocks noGrp="1"/>
          </p:cNvSpPr>
          <p:nvPr>
            <p:ph type="body" sz="quarter" idx="16"/>
          </p:nvPr>
        </p:nvSpPr>
        <p:spPr/>
        <p:txBody>
          <a:bodyPr/>
          <a:lstStyle/>
          <a:p>
            <a:pPr algn="just"/>
            <a:r>
              <a:rPr lang="en-US" dirty="0">
                <a:hlinkClick r:id="rId2"/>
              </a:rPr>
              <a:t>Retirement: Support for Python 3.10 ends on October 1, 2026 – upgrade your Azure Functions apps to Python 3.13</a:t>
            </a:r>
            <a:endParaRPr lang="en-US" dirty="0"/>
          </a:p>
          <a:p>
            <a:pPr algn="just"/>
            <a:r>
              <a:rPr lang="en-US" dirty="0"/>
              <a:t>In alignment with the end of community support, on October 1, 2026, support for Python 3.10 in Azure Functions will end. Apps that are hosted on Functions will continue to run, but security updates and performance optimizations will no longer be available and we'll no longer provide customer service for Python 3.10.</a:t>
            </a:r>
          </a:p>
          <a:p>
            <a:pPr algn="just"/>
            <a:r>
              <a:rPr lang="en-US" b="1" dirty="0"/>
              <a:t>Required action </a:t>
            </a:r>
            <a:endParaRPr lang="en-US" dirty="0"/>
          </a:p>
          <a:p>
            <a:pPr algn="just"/>
            <a:r>
              <a:rPr lang="en-US" dirty="0"/>
              <a:t>To avoid potential security vulnerabilities and take advantage of the latest features, </a:t>
            </a:r>
            <a:r>
              <a:rPr lang="en-US" u="sng" dirty="0">
                <a:hlinkClick r:id="rId3"/>
              </a:rPr>
              <a:t>upgrade Functions app</a:t>
            </a:r>
            <a:r>
              <a:rPr lang="en-US" dirty="0"/>
              <a:t>s to Python 3.13 by 1 October 2026. </a:t>
            </a:r>
          </a:p>
          <a:p>
            <a:pPr algn="just"/>
            <a:endParaRPr lang="en-US" dirty="0"/>
          </a:p>
        </p:txBody>
      </p:sp>
    </p:spTree>
    <p:extLst>
      <p:ext uri="{BB962C8B-B14F-4D97-AF65-F5344CB8AC3E}">
        <p14:creationId xmlns:p14="http://schemas.microsoft.com/office/powerpoint/2010/main" val="163932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Storage &amp; Data</a:t>
            </a:r>
          </a:p>
        </p:txBody>
      </p:sp>
    </p:spTree>
    <p:extLst>
      <p:ext uri="{BB962C8B-B14F-4D97-AF65-F5344CB8AC3E}">
        <p14:creationId xmlns:p14="http://schemas.microsoft.com/office/powerpoint/2010/main" val="21881407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Storage &amp; Data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2"/>
              </a:rPr>
              <a:t>Public Preview: Azure NetApp Files support in OpenShift Virtualization</a:t>
            </a:r>
            <a:endParaRPr lang="en-US" dirty="0"/>
          </a:p>
          <a:p>
            <a:pPr algn="just"/>
            <a:r>
              <a:rPr lang="en-US" dirty="0"/>
              <a:t>Azure NetApp Files now enables fast virtual machine (VM) provisioning, instant cloning, and live migration in OpenShift Virtualization. It offers seamlessly scalable storage with predictable performance and enterprise data management for VM workloads from infrastructure VMs to business-critical databases. </a:t>
            </a:r>
          </a:p>
          <a:p>
            <a:pPr algn="just"/>
            <a:r>
              <a:rPr lang="en-US" dirty="0"/>
              <a:t>Support for Azure NetApp Files in OpenShift Virtualization is now in preview and is available in all Azure regions where Azure NetApp Files and Azure Red Hat OpenShift are offered. </a:t>
            </a:r>
          </a:p>
        </p:txBody>
      </p:sp>
      <p:pic>
        <p:nvPicPr>
          <p:cNvPr id="3" name="Picture 2">
            <a:extLst>
              <a:ext uri="{FF2B5EF4-FFF2-40B4-BE49-F238E27FC236}">
                <a16:creationId xmlns:a16="http://schemas.microsoft.com/office/drawing/2014/main" id="{4AB09883-F486-C407-1E42-91F14F8CBBA9}"/>
              </a:ext>
            </a:extLst>
          </p:cNvPr>
          <p:cNvPicPr>
            <a:picLocks noChangeAspect="1"/>
          </p:cNvPicPr>
          <p:nvPr/>
        </p:nvPicPr>
        <p:blipFill>
          <a:blip r:embed="rId3"/>
          <a:stretch>
            <a:fillRect/>
          </a:stretch>
        </p:blipFill>
        <p:spPr>
          <a:xfrm>
            <a:off x="4993468" y="855080"/>
            <a:ext cx="3426896" cy="3697695"/>
          </a:xfrm>
          <a:prstGeom prst="rect">
            <a:avLst/>
          </a:prstGeom>
        </p:spPr>
      </p:pic>
    </p:spTree>
    <p:extLst>
      <p:ext uri="{BB962C8B-B14F-4D97-AF65-F5344CB8AC3E}">
        <p14:creationId xmlns:p14="http://schemas.microsoft.com/office/powerpoint/2010/main" val="32594031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Databases</a:t>
            </a:r>
          </a:p>
        </p:txBody>
      </p:sp>
    </p:spTree>
    <p:extLst>
      <p:ext uri="{BB962C8B-B14F-4D97-AF65-F5344CB8AC3E}">
        <p14:creationId xmlns:p14="http://schemas.microsoft.com/office/powerpoint/2010/main" val="1240959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Databases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2"/>
              </a:rPr>
              <a:t>Multiple secondaries for failover groups is now in public preview</a:t>
            </a:r>
            <a:endParaRPr lang="en-US" dirty="0"/>
          </a:p>
          <a:p>
            <a:pPr algn="just"/>
            <a:r>
              <a:rPr lang="en-US" dirty="0"/>
              <a:t>Azure has announced that </a:t>
            </a:r>
            <a:r>
              <a:rPr lang="en-US" b="1" dirty="0"/>
              <a:t>support for up to four secondary replicas per failover group</a:t>
            </a:r>
            <a:r>
              <a:rPr lang="en-US" dirty="0"/>
              <a:t> is now available in </a:t>
            </a:r>
            <a:r>
              <a:rPr lang="en-US" b="1" dirty="0"/>
              <a:t>public preview</a:t>
            </a:r>
            <a:r>
              <a:rPr lang="en-US" dirty="0"/>
              <a:t>. This enhancement significantly expands design options for disaster recovery, read scalability, and high-availability architectures.</a:t>
            </a:r>
          </a:p>
          <a:p>
            <a:pPr algn="just"/>
            <a:r>
              <a:rPr lang="en-US" b="1" dirty="0"/>
              <a:t>What’s New</a:t>
            </a:r>
          </a:p>
          <a:p>
            <a:pPr marL="171450" indent="-171450" algn="just">
              <a:buFont typeface="Arial" panose="020B0604020202020204" pitchFamily="34" charset="0"/>
              <a:buChar char="•"/>
            </a:pPr>
            <a:r>
              <a:rPr lang="en-US" dirty="0"/>
              <a:t>Support for </a:t>
            </a:r>
            <a:r>
              <a:rPr lang="en-US" b="1" dirty="0"/>
              <a:t>up to four secondary databases</a:t>
            </a:r>
            <a:r>
              <a:rPr lang="en-US" dirty="0"/>
              <a:t> within a single failover group, deployed in the same or different Azure regions</a:t>
            </a:r>
          </a:p>
          <a:p>
            <a:pPr marL="171450" indent="-171450" algn="just">
              <a:buFont typeface="Arial" panose="020B0604020202020204" pitchFamily="34" charset="0"/>
              <a:buChar char="•"/>
            </a:pPr>
            <a:r>
              <a:rPr lang="en-US" dirty="0"/>
              <a:t>Ability to leverage additional secondaries for </a:t>
            </a:r>
            <a:r>
              <a:rPr lang="en-US" b="1" dirty="0"/>
              <a:t>regional read scale-out</a:t>
            </a:r>
            <a:r>
              <a:rPr lang="en-US" dirty="0"/>
              <a:t>, enabling greater flexibility for read-only workloads</a:t>
            </a:r>
          </a:p>
          <a:p>
            <a:pPr marL="171450" indent="-171450" algn="just">
              <a:buFont typeface="Arial" panose="020B0604020202020204" pitchFamily="34" charset="0"/>
              <a:buChar char="•"/>
            </a:pPr>
            <a:r>
              <a:rPr lang="en-US" dirty="0"/>
              <a:t>Enhanced </a:t>
            </a:r>
            <a:r>
              <a:rPr lang="en-US" b="1" dirty="0"/>
              <a:t>disaster recovery planning</a:t>
            </a:r>
            <a:r>
              <a:rPr lang="en-US" dirty="0"/>
              <a:t> through multiple failover targets</a:t>
            </a:r>
          </a:p>
          <a:p>
            <a:pPr marL="171450" indent="-171450" algn="just">
              <a:buFont typeface="Arial" panose="020B0604020202020204" pitchFamily="34" charset="0"/>
              <a:buChar char="•"/>
            </a:pPr>
            <a:r>
              <a:rPr lang="en-US" dirty="0"/>
              <a:t>Improved resilience by distributing replicas across </a:t>
            </a:r>
            <a:r>
              <a:rPr lang="en-US" b="1" dirty="0"/>
              <a:t>multiple geographic regions</a:t>
            </a:r>
            <a:endParaRPr lang="en-US" dirty="0"/>
          </a:p>
          <a:p>
            <a:pPr marL="171450" indent="-171450" algn="just">
              <a:buFont typeface="Arial" panose="020B0604020202020204" pitchFamily="34" charset="0"/>
              <a:buChar char="•"/>
            </a:pPr>
            <a:r>
              <a:rPr lang="en-US" dirty="0"/>
              <a:t>Simplified </a:t>
            </a:r>
            <a:r>
              <a:rPr lang="en-US" b="1" dirty="0"/>
              <a:t>regional migration scenarios</a:t>
            </a:r>
            <a:r>
              <a:rPr lang="en-US" dirty="0"/>
              <a:t>, allowing workloads to transition to new regions without compromising existing disaster recovery protection</a:t>
            </a:r>
          </a:p>
          <a:p>
            <a:pPr marL="171450" indent="-171450" algn="just">
              <a:buFont typeface="Arial" panose="020B0604020202020204" pitchFamily="34" charset="0"/>
              <a:buChar char="•"/>
            </a:pPr>
            <a:r>
              <a:rPr lang="en-US" dirty="0"/>
              <a:t>This update enables more sophisticated availability and resiliency architectures for Azure SQL Database, particularly for globally distributed applications with advanced continuity and performance requirements.</a:t>
            </a:r>
          </a:p>
          <a:p>
            <a:pPr algn="just"/>
            <a:endParaRPr lang="en-US" dirty="0"/>
          </a:p>
        </p:txBody>
      </p:sp>
      <p:pic>
        <p:nvPicPr>
          <p:cNvPr id="3" name="Picture 2">
            <a:extLst>
              <a:ext uri="{FF2B5EF4-FFF2-40B4-BE49-F238E27FC236}">
                <a16:creationId xmlns:a16="http://schemas.microsoft.com/office/drawing/2014/main" id="{1BE64E6A-59BA-741C-5555-EAF256CCE6DB}"/>
              </a:ext>
            </a:extLst>
          </p:cNvPr>
          <p:cNvPicPr>
            <a:picLocks noChangeAspect="1"/>
          </p:cNvPicPr>
          <p:nvPr/>
        </p:nvPicPr>
        <p:blipFill>
          <a:blip r:embed="rId3"/>
          <a:stretch>
            <a:fillRect/>
          </a:stretch>
        </p:blipFill>
        <p:spPr>
          <a:xfrm>
            <a:off x="4370616" y="1060417"/>
            <a:ext cx="4591246" cy="3022666"/>
          </a:xfrm>
          <a:prstGeom prst="rect">
            <a:avLst/>
          </a:prstGeom>
        </p:spPr>
      </p:pic>
    </p:spTree>
    <p:extLst>
      <p:ext uri="{BB962C8B-B14F-4D97-AF65-F5344CB8AC3E}">
        <p14:creationId xmlns:p14="http://schemas.microsoft.com/office/powerpoint/2010/main" val="17769790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4">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893715-9869-88DC-2CB8-A7701BFB3325}"/>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F69D1DAA-5541-5F8D-D325-1706397A6A43}"/>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B05E9534-3C35-9313-C6E7-9E564BDFC466}"/>
              </a:ext>
            </a:extLst>
          </p:cNvPr>
          <p:cNvSpPr>
            <a:spLocks noGrp="1"/>
          </p:cNvSpPr>
          <p:nvPr>
            <p:ph type="title"/>
          </p:nvPr>
        </p:nvSpPr>
        <p:spPr/>
        <p:txBody>
          <a:bodyPr/>
          <a:lstStyle/>
          <a:p>
            <a:r>
              <a:rPr lang="en-US" sz="1800" dirty="0"/>
              <a:t>Databases Updates</a:t>
            </a:r>
            <a:endParaRPr lang="en-US" dirty="0"/>
          </a:p>
        </p:txBody>
      </p:sp>
      <p:sp>
        <p:nvSpPr>
          <p:cNvPr id="13" name="Text Placeholder 12">
            <a:extLst>
              <a:ext uri="{FF2B5EF4-FFF2-40B4-BE49-F238E27FC236}">
                <a16:creationId xmlns:a16="http://schemas.microsoft.com/office/drawing/2014/main" id="{DE6CD169-A2F9-0F7E-49EE-EC7FAE204B1C}"/>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61510AD9-2A44-5DDF-30FA-DE4500EB2760}"/>
              </a:ext>
            </a:extLst>
          </p:cNvPr>
          <p:cNvSpPr>
            <a:spLocks noGrp="1"/>
          </p:cNvSpPr>
          <p:nvPr>
            <p:ph type="body" sz="quarter" idx="16"/>
          </p:nvPr>
        </p:nvSpPr>
        <p:spPr>
          <a:xfrm>
            <a:off x="342900" y="855081"/>
            <a:ext cx="3955312" cy="1596086"/>
          </a:xfrm>
        </p:spPr>
        <p:txBody>
          <a:bodyPr/>
          <a:lstStyle/>
          <a:p>
            <a:pPr algn="just"/>
            <a:r>
              <a:rPr lang="en-US" dirty="0">
                <a:hlinkClick r:id="rId2"/>
              </a:rPr>
              <a:t>Generally Available: Latest PostgreSQL minor versions supported by Azure Database for PostgreSQL – Flexible Server</a:t>
            </a:r>
            <a:endParaRPr lang="en-US" dirty="0"/>
          </a:p>
          <a:p>
            <a:pPr algn="just"/>
            <a:r>
              <a:rPr lang="en-US" dirty="0"/>
              <a:t>PostgreSQL minor versions 18.1, 17.7, 16.11, 15.15, 14.20, and 13.23 are now supported by Azure Database for PostgreSQL – Flexible Server.    </a:t>
            </a:r>
          </a:p>
          <a:p>
            <a:pPr algn="just"/>
            <a:r>
              <a:rPr lang="en-US" dirty="0"/>
              <a:t>These minor version upgrades are automatically performed as part of the monthly planned maintenance in Azure Database for PostgreSQL – Flexible Server. This upgrade automation ensures that databases are always running the latest optimized versions without requiring manual intervention. </a:t>
            </a:r>
          </a:p>
        </p:txBody>
      </p:sp>
    </p:spTree>
    <p:extLst>
      <p:ext uri="{BB962C8B-B14F-4D97-AF65-F5344CB8AC3E}">
        <p14:creationId xmlns:p14="http://schemas.microsoft.com/office/powerpoint/2010/main" val="5800182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a:xfrm>
            <a:off x="252845" y="1285875"/>
            <a:ext cx="4748646" cy="1714500"/>
          </a:xfrm>
        </p:spPr>
        <p:txBody>
          <a:bodyPr/>
          <a:lstStyle/>
          <a:p>
            <a:r>
              <a:rPr lang="en-US" sz="4000" dirty="0"/>
              <a:t>DevOps &amp; IaC &amp; Automation</a:t>
            </a:r>
          </a:p>
        </p:txBody>
      </p:sp>
    </p:spTree>
    <p:extLst>
      <p:ext uri="{BB962C8B-B14F-4D97-AF65-F5344CB8AC3E}">
        <p14:creationId xmlns:p14="http://schemas.microsoft.com/office/powerpoint/2010/main" val="6537846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DevOps &amp; IaC &amp; Automation</a:t>
            </a:r>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a:xfrm>
            <a:off x="342900" y="744969"/>
            <a:ext cx="3955312" cy="3774069"/>
          </a:xfrm>
        </p:spPr>
        <p:txBody>
          <a:bodyPr/>
          <a:lstStyle/>
          <a:p>
            <a:pPr algn="just"/>
            <a:r>
              <a:rPr lang="en-US" dirty="0">
                <a:hlinkClick r:id="rId2"/>
              </a:rPr>
              <a:t>Minimum Usage in Azure App Testing</a:t>
            </a:r>
            <a:endParaRPr lang="ru-RU" dirty="0"/>
          </a:p>
          <a:p>
            <a:pPr algn="just"/>
            <a:r>
              <a:rPr lang="en-US" dirty="0"/>
              <a:t>Following the recent introduction of </a:t>
            </a:r>
            <a:r>
              <a:rPr lang="en-US" b="1" dirty="0"/>
              <a:t>AI-assisted load test authoring</a:t>
            </a:r>
            <a:r>
              <a:rPr lang="en-US" dirty="0"/>
              <a:t>, which enables tests to better mirror real-world usage patterns, the service is now introducing a change focused on more efficient utilization of underlying test infrastructure. Each load test run requires dedicated resources to be provisioned, managed, and later deprovisioned. Short-lived or low-user test runs can result in underutilization of this infrastructure.</a:t>
            </a:r>
          </a:p>
          <a:p>
            <a:pPr algn="just"/>
            <a:r>
              <a:rPr lang="en-US" dirty="0"/>
              <a:t>To address this, a </a:t>
            </a:r>
            <a:r>
              <a:rPr lang="en-US" b="1" dirty="0"/>
              <a:t>minimum usage threshold per load test run</a:t>
            </a:r>
            <a:r>
              <a:rPr lang="en-US" dirty="0"/>
              <a:t> will be enforced.</a:t>
            </a:r>
          </a:p>
          <a:p>
            <a:pPr algn="just"/>
            <a:r>
              <a:rPr lang="en-US" b="1" dirty="0"/>
              <a:t>Effective March 1, 2026</a:t>
            </a:r>
          </a:p>
          <a:p>
            <a:pPr algn="just"/>
            <a:r>
              <a:rPr lang="en-US" dirty="0"/>
              <a:t>Load tests executed in Azure App Testing will incur a minimum charge based on </a:t>
            </a:r>
            <a:r>
              <a:rPr lang="en-US" b="1" dirty="0"/>
              <a:t>Virtual User Hours (VUH)</a:t>
            </a:r>
            <a:r>
              <a:rPr lang="en-US" dirty="0"/>
              <a:t> per test run, calculated as follows:</a:t>
            </a:r>
          </a:p>
          <a:p>
            <a:pPr marL="171450" indent="-171450" algn="just">
              <a:buFont typeface="Arial" panose="020B0604020202020204" pitchFamily="34" charset="0"/>
              <a:buChar char="•"/>
            </a:pPr>
            <a:r>
              <a:rPr lang="en-US" b="1" dirty="0"/>
              <a:t>10 Virtual Users (VUs) per engine for the actual test run duration</a:t>
            </a:r>
            <a:r>
              <a:rPr lang="en-US" dirty="0"/>
              <a:t>, or</a:t>
            </a:r>
          </a:p>
          <a:p>
            <a:pPr marL="171450" indent="-171450" algn="just">
              <a:buFont typeface="Arial" panose="020B0604020202020204" pitchFamily="34" charset="0"/>
              <a:buChar char="•"/>
            </a:pPr>
            <a:r>
              <a:rPr lang="en-US" b="1" dirty="0"/>
              <a:t>10 VUs per engine for 10 minutes</a:t>
            </a:r>
            <a:r>
              <a:rPr lang="en-US" dirty="0"/>
              <a:t>, if the test duration is shorter than 10 minutes</a:t>
            </a:r>
          </a:p>
          <a:p>
            <a:pPr algn="just"/>
            <a:r>
              <a:rPr lang="en-US" dirty="0"/>
              <a:t>Test runs that already meet or exceed this minimum threshold will not be affected by this change.</a:t>
            </a:r>
          </a:p>
          <a:p>
            <a:pPr algn="just"/>
            <a:r>
              <a:rPr lang="en-US" dirty="0"/>
              <a:t>This update applies </a:t>
            </a:r>
            <a:r>
              <a:rPr lang="en-US" b="1" dirty="0"/>
              <a:t>only to load tests</a:t>
            </a:r>
            <a:r>
              <a:rPr lang="en-US" dirty="0"/>
              <a:t> and does </a:t>
            </a:r>
            <a:r>
              <a:rPr lang="en-US" b="1" dirty="0"/>
              <a:t>not impact Playwright tests</a:t>
            </a:r>
            <a:r>
              <a:rPr lang="en-US" dirty="0"/>
              <a:t> executed within Azure App Testing.</a:t>
            </a:r>
          </a:p>
          <a:p>
            <a:pPr algn="just"/>
            <a:r>
              <a:rPr lang="en-US" dirty="0"/>
              <a:t>The change is intended to ensure more judicious use of test infrastructure while maintaining predictable and sustainable service costs.</a:t>
            </a:r>
          </a:p>
          <a:p>
            <a:pPr algn="just"/>
            <a:endParaRPr lang="ru-RU" dirty="0"/>
          </a:p>
          <a:p>
            <a:pPr algn="just"/>
            <a:endParaRPr lang="en-US" dirty="0"/>
          </a:p>
        </p:txBody>
      </p:sp>
    </p:spTree>
    <p:extLst>
      <p:ext uri="{BB962C8B-B14F-4D97-AF65-F5344CB8AC3E}">
        <p14:creationId xmlns:p14="http://schemas.microsoft.com/office/powerpoint/2010/main" val="19218810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4">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4">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Information</a:t>
            </a:r>
          </a:p>
        </p:txBody>
      </p:sp>
    </p:spTree>
    <p:extLst>
      <p:ext uri="{BB962C8B-B14F-4D97-AF65-F5344CB8AC3E}">
        <p14:creationId xmlns:p14="http://schemas.microsoft.com/office/powerpoint/2010/main" val="12760416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D9E4E97-A385-759E-BD70-47D0B91CA39E}"/>
              </a:ext>
            </a:extLst>
          </p:cNvPr>
          <p:cNvSpPr>
            <a:spLocks noGrp="1"/>
          </p:cNvSpPr>
          <p:nvPr>
            <p:ph type="body" sz="quarter" idx="10"/>
          </p:nvPr>
        </p:nvSpPr>
        <p:spPr>
          <a:xfrm>
            <a:off x="342900" y="855080"/>
            <a:ext cx="8455914" cy="3774069"/>
          </a:xfrm>
        </p:spPr>
        <p:txBody>
          <a:bodyPr/>
          <a:lstStyle/>
          <a:p>
            <a:r>
              <a:rPr lang="en-US" dirty="0">
                <a:hlinkClick r:id="rId2"/>
              </a:rPr>
              <a:t>Azure Times GitHub Repo</a:t>
            </a:r>
            <a:endParaRPr lang="en-US" dirty="0"/>
          </a:p>
        </p:txBody>
      </p:sp>
      <p:sp>
        <p:nvSpPr>
          <p:cNvPr id="3" name="Title 2">
            <a:extLst>
              <a:ext uri="{FF2B5EF4-FFF2-40B4-BE49-F238E27FC236}">
                <a16:creationId xmlns:a16="http://schemas.microsoft.com/office/drawing/2014/main" id="{78BEF490-0130-4022-0399-BE422CD7CB94}"/>
              </a:ext>
            </a:extLst>
          </p:cNvPr>
          <p:cNvSpPr>
            <a:spLocks noGrp="1"/>
          </p:cNvSpPr>
          <p:nvPr>
            <p:ph type="title"/>
          </p:nvPr>
        </p:nvSpPr>
        <p:spPr/>
        <p:txBody>
          <a:bodyPr/>
          <a:lstStyle/>
          <a:p>
            <a:r>
              <a:rPr lang="en-US" sz="1800" dirty="0"/>
              <a:t>Information</a:t>
            </a:r>
            <a:br>
              <a:rPr lang="en-US" sz="1800" dirty="0"/>
            </a:br>
            <a:endParaRPr lang="en-US" dirty="0"/>
          </a:p>
        </p:txBody>
      </p:sp>
    </p:spTree>
    <p:extLst>
      <p:ext uri="{BB962C8B-B14F-4D97-AF65-F5344CB8AC3E}">
        <p14:creationId xmlns:p14="http://schemas.microsoft.com/office/powerpoint/2010/main" val="7476815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Questions</a:t>
            </a:r>
          </a:p>
        </p:txBody>
      </p:sp>
    </p:spTree>
    <p:extLst>
      <p:ext uri="{BB962C8B-B14F-4D97-AF65-F5344CB8AC3E}">
        <p14:creationId xmlns:p14="http://schemas.microsoft.com/office/powerpoint/2010/main" val="2482707150"/>
      </p:ext>
    </p:extLst>
  </p:cSld>
  <p:clrMapOvr>
    <a:masterClrMapping/>
  </p:clrMapOvr>
</p:sld>
</file>

<file path=ppt/theme/theme1.xml><?xml version="1.0" encoding="utf-8"?>
<a:theme xmlns:a="http://schemas.openxmlformats.org/drawingml/2006/main" name="Continuum Theme">
  <a:themeElements>
    <a:clrScheme name="EPAM Continuum Final">
      <a:dk1>
        <a:srgbClr val="222222"/>
      </a:dk1>
      <a:lt1>
        <a:srgbClr val="FFFFFF"/>
      </a:lt1>
      <a:dk2>
        <a:srgbClr val="A0A0A0"/>
      </a:dk2>
      <a:lt2>
        <a:srgbClr val="DBDAD6"/>
      </a:lt2>
      <a:accent1>
        <a:srgbClr val="545454"/>
      </a:accent1>
      <a:accent2>
        <a:srgbClr val="FFC000"/>
      </a:accent2>
      <a:accent3>
        <a:srgbClr val="38C2D7"/>
      </a:accent3>
      <a:accent4>
        <a:srgbClr val="445464"/>
      </a:accent4>
      <a:accent5>
        <a:srgbClr val="008ACE"/>
      </a:accent5>
      <a:accent6>
        <a:srgbClr val="E53B2E"/>
      </a:accent6>
      <a:hlink>
        <a:srgbClr val="000000"/>
      </a:hlink>
      <a:folHlink>
        <a:srgbClr val="0000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accent1"/>
        </a:solidFill>
        <a:ln>
          <a:noFill/>
        </a:ln>
        <a:effectLst/>
      </a:spPr>
      <a:bodyPr wrap="none" rtlCol="0" anchor="ctr"/>
      <a:lstStyle>
        <a:defPPr algn="ctr">
          <a:defRPr sz="2400" dirty="0" err="1" smtClean="0">
            <a:solidFill>
              <a:schemeClr val="bg1"/>
            </a:solidFill>
            <a:latin typeface="Calibri Light" panose="020F0302020204030204" pitchFamily="34" charset="0"/>
            <a:ea typeface="Human Sans ExtraLight" charset="0"/>
            <a:cs typeface="Human Sans ExtraLight" charset="0"/>
          </a:defRPr>
        </a:defPPr>
      </a:lstStyle>
    </a:spDef>
    <a:lnDef>
      <a:spPr>
        <a:ln w="635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nSpc>
            <a:spcPct val="110000"/>
          </a:lnSpc>
          <a:spcBef>
            <a:spcPts val="600"/>
          </a:spcBef>
          <a:defRPr sz="1200" dirty="0" err="1" smtClean="0">
            <a:ea typeface="Human Sans" charset="0"/>
            <a:cs typeface="Human Sans" charset="0"/>
          </a:defRPr>
        </a:defPPr>
      </a:lstStyle>
    </a:txDef>
  </a:objectDefaults>
  <a:extraClrSchemeLst/>
  <a:extLst>
    <a:ext uri="{05A4C25C-085E-4340-85A3-A5531E510DB2}">
      <thm15:themeFamily xmlns:thm15="http://schemas.microsoft.com/office/thememl/2012/main" name="Continuum_Master_v1.1" id="{D2F91407-39AD-2344-8F42-01B4155FF2FD}" vid="{09F1F252-BD3A-0A45-9F6B-518524EA322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C3A9FD6A1D2BC41832AF270024651C7" ma:contentTypeVersion="6" ma:contentTypeDescription="Create a new document." ma:contentTypeScope="" ma:versionID="0421700c9180782018be286cde8a21da">
  <xsd:schema xmlns:xsd="http://www.w3.org/2001/XMLSchema" xmlns:xs="http://www.w3.org/2001/XMLSchema" xmlns:p="http://schemas.microsoft.com/office/2006/metadata/properties" xmlns:ns2="2e7e23d5-2c80-4164-89d2-1708db4037b8" xmlns:ns3="4e7ac07f-2cd6-47aa-8863-e3015989625c" targetNamespace="http://schemas.microsoft.com/office/2006/metadata/properties" ma:root="true" ma:fieldsID="541d07e3f89946b63e942fc7370dae48" ns2:_="" ns3:_="">
    <xsd:import namespace="2e7e23d5-2c80-4164-89d2-1708db4037b8"/>
    <xsd:import namespace="4e7ac07f-2cd6-47aa-8863-e3015989625c"/>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e7e23d5-2c80-4164-89d2-1708db4037b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e7ac07f-2cd6-47aa-8863-e3015989625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5D63988-C0DC-4185-91C3-6687DBA2F390}">
  <ds:schemaRefs>
    <ds:schemaRef ds:uri="2e7e23d5-2c80-4164-89d2-1708db4037b8"/>
    <ds:schemaRef ds:uri="4e7ac07f-2cd6-47aa-8863-e3015989625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4DE7C614-AA74-4D4D-9D2D-D96DA5126C78}">
  <ds:schemaRefs>
    <ds:schemaRef ds:uri="http://schemas.microsoft.com/office/2006/metadata/properties"/>
    <ds:schemaRef ds:uri="http://schemas.microsoft.com/office/2006/documentManagement/types"/>
    <ds:schemaRef ds:uri="http://purl.org/dc/terms/"/>
    <ds:schemaRef ds:uri="http://purl.org/dc/elements/1.1/"/>
    <ds:schemaRef ds:uri="http://schemas.microsoft.com/office/infopath/2007/PartnerControls"/>
    <ds:schemaRef ds:uri="2e7e23d5-2c80-4164-89d2-1708db4037b8"/>
    <ds:schemaRef ds:uri="http://purl.org/dc/dcmitype/"/>
    <ds:schemaRef ds:uri="http://schemas.openxmlformats.org/package/2006/metadata/core-properties"/>
    <ds:schemaRef ds:uri="4e7ac07f-2cd6-47aa-8863-e3015989625c"/>
    <ds:schemaRef ds:uri="http://www.w3.org/XML/1998/namespace"/>
  </ds:schemaRefs>
</ds:datastoreItem>
</file>

<file path=customXml/itemProps3.xml><?xml version="1.0" encoding="utf-8"?>
<ds:datastoreItem xmlns:ds="http://schemas.openxmlformats.org/officeDocument/2006/customXml" ds:itemID="{EE04B39D-0CBA-4F8F-8809-785207E87965}">
  <ds:schemaRefs>
    <ds:schemaRef ds:uri="http://schemas.microsoft.com/sharepoint/v3/contenttype/forms"/>
  </ds:schemaRefs>
</ds:datastoreItem>
</file>

<file path=docMetadata/LabelInfo.xml><?xml version="1.0" encoding="utf-8"?>
<clbl:labelList xmlns:clbl="http://schemas.microsoft.com/office/2020/mipLabelMetadata">
  <clbl:label id="{2590e1b2-66ea-4d45-b1aa-185c322e3ba5}" enabled="1" method="Standard" siteId="{40a64d0b-f2f9-4a34-b1b3-0992ac0e5e4e}" contentBits="0" removed="0"/>
</clbl:labelList>
</file>

<file path=docProps/app.xml><?xml version="1.0" encoding="utf-8"?>
<Properties xmlns="http://schemas.openxmlformats.org/officeDocument/2006/extended-properties" xmlns:vt="http://schemas.openxmlformats.org/officeDocument/2006/docPropsVTypes">
  <Template>Covers</Template>
  <TotalTime>578</TotalTime>
  <Words>2503</Words>
  <Application>Microsoft Office PowerPoint</Application>
  <PresentationFormat>On-screen Show (16:9)</PresentationFormat>
  <Paragraphs>142</Paragraphs>
  <Slides>23</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Arial</vt:lpstr>
      <vt:lpstr>Calibri</vt:lpstr>
      <vt:lpstr>Human Sans</vt:lpstr>
      <vt:lpstr>Human Sans Regular</vt:lpstr>
      <vt:lpstr>Continuum Theme</vt:lpstr>
      <vt:lpstr>Azure Times #191</vt:lpstr>
      <vt:lpstr>PowerPoint Presentation</vt:lpstr>
      <vt:lpstr>Security &amp; Identity Updates</vt:lpstr>
      <vt:lpstr>PowerPoint Presentation</vt:lpstr>
      <vt:lpstr>Management &amp; Governance Updates</vt:lpstr>
      <vt:lpstr>Management &amp; Governance Updates</vt:lpstr>
      <vt:lpstr>PowerPoint Presentation</vt:lpstr>
      <vt:lpstr>Compute Updates</vt:lpstr>
      <vt:lpstr>Compute Updates</vt:lpstr>
      <vt:lpstr>Compute Updates</vt:lpstr>
      <vt:lpstr>Compute Updates</vt:lpstr>
      <vt:lpstr>Fabric January 2026 Feature Summary</vt:lpstr>
      <vt:lpstr>Compute Updates</vt:lpstr>
      <vt:lpstr>PowerPoint Presentation</vt:lpstr>
      <vt:lpstr>Storage &amp; Data Updates</vt:lpstr>
      <vt:lpstr>PowerPoint Presentation</vt:lpstr>
      <vt:lpstr>Databases Updates</vt:lpstr>
      <vt:lpstr>Databases Updates</vt:lpstr>
      <vt:lpstr>PowerPoint Presentation</vt:lpstr>
      <vt:lpstr>DevOps &amp; IaC &amp; Automation</vt:lpstr>
      <vt:lpstr>PowerPoint Presentation</vt:lpstr>
      <vt:lpstr>Information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Maksim Admin Rotar</cp:lastModifiedBy>
  <cp:revision>124</cp:revision>
  <dcterms:created xsi:type="dcterms:W3CDTF">2018-01-26T19:23:30Z</dcterms:created>
  <dcterms:modified xsi:type="dcterms:W3CDTF">2026-01-31T08:29:20Z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0x0101008C3A9FD6A1D2BC41832AF270024651C7</vt:lpwstr>
  </property>
</Properties>
</file>