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5"/>
  </p:notesMasterIdLst>
  <p:handoutMasterIdLst>
    <p:handoutMasterId r:id="rId26"/>
  </p:handoutMasterIdLst>
  <p:sldIdLst>
    <p:sldId id="2142532340" r:id="rId5"/>
    <p:sldId id="2146847045" r:id="rId6"/>
    <p:sldId id="10657" r:id="rId7"/>
    <p:sldId id="2146847046" r:id="rId8"/>
    <p:sldId id="2146847130" r:id="rId9"/>
    <p:sldId id="2146847156" r:id="rId10"/>
    <p:sldId id="2146847089" r:id="rId11"/>
    <p:sldId id="2146847129" r:id="rId12"/>
    <p:sldId id="2146847048" r:id="rId13"/>
    <p:sldId id="2146847049" r:id="rId14"/>
    <p:sldId id="2146847132" r:id="rId15"/>
    <p:sldId id="2146847050" r:id="rId16"/>
    <p:sldId id="2146847134" r:id="rId17"/>
    <p:sldId id="2146847135" r:id="rId18"/>
    <p:sldId id="2146847136" r:id="rId19"/>
    <p:sldId id="2146847054" r:id="rId20"/>
    <p:sldId id="2146847103" r:id="rId21"/>
    <p:sldId id="2146847085" r:id="rId22"/>
    <p:sldId id="2146847084" r:id="rId23"/>
    <p:sldId id="2146847064" r:id="rId24"/>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130"/>
            <p14:sldId id="2146847156"/>
            <p14:sldId id="2146847089"/>
            <p14:sldId id="2146847129"/>
          </p14:sldIdLst>
        </p14:section>
        <p14:section name="Management &amp; Governance" id="{34181601-6D48-4406-A525-C7B5A12C6C5B}">
          <p14:sldIdLst>
            <p14:sldId id="2146847048"/>
            <p14:sldId id="2146847049"/>
            <p14:sldId id="2146847132"/>
          </p14:sldIdLst>
        </p14:section>
        <p14:section name="Compute" id="{05AA80BB-8802-49AB-8336-A884227CE2F7}">
          <p14:sldIdLst>
            <p14:sldId id="2146847050"/>
            <p14:sldId id="2146847134"/>
            <p14:sldId id="2146847135"/>
            <p14:sldId id="2146847136"/>
          </p14:sldIdLst>
        </p14:section>
        <p14:section name="Storage &amp; Data" id="{1F159046-CE0A-45BC-9D5B-6E6C95980F78}">
          <p14:sldIdLst/>
        </p14:section>
        <p14:section name="Databases" id="{AEAFAE72-AD56-48F3-926B-38BAE269038F}">
          <p14:sldIdLst>
            <p14:sldId id="2146847054"/>
            <p14:sldId id="2146847103"/>
          </p14:sldIdLst>
        </p14:section>
        <p14:section name="Integration" id="{ACBD46A3-6F1C-451B-A154-0A056E0DEFF6}">
          <p14:sldIdLst/>
        </p14:section>
        <p14:section name="ML &amp; AI &amp; IOT" id="{F4E1EAF1-55E9-4CA4-8ADC-28B69C1D66D2}">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88" d="100"/>
          <a:sy n="188" d="100"/>
        </p:scale>
        <p:origin x="3558" y="372"/>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2/14/2026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2/14/2026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56282" TargetMode="External"/><Relationship Id="rId2" Type="http://schemas.openxmlformats.org/officeDocument/2006/relationships/hyperlink" Target="https://azure.microsoft.com/ru-ru/updates?id=555603"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techcommunity.microsoft.com/blog/microsoftsentinelblog/what%E2%80%99s-new-in-microsoft-sentinel-february-2026/4494218"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echcommunity.microsoft.com/blog/microsoftsentinelblog/public-preview-announcement-empower-real-time-security-with-microsoft-sentinel%E2%80%99s/4483884"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techcommunity.microsoft.com/blog/microsoftsentinelblog/what%E2%80%99s-new-in-microsoft-sentinel-february-2026/4494218" TargetMode="External"/><Relationship Id="rId2" Type="http://schemas.openxmlformats.org/officeDocument/2006/relationships/hyperlink" Target="https://techcommunity.microsoft.com/blog/microsoft-security-blog/general-availability-ip-network-firewalls-for-azure-managed-hsm/4493983"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echcommunity.microsoft.com/blog/microsoft-security-blog/introducing-security-dashboard-for-ai-now-in-public-preview/4494637"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techcommunity.microsoft.com/blog/microsoftdatamigration/release-announcement-of-sql-server-migration-assistant-ssma-v10-5/4494636"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techcommunity.microsoft.com/blog/integrationsonazureblog/azure-arc-jumpstart-template-for-hybrid-logic-apps-deployment/4493996"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57081" TargetMode="External"/><Relationship Id="rId2" Type="http://schemas.openxmlformats.org/officeDocument/2006/relationships/hyperlink" Target="https://azure.microsoft.com/ru-ru/updates?id=548114"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techcommunity.microsoft.com/blog/windows-itpro-blog/windows-365-now-supported-in-new-zealand-north/4493197" TargetMode="External"/><Relationship Id="rId2" Type="http://schemas.openxmlformats.org/officeDocument/2006/relationships/hyperlink" Target="https://techcommunity.microsoft.com/blog/azureobservabilityblog/announcing-application-insights-sdk-3-x-for-net/4493988"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techcommunity.microsoft.com/blog/azureconfidentialcomputingblog/dcasv6-and-ecasv6-confidential-vms-in-azure-government-cloud/4494604"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ru-ru/updates?id=550159"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#193</a:t>
            </a:r>
          </a:p>
        </p:txBody>
      </p:sp>
      <p:sp>
        <p:nvSpPr>
          <p:cNvPr id="4" name="Text Placeholder 3"/>
          <p:cNvSpPr>
            <a:spLocks noGrp="1"/>
          </p:cNvSpPr>
          <p:nvPr>
            <p:ph type="body" sz="quarter" idx="11"/>
          </p:nvPr>
        </p:nvSpPr>
        <p:spPr/>
        <p:txBody>
          <a:bodyPr/>
          <a:lstStyle/>
          <a:p>
            <a:r>
              <a:rPr lang="en-US" spc="300" dirty="0"/>
              <a:t>February 16,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Application Gateway for Containers - AKS managed add-on</a:t>
            </a:r>
            <a:endParaRPr lang="en-US" sz="1000" dirty="0"/>
          </a:p>
          <a:p>
            <a:pPr algn="just"/>
            <a:r>
              <a:rPr lang="en-US" sz="1000" dirty="0"/>
              <a:t>A public preview introduces a managed add-on for Azure Kubernetes Service that simplifies how teams deploy and operate Application Gateway for Containers and its ALB Controller.</a:t>
            </a:r>
          </a:p>
          <a:p>
            <a:pPr algn="just"/>
            <a:r>
              <a:rPr lang="en-US" sz="1000" dirty="0"/>
              <a:t>With the add-on, organizations can enable the gateway using a single command through Azure CLI, ARM, or Bicep, whether the cluster is new or already running. Installation and lifecycle management of the controller are handled automatically, removing the need to maintain Helm charts or perform manual upgrades.</a:t>
            </a:r>
          </a:p>
          <a:p>
            <a:pPr algn="just"/>
            <a:r>
              <a:rPr lang="en-US" sz="1000" dirty="0"/>
              <a:t>The solution also uses managed identity with least-privilege access, improving the security posture while reducing configuration effort. For environments using AKS-managed virtual networking, connectivity is streamlined, making the onboarding process faster and more predictable.</a:t>
            </a:r>
          </a:p>
          <a:p>
            <a:pPr algn="just"/>
            <a:r>
              <a:rPr lang="en-US" sz="1000" dirty="0"/>
              <a:t>In addition, the add-on works together with AKS’ managed Gateway API integration, so Gateway API custom resources can be managed consistently inside the cluster</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Front Door Premium now supports Azure Private Link origins in UAE North</a:t>
            </a:r>
            <a:endParaRPr lang="en-US" dirty="0"/>
          </a:p>
          <a:p>
            <a:pPr algn="just"/>
            <a:r>
              <a:rPr lang="en-US" dirty="0"/>
              <a:t>It is now possible to use UAE North as a region for Azure Private Link-enabled origins in the Azure Front Door Premium profile. Azure Private Link-enabled origins in Azure Front Door allow to deliver content to end-users through public Azure Front Door endpoints while ensuring that origins remain inaccessible to the public internet.</a:t>
            </a:r>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pPr algn="just"/>
            <a:r>
              <a:rPr lang="en-US" sz="1000" dirty="0">
                <a:hlinkClick r:id="rId2"/>
              </a:rPr>
              <a:t>Sentinel: Find high-risk anomalous behavior faster with an enhanced UEBA essentials solution (public preview)</a:t>
            </a:r>
            <a:endParaRPr lang="en-US" sz="1000" dirty="0"/>
          </a:p>
          <a:p>
            <a:pPr algn="just"/>
            <a:r>
              <a:rPr lang="en-US" sz="1000" dirty="0"/>
              <a:t>The Microsoft Sentinel </a:t>
            </a:r>
            <a:r>
              <a:rPr lang="en-US" sz="1000" b="1" dirty="0"/>
              <a:t>UEBA Essentials</a:t>
            </a:r>
            <a:r>
              <a:rPr lang="en-US" sz="1000" dirty="0"/>
              <a:t> solution helps SOC teams detect high-risk anomalous behavior faster across hybrid and multi-cloud environments, including Amazon Web Services, Google Cloud, and Okta.</a:t>
            </a:r>
          </a:p>
          <a:p>
            <a:pPr algn="just"/>
            <a:r>
              <a:rPr lang="en-US" sz="1000" dirty="0"/>
              <a:t>With expanded anomaly coverage and new queries powered by the anomalies table, analysts can rapidly surface the most suspicious activity, build accurate behavioral baselines, and understand what is truly abnormal without chasing fragmented signals. Activity is mapped to MITRE ATT&amp;CK techniques, complex malicious IP patterns are highlighted, and a rich anomaly profile for each user can be generated in seconds. The result is better signal quality and significantly reduced investigation time.</a:t>
            </a:r>
          </a:p>
          <a:p>
            <a:pPr algn="just"/>
            <a:r>
              <a:rPr lang="en-US" sz="1000" dirty="0"/>
              <a:t>UEBA Essentials is available through the Sentinel Content Hub and includes more than 30 prebuilt queries that can be deployed immediately. Behavior analytics can also activate automatically as new connectors are onboarded, helping teams translate new data sources into actionable detections with minimal effort.</a:t>
            </a:r>
          </a:p>
          <a:p>
            <a:pPr algn="just"/>
            <a:endParaRPr lang="en-US" sz="1000" dirty="0"/>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2"/>
              </a:rPr>
              <a:t>Sentinel: Microsoft 365 Copilot data connector (public preview)</a:t>
            </a:r>
            <a:endParaRPr lang="en-US" dirty="0"/>
          </a:p>
          <a:p>
            <a:pPr algn="just"/>
            <a:r>
              <a:rPr lang="en-US" dirty="0"/>
              <a:t>The Microsoft Sentinel connector for Microsoft 365 Copilot delivers direct visibility into Copilot usage, audit activity, and user behavior across the organization.</a:t>
            </a:r>
          </a:p>
          <a:p>
            <a:pPr algn="just"/>
            <a:r>
              <a:rPr lang="en-US" dirty="0"/>
              <a:t>Once onboarded, security teams can immediately use this telemetry to power detections, analytics rules, hunting queries, automation, and investigations. It becomes much easier to identify anomalies, potential misuse, or violations of internal AI usage policies without building custom pipelines.</a:t>
            </a:r>
          </a:p>
          <a:p>
            <a:pPr algn="just"/>
            <a:r>
              <a:rPr lang="en-US" dirty="0"/>
              <a:t>Organizations can also route this data into the Sentinel data lake to support advanced scenarios such as long-term analytics, relationship mapping, or integrations with MCP-based workflows. This approach provides both cost-efficient ingestion and flexible retention while preserving the depth of insight required by modern SOC operations.</a:t>
            </a:r>
          </a:p>
          <a:p>
            <a:pPr algn="just"/>
            <a:endParaRPr lang="en-US" dirty="0"/>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59F6FB-6800-884B-F931-A086B157BC04}"/>
              </a:ext>
            </a:extLst>
          </p:cNvPr>
          <p:cNvSpPr>
            <a:spLocks noGrp="1"/>
          </p:cNvSpPr>
          <p:nvPr>
            <p:ph type="title"/>
          </p:nvPr>
        </p:nvSpPr>
        <p:spPr/>
        <p:txBody>
          <a:bodyPr/>
          <a:lstStyle/>
          <a:p>
            <a:r>
              <a:rPr lang="en-US" sz="1600" dirty="0"/>
              <a:t>Security &amp; Identity Updates</a:t>
            </a:r>
            <a:endParaRPr lang="en-US" dirty="0"/>
          </a:p>
        </p:txBody>
      </p:sp>
      <p:sp>
        <p:nvSpPr>
          <p:cNvPr id="4" name="Text Placeholder 3">
            <a:extLst>
              <a:ext uri="{FF2B5EF4-FFF2-40B4-BE49-F238E27FC236}">
                <a16:creationId xmlns:a16="http://schemas.microsoft.com/office/drawing/2014/main" id="{FCF4E81E-524D-32A1-98E5-D8494375798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B9359DAB-CB99-1167-9514-75B82B9F2F55}"/>
              </a:ext>
            </a:extLst>
          </p:cNvPr>
          <p:cNvSpPr>
            <a:spLocks noGrp="1"/>
          </p:cNvSpPr>
          <p:nvPr>
            <p:ph type="body" sz="quarter" idx="16"/>
          </p:nvPr>
        </p:nvSpPr>
        <p:spPr/>
        <p:txBody>
          <a:bodyPr/>
          <a:lstStyle/>
          <a:p>
            <a:pPr algn="just"/>
            <a:r>
              <a:rPr lang="en-US" dirty="0">
                <a:hlinkClick r:id="rId2"/>
              </a:rPr>
              <a:t>Public Preview Announcement: Empower Real-Time Security with Microsoft Sentinel’s CCF Push Feature</a:t>
            </a:r>
            <a:endParaRPr lang="en-US" dirty="0"/>
          </a:p>
          <a:p>
            <a:pPr algn="just"/>
            <a:r>
              <a:rPr lang="en-US" dirty="0"/>
              <a:t>Microsoft has introduced the </a:t>
            </a:r>
            <a:r>
              <a:rPr lang="en-US" b="1" dirty="0"/>
              <a:t>CCF Push</a:t>
            </a:r>
            <a:r>
              <a:rPr lang="en-US" dirty="0"/>
              <a:t> capability in public preview, designed to make it dramatically easier to stream security data into Sentinel in real time.</a:t>
            </a:r>
          </a:p>
          <a:p>
            <a:pPr algn="just"/>
            <a:r>
              <a:rPr lang="en-US" dirty="0"/>
              <a:t>Most connectors today rely on </a:t>
            </a:r>
            <a:r>
              <a:rPr lang="en-US" b="1" dirty="0"/>
              <a:t>polling</a:t>
            </a:r>
            <a:r>
              <a:rPr lang="en-US" dirty="0"/>
              <a:t> partner APIs at intervals. With </a:t>
            </a:r>
            <a:r>
              <a:rPr lang="en-US" b="1" dirty="0"/>
              <a:t>push</a:t>
            </a:r>
            <a:r>
              <a:rPr lang="en-US" dirty="0"/>
              <a:t>, partners and customers can </a:t>
            </a:r>
            <a:r>
              <a:rPr lang="en-US" b="1" dirty="0"/>
              <a:t>send events directly</a:t>
            </a:r>
            <a:r>
              <a:rPr lang="en-US" dirty="0"/>
              <a:t> to a Sentinel workspace the moment they occur. Faster ingestion means faster detection and response.</a:t>
            </a:r>
          </a:p>
          <a:p>
            <a:pPr algn="just"/>
            <a:r>
              <a:rPr lang="en-US" b="1" dirty="0"/>
              <a:t>What changes with CCF Push</a:t>
            </a:r>
          </a:p>
          <a:p>
            <a:pPr algn="just"/>
            <a:r>
              <a:rPr lang="en-US" dirty="0"/>
              <a:t>Previously, publishing a connector meant preparing multiple building blocks such as:</a:t>
            </a:r>
          </a:p>
          <a:p>
            <a:pPr marL="171450" indent="-171450" algn="just">
              <a:buFont typeface="Arial" panose="020B0604020202020204" pitchFamily="34" charset="0"/>
              <a:buChar char="•"/>
            </a:pPr>
            <a:r>
              <a:rPr lang="en-US" dirty="0"/>
              <a:t>Data Collection Endpoints</a:t>
            </a:r>
          </a:p>
          <a:p>
            <a:pPr marL="171450" indent="-171450" algn="just">
              <a:buFont typeface="Arial" panose="020B0604020202020204" pitchFamily="34" charset="0"/>
              <a:buChar char="•"/>
            </a:pPr>
            <a:r>
              <a:rPr lang="en-US" dirty="0"/>
              <a:t>Data Collection Rules</a:t>
            </a:r>
          </a:p>
          <a:p>
            <a:pPr marL="171450" indent="-171450" algn="just">
              <a:buFont typeface="Arial" panose="020B0604020202020204" pitchFamily="34" charset="0"/>
              <a:buChar char="•"/>
            </a:pPr>
            <a:r>
              <a:rPr lang="en-US" dirty="0"/>
              <a:t>Entra app registrations</a:t>
            </a:r>
          </a:p>
          <a:p>
            <a:pPr marL="171450" indent="-171450" algn="just">
              <a:buFont typeface="Arial" panose="020B0604020202020204" pitchFamily="34" charset="0"/>
              <a:buChar char="•"/>
            </a:pPr>
            <a:r>
              <a:rPr lang="en-US" dirty="0"/>
              <a:t>Secrets and RBAC assignments</a:t>
            </a:r>
          </a:p>
          <a:p>
            <a:pPr algn="just"/>
            <a:r>
              <a:rPr lang="en-US" dirty="0"/>
              <a:t>Now, selecting </a:t>
            </a:r>
            <a:r>
              <a:rPr lang="en-US" b="1" dirty="0"/>
              <a:t>Deploy</a:t>
            </a:r>
            <a:r>
              <a:rPr lang="en-US" dirty="0"/>
              <a:t> automates this setup. Sentinel provisions the required resources behind the scenes, removing heavy prerequisites and reducing onboarding effort.</a:t>
            </a:r>
          </a:p>
          <a:p>
            <a:pPr algn="just"/>
            <a:endParaRPr lang="en-US" dirty="0"/>
          </a:p>
        </p:txBody>
      </p:sp>
      <p:pic>
        <p:nvPicPr>
          <p:cNvPr id="7" name="Picture 6">
            <a:extLst>
              <a:ext uri="{FF2B5EF4-FFF2-40B4-BE49-F238E27FC236}">
                <a16:creationId xmlns:a16="http://schemas.microsoft.com/office/drawing/2014/main" id="{49AE4B1B-A337-00C2-1875-71A1E0F70D0E}"/>
              </a:ext>
            </a:extLst>
          </p:cNvPr>
          <p:cNvPicPr>
            <a:picLocks noChangeAspect="1"/>
          </p:cNvPicPr>
          <p:nvPr/>
        </p:nvPicPr>
        <p:blipFill>
          <a:blip r:embed="rId3"/>
          <a:stretch>
            <a:fillRect/>
          </a:stretch>
        </p:blipFill>
        <p:spPr>
          <a:xfrm>
            <a:off x="4648201" y="922027"/>
            <a:ext cx="4038600" cy="1820087"/>
          </a:xfrm>
          <a:prstGeom prst="rect">
            <a:avLst/>
          </a:prstGeom>
        </p:spPr>
      </p:pic>
    </p:spTree>
    <p:extLst>
      <p:ext uri="{BB962C8B-B14F-4D97-AF65-F5344CB8AC3E}">
        <p14:creationId xmlns:p14="http://schemas.microsoft.com/office/powerpoint/2010/main" val="375264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General Availability: IP Network Firewalls for Azure Managed HSM</a:t>
            </a:r>
            <a:endParaRPr lang="en-US" sz="1000" dirty="0"/>
          </a:p>
          <a:p>
            <a:pPr algn="just"/>
            <a:r>
              <a:rPr lang="en-US" sz="1000" dirty="0"/>
              <a:t>IP Firewall for Managed HSM is now generally available across all public regions. Organizations can restrict access to the HSM data plane by allowlisting specific IPv4 addresses or CIDR ranges—ideal for services that use static or well-known IPs.</a:t>
            </a:r>
          </a:p>
          <a:p>
            <a:pPr algn="just"/>
            <a:r>
              <a:rPr lang="en-US" sz="1000" dirty="0"/>
              <a:t>Up to </a:t>
            </a:r>
            <a:r>
              <a:rPr lang="en-US" sz="1000" b="1" dirty="0"/>
              <a:t>10 CIDR ranges</a:t>
            </a:r>
            <a:r>
              <a:rPr lang="en-US" sz="1000" dirty="0"/>
              <a:t> can be configured. The rules apply </a:t>
            </a:r>
            <a:r>
              <a:rPr lang="en-US" sz="1000" b="1" dirty="0"/>
              <a:t>only to data plane operations</a:t>
            </a:r>
            <a:r>
              <a:rPr lang="en-US" sz="1000" dirty="0"/>
              <a:t>; control plane actions aren’t affected. Access through tools such as the Azure portal must originate from within the trusted boundary defined by your network rules.</a:t>
            </a:r>
          </a:p>
          <a:p>
            <a:pPr algn="just"/>
            <a:r>
              <a:rPr lang="en-US" sz="1000" dirty="0"/>
              <a:t>This release helps teams strengthen network isolation while keeping deployment and governance simple. If you’re designing high-security crypto or key-management architectures, this gives you another strong layer of defense without changing how the service is operated.</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Sentinel: Seamlessly onboard security data with growing out-of-the-box connectors (general availability)</a:t>
            </a:r>
            <a:endParaRPr lang="en-US" dirty="0"/>
          </a:p>
          <a:p>
            <a:pPr algn="just"/>
            <a:r>
              <a:rPr lang="en-US" dirty="0"/>
              <a:t>Microsoft Sentinel continues to broaden its integration landscape, helping SOC teams centralize security data across cloud, SaaS, and on-premises environments. With faster onboarding and richer normalization, analysts gain better correlation, improved detections, and stronger investigative context across the entire estate.</a:t>
            </a:r>
          </a:p>
          <a:p>
            <a:pPr algn="just"/>
            <a:r>
              <a:rPr lang="en-US" b="1" dirty="0"/>
              <a:t>Newly available out-of-the-box connectors</a:t>
            </a:r>
          </a:p>
          <a:p>
            <a:pPr marL="171450" indent="-171450" algn="just">
              <a:buFont typeface="Arial" panose="020B0604020202020204" pitchFamily="34" charset="0"/>
              <a:buChar char="•"/>
            </a:pPr>
            <a:r>
              <a:rPr lang="en-US" dirty="0"/>
              <a:t>Mimecast – Audit Logs</a:t>
            </a:r>
          </a:p>
          <a:p>
            <a:pPr marL="171450" indent="-171450" algn="just">
              <a:buFont typeface="Arial" panose="020B0604020202020204" pitchFamily="34" charset="0"/>
              <a:buChar char="•"/>
            </a:pPr>
            <a:r>
              <a:rPr lang="en-US" dirty="0"/>
              <a:t>CrowdStrike – Falcon Endpoint Protection</a:t>
            </a:r>
          </a:p>
          <a:p>
            <a:pPr marL="171450" indent="-171450" algn="just">
              <a:buFont typeface="Arial" panose="020B0604020202020204" pitchFamily="34" charset="0"/>
              <a:buChar char="•"/>
            </a:pPr>
            <a:r>
              <a:rPr lang="en-US" dirty="0"/>
              <a:t>Vectra AI – XDR</a:t>
            </a:r>
          </a:p>
          <a:p>
            <a:pPr marL="171450" indent="-171450" algn="just">
              <a:buFont typeface="Arial" panose="020B0604020202020204" pitchFamily="34" charset="0"/>
              <a:buChar char="•"/>
            </a:pPr>
            <a:r>
              <a:rPr lang="en-US" dirty="0"/>
              <a:t>Palo Alto Networks – Cloud NGFW</a:t>
            </a:r>
          </a:p>
          <a:p>
            <a:pPr marL="171450" indent="-171450" algn="just">
              <a:buFont typeface="Arial" panose="020B0604020202020204" pitchFamily="34" charset="0"/>
              <a:buChar char="•"/>
            </a:pPr>
            <a:r>
              <a:rPr lang="en-US" dirty="0"/>
              <a:t>SOC Prime</a:t>
            </a:r>
          </a:p>
          <a:p>
            <a:pPr marL="171450" indent="-171450" algn="just">
              <a:buFont typeface="Arial" panose="020B0604020202020204" pitchFamily="34" charset="0"/>
              <a:buChar char="•"/>
            </a:pPr>
            <a:r>
              <a:rPr lang="en-US" dirty="0"/>
              <a:t>Proofpoint – Proofpoint on Demand (POD)</a:t>
            </a:r>
          </a:p>
          <a:p>
            <a:pPr marL="171450" indent="-171450" algn="just">
              <a:buFont typeface="Arial" panose="020B0604020202020204" pitchFamily="34" charset="0"/>
              <a:buChar char="•"/>
            </a:pPr>
            <a:r>
              <a:rPr lang="en-US" dirty="0" err="1"/>
              <a:t>Pathlock</a:t>
            </a:r>
            <a:endParaRPr lang="en-US" dirty="0"/>
          </a:p>
          <a:p>
            <a:pPr marL="171450" indent="-171450" algn="just">
              <a:buFont typeface="Arial" panose="020B0604020202020204" pitchFamily="34" charset="0"/>
              <a:buChar char="•"/>
            </a:pPr>
            <a:r>
              <a:rPr lang="en-US" dirty="0"/>
              <a:t>MongoDB</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2"/>
              </a:rPr>
              <a:t>Introducing Security Dashboard for AI (Now in Public Preview)</a:t>
            </a:r>
            <a:endParaRPr lang="en-US" dirty="0"/>
          </a:p>
          <a:p>
            <a:pPr algn="just"/>
            <a:r>
              <a:rPr lang="en-US" b="1" dirty="0"/>
              <a:t>Microsoft has introduced the Security Dashboard for AI, now in public preview</a:t>
            </a:r>
            <a:r>
              <a:rPr lang="en-US" dirty="0"/>
              <a:t>, a unified security console designed to help organizations understand and manage AI-related risk across their environments. The dashboard aggregates real-time signals from multiple Microsoft security products—including Microsoft Entra, Microsoft Defender, and Microsoft Purview—into a single pane of glass to give security leaders clear visibility into AI posture and threats. It provides a comprehensive inventory of AI assets (including Copilot, AI agents, and third-party models), highlights security gaps, and offers prioritized recommendations and remediation paths. Integrated with AI-powered insights and reporting tools, the dashboard enables teams to investigate risk, monitor compliance, and collaborate more effectively on AI governance and protection efforts. </a:t>
            </a:r>
          </a:p>
        </p:txBody>
      </p:sp>
      <p:pic>
        <p:nvPicPr>
          <p:cNvPr id="3" name="Picture 2">
            <a:extLst>
              <a:ext uri="{FF2B5EF4-FFF2-40B4-BE49-F238E27FC236}">
                <a16:creationId xmlns:a16="http://schemas.microsoft.com/office/drawing/2014/main" id="{16358EFE-E331-0EB0-4D7B-07A03FF74F6B}"/>
              </a:ext>
            </a:extLst>
          </p:cNvPr>
          <p:cNvPicPr>
            <a:picLocks noChangeAspect="1"/>
          </p:cNvPicPr>
          <p:nvPr/>
        </p:nvPicPr>
        <p:blipFill>
          <a:blip r:embed="rId3"/>
          <a:stretch>
            <a:fillRect/>
          </a:stretch>
        </p:blipFill>
        <p:spPr>
          <a:xfrm>
            <a:off x="4665374" y="914400"/>
            <a:ext cx="4073120" cy="2319020"/>
          </a:xfrm>
          <a:prstGeom prst="rect">
            <a:avLst/>
          </a:prstGeom>
        </p:spPr>
      </p:pic>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marL="171450" indent="-171450" algn="just">
              <a:buFont typeface="Arial" panose="020B0604020202020204" pitchFamily="34" charset="0"/>
              <a:buChar char="•"/>
            </a:pPr>
            <a:r>
              <a:rPr lang="en-US" sz="1000" dirty="0"/>
              <a:t>Improved Reliability of Oracle PL/SQL Conversions on Azure SQL Managed Instance - The release updates the SSMA extension components that emulate Oracle compatibility behaviors, including patterns such as </a:t>
            </a:r>
            <a:r>
              <a:rPr lang="en-US" sz="1000" b="1" dirty="0"/>
              <a:t>autonomous transactions</a:t>
            </a:r>
            <a:r>
              <a:rPr lang="en-US" sz="1000" dirty="0"/>
              <a:t>. Connection handling has been improved to better align with modern security and encryption defaults in the target platform.</a:t>
            </a:r>
          </a:p>
          <a:p>
            <a:pPr marL="171450" indent="-171450" algn="just">
              <a:buFont typeface="Arial" panose="020B0604020202020204" pitchFamily="34" charset="0"/>
              <a:buChar char="•"/>
            </a:pPr>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Release Announcement of SQL Server Migration Assistant (SSMA) v10.5</a:t>
            </a:r>
            <a:endParaRPr lang="en-US" dirty="0"/>
          </a:p>
          <a:p>
            <a:pPr marL="171450" indent="-171450" algn="just">
              <a:buFont typeface="Arial" panose="020B0604020202020204" pitchFamily="34" charset="0"/>
              <a:buChar char="•"/>
            </a:pPr>
            <a:r>
              <a:rPr lang="en-US" dirty="0"/>
              <a:t>Advancing AI-assisted modernization with Sybase Copilot, enhanced Oracle conversions, and improved Azure SQL MI reliability - The release expands </a:t>
            </a:r>
            <a:r>
              <a:rPr lang="en-US" b="1" dirty="0"/>
              <a:t>AI-assisted code conversion</a:t>
            </a:r>
            <a:r>
              <a:rPr lang="en-US" dirty="0"/>
              <a:t>, improves overall translation accuracy, and enhances reliability based on lessons learned from large, real-world migration programs. These updates help reduce manual remediation, lower project risk, and accelerate timelines.</a:t>
            </a:r>
          </a:p>
          <a:p>
            <a:pPr marL="171450" indent="-171450" algn="just">
              <a:buFont typeface="Arial" panose="020B0604020202020204" pitchFamily="34" charset="0"/>
              <a:buChar char="•"/>
            </a:pPr>
            <a:r>
              <a:rPr lang="en-US" dirty="0"/>
              <a:t>Introducing AI‑assisted Code Conversion with Microsoft Copilot in SSMA for SAP ASE - Copilot helps translate complex Sybase T-SQL objects—procedures, functions, triggers, and more—into code compatible with SQL Server and Azure SQL, dramatically reducing manual fixes.</a:t>
            </a:r>
          </a:p>
          <a:p>
            <a:pPr marL="171450" indent="-171450" algn="just">
              <a:buFont typeface="Arial" panose="020B0604020202020204" pitchFamily="34" charset="0"/>
              <a:buChar char="•"/>
            </a:pPr>
            <a:r>
              <a:rPr lang="en-US" dirty="0"/>
              <a:t>Improved Code Conversion Quality for Oracle with Support for Larger Source Scripts - The engine now supports </a:t>
            </a:r>
            <a:r>
              <a:rPr lang="en-US" b="1" dirty="0"/>
              <a:t>much larger source scripts</a:t>
            </a:r>
            <a:r>
              <a:rPr lang="en-US" dirty="0"/>
              <a:t>, with </a:t>
            </a:r>
            <a:r>
              <a:rPr lang="en-US" b="1" dirty="0"/>
              <a:t>2× more input tokens</a:t>
            </a:r>
            <a:r>
              <a:rPr lang="en-US" dirty="0"/>
              <a:t> and significantly higher output limits for clearer, more complete explanations. This means complex PL/SQL packages can be converted in one go, with greater reliability and fewer retries.</a:t>
            </a:r>
          </a:p>
          <a:p>
            <a:pPr algn="just"/>
            <a:endParaRPr lang="en-US" dirty="0"/>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a:xfrm>
            <a:off x="342900" y="855079"/>
            <a:ext cx="3955312" cy="3774069"/>
          </a:xfrm>
        </p:spPr>
        <p:txBody>
          <a:bodyPr/>
          <a:lstStyle/>
          <a:p>
            <a:pPr algn="just"/>
            <a:r>
              <a:rPr lang="en-US" dirty="0">
                <a:hlinkClick r:id="rId2"/>
              </a:rPr>
              <a:t>Azure Arc Jumpstart Template for Hybrid Logic Apps Deployment</a:t>
            </a:r>
            <a:endParaRPr lang="en-US" dirty="0"/>
          </a:p>
          <a:p>
            <a:pPr algn="just"/>
            <a:r>
              <a:rPr lang="en-US" dirty="0"/>
              <a:t>A new Jumpstart Drop delivers a </a:t>
            </a:r>
            <a:r>
              <a:rPr lang="en-US" b="1" dirty="0"/>
              <a:t>single-command deployment</a:t>
            </a:r>
            <a:r>
              <a:rPr lang="en-US" dirty="0"/>
              <a:t> to stand up a full hybrid Logic Apps environment on an Arc-enabled AKS cluster. It’s built for teams that want to quickly test or validate hybrid integration scenarios without spending days wiring the platform together.</a:t>
            </a:r>
          </a:p>
          <a:p>
            <a:pPr algn="just"/>
            <a:r>
              <a:rPr lang="en-US" dirty="0"/>
              <a:t>Hybrid Logic Apps let you run workflows on </a:t>
            </a:r>
            <a:r>
              <a:rPr lang="en-US" b="1" dirty="0"/>
              <a:t>your own infrastructure</a:t>
            </a:r>
            <a:r>
              <a:rPr lang="en-US" dirty="0"/>
              <a:t>—on-prem, private cloud, or another public cloud—while still using Azure for governance and management. The trade-off is complexity. This template removes most of it.</a:t>
            </a:r>
          </a:p>
          <a:p>
            <a:pPr algn="just"/>
            <a:r>
              <a:rPr lang="en-US" b="1" dirty="0"/>
              <a:t>What the template deploys automatically</a:t>
            </a:r>
          </a:p>
          <a:p>
            <a:pPr algn="just"/>
            <a:r>
              <a:rPr lang="en-US" dirty="0"/>
              <a:t>The script provisions the core building blocks and validates them step by step:</a:t>
            </a:r>
          </a:p>
          <a:p>
            <a:pPr marL="171450" indent="-171450" algn="just">
              <a:buFont typeface="Arial" panose="020B0604020202020204" pitchFamily="34" charset="0"/>
              <a:buChar char="•"/>
            </a:pPr>
            <a:r>
              <a:rPr lang="en-US" dirty="0"/>
              <a:t>AKS cluster as the Kubernetes runtime</a:t>
            </a:r>
          </a:p>
          <a:p>
            <a:pPr marL="171450" indent="-171450" algn="just">
              <a:buFont typeface="Arial" panose="020B0604020202020204" pitchFamily="34" charset="0"/>
              <a:buChar char="•"/>
            </a:pPr>
            <a:r>
              <a:rPr lang="en-US" dirty="0"/>
              <a:t>Arc onboarding for centralized control</a:t>
            </a:r>
          </a:p>
          <a:p>
            <a:pPr marL="171450" indent="-171450" algn="just">
              <a:buFont typeface="Arial" panose="020B0604020202020204" pitchFamily="34" charset="0"/>
              <a:buChar char="•"/>
            </a:pPr>
            <a:r>
              <a:rPr lang="en-US" dirty="0"/>
              <a:t>Azure Container Apps extension, custom location, connected environment</a:t>
            </a:r>
          </a:p>
          <a:p>
            <a:pPr marL="171450" indent="-171450" algn="just">
              <a:buFont typeface="Arial" panose="020B0604020202020204" pitchFamily="34" charset="0"/>
              <a:buChar char="•"/>
            </a:pPr>
            <a:r>
              <a:rPr lang="en-US" dirty="0"/>
              <a:t>Azure SQL for runtime/state storage</a:t>
            </a:r>
          </a:p>
          <a:p>
            <a:pPr marL="171450" indent="-171450" algn="just">
              <a:buFont typeface="Arial" panose="020B0604020202020204" pitchFamily="34" charset="0"/>
              <a:buChar char="•"/>
            </a:pPr>
            <a:r>
              <a:rPr lang="en-US" dirty="0"/>
              <a:t>Azure Storage for SMB artifacts</a:t>
            </a:r>
          </a:p>
          <a:p>
            <a:pPr marL="171450" indent="-171450" algn="just">
              <a:buFont typeface="Arial" panose="020B0604020202020204" pitchFamily="34" charset="0"/>
              <a:buChar char="•"/>
            </a:pPr>
            <a:r>
              <a:rPr lang="en-US" dirty="0"/>
              <a:t>Hybrid Logic Apps resource</a:t>
            </a:r>
          </a:p>
          <a:p>
            <a:pPr algn="just"/>
            <a:endParaRPr lang="en-US" dirty="0"/>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a:xfrm>
            <a:off x="4433776" y="855081"/>
            <a:ext cx="4365038" cy="2081160"/>
          </a:xfrm>
        </p:spPr>
        <p:txBody>
          <a:bodyPr/>
          <a:lstStyle/>
          <a:p>
            <a:pPr algn="just"/>
            <a:r>
              <a:rPr lang="en-US" sz="1000" dirty="0">
                <a:hlinkClick r:id="rId2"/>
              </a:rPr>
              <a:t>Generally Available: AKS support for Kubernetes version 1.34</a:t>
            </a:r>
            <a:endParaRPr lang="en-US" sz="1000" dirty="0"/>
          </a:p>
          <a:p>
            <a:pPr algn="just"/>
            <a:r>
              <a:rPr lang="en-US" sz="1000" dirty="0"/>
              <a:t>Kubernetes version </a:t>
            </a:r>
            <a:r>
              <a:rPr lang="en-US" sz="1000" b="1" dirty="0"/>
              <a:t>1.34</a:t>
            </a:r>
            <a:r>
              <a:rPr lang="en-US" sz="1000" dirty="0"/>
              <a:t> is now generally available for AKS. The release brings </a:t>
            </a:r>
            <a:r>
              <a:rPr lang="en-US" sz="1000" b="1" dirty="0"/>
              <a:t>58 upstream enhancements</a:t>
            </a:r>
            <a:r>
              <a:rPr lang="en-US" sz="1000" dirty="0"/>
              <a:t>, including </a:t>
            </a:r>
            <a:r>
              <a:rPr lang="en-US" sz="1000" b="1" dirty="0"/>
              <a:t>23 Stable</a:t>
            </a:r>
            <a:r>
              <a:rPr lang="en-US" sz="1000" dirty="0"/>
              <a:t>, </a:t>
            </a:r>
            <a:r>
              <a:rPr lang="en-US" sz="1000" b="1" dirty="0"/>
              <a:t>22 Beta</a:t>
            </a:r>
            <a:r>
              <a:rPr lang="en-US" sz="1000" dirty="0"/>
              <a:t>, and </a:t>
            </a:r>
            <a:r>
              <a:rPr lang="en-US" sz="1000" b="1" dirty="0"/>
              <a:t>13 Alpha</a:t>
            </a:r>
            <a:r>
              <a:rPr lang="en-US" sz="1000" dirty="0"/>
              <a:t> features.</a:t>
            </a:r>
          </a:p>
          <a:p>
            <a:pPr algn="just"/>
            <a:r>
              <a:rPr lang="en-US" sz="1000" dirty="0"/>
              <a:t>For platform and operations teams, this means stronger maturity for production workloads, early access to upcoming innovations, and clearer upgrade planning. Stable features can be adopted with confidence, Beta capabilities can be evaluated for near-term adoption, and Alpha items give visibility into where the ecosystem is heading.</a:t>
            </a:r>
          </a:p>
          <a:p>
            <a:pPr algn="just"/>
            <a:r>
              <a:rPr lang="en-US" sz="1000" dirty="0"/>
              <a:t>Overall, Kubernetes 1.34 helps organizations modernize cluster operations, unlock new functionality, and maintain a predictable, well-governed lifecycle across environments.</a:t>
            </a:r>
          </a:p>
          <a:p>
            <a:pPr algn="just"/>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a:xfrm>
            <a:off x="342900" y="855081"/>
            <a:ext cx="3955312" cy="2507880"/>
          </a:xfrm>
        </p:spPr>
        <p:txBody>
          <a:bodyPr/>
          <a:lstStyle/>
          <a:p>
            <a:pPr algn="just"/>
            <a:r>
              <a:rPr lang="en-US" dirty="0">
                <a:hlinkClick r:id="rId3"/>
              </a:rPr>
              <a:t>Generally Available: Azure Databricks Supervisor Agent</a:t>
            </a:r>
            <a:endParaRPr lang="en-US" dirty="0"/>
          </a:p>
          <a:p>
            <a:pPr algn="just"/>
            <a:r>
              <a:rPr lang="en-US" dirty="0"/>
              <a:t>A new capability called Supervisor Agent is now generally available in Azure Databricks as part of the Agent Bricks platform.</a:t>
            </a:r>
          </a:p>
          <a:p>
            <a:pPr algn="just"/>
            <a:r>
              <a:rPr lang="en-US" dirty="0"/>
              <a:t>It introduces a dynamic supervision pattern that interprets the intended outcome of a task and coordinates the best execution path in real time.</a:t>
            </a:r>
          </a:p>
          <a:p>
            <a:pPr algn="just"/>
            <a:r>
              <a:rPr lang="en-US" dirty="0"/>
              <a:t>With Supervisor Agent, teams can bring together previously isolated, single-purpose agents into a coordinated system that works as one. This helps improve efficiency, reliability, and overall workflow performance, while governance and security are maintained through Unity Catalog.</a:t>
            </a:r>
          </a:p>
          <a:p>
            <a:pPr algn="just"/>
            <a:r>
              <a:rPr lang="en-US" dirty="0"/>
              <a:t>Designed for production use, the capability supports organizations that want to scale agent-driven automation with stronger control, visibility, and operational consistency.</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Announcing Application Insights SDK 3.x for .NET</a:t>
            </a:r>
            <a:endParaRPr lang="en-US" sz="1000" dirty="0"/>
          </a:p>
          <a:p>
            <a:pPr algn="just"/>
            <a:r>
              <a:rPr lang="en-US" sz="1000" dirty="0"/>
              <a:t>The latest Application Insights SDK significantly simplifies modernization. Previously, moving from the classic SDK to the Azure Monitor </a:t>
            </a:r>
            <a:r>
              <a:rPr lang="en-US" sz="1000" dirty="0" err="1"/>
              <a:t>OpenTelemetry</a:t>
            </a:r>
            <a:r>
              <a:rPr lang="en-US" sz="1000" dirty="0"/>
              <a:t> Distro required reinstalling components and updating code. Now, most teams can migrate </a:t>
            </a:r>
            <a:r>
              <a:rPr lang="en-US" sz="1000" b="1" dirty="0"/>
              <a:t>just by upgrading the SDK version</a:t>
            </a:r>
            <a:r>
              <a:rPr lang="en-US" sz="1000" dirty="0"/>
              <a:t>.</a:t>
            </a:r>
          </a:p>
          <a:p>
            <a:pPr algn="just"/>
            <a:r>
              <a:rPr lang="en-US" sz="1000" dirty="0"/>
              <a:t>A built-in mapping layer automatically translates existing </a:t>
            </a:r>
            <a:r>
              <a:rPr lang="en-US" dirty="0"/>
              <a:t>Track*</a:t>
            </a:r>
            <a:r>
              <a:rPr lang="en-US" sz="1000" dirty="0"/>
              <a:t> API calls into </a:t>
            </a:r>
            <a:r>
              <a:rPr lang="en-US" sz="1000" dirty="0" err="1"/>
              <a:t>OpenTelemetry</a:t>
            </a:r>
            <a:r>
              <a:rPr lang="en-US" sz="1000" dirty="0"/>
              <a:t> signals behind the scenes, so current instrumentation keeps working while you transition.</a:t>
            </a:r>
          </a:p>
          <a:p>
            <a:pPr algn="just"/>
            <a:r>
              <a:rPr lang="en-US" sz="1000" dirty="0"/>
              <a:t>It Provides:</a:t>
            </a:r>
          </a:p>
          <a:p>
            <a:pPr marL="171450" indent="-171450" algn="just">
              <a:buFont typeface="Arial" panose="020B0604020202020204" pitchFamily="34" charset="0"/>
              <a:buChar char="•"/>
            </a:pPr>
            <a:r>
              <a:rPr lang="en-US" sz="1000" b="1" dirty="0"/>
              <a:t>Vendor-neutral telemetry going forward - </a:t>
            </a:r>
            <a:r>
              <a:rPr lang="en-US" sz="1000" dirty="0"/>
              <a:t>You can start writing new instrumentation using </a:t>
            </a:r>
            <a:r>
              <a:rPr lang="en-US" sz="1000" dirty="0" err="1"/>
              <a:t>OpenTelemetry</a:t>
            </a:r>
            <a:r>
              <a:rPr lang="en-US" sz="1000" dirty="0"/>
              <a:t> APIs immediately, aligning with industry standards and improving long-term portability.</a:t>
            </a:r>
          </a:p>
          <a:p>
            <a:pPr marL="171450" indent="-171450" algn="just">
              <a:buFont typeface="Arial" panose="020B0604020202020204" pitchFamily="34" charset="0"/>
              <a:buChar char="•"/>
            </a:pPr>
            <a:r>
              <a:rPr lang="en-US" sz="1000" b="1" dirty="0"/>
              <a:t>Access to the wider ecosystem - </a:t>
            </a:r>
            <a:r>
              <a:rPr lang="en-US" sz="1000" dirty="0"/>
              <a:t>Community libraries and integrations become plug-and-play. Scenarios that were previously difficult—like collecting Redis dependency telemetry—are much easier.</a:t>
            </a:r>
          </a:p>
          <a:p>
            <a:pPr marL="171450" indent="-171450" algn="just">
              <a:buFont typeface="Arial" panose="020B0604020202020204" pitchFamily="34" charset="0"/>
              <a:buChar char="•"/>
            </a:pPr>
            <a:r>
              <a:rPr lang="en-US" sz="1000" b="1" dirty="0"/>
              <a:t>Multiple export destinations - </a:t>
            </a:r>
            <a:r>
              <a:rPr lang="en-US" sz="1000" dirty="0"/>
              <a:t>Send data to Azure Monitor and to other platforms (for example, SIEM or analytics backends) at the same time.</a:t>
            </a:r>
          </a:p>
          <a:p>
            <a:pPr algn="just"/>
            <a:endParaRPr lang="en-US" sz="1000" dirty="0"/>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Windows 365 now supported in New Zealand North</a:t>
            </a:r>
            <a:endParaRPr lang="en-US" dirty="0"/>
          </a:p>
          <a:p>
            <a:pPr algn="just"/>
            <a:r>
              <a:rPr lang="en-US" b="1" dirty="0"/>
              <a:t>Windows 365 is now available in the New Zealand North region</a:t>
            </a:r>
            <a:r>
              <a:rPr lang="en-US" dirty="0"/>
              <a:t>, extending Microsoft’s Cloud PC footprint closer to customers in New Zealand and the surrounding region. This expansion delivers lower latency, improved performance, and local data residency, helping organizations meet compliance, sovereignty, and user-experience requirements.</a:t>
            </a:r>
          </a:p>
          <a:p>
            <a:pPr algn="just"/>
            <a:r>
              <a:rPr lang="en-US" dirty="0"/>
              <a:t>With this addition, Microsoft strengthens its global Windows 365 coverage and supports organizations looking to modernize end-user computing with secure, flexible, cloud-based desktops—without relying on physical hardware—while keeping data within national borders.</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2"/>
              </a:rPr>
              <a:t>DCasv6 and ECasv6 confidential VMs in Azure Government Cloud</a:t>
            </a:r>
            <a:endParaRPr lang="en-US" dirty="0"/>
          </a:p>
          <a:p>
            <a:pPr algn="just"/>
            <a:r>
              <a:rPr lang="en-US" dirty="0"/>
              <a:t>The DCasv6 and ECasv6-series virtual machines built on 4th Generation AMD EPYC™ processors are the first in Azure Government to implement AMD SEV-SNP. This generation introduces several controls that change both security posture and operational readiness:</a:t>
            </a:r>
          </a:p>
          <a:p>
            <a:pPr marL="171450" indent="-171450" algn="just">
              <a:buFont typeface="Arial" panose="020B0604020202020204" pitchFamily="34" charset="0"/>
              <a:buChar char="•"/>
            </a:pPr>
            <a:r>
              <a:rPr lang="en-US" b="1" dirty="0"/>
              <a:t>Hardware-Enforced Memory Isolation</a:t>
            </a:r>
            <a:r>
              <a:rPr lang="en-US" dirty="0"/>
              <a:t>: AMD SEV-SNP provides full, AES-128 encrypted memory with keys generated and managed by the onboard AMD Secure Processor.</a:t>
            </a:r>
          </a:p>
          <a:p>
            <a:pPr marL="171450" indent="-171450" algn="just">
              <a:buFont typeface="Arial" panose="020B0604020202020204" pitchFamily="34" charset="0"/>
              <a:buChar char="•"/>
            </a:pPr>
            <a:r>
              <a:rPr lang="en-US" b="1" dirty="0"/>
              <a:t>Online key rotation</a:t>
            </a:r>
            <a:r>
              <a:rPr lang="en-US" dirty="0"/>
              <a:t>: Support for the online key rotation with the introduction of Virtual Machine </a:t>
            </a:r>
            <a:r>
              <a:rPr lang="en-US" dirty="0" err="1"/>
              <a:t>Metablob</a:t>
            </a:r>
            <a:r>
              <a:rPr lang="en-US" dirty="0"/>
              <a:t> disk (VMMD).</a:t>
            </a:r>
          </a:p>
          <a:p>
            <a:pPr marL="171450" indent="-171450" algn="just">
              <a:buFont typeface="Arial" panose="020B0604020202020204" pitchFamily="34" charset="0"/>
              <a:buChar char="•"/>
            </a:pPr>
            <a:r>
              <a:rPr lang="en-US" b="1" dirty="0"/>
              <a:t>Programmatic Attestation for Audit and Zero-Trust</a:t>
            </a:r>
            <a:r>
              <a:rPr lang="en-US" dirty="0"/>
              <a:t>: Before provisioning any workload, customers can perform an attestation. This cryptographic procedure validates the integrity of the hardware and software, producing a signed report that proves the VM is a genuine confidential instance.</a:t>
            </a:r>
          </a:p>
          <a:p>
            <a:pPr marL="171450" indent="-171450" algn="just">
              <a:buFont typeface="Arial" panose="020B0604020202020204" pitchFamily="34" charset="0"/>
              <a:buChar char="•"/>
            </a:pPr>
            <a:r>
              <a:rPr lang="en-US" b="1" dirty="0"/>
              <a:t>Confidential OS Disk Encryption with Flexible Key Management</a:t>
            </a:r>
            <a:r>
              <a:rPr lang="en-US" dirty="0"/>
              <a:t>: Cryptographic protection extends beyond runtime memory to the operating system disk itself. The disk's encryption keys are bound to the VM's virtual Trusted Platform Module (</a:t>
            </a:r>
            <a:r>
              <a:rPr lang="en-US" dirty="0" err="1"/>
              <a:t>vTPM</a:t>
            </a:r>
            <a:r>
              <a:rPr lang="en-US" dirty="0"/>
              <a:t>), which is protected within the TEE. </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SQL updates for mid-February 2026</a:t>
            </a:r>
            <a:endParaRPr lang="en-US" dirty="0"/>
          </a:p>
          <a:p>
            <a:pPr algn="just"/>
            <a:r>
              <a:rPr lang="en-US" dirty="0"/>
              <a:t>Several improvements landed to make development, migration, and resiliency easier for teams working with Azure SQL.</a:t>
            </a:r>
          </a:p>
          <a:p>
            <a:pPr marL="171450" indent="-171450" algn="just">
              <a:buFont typeface="Arial" panose="020B0604020202020204" pitchFamily="34" charset="0"/>
              <a:buChar char="•"/>
            </a:pPr>
            <a:r>
              <a:rPr lang="en-US" b="1" dirty="0"/>
              <a:t>Visual Studio Code experience gets better.</a:t>
            </a:r>
            <a:br>
              <a:rPr lang="en-US" dirty="0"/>
            </a:br>
            <a:r>
              <a:rPr lang="en-US" dirty="0"/>
              <a:t>A new </a:t>
            </a:r>
            <a:r>
              <a:rPr lang="en-US" b="1" dirty="0"/>
              <a:t>SQL Projects Publish</a:t>
            </a:r>
            <a:r>
              <a:rPr lang="en-US" dirty="0"/>
              <a:t> dialog simplifies deployments, reducing friction when pushing schema and database changes from local environments into Azure.</a:t>
            </a:r>
          </a:p>
          <a:p>
            <a:pPr marL="171450" indent="-171450" algn="just">
              <a:buFont typeface="Arial" panose="020B0604020202020204" pitchFamily="34" charset="0"/>
              <a:buChar char="•"/>
            </a:pPr>
            <a:r>
              <a:rPr lang="en-US" b="1" dirty="0"/>
              <a:t>Move from Azure Data Studio smoothly.</a:t>
            </a:r>
            <a:br>
              <a:rPr lang="en-US" dirty="0"/>
            </a:br>
            <a:r>
              <a:rPr lang="en-US" dirty="0"/>
              <a:t>The </a:t>
            </a:r>
            <a:r>
              <a:rPr lang="en-US" b="1" dirty="0"/>
              <a:t>Connections Migration</a:t>
            </a:r>
            <a:r>
              <a:rPr lang="en-US" dirty="0"/>
              <a:t> dialog helps import existing workflows and connection settings into VS Code, so teams can transition tools without rebuilding everything from scratch.</a:t>
            </a:r>
          </a:p>
          <a:p>
            <a:pPr marL="171450" indent="-171450" algn="just">
              <a:buFont typeface="Arial" panose="020B0604020202020204" pitchFamily="34" charset="0"/>
              <a:buChar char="•"/>
            </a:pPr>
            <a:r>
              <a:rPr lang="en-US" b="1" dirty="0"/>
              <a:t>Stronger disaster recovery design.</a:t>
            </a:r>
            <a:br>
              <a:rPr lang="en-US" dirty="0"/>
            </a:br>
            <a:r>
              <a:rPr lang="en-US" dirty="0"/>
              <a:t>Failover groups now support </a:t>
            </a:r>
            <a:r>
              <a:rPr lang="en-US" b="1" dirty="0"/>
              <a:t>up to four secondary replicas</a:t>
            </a:r>
            <a:r>
              <a:rPr lang="en-US" dirty="0"/>
              <a:t> instead of just one. This enables more advanced multi-region topologies, additional read scale, and greater flexibility when planning resilience and regional coverage.</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970</TotalTime>
  <Words>2309</Words>
  <Application>Microsoft Office PowerPoint</Application>
  <PresentationFormat>On-screen Show (16:9)</PresentationFormat>
  <Paragraphs>111</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Human Sans</vt:lpstr>
      <vt:lpstr>Human Sans Regular</vt:lpstr>
      <vt:lpstr>Continuum Theme</vt:lpstr>
      <vt:lpstr>Azure Times #193</vt:lpstr>
      <vt:lpstr>PowerPoint Presentation</vt:lpstr>
      <vt:lpstr>Networking Updates</vt:lpstr>
      <vt:lpstr>PowerPoint Presentation</vt:lpstr>
      <vt:lpstr>Security &amp; Identity Updates</vt:lpstr>
      <vt:lpstr>Security &amp; Identity Updates</vt:lpstr>
      <vt:lpstr>Security &amp; Identity Updates</vt:lpstr>
      <vt:lpstr>Security &amp; Identity Updates</vt:lpstr>
      <vt:lpstr>PowerPoint Presentation</vt:lpstr>
      <vt:lpstr>Management &amp; Governance Updates</vt:lpstr>
      <vt:lpstr>Management &amp; Governance Updates</vt:lpstr>
      <vt:lpstr>PowerPoint Presentation</vt:lpstr>
      <vt:lpstr>Compute Updates</vt:lpstr>
      <vt:lpstr>Compute Updates</vt:lpstr>
      <vt:lpstr>Compute Updates</vt:lpstr>
      <vt:lpstr>PowerPoint Presentation</vt:lpstr>
      <vt:lpstr>Databases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124</cp:revision>
  <dcterms:created xsi:type="dcterms:W3CDTF">2018-01-26T19:23:30Z</dcterms:created>
  <dcterms:modified xsi:type="dcterms:W3CDTF">2026-02-14T07:23:00Z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