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2"/>
  </p:notesMasterIdLst>
  <p:handoutMasterIdLst>
    <p:handoutMasterId r:id="rId33"/>
  </p:handoutMasterIdLst>
  <p:sldIdLst>
    <p:sldId id="2142532340" r:id="rId5"/>
    <p:sldId id="2146847045" r:id="rId6"/>
    <p:sldId id="10657" r:id="rId7"/>
    <p:sldId id="2146847157" r:id="rId8"/>
    <p:sldId id="2146847126" r:id="rId9"/>
    <p:sldId id="2146847124" r:id="rId10"/>
    <p:sldId id="2146847046" r:id="rId11"/>
    <p:sldId id="2146847089" r:id="rId12"/>
    <p:sldId id="2146847130" r:id="rId13"/>
    <p:sldId id="2146847129" r:id="rId14"/>
    <p:sldId id="2146847128" r:id="rId15"/>
    <p:sldId id="2146847048" r:id="rId16"/>
    <p:sldId id="2146847049" r:id="rId17"/>
    <p:sldId id="2146847132" r:id="rId18"/>
    <p:sldId id="2146847050" r:id="rId19"/>
    <p:sldId id="2146847134" r:id="rId20"/>
    <p:sldId id="2146847096" r:id="rId21"/>
    <p:sldId id="2146847156" r:id="rId22"/>
    <p:sldId id="2146847136" r:id="rId23"/>
    <p:sldId id="2146847052" r:id="rId24"/>
    <p:sldId id="2146847100" r:id="rId25"/>
    <p:sldId id="2146847058" r:id="rId26"/>
    <p:sldId id="2146847111" r:id="rId27"/>
    <p:sldId id="2146847146" r:id="rId28"/>
    <p:sldId id="2146847085" r:id="rId29"/>
    <p:sldId id="2146847084" r:id="rId30"/>
    <p:sldId id="2146847064" r:id="rId3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57"/>
            <p14:sldId id="2146847126"/>
            <p14:sldId id="2146847124"/>
          </p14:sldIdLst>
        </p14:section>
        <p14:section name="Security &amp; Identity" id="{1AA42572-B3BD-44F7-813B-C2C647DDBB3C}">
          <p14:sldIdLst>
            <p14:sldId id="2146847046"/>
            <p14:sldId id="2146847089"/>
            <p14:sldId id="2146847130"/>
            <p14:sldId id="2146847129"/>
            <p14:sldId id="2146847128"/>
          </p14:sldIdLst>
        </p14:section>
        <p14:section name="Management &amp; Governance" id="{34181601-6D48-4406-A525-C7B5A12C6C5B}">
          <p14:sldIdLst>
            <p14:sldId id="2146847048"/>
            <p14:sldId id="2146847049"/>
            <p14:sldId id="2146847132"/>
          </p14:sldIdLst>
        </p14:section>
        <p14:section name="Compute" id="{05AA80BB-8802-49AB-8336-A884227CE2F7}">
          <p14:sldIdLst>
            <p14:sldId id="2146847050"/>
            <p14:sldId id="2146847134"/>
            <p14:sldId id="2146847096"/>
            <p14:sldId id="2146847156"/>
            <p14:sldId id="2146847136"/>
          </p14:sldIdLst>
        </p14:section>
        <p14:section name="Storage &amp; Data" id="{1F159046-CE0A-45BC-9D5B-6E6C95980F78}">
          <p14:sldIdLst>
            <p14:sldId id="2146847052"/>
            <p14:sldId id="2146847100"/>
          </p14:sldIdLst>
        </p14:section>
        <p14:section name="Databases" id="{AEAFAE72-AD56-48F3-926B-38BAE269038F}">
          <p14:sldIdLst/>
        </p14:section>
        <p14:section name="Integration" id="{ACBD46A3-6F1C-451B-A154-0A056E0DEFF6}">
          <p14:sldIdLst/>
        </p14:section>
        <p14:section name="ML &amp; AI &amp; IOT" id="{F4E1EAF1-55E9-4CA4-8ADC-28B69C1D66D2}">
          <p14:sldIdLst>
            <p14:sldId id="2146847058"/>
            <p14:sldId id="2146847111"/>
            <p14:sldId id="2146847146"/>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88" d="100"/>
          <a:sy n="188" d="100"/>
        </p:scale>
        <p:origin x="3558" y="372"/>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2/7/2026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55944"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ru-ru/updates?id=555205"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zure.microsoft.com/ru-ru/updates?id=553532" TargetMode="External"/><Relationship Id="rId2" Type="http://schemas.openxmlformats.org/officeDocument/2006/relationships/hyperlink" Target="https://techcommunity.microsoft.com/blog/azureinfrastructureblog/announcing-microsoft-azure-network-adapter-mana-support-for-existing-vm-skus/4493279"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53527"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azure/vpn-gateway/vpn-gateway-about-vpngateways" TargetMode="External"/><Relationship Id="rId2" Type="http://schemas.openxmlformats.org/officeDocument/2006/relationships/hyperlink" Target="https://learn.microsoft.com/en-us/azure/defender-for-cloud/concept-private-links" TargetMode="Externa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learn.microsoft.com/en-us/azure/expressroute/expressroute-location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ability-to-convert-source-of-authority-of-synced-on-prem-ad-users-to-cloud-users-is-now-available" TargetMode="External"/><Relationship Id="rId2" Type="http://schemas.openxmlformats.org/officeDocument/2006/relationships/hyperlink" Target="https://learn.microsoft.com/en-us/entra/fundamentals/whats-new#general-availability---entra-id-governance-guest-billing-meter-enforcement"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client-credentials-in-microsoft-entra-external-id" TargetMode="External"/><Relationship Id="rId2" Type="http://schemas.openxmlformats.org/officeDocument/2006/relationships/hyperlink" Target="https://learn.microsoft.com/en-us/entra/fundamentals/whats-new#general-availability---service-principal-creation-audit-logs-for-alerting--monitoring"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hyperlink" Target="https://learn.microsoft.com/en-us/entra/fundamentals/whats-new#general-availability---entra-private-access-for-domain-controllers"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azure/backup/confidential-vm-backup" TargetMode="External"/><Relationship Id="rId2" Type="http://schemas.openxmlformats.org/officeDocument/2006/relationships/hyperlink" Target="https://azure.microsoft.com/ru-ru/updates?id=555184"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55488" TargetMode="External"/><Relationship Id="rId2" Type="http://schemas.openxmlformats.org/officeDocument/2006/relationships/hyperlink" Target="https://azure.microsoft.com/ru-ru/updates?id=553999"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zure.microsoft.com/ru-ru/updates?id=548198"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53966" TargetMode="External"/><Relationship Id="rId2" Type="http://schemas.openxmlformats.org/officeDocument/2006/relationships/hyperlink" Target="https://azure.microsoft.com/ru-ru/updates?id=550845"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techcommunity.microsoft.com/blog/linuxandopensourceblog/retina-1-0-is-now-available/4489003"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53917"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techcommunity.microsoft.com/blog/azurevirtualdesktopblog/azure-virtual-desktop-is-now-available-in-us-gov-texas-in-azure-government/4485723"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azure.microsoft.com/ru-ru/updates?id=550863"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azure.microsoft.com/ru-ru/updates?id=555870" TargetMode="External"/><Relationship Id="rId2" Type="http://schemas.openxmlformats.org/officeDocument/2006/relationships/hyperlink" Target="https://techcommunity.microsoft.com/blog/azure-ai-foundry-blog/kimi-k2-5-now-in-microsoft-foundry/4492321"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azure.microsoft.com/ru-ru/updates?id=555981"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#192</a:t>
            </a:r>
          </a:p>
        </p:txBody>
      </p:sp>
      <p:sp>
        <p:nvSpPr>
          <p:cNvPr id="4" name="Text Placeholder 3"/>
          <p:cNvSpPr>
            <a:spLocks noGrp="1"/>
          </p:cNvSpPr>
          <p:nvPr>
            <p:ph type="body" sz="quarter" idx="11"/>
          </p:nvPr>
        </p:nvSpPr>
        <p:spPr/>
        <p:txBody>
          <a:bodyPr/>
          <a:lstStyle/>
          <a:p>
            <a:r>
              <a:rPr lang="en-US" spc="300" dirty="0"/>
              <a:t>February 9,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virtual network routing appliance</a:t>
            </a:r>
            <a:endParaRPr lang="en-US" dirty="0"/>
          </a:p>
          <a:p>
            <a:pPr algn="just"/>
            <a:r>
              <a:rPr lang="en-US" b="1" dirty="0"/>
              <a:t>Azure Virtual Network routing appliance</a:t>
            </a:r>
            <a:r>
              <a:rPr lang="en-US" dirty="0"/>
              <a:t> is a </a:t>
            </a:r>
            <a:r>
              <a:rPr lang="en-US" b="1" dirty="0"/>
              <a:t>high-performance, Azure-managed routing service</a:t>
            </a:r>
            <a:r>
              <a:rPr lang="en-US" dirty="0"/>
              <a:t> that delivers low-latency, high-throughput traffic forwarding without relying on VM-based routers. Deployed as a top-level Azure resource in a dedicated subnet, it runs on specialized networking hardware and integrates seamlessly with Azure’s native management, governance, and deployment tools.</a:t>
            </a:r>
          </a:p>
          <a:p>
            <a:pPr algn="just"/>
            <a:r>
              <a:rPr lang="en-US" b="1" dirty="0"/>
              <a:t>Why it matters</a:t>
            </a:r>
            <a:endParaRPr lang="en-US" dirty="0"/>
          </a:p>
          <a:p>
            <a:pPr marL="171450" indent="-171450" algn="just">
              <a:buFont typeface="Arial" panose="020B0604020202020204" pitchFamily="34" charset="0"/>
              <a:buChar char="•"/>
            </a:pPr>
            <a:r>
              <a:rPr lang="en-US" dirty="0"/>
              <a:t>Scales routing capacity horizontally to meet growing bandwidth needs</a:t>
            </a:r>
          </a:p>
          <a:p>
            <a:pPr marL="171450" indent="-171450" algn="just">
              <a:buFont typeface="Arial" panose="020B0604020202020204" pitchFamily="34" charset="0"/>
              <a:buChar char="•"/>
            </a:pPr>
            <a:r>
              <a:rPr lang="en-US" dirty="0"/>
              <a:t>Reduces latency for east-west traffic</a:t>
            </a:r>
          </a:p>
          <a:p>
            <a:pPr marL="171450" indent="-171450" algn="just">
              <a:buFont typeface="Arial" panose="020B0604020202020204" pitchFamily="34" charset="0"/>
              <a:buChar char="•"/>
            </a:pPr>
            <a:r>
              <a:rPr lang="en-US" dirty="0"/>
              <a:t>Removes routing bottlenecks in hub-and-spoke architectures</a:t>
            </a:r>
          </a:p>
          <a:p>
            <a:pPr marL="171450" indent="-171450" algn="just">
              <a:buFont typeface="Arial" panose="020B0604020202020204" pitchFamily="34" charset="0"/>
              <a:buChar char="•"/>
            </a:pPr>
            <a:r>
              <a:rPr lang="en-US" dirty="0"/>
              <a:t>Eliminates the operational overhead of managing VM-based routing appliances</a:t>
            </a:r>
          </a:p>
          <a:p>
            <a:pPr algn="just"/>
            <a:endParaRPr lang="en-US" dirty="0"/>
          </a:p>
          <a:p>
            <a:pPr algn="just"/>
            <a:endParaRPr lang="en-US" dirty="0"/>
          </a:p>
        </p:txBody>
      </p:sp>
      <p:pic>
        <p:nvPicPr>
          <p:cNvPr id="1026" name="Picture 2" descr="Diagram showing Virtual network routing appliance architecture in Azure.">
            <a:extLst>
              <a:ext uri="{FF2B5EF4-FFF2-40B4-BE49-F238E27FC236}">
                <a16:creationId xmlns:a16="http://schemas.microsoft.com/office/drawing/2014/main" id="{5F6FD5EF-AD53-84C8-305F-A7B63B4C98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7014" y="1351464"/>
            <a:ext cx="3881249"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6F25C0-C8FE-C566-76BD-687BD6C4D8C0}"/>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6A3DFA24-C784-65A2-0D5B-AFB3E99C8C7D}"/>
              </a:ext>
            </a:extLst>
          </p:cNvPr>
          <p:cNvSpPr>
            <a:spLocks noGrp="1"/>
          </p:cNvSpPr>
          <p:nvPr>
            <p:ph type="title"/>
          </p:nvPr>
        </p:nvSpPr>
        <p:spPr/>
        <p:txBody>
          <a:bodyPr/>
          <a:lstStyle/>
          <a:p>
            <a:r>
              <a:rPr lang="en-US" sz="1600" dirty="0"/>
              <a:t>Networking Updates</a:t>
            </a:r>
            <a:endParaRPr lang="en-US" dirty="0"/>
          </a:p>
        </p:txBody>
      </p:sp>
      <p:sp>
        <p:nvSpPr>
          <p:cNvPr id="4" name="Text Placeholder 3">
            <a:extLst>
              <a:ext uri="{FF2B5EF4-FFF2-40B4-BE49-F238E27FC236}">
                <a16:creationId xmlns:a16="http://schemas.microsoft.com/office/drawing/2014/main" id="{39B0A889-0F9A-477D-99E8-7F5CF1650FD9}"/>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0"/>
            <a:ext cx="3955312" cy="3774069"/>
          </a:xfrm>
        </p:spPr>
        <p:txBody>
          <a:bodyPr/>
          <a:lstStyle/>
          <a:p>
            <a:pPr algn="just"/>
            <a:r>
              <a:rPr lang="en-US" dirty="0">
                <a:hlinkClick r:id="rId2"/>
              </a:rPr>
              <a:t>Public Preview: X-Forwarded-For (XFF) grouping for rate limiting on Application Gateway WAF v2</a:t>
            </a:r>
            <a:endParaRPr lang="en-US" dirty="0"/>
          </a:p>
          <a:p>
            <a:pPr algn="just"/>
            <a:r>
              <a:rPr lang="en-US" dirty="0"/>
              <a:t>Application Gateway WAF v2 now supports additional preview </a:t>
            </a:r>
            <a:r>
              <a:rPr lang="en-US" b="1" dirty="0"/>
              <a:t>rate-limiting </a:t>
            </a:r>
            <a:r>
              <a:rPr lang="en-US" b="1" dirty="0" err="1"/>
              <a:t>GroupBy</a:t>
            </a:r>
            <a:r>
              <a:rPr lang="en-US" b="1" dirty="0"/>
              <a:t> options using the X-Forwarded-For (XFF) header</a:t>
            </a:r>
            <a:r>
              <a:rPr lang="en-US" dirty="0"/>
              <a:t>. This allows customers operating behind proxies or CDNs to apply rate limits based on the </a:t>
            </a:r>
            <a:r>
              <a:rPr lang="en-US" b="1" dirty="0"/>
              <a:t>original client IP</a:t>
            </a:r>
            <a:r>
              <a:rPr lang="en-US" dirty="0"/>
              <a:t>, rather than the TCP source IP.</a:t>
            </a:r>
          </a:p>
          <a:p>
            <a:pPr algn="just"/>
            <a:r>
              <a:rPr lang="en-US" dirty="0"/>
              <a:t>With this enhancement, rate-limit rules can be grouped by </a:t>
            </a:r>
            <a:r>
              <a:rPr lang="en-US" b="1" dirty="0"/>
              <a:t>Client Address (XFF)</a:t>
            </a:r>
            <a:r>
              <a:rPr lang="en-US" dirty="0"/>
              <a:t> or </a:t>
            </a:r>
            <a:r>
              <a:rPr lang="en-US" b="1" dirty="0"/>
              <a:t>Geo Location (XFF)</a:t>
            </a:r>
            <a:r>
              <a:rPr lang="en-US" dirty="0"/>
              <a:t>, enabling more accurate mitigation of abusive or high-volume traffic without impacting legitimate users. The feature integrates seamlessly with existing </a:t>
            </a:r>
            <a:r>
              <a:rPr lang="en-US" b="1" dirty="0"/>
              <a:t>Application Gateway WAF v2 custom rate-limit rules and policies</a:t>
            </a:r>
            <a:r>
              <a:rPr lang="en-US" dirty="0"/>
              <a:t>.</a:t>
            </a:r>
          </a:p>
          <a:p>
            <a:pPr algn="just"/>
            <a:endParaRPr lang="en-US" dirty="0"/>
          </a:p>
        </p:txBody>
      </p:sp>
    </p:spTree>
    <p:extLst>
      <p:ext uri="{BB962C8B-B14F-4D97-AF65-F5344CB8AC3E}">
        <p14:creationId xmlns:p14="http://schemas.microsoft.com/office/powerpoint/2010/main" val="422219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pPr algn="just"/>
            <a:r>
              <a:rPr lang="en-US" sz="1000" dirty="0">
                <a:hlinkClick r:id="rId2"/>
              </a:rPr>
              <a:t>Announcing Microsoft Azure Network Adapter (MANA) support for Existing VM SKUs</a:t>
            </a:r>
            <a:endParaRPr lang="en-US" sz="1000" dirty="0"/>
          </a:p>
          <a:p>
            <a:pPr algn="just"/>
            <a:r>
              <a:rPr lang="en-US" sz="1000" dirty="0"/>
              <a:t>Microsoft will begin deploying MANA across existing VM families starting in February 2026. This initiative brings many of the advantages of next-generation Azure hardware to today’s SKUs, helping organizations modernize performance and security </a:t>
            </a:r>
            <a:r>
              <a:rPr lang="en-US" sz="1000" b="1" dirty="0"/>
              <a:t>without</a:t>
            </a:r>
            <a:r>
              <a:rPr lang="en-US" sz="1000" dirty="0"/>
              <a:t> requiring an immediate VM migration.</a:t>
            </a:r>
          </a:p>
          <a:p>
            <a:pPr algn="just"/>
            <a:r>
              <a:rPr lang="en-US" sz="1000" dirty="0"/>
              <a:t>The rollout is capacity-driven and not region-restricted. As MANA hardware becomes available in a region, VMs from eligible size families may be placed on it automatically.</a:t>
            </a:r>
          </a:p>
          <a:p>
            <a:pPr algn="just"/>
            <a:r>
              <a:rPr lang="en-US" sz="1000" b="1" dirty="0"/>
              <a:t>What improvements MANA brings</a:t>
            </a:r>
          </a:p>
          <a:p>
            <a:pPr algn="just"/>
            <a:r>
              <a:rPr lang="en-US" sz="1000" dirty="0"/>
              <a:t>For operating systems and images that fully support MANA, workloads can benefit from:</a:t>
            </a:r>
          </a:p>
          <a:p>
            <a:pPr marL="171450" indent="-171450" algn="just">
              <a:buFont typeface="Arial" panose="020B0604020202020204" pitchFamily="34" charset="0"/>
              <a:buChar char="•"/>
            </a:pPr>
            <a:r>
              <a:rPr lang="en-US" sz="1000" b="1" dirty="0"/>
              <a:t>Sub-second NIC firmware updates</a:t>
            </a:r>
            <a:r>
              <a:rPr lang="en-US" sz="1000" dirty="0"/>
              <a:t>, reducing maintenance impact</a:t>
            </a:r>
          </a:p>
          <a:p>
            <a:pPr marL="171450" indent="-171450" algn="just">
              <a:buFont typeface="Arial" panose="020B0604020202020204" pitchFamily="34" charset="0"/>
              <a:buChar char="•"/>
            </a:pPr>
            <a:r>
              <a:rPr lang="en-US" sz="1000" b="1" dirty="0"/>
              <a:t>Higher throughput and lower latency</a:t>
            </a:r>
            <a:endParaRPr lang="en-US" sz="1000" dirty="0"/>
          </a:p>
          <a:p>
            <a:pPr marL="171450" indent="-171450" algn="just">
              <a:buFont typeface="Arial" panose="020B0604020202020204" pitchFamily="34" charset="0"/>
              <a:buChar char="•"/>
            </a:pPr>
            <a:r>
              <a:rPr lang="en-US" sz="1000" b="1" dirty="0"/>
              <a:t>Improved security posture</a:t>
            </a:r>
            <a:endParaRPr lang="en-US" sz="1000" dirty="0"/>
          </a:p>
          <a:p>
            <a:pPr marL="171450" indent="-171450" algn="just">
              <a:buFont typeface="Arial" panose="020B0604020202020204" pitchFamily="34" charset="0"/>
              <a:buChar char="•"/>
            </a:pPr>
            <a:r>
              <a:rPr lang="en-US" sz="1000" b="1" dirty="0"/>
              <a:t>Azure Boost–enabled data-path accelerations</a:t>
            </a:r>
            <a:endParaRPr lang="en-US" sz="1000" dirty="0"/>
          </a:p>
          <a:p>
            <a:pPr algn="just"/>
            <a:r>
              <a:rPr lang="en-US" sz="1000" dirty="0"/>
              <a:t>If an OS doesn’t yet support MANA, the VM can still run on the new infrastructure, but networking performance will be comparable to previous generations.</a:t>
            </a:r>
          </a:p>
          <a:p>
            <a:pPr algn="just"/>
            <a:endParaRPr lang="en-US" sz="1000" dirty="0"/>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3"/>
              </a:rPr>
              <a:t>Generally Available: Default Ruleset 2.2 in WAF for Azure Application Gateway</a:t>
            </a:r>
            <a:endParaRPr lang="en-US" dirty="0"/>
          </a:p>
          <a:p>
            <a:pPr algn="just"/>
            <a:r>
              <a:rPr lang="en-US" dirty="0"/>
              <a:t>DRS 2.2 delivers enhanced, Azure-managed protection against common web vulnerabilities and exploits. It builds on OWASP Core Rule Set 3.3.4, adding refined detections and new protections—such as identifying mismatched content types and improved remote code execution (RCE) detection. The release also includes eight new Microsoft Threat Intelligence rules, expanding coverage for SQL injection, XSS, and other application-security attack patterns, while continuing to reduce false positives.</a:t>
            </a:r>
          </a:p>
          <a:p>
            <a:pPr algn="just"/>
            <a:r>
              <a:rPr lang="en-US" dirty="0"/>
              <a:t>To minimize disruption to legitimate traffic, DRS 2.2 defaults to Paranoia Level 1 (PL1), which focuses on high-signal, low-noise rules. PL2 remains disabled by default due to its more aggressive nature, but can be selectively enabled and tuned as needed.</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FD2C-8155-2D94-F89A-A815AA6E4F5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5E76E37-235F-F5BE-DE95-A1673340F66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4E03193E-E6C0-C026-1CD6-643DC1C554C3}"/>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DA610DB-1B75-BFFB-B511-F8C61DA8A81D}"/>
              </a:ext>
            </a:extLst>
          </p:cNvPr>
          <p:cNvSpPr>
            <a:spLocks noGrp="1"/>
          </p:cNvSpPr>
          <p:nvPr>
            <p:ph type="body" sz="quarter" idx="16"/>
          </p:nvPr>
        </p:nvSpPr>
        <p:spPr/>
        <p:txBody>
          <a:bodyPr/>
          <a:lstStyle/>
          <a:p>
            <a:pPr algn="just"/>
            <a:r>
              <a:rPr lang="en-US" sz="900" dirty="0">
                <a:hlinkClick r:id="rId2"/>
              </a:rPr>
              <a:t>Retirement: Azure Front Door and Azure CDN profiles will end support for DHE cipher suites on April 1, 2026</a:t>
            </a:r>
            <a:endParaRPr lang="ru-RU" sz="900" dirty="0"/>
          </a:p>
          <a:p>
            <a:pPr algn="just"/>
            <a:r>
              <a:rPr lang="en-US" sz="900" dirty="0"/>
              <a:t>Microsoft has announced that </a:t>
            </a:r>
            <a:r>
              <a:rPr lang="en-US" sz="900" b="1" dirty="0"/>
              <a:t>Azure Front Door (Standard, Premium, Classic)</a:t>
            </a:r>
            <a:r>
              <a:rPr lang="en-US" sz="900" dirty="0"/>
              <a:t> and </a:t>
            </a:r>
            <a:r>
              <a:rPr lang="en-US" sz="900" b="1" dirty="0"/>
              <a:t>Azure CDN from Microsoft (Classic)</a:t>
            </a:r>
            <a:r>
              <a:rPr lang="en-US" sz="900" dirty="0"/>
              <a:t> will </a:t>
            </a:r>
            <a:r>
              <a:rPr lang="en-US" sz="900" b="1" dirty="0"/>
              <a:t>retire support for weak TLS cipher suites</a:t>
            </a:r>
            <a:r>
              <a:rPr lang="en-US" sz="900" dirty="0"/>
              <a:t> on </a:t>
            </a:r>
            <a:r>
              <a:rPr lang="en-US" sz="900" b="1" dirty="0"/>
              <a:t>April 1, 2026</a:t>
            </a:r>
            <a:r>
              <a:rPr lang="en-US" sz="900" dirty="0"/>
              <a:t>.</a:t>
            </a:r>
          </a:p>
          <a:p>
            <a:pPr algn="just"/>
            <a:r>
              <a:rPr lang="en-US" sz="900" dirty="0"/>
              <a:t>The following cipher suites will no longer be supported for both </a:t>
            </a:r>
            <a:r>
              <a:rPr lang="en-US" sz="900" b="1" dirty="0"/>
              <a:t>client-to-service</a:t>
            </a:r>
            <a:r>
              <a:rPr lang="en-US" sz="900" dirty="0"/>
              <a:t> and </a:t>
            </a:r>
            <a:r>
              <a:rPr lang="en-US" sz="900" b="1" dirty="0"/>
              <a:t>service-to-origin</a:t>
            </a:r>
            <a:r>
              <a:rPr lang="en-US" sz="900" dirty="0"/>
              <a:t> connections:</a:t>
            </a:r>
          </a:p>
          <a:p>
            <a:pPr marL="171450" indent="-171450" algn="just">
              <a:buFont typeface="Arial" panose="020B0604020202020204" pitchFamily="34" charset="0"/>
              <a:buChar char="•"/>
            </a:pPr>
            <a:r>
              <a:rPr lang="en-US" sz="900" dirty="0"/>
              <a:t>TLS_DHE_RSA_WITH_AES_256_GCM_SHA384</a:t>
            </a:r>
          </a:p>
          <a:p>
            <a:pPr marL="171450" indent="-171450" algn="just">
              <a:buFont typeface="Arial" panose="020B0604020202020204" pitchFamily="34" charset="0"/>
              <a:buChar char="•"/>
            </a:pPr>
            <a:r>
              <a:rPr lang="en-US" sz="900" dirty="0"/>
              <a:t>TLS_DHE_RSA_WITH_AES_128_GCM_SHA256</a:t>
            </a:r>
          </a:p>
          <a:p>
            <a:pPr algn="just"/>
            <a:r>
              <a:rPr lang="en-US" sz="900" b="1" dirty="0"/>
              <a:t>What customers need to do</a:t>
            </a:r>
          </a:p>
          <a:p>
            <a:pPr algn="just"/>
            <a:r>
              <a:rPr lang="en-US" sz="900" dirty="0"/>
              <a:t>To avoid service disruption and maintain strong encryption standards, organizations should:</a:t>
            </a:r>
          </a:p>
          <a:p>
            <a:pPr marL="171450" indent="-171450" algn="just">
              <a:buFont typeface="Arial" panose="020B0604020202020204" pitchFamily="34" charset="0"/>
              <a:buChar char="•"/>
            </a:pPr>
            <a:r>
              <a:rPr lang="en-US" sz="900" b="1" dirty="0"/>
              <a:t>Update origin servers</a:t>
            </a:r>
            <a:r>
              <a:rPr lang="en-US" sz="900" dirty="0"/>
              <a:t> to disable DHE-based ciphers and enable Microsoft-recommended cipher suites.</a:t>
            </a:r>
          </a:p>
          <a:p>
            <a:pPr marL="171450" indent="-171450" algn="just">
              <a:buFont typeface="Arial" panose="020B0604020202020204" pitchFamily="34" charset="0"/>
              <a:buChar char="•"/>
            </a:pPr>
            <a:r>
              <a:rPr lang="en-US" sz="900" b="1" dirty="0"/>
              <a:t>Ensure client applications</a:t>
            </a:r>
            <a:r>
              <a:rPr lang="en-US" sz="900" dirty="0"/>
              <a:t> connecting to Azure Front Door or Azure CDN use supported cipher suites.</a:t>
            </a:r>
          </a:p>
          <a:p>
            <a:pPr marL="171450" indent="-171450" algn="just">
              <a:buFont typeface="Arial" panose="020B0604020202020204" pitchFamily="34" charset="0"/>
              <a:buChar char="•"/>
            </a:pPr>
            <a:r>
              <a:rPr lang="en-US" sz="900" b="1" dirty="0"/>
              <a:t>Proactively configure TLS policies</a:t>
            </a:r>
            <a:r>
              <a:rPr lang="en-US" sz="900" dirty="0"/>
              <a:t> (for Front Door Standard/Premium) to disable DHE ciphers ahead of the April 2026 deadline.</a:t>
            </a:r>
          </a:p>
          <a:p>
            <a:pPr algn="just"/>
            <a:r>
              <a:rPr lang="en-US" sz="900" dirty="0"/>
              <a:t>After </a:t>
            </a:r>
            <a:r>
              <a:rPr lang="en-US" sz="900" b="1" dirty="0"/>
              <a:t>April 1, 2026</a:t>
            </a:r>
            <a:r>
              <a:rPr lang="en-US" sz="900" dirty="0"/>
              <a:t>, Microsoft will automatically disable these weak ciphers across all affected Front Door and CDN profiles. This change aligns with modern security best practices and strengthens TLS posture across Azure’s global edge network.</a:t>
            </a:r>
          </a:p>
          <a:p>
            <a:pPr algn="just"/>
            <a:endParaRPr lang="en-US" sz="900" dirty="0"/>
          </a:p>
        </p:txBody>
      </p:sp>
    </p:spTree>
    <p:extLst>
      <p:ext uri="{BB962C8B-B14F-4D97-AF65-F5344CB8AC3E}">
        <p14:creationId xmlns:p14="http://schemas.microsoft.com/office/powerpoint/2010/main" val="42681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Microsoft Security Private Link (Preview)</a:t>
            </a:r>
            <a:endParaRPr lang="en-US" dirty="0"/>
          </a:p>
          <a:p>
            <a:pPr algn="just"/>
            <a:r>
              <a:rPr lang="en-US" dirty="0"/>
              <a:t>Microsoft Security Private Link enables secure, private connectivity from virtual networks to </a:t>
            </a:r>
            <a:r>
              <a:rPr lang="en-US" b="1" dirty="0"/>
              <a:t>Microsoft Defender for Cloud</a:t>
            </a:r>
            <a:r>
              <a:rPr lang="en-US" dirty="0"/>
              <a:t>. By using </a:t>
            </a:r>
            <a:r>
              <a:rPr lang="en-US" b="1" dirty="0"/>
              <a:t>private endpoints</a:t>
            </a:r>
            <a:r>
              <a:rPr lang="en-US" dirty="0"/>
              <a:t>, all security telemetry flows over the </a:t>
            </a:r>
            <a:r>
              <a:rPr lang="en-US" b="1" dirty="0"/>
              <a:t>Microsoft backbone</a:t>
            </a:r>
            <a:r>
              <a:rPr lang="en-US" dirty="0"/>
              <a:t> without public internet exposure. </a:t>
            </a:r>
          </a:p>
          <a:p>
            <a:pPr algn="just"/>
            <a:r>
              <a:rPr lang="en-US" dirty="0"/>
              <a:t>Microsoft Security Private Link supports the following scenarios:</a:t>
            </a:r>
          </a:p>
          <a:p>
            <a:pPr marL="171450" indent="-171450" algn="just">
              <a:buFont typeface="Arial" panose="020B0604020202020204" pitchFamily="34" charset="0"/>
              <a:buChar char="•"/>
            </a:pPr>
            <a:r>
              <a:rPr lang="en-US" b="1" dirty="0"/>
              <a:t>Network-isolated environments -</a:t>
            </a:r>
            <a:r>
              <a:rPr lang="en-US" dirty="0"/>
              <a:t>Protect workloads in isolated or restricted networks where outbound internet access is limited or not permitted.</a:t>
            </a:r>
          </a:p>
          <a:p>
            <a:pPr marL="171450" indent="-171450" algn="just">
              <a:buFont typeface="Arial" panose="020B0604020202020204" pitchFamily="34" charset="0"/>
              <a:buChar char="•"/>
            </a:pPr>
            <a:r>
              <a:rPr lang="en-US" b="1" dirty="0"/>
              <a:t>Hybrid and on-premises connectivity -</a:t>
            </a:r>
            <a:r>
              <a:rPr lang="en-US" dirty="0"/>
              <a:t>Securely connect on-premises or hybrid environments to Microsoft Defender for Cloud by using </a:t>
            </a:r>
            <a:r>
              <a:rPr lang="en-US" dirty="0">
                <a:hlinkClick r:id="rId3"/>
              </a:rPr>
              <a:t>VPN</a:t>
            </a:r>
            <a:r>
              <a:rPr lang="en-US" dirty="0"/>
              <a:t> or </a:t>
            </a:r>
            <a:r>
              <a:rPr lang="en-US" dirty="0">
                <a:hlinkClick r:id="rId4"/>
              </a:rPr>
              <a:t>ExpressRoute</a:t>
            </a:r>
            <a:r>
              <a:rPr lang="en-US" dirty="0"/>
              <a:t> with private peering.</a:t>
            </a:r>
          </a:p>
          <a:p>
            <a:pPr algn="just"/>
            <a:endParaRPr lang="en-US" dirty="0"/>
          </a:p>
          <a:p>
            <a:pPr algn="just"/>
            <a:endParaRPr lang="en-US" dirty="0"/>
          </a:p>
        </p:txBody>
      </p:sp>
      <p:pic>
        <p:nvPicPr>
          <p:cNvPr id="2050" name="Picture 2" descr="Diagram showing how Microsoft Defender for Cloud connects to protected resources through private endpoints.">
            <a:extLst>
              <a:ext uri="{FF2B5EF4-FFF2-40B4-BE49-F238E27FC236}">
                <a16:creationId xmlns:a16="http://schemas.microsoft.com/office/drawing/2014/main" id="{0C1308B1-29BB-BB73-82A7-BC63176CEB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6902" y="1009650"/>
            <a:ext cx="3921798" cy="1871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r>
              <a:rPr lang="en-US" sz="1000" dirty="0">
                <a:hlinkClick r:id="rId2"/>
              </a:rPr>
              <a:t>General Availability - Entra ID Governance guest billing meter enforcement</a:t>
            </a:r>
            <a:endParaRPr lang="en-US" sz="1000" dirty="0"/>
          </a:p>
          <a:p>
            <a:r>
              <a:rPr lang="en-US" sz="1000" dirty="0"/>
              <a:t>Enforcement of the </a:t>
            </a:r>
            <a:r>
              <a:rPr lang="en-US" sz="1000" b="1" dirty="0"/>
              <a:t>Microsoft Entra ID Governance guest billing meter</a:t>
            </a:r>
            <a:r>
              <a:rPr lang="en-US" sz="1000" dirty="0"/>
              <a:t> is now active for </a:t>
            </a:r>
            <a:r>
              <a:rPr lang="en-US" sz="1000" b="1" dirty="0"/>
              <a:t>Entitlement Management and Lifecycle Workflows</a:t>
            </a:r>
            <a:r>
              <a:rPr lang="en-US" sz="1000" dirty="0"/>
              <a:t> (Access Reviews enforcement follows in CY26 Q1). To continue using Entra ID Governance premium features for </a:t>
            </a:r>
            <a:r>
              <a:rPr lang="en-US" sz="1000" b="1" dirty="0"/>
              <a:t>guest users</a:t>
            </a:r>
            <a:r>
              <a:rPr lang="en-US" sz="1000" dirty="0"/>
              <a:t>, organizations must link a </a:t>
            </a:r>
            <a:r>
              <a:rPr lang="en-US" sz="1000" b="1" dirty="0"/>
              <a:t>valid Azure subscription</a:t>
            </a:r>
            <a:r>
              <a:rPr lang="en-US" sz="1000" dirty="0"/>
              <a:t> to enable the guest add-on. Without billing configured, creating or updating guest-scoped governance settings will be restricted and related actions may fail.</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3"/>
              </a:rPr>
              <a:t>General Availability - Ability to convert Source of Authority of synced on-prem AD users to cloud users is now available</a:t>
            </a:r>
            <a:endParaRPr lang="en-US" dirty="0"/>
          </a:p>
          <a:p>
            <a:pPr algn="just"/>
            <a:r>
              <a:rPr lang="en-US" dirty="0"/>
              <a:t>Microsoft Entra ID now generally supports </a:t>
            </a:r>
            <a:r>
              <a:rPr lang="en-US" b="1" dirty="0"/>
              <a:t>object-level Source of Authority (SOA) switching</a:t>
            </a:r>
            <a:r>
              <a:rPr lang="en-US" dirty="0"/>
              <a:t>, allowing individual users to move from </a:t>
            </a:r>
            <a:r>
              <a:rPr lang="en-US" b="1" dirty="0"/>
              <a:t>Active Directory–synced</a:t>
            </a:r>
            <a:r>
              <a:rPr lang="en-US" dirty="0"/>
              <a:t> to </a:t>
            </a:r>
            <a:r>
              <a:rPr lang="en-US" b="1" dirty="0"/>
              <a:t>cloud-managed</a:t>
            </a:r>
            <a:r>
              <a:rPr lang="en-US" dirty="0"/>
              <a:t> accounts. This enables gradual, low-disruption migration away from AD while maintaining full support through </a:t>
            </a:r>
            <a:r>
              <a:rPr lang="en-US" b="1" dirty="0"/>
              <a:t>Entra Connect Sync</a:t>
            </a:r>
            <a:r>
              <a:rPr lang="en-US" dirty="0"/>
              <a:t> and </a:t>
            </a:r>
            <a:r>
              <a:rPr lang="en-US" b="1" dirty="0"/>
              <a:t>Cloud Sync</a:t>
            </a:r>
            <a:r>
              <a:rPr lang="en-US" dirty="0"/>
              <a:t>, giving organizations more flexibility and control over their identity strategy.</a:t>
            </a:r>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a:xfrm>
            <a:off x="4433776" y="855080"/>
            <a:ext cx="4365038" cy="1192795"/>
          </a:xfrm>
        </p:spPr>
        <p:txBody>
          <a:bodyPr/>
          <a:lstStyle/>
          <a:p>
            <a:r>
              <a:rPr lang="en-US" sz="1000" dirty="0">
                <a:hlinkClick r:id="rId2"/>
              </a:rPr>
              <a:t>General Availability - Service Principal creation audit logs for alerting &amp; monitoring</a:t>
            </a:r>
            <a:endParaRPr lang="en-US" sz="1000" dirty="0"/>
          </a:p>
          <a:p>
            <a:r>
              <a:rPr lang="en-US" sz="1000" dirty="0"/>
              <a:t>New audit log enhancements now provide clear visibility into </a:t>
            </a:r>
            <a:r>
              <a:rPr lang="en-US" sz="1000" b="1" dirty="0"/>
              <a:t>why and how a service principal was created</a:t>
            </a:r>
            <a:r>
              <a:rPr lang="en-US" sz="1000" dirty="0"/>
              <a:t>. Admins can see the provisioning mechanism, the specific SKUs or service plans that triggered just-in-time creation, and the app’s home tenant. This makes it easier to distinguish Microsoft-initiated provisioning from tenant-initiated activity, improving security investigations, alerting, and operational clarity.</a:t>
            </a:r>
          </a:p>
          <a:p>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General Availability - Client Credentials in Microsoft Entra External ID</a:t>
            </a:r>
            <a:endParaRPr lang="en-US" dirty="0"/>
          </a:p>
          <a:p>
            <a:pPr algn="just"/>
            <a:r>
              <a:rPr lang="en-US" dirty="0"/>
              <a:t>Client credentials (OAuth 2.0) are now </a:t>
            </a:r>
            <a:r>
              <a:rPr lang="en-US" b="1" dirty="0"/>
              <a:t>generally available in Microsoft Entra External ID</a:t>
            </a:r>
            <a:r>
              <a:rPr lang="en-US" dirty="0"/>
              <a:t>, enabling secure </a:t>
            </a:r>
            <a:r>
              <a:rPr lang="en-US" b="1" dirty="0"/>
              <a:t>machine-to-machine (M2M)</a:t>
            </a:r>
            <a:r>
              <a:rPr lang="en-US" dirty="0"/>
              <a:t> authentication without user involvement. Applications can authenticate using their own credentials, with permissions granted directly by administrators.</a:t>
            </a:r>
            <a:br>
              <a:rPr lang="en-US" dirty="0"/>
            </a:br>
            <a:r>
              <a:rPr lang="en-US" dirty="0"/>
              <a:t>Note: Using this capability requires the </a:t>
            </a:r>
            <a:r>
              <a:rPr lang="en-US" b="1" dirty="0"/>
              <a:t>M2M Premium add-on</a:t>
            </a:r>
            <a:r>
              <a:rPr lang="en-US" dirty="0"/>
              <a:t>, so organizations should review licensing and cost implications before enabling it.</a:t>
            </a:r>
          </a:p>
        </p:txBody>
      </p:sp>
      <p:pic>
        <p:nvPicPr>
          <p:cNvPr id="3074" name="Picture 2" descr="Screenshot of the Activity drop-down leading to add a service principal.">
            <a:extLst>
              <a:ext uri="{FF2B5EF4-FFF2-40B4-BE49-F238E27FC236}">
                <a16:creationId xmlns:a16="http://schemas.microsoft.com/office/drawing/2014/main" id="{B10794C2-799F-48A4-1FFA-0B5472AE5A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3369" y="2100263"/>
            <a:ext cx="3127181" cy="245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2"/>
              </a:rPr>
              <a:t>General Availability - Entra Private Access for Domain Controllers</a:t>
            </a:r>
            <a:endParaRPr lang="en-US" dirty="0"/>
          </a:p>
          <a:p>
            <a:pPr algn="just"/>
            <a:r>
              <a:rPr lang="en-US" dirty="0"/>
              <a:t>This capability enables </a:t>
            </a:r>
            <a:r>
              <a:rPr lang="en-US" b="1" dirty="0"/>
              <a:t>multi-factor authentication (MFA) for on-premises applications accessed locally</a:t>
            </a:r>
            <a:r>
              <a:rPr lang="en-US" dirty="0"/>
              <a:t>, without routing traffic through the cloud. It protects </a:t>
            </a:r>
            <a:r>
              <a:rPr lang="en-US" b="1" dirty="0"/>
              <a:t>domain controllers from identity-based threats</a:t>
            </a:r>
            <a:r>
              <a:rPr lang="en-US" dirty="0"/>
              <a:t> while allowing secure access to private applications that rely on </a:t>
            </a:r>
            <a:r>
              <a:rPr lang="en-US" b="1" dirty="0"/>
              <a:t>Kerberos authentication</a:t>
            </a:r>
            <a:r>
              <a:rPr lang="en-US" dirty="0"/>
              <a:t>. Organizations can strengthen security for legacy and on-premises workloads by enforcing MFA consistently—even for local-to-local access scenarios—without disrupting existing authentication flows.</a:t>
            </a:r>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Private Preview: Vaulted Backups for Azure Disk</a:t>
            </a:r>
            <a:endParaRPr lang="en-US" sz="1000" dirty="0"/>
          </a:p>
          <a:p>
            <a:pPr algn="just"/>
            <a:r>
              <a:rPr lang="en-US" sz="1000" dirty="0"/>
              <a:t>Until now, Azure Disk Backup primarily delivered crash-consistent snapshots in the Operational Tier, ideal for rapid restores after accidental deletion or corruption and often used together with Azure VM Backup. However, many organizations follow the 3-2-1 principle, which requires an isolated, off-site copy to stay protected during tenant-level or ransomware incidents.</a:t>
            </a:r>
          </a:p>
          <a:p>
            <a:pPr algn="just"/>
            <a:r>
              <a:rPr lang="en-US" sz="1000" dirty="0"/>
              <a:t>With Vault Tier backups, disk recovery points can now be stored in a hardened backup vault with independent access controls and immutability. This aligns disk protection with modern cyber-recovery expectations and brings it closer to the security posture customers expect from Azure Site Recovery and VM-level backup strategies.</a:t>
            </a:r>
          </a:p>
          <a:p>
            <a:pPr algn="just"/>
            <a:r>
              <a:rPr lang="en-US" sz="1000" b="1" dirty="0"/>
              <a:t>What’s new in the private preview</a:t>
            </a:r>
            <a:endParaRPr lang="en-US" sz="1000" dirty="0"/>
          </a:p>
          <a:p>
            <a:pPr marL="171450" indent="-171450" algn="just">
              <a:buFont typeface="Arial" panose="020B0604020202020204" pitchFamily="34" charset="0"/>
              <a:buChar char="•"/>
            </a:pPr>
            <a:r>
              <a:rPr lang="en-US" sz="1000" b="1" dirty="0"/>
              <a:t>Vault Tier Backup</a:t>
            </a:r>
            <a:r>
              <a:rPr lang="en-US" sz="1000" dirty="0"/>
              <a:t> – keep disk backups in an isolated vault to improve ransomware resilience and meet compliance needs.</a:t>
            </a:r>
          </a:p>
          <a:p>
            <a:pPr marL="171450" indent="-171450" algn="just">
              <a:buFont typeface="Arial" panose="020B0604020202020204" pitchFamily="34" charset="0"/>
              <a:buChar char="•"/>
            </a:pPr>
            <a:r>
              <a:rPr lang="en-US" sz="1000" b="1" dirty="0"/>
              <a:t>Regional Disaster Recovery</a:t>
            </a:r>
            <a:r>
              <a:rPr lang="en-US" sz="1000" dirty="0"/>
              <a:t> – restore disks into a paired Azure region, enabling broader DR architectures.</a:t>
            </a:r>
          </a:p>
          <a:p>
            <a:pPr algn="just"/>
            <a:r>
              <a:rPr lang="en-US" sz="1000" dirty="0"/>
              <a:t>The result is a more resilient backup model: fast operational restores when you need speed, plus vault-isolated copies when you need trust.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Backup support for Confidential VMs (preview)</a:t>
            </a:r>
            <a:endParaRPr lang="en-US" dirty="0"/>
          </a:p>
          <a:p>
            <a:pPr algn="just"/>
            <a:r>
              <a:rPr lang="en-US" dirty="0"/>
              <a:t>Azure Backup now supports </a:t>
            </a:r>
            <a:r>
              <a:rPr lang="en-US" b="1" dirty="0"/>
              <a:t>Confidential VMs</a:t>
            </a:r>
            <a:r>
              <a:rPr lang="en-US" dirty="0"/>
              <a:t>, enabling secure backup and restore for highly sensitive workloads. Data is protected end-to-end across the backup lifecycle using </a:t>
            </a:r>
            <a:r>
              <a:rPr lang="en-US" b="1" dirty="0"/>
              <a:t>Azure Disk Encryption Sets</a:t>
            </a:r>
            <a:r>
              <a:rPr lang="en-US" dirty="0"/>
              <a:t> with </a:t>
            </a:r>
            <a:r>
              <a:rPr lang="en-US" b="1" dirty="0"/>
              <a:t>platform-managed or customer-managed keys</a:t>
            </a:r>
            <a:r>
              <a:rPr lang="en-US" dirty="0"/>
              <a:t>, ensuring confidentiality even from the virtualization layer and meeting strict security and compliance requirements.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a:xfrm>
            <a:off x="4433776" y="855081"/>
            <a:ext cx="4365038" cy="988960"/>
          </a:xfrm>
        </p:spPr>
        <p:txBody>
          <a:bodyPr/>
          <a:lstStyle/>
          <a:p>
            <a:r>
              <a:rPr lang="en-US" sz="1000" dirty="0">
                <a:hlinkClick r:id="rId2"/>
              </a:rPr>
              <a:t>Private Preview: New planned datacenter region in Thailand (Thailand South)</a:t>
            </a:r>
            <a:endParaRPr lang="en-US" sz="1000" dirty="0"/>
          </a:p>
          <a:p>
            <a:r>
              <a:rPr lang="en-US" sz="1000" dirty="0"/>
              <a:t>Microsoft is announcing its intent to establish a new datacenter region in Thailand. The datacenter region will expand the availability of Microsoft’s hyperscale cloud services in the region, facilitating enterprise-grade reliability, performance, and compliance with data residency and privacy standards.</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a:xfrm>
            <a:off x="342900" y="855081"/>
            <a:ext cx="3955312" cy="1822080"/>
          </a:xfrm>
        </p:spPr>
        <p:txBody>
          <a:bodyPr/>
          <a:lstStyle/>
          <a:p>
            <a:pPr algn="just"/>
            <a:r>
              <a:rPr lang="en-US" dirty="0">
                <a:hlinkClick r:id="rId3"/>
              </a:rPr>
              <a:t>Public Preview: Azure Monitor pipeline data transformations</a:t>
            </a:r>
            <a:endParaRPr lang="en-US" dirty="0"/>
          </a:p>
          <a:p>
            <a:pPr algn="just"/>
            <a:r>
              <a:rPr lang="en-US" dirty="0"/>
              <a:t>Azure Monitor now allows </a:t>
            </a:r>
            <a:r>
              <a:rPr lang="en-US" b="1" dirty="0"/>
              <a:t>transform telemetry before ingestion</a:t>
            </a:r>
            <a:r>
              <a:rPr lang="en-US" dirty="0"/>
              <a:t>. In the new Public Preview, organizations can filter, aggregate, and reshape data such as Syslog and CEF within the pipeline, reducing noise and improving data quality.</a:t>
            </a:r>
          </a:p>
          <a:p>
            <a:pPr algn="just"/>
            <a:r>
              <a:rPr lang="en-US" dirty="0"/>
              <a:t>Built-in validation ensures compatibility with standard schemas, while prebuilt KQL templates make it easy to apply common scenarios.</a:t>
            </a:r>
          </a:p>
          <a:p>
            <a:pPr algn="just"/>
            <a:r>
              <a:rPr lang="en-US" dirty="0"/>
              <a:t>The result: </a:t>
            </a:r>
            <a:r>
              <a:rPr lang="en-US" b="1" dirty="0"/>
              <a:t>lower ingestion cost, cleaner datasets, and faster analytics</a:t>
            </a:r>
            <a:r>
              <a:rPr lang="en-US" dirty="0"/>
              <a:t>, especially for high-volume or hybrid environments.</a:t>
            </a:r>
          </a:p>
          <a:p>
            <a:pPr algn="just"/>
            <a:endParaRPr lang="en-US" dirty="0"/>
          </a:p>
        </p:txBody>
      </p:sp>
      <p:pic>
        <p:nvPicPr>
          <p:cNvPr id="1026" name="Picture 2" descr="Configure Azure Monitor pipeline - Azure Monitor | Microsoft Learn">
            <a:extLst>
              <a:ext uri="{FF2B5EF4-FFF2-40B4-BE49-F238E27FC236}">
                <a16:creationId xmlns:a16="http://schemas.microsoft.com/office/drawing/2014/main" id="{CE42DBF9-CCE2-3BA9-F2BA-658C4C5E48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424" y="2677161"/>
            <a:ext cx="3764264" cy="1154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a:xfrm>
            <a:off x="342900" y="804280"/>
            <a:ext cx="4365038" cy="3774069"/>
          </a:xfrm>
        </p:spPr>
        <p:txBody>
          <a:bodyPr/>
          <a:lstStyle/>
          <a:p>
            <a:pPr algn="just"/>
            <a:r>
              <a:rPr lang="en-US" sz="1000" dirty="0">
                <a:hlinkClick r:id="rId2"/>
              </a:rPr>
              <a:t>Public Preview: Azure Kubernetes Fleet Manager namespace-scoped resource placement</a:t>
            </a:r>
            <a:endParaRPr lang="en-US" sz="1000" dirty="0"/>
          </a:p>
          <a:p>
            <a:pPr algn="just"/>
            <a:r>
              <a:rPr lang="en-US" sz="1000" b="1" dirty="0"/>
              <a:t>Namespace-scoped resource placement</a:t>
            </a:r>
            <a:r>
              <a:rPr lang="en-US" sz="1000" dirty="0"/>
              <a:t> is now available in </a:t>
            </a:r>
            <a:r>
              <a:rPr lang="en-US" sz="1000" b="1" dirty="0"/>
              <a:t>public preview</a:t>
            </a:r>
            <a:r>
              <a:rPr lang="en-US" sz="1000" dirty="0"/>
              <a:t> for </a:t>
            </a:r>
            <a:r>
              <a:rPr lang="en-US" sz="1000" b="1" dirty="0"/>
              <a:t>Azure Kubernetes Fleet Manager</a:t>
            </a:r>
            <a:r>
              <a:rPr lang="en-US" sz="1000" dirty="0"/>
              <a:t>, enabling fine-grained control over how individual namespace-scoped resources are selected and propagated across multiple clusters.</a:t>
            </a:r>
          </a:p>
          <a:p>
            <a:pPr algn="just"/>
            <a:r>
              <a:rPr lang="en-US" sz="1000" dirty="0"/>
              <a:t>This capability allows teams to apply Fleet Manager’s intelligent placement even when a single namespace hosts multiple applications with different lifecycles and distribution needs. It also supports scenarios where managed fleet namespaces require per-workload scheduling based on specific cluster properties or available capacity.</a:t>
            </a:r>
          </a:p>
          <a:p>
            <a:pPr algn="just"/>
            <a:r>
              <a:rPr lang="en-US" sz="1000" dirty="0"/>
              <a:t>For customers already using cluster-scoped resource placement, the experience will feel familiar—leveraging the same placement policies and staged rollout concepts—making it easy to extend fleet management to the namespace level.</a:t>
            </a:r>
          </a:p>
          <a:p>
            <a:pPr algn="just"/>
            <a:r>
              <a:rPr lang="en-US" sz="1000" dirty="0"/>
              <a:t>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Generally Available: Serverless workspaces in Azure Databricks</a:t>
            </a:r>
            <a:endParaRPr lang="en-US" sz="1000" dirty="0"/>
          </a:p>
          <a:p>
            <a:pPr algn="just"/>
            <a:r>
              <a:rPr lang="en-US" sz="1000" dirty="0"/>
              <a:t>Azure Databricks Serverless workspaces are now generally available, delivering a fully managed, enterprise-ready SaaS experience with no infrastructure setup required. </a:t>
            </a:r>
          </a:p>
          <a:p>
            <a:pPr algn="just"/>
            <a:r>
              <a:rPr lang="en-US" sz="1000" dirty="0"/>
              <a:t>These workspaces come preconfigured with serverless compute and default storage, allowing teams to run production workloads in minutes or spin up short-lived environments for training and testing directly from the Azure portal. </a:t>
            </a:r>
          </a:p>
          <a:p>
            <a:pPr algn="just"/>
            <a:r>
              <a:rPr lang="en-US" sz="1000" dirty="0"/>
              <a:t>The release also enables administrators—without cloud provisioning permissions—to deploy and manage secure, governed Databricks environments at scale, natively available to all users in an Entra tenant.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Generally Available: AMD v6 confidential VMs in new regions for January 2026</a:t>
            </a:r>
            <a:endParaRPr lang="en-US" dirty="0"/>
          </a:p>
          <a:p>
            <a:pPr algn="just"/>
            <a:r>
              <a:rPr lang="en-US" dirty="0" err="1"/>
              <a:t>DCa</a:t>
            </a:r>
            <a:r>
              <a:rPr lang="en-US" dirty="0"/>
              <a:t>/</a:t>
            </a:r>
            <a:r>
              <a:rPr lang="en-US" dirty="0" err="1"/>
              <a:t>ECa</a:t>
            </a:r>
            <a:r>
              <a:rPr lang="en-US" dirty="0"/>
              <a:t> v6 series AMD based confidential virtual machines are now generally available in 11 new regions: Canada Central, Canada East, Norway East, Norway West, Italy North, Germany North, France South, Australia East, West US, West US 3, Germany West Central.</a:t>
            </a:r>
          </a:p>
          <a:p>
            <a:pPr algn="just"/>
            <a:r>
              <a:rPr lang="en-US" dirty="0"/>
              <a:t>This is in addition to the 6 regions announced during launch of these VMs: Korea Central, South Africa North, Switzerland North, UAE North, UK South, West Central US</a:t>
            </a:r>
          </a:p>
          <a:p>
            <a:pPr algn="just"/>
            <a:r>
              <a:rPr lang="en-US" dirty="0"/>
              <a:t>These VMs are powered by 4th generation AMD EPYC™ processors and feature advanced Secure Encrypted Virtualization-Secure Nested Paging (SEV-SNP) technology.</a:t>
            </a:r>
          </a:p>
          <a:p>
            <a:pPr marL="171450" indent="-171450" algn="just">
              <a:buFont typeface="Arial" panose="020B0604020202020204" pitchFamily="34" charset="0"/>
              <a:buChar char="•"/>
            </a:pPr>
            <a:r>
              <a:rPr lang="en-US" dirty="0"/>
              <a:t>4th generation AMD EPYC processors with SEV-SNP</a:t>
            </a:r>
          </a:p>
          <a:p>
            <a:pPr marL="171450" indent="-171450" algn="just">
              <a:buFont typeface="Arial" panose="020B0604020202020204" pitchFamily="34" charset="0"/>
              <a:buChar char="•"/>
            </a:pPr>
            <a:r>
              <a:rPr lang="en-US" dirty="0"/>
              <a:t>25% performance improvement over previous generation</a:t>
            </a:r>
          </a:p>
          <a:p>
            <a:pPr marL="171450" indent="-171450" algn="just">
              <a:buFont typeface="Arial" panose="020B0604020202020204" pitchFamily="34" charset="0"/>
              <a:buChar char="•"/>
            </a:pPr>
            <a:r>
              <a:rPr lang="en-US" dirty="0"/>
              <a:t>Ability to rotate keys online</a:t>
            </a:r>
          </a:p>
          <a:p>
            <a:pPr marL="171450" indent="-171450" algn="just">
              <a:buFont typeface="Arial" panose="020B0604020202020204" pitchFamily="34" charset="0"/>
              <a:buChar char="•"/>
            </a:pPr>
            <a:r>
              <a:rPr lang="en-US" dirty="0"/>
              <a:t>AES-256 memory encryption enabled by default</a:t>
            </a:r>
          </a:p>
          <a:p>
            <a:pPr marL="171450" indent="-171450" algn="just">
              <a:buFont typeface="Arial" panose="020B0604020202020204" pitchFamily="34" charset="0"/>
              <a:buChar char="•"/>
            </a:pPr>
            <a:r>
              <a:rPr lang="en-US" dirty="0"/>
              <a:t>Up to 96 vCPUs and 672 GiB RAM for demanding workloads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A67BE2-FAC8-7D32-D219-4B7A9C7699D1}"/>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E93DC376-247A-A7C7-6F5B-B420A2BBED8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818ECB0-9CA1-F90E-2F45-669C12267864}"/>
              </a:ext>
            </a:extLst>
          </p:cNvPr>
          <p:cNvSpPr>
            <a:spLocks noGrp="1"/>
          </p:cNvSpPr>
          <p:nvPr>
            <p:ph type="body" sz="quarter" idx="16"/>
          </p:nvPr>
        </p:nvSpPr>
        <p:spPr>
          <a:xfrm>
            <a:off x="342900" y="855081"/>
            <a:ext cx="3955312" cy="1983370"/>
          </a:xfrm>
        </p:spPr>
        <p:txBody>
          <a:bodyPr/>
          <a:lstStyle/>
          <a:p>
            <a:pPr algn="just"/>
            <a:r>
              <a:rPr lang="en-US" dirty="0">
                <a:hlinkClick r:id="rId2"/>
              </a:rPr>
              <a:t>Retina 1.0 Is Now Available</a:t>
            </a:r>
            <a:endParaRPr lang="en-US" dirty="0"/>
          </a:p>
          <a:p>
            <a:pPr algn="just"/>
            <a:r>
              <a:rPr lang="en-US" b="1" dirty="0"/>
              <a:t>Retina 1.0 is now available</a:t>
            </a:r>
            <a:r>
              <a:rPr lang="en-US" dirty="0"/>
              <a:t> — marking the first major release of the open-source Kubernetes network observability platform. Retina provides continuous network health visibility and on-demand troubleshooting across Kubernetes clusters by collecting real-time metrics and distributed packet captures. It supports cloud- and CNI-agnostic deployments, exports telemetry to tools like Prometheus, Grafana, and Azure Monitor, and integrates with Hubble for enhanced insights. Designed to simplify debugging, monitoring, and compliance for DevOps and SecOps teams, Retina helps surface issues such as dropped packets, connectivity failures, and DNS anomalies across diverse Kubernetes environments.</a:t>
            </a:r>
          </a:p>
          <a:p>
            <a:pPr algn="just"/>
            <a:endParaRPr lang="en-US" dirty="0"/>
          </a:p>
        </p:txBody>
      </p:sp>
      <p:pic>
        <p:nvPicPr>
          <p:cNvPr id="7" name="Picture 6">
            <a:extLst>
              <a:ext uri="{FF2B5EF4-FFF2-40B4-BE49-F238E27FC236}">
                <a16:creationId xmlns:a16="http://schemas.microsoft.com/office/drawing/2014/main" id="{B36892A3-9FC7-6A41-32B7-1A1D36EE2D8C}"/>
              </a:ext>
            </a:extLst>
          </p:cNvPr>
          <p:cNvPicPr>
            <a:picLocks noChangeAspect="1"/>
          </p:cNvPicPr>
          <p:nvPr/>
        </p:nvPicPr>
        <p:blipFill>
          <a:blip r:embed="rId3"/>
          <a:stretch>
            <a:fillRect/>
          </a:stretch>
        </p:blipFill>
        <p:spPr>
          <a:xfrm>
            <a:off x="658852" y="2795588"/>
            <a:ext cx="3327361" cy="2105471"/>
          </a:xfrm>
          <a:prstGeom prst="rect">
            <a:avLst/>
          </a:prstGeom>
        </p:spPr>
      </p:pic>
      <p:sp>
        <p:nvSpPr>
          <p:cNvPr id="14" name="Text Placeholder 13">
            <a:extLst>
              <a:ext uri="{FF2B5EF4-FFF2-40B4-BE49-F238E27FC236}">
                <a16:creationId xmlns:a16="http://schemas.microsoft.com/office/drawing/2014/main" id="{9AC89A86-0455-61DD-7A55-DACDA81B83B1}"/>
              </a:ext>
            </a:extLst>
          </p:cNvPr>
          <p:cNvSpPr txBox="1">
            <a:spLocks/>
          </p:cNvSpPr>
          <p:nvPr/>
        </p:nvSpPr>
        <p:spPr>
          <a:xfrm>
            <a:off x="4614164"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4"/>
              </a:rPr>
              <a:t>Generally Available: Azure Container Storage v2.1.0 now with Elastic SAN integration and on demand installation</a:t>
            </a:r>
            <a:endParaRPr lang="en-US" dirty="0"/>
          </a:p>
          <a:p>
            <a:pPr algn="just"/>
            <a:r>
              <a:rPr lang="en-US" dirty="0"/>
              <a:t>Azure Container Storage v2.1.0 is now generally available, introducing native Elastic SAN support and a new lightweight, on-demand installation model for Kubernetes workloads on Azure.</a:t>
            </a:r>
          </a:p>
          <a:p>
            <a:pPr algn="just"/>
            <a:r>
              <a:rPr lang="en-US" dirty="0"/>
              <a:t>With Elastic SAN supported as a native storage type, organizations can provision scalable volume groups and consolidate large numbers of Kubernetes volumes under a single SAN resource. This delivers faster attach/detach operations, higher throughput, and reduced management overhead for stateful applications. </a:t>
            </a:r>
          </a:p>
          <a:p>
            <a:pPr algn="just"/>
            <a:r>
              <a:rPr lang="en-US" dirty="0"/>
              <a:t>The release also improves setup experience with better defaults and enhanced automation for Elastic SAN and volume group configuration.</a:t>
            </a:r>
          </a:p>
          <a:p>
            <a:pPr algn="just"/>
            <a:r>
              <a:rPr lang="en-US" dirty="0"/>
              <a:t>In addition, v2.1.0 introduces modular, on-demand installation, allowing clusters to deploy only the components required for the chosen storage type. This reduces cluster footprint, speeds up deployment, and simplifies ongoing lifecycle management.</a:t>
            </a:r>
          </a:p>
        </p:txBody>
      </p:sp>
    </p:spTree>
    <p:extLst>
      <p:ext uri="{BB962C8B-B14F-4D97-AF65-F5344CB8AC3E}">
        <p14:creationId xmlns:p14="http://schemas.microsoft.com/office/powerpoint/2010/main" val="70205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a:xfrm>
            <a:off x="342900" y="855080"/>
            <a:ext cx="4365038" cy="3774069"/>
          </a:xfrm>
        </p:spPr>
        <p:txBody>
          <a:bodyPr/>
          <a:lstStyle/>
          <a:p>
            <a:pPr algn="just"/>
            <a:r>
              <a:rPr lang="en-US" sz="1000" dirty="0">
                <a:hlinkClick r:id="rId2"/>
              </a:rPr>
              <a:t>Azure Virtual Desktop is now available in US Gov Texas in Azure Government</a:t>
            </a:r>
            <a:endParaRPr lang="en-US" sz="1000" dirty="0"/>
          </a:p>
          <a:p>
            <a:pPr algn="just"/>
            <a:r>
              <a:rPr lang="en-US" sz="1000" dirty="0"/>
              <a:t>Azure Virtual Desktop (AVD) has expanded to Azure Government </a:t>
            </a:r>
            <a:r>
              <a:rPr lang="en-US" sz="1000" dirty="0" err="1"/>
              <a:t>USGov</a:t>
            </a:r>
            <a:r>
              <a:rPr lang="en-US" sz="1000" dirty="0"/>
              <a:t> Texas, giving customers an additional region to deploy secure, compliant virtual desktop </a:t>
            </a:r>
            <a:r>
              <a:rPr lang="en-US" sz="1000" dirty="0" err="1"/>
              <a:t>environments.What</a:t>
            </a:r>
            <a:r>
              <a:rPr lang="en-US" sz="1000" dirty="0"/>
              <a:t> this means for customers:</a:t>
            </a:r>
          </a:p>
          <a:p>
            <a:pPr marL="171450" indent="-171450" algn="just">
              <a:buFont typeface="Arial" panose="020B0604020202020204" pitchFamily="34" charset="0"/>
              <a:buChar char="•"/>
            </a:pPr>
            <a:r>
              <a:rPr lang="en-US" sz="1000" dirty="0"/>
              <a:t>Create AVD host pools directly in the </a:t>
            </a:r>
            <a:r>
              <a:rPr lang="en-US" sz="1000" dirty="0" err="1"/>
              <a:t>USGov</a:t>
            </a:r>
            <a:r>
              <a:rPr lang="en-US" sz="1000" dirty="0"/>
              <a:t> Texas region</a:t>
            </a:r>
          </a:p>
          <a:p>
            <a:pPr marL="171450" indent="-171450" algn="just">
              <a:buFont typeface="Arial" panose="020B0604020202020204" pitchFamily="34" charset="0"/>
              <a:buChar char="•"/>
            </a:pPr>
            <a:r>
              <a:rPr lang="en-US" sz="1000" dirty="0"/>
              <a:t>Improve user experience with lower latency and better performance</a:t>
            </a:r>
          </a:p>
          <a:p>
            <a:pPr marL="171450" indent="-171450" algn="just">
              <a:buFont typeface="Arial" panose="020B0604020202020204" pitchFamily="34" charset="0"/>
              <a:buChar char="•"/>
            </a:pPr>
            <a:r>
              <a:rPr lang="en-US" sz="1000" dirty="0"/>
              <a:t>Gain more flexibility to meet mission, geographic, and regulatory requirements</a:t>
            </a:r>
          </a:p>
          <a:p>
            <a:pPr algn="just"/>
            <a:r>
              <a:rPr lang="en-US" sz="1000" dirty="0"/>
              <a:t>This expansion strengthens Azure Government’s regional coverage while maintaining the high security and compliance standards required for government and regulated workloads.</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2" name="Text Placeholder 13">
            <a:extLst>
              <a:ext uri="{FF2B5EF4-FFF2-40B4-BE49-F238E27FC236}">
                <a16:creationId xmlns:a16="http://schemas.microsoft.com/office/drawing/2014/main" id="{49104E40-B616-5259-A98B-8099EE2331BE}"/>
              </a:ext>
            </a:extLst>
          </p:cNvPr>
          <p:cNvSpPr txBox="1">
            <a:spLocks/>
          </p:cNvSpPr>
          <p:nvPr/>
        </p:nvSpPr>
        <p:spPr>
          <a:xfrm>
            <a:off x="297180"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2"/>
              </a:rPr>
              <a:t>Public Preview: Azure NetApp Files Elastic zone-redundant service level</a:t>
            </a:r>
            <a:endParaRPr lang="en-US" dirty="0"/>
          </a:p>
          <a:p>
            <a:pPr algn="just"/>
            <a:r>
              <a:rPr lang="en-US" dirty="0"/>
              <a:t>Azure NetApp Files Elastic zone-redundant storage (ANF Elastic ZRS) is a high-availability service level that ensures continuous file access with zero data loss, even if an entire Azure Availability Zone fails. By synchronously replicating data across zones within a region, it removes single points of failure and keeps mission-critical workloads online without manual intervention.</a:t>
            </a:r>
          </a:p>
          <a:p>
            <a:pPr algn="just"/>
            <a:r>
              <a:rPr lang="en-US" dirty="0"/>
              <a:t>ANF Elastic ZRS delivers consistent performance for metadata-intensive workloads across VMs and containers, making it well suited for AI, analytics, Kubernetes/OpenShift, and enterprise file services. With support for volumes as small as 1 GiB, it combines strong in-region resilience, operational simplicity, and flexible, cost-effective scalability for workloads of any size.</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Kimi-K2.5 Now in Microsoft Foundry</a:t>
            </a:r>
            <a:endParaRPr lang="en-US" sz="1000" dirty="0"/>
          </a:p>
          <a:p>
            <a:pPr algn="just"/>
            <a:r>
              <a:rPr lang="en-US" sz="1000" dirty="0"/>
              <a:t>Moonshot AI’s next-generation multimodal and agentic model, </a:t>
            </a:r>
            <a:r>
              <a:rPr lang="en-US" sz="1000" b="1" dirty="0"/>
              <a:t>Kimi K-2.5</a:t>
            </a:r>
            <a:r>
              <a:rPr lang="en-US" sz="1000" dirty="0"/>
              <a:t>, is now available in Microsoft Foundry. The release brings major advances in vision-language understanding, agent orchestration, and multimodal coding workflows.</a:t>
            </a:r>
          </a:p>
          <a:p>
            <a:pPr algn="just"/>
            <a:r>
              <a:rPr lang="en-US" sz="1000" b="1" dirty="0"/>
              <a:t>What’s new</a:t>
            </a:r>
            <a:endParaRPr lang="en-US" sz="1000" dirty="0"/>
          </a:p>
          <a:p>
            <a:pPr marL="171450" indent="-171450" algn="just">
              <a:buFont typeface="Arial" panose="020B0604020202020204" pitchFamily="34" charset="0"/>
              <a:buChar char="•"/>
            </a:pPr>
            <a:r>
              <a:rPr lang="en-US" sz="1000" b="1" dirty="0"/>
              <a:t>Native multimodality:</a:t>
            </a:r>
            <a:r>
              <a:rPr lang="en-US" sz="1000" dirty="0"/>
              <a:t> Trained with 15T additional vision–text tokens for stronger image/video understanding, OCR, and multimodal Q&amp;A</a:t>
            </a:r>
          </a:p>
          <a:p>
            <a:pPr marL="171450" indent="-171450" algn="just">
              <a:buFont typeface="Arial" panose="020B0604020202020204" pitchFamily="34" charset="0"/>
              <a:buChar char="•"/>
            </a:pPr>
            <a:r>
              <a:rPr lang="en-US" sz="1000" b="1" dirty="0"/>
              <a:t>Agent Swarm execution:</a:t>
            </a:r>
            <a:r>
              <a:rPr lang="en-US" sz="1000" dirty="0"/>
              <a:t> Orchestrates up to 100 parallel agents and 1,500 tool calls, delivering up to </a:t>
            </a:r>
            <a:r>
              <a:rPr lang="en-US" sz="1000" b="1" dirty="0"/>
              <a:t>4.5× faster execution</a:t>
            </a:r>
            <a:r>
              <a:rPr lang="en-US" sz="1000" dirty="0"/>
              <a:t> than sequential workflows</a:t>
            </a:r>
          </a:p>
          <a:p>
            <a:pPr marL="171450" indent="-171450" algn="just">
              <a:buFont typeface="Arial" panose="020B0604020202020204" pitchFamily="34" charset="0"/>
              <a:buChar char="•"/>
            </a:pPr>
            <a:r>
              <a:rPr lang="en-US" sz="1000" b="1" dirty="0"/>
              <a:t>Image/video-to-code:</a:t>
            </a:r>
            <a:r>
              <a:rPr lang="en-US" sz="1000" dirty="0"/>
              <a:t> Significantly improved visual debugging and UI reconstruction from screenshots or video snippets</a:t>
            </a:r>
          </a:p>
          <a:p>
            <a:pPr algn="just"/>
            <a:r>
              <a:rPr lang="en-US" sz="1000" dirty="0"/>
              <a:t>Kimi K-2.5 enables faster, more capable multimodal and agent-driven applications—now ready for enterprise use in Microsoft Foundry.</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Claude Opus 4.6, Available on Microsoft Foundry</a:t>
            </a:r>
            <a:endParaRPr lang="en-US" dirty="0"/>
          </a:p>
          <a:p>
            <a:pPr algn="just"/>
            <a:r>
              <a:rPr lang="en-US" dirty="0"/>
              <a:t>Claude Opus 4.6 is now available in Microsoft Foundry, bringing </a:t>
            </a:r>
            <a:r>
              <a:rPr lang="en-US" dirty="0" err="1"/>
              <a:t>Anthropic’s</a:t>
            </a:r>
            <a:r>
              <a:rPr lang="en-US" dirty="0"/>
              <a:t> most advanced reasoning model to an enterprise-ready Azure platform. The release supports complex coding, long-context reasoning, and agent-driven workflows with governed computer use, enabling organizations to move confidently from experimentation to production. This makes frontier AI practical for high-stakes development, analysis, and automation—without compromising security or operational control.</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​Generally Available: Claude Opus 4.6 now available on Azure Databricks</a:t>
            </a:r>
            <a:endParaRPr lang="en-US" dirty="0"/>
          </a:p>
          <a:p>
            <a:pPr algn="just"/>
            <a:r>
              <a:rPr lang="en-US" dirty="0" err="1"/>
              <a:t>Anthropic’s</a:t>
            </a:r>
            <a:r>
              <a:rPr lang="en-US" dirty="0"/>
              <a:t> most advanced model, </a:t>
            </a:r>
            <a:r>
              <a:rPr lang="en-US" b="1" dirty="0"/>
              <a:t>Claude Opus 4.6</a:t>
            </a:r>
            <a:r>
              <a:rPr lang="en-US" dirty="0"/>
              <a:t>, is now integrated into Mosaic AI Model Serving. The model delivers leading performance in agentic coding, complex reasoning, and deep knowledge work, helping teams build more capable and reliable AI-powered solutions.</a:t>
            </a:r>
          </a:p>
          <a:p>
            <a:pPr algn="just"/>
            <a:r>
              <a:rPr lang="en-US" dirty="0"/>
              <a:t>Claude Opus 4.6 introduces stronger planning, code review, and debugging abilities, making it well suited for large codebases and long-running agent workflows. This allows developers and data teams to automate sophisticated engineering and analytical scenarios with greater confidence.</a:t>
            </a:r>
          </a:p>
          <a:p>
            <a:pPr algn="just"/>
            <a:r>
              <a:rPr lang="en-US" dirty="0"/>
              <a:t>The model runs securely inside Azure Databricks and is available with flexible consumption options, including pay-per-token and provisioned throughput.</a:t>
            </a:r>
          </a:p>
          <a:p>
            <a:pPr algn="just"/>
            <a:r>
              <a:rPr lang="en-US" b="1" dirty="0"/>
              <a:t>Where it fits best</a:t>
            </a:r>
            <a:endParaRPr lang="en-US" dirty="0"/>
          </a:p>
          <a:p>
            <a:pPr marL="171450" indent="-171450" algn="just">
              <a:buFont typeface="Arial" panose="020B0604020202020204" pitchFamily="34" charset="0"/>
              <a:buChar char="•"/>
            </a:pPr>
            <a:r>
              <a:rPr lang="en-US" dirty="0"/>
              <a:t>AI agent development</a:t>
            </a:r>
          </a:p>
          <a:p>
            <a:pPr marL="171450" indent="-171450" algn="just">
              <a:buFont typeface="Arial" panose="020B0604020202020204" pitchFamily="34" charset="0"/>
              <a:buChar char="•"/>
            </a:pPr>
            <a:r>
              <a:rPr lang="en-US" dirty="0"/>
              <a:t>Advanced developer copilots and code modernization</a:t>
            </a:r>
          </a:p>
          <a:p>
            <a:pPr marL="171450" indent="-171450" algn="just">
              <a:buFont typeface="Arial" panose="020B0604020202020204" pitchFamily="34" charset="0"/>
              <a:buChar char="•"/>
            </a:pPr>
            <a:r>
              <a:rPr lang="en-US" dirty="0"/>
              <a:t>Research and analytics workflows requiring deep reasoning</a:t>
            </a:r>
          </a:p>
          <a:p>
            <a:pPr algn="just"/>
            <a:r>
              <a:rPr lang="en-US" dirty="0"/>
              <a:t>This release makes frontier AI capabilities easier to operationalize while maintaining enterprise governance and security.</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686</TotalTime>
  <Words>2919</Words>
  <Application>Microsoft Office PowerPoint</Application>
  <PresentationFormat>On-screen Show (16:9)</PresentationFormat>
  <Paragraphs>146</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Human Sans</vt:lpstr>
      <vt:lpstr>Human Sans Regular</vt:lpstr>
      <vt:lpstr>Continuum Theme</vt:lpstr>
      <vt:lpstr>Azure Times #192</vt:lpstr>
      <vt:lpstr>PowerPoint Presentation</vt:lpstr>
      <vt:lpstr>Networking Updates</vt:lpstr>
      <vt:lpstr>Networking Updates</vt:lpstr>
      <vt:lpstr>Networking Updates</vt:lpstr>
      <vt:lpstr>Networking Updates</vt:lpstr>
      <vt:lpstr>PowerPoint Presentation</vt:lpstr>
      <vt:lpstr>Security &amp; Identity Updates</vt:lpstr>
      <vt:lpstr>Security &amp; Identity Updates</vt:lpstr>
      <vt:lpstr>Security &amp; Identity Updates</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Compute Updates</vt:lpstr>
      <vt:lpstr>PowerPoint Presentation</vt:lpstr>
      <vt:lpstr>Storage &amp; Data Updates</vt:lpstr>
      <vt:lpstr>PowerPoint Presentation</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156</cp:revision>
  <dcterms:created xsi:type="dcterms:W3CDTF">2018-01-26T19:23:30Z</dcterms:created>
  <dcterms:modified xsi:type="dcterms:W3CDTF">2026-02-07T06:33:11Z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